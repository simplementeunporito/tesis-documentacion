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3.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charts/chart4.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pieChart>
        <c:varyColors val="1"/>
        <c:ser>
          <c:idx val="0"/>
          <c:order val="0"/>
          <c:tx>
            <c:strRef>
              <c:f>Sheet1!$B$1</c:f>
              <c:strCache>
                <c:ptCount val="1"/>
                <c:pt idx="0">
                  <c:v>Energía</c:v>
                </c:pt>
              </c:strCache>
            </c:strRef>
          </c:tx>
          <c:spPr>
            <a:solidFill>
              <a:schemeClr val="accent1"/>
            </a:solidFill>
            <a:ln w="9525" cap="flat">
              <a:solidFill>
                <a:srgbClr val="F9F9F9"/>
              </a:solidFill>
              <a:prstDash val="solid"/>
              <a:round/>
            </a:ln>
            <a:effectLst/>
          </c:spPr>
          <c:dPt>
            <c:idx val="0"/>
            <c:bubble3D val="0"/>
            <c:spPr>
              <a:solidFill>
                <a:srgbClr val="C55A11"/>
              </a:solidFill>
              <a:ln w="19050" cap="flat">
                <a:solidFill>
                  <a:srgbClr val="FFFFFF"/>
                </a:solidFill>
                <a:prstDash val="solid"/>
                <a:round/>
              </a:ln>
              <a:effectLst/>
            </c:spPr>
          </c:dPt>
          <c:dPt>
            <c:idx val="1"/>
            <c:bubble3D val="0"/>
            <c:spPr>
              <a:solidFill>
                <a:srgbClr val="2E75B6"/>
              </a:solidFill>
              <a:ln w="19050" cap="flat">
                <a:solidFill>
                  <a:srgbClr val="FFFFFF"/>
                </a:solidFill>
                <a:prstDash val="solid"/>
                <a:round/>
              </a:ln>
              <a:effectLst/>
            </c:spPr>
          </c:dPt>
          <c:dPt>
            <c:idx val="2"/>
            <c:bubble3D val="0"/>
            <c:spPr>
              <a:solidFill>
                <a:srgbClr val="9E9E9E"/>
              </a:solidFill>
              <a:ln w="19050" cap="flat">
                <a:solidFill>
                  <a:srgbClr val="FFFFFF"/>
                </a:solidFill>
                <a:prstDash val="solid"/>
                <a:round/>
              </a:ln>
              <a:effectLst/>
            </c:spPr>
          </c:dPt>
          <c:dLbls>
            <c:dLbl>
              <c:idx val="0"/>
              <c:numFmt formatCode="0&quot;%&quot;" sourceLinked="0"/>
              <c:spPr/>
              <c:txPr>
                <a:bodyPr/>
                <a:lstStyle/>
                <a:p>
                  <a:pPr>
                    <a:defRPr sz="1800" b="1" i="0" u="none" strike="noStrike">
                      <a:solidFill>
                        <a:srgbClr val="FFFFFF"/>
                      </a:solidFill>
                      <a:latin typeface="Arial"/>
                    </a:defRPr>
                  </a:pPr>
                </a:p>
              </c:txPr>
              <c:showLegendKey val="0"/>
              <c:showVal val="1"/>
              <c:showCatName val="0"/>
              <c:showSerName val="0"/>
              <c:showPercent val="0"/>
              <c:showBubbleSize val="0"/>
            </c:dLbl>
            <c:dLbl>
              <c:idx val="1"/>
              <c:numFmt formatCode="0&quot;%&quot;" sourceLinked="0"/>
              <c:spPr/>
              <c:txPr>
                <a:bodyPr/>
                <a:lstStyle/>
                <a:p>
                  <a:pPr>
                    <a:defRPr sz="1800" b="1" i="0" u="none" strike="noStrike">
                      <a:solidFill>
                        <a:srgbClr val="FFFFFF"/>
                      </a:solidFill>
                      <a:latin typeface="Arial"/>
                    </a:defRPr>
                  </a:pPr>
                </a:p>
              </c:txPr>
              <c:showLegendKey val="0"/>
              <c:showVal val="1"/>
              <c:showCatName val="0"/>
              <c:showSerName val="0"/>
              <c:showPercent val="0"/>
              <c:showBubbleSize val="0"/>
            </c:dLbl>
            <c:dLbl>
              <c:idx val="2"/>
              <c:numFmt formatCode="0&quot;%&quot;" sourceLinked="0"/>
              <c:spPr/>
              <c:txPr>
                <a:bodyPr/>
                <a:lstStyle/>
                <a:p>
                  <a:pPr>
                    <a:defRPr sz="1800" b="1" i="0" u="none" strike="noStrike">
                      <a:solidFill>
                        <a:srgbClr val="FFFFFF"/>
                      </a:solidFill>
                      <a:latin typeface="Arial"/>
                    </a:defRPr>
                  </a:pPr>
                </a:p>
              </c:txPr>
              <c:showLegendKey val="0"/>
              <c:showVal val="1"/>
              <c:showCatName val="0"/>
              <c:showSerName val="0"/>
              <c:showPercent val="0"/>
              <c:showBubbleSize val="0"/>
            </c:dLbl>
            <c:numFmt formatCode="0&quot;%&quot;" sourceLinked="0"/>
            <c:txPr>
              <a:bodyPr/>
              <a:lstStyle/>
              <a:p>
                <a:pPr>
                  <a:defRPr sz="1800" b="1"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Sheet1!$A$2:$A$4</c:f>
              <c:strCache>
                <c:ptCount val="3"/>
                <c:pt idx="0">
                  <c:v>Rayleigh</c:v>
                </c:pt>
                <c:pt idx="1">
                  <c:v>S</c:v>
                </c:pt>
                <c:pt idx="2">
                  <c:v>P</c:v>
                </c:pt>
              </c:strCache>
            </c:strRef>
          </c:cat>
          <c:val>
            <c:numRef>
              <c:f>Sheet1!$B$2:$B$4</c:f>
              <c:numCache>
                <c:ptCount val="3"/>
                <c:pt idx="0">
                  <c:v>67</c:v>
                </c:pt>
                <c:pt idx="1">
                  <c:v>26</c:v>
                </c:pt>
                <c:pt idx="2">
                  <c:v>7</c:v>
                </c:pt>
              </c:numCache>
            </c:numRef>
          </c:val>
        </c:ser>
        <c:firstSliceAng val="0"/>
      </c:pieChart>
      <c:spPr>
        <a:noFill/>
        <a:ln>
          <a:noFill/>
        </a:ln>
        <a:effectLst/>
      </c:spPr>
    </c:plotArea>
    <c:legend>
      <c:legendPos val="r"/>
      <c:overlay val="0"/>
      <c:txPr>
        <a:bodyPr/>
        <a:lstStyle/>
        <a:p>
          <a:pPr>
            <a:defRPr sz="1400">
              <a:solidFill>
                <a:srgbClr val="2D2D2D"/>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Rayleigh (1/√r)</c:v>
                </c:pt>
              </c:strCache>
            </c:strRef>
          </c:tx>
          <c:spPr>
            <a:solidFill>
              <a:srgbClr val="C55A11"/>
            </a:solidFill>
            <a:ln w="38100" cap="flat">
              <a:solidFill>
                <a:srgbClr val="C55A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55A11"/>
              </a:solidFill>
              <a:ln w="9525" cap="flat">
                <a:solidFill>
                  <a:srgbClr val="C55A11"/>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Sheet1!$B$2:$B$11</c:f>
              <c:numCache>
                <c:formatCode>General</c:formatCode>
                <c:ptCount val="10"/>
                <c:pt idx="0">
                  <c:v>1</c:v>
                </c:pt>
                <c:pt idx="1">
                  <c:v>0.707</c:v>
                </c:pt>
                <c:pt idx="2">
                  <c:v>0.577</c:v>
                </c:pt>
                <c:pt idx="3">
                  <c:v>0.5</c:v>
                </c:pt>
                <c:pt idx="4">
                  <c:v>0.447</c:v>
                </c:pt>
                <c:pt idx="5">
                  <c:v>0.408</c:v>
                </c:pt>
                <c:pt idx="6">
                  <c:v>0.378</c:v>
                </c:pt>
                <c:pt idx="7">
                  <c:v>0.354</c:v>
                </c:pt>
                <c:pt idx="8">
                  <c:v>0.333</c:v>
                </c:pt>
                <c:pt idx="9">
                  <c:v>0.316</c:v>
                </c:pt>
              </c:numCache>
            </c:numRef>
          </c:val>
          <c:smooth val="0"/>
        </c:ser>
        <c:ser>
          <c:idx val="1"/>
          <c:order val="1"/>
          <c:tx>
            <c:strRef>
              <c:f>Sheet1!$C$1</c:f>
              <c:strCache>
                <c:ptCount val="1"/>
                <c:pt idx="0">
                  <c:v>Cuerpo, en el interior (1/r)</c:v>
                </c:pt>
              </c:strCache>
            </c:strRef>
          </c:tx>
          <c:spPr>
            <a:solidFill>
              <a:srgbClr val="2E75B6"/>
            </a:solidFill>
            <a:ln w="38100" cap="flat">
              <a:solidFill>
                <a:srgbClr val="2E75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75B6"/>
              </a:solidFill>
              <a:ln w="9525" cap="flat">
                <a:solidFill>
                  <a:srgbClr val="2E75B6"/>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Sheet1!$C$2:$C$11</c:f>
              <c:numCache>
                <c:formatCode>General</c:formatCode>
                <c:ptCount val="10"/>
                <c:pt idx="0">
                  <c:v>1</c:v>
                </c:pt>
                <c:pt idx="1">
                  <c:v>0.5</c:v>
                </c:pt>
                <c:pt idx="2">
                  <c:v>0.333</c:v>
                </c:pt>
                <c:pt idx="3">
                  <c:v>0.25</c:v>
                </c:pt>
                <c:pt idx="4">
                  <c:v>0.2</c:v>
                </c:pt>
                <c:pt idx="5">
                  <c:v>0.167</c:v>
                </c:pt>
                <c:pt idx="6">
                  <c:v>0.143</c:v>
                </c:pt>
                <c:pt idx="7">
                  <c:v>0.125</c:v>
                </c:pt>
                <c:pt idx="8">
                  <c:v>0.111</c:v>
                </c:pt>
                <c:pt idx="9">
                  <c:v>0.1</c:v>
                </c:pt>
              </c:numCache>
            </c:numRef>
          </c:val>
          <c:smooth val="0"/>
        </c:ser>
        <c:ser>
          <c:idx val="2"/>
          <c:order val="2"/>
          <c:tx>
            <c:strRef>
              <c:f>Sheet1!$D$1</c:f>
              <c:strCache>
                <c:ptCount val="1"/>
                <c:pt idx="0">
                  <c:v>Cuerpo, en la superficie (1/r²)</c:v>
                </c:pt>
              </c:strCache>
            </c:strRef>
          </c:tx>
          <c:spPr>
            <a:solidFill>
              <a:srgbClr val="7F7F7F"/>
            </a:solidFill>
            <a:ln w="38100" cap="flat">
              <a:solidFill>
                <a:srgbClr val="7F7F7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Sheet1!$D$2:$D$11</c:f>
              <c:numCache>
                <c:formatCode>General</c:formatCode>
                <c:ptCount val="10"/>
                <c:pt idx="0">
                  <c:v>1</c:v>
                </c:pt>
                <c:pt idx="1">
                  <c:v>0.25</c:v>
                </c:pt>
                <c:pt idx="2">
                  <c:v>0.111</c:v>
                </c:pt>
                <c:pt idx="3">
                  <c:v>0.063</c:v>
                </c:pt>
                <c:pt idx="4">
                  <c:v>0.04</c:v>
                </c:pt>
                <c:pt idx="5">
                  <c:v>0.028</c:v>
                </c:pt>
                <c:pt idx="6">
                  <c:v>0.02</c:v>
                </c:pt>
                <c:pt idx="7">
                  <c:v>0.016</c:v>
                </c:pt>
                <c:pt idx="8">
                  <c:v>0.012</c:v>
                </c:pt>
                <c:pt idx="9">
                  <c:v>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6B6B6B"/>
                    </a:solidFill>
                    <a:latin typeface="Arial"/>
                  </a:defRPr>
                </a:pPr>
                <a:r>
                  <a:rPr sz="1400" b="0" i="0" u="none" strike="noStrike">
                    <a:solidFill>
                      <a:srgbClr val="6B6B6B"/>
                    </a:solidFill>
                    <a:latin typeface="Arial"/>
                  </a:rPr>
                  <a:t>Distancia a la fuente (r, relativa)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9D9D9"/>
              </a:solidFill>
              <a:prstDash val="solid"/>
              <a:round/>
            </a:ln>
          </c:spPr>
        </c:majorGridlines>
        <c:title>
          <c:tx>
            <c:rich>
              <a:bodyPr/>
              <a:lstStyle/>
              <a:p>
                <a:pPr>
                  <a:defRPr sz="1400" b="0" i="0" u="none" strike="noStrike">
                    <a:solidFill>
                      <a:srgbClr val="6B6B6B"/>
                    </a:solidFill>
                    <a:latin typeface="Arial"/>
                  </a:defRPr>
                </a:pPr>
                <a:r>
                  <a:rPr sz="1400" b="0" i="0" u="none" strike="noStrike">
                    <a:solidFill>
                      <a:srgbClr val="6B6B6B"/>
                    </a:solidFill>
                    <a:latin typeface="Arial"/>
                  </a:rPr>
                  <a:t>Amplitud relativa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D2D2D"/>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cR / Vs</c:v>
                </c:pt>
              </c:strCache>
            </c:strRef>
          </c:tx>
          <c:spPr>
            <a:solidFill>
              <a:srgbClr val="C55A11"/>
            </a:solidFill>
            <a:ln w="38100" cap="flat">
              <a:solidFill>
                <a:srgbClr val="C55A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55A11"/>
              </a:solidFill>
              <a:ln w="9525" cap="flat">
                <a:solidFill>
                  <a:srgbClr val="C55A11"/>
                </a:solidFill>
                <a:prstDash val="solid"/>
                <a:round/>
              </a:ln>
              <a:effectLst/>
            </c:spPr>
          </c:marker>
          <c:cat>
            <c:multiLvlStrRef>
              <c:f>Sheet1!$A$2:$A$8</c:f>
              <c:multiLvlStrCache>
                <c:ptCount val="7"/>
                <c:lvl>
                  <c:pt idx="0">
                    <c:v>0</c:v>
                  </c:pt>
                  <c:pt idx="1">
                    <c:v>0,1</c:v>
                  </c:pt>
                  <c:pt idx="2">
                    <c:v>0,2</c:v>
                  </c:pt>
                  <c:pt idx="3">
                    <c:v>0,25</c:v>
                  </c:pt>
                  <c:pt idx="4">
                    <c:v>0,3</c:v>
                  </c:pt>
                  <c:pt idx="5">
                    <c:v>0,4</c:v>
                  </c:pt>
                  <c:pt idx="6">
                    <c:v>0,5</c:v>
                  </c:pt>
                </c:lvl>
              </c:multiLvlStrCache>
            </c:multiLvlStrRef>
          </c:cat>
          <c:val>
            <c:numRef>
              <c:f>Sheet1!$B$2:$B$8</c:f>
              <c:numCache>
                <c:formatCode>General</c:formatCode>
                <c:ptCount val="7"/>
                <c:pt idx="0">
                  <c:v>0.862</c:v>
                </c:pt>
                <c:pt idx="1">
                  <c:v>0.887</c:v>
                </c:pt>
                <c:pt idx="2">
                  <c:v>0.908</c:v>
                </c:pt>
                <c:pt idx="3">
                  <c:v>0.918</c:v>
                </c:pt>
                <c:pt idx="4">
                  <c:v>0.926</c:v>
                </c:pt>
                <c:pt idx="5">
                  <c:v>0.941</c:v>
                </c:pt>
                <c:pt idx="6">
                  <c:v>0.955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6B6B6B"/>
                    </a:solidFill>
                    <a:latin typeface="Arial"/>
                  </a:defRPr>
                </a:pPr>
                <a:r>
                  <a:rPr sz="1400" b="0" i="0" u="none" strike="noStrike">
                    <a:solidFill>
                      <a:srgbClr val="6B6B6B"/>
                    </a:solidFill>
                    <a:latin typeface="Arial"/>
                  </a:rPr>
                  <a:t>Coeficiente de Poisson ν</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1"/>
          <c:min val="0.8"/>
        </c:scaling>
        <c:delete val="0"/>
        <c:axPos val="l"/>
        <c:majorGridlines>
          <c:spPr>
            <a:ln w="6350" cap="flat">
              <a:solidFill>
                <a:srgbClr val="D9D9D9"/>
              </a:solidFill>
              <a:prstDash val="solid"/>
              <a:round/>
            </a:ln>
          </c:spPr>
        </c:majorGridlines>
        <c:title>
          <c:tx>
            <c:rich>
              <a:bodyPr/>
              <a:lstStyle/>
              <a:p>
                <a:pPr>
                  <a:defRPr sz="1400" b="0" i="0" u="none" strike="noStrike">
                    <a:solidFill>
                      <a:srgbClr val="6B6B6B"/>
                    </a:solidFill>
                    <a:latin typeface="Arial"/>
                  </a:defRPr>
                </a:pPr>
                <a:r>
                  <a:rPr sz="1400" b="0" i="0" u="none" strike="noStrike">
                    <a:solidFill>
                      <a:srgbClr val="6B6B6B"/>
                    </a:solidFill>
                    <a:latin typeface="Arial"/>
                  </a:rPr>
                  <a:t>cR / Vs</a:t>
                </a:r>
              </a:p>
            </c:rich>
          </c:tx>
          <c:layout/>
          <c:overlay val="0"/>
        </c:title>
        <c:numFmt formatCode="0.00"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Curva de dispersión (modo fundamental)</c:v>
                </c:pt>
              </c:strCache>
            </c:strRef>
          </c:tx>
          <c:spPr>
            <a:solidFill>
              <a:srgbClr val="C55A11"/>
            </a:solidFill>
            <a:ln w="38100" cap="flat">
              <a:solidFill>
                <a:srgbClr val="C55A11"/>
              </a:solidFill>
              <a:prstDash val="solid"/>
              <a:round/>
            </a:ln>
            <a:effectLst/>
          </c:spPr>
          <c:marker>
            <c:symbol val="none"/>
            <c:size val="6"/>
            <c:spPr>
              <a:solidFill>
                <a:srgbClr val="C55A11"/>
              </a:solidFill>
              <a:ln w="9525" cap="flat">
                <a:solidFill>
                  <a:srgbClr val="C55A11"/>
                </a:solidFill>
                <a:prstDash val="solid"/>
                <a:round/>
              </a:ln>
              <a:effectLst/>
            </c:spPr>
          </c:marker>
          <c:xVal>
            <c:numRef>
              <c:f>Sheet1!$A$2:$A$48</c:f>
              <c:numCache>
                <c:formatCode>General</c:formatCode>
                <c:ptCount val="47"/>
                <c:pt idx="0">
                  <c:v>2</c:v>
                </c:pt>
                <c:pt idx="1">
                  <c:v>2.5</c:v>
                </c:pt>
                <c:pt idx="2">
                  <c:v>3</c:v>
                </c:pt>
                <c:pt idx="3">
                  <c:v>3.5</c:v>
                </c:pt>
                <c:pt idx="4">
                  <c:v>4</c:v>
                </c:pt>
                <c:pt idx="5">
                  <c:v>4.5</c:v>
                </c:pt>
                <c:pt idx="6">
                  <c:v>5</c:v>
                </c:pt>
                <c:pt idx="7">
                  <c:v>5.5</c:v>
                </c:pt>
                <c:pt idx="8">
                  <c:v>6</c:v>
                </c:pt>
                <c:pt idx="9">
                  <c:v>6.5</c:v>
                </c:pt>
                <c:pt idx="10">
                  <c:v>7</c:v>
                </c:pt>
                <c:pt idx="11">
                  <c:v>7.5</c:v>
                </c:pt>
                <c:pt idx="12">
                  <c:v>8</c:v>
                </c:pt>
                <c:pt idx="13">
                  <c:v>8.5</c:v>
                </c:pt>
                <c:pt idx="14">
                  <c:v>9</c:v>
                </c:pt>
                <c:pt idx="15">
                  <c:v>9.5</c:v>
                </c:pt>
                <c:pt idx="16">
                  <c:v>10</c:v>
                </c:pt>
                <c:pt idx="17">
                  <c:v>11</c:v>
                </c:pt>
                <c:pt idx="18">
                  <c:v>12</c:v>
                </c:pt>
                <c:pt idx="19">
                  <c:v>13</c:v>
                </c:pt>
                <c:pt idx="20">
                  <c:v>14</c:v>
                </c:pt>
                <c:pt idx="21">
                  <c:v>15</c:v>
                </c:pt>
                <c:pt idx="22">
                  <c:v>16</c:v>
                </c:pt>
                <c:pt idx="23">
                  <c:v>17</c:v>
                </c:pt>
                <c:pt idx="24">
                  <c:v>18</c:v>
                </c:pt>
                <c:pt idx="25">
                  <c:v>19</c:v>
                </c:pt>
                <c:pt idx="26">
                  <c:v>20</c:v>
                </c:pt>
                <c:pt idx="27">
                  <c:v>21</c:v>
                </c:pt>
                <c:pt idx="28">
                  <c:v>22</c:v>
                </c:pt>
                <c:pt idx="29">
                  <c:v>23</c:v>
                </c:pt>
                <c:pt idx="30">
                  <c:v>24</c:v>
                </c:pt>
                <c:pt idx="31">
                  <c:v>25</c:v>
                </c:pt>
                <c:pt idx="32">
                  <c:v>26</c:v>
                </c:pt>
                <c:pt idx="33">
                  <c:v>27</c:v>
                </c:pt>
                <c:pt idx="34">
                  <c:v>28</c:v>
                </c:pt>
                <c:pt idx="35">
                  <c:v>29</c:v>
                </c:pt>
                <c:pt idx="36">
                  <c:v>30</c:v>
                </c:pt>
                <c:pt idx="37">
                  <c:v>33</c:v>
                </c:pt>
                <c:pt idx="38">
                  <c:v>36</c:v>
                </c:pt>
                <c:pt idx="39">
                  <c:v>39</c:v>
                </c:pt>
                <c:pt idx="40">
                  <c:v>42</c:v>
                </c:pt>
                <c:pt idx="41">
                  <c:v>45</c:v>
                </c:pt>
                <c:pt idx="42">
                  <c:v>48</c:v>
                </c:pt>
                <c:pt idx="43">
                  <c:v>51</c:v>
                </c:pt>
                <c:pt idx="44">
                  <c:v>54</c:v>
                </c:pt>
                <c:pt idx="45">
                  <c:v>57</c:v>
                </c:pt>
                <c:pt idx="46">
                  <c:v>60</c:v>
                </c:pt>
              </c:numCache>
            </c:numRef>
          </c:xVal>
          <c:yVal>
            <c:numRef>
              <c:f>Sheet1!$B$2:$B$48</c:f>
              <c:numCache>
                <c:formatCode>General</c:formatCode>
                <c:ptCount val="47"/>
                <c:pt idx="0">
                  <c:v>393.4</c:v>
                </c:pt>
                <c:pt idx="1">
                  <c:v>386.8</c:v>
                </c:pt>
                <c:pt idx="2">
                  <c:v>380</c:v>
                </c:pt>
                <c:pt idx="3">
                  <c:v>372.9</c:v>
                </c:pt>
                <c:pt idx="4">
                  <c:v>365.6</c:v>
                </c:pt>
                <c:pt idx="5">
                  <c:v>358</c:v>
                </c:pt>
                <c:pt idx="6">
                  <c:v>350</c:v>
                </c:pt>
                <c:pt idx="7">
                  <c:v>341.5</c:v>
                </c:pt>
                <c:pt idx="8">
                  <c:v>332.2</c:v>
                </c:pt>
                <c:pt idx="9">
                  <c:v>321.7</c:v>
                </c:pt>
                <c:pt idx="10">
                  <c:v>309.5</c:v>
                </c:pt>
                <c:pt idx="11">
                  <c:v>295.5</c:v>
                </c:pt>
                <c:pt idx="12">
                  <c:v>280.1</c:v>
                </c:pt>
                <c:pt idx="13">
                  <c:v>264.7</c:v>
                </c:pt>
                <c:pt idx="14">
                  <c:v>250.7</c:v>
                </c:pt>
                <c:pt idx="15">
                  <c:v>238.9</c:v>
                </c:pt>
                <c:pt idx="16">
                  <c:v>229</c:v>
                </c:pt>
                <c:pt idx="17">
                  <c:v>213.9</c:v>
                </c:pt>
                <c:pt idx="18">
                  <c:v>202.5</c:v>
                </c:pt>
                <c:pt idx="19">
                  <c:v>193</c:v>
                </c:pt>
                <c:pt idx="20">
                  <c:v>184.6</c:v>
                </c:pt>
                <c:pt idx="21">
                  <c:v>177</c:v>
                </c:pt>
                <c:pt idx="22">
                  <c:v>170.3</c:v>
                </c:pt>
                <c:pt idx="23">
                  <c:v>164.6</c:v>
                </c:pt>
                <c:pt idx="24">
                  <c:v>159.9</c:v>
                </c:pt>
                <c:pt idx="25">
                  <c:v>156.1</c:v>
                </c:pt>
                <c:pt idx="26">
                  <c:v>153</c:v>
                </c:pt>
                <c:pt idx="27">
                  <c:v>150.6</c:v>
                </c:pt>
                <c:pt idx="28">
                  <c:v>148.7</c:v>
                </c:pt>
                <c:pt idx="29">
                  <c:v>147.1</c:v>
                </c:pt>
                <c:pt idx="30">
                  <c:v>145.8</c:v>
                </c:pt>
                <c:pt idx="31">
                  <c:v>144.7</c:v>
                </c:pt>
                <c:pt idx="32">
                  <c:v>143.9</c:v>
                </c:pt>
                <c:pt idx="33">
                  <c:v>143.1</c:v>
                </c:pt>
                <c:pt idx="34">
                  <c:v>142.5</c:v>
                </c:pt>
                <c:pt idx="35">
                  <c:v>142</c:v>
                </c:pt>
                <c:pt idx="36">
                  <c:v>141.6</c:v>
                </c:pt>
                <c:pt idx="37">
                  <c:v>140.7</c:v>
                </c:pt>
                <c:pt idx="38">
                  <c:v>140.1</c:v>
                </c:pt>
                <c:pt idx="39">
                  <c:v>139.8</c:v>
                </c:pt>
                <c:pt idx="40">
                  <c:v>139.5</c:v>
                </c:pt>
                <c:pt idx="41">
                  <c:v>139.4</c:v>
                </c:pt>
                <c:pt idx="42">
                  <c:v>139.3</c:v>
                </c:pt>
                <c:pt idx="43">
                  <c:v>139.2</c:v>
                </c:pt>
                <c:pt idx="44">
                  <c:v>139.2</c:v>
                </c:pt>
                <c:pt idx="45">
                  <c:v>139.2</c:v>
                </c:pt>
                <c:pt idx="46">
                  <c:v>139.1</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60"/>
          <c:min val="0"/>
        </c:scaling>
        <c:delete val="0"/>
        <c:axPos val="b"/>
        <c:title>
          <c:tx>
            <c:rich>
              <a:bodyPr/>
              <a:lstStyle/>
              <a:p>
                <a:pPr>
                  <a:defRPr sz="1400" b="0" i="0" u="none" strike="noStrike">
                    <a:solidFill>
                      <a:srgbClr val="6B6B6B"/>
                    </a:solidFill>
                    <a:latin typeface="Arial"/>
                  </a:defRPr>
                </a:pPr>
                <a:r>
                  <a:rPr sz="1400" b="0" i="0" u="none" strike="noStrike">
                    <a:solidFill>
                      <a:srgbClr val="6B6B6B"/>
                    </a:solidFill>
                    <a:latin typeface="Arial"/>
                  </a:rPr>
                  <a:t>Frecuencia (Hz)</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2"/>
        <c:crosses val="autoZero"/>
        <c:auto val="1"/>
        <c:lblAlgn val="ctr"/>
        <c:noMultiLvlLbl val="1"/>
      </c:valAx>
      <c:valAx>
        <c:axId val="2094734552"/>
        <c:scaling>
          <c:orientation val="minMax"/>
          <c:max val="450"/>
          <c:min val="100"/>
        </c:scaling>
        <c:delete val="0"/>
        <c:axPos val="l"/>
        <c:majorGridlines>
          <c:spPr>
            <a:ln w="6350" cap="flat">
              <a:solidFill>
                <a:srgbClr val="D9D9D9"/>
              </a:solidFill>
              <a:prstDash val="solid"/>
              <a:round/>
            </a:ln>
          </c:spPr>
        </c:majorGridlines>
        <c:title>
          <c:tx>
            <c:rich>
              <a:bodyPr/>
              <a:lstStyle/>
              <a:p>
                <a:pPr>
                  <a:defRPr sz="1400" b="0" i="0" u="none" strike="noStrike">
                    <a:solidFill>
                      <a:srgbClr val="6B6B6B"/>
                    </a:solidFill>
                    <a:latin typeface="Arial"/>
                  </a:defRPr>
                </a:pPr>
                <a:r>
                  <a:rPr sz="1400" b="0" i="0" u="none" strike="noStrike">
                    <a:solidFill>
                      <a:srgbClr val="6B6B6B"/>
                    </a:solidFill>
                    <a:latin typeface="Arial"/>
                  </a:rPr>
                  <a:t>Velocidad de fase (m/s)</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Soy Elías Álvarez y les voy a mostrar cómo avanza mi proyecto final de carrera: una plataforma electrónica para medir el suelo con ondas sísmicas. En la imagen está la idea completa: un golpe en la superficie, una línea de geófonos y los registros que llegan a cada uno. Es la primera de dos presentaciones. Hoy me concentro en el estado del arte, la idea general y los resultados parciales; la validación completa queda para diciembre.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construir hay que saber sobre qué se apoya la obra. Se reconoce qué materiales hay y se estiman parámetros para dimensionar la fundación. Y durante la ejecución se controla que los rellenos y las capas compactadas sean uniformes. Esto importa acá: la construcción paraguaya creció 6,2 % en 2025 según el Banco Central. Hablo de un sector en expansión, no de un auge sin matices: venía de dos años de caída.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Pero el trabajo con el terreno no termina cuando se levanta la obra. Aparecen grietas y asentamientos, problemas en rutas y pavimentos, taludes que se mueven. Hay que volver a medir, y de preferencia sin dañar lo que ya está construido.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Entonces la pregunta es cómo medir. Necesitamos un método que capte algo del terreno y que, procesando lo sensado, nos dé información que sirva. Ese recorrido, del transductor al procesamiento, es lo que construye este trabajo: la plataforma de medición. Todavía no definimos qué fenómeno medir. Ese es el primer punto de la hoja de ruta: explorar los fenómenos candidatos y sus técnicas, analizar a fondo el que elijamos, ver las especificaciones y la plataforma propuesta, y cerrar con los resultados parciales.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medir el terreno hay dos grandes caminos. Uno mide cuánto cuesta penetrarlo: resistencia. El otro usa ondas: aprovecha alguna propiedad de la onda, como la velocidad o el tiempo de llegada, y cómo el terreno la modifica. Además, cada camino puede hacerse desde dentro del terreno, con perforaciones o hincas, o desde la superficie. Vamos a recorrer las celdas una por una. La naranja es hacia donde vamos.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Empezamos por el SPT. Se baja una cuchara partida al fondo de una perforación y se hinca golpeándola con un martillo de 63,5 kilos que cae 76 centímetros. El primer tramo de 15 centímetros asienta la cuchara y no cuenta. N es el número de golpes para los siguientes 30 centímetros. Además de ese número, la cuchara trae una muestra de suelo, alterada pero útil para clasificarlo.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CPT es distinto: en vez de golpear, se empuja un cono de forma continua, a unos 2 centímetros por segundo. Sensores en la punta y en el manguito miden la resistencia de punta y la fricción lateral. Si además tiene un sensor de presión de poros, se llama CPTu o piezocono. El resultado es un perfil continuo, y de ahí se interpreta el tipo de suelo, como se ve a la derecha de la figura.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ofrecen. El SPT es sencillo, está en todas partes y entrega una muestra. El CPT da un perfil continuo y repetible, sin perforar antes, y con presión de poros distingue mejor el tipo de suelo. Los dos tienen décadas de correlaciones publicadas, y eso pesa mucho en la práctica.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qué no ofrecen. El SPT da un dato por profundidad y depende de la energía del martillo y de quién lo opera. El CPT no trae muestra y no atraviesa gravas ni suelos muy duros. Y en los dos, la rigidez, que es lo que nos interesa, se obtiene por correlaciones, no se mide. Esa es la pregunta que dejo abierta: cómo medir la rigidez directamente.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hablar de métodos basados en ondas, conviene ver de dónde salen las ondas. Si excitamos un terreno sólido, por ejemplo con un golpe, el material experimenta deformaciones transitorias fruto de esa energía: se deforma y vuelve, y esa deformación se transmite de punto a punto. Según cómo se deforme el material, aparecen distintos tipos de onda. Hay dos que viajan por dentro, las P y las S, y dos que viajan pegadas a la superficie, Love y Rayleigh. Empezamos por las de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poder analizar el problema, lo simplificamos hasta el absurdo. Suponemos un cuerpo homogéneo, es decir, con las mismas propiedades en todos los puntos; isótropo, con las mismas propiedades en todas las direcciones; y elástico lineal, que significa que la deformación es proporcional a la fuerza y desaparece cuando la fuerza cesa. Un suelo real no cumple ninguna de las tres, y lo vamos a ver más adelante cuando aparezca la estratificación. Pero con esta simplificación el problema tiene solución cerrada.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esas hipótesis, la ecuación de movimiento es la de Navier: la inercia, rho por la aceleración, es igual a las fuerzas elásticas, escritas con las constantes de Lamé, lambda y mu. Se puede descomponer el desplazamiento en una parte irrotacional, con un potencial escalar phi, y otra sin divergencia, con un potencial vectorial psi. Cada potencial cumple su propia ecuación de onda. Es decir, el medio tiene dos modos de vibración: uno de compresión, que viaja a Vp, y uno de corte, que viaja a Vs. Son las ondas P y S. Es matemática estándar de elastodinámica; la cita exacta la confirmo en Foti, cap.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del potencial escalar es la onda P. Las partículas oscilan en la misma dirección en que avanza la onda, así que el material se comprime y se dilata. No se transporta material: se transporta la perturbación. Viaja tanto en sólidos como en fluidos.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del potencial vectorial es la onda S. La oscilación es perpendicular al avance y el material no se comprime: se corta. Por eso necesita que el medio resista al corte. Un fluido no lo hace, así que la S no viaja por el agua.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las ecuaciones de onda se leen las velocidades. La P depende de lambda más dos mu, sobre la densidad; la S depende solo de mu sobre la densidad. Mu es lo que en geotecnia se llama G, el módulo de corte, la rigidez al corte. En el mismo medio la P siempre es más rápida que la S. Lo importante es esto: si medimos velocidades de onda, accedemos a parámetros elásticos del terreno.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hipótesis de elasticidad lineal en un suelo real solo se sostiene para deformaciones pequeñas. En ese rango, el esfuerzo de corte tau es proporcional a la deformación gamma, y la constante es el módulo de corte G, que ahí es casi constante y se llama Gmax. El umbral, del orden de 10 a la menos 5, depende del tipo de suelo. Las ondas de prospección producen deformaciones de ese orden o menores. Fuera de ese rango, G baja con la deformación. Nota para mí: confirmar el umbral en Foti, cap. 1 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juntamos todo. Del modelo elástico lineal sale que Vs es raíz de mu sobre rho. Cuando el suelo se deforma poco, mu es el módulo de corte máximo, Gmax. Entonces Gmax es la densidad por Vs al cuadrado. Esa relación solo vale en pequeña señal: no sirve para describir al suelo con deformaciones grandes.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lo que hace útil a Vs. Gmax depende de la densidad y de Vs al cuadrado. Derivando, el error relativo en Gmax es, como cota, el error en la densidad más el doble del error en Vs. La densidad varía poco y se estima razonablemente; Vs varía mucho y es lo que medimos. Por eso, conocer Vs permite estimar Gmax razonablemente. Con la advertencia de siempre: es válido a pequeñas deformaciones.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Vs ya definida, vemos los métodos que la miden de forma directa. En el downhole se deja una cadena de geófonos dentro de un pozo y se golpea en superficie. Cada geófono recibe la onda en un tiempo distinto, y la diferencia de tiempos entre dos profundidades, junto con la distancia que las separa, da la velocidad de ese tramo.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crosshole usa al menos dos pozos. La fuente baja a una profundidad en un pozo y el receptor a la misma profundidad en el otro. Como la onda viaja en horizontal por una sola capa, Vs es la distancia entre pozos dividida por el tiempo de viaje. Nota para mí: confirmar el número de figura y el crédito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dos miden Vs sin correlaciones: el trayecto es conocido. El downhole necesita un solo pozo y da un perfil con la profundidad. El crosshole mide capas individuales a una profundidad conocida, con mejor resolución vertical.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cuestan. Hay que perforar y entubar, lo que lleva tiempo y dinero. El crosshole además pide pozos alineados y verticales. Y cada ensayo describe un punto del sitio. Si queremos cubrir una línea larga sin perforar, hay que buscar otra cosa.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Pasamos a los métodos desde la superficie. En refracción, la onda incide en la interfaz con el ángulo crítico y viaja por la capa rápida, justo por debajo de la interfaz. Desde ahí sale hacia los geófonos. Más allá de cierta distancia, esa onda llega antes que la directa, aunque haya recorrido más camino, porque lo hizo en material más rápido.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grafica el tiempo de llegada contra la distancia fuente-geófono. La onda directa da una recta con pendiente uno sobre V1. La refractada da otra recta, menos inclinada, con pendiente uno sobre V2, que corta el eje del tiempo en el intercepto ti. De ahí se obtienen las dos velocidades, y con el intercepto, el espesor de la primera capa.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Ventajas y límites de la refracción. Es simple, rápida y da velocidades y espesores. Pero supone que la velocidad aumenta con la profundidad: una capa blanda debajo de otra rápida no se ve, y las capas delgadas pueden pasar desapercibidas. Nota para mí: confirmar estas limitaciones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reflexión no importa el camino por el contenido de la capa, sino el eco. La energía baja, se refleja en cada interfaz y vuelve al geófono. Cada geófono produce una traza que registra el tiempo de ida y vuelta, y ese tiempo es función de la profundidad de la interfaz y de la velocidad de la onda.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reflexión llega más profundo y da una buena imagen de la estructura, pero para los primeros metros, que son los que nos interesan en ingeniería, rinde poco: exige alta frecuencia, más procesamiento y compite con las ondas directas y superficiales. Y esas ondas superficiales, que aquí estorban, son justo las que vamos a usar. Nota para mí: confirmar estas limitaciones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acá el medio era uniforme. Pero el terreno real tampoco es homogéneo: tiene variaciones continuas y discontinuidades. Aun así, pasar de un modelo homogéneo a uno en capas es un paso más realista, y en cada interfaz cambian la densidad y las velocidades de las ondas P y S. Cuando una onda de cuerpo llega a una interfaz, una parte de la energía se refleja y otra se transmite al segundo medio. Cuánto se refleja depende del contraste entre los dos medios. Ese es el caso general. Ahora el caso que más nos interesa: cuando el segundo medio es el 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Tomemos el caso en que el segundo medio es el aire. El aire casi no ofrece resistencia, así que en la superficie el esfuerzo es nulo, y eso se llama condición de superficie libre. La energía no puede salir: vuelve al terreno. Esta condición es la que va a acoplar las ondas P y S y dar origen a las ondas superficiales. Para ver cómo, primero hay que darle una polaridad a la onda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tomamos como referencia el plano de la superficie libre, hay que darle una polaridad a la forma en que puede moverse una onda S: oscila perpendicular a su avance, pero hay infinitas direcciones perpendiculares. Desde acá las clasificamos en dos. SV oscila en el plano vertical que contiene el rayo. SH oscila en horizontal, perpendicular a ese plano. Esta separación importa porque en la superficie libre se comportan de forma muy distinta. Nota para mí: reemplazar la figura por la mejorada con ChatGPT.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que tenemos P, SV y SH, la ley de Snell relaciona los ángulos de todas las ondas que se generan en una interfaz: el seno del ángulo dividido por la velocidad es constante, y ese valor se llama parámetro del rayo. Cada onda entra con su propia velocidad: Vp para la P y Vs para SV y SH. Como la S es más lenta que la P, sale con un ángulo menor. Con esto queda claro cómo se reparte una P que llega a una interfaz, y falta ver qué ondas se acoplan entre 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la ley de Snell ya podemos concluir cómo se relacionan las tres. En una interfaz, y en particular en la superficie libre, P y SV están acopladas: una P incidente genera P y SV reflejadas, y una SV genera SV y P. Es la conversión de modo. La SH, en cambio, no se mezcla con nada: solo genera SH. De la combinación de P y SV en la superficie libre salen las ondas Rayleigh. De la SH salen las ondas Love, pero solo en una condición especial, que vemos a continuación.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SH sola no genera ondas superficiales en un semiespacio homogéneo. Necesita una capa blanda sobre un medio más rápido. Si la SH incide en la interfaz con un ángulo mayor que el crítico, que es el arcoseno de Vs1 sobre Vs2, se refleja totalmente. En la superficie libre también se refleja, así que queda atrapada en la capa rebotando entre las dos. Por eso la condición es que Vs1 sea menor que Vs2. Matiz para mí: más en general basta que la velocidad aumente con la profundidad, no hace falta una capa nítida. Confirmar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SH atrapadas en la capa interfieren de forma constructiva a ciertas frecuencias, y ese patrón que avanza por la superficie es la onda Love. El movimiento es horizontal y perpendicular a la propagación. Para nosotros importa que no tiene componente vertical: un geófono vertical como el SM-24 no la registra.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onda Rayleigh es la combinación de P y SV en la superficie libre. Las partículas describen una elipse en el plano vertical, en sentido retrógrado en la superficie. A diferencia de la Love, no necesita capas: aparece ya en un semiespacio homogéneo. Y tiene componente vertical, que es justo lo que mide el geófono vertical.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se golpea la superficie, la energía se reparte entre los tres tipos de onda. Con las hipótesis clásicas, que son un semiespacio homogéneo e isótropo, coeficiente de Poisson de 0,25 y una fuente vertical circular, las Rayleigh se llevan el 67 por ciento, las S el 26 y las P el 7. Es un caso idealizado, pero explica por qué en superficie se ve sobre todo Rayleigh. Nota para mí: mis apuntes citan a Lamb 1904; la referencia habitual para este reparto es Miller y Pursey 1955. Confirmar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otra razón es la atenuación geométrica. La Rayleigh se reparte sobre un frente cilíndrico y su amplitud cae con uno sobre raíz de r. Las ondas de cuerpo se reparten sobre una esfera: caen con uno sobre r en el interior del medio, y con uno sobre r al cuadrado si las medimos a lo largo de la superficie. Aviso para mí: en el resumen firmado dice 1/r para las de cuerpo, que es correcto en el interior pero no sobre la superficie; hay que matizarlo ahí. Confirmar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un semiespacio homogéneo la velocidad de la Rayleigh es una fracción fija de la velocidad de la S. Con la aproximación de Viktorov, esa fracción va de 0,86 a 0,95 según el coeficiente de Poisson, y para ν igual a 0,25 vale unos 0,92. De ahí sale la regla práctica cR igual a 0,9 por Vs. Importante: en este caso ideal no hay dispersión, todas las frecuencias viajan a la misma velocidad. La dispersión aparece cuando el terreno tiene capas, y es lo que vamos a ver ahora. Nota para mí: confirmar la fórmula y su referencia en Foti, cap.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ahora el medio era uniforme. En un terreno estratificado la rigidez cambia con la profundidad, y por eso cambia la velocidad de corte Vs. Lo más común es que Vs aumente con la profundidad, porque el terreno tiende a ser más rocoso, pero no es una regla: puede haber capas blandas bajo capas duras. La densidad, en cambio, suele variar poco en comparación con Vs: en suelos habituales ronda entre 1,4 y 2,2 toneladas por metro cúbico, mientras que Vs recorre más de un orden de magnitud. Nota para mí: la referencia por ahora es Kramer; falta la página. Como ejemplo, el gráfico muestra tres capas. Lo que queremos conocer es el perfil Vs de z, porque con él y la densidad estimamos el módulo Gmax en función de la profundidad.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longitud de onda es la velocidad dividida por la frecuencia. El gráfico muestra cuánto se mueve el terreno en vertical a cada profundidad, para dos frecuencias, calculado con nuestro modelo de tres capas. A 15 hertz la longitud de onda es de unos 12 metros y el movimiento se concentra en la capa superior. A 9,5 hertz es de unos 25 metros y el movimiento se extingue recién cerca de los 25 metros de profundidad, es decir, a una profundidad del orden de la longitud de onda. Es la misma idea que muestra Foti en su figura de profundidad de penetración: cada longitud de onda ve una profundidad distinta del terreno. Ojo: no es una equivalencia exacta entre frecuencia y profundidad. Nota para mí: confirmar la figura en Foti y la regla empírica de lambda sobre tres a lambda sobre dos, que dejé fuera.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curva está calculada para el modelo de tres capas con disba, un código de dispersión de ondas superficiales. Como cada frecuencia ve profundidades distintas, la velocidad de las altas frecuencias depende sobre todo de los estratos superiores, y la de las bajas frecuencias está influida por más terreno. A 60 hertz la velocidad es de unos 139 metros por segundo, cerca de 0,93 veces la Vs de la capa superior; a 2 hertz sube a unos 393, hacia el valor del medio inferior, que sería 417 en el límite. Ese fenómeno, la dependencia de la velocidad con la frecuencia, se llama dispersión. El 0,93 sale de ν igual a 0,3 con la aproximación de Viktorov.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dispersión permite reconstruir un modelo del terreno estratificado que sea compatible con las mediciones, a partir de los registros de campo. El procedimiento es este. Medimos la curva de dispersión experimental. Proponemos un perfil Vs de z, calculamos su curva teórica y la comparamos con la medida. Si no coinciden, modificamos el perfil y repetimos. Cuando coinciden dentro de la incertidumbre, ese perfil es el resultado. Es un problema de optimización, y por eso conviene entender sus límites en la siguiente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puntos para ser honestos con los límites. Las capas profundas dependen de las bajas frecuencias, donde la información es más escasa y la resolución cae. Dependemos de muchos supuestos: la densidad, el número de capas, el modelo inicial. La solución no es única: perfiles distintos pueden producir curvas casi idénticas. Y todo esto se puede apoyar en otros tipos de medición, que dan información inicial y localizada del terreno; extrapolarla permite reducir la incertidumbre. Nota para mí: confirmar estos puntos y el capítulo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análisis espectral de ondas superficiales, SASW, usa dos receptores. Se impacta en la superficie y se mide, para cada frecuencia, la diferencia de fase entre los dos registros. Si conocemos la distancia entre receptores, esa diferencia de fase nos da la velocidad de fase de la Rayleigh a esa frecuencia: la velocidad es dos pi por f por d, dividido por el desfase. Repetido para todas las frecuencias, obtenemos la curva de dispersión. Nota para mí: confirmar la fuente original del esquema.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ventaja de SASW es la sencillez: dos receptores. El costo es que la fase solo se conoce salvo ciclos enteros, lo que genera ambigüedades al calcular la velocidad. Además, con solo dos puntos hay poca redundancia espacial para separar contribuciones superpuestas, como modos superiores u ondas de cuerpo. Por eso el ensayo se repite con distintas separaciones entre receptores.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MASW extiende el mismo principio a muchas posiciones. El arreglo convencional tiene un geófono y un canal por posición, y registra todo al mismo tiempo. La redundancia espacial permite reconocer los patrones que se mantienen coherentes entre receptores y separar contribuciones que en SASW quedaban mezcladas. Luego esos registros se procesan para obtener la dispersión de la Rayleigh.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analizar la dispersión necesitamos conservar el tiempo y la posición. Si x sub m es la posición del receptor y t sub n el instante de muestreo, el registro de la componente vertical es una matriz U de m, n. Cada fila es una traza. En la figura, un registro sintético calculado con la dispersión del modelo de tres capas: las trazas lejanas llegan más tarde y el tren de ondas se ensancha, porque cada frecuencia viaja a distinta velocidad. Es una figura ilustrativa, no un dato medido.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arreglo convencional necesita un canal por posición, y eso encarece el equipo. Una alternativa es sintetizar la dimensión espacial con adquisiciones sucesivas. Lin y Ashlock, en 2016, validaron una configuración con receptor fijo y la fuente en posiciones sucesivas, que es la recíproca de la que mueve el receptor. Nota para mí: confirmar en el artículo la validación y qué comparó.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lo anterior salen tres requerimientos para la adquisición. Conservar la información temporal y espacial de cada traza. Mantener una referencia temporal entre registros. Y preservar la forma de la onda. MASW trabaja con la velocidad de fase, que sale de las diferencias de fase entre trazas, así que importa la forma y no la amplitud absoluta. Si además sintetizamos el arreglo con adquisiciones sucesivas, la fuente tiene que ser repetible, porque si no confundimos variaciones del terreno con diferencias entre impactos.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requerimientos que llevamos al diseño electrónico. Primero, la banda y la respuesta de fase: la cadena debe cubrir las frecuencias de interés. No hace falta que sea perfecta: si todos los canales distorsionan igual, la distorsión común se cancela en la diferencia de fase entre trazas y MASW sigue funcionando. Lo que arruina la medición son las distorsiones dispares entre trazas. Segundo, el margen dinámico: la amplitud cambia mucho con la distancia, así que hace falta ganancia ajustable y resolución para no saturar cerca de la fuente ni perder la señal lejos. Tercero, la sincronización temporal: una referencia de tiempo común entre los nodos y con la excitación. Cuarto, la geometría: conocer la posición de cada traza. Quinto, operar en campo con infraestructura mínima, con registro local y transmisión 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entrar en el detalle, el panorama del sistema. Hay un maestro, un ESP32 que aloja la interfaz web y coordina la captura, y nodos que se comunican con él por ESP-NOW, sin necesidad de un punto de acceso. Los nodos GEO registran el movimiento del terreno con un geófono SM-24. El nodo HAMMER registra el impacto del martillo. Cada nodo acondiciona, digitaliza y guarda sus propias muestras, así que para sumar canales se suman nodos GEO. Las próximas slides siguen la cadena de un nodo GEO, empezando por el sensor.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sensor es un SM-24, un geófono vertical pasivo. Por dentro tiene un imán y una bobina suspendidos con resortes: cuando el suelo se mueve, la masa queda rezagada y la bobina corta líneas de campo magnético, lo que genera una tensión. Su frecuencia natural nominal es de 10 hertz, su sensibilidad de 28,8 volts por metro por segundo y su amortiguamiento depende de la carga eléctrica que se le conecte. Lo elegimos por disponibilidad. Nota para mí: pedir la fuente del corte interno.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Llamamos u al desplazamiento de la masa respecto de la carcasa, que está pegada al suelo. La ecuación de equilibrio es la de un sistema masa, resorte y amortiguador, excitado por la aceleración del terreno. Como la bobina se mueve dentro de un campo magnético, la tensión que se induce es proporcional a la velocidad relativa u punto, con la sensibilidad G cero como constante. Nota para mí: el equilibrio mecánico es la ecuación 7 del resumen.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amortiguamiento total tiene dos partes: el mecánico y el que aporta la carga eléctrica sobre la bobina. Esto importa por una razón práctica: la impedancia de entrada de nuestro frente analógico es parte de esa carga, así que modifica la respuesta del sensor. Por eso la entrada se diseñó con impedancia alta y simétrica, para no introducir una carga distinta entre unidades.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modelo nominal del SM-24, a circuito abierto. A la izquierda, referido a la velocidad del terreno: por encima de los 10 hertz la respuesta es plana, y por debajo cae unos 40 decibeles por década; a 1 hertz está unos 40 decibeles por debajo de la zona plana. A la derecha, referido a la aceleración, que es la forma pasabanda de la ecuación de abajo. Es un modelo, no una medición del geófono.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está el problema de fondo. Las componentes de menor frecuencia tienen mayor longitud de onda y sensan más profundo, y justamente ahí el SM-24 entrega menos tensión. Una opción es un geófono de menor frecuencia natural, por ejemplo de 4,5 hertz, pero cuesta entre 92 y 154 dólares por canal, contra unos 70 del SM-24. El proyecto busca aprovechar el SM-24 que tenemos y extender su banda útil de forma controlada con acondicionamiento. Nota para mí: los precios son de las referencias del resumen; revisar si siguen vigentes.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principio sigue a Ma y colaboradores. En lugar de invertir directamente la respuesta del geófono, que amplificaría el ruido de baja frecuencia, una rama pasabanda se resta del camino directo para desintonizar el pico de resonancia. La respuesta que queda es más plana, a costa de una pérdida de amplitud, y cada etapa aporta la ganancia necesaria para recuperar el nivel. La función de compensación es uno menos la respuesta pasabanda. Nota para mí: confirmar el planteo en el artículo de Ma et 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frente analógico que implementamos en el PSoC. Hace cuatro cosas: entrada diferencial, para rechazar perturbaciones de modo común; ganancia programable, para distintos terrenos y distancias; la compensación del sensor en bajas frecuencias, con la rama pasabanda y el sumador; y un filtro pasa-bajos antialias antes del ADC. Las referencias VDAC que se ven abajo son las que usamos para ajustar el offset de cada etapa, que es el siguiente 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ganancia amplifica también el offset de continua de las etapas, y esos offsets se acumulan. Eso reduce el margen dinámico y puede saturar una etapa antes de que la señal llegue al ADC. Primero pensamos en un servo de continua activo, pero durante la captura impondría un compromiso entre tiempo de establecimiento y ancho de banda, justo la respuesta de baja frecuencia que queremos extender. Por eso implementamos un ajuste automático previo a la captura.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procedimiento recorre las etapas en orden, porque cada una recibe el offset residual de la anterior. Un multiplexor lleva la salida de cada etapa al ADC y un filtro FIR de 128 coeficientes estima la continua. Ese error se convierte en códigos del VDAC y un controlador proporcional integral, con banda muerta y protección antiwindup, actualiza el código. La banda muerta importa porque el paso del VDAC, de 16 milivolts, es enormemente mayor que el del ADC, de unos 19 microvolts: sin ella el código oscilaría entre valores vecinos. Los códigos se guardan en EEPROM con verificación CRC, y durante la captura el controlador está desactivado, de modo que no introduce dinámica en la señal.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resultado de la validación experimental del ajuste. Se probó en dos placas independientes y ocho configuraciones de placa y ganancia. Sin ajuste, el offset residual a la entrada del ADC iba de 2,9 a 45,8 por ciento del fondo de escala; con el ajuste, de 0,4 a 3,9 por ciento. Nota para mí: estas cifras salen del resumen del documento de tesis, no del resumen firmado, así que conviene tener a mano la tabla que las respalda.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caracterizar el frente medimos con barridos senoidales en bandas superpuestas, entre 10 milihertz y 200 kilohertz, registrando a la vez la entrada y la salida de cada etapa. La transferencia se estima como el cociente espectral entre salida y entrada, en magnitud y fase, de modo que no depende de la amplitud absoluta del generador. La coherencia entre ambas señales marca las regiones interpretables. Se midió la rama pasabanda, su combinación con el camino directo, el pasa-bajos y la ruta completa, y se comparó con el modelo, sus tolerancias y el rango del potenciómetro. Nota para mí: la figura es de mi autoría; en la proyección conviene verificar que se lea.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figura combina la transferencia medida del frente con el modelo nominal del SM-24 y la compara con el geófono sin compensar. Por debajo de 10 hertz, la cadena atenúa mucho menos que el geófono solo. Pero hay que ser claros: es una predicción del conjunto sensor y electrónica, no una medición extremo a extremo, porque no teníamos el equipo para imponerle al geófono un movimiento mecánico conocido. Además, cada curva está normalizada en su propio máximo, así que el gráfico no muestra la pérdida de ganancia que cuesta aplanar la respuesta. Esa limitación conviene decirla en voz alta si preguntan.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ítulo"/>
          <p:cNvSpPr txBox="1"/>
          <p:nvPr/>
        </p:nvSpPr>
        <p:spPr>
          <a:xfrm>
            <a:off x="457200" y="274320"/>
            <a:ext cx="8229600" cy="1234440"/>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Diseño e implementación de un sistema electrónico multicanal del tipo IoT para caracterización geotécnica del suelo mediante ondas sísmicas</a:t>
            </a:r>
            <a:endParaRPr lang="en-US" sz="2400" dirty="0"/>
          </a:p>
        </p:txBody>
      </p:sp>
      <p:sp>
        <p:nvSpPr>
          <p:cNvPr id="3" name="Text 1"/>
          <p:cNvSpPr txBox="1"/>
          <p:nvPr/>
        </p:nvSpPr>
        <p:spPr>
          <a:xfrm>
            <a:off x="457200" y="1600200"/>
            <a:ext cx="8229600" cy="320040"/>
          </a:xfrm>
          <a:prstGeom prst="rect">
            <a:avLst/>
          </a:prstGeom>
          <a:noFill/>
          <a:ln/>
        </p:spPr>
        <p:txBody>
          <a:bodyPr wrap="square" lIns="0" tIns="0" rIns="0" bIns="0" rtlCol="0" anchor="ctr"/>
          <a:lstStyle/>
          <a:p>
            <a:pPr indent="0" marL="0">
              <a:buNone/>
            </a:pPr>
            <a:r>
              <a:rPr lang="en-US" sz="1800" dirty="0">
                <a:solidFill>
                  <a:srgbClr val="CADCFC"/>
                </a:solidFill>
                <a:latin typeface="Arial" pitchFamily="34" charset="0"/>
                <a:ea typeface="Arial" pitchFamily="34" charset="-122"/>
                <a:cs typeface="Arial" pitchFamily="34" charset="-120"/>
              </a:rPr>
              <a:t>Proyecto final de carrera · Primera presentación</a:t>
            </a:r>
            <a:endParaRPr lang="en-US" sz="1800" dirty="0"/>
          </a:p>
        </p:txBody>
      </p:sp>
      <p:sp>
        <p:nvSpPr>
          <p:cNvPr id="4" name="Autoría"/>
          <p:cNvSpPr txBox="1"/>
          <p:nvPr/>
        </p:nvSpPr>
        <p:spPr>
          <a:xfrm>
            <a:off x="457200" y="2286000"/>
            <a:ext cx="3566160" cy="2377440"/>
          </a:xfrm>
          <a:prstGeom prst="rect">
            <a:avLst/>
          </a:prstGeom>
          <a:noFill/>
          <a:ln/>
        </p:spPr>
        <p:txBody>
          <a:bodyPr wrap="square" lIns="0" tIns="0" rIns="0" bIns="0" rtlCol="0" anchor="t"/>
          <a:lstStyle/>
          <a:p>
            <a:pPr indent="0" marL="0">
              <a:spcAft>
                <a:spcPts val="600"/>
              </a:spcAft>
              <a:buNone/>
            </a:pPr>
            <a:r>
              <a:rPr lang="en-US" sz="1600" b="1" dirty="0">
                <a:solidFill>
                  <a:srgbClr val="FFFFFF"/>
                </a:solidFill>
                <a:latin typeface="Arial" pitchFamily="34" charset="0"/>
                <a:ea typeface="Arial" pitchFamily="34" charset="-122"/>
                <a:cs typeface="Arial" pitchFamily="34" charset="-120"/>
              </a:rPr>
              <a:t>Elías David Álvarez Martínez</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Matrícula Y24127 · Ingeniería Electrónica</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Tutor: Enrique A. Vargas Cabral, Ph.D.</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Universidad Católica «Nuestra Señora de la Asunción»</a:t>
            </a:r>
            <a:endParaRPr lang="en-US" sz="1600" dirty="0"/>
          </a:p>
        </p:txBody>
      </p:sp>
      <p:sp>
        <p:nvSpPr>
          <p:cNvPr id="5" name="Marco imagen"/>
          <p:cNvSpPr/>
          <p:nvPr/>
        </p:nvSpPr>
        <p:spPr>
          <a:xfrm>
            <a:off x="4206240" y="2240280"/>
            <a:ext cx="4480560" cy="2240280"/>
          </a:xfrm>
          <a:prstGeom prst="rect">
            <a:avLst/>
          </a:prstGeom>
          <a:solidFill>
            <a:srgbClr val="FFFFFF"/>
          </a:solidFill>
          <a:ln w="12700">
            <a:solidFill>
              <a:srgbClr val="FFFFFF"/>
            </a:solidFill>
            <a:prstDash val="solid"/>
          </a:ln>
        </p:spPr>
      </p:sp>
      <p:pic>
        <p:nvPicPr>
          <p:cNvPr id="6" name="Esquema MASW" descr="Esquema de adquisición MASW: martillo, línea de geófonos y registros en el tiempo">    </p:cNvPr>
          <p:cNvPicPr>
            <a:picLocks noChangeAspect="1"/>
          </p:cNvPicPr>
          <p:nvPr/>
        </p:nvPicPr>
        <p:blipFill>
          <a:blip r:embed="rId1"/>
          <a:stretch>
            <a:fillRect/>
          </a:stretch>
        </p:blipFill>
        <p:spPr>
          <a:xfrm>
            <a:off x="4251960" y="2286000"/>
            <a:ext cx="4389120" cy="2194560"/>
          </a:xfrm>
          <a:prstGeom prst="rect">
            <a:avLst/>
          </a:prstGeom>
        </p:spPr>
      </p:pic>
      <p:sp>
        <p:nvSpPr>
          <p:cNvPr id="7" name="Crédito imagen"/>
          <p:cNvSpPr txBox="1"/>
          <p:nvPr/>
        </p:nvSpPr>
        <p:spPr>
          <a:xfrm>
            <a:off x="4206240" y="4526280"/>
            <a:ext cx="4480560" cy="274320"/>
          </a:xfrm>
          <a:prstGeom prst="rect">
            <a:avLst/>
          </a:prstGeom>
          <a:noFill/>
          <a:ln/>
        </p:spPr>
        <p:txBody>
          <a:bodyPr wrap="square" lIns="0" tIns="0" rIns="0" bIns="0" rtlCol="0" anchor="ctr"/>
          <a:lstStyle/>
          <a:p>
            <a:pPr indent="0" marL="0">
              <a:buNone/>
            </a:pPr>
            <a:r>
              <a:rPr lang="en-US" sz="1100" dirty="0">
                <a:solidFill>
                  <a:srgbClr val="CADCFC"/>
                </a:solidFill>
                <a:latin typeface="Arial" pitchFamily="34" charset="0"/>
                <a:ea typeface="Arial" pitchFamily="34" charset="-122"/>
                <a:cs typeface="Arial" pitchFamily="34" charset="-120"/>
              </a:rPr>
              <a:t>Esquema MASW: GeoStru (2019), original de M. Bandini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Toda obra empieza por conocer el suelo que la sostiene</a:t>
            </a:r>
            <a:endParaRPr lang="en-US" sz="2400" dirty="0"/>
          </a:p>
        </p:txBody>
      </p:sp>
      <p:pic>
        <p:nvPicPr>
          <p:cNvPr id="3" name="Imagen fundación" descr="Esquema de zapata aislada: armadura, hormigón de limpieza y terreno de fundación">    </p:cNvPr>
          <p:cNvPicPr>
            <a:picLocks noChangeAspect="1"/>
          </p:cNvPicPr>
          <p:nvPr/>
        </p:nvPicPr>
        <p:blipFill>
          <a:blip r:embed="rId1"/>
          <a:stretch>
            <a:fillRect/>
          </a:stretch>
        </p:blipFill>
        <p:spPr>
          <a:xfrm>
            <a:off x="457200" y="1188720"/>
            <a:ext cx="1792224" cy="3191256"/>
          </a:xfrm>
          <a:prstGeom prst="rect">
            <a:avLst/>
          </a:prstGeom>
        </p:spPr>
      </p:pic>
      <p:sp>
        <p:nvSpPr>
          <p:cNvPr id="4" name="Cuerpo"/>
          <p:cNvSpPr txBox="1"/>
          <p:nvPr/>
        </p:nvSpPr>
        <p:spPr>
          <a:xfrm>
            <a:off x="2651760" y="1280160"/>
            <a:ext cx="6035040" cy="173736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Reconocer los materiales antes de construir</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Estimar parámetros para dimensionar la fundación</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Controlar rellenos y capas compactadas durante la obra</a:t>
            </a:r>
            <a:endParaRPr lang="en-US" sz="2000" dirty="0"/>
          </a:p>
        </p:txBody>
      </p:sp>
      <p:sp>
        <p:nvSpPr>
          <p:cNvPr id="5" name="Recuadro dato"/>
          <p:cNvSpPr/>
          <p:nvPr/>
        </p:nvSpPr>
        <p:spPr>
          <a:xfrm>
            <a:off x="2651760" y="3246120"/>
            <a:ext cx="6035040" cy="822960"/>
          </a:xfrm>
          <a:prstGeom prst="rect">
            <a:avLst/>
          </a:prstGeom>
          <a:solidFill>
            <a:srgbClr val="EAF1F8"/>
          </a:solidFill>
          <a:ln w="12700">
            <a:solidFill>
              <a:srgbClr val="EAF1F8"/>
            </a:solidFill>
            <a:prstDash val="solid"/>
          </a:ln>
        </p:spPr>
      </p:sp>
      <p:sp>
        <p:nvSpPr>
          <p:cNvPr id="6" name="Dato Paraguay"/>
          <p:cNvSpPr txBox="1"/>
          <p:nvPr/>
        </p:nvSpPr>
        <p:spPr>
          <a:xfrm>
            <a:off x="2788920" y="3246120"/>
            <a:ext cx="5760720" cy="822960"/>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La construcción creció 6,2 % en 2025 (BCP, 2026)</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Samtani y Nowatzki (2006). BCP (2026). Imagen: Instagram (s. f.).</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control del terreno no termina cuando la obra se levanta</a:t>
            </a:r>
            <a:endParaRPr lang="en-US" sz="2400" dirty="0"/>
          </a:p>
        </p:txBody>
      </p:sp>
      <p:pic>
        <p:nvPicPr>
          <p:cNvPr id="3" name="Foto grietas" descr="Grietas y asentamientos">    </p:cNvPr>
          <p:cNvPicPr>
            <a:picLocks noChangeAspect="1"/>
          </p:cNvPicPr>
          <p:nvPr/>
        </p:nvPicPr>
        <p:blipFill>
          <a:blip r:embed="rId1"/>
          <a:stretch>
            <a:fillRect/>
          </a:stretch>
        </p:blipFill>
        <p:spPr>
          <a:xfrm>
            <a:off x="457200" y="1280160"/>
            <a:ext cx="2560320" cy="1563624"/>
          </a:xfrm>
          <a:prstGeom prst="rect">
            <a:avLst/>
          </a:prstGeom>
        </p:spPr>
      </p:pic>
      <p:sp>
        <p:nvSpPr>
          <p:cNvPr id="4" name="Text 1"/>
          <p:cNvSpPr txBox="1"/>
          <p:nvPr/>
        </p:nvSpPr>
        <p:spPr>
          <a:xfrm>
            <a:off x="45720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Grietas y asentamientos</a:t>
            </a:r>
            <a:endParaRPr lang="en-US" sz="1600" dirty="0"/>
          </a:p>
        </p:txBody>
      </p:sp>
      <p:pic>
        <p:nvPicPr>
          <p:cNvPr id="5" name="Foto pavimento_relleno" descr="Pavimentos y rellenos">    </p:cNvPr>
          <p:cNvPicPr>
            <a:picLocks noChangeAspect="1"/>
          </p:cNvPicPr>
          <p:nvPr/>
        </p:nvPicPr>
        <p:blipFill>
          <a:blip r:embed="rId2"/>
          <a:stretch>
            <a:fillRect/>
          </a:stretch>
        </p:blipFill>
        <p:spPr>
          <a:xfrm>
            <a:off x="3291840" y="1280160"/>
            <a:ext cx="2560320" cy="1737360"/>
          </a:xfrm>
          <a:prstGeom prst="rect">
            <a:avLst/>
          </a:prstGeom>
        </p:spPr>
      </p:pic>
      <p:sp>
        <p:nvSpPr>
          <p:cNvPr id="6" name="Text 2"/>
          <p:cNvSpPr txBox="1"/>
          <p:nvPr/>
        </p:nvSpPr>
        <p:spPr>
          <a:xfrm>
            <a:off x="329184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Pavimentos y rellenos</a:t>
            </a:r>
            <a:endParaRPr lang="en-US" sz="1600" dirty="0"/>
          </a:p>
        </p:txBody>
      </p:sp>
      <p:pic>
        <p:nvPicPr>
          <p:cNvPr id="7" name="Foto talud" descr="Taludes">    </p:cNvPr>
          <p:cNvPicPr>
            <a:picLocks noChangeAspect="1"/>
          </p:cNvPicPr>
          <p:nvPr/>
        </p:nvPicPr>
        <p:blipFill>
          <a:blip r:embed="rId3"/>
          <a:stretch>
            <a:fillRect/>
          </a:stretch>
        </p:blipFill>
        <p:spPr>
          <a:xfrm>
            <a:off x="6126480" y="1280160"/>
            <a:ext cx="2560320" cy="1737360"/>
          </a:xfrm>
          <a:prstGeom prst="rect">
            <a:avLst/>
          </a:prstGeom>
        </p:spPr>
      </p:pic>
      <p:sp>
        <p:nvSpPr>
          <p:cNvPr id="8" name="Text 3"/>
          <p:cNvSpPr txBox="1"/>
          <p:nvPr/>
        </p:nvSpPr>
        <p:spPr>
          <a:xfrm>
            <a:off x="612648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Taludes</a:t>
            </a:r>
            <a:endParaRPr lang="en-US" sz="1600" dirty="0"/>
          </a:p>
        </p:txBody>
      </p:sp>
      <p:sp>
        <p:nvSpPr>
          <p:cNvPr id="9" name="Mensaje"/>
          <p:cNvSpPr txBox="1"/>
          <p:nvPr/>
        </p:nvSpPr>
        <p:spPr>
          <a:xfrm>
            <a:off x="457200" y="3657600"/>
            <a:ext cx="8229600" cy="731520"/>
          </a:xfrm>
          <a:prstGeom prst="rect">
            <a:avLst/>
          </a:prstGeom>
          <a:noFill/>
          <a:ln/>
        </p:spPr>
        <p:txBody>
          <a:bodyPr wrap="square" lIns="0" tIns="0" rIns="0" bIns="0" rtlCol="0" anchor="t"/>
          <a:lstStyle/>
          <a:p>
            <a:pPr indent="0" marL="0">
              <a:buNone/>
            </a:pPr>
            <a:r>
              <a:rPr lang="en-US" sz="2000" dirty="0">
                <a:solidFill>
                  <a:srgbClr val="2D2D2D"/>
                </a:solidFill>
                <a:latin typeface="Arial" pitchFamily="34" charset="0"/>
                <a:ea typeface="Arial" pitchFamily="34" charset="-122"/>
                <a:cs typeface="Arial" pitchFamily="34" charset="-120"/>
              </a:rPr>
              <a:t>Evaluar durante y después de la obra: cambios, daños y mantenimiento, sin alterar lo construido</a:t>
            </a:r>
            <a:endParaRPr lang="en-US" sz="20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Park et al. (2018). Imágenes: UPCommons (asentamientos); 360 en Concreto (rodillo); Facebook (ilustración).</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ítulo"/>
          <p:cNvSpPr txBox="1"/>
          <p:nvPr/>
        </p:nvSpPr>
        <p:spPr>
          <a:xfrm>
            <a:off x="457200" y="274320"/>
            <a:ext cx="8229600" cy="10972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Nos proponemos definir un método de medición del terreno que, mediante el procesamiento de lo sensado, permita obtener información útil</a:t>
            </a:r>
            <a:endParaRPr lang="en-US" sz="2400" dirty="0"/>
          </a:p>
        </p:txBody>
      </p:sp>
      <p:sp>
        <p:nvSpPr>
          <p:cNvPr id="3" name="Marco plataforma"/>
          <p:cNvSpPr/>
          <p:nvPr/>
        </p:nvSpPr>
        <p:spPr>
          <a:xfrm>
            <a:off x="2514600" y="1463040"/>
            <a:ext cx="4114800" cy="1051560"/>
          </a:xfrm>
          <a:prstGeom prst="roundRect">
            <a:avLst>
              <a:gd name="adj" fmla="val 6957"/>
            </a:avLst>
          </a:prstGeom>
          <a:solidFill>
            <a:srgbClr val="FFFFFF">
              <a:alpha val="0"/>
            </a:srgbClr>
          </a:solidFill>
          <a:ln w="25400">
            <a:solidFill>
              <a:srgbClr val="C55A11"/>
            </a:solidFill>
            <a:prstDash val="solid"/>
          </a:ln>
        </p:spPr>
      </p:sp>
      <p:sp>
        <p:nvSpPr>
          <p:cNvPr id="4" name="Caja 1"/>
          <p:cNvSpPr/>
          <p:nvPr/>
        </p:nvSpPr>
        <p:spPr>
          <a:xfrm>
            <a:off x="457200" y="1554480"/>
            <a:ext cx="1783080" cy="868680"/>
          </a:xfrm>
          <a:prstGeom prst="rect">
            <a:avLst/>
          </a:prstGeom>
          <a:solidFill>
            <a:srgbClr val="EAF1F8"/>
          </a:solidFill>
          <a:ln w="12700">
            <a:solidFill>
              <a:srgbClr val="2E75B6"/>
            </a:solidFill>
            <a:prstDash val="solid"/>
          </a:ln>
        </p:spPr>
      </p:sp>
      <p:sp>
        <p:nvSpPr>
          <p:cNvPr id="5" name="Text 3"/>
          <p:cNvSpPr txBox="1"/>
          <p:nvPr/>
        </p:nvSpPr>
        <p:spPr>
          <a:xfrm>
            <a:off x="45720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Fenómeno físico del terreno</a:t>
            </a:r>
            <a:endParaRPr lang="en-US" sz="1600" dirty="0"/>
          </a:p>
        </p:txBody>
      </p:sp>
      <p:sp>
        <p:nvSpPr>
          <p:cNvPr id="6" name="Shape 4"/>
          <p:cNvSpPr/>
          <p:nvPr/>
        </p:nvSpPr>
        <p:spPr>
          <a:xfrm>
            <a:off x="2267712" y="1988820"/>
            <a:ext cx="310896" cy="0"/>
          </a:xfrm>
          <a:prstGeom prst="line">
            <a:avLst/>
          </a:prstGeom>
          <a:noFill/>
          <a:ln w="25400">
            <a:solidFill>
              <a:srgbClr val="1F4E79"/>
            </a:solidFill>
            <a:prstDash val="solid"/>
            <a:tailEnd type="triangle"/>
          </a:ln>
        </p:spPr>
      </p:sp>
      <p:sp>
        <p:nvSpPr>
          <p:cNvPr id="7" name="Caja 2"/>
          <p:cNvSpPr/>
          <p:nvPr/>
        </p:nvSpPr>
        <p:spPr>
          <a:xfrm>
            <a:off x="2606040" y="1554480"/>
            <a:ext cx="1783080" cy="868680"/>
          </a:xfrm>
          <a:prstGeom prst="rect">
            <a:avLst/>
          </a:prstGeom>
          <a:solidFill>
            <a:srgbClr val="EAF1F8"/>
          </a:solidFill>
          <a:ln w="12700">
            <a:solidFill>
              <a:srgbClr val="2E75B6"/>
            </a:solidFill>
            <a:prstDash val="solid"/>
          </a:ln>
        </p:spPr>
      </p:sp>
      <p:sp>
        <p:nvSpPr>
          <p:cNvPr id="8" name="Text 6"/>
          <p:cNvSpPr txBox="1"/>
          <p:nvPr/>
        </p:nvSpPr>
        <p:spPr>
          <a:xfrm>
            <a:off x="260604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Transductor</a:t>
            </a:r>
            <a:endParaRPr lang="en-US" sz="1600" dirty="0"/>
          </a:p>
        </p:txBody>
      </p:sp>
      <p:sp>
        <p:nvSpPr>
          <p:cNvPr id="9" name="Shape 7"/>
          <p:cNvSpPr/>
          <p:nvPr/>
        </p:nvSpPr>
        <p:spPr>
          <a:xfrm>
            <a:off x="4416552" y="1988820"/>
            <a:ext cx="310896" cy="0"/>
          </a:xfrm>
          <a:prstGeom prst="line">
            <a:avLst/>
          </a:prstGeom>
          <a:noFill/>
          <a:ln w="25400">
            <a:solidFill>
              <a:srgbClr val="1F4E79"/>
            </a:solidFill>
            <a:prstDash val="solid"/>
            <a:tailEnd type="triangle"/>
          </a:ln>
        </p:spPr>
      </p:sp>
      <p:sp>
        <p:nvSpPr>
          <p:cNvPr id="10" name="Caja 3"/>
          <p:cNvSpPr/>
          <p:nvPr/>
        </p:nvSpPr>
        <p:spPr>
          <a:xfrm>
            <a:off x="4754880" y="1554480"/>
            <a:ext cx="1783080" cy="868680"/>
          </a:xfrm>
          <a:prstGeom prst="rect">
            <a:avLst/>
          </a:prstGeom>
          <a:solidFill>
            <a:srgbClr val="EAF1F8"/>
          </a:solidFill>
          <a:ln w="12700">
            <a:solidFill>
              <a:srgbClr val="2E75B6"/>
            </a:solidFill>
            <a:prstDash val="solid"/>
          </a:ln>
        </p:spPr>
      </p:sp>
      <p:sp>
        <p:nvSpPr>
          <p:cNvPr id="11" name="Text 9"/>
          <p:cNvSpPr txBox="1"/>
          <p:nvPr/>
        </p:nvSpPr>
        <p:spPr>
          <a:xfrm>
            <a:off x="475488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Procesamiento</a:t>
            </a:r>
            <a:endParaRPr lang="en-US" sz="1600" dirty="0"/>
          </a:p>
        </p:txBody>
      </p:sp>
      <p:sp>
        <p:nvSpPr>
          <p:cNvPr id="12" name="Shape 10"/>
          <p:cNvSpPr/>
          <p:nvPr/>
        </p:nvSpPr>
        <p:spPr>
          <a:xfrm>
            <a:off x="6565392" y="1988820"/>
            <a:ext cx="310896" cy="0"/>
          </a:xfrm>
          <a:prstGeom prst="line">
            <a:avLst/>
          </a:prstGeom>
          <a:noFill/>
          <a:ln w="25400">
            <a:solidFill>
              <a:srgbClr val="1F4E79"/>
            </a:solidFill>
            <a:prstDash val="solid"/>
            <a:tailEnd type="triangle"/>
          </a:ln>
        </p:spPr>
      </p:sp>
      <p:sp>
        <p:nvSpPr>
          <p:cNvPr id="13" name="Caja 4"/>
          <p:cNvSpPr/>
          <p:nvPr/>
        </p:nvSpPr>
        <p:spPr>
          <a:xfrm>
            <a:off x="6903720" y="1554480"/>
            <a:ext cx="1783080" cy="868680"/>
          </a:xfrm>
          <a:prstGeom prst="rect">
            <a:avLst/>
          </a:prstGeom>
          <a:solidFill>
            <a:srgbClr val="1F4E79"/>
          </a:solidFill>
          <a:ln w="12700">
            <a:solidFill>
              <a:srgbClr val="1F4E79"/>
            </a:solidFill>
            <a:prstDash val="solid"/>
          </a:ln>
        </p:spPr>
      </p:sp>
      <p:sp>
        <p:nvSpPr>
          <p:cNvPr id="14" name="Text 12"/>
          <p:cNvSpPr txBox="1"/>
          <p:nvPr/>
        </p:nvSpPr>
        <p:spPr>
          <a:xfrm>
            <a:off x="690372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Información útil del terreno</a:t>
            </a:r>
            <a:endParaRPr lang="en-US" sz="1600" dirty="0"/>
          </a:p>
        </p:txBody>
      </p:sp>
      <p:sp>
        <p:nvSpPr>
          <p:cNvPr id="15" name="Etiqueta plataforma"/>
          <p:cNvSpPr txBox="1"/>
          <p:nvPr/>
        </p:nvSpPr>
        <p:spPr>
          <a:xfrm>
            <a:off x="2514600" y="2578608"/>
            <a:ext cx="4114800" cy="457200"/>
          </a:xfrm>
          <a:prstGeom prst="rect">
            <a:avLst/>
          </a:prstGeom>
          <a:noFill/>
          <a:ln/>
        </p:spPr>
        <p:txBody>
          <a:bodyPr wrap="square" lIns="0" tIns="0" rIns="0" bIns="0" rtlCol="0" anchor="t"/>
          <a:lstStyle/>
          <a:p>
            <a:pPr algn="ctr" indent="0" marL="0">
              <a:buNone/>
            </a:pPr>
            <a:r>
              <a:rPr lang="en-US" sz="1600" b="1" dirty="0">
                <a:solidFill>
                  <a:srgbClr val="C55A11"/>
                </a:solidFill>
                <a:latin typeface="Arial" pitchFamily="34" charset="0"/>
                <a:ea typeface="Arial" pitchFamily="34" charset="-122"/>
                <a:cs typeface="Arial" pitchFamily="34" charset="-120"/>
              </a:rPr>
              <a:t>Lo que construye este trabajo: la plataforma que realiza la medición</a:t>
            </a:r>
            <a:endParaRPr lang="en-US" sz="1600" dirty="0"/>
          </a:p>
        </p:txBody>
      </p:sp>
      <p:sp>
        <p:nvSpPr>
          <p:cNvPr id="16" name="Text 14"/>
          <p:cNvSpPr txBox="1"/>
          <p:nvPr/>
        </p:nvSpPr>
        <p:spPr>
          <a:xfrm>
            <a:off x="457200" y="3063240"/>
            <a:ext cx="2743200" cy="320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Hoja de ruta</a:t>
            </a:r>
            <a:endParaRPr lang="en-US" sz="2000" dirty="0"/>
          </a:p>
        </p:txBody>
      </p:sp>
      <p:sp>
        <p:nvSpPr>
          <p:cNvPr id="17" name="Número 1"/>
          <p:cNvSpPr/>
          <p:nvPr/>
        </p:nvSpPr>
        <p:spPr>
          <a:xfrm>
            <a:off x="457200" y="3493008"/>
            <a:ext cx="246888" cy="246888"/>
          </a:xfrm>
          <a:prstGeom prst="ellipse">
            <a:avLst/>
          </a:prstGeom>
          <a:solidFill>
            <a:srgbClr val="2E75B6"/>
          </a:solidFill>
          <a:ln w="12700">
            <a:solidFill>
              <a:srgbClr val="2E75B6"/>
            </a:solidFill>
            <a:prstDash val="solid"/>
          </a:ln>
        </p:spPr>
      </p:sp>
      <p:sp>
        <p:nvSpPr>
          <p:cNvPr id="18" name="Text 16"/>
          <p:cNvSpPr txBox="1"/>
          <p:nvPr/>
        </p:nvSpPr>
        <p:spPr>
          <a:xfrm>
            <a:off x="457200" y="3493008"/>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9" name="Hoja de ruta 1"/>
          <p:cNvSpPr txBox="1"/>
          <p:nvPr/>
        </p:nvSpPr>
        <p:spPr>
          <a:xfrm>
            <a:off x="822960" y="3474720"/>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Exploración de los fenómenos físicos candidatos a medir y las técnicas asociadas</a:t>
            </a:r>
            <a:endParaRPr lang="en-US" sz="1600" dirty="0"/>
          </a:p>
        </p:txBody>
      </p:sp>
      <p:sp>
        <p:nvSpPr>
          <p:cNvPr id="20" name="Número 2"/>
          <p:cNvSpPr/>
          <p:nvPr/>
        </p:nvSpPr>
        <p:spPr>
          <a:xfrm>
            <a:off x="457200" y="3803904"/>
            <a:ext cx="246888" cy="246888"/>
          </a:xfrm>
          <a:prstGeom prst="ellipse">
            <a:avLst/>
          </a:prstGeom>
          <a:solidFill>
            <a:srgbClr val="2E75B6"/>
          </a:solidFill>
          <a:ln w="12700">
            <a:solidFill>
              <a:srgbClr val="2E75B6"/>
            </a:solidFill>
            <a:prstDash val="solid"/>
          </a:ln>
        </p:spPr>
      </p:sp>
      <p:sp>
        <p:nvSpPr>
          <p:cNvPr id="21" name="Text 19"/>
          <p:cNvSpPr txBox="1"/>
          <p:nvPr/>
        </p:nvSpPr>
        <p:spPr>
          <a:xfrm>
            <a:off x="457200" y="3803904"/>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2" name="Hoja de ruta 2"/>
          <p:cNvSpPr txBox="1"/>
          <p:nvPr/>
        </p:nvSpPr>
        <p:spPr>
          <a:xfrm>
            <a:off x="822960" y="3785616"/>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Análisis en profundidad del método seleccionado</a:t>
            </a:r>
            <a:endParaRPr lang="en-US" sz="1600" dirty="0"/>
          </a:p>
        </p:txBody>
      </p:sp>
      <p:sp>
        <p:nvSpPr>
          <p:cNvPr id="23" name="Número 3"/>
          <p:cNvSpPr/>
          <p:nvPr/>
        </p:nvSpPr>
        <p:spPr>
          <a:xfrm>
            <a:off x="457200" y="4114800"/>
            <a:ext cx="246888" cy="246888"/>
          </a:xfrm>
          <a:prstGeom prst="ellipse">
            <a:avLst/>
          </a:prstGeom>
          <a:solidFill>
            <a:srgbClr val="2E75B6"/>
          </a:solidFill>
          <a:ln w="12700">
            <a:solidFill>
              <a:srgbClr val="2E75B6"/>
            </a:solidFill>
            <a:prstDash val="solid"/>
          </a:ln>
        </p:spPr>
      </p:sp>
      <p:sp>
        <p:nvSpPr>
          <p:cNvPr id="24" name="Text 22"/>
          <p:cNvSpPr txBox="1"/>
          <p:nvPr/>
        </p:nvSpPr>
        <p:spPr>
          <a:xfrm>
            <a:off x="457200" y="4114800"/>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5" name="Hoja de ruta 3"/>
          <p:cNvSpPr txBox="1"/>
          <p:nvPr/>
        </p:nvSpPr>
        <p:spPr>
          <a:xfrm>
            <a:off x="822960" y="4096512"/>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Especificaciones y plataforma propuesta</a:t>
            </a:r>
            <a:endParaRPr lang="en-US" sz="1600" dirty="0"/>
          </a:p>
        </p:txBody>
      </p:sp>
      <p:sp>
        <p:nvSpPr>
          <p:cNvPr id="26" name="Número 4"/>
          <p:cNvSpPr/>
          <p:nvPr/>
        </p:nvSpPr>
        <p:spPr>
          <a:xfrm>
            <a:off x="457200" y="4425696"/>
            <a:ext cx="246888" cy="246888"/>
          </a:xfrm>
          <a:prstGeom prst="ellipse">
            <a:avLst/>
          </a:prstGeom>
          <a:solidFill>
            <a:srgbClr val="2E75B6"/>
          </a:solidFill>
          <a:ln w="12700">
            <a:solidFill>
              <a:srgbClr val="2E75B6"/>
            </a:solidFill>
            <a:prstDash val="solid"/>
          </a:ln>
        </p:spPr>
      </p:sp>
      <p:sp>
        <p:nvSpPr>
          <p:cNvPr id="27" name="Text 25"/>
          <p:cNvSpPr txBox="1"/>
          <p:nvPr/>
        </p:nvSpPr>
        <p:spPr>
          <a:xfrm>
            <a:off x="457200" y="4425696"/>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8" name="Hoja de ruta 4"/>
          <p:cNvSpPr txBox="1"/>
          <p:nvPr/>
        </p:nvSpPr>
        <p:spPr>
          <a:xfrm>
            <a:off x="822960" y="4407408"/>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Resultados parciales</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Hay dos formas de medir el terreno: por su resistencia o por cómo transmite ondas</a:t>
            </a:r>
            <a:endParaRPr lang="en-US" sz="2400" dirty="0"/>
          </a:p>
        </p:txBody>
      </p:sp>
      <p:sp>
        <p:nvSpPr>
          <p:cNvPr id="3" name="Encabezado dentro"/>
          <p:cNvSpPr/>
          <p:nvPr/>
        </p:nvSpPr>
        <p:spPr>
          <a:xfrm>
            <a:off x="2048256" y="1188720"/>
            <a:ext cx="1737360" cy="777240"/>
          </a:xfrm>
          <a:prstGeom prst="rect">
            <a:avLst/>
          </a:prstGeom>
          <a:solidFill>
            <a:srgbClr val="1F4E79"/>
          </a:solidFill>
          <a:ln w="12700">
            <a:solidFill>
              <a:srgbClr val="1F4E79"/>
            </a:solidFill>
            <a:prstDash val="solid"/>
          </a:ln>
        </p:spPr>
      </p:sp>
      <p:sp>
        <p:nvSpPr>
          <p:cNvPr id="4" name="Text 2"/>
          <p:cNvSpPr txBox="1"/>
          <p:nvPr/>
        </p:nvSpPr>
        <p:spPr>
          <a:xfrm>
            <a:off x="2048256" y="1188720"/>
            <a:ext cx="1737360" cy="77724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Dentro del terreno (invasivo)</a:t>
            </a:r>
            <a:endParaRPr lang="en-US" sz="1600" dirty="0"/>
          </a:p>
        </p:txBody>
      </p:sp>
      <p:sp>
        <p:nvSpPr>
          <p:cNvPr id="5" name="Encabezado superficie"/>
          <p:cNvSpPr/>
          <p:nvPr/>
        </p:nvSpPr>
        <p:spPr>
          <a:xfrm>
            <a:off x="3822192" y="1188720"/>
            <a:ext cx="1737360" cy="777240"/>
          </a:xfrm>
          <a:prstGeom prst="rect">
            <a:avLst/>
          </a:prstGeom>
          <a:solidFill>
            <a:srgbClr val="1F4E79"/>
          </a:solidFill>
          <a:ln w="12700">
            <a:solidFill>
              <a:srgbClr val="1F4E79"/>
            </a:solidFill>
            <a:prstDash val="solid"/>
          </a:ln>
        </p:spPr>
      </p:sp>
      <p:sp>
        <p:nvSpPr>
          <p:cNvPr id="6" name="Text 4"/>
          <p:cNvSpPr txBox="1"/>
          <p:nvPr/>
        </p:nvSpPr>
        <p:spPr>
          <a:xfrm>
            <a:off x="3822192" y="1188720"/>
            <a:ext cx="1737360" cy="77724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Desde la superficie (no invasivo)</a:t>
            </a:r>
            <a:endParaRPr lang="en-US" sz="1600" dirty="0"/>
          </a:p>
        </p:txBody>
      </p:sp>
      <p:sp>
        <p:nvSpPr>
          <p:cNvPr id="7" name="Fila resistencia"/>
          <p:cNvSpPr/>
          <p:nvPr/>
        </p:nvSpPr>
        <p:spPr>
          <a:xfrm>
            <a:off x="457200" y="2002536"/>
            <a:ext cx="1554480" cy="868680"/>
          </a:xfrm>
          <a:prstGeom prst="rect">
            <a:avLst/>
          </a:prstGeom>
          <a:solidFill>
            <a:srgbClr val="2E75B6"/>
          </a:solidFill>
          <a:ln w="12700">
            <a:solidFill>
              <a:srgbClr val="2E75B6"/>
            </a:solidFill>
            <a:prstDash val="solid"/>
          </a:ln>
        </p:spPr>
      </p:sp>
      <p:sp>
        <p:nvSpPr>
          <p:cNvPr id="8" name="Text 6"/>
          <p:cNvSpPr txBox="1"/>
          <p:nvPr/>
        </p:nvSpPr>
        <p:spPr>
          <a:xfrm>
            <a:off x="457200" y="2002536"/>
            <a:ext cx="1554480" cy="86868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Resistencia a la penetración</a:t>
            </a:r>
            <a:endParaRPr lang="en-US" sz="1600" dirty="0"/>
          </a:p>
        </p:txBody>
      </p:sp>
      <p:sp>
        <p:nvSpPr>
          <p:cNvPr id="9" name="Fila ondas"/>
          <p:cNvSpPr/>
          <p:nvPr/>
        </p:nvSpPr>
        <p:spPr>
          <a:xfrm>
            <a:off x="457200" y="2907792"/>
            <a:ext cx="1554480" cy="1508760"/>
          </a:xfrm>
          <a:prstGeom prst="rect">
            <a:avLst/>
          </a:prstGeom>
          <a:solidFill>
            <a:srgbClr val="2E75B6"/>
          </a:solidFill>
          <a:ln w="12700">
            <a:solidFill>
              <a:srgbClr val="2E75B6"/>
            </a:solidFill>
            <a:prstDash val="solid"/>
          </a:ln>
        </p:spPr>
      </p:sp>
      <p:sp>
        <p:nvSpPr>
          <p:cNvPr id="10" name="Text 8"/>
          <p:cNvSpPr txBox="1"/>
          <p:nvPr/>
        </p:nvSpPr>
        <p:spPr>
          <a:xfrm>
            <a:off x="457200" y="2907792"/>
            <a:ext cx="1554480" cy="150876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Propagación de ondas</a:t>
            </a:r>
            <a:endParaRPr lang="en-US" sz="1600" dirty="0"/>
          </a:p>
        </p:txBody>
      </p:sp>
      <p:sp>
        <p:nvSpPr>
          <p:cNvPr id="11" name="Celda penetración dentro"/>
          <p:cNvSpPr/>
          <p:nvPr/>
        </p:nvSpPr>
        <p:spPr>
          <a:xfrm>
            <a:off x="2048256" y="2002536"/>
            <a:ext cx="1737360" cy="868680"/>
          </a:xfrm>
          <a:prstGeom prst="rect">
            <a:avLst/>
          </a:prstGeom>
          <a:solidFill>
            <a:srgbClr val="FFFFFF"/>
          </a:solidFill>
          <a:ln w="12700">
            <a:solidFill>
              <a:srgbClr val="6B6B6B"/>
            </a:solidFill>
            <a:prstDash val="solid"/>
          </a:ln>
        </p:spPr>
      </p:sp>
      <p:sp>
        <p:nvSpPr>
          <p:cNvPr id="12" name="Text 10"/>
          <p:cNvSpPr txBox="1"/>
          <p:nvPr/>
        </p:nvSpPr>
        <p:spPr>
          <a:xfrm>
            <a:off x="2048256" y="2002536"/>
            <a:ext cx="1737360" cy="86868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SPT</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CPT / CPTu</a:t>
            </a:r>
            <a:endParaRPr lang="en-US" sz="1600" dirty="0"/>
          </a:p>
        </p:txBody>
      </p:sp>
      <p:sp>
        <p:nvSpPr>
          <p:cNvPr id="13" name="Celda penetración superficie"/>
          <p:cNvSpPr/>
          <p:nvPr/>
        </p:nvSpPr>
        <p:spPr>
          <a:xfrm>
            <a:off x="3822192" y="2002536"/>
            <a:ext cx="1737360" cy="868680"/>
          </a:xfrm>
          <a:prstGeom prst="rect">
            <a:avLst/>
          </a:prstGeom>
          <a:solidFill>
            <a:srgbClr val="FFFFFF"/>
          </a:solidFill>
          <a:ln w="12700">
            <a:solidFill>
              <a:srgbClr val="6B6B6B"/>
            </a:solidFill>
            <a:prstDash val="solid"/>
          </a:ln>
        </p:spPr>
      </p:sp>
      <p:sp>
        <p:nvSpPr>
          <p:cNvPr id="14" name="Text 12"/>
          <p:cNvSpPr txBox="1"/>
          <p:nvPr/>
        </p:nvSpPr>
        <p:spPr>
          <a:xfrm>
            <a:off x="3822192" y="2002536"/>
            <a:ext cx="1737360" cy="868680"/>
          </a:xfrm>
          <a:prstGeom prst="rect">
            <a:avLst/>
          </a:prstGeom>
          <a:noFill/>
          <a:ln/>
        </p:spPr>
        <p:txBody>
          <a:bodyPr wrap="square" lIns="38100" tIns="38100" rIns="38100" bIns="38100" rtlCol="0" anchor="ctr"/>
          <a:lstStyle/>
          <a:p>
            <a:pPr algn="ctr" indent="0" marL="0">
              <a:buNone/>
            </a:pPr>
            <a:r>
              <a:rPr lang="en-US" sz="1600" dirty="0">
                <a:solidFill>
                  <a:srgbClr val="6B6B6B"/>
                </a:solidFill>
                <a:latin typeface="Arial" pitchFamily="34" charset="0"/>
                <a:ea typeface="Arial" pitchFamily="34" charset="-122"/>
                <a:cs typeface="Arial" pitchFamily="34" charset="-120"/>
              </a:rPr>
              <a:t>—</a:t>
            </a:r>
            <a:endParaRPr lang="en-US" sz="1600" dirty="0"/>
          </a:p>
        </p:txBody>
      </p:sp>
      <p:sp>
        <p:nvSpPr>
          <p:cNvPr id="15" name="Celda ondas dentro"/>
          <p:cNvSpPr/>
          <p:nvPr/>
        </p:nvSpPr>
        <p:spPr>
          <a:xfrm>
            <a:off x="2048256" y="2907792"/>
            <a:ext cx="1737360" cy="1508760"/>
          </a:xfrm>
          <a:prstGeom prst="rect">
            <a:avLst/>
          </a:prstGeom>
          <a:solidFill>
            <a:srgbClr val="FFFFFF"/>
          </a:solidFill>
          <a:ln w="12700">
            <a:solidFill>
              <a:srgbClr val="6B6B6B"/>
            </a:solidFill>
            <a:prstDash val="solid"/>
          </a:ln>
        </p:spPr>
      </p:sp>
      <p:sp>
        <p:nvSpPr>
          <p:cNvPr id="16" name="Text 14"/>
          <p:cNvSpPr txBox="1"/>
          <p:nvPr/>
        </p:nvSpPr>
        <p:spPr>
          <a:xfrm>
            <a:off x="2048256" y="2907792"/>
            <a:ext cx="1737360" cy="150876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Downhole</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Crosshole</a:t>
            </a:r>
            <a:endParaRPr lang="en-US" sz="1600" dirty="0"/>
          </a:p>
        </p:txBody>
      </p:sp>
      <p:sp>
        <p:nvSpPr>
          <p:cNvPr id="17" name="Celda ondas superficie"/>
          <p:cNvSpPr/>
          <p:nvPr/>
        </p:nvSpPr>
        <p:spPr>
          <a:xfrm>
            <a:off x="3822192" y="2907792"/>
            <a:ext cx="1737360" cy="1508760"/>
          </a:xfrm>
          <a:prstGeom prst="rect">
            <a:avLst/>
          </a:prstGeom>
          <a:solidFill>
            <a:srgbClr val="FFFFFF"/>
          </a:solidFill>
          <a:ln w="38100">
            <a:solidFill>
              <a:srgbClr val="C55A11"/>
            </a:solidFill>
            <a:prstDash val="solid"/>
          </a:ln>
        </p:spPr>
      </p:sp>
      <p:sp>
        <p:nvSpPr>
          <p:cNvPr id="18" name="Text 16"/>
          <p:cNvSpPr txBox="1"/>
          <p:nvPr/>
        </p:nvSpPr>
        <p:spPr>
          <a:xfrm>
            <a:off x="3822192" y="2907792"/>
            <a:ext cx="1737360" cy="150876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Refracción</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Reflexión</a:t>
            </a:r>
            <a:endParaRPr lang="en-US" sz="1600" dirty="0"/>
          </a:p>
          <a:p>
            <a:pPr algn="ctr" indent="0" marL="0">
              <a:buNone/>
            </a:pPr>
            <a:r>
              <a:rPr lang="en-US" sz="1600" b="1" dirty="0">
                <a:solidFill>
                  <a:srgbClr val="C55A11"/>
                </a:solidFill>
                <a:latin typeface="Arial" pitchFamily="34" charset="0"/>
                <a:ea typeface="Arial" pitchFamily="34" charset="-122"/>
                <a:cs typeface="Arial" pitchFamily="34" charset="-120"/>
              </a:rPr>
              <a:t>Ondas superficiales</a:t>
            </a:r>
            <a:endParaRPr lang="en-US" sz="1600" dirty="0"/>
          </a:p>
          <a:p>
            <a:pPr algn="ctr" indent="0" marL="0">
              <a:buNone/>
            </a:pPr>
            <a:r>
              <a:rPr lang="en-US" sz="1600" dirty="0">
                <a:solidFill>
                  <a:srgbClr val="1F4E79"/>
                </a:solidFill>
                <a:latin typeface="Arial" pitchFamily="34" charset="0"/>
                <a:ea typeface="Arial" pitchFamily="34" charset="-122"/>
                <a:cs typeface="Arial" pitchFamily="34" charset="-120"/>
              </a:rPr>
              <a:t>Love, Rayleigh</a:t>
            </a:r>
            <a:endParaRPr lang="en-US" sz="1600" dirty="0"/>
          </a:p>
          <a:p>
            <a:pPr algn="ctr" indent="0" marL="0">
              <a:buNone/>
            </a:pPr>
            <a:r>
              <a:rPr lang="en-US" sz="1600" dirty="0">
                <a:solidFill>
                  <a:srgbClr val="1F4E79"/>
                </a:solidFill>
                <a:latin typeface="Arial" pitchFamily="34" charset="0"/>
                <a:ea typeface="Arial" pitchFamily="34" charset="-122"/>
                <a:cs typeface="Arial" pitchFamily="34" charset="-120"/>
              </a:rPr>
              <a:t>SASW / MASW</a:t>
            </a:r>
            <a:endParaRPr lang="en-US" sz="1600" dirty="0"/>
          </a:p>
        </p:txBody>
      </p:sp>
      <p:sp>
        <p:nvSpPr>
          <p:cNvPr id="19" name="Cuerpo"/>
          <p:cNvSpPr txBox="1"/>
          <p:nvPr/>
        </p:nvSpPr>
        <p:spPr>
          <a:xfrm>
            <a:off x="5897880" y="1280160"/>
            <a:ext cx="2788920" cy="3108960"/>
          </a:xfrm>
          <a:prstGeom prst="rect">
            <a:avLst/>
          </a:prstGeom>
          <a:noFill/>
          <a:ln/>
        </p:spPr>
        <p:txBody>
          <a:bodyPr wrap="square" lIns="0" tIns="0" rIns="0" bIns="0" rtlCol="0" anchor="t"/>
          <a:lstStyle/>
          <a:p>
            <a:pPr marL="342900" indent="-342900">
              <a:spcAft>
                <a:spcPts val="1400"/>
              </a:spcAft>
              <a:buSzPct val="100000"/>
              <a:buChar char="•"/>
            </a:pPr>
            <a:r>
              <a:rPr lang="en-US" sz="1800" dirty="0">
                <a:solidFill>
                  <a:srgbClr val="2D2D2D"/>
                </a:solidFill>
                <a:latin typeface="Arial" pitchFamily="34" charset="0"/>
                <a:ea typeface="Arial" pitchFamily="34" charset="-122"/>
                <a:cs typeface="Arial" pitchFamily="34" charset="-120"/>
              </a:rPr>
              <a:t>Resistencia: miden cuánto cuesta penetrar el terreno</a:t>
            </a:r>
            <a:endParaRPr lang="en-US" sz="1800" dirty="0"/>
          </a:p>
          <a:p>
            <a:pPr marL="342900" indent="-342900">
              <a:spcAft>
                <a:spcPts val="1400"/>
              </a:spcAft>
              <a:buSzPct val="100000"/>
              <a:buChar char="•"/>
            </a:pPr>
            <a:r>
              <a:rPr lang="en-US" sz="1800" dirty="0">
                <a:solidFill>
                  <a:srgbClr val="2D2D2D"/>
                </a:solidFill>
                <a:latin typeface="Arial" pitchFamily="34" charset="0"/>
                <a:ea typeface="Arial" pitchFamily="34" charset="-122"/>
                <a:cs typeface="Arial" pitchFamily="34" charset="-120"/>
              </a:rPr>
              <a:t>Ondas: usan propiedades de las ondas y cómo el terreno las modifica</a:t>
            </a:r>
            <a:endParaRPr lang="en-US" sz="1800" dirty="0"/>
          </a:p>
        </p:txBody>
      </p:sp>
      <p:sp>
        <p:nvSpPr>
          <p:cNvPr id="2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Clasificación elaborada a partir de Foti et al. (2014), cap. 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SPT: se cuentan los golpes necesarios para hincar una cuchara en el suelo</a:t>
            </a:r>
            <a:endParaRPr lang="en-US" sz="2400" dirty="0"/>
          </a:p>
        </p:txBody>
      </p:sp>
      <p:pic>
        <p:nvPicPr>
          <p:cNvPr id="3" name="Figura SPT" descr="Ensayo SPT: martillo, barras, cuchara partida y tres tramos de avance">    </p:cNvPr>
          <p:cNvPicPr>
            <a:picLocks noChangeAspect="1"/>
          </p:cNvPicPr>
          <p:nvPr/>
        </p:nvPicPr>
        <p:blipFill>
          <a:blip r:embed="rId1"/>
          <a:stretch>
            <a:fillRect/>
          </a:stretch>
        </p:blipFill>
        <p:spPr>
          <a:xfrm>
            <a:off x="457200" y="1234440"/>
            <a:ext cx="4389120" cy="3291840"/>
          </a:xfrm>
          <a:prstGeom prst="rect">
            <a:avLst/>
          </a:prstGeom>
        </p:spPr>
      </p:pic>
      <p:sp>
        <p:nvSpPr>
          <p:cNvPr id="4" name="Cuerpo"/>
          <p:cNvSpPr txBox="1"/>
          <p:nvPr/>
        </p:nvSpPr>
        <p:spPr>
          <a:xfrm>
            <a:off x="5120640" y="1371600"/>
            <a:ext cx="3566160" cy="292608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Un martillo normalizado golpea una cuchara partida</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N: golpes para penetrar 0,304 m (N2 + N3)</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Además recupera una muestra alterada</a:t>
            </a:r>
            <a:endParaRPr lang="en-US" sz="20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Procedimiento según la norma ASTM D1586.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CPT/CPTu: un cono se hinca a velocidad constante y mide mientras avanza</a:t>
            </a:r>
            <a:endParaRPr lang="en-US" sz="2400" dirty="0"/>
          </a:p>
        </p:txBody>
      </p:sp>
      <p:pic>
        <p:nvPicPr>
          <p:cNvPr id="3" name="Figura CPTu" descr="Piezocono: punta, manguito de fricción y presión de poros; camión de ensayo y perfil registrado">    </p:cNvPr>
          <p:cNvPicPr>
            <a:picLocks noChangeAspect="1"/>
          </p:cNvPicPr>
          <p:nvPr/>
        </p:nvPicPr>
        <p:blipFill>
          <a:blip r:embed="rId1"/>
          <a:stretch>
            <a:fillRect/>
          </a:stretch>
        </p:blipFill>
        <p:spPr>
          <a:xfrm>
            <a:off x="457200" y="1097280"/>
            <a:ext cx="3337875" cy="3611880"/>
          </a:xfrm>
          <a:prstGeom prst="rect">
            <a:avLst/>
          </a:prstGeom>
        </p:spPr>
      </p:pic>
      <p:sp>
        <p:nvSpPr>
          <p:cNvPr id="4" name="Cuerpo"/>
          <p:cNvSpPr txBox="1"/>
          <p:nvPr/>
        </p:nvSpPr>
        <p:spPr>
          <a:xfrm>
            <a:off x="4114800" y="1280160"/>
            <a:ext cx="457200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Se hinca a unos 2 cm/s</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Mide resistencia de punta (qc) y fricción lateral (fs)</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El CPTu agrega la presión de poros (u₂)</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Entrega un perfil continuo con la profundidad</a:t>
            </a:r>
            <a:endParaRPr lang="en-US" sz="2000" dirty="0"/>
          </a:p>
        </p:txBody>
      </p:sp>
      <p:sp>
        <p:nvSpPr>
          <p:cNvPr id="5" name="Cita"/>
          <p:cNvSpPr txBox="1"/>
          <p:nvPr/>
        </p:nvSpPr>
        <p:spPr>
          <a:xfrm>
            <a:off x="4114800" y="4206240"/>
            <a:ext cx="4572000" cy="45720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Putt et al. (2022), Front. Environ. Sci. 9:821882, fig. 1 (CC BY),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Ventajas: resistencia medida directamente y con mucha experiencia acumulada</a:t>
            </a:r>
            <a:endParaRPr lang="en-US" sz="2400" dirty="0"/>
          </a:p>
        </p:txBody>
      </p:sp>
      <p:pic>
        <p:nvPicPr>
          <p:cNvPr id="3" name="SPT pequeña" descr="SPT">    </p:cNvPr>
          <p:cNvPicPr>
            <a:picLocks noChangeAspect="1"/>
          </p:cNvPicPr>
          <p:nvPr/>
        </p:nvPicPr>
        <p:blipFill>
          <a:blip r:embed="rId1"/>
          <a:stretch>
            <a:fillRect/>
          </a:stretch>
        </p:blipFill>
        <p:spPr>
          <a:xfrm>
            <a:off x="457200" y="1188720"/>
            <a:ext cx="1920240" cy="1440180"/>
          </a:xfrm>
          <a:prstGeom prst="rect">
            <a:avLst/>
          </a:prstGeom>
        </p:spPr>
      </p:pic>
      <p:sp>
        <p:nvSpPr>
          <p:cNvPr id="4" name="Text 1"/>
          <p:cNvSpPr txBox="1"/>
          <p:nvPr/>
        </p:nvSpPr>
        <p:spPr>
          <a:xfrm>
            <a:off x="2560320" y="1188720"/>
            <a:ext cx="1828800" cy="144018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SPT</a:t>
            </a:r>
            <a:endParaRPr lang="en-US" sz="2000" dirty="0"/>
          </a:p>
        </p:txBody>
      </p:sp>
      <p:sp>
        <p:nvSpPr>
          <p:cNvPr id="5" name="Cuerpo SPT"/>
          <p:cNvSpPr txBox="1"/>
          <p:nvPr/>
        </p:nvSpPr>
        <p:spPr>
          <a:xfrm>
            <a:off x="457200" y="281178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Equipo simple y muy difundido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Recupera una muestra para clasificar</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Amplia base de correlaciones</a:t>
            </a:r>
            <a:endParaRPr lang="en-US" sz="1800" dirty="0"/>
          </a:p>
        </p:txBody>
      </p:sp>
      <p:pic>
        <p:nvPicPr>
          <p:cNvPr id="6" name="CPTu pequeña" descr="CPTu">    </p:cNvPr>
          <p:cNvPicPr>
            <a:picLocks noChangeAspect="1"/>
          </p:cNvPicPr>
          <p:nvPr/>
        </p:nvPicPr>
        <p:blipFill>
          <a:blip r:embed="rId2"/>
          <a:stretch>
            <a:fillRect/>
          </a:stretch>
        </p:blipFill>
        <p:spPr>
          <a:xfrm>
            <a:off x="4754880" y="1188720"/>
            <a:ext cx="1325880" cy="1435608"/>
          </a:xfrm>
          <a:prstGeom prst="rect">
            <a:avLst/>
          </a:prstGeom>
        </p:spPr>
      </p:pic>
      <p:sp>
        <p:nvSpPr>
          <p:cNvPr id="7" name="Text 3"/>
          <p:cNvSpPr txBox="1"/>
          <p:nvPr/>
        </p:nvSpPr>
        <p:spPr>
          <a:xfrm>
            <a:off x="6263640" y="1188720"/>
            <a:ext cx="2423160" cy="1435608"/>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CPT / CPTu</a:t>
            </a:r>
            <a:endParaRPr lang="en-US" sz="2000" dirty="0"/>
          </a:p>
        </p:txBody>
      </p:sp>
      <p:sp>
        <p:nvSpPr>
          <p:cNvPr id="8" name="Cuerpo CPT / CPTu"/>
          <p:cNvSpPr txBox="1"/>
          <p:nvPr/>
        </p:nvSpPr>
        <p:spPr>
          <a:xfrm>
            <a:off x="4754880" y="2807208"/>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Perfil continuo, rápido y repetible</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requiere perforación previa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La presión de poros ayuda a distinguir el suelo</a:t>
            </a:r>
            <a:endParaRPr lang="en-US" sz="18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CPT: Putt et al. (2022).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Limitaciones: puntuales, invasivos y sin medir la rigidez de forma directa</a:t>
            </a:r>
            <a:endParaRPr lang="en-US" sz="2400" dirty="0"/>
          </a:p>
        </p:txBody>
      </p:sp>
      <p:pic>
        <p:nvPicPr>
          <p:cNvPr id="3" name="SPT pequeña" descr="SPT">    </p:cNvPr>
          <p:cNvPicPr>
            <a:picLocks noChangeAspect="1"/>
          </p:cNvPicPr>
          <p:nvPr/>
        </p:nvPicPr>
        <p:blipFill>
          <a:blip r:embed="rId1"/>
          <a:stretch>
            <a:fillRect/>
          </a:stretch>
        </p:blipFill>
        <p:spPr>
          <a:xfrm>
            <a:off x="457200" y="1188720"/>
            <a:ext cx="1920240" cy="1440180"/>
          </a:xfrm>
          <a:prstGeom prst="rect">
            <a:avLst/>
          </a:prstGeom>
        </p:spPr>
      </p:pic>
      <p:sp>
        <p:nvSpPr>
          <p:cNvPr id="4" name="Text 1"/>
          <p:cNvSpPr txBox="1"/>
          <p:nvPr/>
        </p:nvSpPr>
        <p:spPr>
          <a:xfrm>
            <a:off x="2560320" y="1188720"/>
            <a:ext cx="1828800" cy="144018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SPT</a:t>
            </a:r>
            <a:endParaRPr lang="en-US" sz="2000" dirty="0"/>
          </a:p>
        </p:txBody>
      </p:sp>
      <p:sp>
        <p:nvSpPr>
          <p:cNvPr id="5" name="Cuerpo SPT"/>
          <p:cNvSpPr txBox="1"/>
          <p:nvPr/>
        </p:nvSpPr>
        <p:spPr>
          <a:xfrm>
            <a:off x="457200" y="281178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Un dato por profundidad, no un perfil continuo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Depende de la energía del martillo y del operador</a:t>
            </a:r>
            <a:endParaRPr lang="en-US" sz="1800" dirty="0"/>
          </a:p>
        </p:txBody>
      </p:sp>
      <p:pic>
        <p:nvPicPr>
          <p:cNvPr id="6" name="CPTu pequeña" descr="CPTu">    </p:cNvPr>
          <p:cNvPicPr>
            <a:picLocks noChangeAspect="1"/>
          </p:cNvPicPr>
          <p:nvPr/>
        </p:nvPicPr>
        <p:blipFill>
          <a:blip r:embed="rId2"/>
          <a:stretch>
            <a:fillRect/>
          </a:stretch>
        </p:blipFill>
        <p:spPr>
          <a:xfrm>
            <a:off x="4754880" y="1188720"/>
            <a:ext cx="1325880" cy="1435608"/>
          </a:xfrm>
          <a:prstGeom prst="rect">
            <a:avLst/>
          </a:prstGeom>
        </p:spPr>
      </p:pic>
      <p:sp>
        <p:nvSpPr>
          <p:cNvPr id="7" name="Text 3"/>
          <p:cNvSpPr txBox="1"/>
          <p:nvPr/>
        </p:nvSpPr>
        <p:spPr>
          <a:xfrm>
            <a:off x="6263640" y="1188720"/>
            <a:ext cx="2423160" cy="1435608"/>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CPT / CPTu</a:t>
            </a:r>
            <a:endParaRPr lang="en-US" sz="2000" dirty="0"/>
          </a:p>
        </p:txBody>
      </p:sp>
      <p:sp>
        <p:nvSpPr>
          <p:cNvPr id="8" name="Cuerpo CPT / CPTu"/>
          <p:cNvSpPr txBox="1"/>
          <p:nvPr/>
        </p:nvSpPr>
        <p:spPr>
          <a:xfrm>
            <a:off x="4754880" y="2807208"/>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recupera muestra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atraviesa gravas ni suelos muy duros</a:t>
            </a:r>
            <a:endParaRPr lang="en-US" sz="1800" dirty="0"/>
          </a:p>
        </p:txBody>
      </p:sp>
      <p:sp>
        <p:nvSpPr>
          <p:cNvPr id="9" name="Mensaje"/>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Los dos entregan resistencia, no rigidez, y la rigidez se estima por correlaciones</a:t>
            </a:r>
            <a:endParaRPr lang="en-US" sz="18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CPT: Putt et al. (2022).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Al excitar un terreno sólido, este se deforma de forma transitoria y la perturbación se propaga</a:t>
            </a:r>
            <a:endParaRPr lang="en-US" sz="2400" dirty="0"/>
          </a:p>
        </p:txBody>
      </p:sp>
      <p:sp>
        <p:nvSpPr>
          <p:cNvPr id="3" name="Cuerpo"/>
          <p:cNvSpPr txBox="1"/>
          <p:nvPr/>
        </p:nvSpPr>
        <p:spPr>
          <a:xfrm>
            <a:off x="457200" y="1371600"/>
            <a:ext cx="3291840" cy="274320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Un golpe aplica energía en un punto</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El material se deforma de distintas maneras</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Cada tipo de deformación viaja como una onda</a:t>
            </a:r>
            <a:endParaRPr lang="en-US" sz="2000" dirty="0"/>
          </a:p>
        </p:txBody>
      </p:sp>
      <p:pic>
        <p:nvPicPr>
          <p:cNvPr id="4" name="Figura propagación" descr="Ondas Rayleigh generadas por una fuente en superficie, con campo cercano y órbita de partícula">    </p:cNvPr>
          <p:cNvPicPr>
            <a:picLocks noChangeAspect="1"/>
          </p:cNvPicPr>
          <p:nvPr/>
        </p:nvPicPr>
        <p:blipFill>
          <a:blip r:embed="rId1"/>
          <a:stretch>
            <a:fillRect/>
          </a:stretch>
        </p:blipFill>
        <p:spPr>
          <a:xfrm>
            <a:off x="3931920" y="1234440"/>
            <a:ext cx="4754880" cy="3015143"/>
          </a:xfrm>
          <a:prstGeom prst="rect">
            <a:avLst/>
          </a:prstGeom>
        </p:spPr>
      </p:pic>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Foti et al. (2014), fig. 1.1 (cap. 1; por confirmar),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Para analizarlo, simplificamos: un medio homogéneo, isótropo y elástico lineal</a:t>
            </a:r>
            <a:endParaRPr lang="en-US" sz="2400" dirty="0"/>
          </a:p>
        </p:txBody>
      </p:sp>
      <p:sp>
        <p:nvSpPr>
          <p:cNvPr id="3" name="Cabecera Homogéneo"/>
          <p:cNvSpPr/>
          <p:nvPr/>
        </p:nvSpPr>
        <p:spPr>
          <a:xfrm>
            <a:off x="457200" y="1325880"/>
            <a:ext cx="2560320" cy="548640"/>
          </a:xfrm>
          <a:prstGeom prst="rect">
            <a:avLst/>
          </a:prstGeom>
          <a:solidFill>
            <a:srgbClr val="1F4E79"/>
          </a:solidFill>
          <a:ln w="12700">
            <a:solidFill>
              <a:srgbClr val="1F4E79"/>
            </a:solidFill>
            <a:prstDash val="solid"/>
          </a:ln>
        </p:spPr>
      </p:sp>
      <p:sp>
        <p:nvSpPr>
          <p:cNvPr id="4" name="Text 2"/>
          <p:cNvSpPr txBox="1"/>
          <p:nvPr/>
        </p:nvSpPr>
        <p:spPr>
          <a:xfrm>
            <a:off x="45720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Homogéneo</a:t>
            </a:r>
            <a:endParaRPr lang="en-US" sz="2000" dirty="0"/>
          </a:p>
        </p:txBody>
      </p:sp>
      <p:sp>
        <p:nvSpPr>
          <p:cNvPr id="5" name="Tarjeta Homogéneo"/>
          <p:cNvSpPr/>
          <p:nvPr/>
        </p:nvSpPr>
        <p:spPr>
          <a:xfrm>
            <a:off x="457200" y="1874520"/>
            <a:ext cx="2560320" cy="1463040"/>
          </a:xfrm>
          <a:prstGeom prst="rect">
            <a:avLst/>
          </a:prstGeom>
          <a:solidFill>
            <a:srgbClr val="FFFFFF"/>
          </a:solidFill>
          <a:ln w="19050">
            <a:solidFill>
              <a:srgbClr val="1F4E79"/>
            </a:solidFill>
            <a:prstDash val="solid"/>
          </a:ln>
        </p:spPr>
      </p:sp>
      <p:sp>
        <p:nvSpPr>
          <p:cNvPr id="6" name="Text 4"/>
          <p:cNvSpPr txBox="1"/>
          <p:nvPr/>
        </p:nvSpPr>
        <p:spPr>
          <a:xfrm>
            <a:off x="59436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Mismas propiedades en todos los puntos</a:t>
            </a:r>
            <a:endParaRPr lang="en-US" sz="1800" dirty="0"/>
          </a:p>
        </p:txBody>
      </p:sp>
      <p:sp>
        <p:nvSpPr>
          <p:cNvPr id="7" name="Cabecera Isótropo"/>
          <p:cNvSpPr/>
          <p:nvPr/>
        </p:nvSpPr>
        <p:spPr>
          <a:xfrm>
            <a:off x="3291840" y="1325880"/>
            <a:ext cx="2560320" cy="548640"/>
          </a:xfrm>
          <a:prstGeom prst="rect">
            <a:avLst/>
          </a:prstGeom>
          <a:solidFill>
            <a:srgbClr val="1F4E79"/>
          </a:solidFill>
          <a:ln w="12700">
            <a:solidFill>
              <a:srgbClr val="1F4E79"/>
            </a:solidFill>
            <a:prstDash val="solid"/>
          </a:ln>
        </p:spPr>
      </p:sp>
      <p:sp>
        <p:nvSpPr>
          <p:cNvPr id="8" name="Text 6"/>
          <p:cNvSpPr txBox="1"/>
          <p:nvPr/>
        </p:nvSpPr>
        <p:spPr>
          <a:xfrm>
            <a:off x="329184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Isótropo</a:t>
            </a:r>
            <a:endParaRPr lang="en-US" sz="2000" dirty="0"/>
          </a:p>
        </p:txBody>
      </p:sp>
      <p:sp>
        <p:nvSpPr>
          <p:cNvPr id="9" name="Tarjeta Isótropo"/>
          <p:cNvSpPr/>
          <p:nvPr/>
        </p:nvSpPr>
        <p:spPr>
          <a:xfrm>
            <a:off x="3291840" y="1874520"/>
            <a:ext cx="2560320" cy="1463040"/>
          </a:xfrm>
          <a:prstGeom prst="rect">
            <a:avLst/>
          </a:prstGeom>
          <a:solidFill>
            <a:srgbClr val="FFFFFF"/>
          </a:solidFill>
          <a:ln w="19050">
            <a:solidFill>
              <a:srgbClr val="1F4E79"/>
            </a:solidFill>
            <a:prstDash val="solid"/>
          </a:ln>
        </p:spPr>
      </p:sp>
      <p:sp>
        <p:nvSpPr>
          <p:cNvPr id="10" name="Text 8"/>
          <p:cNvSpPr txBox="1"/>
          <p:nvPr/>
        </p:nvSpPr>
        <p:spPr>
          <a:xfrm>
            <a:off x="342900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Mismas propiedades en todas las direcciones</a:t>
            </a:r>
            <a:endParaRPr lang="en-US" sz="1800" dirty="0"/>
          </a:p>
        </p:txBody>
      </p:sp>
      <p:sp>
        <p:nvSpPr>
          <p:cNvPr id="11" name="Cabecera Elástico lineal"/>
          <p:cNvSpPr/>
          <p:nvPr/>
        </p:nvSpPr>
        <p:spPr>
          <a:xfrm>
            <a:off x="6126480" y="1325880"/>
            <a:ext cx="2560320" cy="548640"/>
          </a:xfrm>
          <a:prstGeom prst="rect">
            <a:avLst/>
          </a:prstGeom>
          <a:solidFill>
            <a:srgbClr val="1F4E79"/>
          </a:solidFill>
          <a:ln w="12700">
            <a:solidFill>
              <a:srgbClr val="1F4E79"/>
            </a:solidFill>
            <a:prstDash val="solid"/>
          </a:ln>
        </p:spPr>
      </p:sp>
      <p:sp>
        <p:nvSpPr>
          <p:cNvPr id="12" name="Text 10"/>
          <p:cNvSpPr txBox="1"/>
          <p:nvPr/>
        </p:nvSpPr>
        <p:spPr>
          <a:xfrm>
            <a:off x="612648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Elástico lineal</a:t>
            </a:r>
            <a:endParaRPr lang="en-US" sz="2000" dirty="0"/>
          </a:p>
        </p:txBody>
      </p:sp>
      <p:sp>
        <p:nvSpPr>
          <p:cNvPr id="13" name="Tarjeta Elástico lineal"/>
          <p:cNvSpPr/>
          <p:nvPr/>
        </p:nvSpPr>
        <p:spPr>
          <a:xfrm>
            <a:off x="6126480" y="1874520"/>
            <a:ext cx="2560320" cy="1463040"/>
          </a:xfrm>
          <a:prstGeom prst="rect">
            <a:avLst/>
          </a:prstGeom>
          <a:solidFill>
            <a:srgbClr val="FFFFFF"/>
          </a:solidFill>
          <a:ln w="19050">
            <a:solidFill>
              <a:srgbClr val="1F4E79"/>
            </a:solidFill>
            <a:prstDash val="solid"/>
          </a:ln>
        </p:spPr>
      </p:sp>
      <p:sp>
        <p:nvSpPr>
          <p:cNvPr id="14" name="Text 12"/>
          <p:cNvSpPr txBox="1"/>
          <p:nvPr/>
        </p:nvSpPr>
        <p:spPr>
          <a:xfrm>
            <a:off x="626364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La deformación es proporcional a la fuerza y desaparece al cesar</a:t>
            </a:r>
            <a:endParaRPr lang="en-US" sz="1800" dirty="0"/>
          </a:p>
        </p:txBody>
      </p:sp>
      <p:sp>
        <p:nvSpPr>
          <p:cNvPr id="15" name="Text 13"/>
          <p:cNvSpPr txBox="1"/>
          <p:nvPr/>
        </p:nvSpPr>
        <p:spPr>
          <a:xfrm>
            <a:off x="457200" y="3657600"/>
            <a:ext cx="8229600" cy="640080"/>
          </a:xfrm>
          <a:prstGeom prst="rect">
            <a:avLst/>
          </a:prstGeom>
          <a:noFill/>
          <a:ln/>
        </p:spPr>
        <p:txBody>
          <a:bodyPr wrap="square" lIns="0" tIns="0" rIns="0" bIns="0" rtlCol="0" anchor="t"/>
          <a:lstStyle/>
          <a:p>
            <a:pPr indent="0" marL="0">
              <a:buNone/>
            </a:pPr>
            <a:r>
              <a:rPr lang="en-US" sz="2000" b="1" dirty="0">
                <a:solidFill>
                  <a:srgbClr val="C55A11"/>
                </a:solidFill>
                <a:latin typeface="Arial" pitchFamily="34" charset="0"/>
                <a:ea typeface="Arial" pitchFamily="34" charset="-122"/>
                <a:cs typeface="Arial" pitchFamily="34" charset="-120"/>
              </a:rPr>
              <a:t>Es una simplificación extrema: el suelo real no cumple ninguna de las tres</a:t>
            </a:r>
            <a:endParaRPr lang="en-US" sz="2000" dirty="0"/>
          </a:p>
        </p:txBody>
      </p:sp>
      <p:sp>
        <p:nvSpPr>
          <p:cNvPr id="1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ese medio, la ecuación de movimiento admite solo dos tipos de onda: P y S</a:t>
            </a:r>
            <a:endParaRPr lang="en-US" sz="2400" dirty="0"/>
          </a:p>
        </p:txBody>
      </p:sp>
      <p:sp>
        <p:nvSpPr>
          <p:cNvPr id="3" name="Fondo E_navier"/>
          <p:cNvSpPr/>
          <p:nvPr/>
        </p:nvSpPr>
        <p:spPr>
          <a:xfrm>
            <a:off x="457200" y="1188720"/>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navier"/>
              <p:cNvSpPr txBox="1"/>
              <p:nvPr/>
            </p:nvSpPr>
            <p:spPr>
              <a:xfrm>
                <a:off x="457200" y="1188720"/>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1800" i="1">
                          <a:solidFill>
                            <a:srgbClr val="1F4E79"/>
                          </a:solidFill>
                          <a:latin typeface="Cambria Math" panose="02040503050406030204" pitchFamily="18" charset="0"/>
                        </a:rPr>
                        <m:t xml:space="preserve">ρ</m:t>
                      </m:r>
                      <m:f>
                        <m:fPr>
                          <m:ctrlPr>
                            <a:rPr lang="es-ES" sz="1800" i="1">
                              <a:latin typeface="Cambria Math" panose="02040503050406030204" pitchFamily="18" charset="0"/>
                            </a:rPr>
                          </m:ctrlPr>
                        </m:fPr>
                        <m:num>
                          <m:sSup>
                            <m:sSupPr>
                              <m:ctrlPr>
                                <a:rPr lang="es-ES" sz="1800" i="1">
                                  <a:latin typeface="Cambria Math" panose="02040503050406030204" pitchFamily="18" charset="0"/>
                                </a:rPr>
                              </m:ctrlPr>
                            </m:sSupPr>
                            <m:e>
                              <m:r>
                                <a:rPr lang="es-ES" sz="1800" i="1">
                                  <a:solidFill>
                                    <a:srgbClr val="1F4E79"/>
                                  </a:solidFill>
                                  <a:latin typeface="Cambria Math" panose="02040503050406030204" pitchFamily="18" charset="0"/>
                                </a:rPr>
                                <m:t xml:space="preserve">∂</m:t>
                              </m:r>
                            </m:e>
                            <m:sup>
                              <m:r>
                                <a:rPr lang="es-ES" sz="1800" i="1">
                                  <a:solidFill>
                                    <a:srgbClr val="1F4E79"/>
                                  </a:solidFill>
                                  <a:latin typeface="Cambria Math" panose="02040503050406030204" pitchFamily="18" charset="0"/>
                                </a:rPr>
                                <m:t xml:space="preserve">2</m:t>
                              </m:r>
                            </m:sup>
                          </m:sSup>
                          <m:r>
                            <a:rPr lang="es-ES" sz="1800" i="1">
                              <a:solidFill>
                                <a:srgbClr val="1F4E79"/>
                              </a:solidFill>
                              <a:latin typeface="Cambria Math" panose="02040503050406030204" pitchFamily="18" charset="0"/>
                            </a:rPr>
                            <m:t xml:space="preserve">u</m:t>
                          </m:r>
                        </m:num>
                        <m:den>
                          <m:r>
                            <a:rPr lang="es-ES" sz="1800" i="1">
                              <a:solidFill>
                                <a:srgbClr val="1F4E79"/>
                              </a:solidFill>
                              <a:latin typeface="Cambria Math" panose="02040503050406030204" pitchFamily="18" charset="0"/>
                            </a:rPr>
                            <m:t xml:space="preserve">∂</m:t>
                          </m:r>
                          <m:sSup>
                            <m:sSupPr>
                              <m:ctrlPr>
                                <a:rPr lang="es-ES" sz="1800" i="1">
                                  <a:latin typeface="Cambria Math" panose="02040503050406030204" pitchFamily="18" charset="0"/>
                                </a:rPr>
                              </m:ctrlPr>
                            </m:sSupPr>
                            <m:e>
                              <m:r>
                                <a:rPr lang="es-ES" sz="1800" i="1">
                                  <a:solidFill>
                                    <a:srgbClr val="1F4E79"/>
                                  </a:solidFill>
                                  <a:latin typeface="Cambria Math" panose="02040503050406030204" pitchFamily="18" charset="0"/>
                                </a:rPr>
                                <m:t xml:space="preserve">t</m:t>
                              </m:r>
                            </m:e>
                            <m:sup>
                              <m:r>
                                <a:rPr lang="es-ES" sz="1800" i="1">
                                  <a:solidFill>
                                    <a:srgbClr val="1F4E79"/>
                                  </a:solidFill>
                                  <a:latin typeface="Cambria Math" panose="02040503050406030204" pitchFamily="18" charset="0"/>
                                </a:rPr>
                                <m:t xml:space="preserve">2</m:t>
                              </m:r>
                            </m:sup>
                          </m:sSup>
                        </m:den>
                      </m:f>
                      <m:r>
                        <a:rPr lang="es-ES" sz="1800" i="1">
                          <a:solidFill>
                            <a:srgbClr val="1F4E79"/>
                          </a:solidFill>
                          <a:latin typeface="Cambria Math" panose="02040503050406030204" pitchFamily="18" charset="0"/>
                        </a:rPr>
                        <m:t xml:space="preserve">=(λ+μ)∇(∇·u)+μ</m:t>
                      </m:r>
                      <m:sSup>
                        <m:sSupPr>
                          <m:ctrlPr>
                            <a:rPr lang="es-ES" sz="1800" i="1">
                              <a:latin typeface="Cambria Math" panose="02040503050406030204" pitchFamily="18" charset="0"/>
                            </a:rPr>
                          </m:ctrlPr>
                        </m:sSupPr>
                        <m:e>
                          <m:r>
                            <a:rPr lang="es-ES" sz="1800" i="1">
                              <a:solidFill>
                                <a:srgbClr val="1F4E79"/>
                              </a:solidFill>
                              <a:latin typeface="Cambria Math" panose="02040503050406030204" pitchFamily="18" charset="0"/>
                            </a:rPr>
                            <m:t xml:space="preserve">∇</m:t>
                          </m:r>
                        </m:e>
                        <m:sup>
                          <m:r>
                            <a:rPr lang="es-ES" sz="1800" i="1">
                              <a:solidFill>
                                <a:srgbClr val="1F4E79"/>
                              </a:solidFill>
                              <a:latin typeface="Cambria Math" panose="02040503050406030204" pitchFamily="18" charset="0"/>
                            </a:rPr>
                            <m:t xml:space="preserve">2</m:t>
                          </m:r>
                        </m:sup>
                      </m:sSup>
                      <m:r>
                        <a:rPr lang="es-ES" sz="1800" i="1">
                          <a:solidFill>
                            <a:srgbClr val="1F4E79"/>
                          </a:solidFill>
                          <a:latin typeface="Cambria Math" panose="02040503050406030204" pitchFamily="18" charset="0"/>
                        </a:rPr>
                        <m:t xml:space="preserve">u</m:t>
                      </m:r>
                    </m:oMath>
                  </m:oMathPara>
                </a14:m>
                <a:endParaRPr lang="es-ES"/>
              </a:p>
            </p:txBody>
          </p:sp>
        </mc:Choice>
        <mc:Fallback>
          <p:sp>
            <p:nvSpPr>
              <p:cNvPr id="4" name="Ecuación E_navier"/>
              <p:cNvSpPr txBox="1"/>
              <p:nvPr/>
            </p:nvSpPr>
            <p:spPr>
              <a:xfrm>
                <a:off x="457200" y="1188720"/>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ρ ∂²u/∂t² = (λ+μ)∇(∇·u) + μ∇²u</a:t>
                </a:r>
                <a:endParaRPr lang="en-US" sz="2400" dirty="0"/>
              </a:p>
            </p:txBody>
          </p:sp>
        </mc:Fallback>
      </mc:AlternateContent>
      <p:sp>
        <p:nvSpPr>
          <p:cNvPr id="5" name="Text 3"/>
          <p:cNvSpPr txBox="1"/>
          <p:nvPr/>
        </p:nvSpPr>
        <p:spPr>
          <a:xfrm>
            <a:off x="5074920" y="1188720"/>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Ecuación de movimiento. u: desplazamiento; ρ: densidad; λ, μ: constantes de Lamé</a:t>
            </a:r>
            <a:endParaRPr lang="en-US" sz="1600" dirty="0"/>
          </a:p>
        </p:txBody>
      </p:sp>
      <p:sp>
        <p:nvSpPr>
          <p:cNvPr id="6" name="Fondo E_helm"/>
          <p:cNvSpPr/>
          <p:nvPr/>
        </p:nvSpPr>
        <p:spPr>
          <a:xfrm>
            <a:off x="457200" y="1993392"/>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7" name="Ecuación E_helm"/>
              <p:cNvSpPr txBox="1"/>
              <p:nvPr/>
            </p:nvSpPr>
            <p:spPr>
              <a:xfrm>
                <a:off x="457200" y="1993392"/>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u=∇φ+∇×ψ</m:t>
                      </m:r>
                    </m:oMath>
                  </m:oMathPara>
                </a14:m>
                <a:endParaRPr lang="es-ES"/>
              </a:p>
            </p:txBody>
          </p:sp>
        </mc:Choice>
        <mc:Fallback>
          <p:sp>
            <p:nvSpPr>
              <p:cNvPr id="7" name="Ecuación E_helm"/>
              <p:cNvSpPr txBox="1"/>
              <p:nvPr/>
            </p:nvSpPr>
            <p:spPr>
              <a:xfrm>
                <a:off x="457200" y="1993392"/>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u = ∇φ + ∇×ψ</a:t>
                </a:r>
                <a:endParaRPr lang="en-US" sz="2400" dirty="0"/>
              </a:p>
            </p:txBody>
          </p:sp>
        </mc:Fallback>
      </mc:AlternateContent>
      <p:sp>
        <p:nvSpPr>
          <p:cNvPr id="8" name="Text 6"/>
          <p:cNvSpPr txBox="1"/>
          <p:nvPr/>
        </p:nvSpPr>
        <p:spPr>
          <a:xfrm>
            <a:off x="5074920" y="1993392"/>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Descomposición con un potencial escalar φ y uno vectorial ψ</a:t>
            </a:r>
            <a:endParaRPr lang="en-US" sz="1600" dirty="0"/>
          </a:p>
        </p:txBody>
      </p:sp>
      <p:sp>
        <p:nvSpPr>
          <p:cNvPr id="9" name="Fondo E_phi"/>
          <p:cNvSpPr/>
          <p:nvPr/>
        </p:nvSpPr>
        <p:spPr>
          <a:xfrm>
            <a:off x="457200" y="2798064"/>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0" name="Ecuación E_phi"/>
              <p:cNvSpPr txBox="1"/>
              <p:nvPr/>
            </p:nvSpPr>
            <p:spPr>
              <a:xfrm>
                <a:off x="457200" y="2798064"/>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φ</m:t>
                          </m:r>
                        </m:num>
                        <m:den>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t</m:t>
                              </m:r>
                            </m:e>
                            <m:sup>
                              <m:r>
                                <a:rPr lang="es-ES" sz="2400" i="1">
                                  <a:solidFill>
                                    <a:srgbClr val="1F4E79"/>
                                  </a:solidFill>
                                  <a:latin typeface="Cambria Math" panose="02040503050406030204" pitchFamily="18" charset="0"/>
                                </a:rPr>
                                <m:t xml:space="preserve">2</m:t>
                              </m:r>
                            </m:sup>
                          </m:sSup>
                        </m:den>
                      </m:f>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p</m:t>
                              </m:r>
                            </m:sub>
                          </m:sSub>
                        </m:e>
                        <m:sup>
                          <m:r>
                            <a:rPr lang="es-ES" sz="2400" i="1">
                              <a:solidFill>
                                <a:srgbClr val="1F4E79"/>
                              </a:solidFill>
                              <a:latin typeface="Cambria Math" panose="02040503050406030204" pitchFamily="18" charset="0"/>
                            </a:rPr>
                            <m:t xml:space="preserve">2</m:t>
                          </m:r>
                        </m:sup>
                      </m:sSup>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φ</m:t>
                      </m:r>
                    </m:oMath>
                  </m:oMathPara>
                </a14:m>
                <a:endParaRPr lang="es-ES"/>
              </a:p>
            </p:txBody>
          </p:sp>
        </mc:Choice>
        <mc:Fallback>
          <p:sp>
            <p:nvSpPr>
              <p:cNvPr id="10" name="Ecuación E_phi"/>
              <p:cNvSpPr txBox="1"/>
              <p:nvPr/>
            </p:nvSpPr>
            <p:spPr>
              <a:xfrm>
                <a:off x="457200" y="2798064"/>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∂²φ/∂t² = Vp² ∇²φ</a:t>
                </a:r>
                <a:endParaRPr lang="en-US" sz="2400" dirty="0"/>
              </a:p>
            </p:txBody>
          </p:sp>
        </mc:Fallback>
      </mc:AlternateContent>
      <p:sp>
        <p:nvSpPr>
          <p:cNvPr id="11" name="Text 9"/>
          <p:cNvSpPr txBox="1"/>
          <p:nvPr/>
        </p:nvSpPr>
        <p:spPr>
          <a:xfrm>
            <a:off x="5074920" y="2798064"/>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φ: compresión, viaja a Vp (onda P)</a:t>
            </a:r>
            <a:endParaRPr lang="en-US" sz="1600" dirty="0"/>
          </a:p>
        </p:txBody>
      </p:sp>
      <p:sp>
        <p:nvSpPr>
          <p:cNvPr id="12" name="Fondo E_psi"/>
          <p:cNvSpPr/>
          <p:nvPr/>
        </p:nvSpPr>
        <p:spPr>
          <a:xfrm>
            <a:off x="457200" y="3602736"/>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3" name="Ecuación E_psi"/>
              <p:cNvSpPr txBox="1"/>
              <p:nvPr/>
            </p:nvSpPr>
            <p:spPr>
              <a:xfrm>
                <a:off x="457200" y="3602736"/>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ψ</m:t>
                          </m:r>
                        </m:num>
                        <m:den>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t</m:t>
                              </m:r>
                            </m:e>
                            <m:sup>
                              <m:r>
                                <a:rPr lang="es-ES" sz="2400" i="1">
                                  <a:solidFill>
                                    <a:srgbClr val="1F4E79"/>
                                  </a:solidFill>
                                  <a:latin typeface="Cambria Math" panose="02040503050406030204" pitchFamily="18" charset="0"/>
                                </a:rPr>
                                <m:t xml:space="preserve">2</m:t>
                              </m:r>
                            </m:sup>
                          </m:sSup>
                        </m:den>
                      </m:f>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e>
                        <m:sup>
                          <m:r>
                            <a:rPr lang="es-ES" sz="2400" i="1">
                              <a:solidFill>
                                <a:srgbClr val="1F4E79"/>
                              </a:solidFill>
                              <a:latin typeface="Cambria Math" panose="02040503050406030204" pitchFamily="18" charset="0"/>
                            </a:rPr>
                            <m:t xml:space="preserve">2</m:t>
                          </m:r>
                        </m:sup>
                      </m:sSup>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ψ</m:t>
                      </m:r>
                    </m:oMath>
                  </m:oMathPara>
                </a14:m>
                <a:endParaRPr lang="es-ES"/>
              </a:p>
            </p:txBody>
          </p:sp>
        </mc:Choice>
        <mc:Fallback>
          <p:sp>
            <p:nvSpPr>
              <p:cNvPr id="13" name="Ecuación E_psi"/>
              <p:cNvSpPr txBox="1"/>
              <p:nvPr/>
            </p:nvSpPr>
            <p:spPr>
              <a:xfrm>
                <a:off x="457200" y="3602736"/>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∂²ψ/∂t² = Vs² ∇²ψ</a:t>
                </a:r>
                <a:endParaRPr lang="en-US" sz="2400" dirty="0"/>
              </a:p>
            </p:txBody>
          </p:sp>
        </mc:Fallback>
      </mc:AlternateContent>
      <p:sp>
        <p:nvSpPr>
          <p:cNvPr id="14" name="Text 12"/>
          <p:cNvSpPr txBox="1"/>
          <p:nvPr/>
        </p:nvSpPr>
        <p:spPr>
          <a:xfrm>
            <a:off x="5074920" y="3602736"/>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ψ: corte, viaja a Vs (onda S)</a:t>
            </a:r>
            <a:endParaRPr lang="en-US" sz="1600" dirty="0"/>
          </a:p>
        </p:txBody>
      </p:sp>
      <p:sp>
        <p:nvSpPr>
          <p:cNvPr id="1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Descomposición de Helmholtz de la ecuación de Navier.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P: el terreno se comprime y se dilata en la dirección en que avanza</a:t>
            </a:r>
            <a:endParaRPr lang="en-US" sz="2400" dirty="0"/>
          </a:p>
        </p:txBody>
      </p:sp>
      <p:pic>
        <p:nvPicPr>
          <p:cNvPr id="3" name="Onda P" descr="Onda P: compresión y dilatación, dirección de propagación">    </p:cNvPr>
          <p:cNvPicPr>
            <a:picLocks noChangeAspect="1"/>
          </p:cNvPicPr>
          <p:nvPr/>
        </p:nvPicPr>
        <p:blipFill>
          <a:blip r:embed="rId1"/>
          <a:stretch>
            <a:fillRect/>
          </a:stretch>
        </p:blipFill>
        <p:spPr>
          <a:xfrm>
            <a:off x="457200" y="1280160"/>
            <a:ext cx="5486400" cy="2743200"/>
          </a:xfrm>
          <a:prstGeom prst="rect">
            <a:avLst/>
          </a:prstGeom>
        </p:spPr>
      </p:pic>
      <p:sp>
        <p:nvSpPr>
          <p:cNvPr id="4" name="Cuerpo"/>
          <p:cNvSpPr txBox="1"/>
          <p:nvPr/>
        </p:nvSpPr>
        <p:spPr>
          <a:xfrm>
            <a:off x="6217920" y="1371600"/>
            <a:ext cx="246888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Las partículas oscilan en la dirección de propagación</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Viaja en sólidos y en fluidos</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S: el terreno se corta en la dirección perpendicular al avance</a:t>
            </a:r>
            <a:endParaRPr lang="en-US" sz="2400" dirty="0"/>
          </a:p>
        </p:txBody>
      </p:sp>
      <p:pic>
        <p:nvPicPr>
          <p:cNvPr id="3" name="Onda S" descr="Onda S: oscilación perpendicular a la dirección de propagación">    </p:cNvPr>
          <p:cNvPicPr>
            <a:picLocks noChangeAspect="1"/>
          </p:cNvPicPr>
          <p:nvPr/>
        </p:nvPicPr>
        <p:blipFill>
          <a:blip r:embed="rId1"/>
          <a:stretch>
            <a:fillRect/>
          </a:stretch>
        </p:blipFill>
        <p:spPr>
          <a:xfrm>
            <a:off x="457200" y="1280160"/>
            <a:ext cx="5486400" cy="2743200"/>
          </a:xfrm>
          <a:prstGeom prst="rect">
            <a:avLst/>
          </a:prstGeom>
        </p:spPr>
      </p:pic>
      <p:sp>
        <p:nvSpPr>
          <p:cNvPr id="4" name="Cuerpo"/>
          <p:cNvSpPr txBox="1"/>
          <p:nvPr/>
        </p:nvSpPr>
        <p:spPr>
          <a:xfrm>
            <a:off x="6217920" y="1371600"/>
            <a:ext cx="246888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Las partículas oscilan perpendicular a la propagación</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No viaja por fluidos: necesita rigidez al corte</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Las velocidades de propagación se deducen de esas mismas ecuaciones</a:t>
            </a:r>
            <a:endParaRPr lang="en-US" sz="2400" dirty="0"/>
          </a:p>
        </p:txBody>
      </p:sp>
      <p:sp>
        <p:nvSpPr>
          <p:cNvPr id="3" name="Fondo Vp"/>
          <p:cNvSpPr/>
          <p:nvPr/>
        </p:nvSpPr>
        <p:spPr>
          <a:xfrm>
            <a:off x="457200" y="1325880"/>
            <a:ext cx="438912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vp"/>
              <p:cNvSpPr txBox="1"/>
              <p:nvPr/>
            </p:nvSpPr>
            <p:spPr>
              <a:xfrm>
                <a:off x="457200" y="1325880"/>
                <a:ext cx="438912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p</m:t>
                          </m:r>
                        </m:sub>
                      </m:sSub>
                      <m:r>
                        <a:rPr lang="es-ES" sz="2800" i="1">
                          <a:solidFill>
                            <a:srgbClr val="1F4E79"/>
                          </a:solidFill>
                          <a:latin typeface="Cambria Math" panose="02040503050406030204" pitchFamily="18" charset="0"/>
                        </a:rPr>
                        <m:t xml:space="preserve">=</m:t>
                      </m:r>
                      <m:rad>
                        <m:radPr>
                          <m:degHide m:val="1"/>
                          <m:ctrlPr>
                            <a:rPr lang="es-ES" sz="2800" i="1">
                              <a:latin typeface="Cambria Math" panose="02040503050406030204" pitchFamily="18" charset="0"/>
                            </a:rPr>
                          </m:ctrlPr>
                        </m:radPr>
                        <m:deg/>
                        <m:e>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λ+2μ</m:t>
                              </m:r>
                            </m:num>
                            <m:den>
                              <m:r>
                                <a:rPr lang="es-ES" sz="2800" i="1">
                                  <a:solidFill>
                                    <a:srgbClr val="1F4E79"/>
                                  </a:solidFill>
                                  <a:latin typeface="Cambria Math" panose="02040503050406030204" pitchFamily="18" charset="0"/>
                                </a:rPr>
                                <m:t xml:space="preserve">ρ</m:t>
                              </m:r>
                            </m:den>
                          </m:f>
                        </m:e>
                      </m:rad>
                    </m:oMath>
                  </m:oMathPara>
                </a14:m>
                <a:endParaRPr lang="es-ES"/>
              </a:p>
            </p:txBody>
          </p:sp>
        </mc:Choice>
        <mc:Fallback>
          <p:sp>
            <p:nvSpPr>
              <p:cNvPr id="4" name="Ecuación E_vp"/>
              <p:cNvSpPr txBox="1"/>
              <p:nvPr/>
            </p:nvSpPr>
            <p:spPr>
              <a:xfrm>
                <a:off x="457200" y="1325880"/>
                <a:ext cx="438912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Vp = √((λ + 2μ) / ρ)</a:t>
                </a:r>
                <a:endParaRPr lang="en-US" sz="2400" dirty="0"/>
              </a:p>
            </p:txBody>
          </p:sp>
        </mc:Fallback>
      </mc:AlternateContent>
      <p:sp>
        <p:nvSpPr>
          <p:cNvPr id="5" name="Fondo Vs"/>
          <p:cNvSpPr/>
          <p:nvPr/>
        </p:nvSpPr>
        <p:spPr>
          <a:xfrm>
            <a:off x="457200" y="2377440"/>
            <a:ext cx="438912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vs"/>
              <p:cNvSpPr txBox="1"/>
              <p:nvPr/>
            </p:nvSpPr>
            <p:spPr>
              <a:xfrm>
                <a:off x="457200" y="2377440"/>
                <a:ext cx="438912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r>
                        <a:rPr lang="es-ES" sz="2800" i="1">
                          <a:solidFill>
                            <a:srgbClr val="1F4E79"/>
                          </a:solidFill>
                          <a:latin typeface="Cambria Math" panose="02040503050406030204" pitchFamily="18" charset="0"/>
                        </a:rPr>
                        <m:t xml:space="preserve">=</m:t>
                      </m:r>
                      <m:rad>
                        <m:radPr>
                          <m:degHide m:val="1"/>
                          <m:ctrlPr>
                            <a:rPr lang="es-ES" sz="2800" i="1">
                              <a:latin typeface="Cambria Math" panose="02040503050406030204" pitchFamily="18" charset="0"/>
                            </a:rPr>
                          </m:ctrlPr>
                        </m:radPr>
                        <m:deg/>
                        <m:e>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μ</m:t>
                              </m:r>
                            </m:num>
                            <m:den>
                              <m:r>
                                <a:rPr lang="es-ES" sz="2800" i="1">
                                  <a:solidFill>
                                    <a:srgbClr val="1F4E79"/>
                                  </a:solidFill>
                                  <a:latin typeface="Cambria Math" panose="02040503050406030204" pitchFamily="18" charset="0"/>
                                </a:rPr>
                                <m:t xml:space="preserve">ρ</m:t>
                              </m:r>
                            </m:den>
                          </m:f>
                        </m:e>
                      </m:rad>
                    </m:oMath>
                  </m:oMathPara>
                </a14:m>
                <a:endParaRPr lang="es-ES"/>
              </a:p>
            </p:txBody>
          </p:sp>
        </mc:Choice>
        <mc:Fallback>
          <p:sp>
            <p:nvSpPr>
              <p:cNvPr id="6" name="Ecuación E_vs"/>
              <p:cNvSpPr txBox="1"/>
              <p:nvPr/>
            </p:nvSpPr>
            <p:spPr>
              <a:xfrm>
                <a:off x="457200" y="2377440"/>
                <a:ext cx="438912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Vs = √(μ / ρ)</a:t>
                </a:r>
                <a:endParaRPr lang="en-US" sz="2400" dirty="0"/>
              </a:p>
            </p:txBody>
          </p:sp>
        </mc:Fallback>
      </mc:AlternateContent>
      <p:sp>
        <p:nvSpPr>
          <p:cNvPr id="7" name="Cuerpo"/>
          <p:cNvSpPr txBox="1"/>
          <p:nvPr/>
        </p:nvSpPr>
        <p:spPr>
          <a:xfrm>
            <a:off x="5120640" y="1325880"/>
            <a:ext cx="3566160" cy="256032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μ: módulo de corte (también G), la rigidez al corte</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λ: constante de Lamé</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ρ: densidad del medio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En el mismo medio, Vp &gt; Vs</a:t>
            </a:r>
            <a:endParaRPr lang="en-US" sz="1800" dirty="0"/>
          </a:p>
        </p:txBody>
      </p:sp>
      <p:sp>
        <p:nvSpPr>
          <p:cNvPr id="8" name="Text 6"/>
          <p:cNvSpPr txBox="1"/>
          <p:nvPr/>
        </p:nvSpPr>
        <p:spPr>
          <a:xfrm>
            <a:off x="457200" y="3611880"/>
            <a:ext cx="8229600" cy="731520"/>
          </a:xfrm>
          <a:prstGeom prst="rect">
            <a:avLst/>
          </a:prstGeom>
          <a:noFill/>
          <a:ln/>
        </p:spPr>
        <p:txBody>
          <a:bodyPr wrap="square" lIns="0" tIns="0" rIns="0" bIns="0" rtlCol="0" anchor="t"/>
          <a:lstStyle/>
          <a:p>
            <a:pPr indent="0" marL="0">
              <a:buNone/>
            </a:pPr>
            <a:r>
              <a:rPr lang="en-US" sz="2000" b="1" dirty="0">
                <a:solidFill>
                  <a:srgbClr val="C55A11"/>
                </a:solidFill>
                <a:latin typeface="Arial" pitchFamily="34" charset="0"/>
                <a:ea typeface="Arial" pitchFamily="34" charset="-122"/>
                <a:cs typeface="Arial" pitchFamily="34" charset="-120"/>
              </a:rPr>
              <a:t>Medir velocidades de onda da acceso a parámetros elásticos del terreno</a:t>
            </a:r>
            <a:endParaRPr lang="en-US" sz="20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suelos, la relación esfuerzo-deformación solo es lineal para deformaciones pequeñas</a:t>
            </a:r>
            <a:endParaRPr lang="en-US" sz="2400" dirty="0"/>
          </a:p>
        </p:txBody>
      </p:sp>
      <p:pic>
        <p:nvPicPr>
          <p:cNvPr id="3" name="Corte simple" descr="Corte simple: esfuerzo τ y deformación γ = Δ/h">    </p:cNvPr>
          <p:cNvPicPr>
            <a:picLocks noChangeAspect="1"/>
          </p:cNvPicPr>
          <p:nvPr/>
        </p:nvPicPr>
        <p:blipFill>
          <a:blip r:embed="rId1"/>
          <a:stretch>
            <a:fillRect/>
          </a:stretch>
        </p:blipFill>
        <p:spPr>
          <a:xfrm>
            <a:off x="457200" y="1280160"/>
            <a:ext cx="4023360" cy="3017520"/>
          </a:xfrm>
          <a:prstGeom prst="rect">
            <a:avLst/>
          </a:prstGeom>
        </p:spPr>
      </p:pic>
      <p:sp>
        <p:nvSpPr>
          <p:cNvPr id="4" name="Fondo τ = Gγ"/>
          <p:cNvSpPr/>
          <p:nvPr/>
        </p:nvSpPr>
        <p:spPr>
          <a:xfrm>
            <a:off x="4754880" y="1325880"/>
            <a:ext cx="3931920" cy="82296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tau"/>
              <p:cNvSpPr txBox="1"/>
              <p:nvPr/>
            </p:nvSpPr>
            <p:spPr>
              <a:xfrm>
                <a:off x="4754880" y="1325880"/>
                <a:ext cx="3931920" cy="82296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τ=G·γ</m:t>
                      </m:r>
                    </m:oMath>
                  </m:oMathPara>
                </a14:m>
                <a:endParaRPr lang="es-ES"/>
              </a:p>
            </p:txBody>
          </p:sp>
        </mc:Choice>
        <mc:Fallback>
          <p:sp>
            <p:nvSpPr>
              <p:cNvPr id="5" name="Ecuación E_tau"/>
              <p:cNvSpPr txBox="1"/>
              <p:nvPr/>
            </p:nvSpPr>
            <p:spPr>
              <a:xfrm>
                <a:off x="4754880" y="1325880"/>
                <a:ext cx="3931920" cy="82296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τ = G · γ</a:t>
                </a:r>
                <a:endParaRPr lang="en-US" sz="2400" dirty="0"/>
              </a:p>
            </p:txBody>
          </p:sp>
        </mc:Fallback>
      </mc:AlternateContent>
      <p:sp>
        <p:nvSpPr>
          <p:cNvPr id="6" name="Cuerpo"/>
          <p:cNvSpPr txBox="1"/>
          <p:nvPr/>
        </p:nvSpPr>
        <p:spPr>
          <a:xfrm>
            <a:off x="4754880" y="2331720"/>
            <a:ext cx="3931920" cy="219456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Esfuerzo y deformación de corte son proporcionales</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Con γ del orden de 10⁻⁵ o menos, G es casi constante: Gmax</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Las ondas de prospección producen deformaciones así de pequeñas</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Umbral aproximado; depende del tipo de suelo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pequeña señal, la velocidad de corte da directamente la rigidez máxima</a:t>
            </a:r>
            <a:endParaRPr lang="en-US" sz="2400" dirty="0"/>
          </a:p>
        </p:txBody>
      </p:sp>
      <p:sp>
        <p:nvSpPr>
          <p:cNvPr id="3" name="Ecuación 1"/>
          <p:cNvSpPr/>
          <p:nvPr/>
        </p:nvSpPr>
        <p:spPr>
          <a:xfrm>
            <a:off x="457200" y="1280160"/>
            <a:ext cx="43891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vs"/>
              <p:cNvSpPr txBox="1"/>
              <p:nvPr/>
            </p:nvSpPr>
            <p:spPr>
              <a:xfrm>
                <a:off x="457200" y="1280160"/>
                <a:ext cx="43891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r>
                        <a:rPr lang="es-ES" sz="2800" i="1">
                          <a:solidFill>
                            <a:srgbClr val="1F4E79"/>
                          </a:solidFill>
                          <a:latin typeface="Cambria Math" panose="02040503050406030204" pitchFamily="18" charset="0"/>
                        </a:rPr>
                        <m:t xml:space="preserve">=</m:t>
                      </m:r>
                      <m:rad>
                        <m:radPr>
                          <m:degHide m:val="1"/>
                          <m:ctrlPr>
                            <a:rPr lang="es-ES" sz="2800" i="1">
                              <a:latin typeface="Cambria Math" panose="02040503050406030204" pitchFamily="18" charset="0"/>
                            </a:rPr>
                          </m:ctrlPr>
                        </m:radPr>
                        <m:deg/>
                        <m:e>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μ</m:t>
                              </m:r>
                            </m:num>
                            <m:den>
                              <m:r>
                                <a:rPr lang="es-ES" sz="2800" i="1">
                                  <a:solidFill>
                                    <a:srgbClr val="1F4E79"/>
                                  </a:solidFill>
                                  <a:latin typeface="Cambria Math" panose="02040503050406030204" pitchFamily="18" charset="0"/>
                                </a:rPr>
                                <m:t xml:space="preserve">ρ</m:t>
                              </m:r>
                            </m:den>
                          </m:f>
                        </m:e>
                      </m:rad>
                    </m:oMath>
                  </m:oMathPara>
                </a14:m>
                <a:endParaRPr lang="es-ES"/>
              </a:p>
            </p:txBody>
          </p:sp>
        </mc:Choice>
        <mc:Fallback>
          <p:sp>
            <p:nvSpPr>
              <p:cNvPr id="4" name="Ecuación E_vs"/>
              <p:cNvSpPr txBox="1"/>
              <p:nvPr/>
            </p:nvSpPr>
            <p:spPr>
              <a:xfrm>
                <a:off x="457200" y="1280160"/>
                <a:ext cx="43891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Vs = √(μ / ρ)</a:t>
                </a:r>
                <a:endParaRPr lang="en-US" sz="2400" dirty="0"/>
              </a:p>
            </p:txBody>
          </p:sp>
        </mc:Fallback>
      </mc:AlternateContent>
      <p:sp>
        <p:nvSpPr>
          <p:cNvPr id="5" name="Text 3"/>
          <p:cNvSpPr txBox="1"/>
          <p:nvPr/>
        </p:nvSpPr>
        <p:spPr>
          <a:xfrm>
            <a:off x="5120640" y="128016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Medio elástico lineal, homogéneo e isótropo</a:t>
            </a:r>
            <a:endParaRPr lang="en-US" sz="1800" dirty="0"/>
          </a:p>
        </p:txBody>
      </p:sp>
      <p:sp>
        <p:nvSpPr>
          <p:cNvPr id="6" name="Shape 4"/>
          <p:cNvSpPr/>
          <p:nvPr/>
        </p:nvSpPr>
        <p:spPr>
          <a:xfrm>
            <a:off x="2651760" y="2075688"/>
            <a:ext cx="0" cy="237744"/>
          </a:xfrm>
          <a:prstGeom prst="line">
            <a:avLst/>
          </a:prstGeom>
          <a:noFill/>
          <a:ln w="25400">
            <a:solidFill>
              <a:srgbClr val="1F4E79"/>
            </a:solidFill>
            <a:prstDash val="solid"/>
            <a:tailEnd type="triangle"/>
          </a:ln>
        </p:spPr>
      </p:sp>
      <p:sp>
        <p:nvSpPr>
          <p:cNvPr id="7" name="Ecuación 2"/>
          <p:cNvSpPr/>
          <p:nvPr/>
        </p:nvSpPr>
        <p:spPr>
          <a:xfrm>
            <a:off x="457200" y="2331720"/>
            <a:ext cx="43891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8" name="Ecuación E_mugmax"/>
              <p:cNvSpPr txBox="1"/>
              <p:nvPr/>
            </p:nvSpPr>
            <p:spPr>
              <a:xfrm>
                <a:off x="457200" y="2331720"/>
                <a:ext cx="43891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μ=</m:t>
                      </m:r>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G</m:t>
                          </m:r>
                        </m:e>
                        <m:sub>
                          <m:r>
                            <m:rPr>
                              <m:sty m:val="p"/>
                            </m:rPr>
                            <a:rPr lang="es-ES" sz="2800">
                              <a:solidFill>
                                <a:srgbClr val="1F4E79"/>
                              </a:solidFill>
                              <a:latin typeface="Cambria Math" panose="02040503050406030204" pitchFamily="18" charset="0"/>
                            </a:rPr>
                            <m:t xml:space="preserve">max</m:t>
                          </m:r>
                        </m:sub>
                      </m:sSub>
                    </m:oMath>
                  </m:oMathPara>
                </a14:m>
                <a:endParaRPr lang="es-ES"/>
              </a:p>
            </p:txBody>
          </p:sp>
        </mc:Choice>
        <mc:Fallback>
          <p:sp>
            <p:nvSpPr>
              <p:cNvPr id="8" name="Ecuación E_mugmax"/>
              <p:cNvSpPr txBox="1"/>
              <p:nvPr/>
            </p:nvSpPr>
            <p:spPr>
              <a:xfrm>
                <a:off x="457200" y="2331720"/>
                <a:ext cx="43891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μ = Gmax</a:t>
                </a:r>
                <a:endParaRPr lang="en-US" sz="2400" dirty="0"/>
              </a:p>
            </p:txBody>
          </p:sp>
        </mc:Fallback>
      </mc:AlternateContent>
      <p:sp>
        <p:nvSpPr>
          <p:cNvPr id="9" name="Text 7"/>
          <p:cNvSpPr txBox="1"/>
          <p:nvPr/>
        </p:nvSpPr>
        <p:spPr>
          <a:xfrm>
            <a:off x="5120640" y="233172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Solo en pequeña señal: el módulo de corte es Gmax</a:t>
            </a:r>
            <a:endParaRPr lang="en-US" sz="1800" dirty="0"/>
          </a:p>
        </p:txBody>
      </p:sp>
      <p:sp>
        <p:nvSpPr>
          <p:cNvPr id="10" name="Shape 8"/>
          <p:cNvSpPr/>
          <p:nvPr/>
        </p:nvSpPr>
        <p:spPr>
          <a:xfrm>
            <a:off x="2651760" y="3127248"/>
            <a:ext cx="0" cy="237744"/>
          </a:xfrm>
          <a:prstGeom prst="line">
            <a:avLst/>
          </a:prstGeom>
          <a:noFill/>
          <a:ln w="25400">
            <a:solidFill>
              <a:srgbClr val="1F4E79"/>
            </a:solidFill>
            <a:prstDash val="solid"/>
            <a:tailEnd type="triangle"/>
          </a:ln>
        </p:spPr>
      </p:sp>
      <p:sp>
        <p:nvSpPr>
          <p:cNvPr id="11" name="Ecuación 3"/>
          <p:cNvSpPr/>
          <p:nvPr/>
        </p:nvSpPr>
        <p:spPr>
          <a:xfrm>
            <a:off x="457200" y="3383280"/>
            <a:ext cx="4389120" cy="777240"/>
          </a:xfrm>
          <a:prstGeom prst="rect">
            <a:avLst/>
          </a:prstGeom>
          <a:solidFill>
            <a:srgbClr val="1F4E79"/>
          </a:solidFill>
          <a:ln w="12700">
            <a:solidFill>
              <a:srgbClr val="1F4E79"/>
            </a:solidFill>
            <a:prstDash val="solid"/>
          </a:ln>
        </p:spPr>
      </p:sp>
      <mc:AlternateContent xmlns:mc="http://schemas.openxmlformats.org/markup-compatibility/2006">
        <mc:Choice xmlns:a14="http://schemas.microsoft.com/office/drawing/2010/main" Requires="a14">
          <p:sp>
            <p:nvSpPr>
              <p:cNvPr id="12" name="Ecuación E_gmax_w"/>
              <p:cNvSpPr txBox="1"/>
              <p:nvPr/>
            </p:nvSpPr>
            <p:spPr>
              <a:xfrm>
                <a:off x="457200" y="3383280"/>
                <a:ext cx="43891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FFFFFF"/>
                              </a:solidFill>
                              <a:latin typeface="Cambria Math" panose="02040503050406030204" pitchFamily="18" charset="0"/>
                            </a:rPr>
                            <m:t xml:space="preserve">G</m:t>
                          </m:r>
                        </m:e>
                        <m:sub>
                          <m:r>
                            <m:rPr>
                              <m:sty m:val="p"/>
                            </m:rPr>
                            <a:rPr lang="es-ES" sz="2800">
                              <a:solidFill>
                                <a:srgbClr val="FFFFFF"/>
                              </a:solidFill>
                              <a:latin typeface="Cambria Math" panose="02040503050406030204" pitchFamily="18" charset="0"/>
                            </a:rPr>
                            <m:t xml:space="preserve">max</m:t>
                          </m:r>
                        </m:sub>
                      </m:sSub>
                      <m:r>
                        <a:rPr lang="es-ES" sz="2800" i="1">
                          <a:solidFill>
                            <a:srgbClr val="FFFFFF"/>
                          </a:solidFill>
                          <a:latin typeface="Cambria Math" panose="02040503050406030204" pitchFamily="18" charset="0"/>
                        </a:rPr>
                        <m:t xml:space="preserve">=ρ</m:t>
                      </m:r>
                      <m:sSup>
                        <m:sSupPr>
                          <m:ctrlPr>
                            <a:rPr lang="es-ES" sz="2800" i="1">
                              <a:latin typeface="Cambria Math" panose="02040503050406030204" pitchFamily="18" charset="0"/>
                            </a:rPr>
                          </m:ctrlPr>
                        </m:sSupPr>
                        <m:e>
                          <m:sSub>
                            <m:sSubPr>
                              <m:ctrlPr>
                                <a:rPr lang="es-ES" sz="2800" i="1">
                                  <a:latin typeface="Cambria Math" panose="02040503050406030204" pitchFamily="18" charset="0"/>
                                </a:rPr>
                              </m:ctrlPr>
                            </m:sSubPr>
                            <m:e>
                              <m:r>
                                <a:rPr lang="es-ES" sz="2800" i="1">
                                  <a:solidFill>
                                    <a:srgbClr val="FFFFFF"/>
                                  </a:solidFill>
                                  <a:latin typeface="Cambria Math" panose="02040503050406030204" pitchFamily="18" charset="0"/>
                                </a:rPr>
                                <m:t xml:space="preserve">V</m:t>
                              </m:r>
                            </m:e>
                            <m:sub>
                              <m:r>
                                <a:rPr lang="es-ES" sz="2800" i="1">
                                  <a:solidFill>
                                    <a:srgbClr val="FFFFFF"/>
                                  </a:solidFill>
                                  <a:latin typeface="Cambria Math" panose="02040503050406030204" pitchFamily="18" charset="0"/>
                                </a:rPr>
                                <m:t xml:space="preserve">s</m:t>
                              </m:r>
                            </m:sub>
                          </m:sSub>
                        </m:e>
                        <m:sup>
                          <m:r>
                            <a:rPr lang="es-ES" sz="2800" i="1">
                              <a:solidFill>
                                <a:srgbClr val="FFFFFF"/>
                              </a:solidFill>
                              <a:latin typeface="Cambria Math" panose="02040503050406030204" pitchFamily="18" charset="0"/>
                            </a:rPr>
                            <m:t xml:space="preserve">2</m:t>
                          </m:r>
                        </m:sup>
                      </m:sSup>
                    </m:oMath>
                  </m:oMathPara>
                </a14:m>
                <a:endParaRPr lang="es-ES"/>
              </a:p>
            </p:txBody>
          </p:sp>
        </mc:Choice>
        <mc:Fallback>
          <p:sp>
            <p:nvSpPr>
              <p:cNvPr id="12" name="Ecuación E_gmax_w"/>
              <p:cNvSpPr txBox="1"/>
              <p:nvPr/>
            </p:nvSpPr>
            <p:spPr>
              <a:xfrm>
                <a:off x="457200" y="3383280"/>
                <a:ext cx="4389120" cy="777240"/>
              </a:xfrm>
              <a:prstGeom prst="rect">
                <a:avLst/>
              </a:prstGeom>
              <a:noFill/>
              <a:ln/>
            </p:spPr>
            <p:txBody>
              <a:bodyPr wrap="square" lIns="0" tIns="0" rIns="0" bIns="0" rtlCol="0" anchor="ctr"/>
              <a:lstStyle/>
              <a:p>
                <a:pPr algn="ctr" indent="0" marL="0">
                  <a:buNone/>
                </a:pPr>
                <a:r>
                  <a:rPr lang="en-US" sz="2400" dirty="0">
                    <a:solidFill>
                      <a:srgbClr val="FFFFFF"/>
                    </a:solidFill>
                    <a:latin typeface="Arial" pitchFamily="34" charset="0"/>
                    <a:ea typeface="Arial" pitchFamily="34" charset="-122"/>
                    <a:cs typeface="Arial" pitchFamily="34" charset="-120"/>
                  </a:rPr>
                  <a:t>Gmax = ρ · Vs²</a:t>
                </a:r>
                <a:endParaRPr lang="en-US" sz="2400" dirty="0"/>
              </a:p>
            </p:txBody>
          </p:sp>
        </mc:Fallback>
      </mc:AlternateContent>
      <p:sp>
        <p:nvSpPr>
          <p:cNvPr id="13" name="Text 11"/>
          <p:cNvSpPr txBox="1"/>
          <p:nvPr/>
        </p:nvSpPr>
        <p:spPr>
          <a:xfrm>
            <a:off x="5120640" y="338328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Relación buscada. Válida solo en pequeña señal</a:t>
            </a:r>
            <a:endParaRPr lang="en-US" sz="1800" dirty="0"/>
          </a:p>
        </p:txBody>
      </p:sp>
      <p:sp>
        <p:nvSpPr>
          <p:cNvPr id="1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Si conocemos Vs, podemos estimar Gmax con una incertidumbre razonable</a:t>
            </a:r>
            <a:endParaRPr lang="en-US" sz="2400" dirty="0"/>
          </a:p>
        </p:txBody>
      </p:sp>
      <p:sp>
        <p:nvSpPr>
          <p:cNvPr id="3" name="Fondo error"/>
          <p:cNvSpPr/>
          <p:nvPr/>
        </p:nvSpPr>
        <p:spPr>
          <a:xfrm>
            <a:off x="457200" y="1325880"/>
            <a:ext cx="4389120" cy="109728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err"/>
              <p:cNvSpPr txBox="1"/>
              <p:nvPr/>
            </p:nvSpPr>
            <p:spPr>
              <a:xfrm>
                <a:off x="457200" y="1325880"/>
                <a:ext cx="4389120" cy="109728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ΔG</m:t>
                          </m:r>
                        </m:num>
                        <m:den>
                          <m:r>
                            <a:rPr lang="es-ES" sz="2400" i="1">
                              <a:solidFill>
                                <a:srgbClr val="1F4E79"/>
                              </a:solidFill>
                              <a:latin typeface="Cambria Math" panose="02040503050406030204" pitchFamily="18" charset="0"/>
                            </a:rPr>
                            <m:t xml:space="preserve">G</m:t>
                          </m:r>
                        </m:den>
                      </m:f>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Δρ</m:t>
                          </m:r>
                        </m:num>
                        <m:den>
                          <m:r>
                            <a:rPr lang="es-ES" sz="2400" i="1">
                              <a:solidFill>
                                <a:srgbClr val="1F4E79"/>
                              </a:solidFill>
                              <a:latin typeface="Cambria Math" panose="02040503050406030204" pitchFamily="18" charset="0"/>
                            </a:rPr>
                            <m:t xml:space="preserve">ρ</m:t>
                          </m:r>
                        </m:den>
                      </m:f>
                      <m:r>
                        <a:rPr lang="es-ES" sz="2400" i="1">
                          <a:solidFill>
                            <a:srgbClr val="1F4E79"/>
                          </a:solidFill>
                          <a:latin typeface="Cambria Math" panose="02040503050406030204" pitchFamily="18" charset="0"/>
                        </a:rPr>
                        <m:t xml:space="preserve">+2</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den>
                      </m:f>
                    </m:oMath>
                  </m:oMathPara>
                </a14:m>
                <a:endParaRPr lang="es-ES"/>
              </a:p>
            </p:txBody>
          </p:sp>
        </mc:Choice>
        <mc:Fallback>
          <p:sp>
            <p:nvSpPr>
              <p:cNvPr id="4" name="Ecuación E_err"/>
              <p:cNvSpPr txBox="1"/>
              <p:nvPr/>
            </p:nvSpPr>
            <p:spPr>
              <a:xfrm>
                <a:off x="457200" y="1325880"/>
                <a:ext cx="4389120" cy="109728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ΔG/G ≈ Δρ/ρ + 2·ΔVs/Vs</a:t>
                </a:r>
                <a:endParaRPr lang="en-US" sz="2400" dirty="0"/>
              </a:p>
            </p:txBody>
          </p:sp>
        </mc:Fallback>
      </mc:AlternateContent>
      <p:sp>
        <p:nvSpPr>
          <p:cNvPr id="5" name="Cuerpo"/>
          <p:cNvSpPr txBox="1"/>
          <p:nvPr/>
        </p:nvSpPr>
        <p:spPr>
          <a:xfrm>
            <a:off x="5120640" y="1325880"/>
            <a:ext cx="3566160" cy="27432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ρ varía poco entre suelos y se estima con muestras o correlaciones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Vs varía mucho y se mide en campo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Un error en Vs pesa el doble que uno en ρ</a:t>
            </a:r>
            <a:endParaRPr lang="en-US" sz="1800" dirty="0"/>
          </a:p>
        </p:txBody>
      </p:sp>
      <p:sp>
        <p:nvSpPr>
          <p:cNvPr id="6" name="Text 4"/>
          <p:cNvSpPr txBox="1"/>
          <p:nvPr/>
        </p:nvSpPr>
        <p:spPr>
          <a:xfrm>
            <a:off x="457200" y="2743200"/>
            <a:ext cx="4389120" cy="10972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Vale para pequeñas deformaciones: no describe al suelo cerca de la falla</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Propagación de errores lineal, cota superior.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Downhole: la fuente está en superficie y los geófonos dentro del pozo</a:t>
            </a:r>
            <a:endParaRPr lang="en-US" sz="2400" dirty="0"/>
          </a:p>
        </p:txBody>
      </p:sp>
      <p:pic>
        <p:nvPicPr>
          <p:cNvPr id="3" name="Figura downhole" descr="Ensayo downhole: fuente sísmica en superficie, geófonos dentro del pozo, tres capas">    </p:cNvPr>
          <p:cNvPicPr>
            <a:picLocks noChangeAspect="1"/>
          </p:cNvPicPr>
          <p:nvPr/>
        </p:nvPicPr>
        <p:blipFill>
          <a:blip r:embed="rId1"/>
          <a:stretch>
            <a:fillRect/>
          </a:stretch>
        </p:blipFill>
        <p:spPr>
          <a:xfrm>
            <a:off x="457200" y="1188720"/>
            <a:ext cx="4026263" cy="3291840"/>
          </a:xfrm>
          <a:prstGeom prst="rect">
            <a:avLst/>
          </a:prstGeom>
        </p:spPr>
      </p:pic>
      <p:sp>
        <p:nvSpPr>
          <p:cNvPr id="4" name="Cuerpo"/>
          <p:cNvSpPr txBox="1"/>
          <p:nvPr/>
        </p:nvSpPr>
        <p:spPr>
          <a:xfrm>
            <a:off x="4754880" y="1371600"/>
            <a:ext cx="3931920" cy="292608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Un solo pozo con geófonos a distintas profundidades</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Una fuente golpea en superficie</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Vs de cada tramo: distancia entre geófonos sobre diferencia de tiempos</a:t>
            </a:r>
            <a:endParaRPr lang="en-US" sz="20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Crosshole: fuente y receptor a la misma profundidad, en pozos distintos</a:t>
            </a:r>
            <a:endParaRPr lang="en-US" sz="2400" dirty="0"/>
          </a:p>
        </p:txBody>
      </p:sp>
      <p:pic>
        <p:nvPicPr>
          <p:cNvPr id="3" name="Figura crosshole" descr="Ensayo crosshole: fuente en un pozo, receptor en otro, distancia Δx">    </p:cNvPr>
          <p:cNvPicPr>
            <a:picLocks noChangeAspect="1"/>
          </p:cNvPicPr>
          <p:nvPr/>
        </p:nvPicPr>
        <p:blipFill>
          <a:blip r:embed="rId1"/>
          <a:stretch>
            <a:fillRect/>
          </a:stretch>
        </p:blipFill>
        <p:spPr>
          <a:xfrm>
            <a:off x="457200" y="1234440"/>
            <a:ext cx="4937760" cy="3040493"/>
          </a:xfrm>
          <a:prstGeom prst="rect">
            <a:avLst/>
          </a:prstGeom>
        </p:spPr>
      </p:pic>
      <p:sp>
        <p:nvSpPr>
          <p:cNvPr id="4" name="Cuerpo"/>
          <p:cNvSpPr txBox="1"/>
          <p:nvPr/>
        </p:nvSpPr>
        <p:spPr>
          <a:xfrm>
            <a:off x="5669280" y="1371600"/>
            <a:ext cx="3017520" cy="292608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Dos pozos o más, a distancia Δx conocida</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 onda S viaja en horizontal por una sola capa</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Vs = Δx / Δt</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Adaptada de 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Ventajas: miden Vs de forma directa, con trayectos conocidos</a:t>
            </a:r>
            <a:endParaRPr lang="en-US" sz="2400" dirty="0"/>
          </a:p>
        </p:txBody>
      </p:sp>
      <p:pic>
        <p:nvPicPr>
          <p:cNvPr id="3" name="Downhole pequeña" descr="Downhole">    </p:cNvPr>
          <p:cNvPicPr>
            <a:picLocks noChangeAspect="1"/>
          </p:cNvPicPr>
          <p:nvPr/>
        </p:nvPicPr>
        <p:blipFill>
          <a:blip r:embed="rId1"/>
          <a:stretch>
            <a:fillRect/>
          </a:stretch>
        </p:blipFill>
        <p:spPr>
          <a:xfrm>
            <a:off x="457200" y="1188720"/>
            <a:ext cx="1920240" cy="1570025"/>
          </a:xfrm>
          <a:prstGeom prst="rect">
            <a:avLst/>
          </a:prstGeom>
        </p:spPr>
      </p:pic>
      <p:sp>
        <p:nvSpPr>
          <p:cNvPr id="4" name="Text 1"/>
          <p:cNvSpPr txBox="1"/>
          <p:nvPr/>
        </p:nvSpPr>
        <p:spPr>
          <a:xfrm>
            <a:off x="2560320" y="1188720"/>
            <a:ext cx="1828800" cy="1570025"/>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Downhole</a:t>
            </a:r>
            <a:endParaRPr lang="en-US" sz="2000" dirty="0"/>
          </a:p>
        </p:txBody>
      </p:sp>
      <p:sp>
        <p:nvSpPr>
          <p:cNvPr id="5" name="Cuerpo Downhole"/>
          <p:cNvSpPr txBox="1"/>
          <p:nvPr/>
        </p:nvSpPr>
        <p:spPr>
          <a:xfrm>
            <a:off x="457200" y="2941625"/>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Un solo pozo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Perfil de Vs con la profundidad</a:t>
            </a:r>
            <a:endParaRPr lang="en-US" sz="1800" dirty="0"/>
          </a:p>
        </p:txBody>
      </p:sp>
      <p:pic>
        <p:nvPicPr>
          <p:cNvPr id="6" name="Crosshole pequeña" descr="Crosshole">    </p:cNvPr>
          <p:cNvPicPr>
            <a:picLocks noChangeAspect="1"/>
          </p:cNvPicPr>
          <p:nvPr/>
        </p:nvPicPr>
        <p:blipFill>
          <a:blip r:embed="rId2"/>
          <a:stretch>
            <a:fillRect/>
          </a:stretch>
        </p:blipFill>
        <p:spPr>
          <a:xfrm>
            <a:off x="4754880" y="1188720"/>
            <a:ext cx="2377440" cy="1463040"/>
          </a:xfrm>
          <a:prstGeom prst="rect">
            <a:avLst/>
          </a:prstGeom>
        </p:spPr>
      </p:pic>
      <p:sp>
        <p:nvSpPr>
          <p:cNvPr id="7" name="Text 3"/>
          <p:cNvSpPr txBox="1"/>
          <p:nvPr/>
        </p:nvSpPr>
        <p:spPr>
          <a:xfrm>
            <a:off x="7315200" y="1188720"/>
            <a:ext cx="1371600" cy="1463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Crosshole</a:t>
            </a:r>
            <a:endParaRPr lang="en-US" sz="2000" dirty="0"/>
          </a:p>
        </p:txBody>
      </p:sp>
      <p:sp>
        <p:nvSpPr>
          <p:cNvPr id="8" name="Cuerpo Crosshole"/>
          <p:cNvSpPr txBox="1"/>
          <p:nvPr/>
        </p:nvSpPr>
        <p:spPr>
          <a:xfrm>
            <a:off x="4754880" y="283464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Vs de capas individuales a profundidad conocida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Mejor resolución vertical</a:t>
            </a:r>
            <a:endParaRPr lang="en-US" sz="18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 Crosshole: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Limitaciones: exigen perforar y siguen siendo ensayos puntuales</a:t>
            </a:r>
            <a:endParaRPr lang="en-US" sz="2400" dirty="0"/>
          </a:p>
        </p:txBody>
      </p:sp>
      <p:pic>
        <p:nvPicPr>
          <p:cNvPr id="3" name="Downhole pequeña" descr="Downhole">    </p:cNvPr>
          <p:cNvPicPr>
            <a:picLocks noChangeAspect="1"/>
          </p:cNvPicPr>
          <p:nvPr/>
        </p:nvPicPr>
        <p:blipFill>
          <a:blip r:embed="rId1"/>
          <a:stretch>
            <a:fillRect/>
          </a:stretch>
        </p:blipFill>
        <p:spPr>
          <a:xfrm>
            <a:off x="457200" y="1188720"/>
            <a:ext cx="1920240" cy="1570025"/>
          </a:xfrm>
          <a:prstGeom prst="rect">
            <a:avLst/>
          </a:prstGeom>
        </p:spPr>
      </p:pic>
      <p:sp>
        <p:nvSpPr>
          <p:cNvPr id="4" name="Text 1"/>
          <p:cNvSpPr txBox="1"/>
          <p:nvPr/>
        </p:nvSpPr>
        <p:spPr>
          <a:xfrm>
            <a:off x="2560320" y="1188720"/>
            <a:ext cx="1828800" cy="1570025"/>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Downhole</a:t>
            </a:r>
            <a:endParaRPr lang="en-US" sz="2000" dirty="0"/>
          </a:p>
        </p:txBody>
      </p:sp>
      <p:sp>
        <p:nvSpPr>
          <p:cNvPr id="5" name="Cuerpo Downhole"/>
          <p:cNvSpPr txBox="1"/>
          <p:nvPr/>
        </p:nvSpPr>
        <p:spPr>
          <a:xfrm>
            <a:off x="457200" y="2941625"/>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Menor resolución vertical</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Requiere perforar y entubar</a:t>
            </a:r>
            <a:endParaRPr lang="en-US" sz="1800" dirty="0"/>
          </a:p>
        </p:txBody>
      </p:sp>
      <p:pic>
        <p:nvPicPr>
          <p:cNvPr id="6" name="Crosshole pequeña" descr="Crosshole">    </p:cNvPr>
          <p:cNvPicPr>
            <a:picLocks noChangeAspect="1"/>
          </p:cNvPicPr>
          <p:nvPr/>
        </p:nvPicPr>
        <p:blipFill>
          <a:blip r:embed="rId2"/>
          <a:stretch>
            <a:fillRect/>
          </a:stretch>
        </p:blipFill>
        <p:spPr>
          <a:xfrm>
            <a:off x="4754880" y="1188720"/>
            <a:ext cx="2377440" cy="1463040"/>
          </a:xfrm>
          <a:prstGeom prst="rect">
            <a:avLst/>
          </a:prstGeom>
        </p:spPr>
      </p:pic>
      <p:sp>
        <p:nvSpPr>
          <p:cNvPr id="7" name="Text 3"/>
          <p:cNvSpPr txBox="1"/>
          <p:nvPr/>
        </p:nvSpPr>
        <p:spPr>
          <a:xfrm>
            <a:off x="7315200" y="1188720"/>
            <a:ext cx="1371600" cy="1463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Crosshole</a:t>
            </a:r>
            <a:endParaRPr lang="en-US" sz="2000" dirty="0"/>
          </a:p>
        </p:txBody>
      </p:sp>
      <p:sp>
        <p:nvSpPr>
          <p:cNvPr id="8" name="Cuerpo Crosshole"/>
          <p:cNvSpPr txBox="1"/>
          <p:nvPr/>
        </p:nvSpPr>
        <p:spPr>
          <a:xfrm>
            <a:off x="4754880" y="283464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Dos o más pozos alineados y verticales</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Costo y tiempo altos</a:t>
            </a:r>
            <a:endParaRPr lang="en-US" sz="1800" dirty="0"/>
          </a:p>
        </p:txBody>
      </p:sp>
      <p:sp>
        <p:nvSpPr>
          <p:cNvPr id="9" name="Mensaje"/>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Dan Vs de forma directa, pero un punto del sitio por ensayo</a:t>
            </a:r>
            <a:endParaRPr lang="en-US" sz="18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 Crosshole: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a cierta distancia, la onda refractada llega antes que la directa</a:t>
            </a:r>
            <a:endParaRPr lang="en-US" sz="2400" dirty="0"/>
          </a:p>
        </p:txBody>
      </p:sp>
      <p:pic>
        <p:nvPicPr>
          <p:cNvPr id="3" name="Figura refracción" descr="Refracción sísmica en dos capas: energía directa, reflejada y refractada (onda de cabeza), con ángulo crítico">    </p:cNvPr>
          <p:cNvPicPr>
            <a:picLocks noChangeAspect="1"/>
          </p:cNvPicPr>
          <p:nvPr/>
        </p:nvPicPr>
        <p:blipFill>
          <a:blip r:embed="rId1"/>
          <a:stretch>
            <a:fillRect/>
          </a:stretch>
        </p:blipFill>
        <p:spPr>
          <a:xfrm>
            <a:off x="457200" y="1234440"/>
            <a:ext cx="5120640" cy="3058925"/>
          </a:xfrm>
          <a:prstGeom prst="rect">
            <a:avLst/>
          </a:prstGeom>
        </p:spPr>
      </p:pic>
      <p:sp>
        <p:nvSpPr>
          <p:cNvPr id="4" name="Cuerpo"/>
          <p:cNvSpPr txBox="1"/>
          <p:nvPr/>
        </p:nvSpPr>
        <p:spPr>
          <a:xfrm>
            <a:off x="5760720" y="1371600"/>
            <a:ext cx="2926080" cy="30175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Con ángulo de incidencia igual al crítico, la energía viaja por el techo de la capa rápida (onda de cabeza)</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Vuelve a la superficie y llega antes que la directa, a partir de cierta distancia</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USGS (1987), Open-File Report 87-0103-A, recreada y traducida (fuente exacta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del gráfico de tiempos salen las velocidades y el espesor de la capa</a:t>
            </a:r>
            <a:endParaRPr lang="en-US" sz="2400" dirty="0"/>
          </a:p>
        </p:txBody>
      </p:sp>
      <p:pic>
        <p:nvPicPr>
          <p:cNvPr id="3" name="Dromocrónica" descr="Dromocrónica: rectas de onda directa y refractada con tiempo de intercepto y distancia de cruce">    </p:cNvPr>
          <p:cNvPicPr>
            <a:picLocks noChangeAspect="1"/>
          </p:cNvPicPr>
          <p:nvPr/>
        </p:nvPicPr>
        <p:blipFill>
          <a:blip r:embed="rId1"/>
          <a:stretch>
            <a:fillRect/>
          </a:stretch>
        </p:blipFill>
        <p:spPr>
          <a:xfrm>
            <a:off x="457200" y="1188720"/>
            <a:ext cx="8229600" cy="3131507"/>
          </a:xfrm>
          <a:prstGeom prst="rect">
            <a:avLst/>
          </a:prstGeom>
        </p:spPr>
      </p:pic>
      <p:sp>
        <p:nvSpPr>
          <p:cNvPr id="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recreación a partir de Wikimedia Commons, «Refraction dia.jpg» (L. Antiga, 2010); fidelidad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simple y rápida, pero exige que la velocidad crezca con la profundidad</a:t>
            </a:r>
            <a:endParaRPr lang="en-US" sz="2400" dirty="0"/>
          </a:p>
        </p:txBody>
      </p:sp>
      <p:sp>
        <p:nvSpPr>
          <p:cNvPr id="3" name="Cabecera Ventajas"/>
          <p:cNvSpPr/>
          <p:nvPr/>
        </p:nvSpPr>
        <p:spPr>
          <a:xfrm>
            <a:off x="457200" y="1280160"/>
            <a:ext cx="3931920" cy="502920"/>
          </a:xfrm>
          <a:prstGeom prst="rect">
            <a:avLst/>
          </a:prstGeom>
          <a:solidFill>
            <a:srgbClr val="1F4E79"/>
          </a:solidFill>
          <a:ln w="12700">
            <a:solidFill>
              <a:srgbClr val="1F4E79"/>
            </a:solidFill>
            <a:prstDash val="solid"/>
          </a:ln>
        </p:spPr>
      </p:sp>
      <p:sp>
        <p:nvSpPr>
          <p:cNvPr id="4" name="Text 2"/>
          <p:cNvSpPr txBox="1"/>
          <p:nvPr/>
        </p:nvSpPr>
        <p:spPr>
          <a:xfrm>
            <a:off x="45720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Ventajas</a:t>
            </a:r>
            <a:endParaRPr lang="en-US" sz="2000" dirty="0"/>
          </a:p>
        </p:txBody>
      </p:sp>
      <p:sp>
        <p:nvSpPr>
          <p:cNvPr id="5" name="Tarjeta Ventajas"/>
          <p:cNvSpPr/>
          <p:nvPr/>
        </p:nvSpPr>
        <p:spPr>
          <a:xfrm>
            <a:off x="457200" y="1783080"/>
            <a:ext cx="3931920" cy="2514600"/>
          </a:xfrm>
          <a:prstGeom prst="rect">
            <a:avLst/>
          </a:prstGeom>
          <a:solidFill>
            <a:srgbClr val="FFFFFF"/>
          </a:solidFill>
          <a:ln w="19050">
            <a:solidFill>
              <a:srgbClr val="1F4E79"/>
            </a:solidFill>
            <a:prstDash val="solid"/>
          </a:ln>
        </p:spPr>
      </p:sp>
      <p:sp>
        <p:nvSpPr>
          <p:cNvPr id="6" name="Cuerpo Ventajas"/>
          <p:cNvSpPr txBox="1"/>
          <p:nvPr/>
        </p:nvSpPr>
        <p:spPr>
          <a:xfrm>
            <a:off x="64008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Equipo y procesamiento simples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Rápida de ejecutar en campo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Da velocidades y espesores de capa</a:t>
            </a:r>
            <a:endParaRPr lang="en-US" sz="1800" dirty="0"/>
          </a:p>
        </p:txBody>
      </p:sp>
      <p:sp>
        <p:nvSpPr>
          <p:cNvPr id="7" name="Cabecera Limitaciones"/>
          <p:cNvSpPr/>
          <p:nvPr/>
        </p:nvSpPr>
        <p:spPr>
          <a:xfrm>
            <a:off x="4754880" y="1280160"/>
            <a:ext cx="3931920" cy="502920"/>
          </a:xfrm>
          <a:prstGeom prst="rect">
            <a:avLst/>
          </a:prstGeom>
          <a:solidFill>
            <a:srgbClr val="C55A11"/>
          </a:solidFill>
          <a:ln w="12700">
            <a:solidFill>
              <a:srgbClr val="C55A11"/>
            </a:solidFill>
            <a:prstDash val="solid"/>
          </a:ln>
        </p:spPr>
      </p:sp>
      <p:sp>
        <p:nvSpPr>
          <p:cNvPr id="8" name="Text 6"/>
          <p:cNvSpPr txBox="1"/>
          <p:nvPr/>
        </p:nvSpPr>
        <p:spPr>
          <a:xfrm>
            <a:off x="475488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Limitaciones</a:t>
            </a:r>
            <a:endParaRPr lang="en-US" sz="2000" dirty="0"/>
          </a:p>
        </p:txBody>
      </p:sp>
      <p:sp>
        <p:nvSpPr>
          <p:cNvPr id="9" name="Tarjeta Limitaciones"/>
          <p:cNvSpPr/>
          <p:nvPr/>
        </p:nvSpPr>
        <p:spPr>
          <a:xfrm>
            <a:off x="4754880" y="1783080"/>
            <a:ext cx="3931920" cy="2514600"/>
          </a:xfrm>
          <a:prstGeom prst="rect">
            <a:avLst/>
          </a:prstGeom>
          <a:solidFill>
            <a:srgbClr val="FFFFFF"/>
          </a:solidFill>
          <a:ln w="19050">
            <a:solidFill>
              <a:srgbClr val="C55A11"/>
            </a:solidFill>
            <a:prstDash val="solid"/>
          </a:ln>
        </p:spPr>
      </p:sp>
      <p:sp>
        <p:nvSpPr>
          <p:cNvPr id="10" name="Cuerpo Limitaciones"/>
          <p:cNvSpPr txBox="1"/>
          <p:nvPr/>
        </p:nvSpPr>
        <p:spPr>
          <a:xfrm>
            <a:off x="493776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La velocidad debe aumentar con la profundidad</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Una capa blanda bajo otra rápida queda oculta</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Capas delgadas pueden no verse</a:t>
            </a:r>
            <a:endParaRPr lang="en-US" sz="1800" dirty="0"/>
          </a:p>
        </p:txBody>
      </p:sp>
      <p:sp>
        <p:nvSpPr>
          <p:cNvPr id="11"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Reflexión: se registra el tiempo de ida y vuelta de la energía reflejada</a:t>
            </a:r>
            <a:endParaRPr lang="en-US" sz="2400" dirty="0"/>
          </a:p>
        </p:txBody>
      </p:sp>
      <p:pic>
        <p:nvPicPr>
          <p:cNvPr id="3" name="Figura reflexión" descr="Reflexión sísmica: rayos desde la fuente hasta cada interfaz y de vuelta al geófono, con la traza registrada">    </p:cNvPr>
          <p:cNvPicPr>
            <a:picLocks noChangeAspect="1"/>
          </p:cNvPicPr>
          <p:nvPr/>
        </p:nvPicPr>
        <p:blipFill>
          <a:blip r:embed="rId1"/>
          <a:stretch>
            <a:fillRect/>
          </a:stretch>
        </p:blipFill>
        <p:spPr>
          <a:xfrm>
            <a:off x="457200" y="1188720"/>
            <a:ext cx="4572000" cy="3203924"/>
          </a:xfrm>
          <a:prstGeom prst="rect">
            <a:avLst/>
          </a:prstGeom>
        </p:spPr>
      </p:pic>
      <p:sp>
        <p:nvSpPr>
          <p:cNvPr id="4" name="Cuerpo"/>
          <p:cNvSpPr txBox="1"/>
          <p:nvPr/>
        </p:nvSpPr>
        <p:spPr>
          <a:xfrm>
            <a:off x="5303520" y="1280160"/>
            <a:ext cx="3383280" cy="310896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La energía se refleja en cada interfaz</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Cada geófono registra una traza</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El tiempo depende de la profundidad y de la velocidad</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«Basics of Seismic Reflection» (CC BY-SA 4.0),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Reflexión: alcanza más profundidad, pero rinde poco en los primeros metros</a:t>
            </a:r>
            <a:endParaRPr lang="en-US" sz="2400" dirty="0"/>
          </a:p>
        </p:txBody>
      </p:sp>
      <p:sp>
        <p:nvSpPr>
          <p:cNvPr id="3" name="Cabecera Ventajas"/>
          <p:cNvSpPr/>
          <p:nvPr/>
        </p:nvSpPr>
        <p:spPr>
          <a:xfrm>
            <a:off x="457200" y="1280160"/>
            <a:ext cx="3931920" cy="502920"/>
          </a:xfrm>
          <a:prstGeom prst="rect">
            <a:avLst/>
          </a:prstGeom>
          <a:solidFill>
            <a:srgbClr val="1F4E79"/>
          </a:solidFill>
          <a:ln w="12700">
            <a:solidFill>
              <a:srgbClr val="1F4E79"/>
            </a:solidFill>
            <a:prstDash val="solid"/>
          </a:ln>
        </p:spPr>
      </p:sp>
      <p:sp>
        <p:nvSpPr>
          <p:cNvPr id="4" name="Text 2"/>
          <p:cNvSpPr txBox="1"/>
          <p:nvPr/>
        </p:nvSpPr>
        <p:spPr>
          <a:xfrm>
            <a:off x="45720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Ventajas</a:t>
            </a:r>
            <a:endParaRPr lang="en-US" sz="2000" dirty="0"/>
          </a:p>
        </p:txBody>
      </p:sp>
      <p:sp>
        <p:nvSpPr>
          <p:cNvPr id="5" name="Tarjeta Ventajas"/>
          <p:cNvSpPr/>
          <p:nvPr/>
        </p:nvSpPr>
        <p:spPr>
          <a:xfrm>
            <a:off x="457200" y="1783080"/>
            <a:ext cx="3931920" cy="2514600"/>
          </a:xfrm>
          <a:prstGeom prst="rect">
            <a:avLst/>
          </a:prstGeom>
          <a:solidFill>
            <a:srgbClr val="FFFFFF"/>
          </a:solidFill>
          <a:ln w="19050">
            <a:solidFill>
              <a:srgbClr val="1F4E79"/>
            </a:solidFill>
            <a:prstDash val="solid"/>
          </a:ln>
        </p:spPr>
      </p:sp>
      <p:sp>
        <p:nvSpPr>
          <p:cNvPr id="6" name="Cuerpo Ventajas"/>
          <p:cNvSpPr txBox="1"/>
          <p:nvPr/>
        </p:nvSpPr>
        <p:spPr>
          <a:xfrm>
            <a:off x="64008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Alcanza mayores profundidades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Buena imagen de la estructura</a:t>
            </a:r>
            <a:endParaRPr lang="en-US" sz="1800" dirty="0"/>
          </a:p>
        </p:txBody>
      </p:sp>
      <p:sp>
        <p:nvSpPr>
          <p:cNvPr id="7" name="Cabecera Limitaciones"/>
          <p:cNvSpPr/>
          <p:nvPr/>
        </p:nvSpPr>
        <p:spPr>
          <a:xfrm>
            <a:off x="4754880" y="1280160"/>
            <a:ext cx="3931920" cy="502920"/>
          </a:xfrm>
          <a:prstGeom prst="rect">
            <a:avLst/>
          </a:prstGeom>
          <a:solidFill>
            <a:srgbClr val="C55A11"/>
          </a:solidFill>
          <a:ln w="12700">
            <a:solidFill>
              <a:srgbClr val="C55A11"/>
            </a:solidFill>
            <a:prstDash val="solid"/>
          </a:ln>
        </p:spPr>
      </p:sp>
      <p:sp>
        <p:nvSpPr>
          <p:cNvPr id="8" name="Text 6"/>
          <p:cNvSpPr txBox="1"/>
          <p:nvPr/>
        </p:nvSpPr>
        <p:spPr>
          <a:xfrm>
            <a:off x="475488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Limitaciones</a:t>
            </a:r>
            <a:endParaRPr lang="en-US" sz="2000" dirty="0"/>
          </a:p>
        </p:txBody>
      </p:sp>
      <p:sp>
        <p:nvSpPr>
          <p:cNvPr id="9" name="Tarjeta Limitaciones"/>
          <p:cNvSpPr/>
          <p:nvPr/>
        </p:nvSpPr>
        <p:spPr>
          <a:xfrm>
            <a:off x="4754880" y="1783080"/>
            <a:ext cx="3931920" cy="2514600"/>
          </a:xfrm>
          <a:prstGeom prst="rect">
            <a:avLst/>
          </a:prstGeom>
          <a:solidFill>
            <a:srgbClr val="FFFFFF"/>
          </a:solidFill>
          <a:ln w="19050">
            <a:solidFill>
              <a:srgbClr val="C55A11"/>
            </a:solidFill>
            <a:prstDash val="solid"/>
          </a:ln>
        </p:spPr>
      </p:sp>
      <p:sp>
        <p:nvSpPr>
          <p:cNvPr id="10" name="Cuerpo Limitaciones"/>
          <p:cNvSpPr txBox="1"/>
          <p:nvPr/>
        </p:nvSpPr>
        <p:spPr>
          <a:xfrm>
            <a:off x="493776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Poca resolución en los primeros metros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Exige fuentes de alta frecuencia y más procesamiento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Interfieren las ondas directas y superficiales</a:t>
            </a:r>
            <a:endParaRPr lang="en-US" sz="1800" dirty="0"/>
          </a:p>
        </p:txBody>
      </p:sp>
      <p:sp>
        <p:nvSpPr>
          <p:cNvPr id="11"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Las ondas de cuerpo, al llegar a una interfaz, se reflejan y se transmiten</a:t>
            </a:r>
            <a:endParaRPr lang="en-US" sz="2400" dirty="0"/>
          </a:p>
        </p:txBody>
      </p:sp>
      <p:pic>
        <p:nvPicPr>
          <p:cNvPr id="3" name="Figura interfaz" descr="Interfaz entre dos medios con onda incidente, reflejada y transmitida">    </p:cNvPr>
          <p:cNvPicPr>
            <a:picLocks noChangeAspect="1"/>
          </p:cNvPicPr>
          <p:nvPr/>
        </p:nvPicPr>
        <p:blipFill>
          <a:blip r:embed="rId1"/>
          <a:stretch>
            <a:fillRect/>
          </a:stretch>
        </p:blipFill>
        <p:spPr>
          <a:xfrm>
            <a:off x="457200" y="1280160"/>
            <a:ext cx="4937760" cy="3108960"/>
          </a:xfrm>
          <a:prstGeom prst="rect">
            <a:avLst/>
          </a:prstGeom>
        </p:spPr>
      </p:pic>
      <p:sp>
        <p:nvSpPr>
          <p:cNvPr id="4" name="Cuerpo"/>
          <p:cNvSpPr txBox="1"/>
          <p:nvPr/>
        </p:nvSpPr>
        <p:spPr>
          <a:xfrm>
            <a:off x="5577840" y="1280160"/>
            <a:ext cx="3108960" cy="32004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Las ondas de cuerpo (P y S) viajan por el interior del terreno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El terreno real no es homogéneo: tiene variaciones continuas y discontinuidades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Un modelo en capas es más realista: en cada interfaz cambian ρ, Vp y Vs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Parte de la energía se refleja y parte se transmite</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el caso de una superficie libre, la energía vuelve al terreno</a:t>
            </a:r>
            <a:endParaRPr lang="en-US" sz="2400" dirty="0"/>
          </a:p>
        </p:txBody>
      </p:sp>
      <p:pic>
        <p:nvPicPr>
          <p:cNvPr id="3" name="Figura superficie libre" descr="Superficie libre: la onda incidente se refleja de vuelta al terreno">    </p:cNvPr>
          <p:cNvPicPr>
            <a:picLocks noChangeAspect="1"/>
          </p:cNvPicPr>
          <p:nvPr/>
        </p:nvPicPr>
        <p:blipFill>
          <a:blip r:embed="rId1"/>
          <a:stretch>
            <a:fillRect/>
          </a:stretch>
        </p:blipFill>
        <p:spPr>
          <a:xfrm>
            <a:off x="457200" y="1280160"/>
            <a:ext cx="4937760" cy="3108960"/>
          </a:xfrm>
          <a:prstGeom prst="rect">
            <a:avLst/>
          </a:prstGeom>
        </p:spPr>
      </p:pic>
      <p:sp>
        <p:nvSpPr>
          <p:cNvPr id="4" name="Cuerpo"/>
          <p:cNvSpPr txBox="1"/>
          <p:nvPr/>
        </p:nvSpPr>
        <p:spPr>
          <a:xfrm>
            <a:off x="5669280" y="1371600"/>
            <a:ext cx="3017520" cy="301752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 superficie libre es el contacto entre el terreno y el aire</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El aire no transmite esfuerzos: en la superficie el esfuerzo es cero</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Prácticamente toda la energía se refleja hacia el terreno</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Respecto a la superficie libre, la onda S se clasifica en SV y SH</a:t>
            </a:r>
            <a:endParaRPr lang="en-US" sz="2400" dirty="0"/>
          </a:p>
        </p:txBody>
      </p:sp>
      <p:pic>
        <p:nvPicPr>
          <p:cNvPr id="3" name="Figura SV y SH" descr="Onda SV con movimiento en el plano de incidencia y onda SH con movimiento perpendicular a ese plano">    </p:cNvPr>
          <p:cNvPicPr>
            <a:picLocks noChangeAspect="1"/>
          </p:cNvPicPr>
          <p:nvPr/>
        </p:nvPicPr>
        <p:blipFill>
          <a:blip r:embed="rId1"/>
          <a:stretch>
            <a:fillRect/>
          </a:stretch>
        </p:blipFill>
        <p:spPr>
          <a:xfrm>
            <a:off x="457200" y="1234440"/>
            <a:ext cx="5486400" cy="3108960"/>
          </a:xfrm>
          <a:prstGeom prst="rect">
            <a:avLst/>
          </a:prstGeom>
        </p:spPr>
      </p:pic>
      <p:sp>
        <p:nvSpPr>
          <p:cNvPr id="4" name="Cuerpo"/>
          <p:cNvSpPr txBox="1"/>
          <p:nvPr/>
        </p:nvSpPr>
        <p:spPr>
          <a:xfrm>
            <a:off x="6126480" y="1280160"/>
            <a:ext cx="2560320" cy="32004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Referencia: el plano de la superficie libre</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La onda S puede moverse de dos formas respecto a él</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SV: oscila en el plano vertical que contiene el rayo</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SH: oscila en horizontal, perpendicular a ese plano</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sobre la polarización de la onda 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Los ángulos de las ondas generadas se relacionan con la ley de Snell</a:t>
            </a:r>
            <a:endParaRPr lang="en-US" sz="2400" dirty="0"/>
          </a:p>
        </p:txBody>
      </p:sp>
      <p:pic>
        <p:nvPicPr>
          <p:cNvPr id="3" name="Figura Snell" descr="Onda P incidente en una interfaz: ondas P y S reflejadas y transmitidas con sus ángulos">    </p:cNvPr>
          <p:cNvPicPr>
            <a:picLocks noChangeAspect="1"/>
          </p:cNvPicPr>
          <p:nvPr/>
        </p:nvPicPr>
        <p:blipFill>
          <a:blip r:embed="rId1"/>
          <a:stretch>
            <a:fillRect/>
          </a:stretch>
        </p:blipFill>
        <p:spPr>
          <a:xfrm>
            <a:off x="457200" y="1234440"/>
            <a:ext cx="2880360" cy="3200400"/>
          </a:xfrm>
          <a:prstGeom prst="rect">
            <a:avLst/>
          </a:prstGeom>
        </p:spPr>
      </p:pic>
      <p:sp>
        <p:nvSpPr>
          <p:cNvPr id="4" name="Fondo Snell"/>
          <p:cNvSpPr/>
          <p:nvPr/>
        </p:nvSpPr>
        <p:spPr>
          <a:xfrm>
            <a:off x="3931920" y="1280160"/>
            <a:ext cx="475488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snell"/>
              <p:cNvSpPr txBox="1"/>
              <p:nvPr/>
            </p:nvSpPr>
            <p:spPr>
              <a:xfrm>
                <a:off x="3931920" y="1280160"/>
                <a:ext cx="475488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r>
                            <m:rPr>
                              <m:sty m:val="p"/>
                            </m:rPr>
                            <a:rPr lang="es-ES" sz="2400">
                              <a:solidFill>
                                <a:srgbClr val="1F4E79"/>
                              </a:solidFill>
                              <a:latin typeface="Cambria Math" panose="02040503050406030204" pitchFamily="18" charset="0"/>
                            </a:rPr>
                            <m:t xml:space="preserve">sin</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θ</m:t>
                              </m:r>
                            </m:e>
                            <m:sub>
                              <m:r>
                                <a:rPr lang="es-ES" sz="2400" i="1">
                                  <a:solidFill>
                                    <a:srgbClr val="1F4E79"/>
                                  </a:solidFill>
                                  <a:latin typeface="Cambria Math" panose="02040503050406030204" pitchFamily="18" charset="0"/>
                                </a:rPr>
                                <m:t xml:space="preserve">1</m:t>
                              </m:r>
                            </m:sub>
                          </m:sSub>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1</m:t>
                              </m:r>
                            </m:sub>
                          </m:sSub>
                        </m:den>
                      </m:f>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m:rPr>
                              <m:sty m:val="p"/>
                            </m:rPr>
                            <a:rPr lang="es-ES" sz="2400">
                              <a:solidFill>
                                <a:srgbClr val="1F4E79"/>
                              </a:solidFill>
                              <a:latin typeface="Cambria Math" panose="02040503050406030204" pitchFamily="18" charset="0"/>
                            </a:rPr>
                            <m:t xml:space="preserve">sin</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θ</m:t>
                              </m:r>
                            </m:e>
                            <m:sub>
                              <m:r>
                                <a:rPr lang="es-ES" sz="2400" i="1">
                                  <a:solidFill>
                                    <a:srgbClr val="1F4E79"/>
                                  </a:solidFill>
                                  <a:latin typeface="Cambria Math" panose="02040503050406030204" pitchFamily="18" charset="0"/>
                                </a:rPr>
                                <m:t xml:space="preserve">2</m:t>
                              </m:r>
                            </m:sub>
                          </m:sSub>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2</m:t>
                              </m:r>
                            </m:sub>
                          </m:sSub>
                        </m:den>
                      </m:f>
                      <m:r>
                        <a:rPr lang="es-ES" sz="2400" i="1">
                          <a:solidFill>
                            <a:srgbClr val="1F4E79"/>
                          </a:solidFill>
                          <a:latin typeface="Cambria Math" panose="02040503050406030204" pitchFamily="18" charset="0"/>
                        </a:rPr>
                        <m:t xml:space="preserve">=p</m:t>
                      </m:r>
                    </m:oMath>
                  </m:oMathPara>
                </a14:m>
                <a:endParaRPr lang="es-ES"/>
              </a:p>
            </p:txBody>
          </p:sp>
        </mc:Choice>
        <mc:Fallback>
          <p:sp>
            <p:nvSpPr>
              <p:cNvPr id="5" name="Ecuación E_snell"/>
              <p:cNvSpPr txBox="1"/>
              <p:nvPr/>
            </p:nvSpPr>
            <p:spPr>
              <a:xfrm>
                <a:off x="3931920" y="1280160"/>
                <a:ext cx="475488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sin θ₁ / V₁ = sin θ₂ / V₂ = p</a:t>
                </a:r>
                <a:endParaRPr lang="en-US" sz="2400" dirty="0"/>
              </a:p>
            </p:txBody>
          </p:sp>
        </mc:Fallback>
      </mc:AlternateContent>
      <p:sp>
        <p:nvSpPr>
          <p:cNvPr id="6" name="Cuerpo"/>
          <p:cNvSpPr txBox="1"/>
          <p:nvPr/>
        </p:nvSpPr>
        <p:spPr>
          <a:xfrm>
            <a:off x="3931920" y="2377440"/>
            <a:ext cx="4754880" cy="21031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p es el parámetro del rayo: el mismo para todas las ondas generadas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Vale para P, SV y SH: V es Vp para P y Vs para SV y SH</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Como Vs &lt; Vp, la S sale con un ángulo menor que la P</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SLB (s. f.), The Defining Series: Beginner's Guide to Seismic Surveying,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la superficie libre, P y SV se convierten entre sí; SH queda aparte</a:t>
            </a:r>
            <a:endParaRPr lang="en-US" sz="2400" dirty="0"/>
          </a:p>
        </p:txBody>
      </p:sp>
      <p:sp>
        <p:nvSpPr>
          <p:cNvPr id="3" name="Caja P"/>
          <p:cNvSpPr/>
          <p:nvPr/>
        </p:nvSpPr>
        <p:spPr>
          <a:xfrm>
            <a:off x="457200" y="1371600"/>
            <a:ext cx="1371600" cy="777240"/>
          </a:xfrm>
          <a:prstGeom prst="roundRect">
            <a:avLst>
              <a:gd name="adj" fmla="val 9412"/>
            </a:avLst>
          </a:prstGeom>
          <a:solidFill>
            <a:srgbClr val="2E75B6"/>
          </a:solidFill>
          <a:ln w="12700">
            <a:solidFill>
              <a:srgbClr val="2E75B6"/>
            </a:solidFill>
            <a:prstDash val="solid"/>
          </a:ln>
        </p:spPr>
      </p:sp>
      <p:sp>
        <p:nvSpPr>
          <p:cNvPr id="4" name="Text 2"/>
          <p:cNvSpPr txBox="1"/>
          <p:nvPr/>
        </p:nvSpPr>
        <p:spPr>
          <a:xfrm>
            <a:off x="457200" y="1371600"/>
            <a:ext cx="13716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P</a:t>
            </a:r>
            <a:endParaRPr lang="en-US" sz="2000" dirty="0"/>
          </a:p>
        </p:txBody>
      </p:sp>
      <p:sp>
        <p:nvSpPr>
          <p:cNvPr id="5" name="Caja SV"/>
          <p:cNvSpPr/>
          <p:nvPr/>
        </p:nvSpPr>
        <p:spPr>
          <a:xfrm>
            <a:off x="3017520" y="1371600"/>
            <a:ext cx="1371600" cy="777240"/>
          </a:xfrm>
          <a:prstGeom prst="roundRect">
            <a:avLst>
              <a:gd name="adj" fmla="val 9412"/>
            </a:avLst>
          </a:prstGeom>
          <a:solidFill>
            <a:srgbClr val="2E75B6"/>
          </a:solidFill>
          <a:ln w="12700">
            <a:solidFill>
              <a:srgbClr val="2E75B6"/>
            </a:solidFill>
            <a:prstDash val="solid"/>
          </a:ln>
        </p:spPr>
      </p:sp>
      <p:sp>
        <p:nvSpPr>
          <p:cNvPr id="6" name="Text 4"/>
          <p:cNvSpPr txBox="1"/>
          <p:nvPr/>
        </p:nvSpPr>
        <p:spPr>
          <a:xfrm>
            <a:off x="3017520" y="1371600"/>
            <a:ext cx="13716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SV</a:t>
            </a:r>
            <a:endParaRPr lang="en-US" sz="2000" dirty="0"/>
          </a:p>
        </p:txBody>
      </p:sp>
      <p:sp>
        <p:nvSpPr>
          <p:cNvPr id="7" name="Shape 5"/>
          <p:cNvSpPr/>
          <p:nvPr/>
        </p:nvSpPr>
        <p:spPr>
          <a:xfrm>
            <a:off x="1874520" y="1760220"/>
            <a:ext cx="1097280" cy="0"/>
          </a:xfrm>
          <a:prstGeom prst="line">
            <a:avLst/>
          </a:prstGeom>
          <a:noFill/>
          <a:ln w="38100">
            <a:solidFill>
              <a:srgbClr val="1F4E79"/>
            </a:solidFill>
            <a:prstDash val="solid"/>
            <a:headEnd type="triangle"/>
            <a:tailEnd type="triangle"/>
          </a:ln>
        </p:spPr>
      </p:sp>
      <p:sp>
        <p:nvSpPr>
          <p:cNvPr id="8" name="Text 6"/>
          <p:cNvSpPr txBox="1"/>
          <p:nvPr/>
        </p:nvSpPr>
        <p:spPr>
          <a:xfrm>
            <a:off x="1783080" y="1828800"/>
            <a:ext cx="1280160" cy="365760"/>
          </a:xfrm>
          <a:prstGeom prst="rect">
            <a:avLst/>
          </a:prstGeom>
          <a:noFill/>
          <a:ln/>
        </p:spPr>
        <p:txBody>
          <a:bodyPr wrap="square" lIns="0" tIns="0" rIns="0" bIns="0" rtlCol="0" anchor="t"/>
          <a:lstStyle/>
          <a:p>
            <a:pPr algn="ctr" indent="0" marL="0">
              <a:buNone/>
            </a:pPr>
            <a:r>
              <a:rPr lang="en-US" sz="1600" dirty="0">
                <a:solidFill>
                  <a:srgbClr val="1F4E79"/>
                </a:solidFill>
                <a:latin typeface="Arial" pitchFamily="34" charset="0"/>
                <a:ea typeface="Arial" pitchFamily="34" charset="-122"/>
                <a:cs typeface="Arial" pitchFamily="34" charset="-120"/>
              </a:rPr>
              <a:t>se acoplan</a:t>
            </a:r>
            <a:endParaRPr lang="en-US" sz="1600" dirty="0"/>
          </a:p>
        </p:txBody>
      </p:sp>
      <p:sp>
        <p:nvSpPr>
          <p:cNvPr id="9" name="Caja SH"/>
          <p:cNvSpPr/>
          <p:nvPr/>
        </p:nvSpPr>
        <p:spPr>
          <a:xfrm>
            <a:off x="5760720" y="1371600"/>
            <a:ext cx="1828800" cy="777240"/>
          </a:xfrm>
          <a:prstGeom prst="roundRect">
            <a:avLst>
              <a:gd name="adj" fmla="val 9412"/>
            </a:avLst>
          </a:prstGeom>
          <a:solidFill>
            <a:srgbClr val="C55A11"/>
          </a:solidFill>
          <a:ln w="12700">
            <a:solidFill>
              <a:srgbClr val="C55A11"/>
            </a:solidFill>
            <a:prstDash val="solid"/>
          </a:ln>
        </p:spPr>
      </p:sp>
      <p:sp>
        <p:nvSpPr>
          <p:cNvPr id="10" name="Text 8"/>
          <p:cNvSpPr txBox="1"/>
          <p:nvPr/>
        </p:nvSpPr>
        <p:spPr>
          <a:xfrm>
            <a:off x="5760720" y="1371600"/>
            <a:ext cx="18288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SH</a:t>
            </a:r>
            <a:endParaRPr lang="en-US" sz="2000" dirty="0"/>
          </a:p>
        </p:txBody>
      </p:sp>
      <p:sp>
        <p:nvSpPr>
          <p:cNvPr id="11" name="Text 9"/>
          <p:cNvSpPr txBox="1"/>
          <p:nvPr/>
        </p:nvSpPr>
        <p:spPr>
          <a:xfrm>
            <a:off x="5486400" y="2194560"/>
            <a:ext cx="2377440" cy="365760"/>
          </a:xfrm>
          <a:prstGeom prst="rect">
            <a:avLst/>
          </a:prstGeom>
          <a:noFill/>
          <a:ln/>
        </p:spPr>
        <p:txBody>
          <a:bodyPr wrap="square" lIns="0" tIns="0" rIns="0" bIns="0" rtlCol="0" anchor="t"/>
          <a:lstStyle/>
          <a:p>
            <a:pPr algn="ctr" indent="0" marL="0">
              <a:buNone/>
            </a:pPr>
            <a:r>
              <a:rPr lang="en-US" sz="1600" dirty="0">
                <a:solidFill>
                  <a:srgbClr val="C55A11"/>
                </a:solidFill>
                <a:latin typeface="Arial" pitchFamily="34" charset="0"/>
                <a:ea typeface="Arial" pitchFamily="34" charset="-122"/>
                <a:cs typeface="Arial" pitchFamily="34" charset="-120"/>
              </a:rPr>
              <a:t>solo genera SH</a:t>
            </a:r>
            <a:endParaRPr lang="en-US" sz="1600" dirty="0"/>
          </a:p>
        </p:txBody>
      </p:sp>
      <p:sp>
        <p:nvSpPr>
          <p:cNvPr id="12" name="Shape 10"/>
          <p:cNvSpPr/>
          <p:nvPr/>
        </p:nvSpPr>
        <p:spPr>
          <a:xfrm>
            <a:off x="2423160" y="2286000"/>
            <a:ext cx="0" cy="685800"/>
          </a:xfrm>
          <a:prstGeom prst="line">
            <a:avLst/>
          </a:prstGeom>
          <a:noFill/>
          <a:ln w="38100">
            <a:solidFill>
              <a:srgbClr val="1F4E79"/>
            </a:solidFill>
            <a:prstDash val="solid"/>
            <a:tailEnd type="triangle"/>
          </a:ln>
        </p:spPr>
      </p:sp>
      <p:sp>
        <p:nvSpPr>
          <p:cNvPr id="13" name="Shape 11"/>
          <p:cNvSpPr/>
          <p:nvPr/>
        </p:nvSpPr>
        <p:spPr>
          <a:xfrm>
            <a:off x="6675120" y="2606040"/>
            <a:ext cx="0" cy="365760"/>
          </a:xfrm>
          <a:prstGeom prst="line">
            <a:avLst/>
          </a:prstGeom>
          <a:noFill/>
          <a:ln w="38100">
            <a:solidFill>
              <a:srgbClr val="C55A11"/>
            </a:solidFill>
            <a:prstDash val="solid"/>
            <a:tailEnd type="triangle"/>
          </a:ln>
        </p:spPr>
      </p:sp>
      <p:sp>
        <p:nvSpPr>
          <p:cNvPr id="14" name="Resultado Rayleigh"/>
          <p:cNvSpPr/>
          <p:nvPr/>
        </p:nvSpPr>
        <p:spPr>
          <a:xfrm>
            <a:off x="457200" y="3017520"/>
            <a:ext cx="3931920" cy="822960"/>
          </a:xfrm>
          <a:prstGeom prst="roundRect">
            <a:avLst>
              <a:gd name="adj" fmla="val 8889"/>
            </a:avLst>
          </a:prstGeom>
          <a:solidFill>
            <a:srgbClr val="1F4E79"/>
          </a:solidFill>
          <a:ln w="12700">
            <a:solidFill>
              <a:srgbClr val="1F4E79"/>
            </a:solidFill>
            <a:prstDash val="solid"/>
          </a:ln>
        </p:spPr>
      </p:sp>
      <p:sp>
        <p:nvSpPr>
          <p:cNvPr id="15" name="Text 13"/>
          <p:cNvSpPr txBox="1"/>
          <p:nvPr/>
        </p:nvSpPr>
        <p:spPr>
          <a:xfrm>
            <a:off x="457200" y="3017520"/>
            <a:ext cx="3931920"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Ondas Rayleigh</a:t>
            </a:r>
            <a:endParaRPr lang="en-US" sz="2000" dirty="0"/>
          </a:p>
        </p:txBody>
      </p:sp>
      <p:sp>
        <p:nvSpPr>
          <p:cNvPr id="16" name="Resultado Love"/>
          <p:cNvSpPr/>
          <p:nvPr/>
        </p:nvSpPr>
        <p:spPr>
          <a:xfrm>
            <a:off x="5120640" y="3017520"/>
            <a:ext cx="3291840" cy="822960"/>
          </a:xfrm>
          <a:prstGeom prst="roundRect">
            <a:avLst>
              <a:gd name="adj" fmla="val 8889"/>
            </a:avLst>
          </a:prstGeom>
          <a:solidFill>
            <a:srgbClr val="C55A11"/>
          </a:solidFill>
          <a:ln w="12700">
            <a:solidFill>
              <a:srgbClr val="C55A11"/>
            </a:solidFill>
            <a:prstDash val="solid"/>
          </a:ln>
        </p:spPr>
      </p:sp>
      <p:sp>
        <p:nvSpPr>
          <p:cNvPr id="17" name="Text 15"/>
          <p:cNvSpPr txBox="1"/>
          <p:nvPr/>
        </p:nvSpPr>
        <p:spPr>
          <a:xfrm>
            <a:off x="5120640" y="3017520"/>
            <a:ext cx="3291840"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Ondas Love</a:t>
            </a:r>
            <a:endParaRPr lang="en-US" sz="2000" dirty="0"/>
          </a:p>
        </p:txBody>
      </p:sp>
      <p:sp>
        <p:nvSpPr>
          <p:cNvPr id="18" name="Text 16"/>
          <p:cNvSpPr txBox="1"/>
          <p:nvPr/>
        </p:nvSpPr>
        <p:spPr>
          <a:xfrm>
            <a:off x="457200" y="3931920"/>
            <a:ext cx="3931920" cy="365760"/>
          </a:xfrm>
          <a:prstGeom prst="rect">
            <a:avLst/>
          </a:prstGeom>
          <a:noFill/>
          <a:ln/>
        </p:spPr>
        <p:txBody>
          <a:bodyPr wrap="square" lIns="0" tIns="0" rIns="0" bIns="0" rtlCol="0" anchor="t"/>
          <a:lstStyle/>
          <a:p>
            <a:pPr algn="ctr" indent="0" marL="0">
              <a:buNone/>
            </a:pPr>
            <a:r>
              <a:rPr lang="en-US" sz="1600" dirty="0">
                <a:solidFill>
                  <a:srgbClr val="6B6B6B"/>
                </a:solidFill>
                <a:latin typeface="Arial" pitchFamily="34" charset="0"/>
                <a:ea typeface="Arial" pitchFamily="34" charset="-122"/>
                <a:cs typeface="Arial" pitchFamily="34" charset="-120"/>
              </a:rPr>
              <a:t>Movimiento en el plano vertical</a:t>
            </a:r>
            <a:endParaRPr lang="en-US" sz="1600" dirty="0"/>
          </a:p>
        </p:txBody>
      </p:sp>
      <p:sp>
        <p:nvSpPr>
          <p:cNvPr id="19" name="Text 17"/>
          <p:cNvSpPr txBox="1"/>
          <p:nvPr/>
        </p:nvSpPr>
        <p:spPr>
          <a:xfrm>
            <a:off x="4937760" y="3931920"/>
            <a:ext cx="3657600" cy="365760"/>
          </a:xfrm>
          <a:prstGeom prst="rect">
            <a:avLst/>
          </a:prstGeom>
          <a:noFill/>
          <a:ln/>
        </p:spPr>
        <p:txBody>
          <a:bodyPr wrap="square" lIns="0" tIns="0" rIns="0" bIns="0" rtlCol="0" anchor="t"/>
          <a:lstStyle/>
          <a:p>
            <a:pPr algn="ctr" indent="0" marL="0">
              <a:buNone/>
            </a:pPr>
            <a:r>
              <a:rPr lang="en-US" sz="1600" dirty="0">
                <a:solidFill>
                  <a:srgbClr val="6B6B6B"/>
                </a:solidFill>
                <a:latin typeface="Arial" pitchFamily="34" charset="0"/>
                <a:ea typeface="Arial" pitchFamily="34" charset="-122"/>
                <a:cs typeface="Arial" pitchFamily="34" charset="-120"/>
              </a:rPr>
              <a:t>Solo con capa blanda sobre medio rápido</a:t>
            </a:r>
            <a:endParaRPr lang="en-US" sz="1600" dirty="0"/>
          </a:p>
        </p:txBody>
      </p:sp>
      <p:sp>
        <p:nvSpPr>
          <p:cNvPr id="2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Las ondas Love solo existen si una capa blanda cubre un medio más rápido</a:t>
            </a:r>
            <a:endParaRPr lang="en-US" sz="2400" dirty="0"/>
          </a:p>
        </p:txBody>
      </p:sp>
      <p:pic>
        <p:nvPicPr>
          <p:cNvPr id="3" name="Figura condición Love" descr="Onda SH atrapada en una capa blanda por reflexión total en la interfaz y reflexión en la superficie libre">    </p:cNvPr>
          <p:cNvPicPr>
            <a:picLocks noChangeAspect="1"/>
          </p:cNvPicPr>
          <p:nvPr/>
        </p:nvPicPr>
        <p:blipFill>
          <a:blip r:embed="rId1"/>
          <a:stretch>
            <a:fillRect/>
          </a:stretch>
        </p:blipFill>
        <p:spPr>
          <a:xfrm>
            <a:off x="457200" y="1234440"/>
            <a:ext cx="5120640" cy="3108960"/>
          </a:xfrm>
          <a:prstGeom prst="rect">
            <a:avLst/>
          </a:prstGeom>
        </p:spPr>
      </p:pic>
      <p:sp>
        <p:nvSpPr>
          <p:cNvPr id="4" name="Fondo thc"/>
          <p:cNvSpPr/>
          <p:nvPr/>
        </p:nvSpPr>
        <p:spPr>
          <a:xfrm>
            <a:off x="5760720" y="1280160"/>
            <a:ext cx="2926080" cy="82296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thc"/>
              <p:cNvSpPr txBox="1"/>
              <p:nvPr/>
            </p:nvSpPr>
            <p:spPr>
              <a:xfrm>
                <a:off x="5760720" y="1280160"/>
                <a:ext cx="2926080" cy="82296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θ</m:t>
                          </m:r>
                        </m:e>
                        <m:sub>
                          <m:r>
                            <m:rPr>
                              <m:sty m:val="p"/>
                            </m:rPr>
                            <a:rPr lang="es-ES" sz="2000">
                              <a:solidFill>
                                <a:srgbClr val="1F4E79"/>
                              </a:solidFill>
                              <a:latin typeface="Cambria Math" panose="02040503050406030204" pitchFamily="18" charset="0"/>
                            </a:rPr>
                            <m:t xml:space="preserve">c</m:t>
                          </m:r>
                        </m:sub>
                      </m:sSub>
                      <m:r>
                        <a:rPr lang="es-ES" sz="2000" i="1">
                          <a:solidFill>
                            <a:srgbClr val="1F4E79"/>
                          </a:solidFill>
                          <a:latin typeface="Cambria Math" panose="02040503050406030204" pitchFamily="18" charset="0"/>
                        </a:rPr>
                        <m:t xml:space="preserve">=arcsin</m:t>
                      </m:r>
                      <m:r>
                        <a:rPr lang="es-ES" sz="2000" i="1">
                          <a:solidFill>
                            <a:srgbClr val="1F4E79"/>
                          </a:solidFill>
                          <a:latin typeface="Cambria Math" panose="02040503050406030204" pitchFamily="18" charset="0"/>
                        </a:rPr>
                        <m:t xml:space="preserve">(</m:t>
                      </m:r>
                      <m:f>
                        <m:fPr>
                          <m:ctrlPr>
                            <a:rPr lang="es-ES" sz="2000" i="1">
                              <a:latin typeface="Cambria Math" panose="02040503050406030204" pitchFamily="18" charset="0"/>
                            </a:rPr>
                          </m:ctrlPr>
                        </m:fPr>
                        <m:num>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V</m:t>
                              </m:r>
                            </m:e>
                            <m:sub>
                              <m:r>
                                <a:rPr lang="es-ES" sz="2000" i="1">
                                  <a:solidFill>
                                    <a:srgbClr val="1F4E79"/>
                                  </a:solidFill>
                                  <a:latin typeface="Cambria Math" panose="02040503050406030204" pitchFamily="18" charset="0"/>
                                </a:rPr>
                                <m:t xml:space="preserve">s1</m:t>
                              </m:r>
                            </m:sub>
                          </m:sSub>
                        </m:num>
                        <m:den>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V</m:t>
                              </m:r>
                            </m:e>
                            <m:sub>
                              <m:r>
                                <a:rPr lang="es-ES" sz="2000" i="1">
                                  <a:solidFill>
                                    <a:srgbClr val="1F4E79"/>
                                  </a:solidFill>
                                  <a:latin typeface="Cambria Math" panose="02040503050406030204" pitchFamily="18" charset="0"/>
                                </a:rPr>
                                <m:t xml:space="preserve">s2</m:t>
                              </m:r>
                            </m:sub>
                          </m:sSub>
                        </m:den>
                      </m:f>
                      <m:r>
                        <a:rPr lang="es-ES" sz="2000" i="1">
                          <a:solidFill>
                            <a:srgbClr val="1F4E79"/>
                          </a:solidFill>
                          <a:latin typeface="Cambria Math" panose="02040503050406030204" pitchFamily="18" charset="0"/>
                        </a:rPr>
                        <m:t xml:space="preserve">)</m:t>
                      </m:r>
                    </m:oMath>
                  </m:oMathPara>
                </a14:m>
                <a:endParaRPr lang="es-ES"/>
              </a:p>
            </p:txBody>
          </p:sp>
        </mc:Choice>
        <mc:Fallback>
          <p:sp>
            <p:nvSpPr>
              <p:cNvPr id="5" name="Ecuación E_thc"/>
              <p:cNvSpPr txBox="1"/>
              <p:nvPr/>
            </p:nvSpPr>
            <p:spPr>
              <a:xfrm>
                <a:off x="5760720" y="1280160"/>
                <a:ext cx="2926080" cy="82296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θc = arcsin(Vs1 / Vs2)</a:t>
                </a:r>
                <a:endParaRPr lang="en-US" sz="2400" dirty="0"/>
              </a:p>
            </p:txBody>
          </p:sp>
        </mc:Fallback>
      </mc:AlternateContent>
      <p:sp>
        <p:nvSpPr>
          <p:cNvPr id="6" name="Cuerpo"/>
          <p:cNvSpPr txBox="1"/>
          <p:nvPr/>
        </p:nvSpPr>
        <p:spPr>
          <a:xfrm>
            <a:off x="5760720" y="2286000"/>
            <a:ext cx="2926080"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SH incide más allá del ángulo crítico y se refleja totalmente</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Queda atrapada entre la superficie libre y la interfaz</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Exige Vs1 &lt; Vs2</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ver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Love: movimiento horizontal, perpendicular a la propagación</a:t>
            </a:r>
            <a:endParaRPr lang="en-US" sz="2400" dirty="0"/>
          </a:p>
        </p:txBody>
      </p:sp>
      <p:pic>
        <p:nvPicPr>
          <p:cNvPr id="3" name="Onda Love" descr="Onda Love: movimiento horizontal transversal a la propagación">    </p:cNvPr>
          <p:cNvPicPr>
            <a:picLocks noChangeAspect="1"/>
          </p:cNvPicPr>
          <p:nvPr/>
        </p:nvPicPr>
        <p:blipFill>
          <a:blip r:embed="rId1"/>
          <a:stretch>
            <a:fillRect/>
          </a:stretch>
        </p:blipFill>
        <p:spPr>
          <a:xfrm>
            <a:off x="457200" y="1280160"/>
            <a:ext cx="5120640" cy="2560320"/>
          </a:xfrm>
          <a:prstGeom prst="rect">
            <a:avLst/>
          </a:prstGeom>
        </p:spPr>
      </p:pic>
      <p:sp>
        <p:nvSpPr>
          <p:cNvPr id="4" name="Cuerpo"/>
          <p:cNvSpPr txBox="1"/>
          <p:nvPr/>
        </p:nvSpPr>
        <p:spPr>
          <a:xfrm>
            <a:off x="5852160" y="1325880"/>
            <a:ext cx="2834640" cy="31089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Resulta de la interferencia constructiva de las SH atrapadas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Las partículas se mueven en horizontal, perpendicular al avance</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Sin componente vertical: un geófono vertical no la registra</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Rayleigh: P y SV acopladas en la superficie libre, con órbita elíptica</a:t>
            </a:r>
            <a:endParaRPr lang="en-US" sz="2400" dirty="0"/>
          </a:p>
        </p:txBody>
      </p:sp>
      <p:pic>
        <p:nvPicPr>
          <p:cNvPr id="3" name="Onda Rayleigh" descr="Onda Rayleigh: movimiento elíptico retrógrado en el plano vertical">    </p:cNvPr>
          <p:cNvPicPr>
            <a:picLocks noChangeAspect="1"/>
          </p:cNvPicPr>
          <p:nvPr/>
        </p:nvPicPr>
        <p:blipFill>
          <a:blip r:embed="rId1"/>
          <a:stretch>
            <a:fillRect/>
          </a:stretch>
        </p:blipFill>
        <p:spPr>
          <a:xfrm>
            <a:off x="457200" y="1280160"/>
            <a:ext cx="5120640" cy="2560320"/>
          </a:xfrm>
          <a:prstGeom prst="rect">
            <a:avLst/>
          </a:prstGeom>
        </p:spPr>
      </p:pic>
      <p:sp>
        <p:nvSpPr>
          <p:cNvPr id="4" name="Cuerpo"/>
          <p:cNvSpPr txBox="1"/>
          <p:nvPr/>
        </p:nvSpPr>
        <p:spPr>
          <a:xfrm>
            <a:off x="5852160" y="1325880"/>
            <a:ext cx="2834640" cy="31089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Acopla P y SV en la superficie libre</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Movimiento elíptico retrógrado en el plano vertical</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Existe incluso en un semiespacio homogéneo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Tiene componente vertical: la registra el geófono vertical</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Una fuente en superficie envía dos tercios de su energía en ondas Rayleigh</a:t>
            </a:r>
            <a:endParaRPr lang="en-US" sz="2400" dirty="0"/>
          </a:p>
        </p:txBody>
      </p:sp>
      <p:graphicFrame>
        <p:nvGraphicFramePr>
          <p:cNvPr id="3" name="Chart 0" descr=""/>
          <p:cNvGraphicFramePr/>
          <p:nvPr/>
        </p:nvGraphicFramePr>
        <p:xfrm>
          <a:off x="457200" y="118872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4" name="Cuerpo"/>
          <p:cNvSpPr txBox="1"/>
          <p:nvPr/>
        </p:nvSpPr>
        <p:spPr>
          <a:xfrm>
            <a:off x="5303520" y="1371600"/>
            <a:ext cx="3383280" cy="155448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Rayleigh 67 %, S 26 %, P 7 %</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Las Rayleigh dominan el registro en superficie</a:t>
            </a:r>
            <a:endParaRPr lang="en-US" sz="2000" dirty="0"/>
          </a:p>
        </p:txBody>
      </p:sp>
      <p:sp>
        <p:nvSpPr>
          <p:cNvPr id="5" name="Supuestos"/>
          <p:cNvSpPr txBox="1"/>
          <p:nvPr/>
        </p:nvSpPr>
        <p:spPr>
          <a:xfrm>
            <a:off x="5303520" y="3108960"/>
            <a:ext cx="3383280" cy="914400"/>
          </a:xfrm>
          <a:prstGeom prst="rect">
            <a:avLst/>
          </a:prstGeom>
          <a:noFill/>
          <a:ln/>
        </p:spPr>
        <p:txBody>
          <a:bodyPr wrap="square" lIns="0" tIns="0" rIns="0" bIns="0" rtlCol="0" anchor="t"/>
          <a:lstStyle/>
          <a:p>
            <a:pPr indent="0" marL="0">
              <a:buNone/>
            </a:pPr>
            <a:r>
              <a:rPr lang="en-US" sz="1600" dirty="0">
                <a:solidFill>
                  <a:srgbClr val="6B6B6B"/>
                </a:solidFill>
                <a:latin typeface="Arial" pitchFamily="34" charset="0"/>
                <a:ea typeface="Arial" pitchFamily="34" charset="-122"/>
                <a:cs typeface="Arial" pitchFamily="34" charset="-120"/>
              </a:rPr>
              <a:t>Supone ν = 0,25, fuente vertical circular y semiespacio homogéneo e isótropo</a:t>
            </a:r>
            <a:endParaRPr lang="en-US" sz="1600" dirty="0"/>
          </a:p>
        </p:txBody>
      </p:sp>
      <p:sp>
        <p:nvSpPr>
          <p:cNvPr id="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Miller y Pursey (1955); reproducido en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Además, las Rayleigh se atenúan menos con la distancia que las de cuerpo</a:t>
            </a:r>
            <a:endParaRPr lang="en-US" sz="2400" dirty="0"/>
          </a:p>
        </p:txBody>
      </p:sp>
      <p:graphicFrame>
        <p:nvGraphicFramePr>
          <p:cNvPr id="3" name="Chart 0" descr=""/>
          <p:cNvGraphicFramePr/>
          <p:nvPr/>
        </p:nvGraphicFramePr>
        <p:xfrm>
          <a:off x="457200" y="1188720"/>
          <a:ext cx="5120640" cy="3291840"/>
        </p:xfrm>
        <a:graphic xmlns:a="http://schemas.openxmlformats.org/drawingml/2006/main">
          <a:graphicData uri="http://schemas.openxmlformats.org/drawingml/2006/chart">
            <c:chart xmlns:c="http://schemas.openxmlformats.org/drawingml/2006/chart" r:id="rId1"/>
          </a:graphicData>
        </a:graphic>
      </p:graphicFrame>
      <p:sp>
        <p:nvSpPr>
          <p:cNvPr id="4" name="Cuerpo"/>
          <p:cNvSpPr txBox="1"/>
          <p:nvPr/>
        </p:nvSpPr>
        <p:spPr>
          <a:xfrm>
            <a:off x="5852160" y="1371600"/>
            <a:ext cx="2834640" cy="30175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Rayleigh: amplitud ∝ 1/√r</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Cuerpo: 1/r en el interior, 1/r² a lo largo de la superficie</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Lejos de la fuente, domina la Rayleigh</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Richart, Hall y Woods (1970);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un semiespacio homogéneo, Rayleigh viaja a cR ≈ 0,9·Vs y no depende de la frecuencia</a:t>
            </a:r>
            <a:endParaRPr lang="en-US" sz="2400" dirty="0"/>
          </a:p>
        </p:txBody>
      </p:sp>
      <p:graphicFrame>
        <p:nvGraphicFramePr>
          <p:cNvPr id="3" name="Chart 0" descr=""/>
          <p:cNvGraphicFramePr/>
          <p:nvPr/>
        </p:nvGraphicFramePr>
        <p:xfrm>
          <a:off x="457200" y="1188720"/>
          <a:ext cx="4206240" cy="2743200"/>
        </p:xfrm>
        <a:graphic xmlns:a="http://schemas.openxmlformats.org/drawingml/2006/main">
          <a:graphicData uri="http://schemas.openxmlformats.org/drawingml/2006/chart">
            <c:chart xmlns:c="http://schemas.openxmlformats.org/drawingml/2006/chart" r:id="rId1"/>
          </a:graphicData>
        </a:graphic>
      </p:graphicFrame>
      <p:sp>
        <p:nvSpPr>
          <p:cNvPr id="4" name="Fondo cR"/>
          <p:cNvSpPr/>
          <p:nvPr/>
        </p:nvSpPr>
        <p:spPr>
          <a:xfrm>
            <a:off x="4937760" y="1234440"/>
            <a:ext cx="374904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cr"/>
              <p:cNvSpPr txBox="1"/>
              <p:nvPr/>
            </p:nvSpPr>
            <p:spPr>
              <a:xfrm>
                <a:off x="4937760" y="1234440"/>
                <a:ext cx="374904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c</m:t>
                          </m:r>
                        </m:e>
                        <m:sub>
                          <m:r>
                            <a:rPr lang="es-ES" sz="2800" i="1">
                              <a:solidFill>
                                <a:srgbClr val="1F4E79"/>
                              </a:solidFill>
                              <a:latin typeface="Cambria Math" panose="02040503050406030204" pitchFamily="18" charset="0"/>
                            </a:rPr>
                            <m:t xml:space="preserve">R</m:t>
                          </m:r>
                        </m:sub>
                      </m:sSub>
                      <m:r>
                        <a:rPr lang="es-ES" sz="2800" i="1">
                          <a:solidFill>
                            <a:srgbClr val="1F4E79"/>
                          </a:solidFill>
                          <a:latin typeface="Cambria Math" panose="02040503050406030204" pitchFamily="18" charset="0"/>
                        </a:rPr>
                        <m:t xml:space="preserve">≈0,9·</m:t>
                      </m:r>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oMath>
                  </m:oMathPara>
                </a14:m>
                <a:endParaRPr lang="es-ES"/>
              </a:p>
            </p:txBody>
          </p:sp>
        </mc:Choice>
        <mc:Fallback>
          <p:sp>
            <p:nvSpPr>
              <p:cNvPr id="5" name="Ecuación E_cr"/>
              <p:cNvSpPr txBox="1"/>
              <p:nvPr/>
            </p:nvSpPr>
            <p:spPr>
              <a:xfrm>
                <a:off x="4937760" y="1234440"/>
                <a:ext cx="374904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cR ≈ 0,9 · Vs</a:t>
                </a:r>
                <a:endParaRPr lang="en-US" sz="2400" dirty="0"/>
              </a:p>
            </p:txBody>
          </p:sp>
        </mc:Fallback>
      </mc:AlternateContent>
      <p:sp>
        <p:nvSpPr>
          <p:cNvPr id="6" name="Fondo cR nu"/>
          <p:cNvSpPr/>
          <p:nvPr/>
        </p:nvSpPr>
        <p:spPr>
          <a:xfrm>
            <a:off x="4937760" y="2103120"/>
            <a:ext cx="374904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7" name="Ecuación E_crnu"/>
              <p:cNvSpPr txBox="1"/>
              <p:nvPr/>
            </p:nvSpPr>
            <p:spPr>
              <a:xfrm>
                <a:off x="4937760" y="2103120"/>
                <a:ext cx="374904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a:rPr lang="es-ES" sz="2400" i="1">
                              <a:solidFill>
                                <a:srgbClr val="1F4E79"/>
                              </a:solidFill>
                              <a:latin typeface="Cambria Math" panose="02040503050406030204" pitchFamily="18" charset="0"/>
                            </a:rPr>
                            <m:t xml:space="preserve">R</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0,862+1,14ν</m:t>
                          </m:r>
                        </m:num>
                        <m:den>
                          <m:r>
                            <a:rPr lang="es-ES" sz="2400" i="1">
                              <a:solidFill>
                                <a:srgbClr val="1F4E79"/>
                              </a:solidFill>
                              <a:latin typeface="Cambria Math" panose="02040503050406030204" pitchFamily="18" charset="0"/>
                            </a:rPr>
                            <m:t xml:space="preserve">1+ν</m:t>
                          </m:r>
                        </m:den>
                      </m:f>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oMath>
                  </m:oMathPara>
                </a14:m>
                <a:endParaRPr lang="es-ES"/>
              </a:p>
            </p:txBody>
          </p:sp>
        </mc:Choice>
        <mc:Fallback>
          <p:sp>
            <p:nvSpPr>
              <p:cNvPr id="7" name="Ecuación E_crnu"/>
              <p:cNvSpPr txBox="1"/>
              <p:nvPr/>
            </p:nvSpPr>
            <p:spPr>
              <a:xfrm>
                <a:off x="4937760" y="2103120"/>
                <a:ext cx="374904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cR ≈ (0,862 + 1,14ν)/(1 + ν) · Vs</a:t>
                </a:r>
                <a:endParaRPr lang="en-US" sz="2400" dirty="0"/>
              </a:p>
            </p:txBody>
          </p:sp>
        </mc:Fallback>
      </mc:AlternateContent>
      <p:sp>
        <p:nvSpPr>
          <p:cNvPr id="8" name="Cuerpo"/>
          <p:cNvSpPr txBox="1"/>
          <p:nvPr/>
        </p:nvSpPr>
        <p:spPr>
          <a:xfrm>
            <a:off x="4937760" y="3154680"/>
            <a:ext cx="3749040" cy="1371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cR / Vs va de 0,86 a 0,95 según ν</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No hay dispersión: todas las frecuencias van a la misma cR</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Vs ≈ cR / 0,9</a:t>
            </a:r>
            <a:endParaRPr lang="en-US" sz="16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Aproximación de Viktorov (1967), en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un terreno estratificado, la rigidez y la velocidad de corte cambian con la profundidad</a:t>
            </a:r>
            <a:endParaRPr lang="en-US" sz="2400" dirty="0"/>
          </a:p>
        </p:txBody>
      </p:sp>
      <p:pic>
        <p:nvPicPr>
          <p:cNvPr id="3" name="Perfil Vs" descr="Perfil de Vs en escalones: 150, 250 y 450 m/s con la profundidad">    </p:cNvPr>
          <p:cNvPicPr>
            <a:picLocks noChangeAspect="1"/>
          </p:cNvPicPr>
          <p:nvPr/>
        </p:nvPicPr>
        <p:blipFill>
          <a:blip r:embed="rId1"/>
          <a:stretch>
            <a:fillRect/>
          </a:stretch>
        </p:blipFill>
        <p:spPr>
          <a:xfrm>
            <a:off x="457200" y="1280160"/>
            <a:ext cx="4023360" cy="3108960"/>
          </a:xfrm>
          <a:prstGeom prst="rect">
            <a:avLst/>
          </a:prstGeom>
        </p:spPr>
      </p:pic>
      <p:sp>
        <p:nvSpPr>
          <p:cNvPr id="4" name="Cuerpo"/>
          <p:cNvSpPr txBox="1"/>
          <p:nvPr/>
        </p:nvSpPr>
        <p:spPr>
          <a:xfrm>
            <a:off x="4754880" y="1234440"/>
            <a:ext cx="393192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La rigidez cambia con la profundidad, y con ella la velocidad Vs</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Es común que Vs aumente (terreno más rocoso), pero no siempre ocurre</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La densidad ρ suele variar poco en comparación con Vs</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Si conocemos Vs(z), estimamos el módulo de corte máximo:</a:t>
            </a:r>
            <a:endParaRPr lang="en-US" sz="1600" dirty="0"/>
          </a:p>
        </p:txBody>
      </p:sp>
      <p:sp>
        <p:nvSpPr>
          <p:cNvPr id="5" name="Fondo Gmax"/>
          <p:cNvSpPr/>
          <p:nvPr/>
        </p:nvSpPr>
        <p:spPr>
          <a:xfrm>
            <a:off x="4754880" y="3840480"/>
            <a:ext cx="3931920" cy="6858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gmaxz"/>
              <p:cNvSpPr txBox="1"/>
              <p:nvPr/>
            </p:nvSpPr>
            <p:spPr>
              <a:xfrm>
                <a:off x="4754880" y="3840480"/>
                <a:ext cx="3931920" cy="6858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m:rPr>
                              <m:sty m:val="p"/>
                            </m:rPr>
                            <a:rPr lang="es-ES" sz="2400">
                              <a:solidFill>
                                <a:srgbClr val="1F4E79"/>
                              </a:solidFill>
                              <a:latin typeface="Cambria Math" panose="02040503050406030204" pitchFamily="18" charset="0"/>
                            </a:rPr>
                            <m:t xml:space="preserve">max</m:t>
                          </m:r>
                        </m:sub>
                      </m:sSub>
                      <m:r>
                        <a:rPr lang="es-ES" sz="2400" i="1">
                          <a:solidFill>
                            <a:srgbClr val="1F4E79"/>
                          </a:solidFill>
                          <a:latin typeface="Cambria Math" panose="02040503050406030204" pitchFamily="18" charset="0"/>
                        </a:rPr>
                        <m:t xml:space="preserve">(z)=ρ(z)·</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(z)</m:t>
                      </m:r>
                    </m:oMath>
                  </m:oMathPara>
                </a14:m>
                <a:endParaRPr lang="es-ES"/>
              </a:p>
            </p:txBody>
          </p:sp>
        </mc:Choice>
        <mc:Fallback>
          <p:sp>
            <p:nvSpPr>
              <p:cNvPr id="6" name="Ecuación E_gmaxz"/>
              <p:cNvSpPr txBox="1"/>
              <p:nvPr/>
            </p:nvSpPr>
            <p:spPr>
              <a:xfrm>
                <a:off x="4754880" y="3840480"/>
                <a:ext cx="3931920" cy="6858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Gmax(z) = ρ(z) · Vs²(z)</a:t>
                </a:r>
                <a:endParaRPr lang="en-US" sz="2400" dirty="0"/>
              </a:p>
            </p:txBody>
          </p:sp>
        </mc:Fallback>
      </mc:AlternateContent>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Modelo de ejemplo propio (ilustrativo): 3 capas, ν = 0,3. Variación de ρ: Kramer (1996), por confirmar página.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Cada longitud de onda «ve» una profundidad distinta del terreno</a:t>
            </a:r>
            <a:endParaRPr lang="en-US" sz="2400" dirty="0"/>
          </a:p>
        </p:txBody>
      </p:sp>
      <p:pic>
        <p:nvPicPr>
          <p:cNvPr id="3" name="Desplazamiento vs profundidad" descr="Desplazamiento vertical de la onda Rayleigh en función de la profundidad: a 15 Hz queda en la capa superior; a 9,5 Hz llega hasta unos 25 m">    </p:cNvPr>
          <p:cNvPicPr>
            <a:picLocks noChangeAspect="1"/>
          </p:cNvPicPr>
          <p:nvPr/>
        </p:nvPicPr>
        <p:blipFill>
          <a:blip r:embed="rId1"/>
          <a:stretch>
            <a:fillRect/>
          </a:stretch>
        </p:blipFill>
        <p:spPr>
          <a:xfrm>
            <a:off x="365760" y="1234440"/>
            <a:ext cx="5120640" cy="3319272"/>
          </a:xfrm>
          <a:prstGeom prst="rect">
            <a:avLst/>
          </a:prstGeom>
        </p:spPr>
      </p:pic>
      <p:sp>
        <p:nvSpPr>
          <p:cNvPr id="4" name="Fondo lambda"/>
          <p:cNvSpPr/>
          <p:nvPr/>
        </p:nvSpPr>
        <p:spPr>
          <a:xfrm>
            <a:off x="5669280" y="1325880"/>
            <a:ext cx="30175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lam"/>
              <p:cNvSpPr txBox="1"/>
              <p:nvPr/>
            </p:nvSpPr>
            <p:spPr>
              <a:xfrm>
                <a:off x="5669280" y="1325880"/>
                <a:ext cx="30175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λ=</m:t>
                      </m:r>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c</m:t>
                          </m:r>
                        </m:num>
                        <m:den>
                          <m:r>
                            <a:rPr lang="es-ES" sz="2800" i="1">
                              <a:solidFill>
                                <a:srgbClr val="1F4E79"/>
                              </a:solidFill>
                              <a:latin typeface="Cambria Math" panose="02040503050406030204" pitchFamily="18" charset="0"/>
                            </a:rPr>
                            <m:t xml:space="preserve">f</m:t>
                          </m:r>
                        </m:den>
                      </m:f>
                    </m:oMath>
                  </m:oMathPara>
                </a14:m>
                <a:endParaRPr lang="es-ES"/>
              </a:p>
            </p:txBody>
          </p:sp>
        </mc:Choice>
        <mc:Fallback>
          <p:sp>
            <p:nvSpPr>
              <p:cNvPr id="5" name="Ecuación E_lam"/>
              <p:cNvSpPr txBox="1"/>
              <p:nvPr/>
            </p:nvSpPr>
            <p:spPr>
              <a:xfrm>
                <a:off x="5669280" y="1325880"/>
                <a:ext cx="30175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λ = c / f</a:t>
                </a:r>
                <a:endParaRPr lang="en-US" sz="2400" dirty="0"/>
              </a:p>
            </p:txBody>
          </p:sp>
        </mc:Fallback>
      </mc:AlternateContent>
      <p:sp>
        <p:nvSpPr>
          <p:cNvPr id="6" name="Cuerpo"/>
          <p:cNvSpPr txBox="1"/>
          <p:nvPr/>
        </p:nvSpPr>
        <p:spPr>
          <a:xfrm>
            <a:off x="5669280" y="2286000"/>
            <a:ext cx="3017520"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Alta frecuencia: λ corta, el movimiento queda en las capas superiores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Baja frecuencia: λ larga, el movimiento llega a capas más profundas</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Cálculo propio con disba (Luu, 2021), modelo de la slide 39. Idea: Foti et al. (2014), fig. 2.13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Como cada frecuencia ve profundidades distintas, la velocidad de fase depende de la frecuencia: dispersión</a:t>
            </a:r>
            <a:endParaRPr lang="en-US" sz="2400" dirty="0"/>
          </a:p>
        </p:txBody>
      </p:sp>
      <p:graphicFrame>
        <p:nvGraphicFramePr>
          <p:cNvPr id="3" name="Chart 0" descr=""/>
          <p:cNvGraphicFramePr/>
          <p:nvPr/>
        </p:nvGraphicFramePr>
        <p:xfrm>
          <a:off x="457200" y="1280160"/>
          <a:ext cx="5212080" cy="3200400"/>
        </p:xfrm>
        <a:graphic xmlns:a="http://schemas.openxmlformats.org/drawingml/2006/main">
          <a:graphicData uri="http://schemas.openxmlformats.org/drawingml/2006/chart">
            <c:chart xmlns:c="http://schemas.openxmlformats.org/drawingml/2006/chart" r:id="rId1"/>
          </a:graphicData>
        </a:graphic>
      </p:graphicFrame>
      <p:sp>
        <p:nvSpPr>
          <p:cNvPr id="4" name="Cuerpo"/>
          <p:cNvSpPr txBox="1"/>
          <p:nvPr/>
        </p:nvSpPr>
        <p:spPr>
          <a:xfrm>
            <a:off x="5852160" y="1371600"/>
            <a:ext cx="283464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Altas frecuencias: su velocidad depende sobre todo de los estratos superiores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Bajas frecuencias: están influidas por más terreno, incluidas las capas profundas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Este fenómeno se llama dispersión</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Cálculo propio con disba (Luu, 2021), modelo de la slide 39.</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dispersión permite reconstruir un modelo estratificado compatible con las mediciones de campo</a:t>
            </a:r>
            <a:endParaRPr lang="en-US" sz="2400" dirty="0"/>
          </a:p>
        </p:txBody>
      </p:sp>
      <p:sp>
        <p:nvSpPr>
          <p:cNvPr id="3" name="Registros"/>
          <p:cNvSpPr/>
          <p:nvPr/>
        </p:nvSpPr>
        <p:spPr>
          <a:xfrm>
            <a:off x="457200" y="1371600"/>
            <a:ext cx="1828800" cy="868680"/>
          </a:xfrm>
          <a:prstGeom prst="roundRect">
            <a:avLst>
              <a:gd name="adj" fmla="val 8421"/>
            </a:avLst>
          </a:prstGeom>
          <a:solidFill>
            <a:srgbClr val="2E75B6"/>
          </a:solidFill>
          <a:ln w="12700">
            <a:solidFill>
              <a:srgbClr val="2E75B6"/>
            </a:solidFill>
            <a:prstDash val="solid"/>
          </a:ln>
        </p:spPr>
      </p:sp>
      <p:sp>
        <p:nvSpPr>
          <p:cNvPr id="4" name="Text 2"/>
          <p:cNvSpPr txBox="1"/>
          <p:nvPr/>
        </p:nvSpPr>
        <p:spPr>
          <a:xfrm>
            <a:off x="457200" y="1371600"/>
            <a:ext cx="182880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Registros de campo</a:t>
            </a:r>
            <a:endParaRPr lang="en-US" sz="1600" dirty="0"/>
          </a:p>
        </p:txBody>
      </p:sp>
      <p:sp>
        <p:nvSpPr>
          <p:cNvPr id="5" name="Curva experimental"/>
          <p:cNvSpPr/>
          <p:nvPr/>
        </p:nvSpPr>
        <p:spPr>
          <a:xfrm>
            <a:off x="2743200" y="1371600"/>
            <a:ext cx="2194560" cy="868680"/>
          </a:xfrm>
          <a:prstGeom prst="roundRect">
            <a:avLst>
              <a:gd name="adj" fmla="val 8421"/>
            </a:avLst>
          </a:prstGeom>
          <a:solidFill>
            <a:srgbClr val="2E75B6"/>
          </a:solidFill>
          <a:ln w="12700">
            <a:solidFill>
              <a:srgbClr val="2E75B6"/>
            </a:solidFill>
            <a:prstDash val="solid"/>
          </a:ln>
        </p:spPr>
      </p:sp>
      <p:sp>
        <p:nvSpPr>
          <p:cNvPr id="6" name="Text 4"/>
          <p:cNvSpPr txBox="1"/>
          <p:nvPr/>
        </p:nvSpPr>
        <p:spPr>
          <a:xfrm>
            <a:off x="2743200" y="1371600"/>
            <a:ext cx="219456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Curva de dispersión experimental</a:t>
            </a:r>
            <a:endParaRPr lang="en-US" sz="1600" dirty="0"/>
          </a:p>
        </p:txBody>
      </p:sp>
      <p:sp>
        <p:nvSpPr>
          <p:cNvPr id="7" name="Comparar"/>
          <p:cNvSpPr/>
          <p:nvPr/>
        </p:nvSpPr>
        <p:spPr>
          <a:xfrm>
            <a:off x="5394960" y="1371600"/>
            <a:ext cx="1554480" cy="868680"/>
          </a:xfrm>
          <a:prstGeom prst="roundRect">
            <a:avLst>
              <a:gd name="adj" fmla="val 8421"/>
            </a:avLst>
          </a:prstGeom>
          <a:solidFill>
            <a:srgbClr val="1F4E79"/>
          </a:solidFill>
          <a:ln w="12700">
            <a:solidFill>
              <a:srgbClr val="1F4E79"/>
            </a:solidFill>
            <a:prstDash val="solid"/>
          </a:ln>
        </p:spPr>
      </p:sp>
      <p:sp>
        <p:nvSpPr>
          <p:cNvPr id="8" name="Text 6"/>
          <p:cNvSpPr txBox="1"/>
          <p:nvPr/>
        </p:nvSpPr>
        <p:spPr>
          <a:xfrm>
            <a:off x="5394960" y="1371600"/>
            <a:ext cx="155448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Comparar</a:t>
            </a:r>
            <a:endParaRPr lang="en-US" sz="1600" dirty="0"/>
          </a:p>
        </p:txBody>
      </p:sp>
      <p:sp>
        <p:nvSpPr>
          <p:cNvPr id="9" name="Perfil final"/>
          <p:cNvSpPr/>
          <p:nvPr/>
        </p:nvSpPr>
        <p:spPr>
          <a:xfrm>
            <a:off x="7315200" y="1371600"/>
            <a:ext cx="1371600" cy="868680"/>
          </a:xfrm>
          <a:prstGeom prst="roundRect">
            <a:avLst>
              <a:gd name="adj" fmla="val 8421"/>
            </a:avLst>
          </a:prstGeom>
          <a:solidFill>
            <a:srgbClr val="C55A11"/>
          </a:solidFill>
          <a:ln w="12700">
            <a:solidFill>
              <a:srgbClr val="C55A11"/>
            </a:solidFill>
            <a:prstDash val="solid"/>
          </a:ln>
        </p:spPr>
      </p:sp>
      <p:sp>
        <p:nvSpPr>
          <p:cNvPr id="10" name="Text 8"/>
          <p:cNvSpPr txBox="1"/>
          <p:nvPr/>
        </p:nvSpPr>
        <p:spPr>
          <a:xfrm>
            <a:off x="7315200" y="1371600"/>
            <a:ext cx="137160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Perfil Vs(z)</a:t>
            </a:r>
            <a:endParaRPr lang="en-US" sz="1600" dirty="0"/>
          </a:p>
        </p:txBody>
      </p:sp>
      <p:sp>
        <p:nvSpPr>
          <p:cNvPr id="11" name="Shape 9"/>
          <p:cNvSpPr/>
          <p:nvPr/>
        </p:nvSpPr>
        <p:spPr>
          <a:xfrm>
            <a:off x="2286000" y="1805940"/>
            <a:ext cx="457200" cy="0"/>
          </a:xfrm>
          <a:prstGeom prst="line">
            <a:avLst/>
          </a:prstGeom>
          <a:noFill/>
          <a:ln w="31750">
            <a:solidFill>
              <a:srgbClr val="1F4E79"/>
            </a:solidFill>
            <a:prstDash val="solid"/>
            <a:tailEnd type="triangle"/>
          </a:ln>
        </p:spPr>
      </p:sp>
      <p:sp>
        <p:nvSpPr>
          <p:cNvPr id="12" name="Shape 10"/>
          <p:cNvSpPr/>
          <p:nvPr/>
        </p:nvSpPr>
        <p:spPr>
          <a:xfrm>
            <a:off x="4937760" y="1805940"/>
            <a:ext cx="457200" cy="0"/>
          </a:xfrm>
          <a:prstGeom prst="line">
            <a:avLst/>
          </a:prstGeom>
          <a:noFill/>
          <a:ln w="31750">
            <a:solidFill>
              <a:srgbClr val="1F4E79"/>
            </a:solidFill>
            <a:prstDash val="solid"/>
            <a:tailEnd type="triangle"/>
          </a:ln>
        </p:spPr>
      </p:sp>
      <p:sp>
        <p:nvSpPr>
          <p:cNvPr id="13" name="Shape 11"/>
          <p:cNvSpPr/>
          <p:nvPr/>
        </p:nvSpPr>
        <p:spPr>
          <a:xfrm>
            <a:off x="6949440" y="1805940"/>
            <a:ext cx="365760" cy="0"/>
          </a:xfrm>
          <a:prstGeom prst="line">
            <a:avLst/>
          </a:prstGeom>
          <a:noFill/>
          <a:ln w="31750">
            <a:solidFill>
              <a:srgbClr val="C55A11"/>
            </a:solidFill>
            <a:prstDash val="solid"/>
            <a:tailEnd type="triangle"/>
          </a:ln>
        </p:spPr>
      </p:sp>
      <p:sp>
        <p:nvSpPr>
          <p:cNvPr id="14" name="Text 12"/>
          <p:cNvSpPr txBox="1"/>
          <p:nvPr/>
        </p:nvSpPr>
        <p:spPr>
          <a:xfrm>
            <a:off x="6812280" y="1051560"/>
            <a:ext cx="1097280" cy="274320"/>
          </a:xfrm>
          <a:prstGeom prst="rect">
            <a:avLst/>
          </a:prstGeom>
          <a:noFill/>
          <a:ln/>
        </p:spPr>
        <p:txBody>
          <a:bodyPr wrap="square" lIns="0" tIns="0" rIns="0" bIns="0" rtlCol="0" anchor="t"/>
          <a:lstStyle/>
          <a:p>
            <a:pPr algn="ctr" indent="0" marL="0">
              <a:buNone/>
            </a:pPr>
            <a:r>
              <a:rPr lang="en-US" sz="1400" dirty="0">
                <a:solidFill>
                  <a:srgbClr val="C55A11"/>
                </a:solidFill>
                <a:latin typeface="Arial" pitchFamily="34" charset="0"/>
                <a:ea typeface="Arial" pitchFamily="34" charset="-122"/>
                <a:cs typeface="Arial" pitchFamily="34" charset="-120"/>
              </a:rPr>
              <a:t>coinciden</a:t>
            </a:r>
            <a:endParaRPr lang="en-US" sz="1400" dirty="0"/>
          </a:p>
        </p:txBody>
      </p:sp>
      <p:sp>
        <p:nvSpPr>
          <p:cNvPr id="15" name="Modelo"/>
          <p:cNvSpPr/>
          <p:nvPr/>
        </p:nvSpPr>
        <p:spPr>
          <a:xfrm>
            <a:off x="457200" y="2971800"/>
            <a:ext cx="1828800" cy="868680"/>
          </a:xfrm>
          <a:prstGeom prst="roundRect">
            <a:avLst>
              <a:gd name="adj" fmla="val 8421"/>
            </a:avLst>
          </a:prstGeom>
          <a:solidFill>
            <a:srgbClr val="6B6B6B"/>
          </a:solidFill>
          <a:ln w="12700">
            <a:solidFill>
              <a:srgbClr val="6B6B6B"/>
            </a:solidFill>
            <a:prstDash val="solid"/>
          </a:ln>
        </p:spPr>
      </p:sp>
      <p:sp>
        <p:nvSpPr>
          <p:cNvPr id="16" name="Text 14"/>
          <p:cNvSpPr txBox="1"/>
          <p:nvPr/>
        </p:nvSpPr>
        <p:spPr>
          <a:xfrm>
            <a:off x="457200" y="2971800"/>
            <a:ext cx="182880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Modelo Vs(z) propuesto</a:t>
            </a:r>
            <a:endParaRPr lang="en-US" sz="1600" dirty="0"/>
          </a:p>
        </p:txBody>
      </p:sp>
      <p:sp>
        <p:nvSpPr>
          <p:cNvPr id="17" name="Curva teórica"/>
          <p:cNvSpPr/>
          <p:nvPr/>
        </p:nvSpPr>
        <p:spPr>
          <a:xfrm>
            <a:off x="2743200" y="2971800"/>
            <a:ext cx="2194560" cy="868680"/>
          </a:xfrm>
          <a:prstGeom prst="roundRect">
            <a:avLst>
              <a:gd name="adj" fmla="val 8421"/>
            </a:avLst>
          </a:prstGeom>
          <a:solidFill>
            <a:srgbClr val="6B6B6B"/>
          </a:solidFill>
          <a:ln w="12700">
            <a:solidFill>
              <a:srgbClr val="6B6B6B"/>
            </a:solidFill>
            <a:prstDash val="solid"/>
          </a:ln>
        </p:spPr>
      </p:sp>
      <p:sp>
        <p:nvSpPr>
          <p:cNvPr id="18" name="Text 16"/>
          <p:cNvSpPr txBox="1"/>
          <p:nvPr/>
        </p:nvSpPr>
        <p:spPr>
          <a:xfrm>
            <a:off x="2743200" y="2971800"/>
            <a:ext cx="219456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Curva teórica del modelo</a:t>
            </a:r>
            <a:endParaRPr lang="en-US" sz="1600" dirty="0"/>
          </a:p>
        </p:txBody>
      </p:sp>
      <p:sp>
        <p:nvSpPr>
          <p:cNvPr id="19" name="Shape 17"/>
          <p:cNvSpPr/>
          <p:nvPr/>
        </p:nvSpPr>
        <p:spPr>
          <a:xfrm>
            <a:off x="2286000" y="3406140"/>
            <a:ext cx="457200" cy="0"/>
          </a:xfrm>
          <a:prstGeom prst="line">
            <a:avLst/>
          </a:prstGeom>
          <a:noFill/>
          <a:ln w="31750">
            <a:solidFill>
              <a:srgbClr val="6B6B6B"/>
            </a:solidFill>
            <a:prstDash val="solid"/>
            <a:tailEnd type="triangle"/>
          </a:ln>
        </p:spPr>
      </p:sp>
      <p:sp>
        <p:nvSpPr>
          <p:cNvPr id="20" name="Shape 18"/>
          <p:cNvSpPr/>
          <p:nvPr/>
        </p:nvSpPr>
        <p:spPr>
          <a:xfrm>
            <a:off x="4937760" y="3406140"/>
            <a:ext cx="640080" cy="0"/>
          </a:xfrm>
          <a:prstGeom prst="line">
            <a:avLst/>
          </a:prstGeom>
          <a:noFill/>
          <a:ln w="31750">
            <a:solidFill>
              <a:srgbClr val="6B6B6B"/>
            </a:solidFill>
            <a:prstDash val="solid"/>
          </a:ln>
        </p:spPr>
      </p:sp>
      <p:sp>
        <p:nvSpPr>
          <p:cNvPr id="21" name="Shape 19"/>
          <p:cNvSpPr/>
          <p:nvPr/>
        </p:nvSpPr>
        <p:spPr>
          <a:xfrm flipV="1">
            <a:off x="5577840" y="2240280"/>
            <a:ext cx="0" cy="1165860"/>
          </a:xfrm>
          <a:prstGeom prst="line">
            <a:avLst/>
          </a:prstGeom>
          <a:noFill/>
          <a:ln w="31750">
            <a:solidFill>
              <a:srgbClr val="6B6B6B"/>
            </a:solidFill>
            <a:prstDash val="solid"/>
            <a:tailEnd type="triangle"/>
          </a:ln>
        </p:spPr>
      </p:sp>
      <p:sp>
        <p:nvSpPr>
          <p:cNvPr id="22" name="Text 20"/>
          <p:cNvSpPr txBox="1"/>
          <p:nvPr/>
        </p:nvSpPr>
        <p:spPr>
          <a:xfrm>
            <a:off x="1371600" y="4297680"/>
            <a:ext cx="5303520" cy="274320"/>
          </a:xfrm>
          <a:prstGeom prst="rect">
            <a:avLst/>
          </a:prstGeom>
          <a:noFill/>
          <a:ln/>
        </p:spPr>
        <p:txBody>
          <a:bodyPr wrap="square" lIns="0" tIns="0" rIns="0" bIns="0" rtlCol="0" anchor="t"/>
          <a:lstStyle/>
          <a:p>
            <a:pPr algn="ctr" indent="0" marL="0">
              <a:buNone/>
            </a:pPr>
            <a:r>
              <a:rPr lang="en-US" sz="1600" b="1" dirty="0">
                <a:solidFill>
                  <a:srgbClr val="C55A11"/>
                </a:solidFill>
                <a:latin typeface="Arial" pitchFamily="34" charset="0"/>
                <a:ea typeface="Arial" pitchFamily="34" charset="-122"/>
                <a:cs typeface="Arial" pitchFamily="34" charset="-120"/>
              </a:rPr>
              <a:t>No coinciden: se modifica Vs(z)</a:t>
            </a:r>
            <a:endParaRPr lang="en-US" sz="1600" dirty="0"/>
          </a:p>
        </p:txBody>
      </p:sp>
      <p:sp>
        <p:nvSpPr>
          <p:cNvPr id="23" name="Shape 21"/>
          <p:cNvSpPr/>
          <p:nvPr/>
        </p:nvSpPr>
        <p:spPr>
          <a:xfrm>
            <a:off x="6675120" y="2240280"/>
            <a:ext cx="0" cy="2011680"/>
          </a:xfrm>
          <a:prstGeom prst="line">
            <a:avLst/>
          </a:prstGeom>
          <a:noFill/>
          <a:ln w="31750">
            <a:solidFill>
              <a:srgbClr val="C55A11"/>
            </a:solidFill>
            <a:prstDash val="solid"/>
          </a:ln>
        </p:spPr>
      </p:sp>
      <p:sp>
        <p:nvSpPr>
          <p:cNvPr id="24" name="Shape 22"/>
          <p:cNvSpPr/>
          <p:nvPr/>
        </p:nvSpPr>
        <p:spPr>
          <a:xfrm>
            <a:off x="1371600" y="4251960"/>
            <a:ext cx="5303520" cy="0"/>
          </a:xfrm>
          <a:prstGeom prst="line">
            <a:avLst/>
          </a:prstGeom>
          <a:noFill/>
          <a:ln w="31750">
            <a:solidFill>
              <a:srgbClr val="C55A11"/>
            </a:solidFill>
            <a:prstDash val="solid"/>
          </a:ln>
        </p:spPr>
      </p:sp>
      <p:sp>
        <p:nvSpPr>
          <p:cNvPr id="25" name="Shape 23"/>
          <p:cNvSpPr/>
          <p:nvPr/>
        </p:nvSpPr>
        <p:spPr>
          <a:xfrm>
            <a:off x="1371600" y="3840480"/>
            <a:ext cx="0" cy="411480"/>
          </a:xfrm>
          <a:prstGeom prst="line">
            <a:avLst/>
          </a:prstGeom>
          <a:noFill/>
          <a:ln w="31750">
            <a:solidFill>
              <a:srgbClr val="C55A11"/>
            </a:solidFill>
            <a:prstDash val="solid"/>
            <a:headEnd type="triangle"/>
          </a:ln>
        </p:spPr>
      </p:sp>
      <p:sp>
        <p:nvSpPr>
          <p:cNvPr id="2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sobre el procedimiento general de inversión (Foti et al., 2014,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inversión tiene límites: depende de supuestos y se apoya en otras mediciones</a:t>
            </a:r>
            <a:endParaRPr lang="en-US" sz="2400" dirty="0"/>
          </a:p>
        </p:txBody>
      </p:sp>
      <p:sp>
        <p:nvSpPr>
          <p:cNvPr id="3" name="Cabecera Capas profundas"/>
          <p:cNvSpPr/>
          <p:nvPr/>
        </p:nvSpPr>
        <p:spPr>
          <a:xfrm>
            <a:off x="457200" y="1325880"/>
            <a:ext cx="4023360" cy="457200"/>
          </a:xfrm>
          <a:prstGeom prst="rect">
            <a:avLst/>
          </a:prstGeom>
          <a:solidFill>
            <a:srgbClr val="1F4E79"/>
          </a:solidFill>
          <a:ln w="12700">
            <a:solidFill>
              <a:srgbClr val="1F4E79"/>
            </a:solidFill>
            <a:prstDash val="solid"/>
          </a:ln>
        </p:spPr>
      </p:sp>
      <p:sp>
        <p:nvSpPr>
          <p:cNvPr id="4" name="Text 2"/>
          <p:cNvSpPr txBox="1"/>
          <p:nvPr/>
        </p:nvSpPr>
        <p:spPr>
          <a:xfrm>
            <a:off x="457200" y="132588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Capas profundas</a:t>
            </a:r>
            <a:endParaRPr lang="en-US" sz="2000" dirty="0"/>
          </a:p>
        </p:txBody>
      </p:sp>
      <p:sp>
        <p:nvSpPr>
          <p:cNvPr id="5" name="Tarjeta Capas profundas"/>
          <p:cNvSpPr/>
          <p:nvPr/>
        </p:nvSpPr>
        <p:spPr>
          <a:xfrm>
            <a:off x="457200" y="1783080"/>
            <a:ext cx="4023360" cy="914400"/>
          </a:xfrm>
          <a:prstGeom prst="rect">
            <a:avLst/>
          </a:prstGeom>
          <a:solidFill>
            <a:srgbClr val="FFFFFF"/>
          </a:solidFill>
          <a:ln w="19050">
            <a:solidFill>
              <a:srgbClr val="1F4E79"/>
            </a:solidFill>
            <a:prstDash val="solid"/>
          </a:ln>
        </p:spPr>
      </p:sp>
      <p:sp>
        <p:nvSpPr>
          <p:cNvPr id="6" name="Text 4"/>
          <p:cNvSpPr txBox="1"/>
          <p:nvPr/>
        </p:nvSpPr>
        <p:spPr>
          <a:xfrm>
            <a:off x="594360" y="182880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Dependen de las bajas frecuencias y se resuelven peor</a:t>
            </a:r>
            <a:endParaRPr lang="en-US" sz="1800" dirty="0"/>
          </a:p>
        </p:txBody>
      </p:sp>
      <p:sp>
        <p:nvSpPr>
          <p:cNvPr id="7" name="Cabecera Supuestos"/>
          <p:cNvSpPr/>
          <p:nvPr/>
        </p:nvSpPr>
        <p:spPr>
          <a:xfrm>
            <a:off x="4663440" y="1325880"/>
            <a:ext cx="4023360" cy="457200"/>
          </a:xfrm>
          <a:prstGeom prst="rect">
            <a:avLst/>
          </a:prstGeom>
          <a:solidFill>
            <a:srgbClr val="1F4E79"/>
          </a:solidFill>
          <a:ln w="12700">
            <a:solidFill>
              <a:srgbClr val="1F4E79"/>
            </a:solidFill>
            <a:prstDash val="solid"/>
          </a:ln>
        </p:spPr>
      </p:sp>
      <p:sp>
        <p:nvSpPr>
          <p:cNvPr id="8" name="Text 6"/>
          <p:cNvSpPr txBox="1"/>
          <p:nvPr/>
        </p:nvSpPr>
        <p:spPr>
          <a:xfrm>
            <a:off x="4663440" y="132588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Supuestos</a:t>
            </a:r>
            <a:endParaRPr lang="en-US" sz="2000" dirty="0"/>
          </a:p>
        </p:txBody>
      </p:sp>
      <p:sp>
        <p:nvSpPr>
          <p:cNvPr id="9" name="Tarjeta Supuestos"/>
          <p:cNvSpPr/>
          <p:nvPr/>
        </p:nvSpPr>
        <p:spPr>
          <a:xfrm>
            <a:off x="4663440" y="1783080"/>
            <a:ext cx="4023360" cy="914400"/>
          </a:xfrm>
          <a:prstGeom prst="rect">
            <a:avLst/>
          </a:prstGeom>
          <a:solidFill>
            <a:srgbClr val="FFFFFF"/>
          </a:solidFill>
          <a:ln w="19050">
            <a:solidFill>
              <a:srgbClr val="1F4E79"/>
            </a:solidFill>
            <a:prstDash val="solid"/>
          </a:ln>
        </p:spPr>
      </p:sp>
      <p:sp>
        <p:nvSpPr>
          <p:cNvPr id="10" name="Text 8"/>
          <p:cNvSpPr txBox="1"/>
          <p:nvPr/>
        </p:nvSpPr>
        <p:spPr>
          <a:xfrm>
            <a:off x="4800600" y="182880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Densidad ρ, número de capas y modelo inicial se suponen</a:t>
            </a:r>
            <a:endParaRPr lang="en-US" sz="1800" dirty="0"/>
          </a:p>
        </p:txBody>
      </p:sp>
      <p:sp>
        <p:nvSpPr>
          <p:cNvPr id="11" name="Cabecera No unicidad"/>
          <p:cNvSpPr/>
          <p:nvPr/>
        </p:nvSpPr>
        <p:spPr>
          <a:xfrm>
            <a:off x="457200" y="2880360"/>
            <a:ext cx="4023360" cy="457200"/>
          </a:xfrm>
          <a:prstGeom prst="rect">
            <a:avLst/>
          </a:prstGeom>
          <a:solidFill>
            <a:srgbClr val="1F4E79"/>
          </a:solidFill>
          <a:ln w="12700">
            <a:solidFill>
              <a:srgbClr val="1F4E79"/>
            </a:solidFill>
            <a:prstDash val="solid"/>
          </a:ln>
        </p:spPr>
      </p:sp>
      <p:sp>
        <p:nvSpPr>
          <p:cNvPr id="12" name="Text 10"/>
          <p:cNvSpPr txBox="1"/>
          <p:nvPr/>
        </p:nvSpPr>
        <p:spPr>
          <a:xfrm>
            <a:off x="457200" y="288036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No unicidad</a:t>
            </a:r>
            <a:endParaRPr lang="en-US" sz="2000" dirty="0"/>
          </a:p>
        </p:txBody>
      </p:sp>
      <p:sp>
        <p:nvSpPr>
          <p:cNvPr id="13" name="Tarjeta No unicidad"/>
          <p:cNvSpPr/>
          <p:nvPr/>
        </p:nvSpPr>
        <p:spPr>
          <a:xfrm>
            <a:off x="457200" y="3337560"/>
            <a:ext cx="4023360" cy="914400"/>
          </a:xfrm>
          <a:prstGeom prst="rect">
            <a:avLst/>
          </a:prstGeom>
          <a:solidFill>
            <a:srgbClr val="FFFFFF"/>
          </a:solidFill>
          <a:ln w="19050">
            <a:solidFill>
              <a:srgbClr val="1F4E79"/>
            </a:solidFill>
            <a:prstDash val="solid"/>
          </a:ln>
        </p:spPr>
      </p:sp>
      <p:sp>
        <p:nvSpPr>
          <p:cNvPr id="14" name="Text 12"/>
          <p:cNvSpPr txBox="1"/>
          <p:nvPr/>
        </p:nvSpPr>
        <p:spPr>
          <a:xfrm>
            <a:off x="594360" y="338328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Perfiles distintos pueden dar curvas casi iguales</a:t>
            </a:r>
            <a:endParaRPr lang="en-US" sz="1800" dirty="0"/>
          </a:p>
        </p:txBody>
      </p:sp>
      <p:sp>
        <p:nvSpPr>
          <p:cNvPr id="15" name="Cabecera Otras mediciones"/>
          <p:cNvSpPr/>
          <p:nvPr/>
        </p:nvSpPr>
        <p:spPr>
          <a:xfrm>
            <a:off x="4663440" y="2880360"/>
            <a:ext cx="4023360" cy="457200"/>
          </a:xfrm>
          <a:prstGeom prst="rect">
            <a:avLst/>
          </a:prstGeom>
          <a:solidFill>
            <a:srgbClr val="C55A11"/>
          </a:solidFill>
          <a:ln w="12700">
            <a:solidFill>
              <a:srgbClr val="C55A11"/>
            </a:solidFill>
            <a:prstDash val="solid"/>
          </a:ln>
        </p:spPr>
      </p:sp>
      <p:sp>
        <p:nvSpPr>
          <p:cNvPr id="16" name="Text 14"/>
          <p:cNvSpPr txBox="1"/>
          <p:nvPr/>
        </p:nvSpPr>
        <p:spPr>
          <a:xfrm>
            <a:off x="4663440" y="288036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Otras mediciones</a:t>
            </a:r>
            <a:endParaRPr lang="en-US" sz="2000" dirty="0"/>
          </a:p>
        </p:txBody>
      </p:sp>
      <p:sp>
        <p:nvSpPr>
          <p:cNvPr id="17" name="Tarjeta Otras mediciones"/>
          <p:cNvSpPr/>
          <p:nvPr/>
        </p:nvSpPr>
        <p:spPr>
          <a:xfrm>
            <a:off x="4663440" y="3337560"/>
            <a:ext cx="4023360" cy="914400"/>
          </a:xfrm>
          <a:prstGeom prst="rect">
            <a:avLst/>
          </a:prstGeom>
          <a:solidFill>
            <a:srgbClr val="FFFFFF"/>
          </a:solidFill>
          <a:ln w="19050">
            <a:solidFill>
              <a:srgbClr val="C55A11"/>
            </a:solidFill>
            <a:prstDash val="solid"/>
          </a:ln>
        </p:spPr>
      </p:sp>
      <p:sp>
        <p:nvSpPr>
          <p:cNvPr id="18" name="Text 16"/>
          <p:cNvSpPr txBox="1"/>
          <p:nvPr/>
        </p:nvSpPr>
        <p:spPr>
          <a:xfrm>
            <a:off x="4800600" y="338328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Dan información inicial y localizada del terreno; extrapolarla reduce la incertidumbre</a:t>
            </a:r>
            <a:endParaRPr lang="en-US" sz="1800" dirty="0"/>
          </a:p>
        </p:txBody>
      </p:sp>
      <p:sp>
        <p:nvSpPr>
          <p:cNvPr id="1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capítulo de inversión (a confirmar); Socco y Strobbia (2004); Xia et al. (1999), p. 694 (ρ supuesta conocida).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SASW: la diferencia de fase entre dos receptores da la velocidad de fase</a:t>
            </a:r>
            <a:endParaRPr lang="en-US" sz="2400" dirty="0"/>
          </a:p>
        </p:txBody>
      </p:sp>
      <p:pic>
        <p:nvPicPr>
          <p:cNvPr id="3" name="Figura SASW" descr="Arreglo SASW: fuente vertical y dos receptores separados una distancia d">    </p:cNvPr>
          <p:cNvPicPr>
            <a:picLocks noChangeAspect="1"/>
          </p:cNvPicPr>
          <p:nvPr/>
        </p:nvPicPr>
        <p:blipFill>
          <a:blip r:embed="rId1"/>
          <a:stretch>
            <a:fillRect/>
          </a:stretch>
        </p:blipFill>
        <p:spPr>
          <a:xfrm>
            <a:off x="457200" y="1234440"/>
            <a:ext cx="5120640" cy="2255151"/>
          </a:xfrm>
          <a:prstGeom prst="rect">
            <a:avLst/>
          </a:prstGeom>
        </p:spPr>
      </p:pic>
      <p:sp>
        <p:nvSpPr>
          <p:cNvPr id="4" name="Fondo SASW"/>
          <p:cNvSpPr/>
          <p:nvPr/>
        </p:nvSpPr>
        <p:spPr>
          <a:xfrm>
            <a:off x="457200" y="3657600"/>
            <a:ext cx="512064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sasw"/>
              <p:cNvSpPr txBox="1"/>
              <p:nvPr/>
            </p:nvSpPr>
            <p:spPr>
              <a:xfrm>
                <a:off x="457200" y="3657600"/>
                <a:ext cx="512064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a:rPr lang="es-ES" sz="2400" i="1">
                              <a:solidFill>
                                <a:srgbClr val="1F4E79"/>
                              </a:solidFill>
                              <a:latin typeface="Cambria Math" panose="02040503050406030204" pitchFamily="18" charset="0"/>
                            </a:rPr>
                            <m:t xml:space="preserve">R</m:t>
                          </m:r>
                        </m:sub>
                      </m:sSub>
                      <m:r>
                        <a:rPr lang="es-ES" sz="2400" i="1">
                          <a:solidFill>
                            <a:srgbClr val="1F4E79"/>
                          </a:solidFill>
                          <a:latin typeface="Cambria Math" panose="02040503050406030204" pitchFamily="18" charset="0"/>
                        </a:rPr>
                        <m:t xml:space="preserve">(f)=</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2πf·d</m:t>
                          </m:r>
                        </m:num>
                        <m:den>
                          <m:r>
                            <a:rPr lang="es-ES" sz="2400" i="1">
                              <a:solidFill>
                                <a:srgbClr val="1F4E79"/>
                              </a:solidFill>
                              <a:latin typeface="Cambria Math" panose="02040503050406030204" pitchFamily="18" charset="0"/>
                            </a:rPr>
                            <m:t xml:space="preserve">Δφ(f)</m:t>
                          </m:r>
                        </m:den>
                      </m:f>
                    </m:oMath>
                  </m:oMathPara>
                </a14:m>
                <a:endParaRPr lang="es-ES"/>
              </a:p>
            </p:txBody>
          </p:sp>
        </mc:Choice>
        <mc:Fallback>
          <p:sp>
            <p:nvSpPr>
              <p:cNvPr id="5" name="Ecuación E_sasw"/>
              <p:cNvSpPr txBox="1"/>
              <p:nvPr/>
            </p:nvSpPr>
            <p:spPr>
              <a:xfrm>
                <a:off x="457200" y="3657600"/>
                <a:ext cx="512064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cR(f) = 2π·f·d / Δφ(f)</a:t>
                </a:r>
                <a:endParaRPr lang="en-US" sz="2400" dirty="0"/>
              </a:p>
            </p:txBody>
          </p:sp>
        </mc:Fallback>
      </mc:AlternateContent>
      <p:sp>
        <p:nvSpPr>
          <p:cNvPr id="6" name="Cuerpo"/>
          <p:cNvSpPr txBox="1"/>
          <p:nvPr/>
        </p:nvSpPr>
        <p:spPr>
          <a:xfrm>
            <a:off x="5852160" y="1371600"/>
            <a:ext cx="283464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Fuente vertical y dos receptores separados una distancia d</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Se mide la diferencia de fase Δφ entre ambos, para cada frecuencia</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De Δφ(f) sale la velocidad de fase cR(f)</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esquema SASW/MASW (fuente original por confirmar), traducido. Resumen firmado, sec. 4;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SASW es simple, pero deja ambigüedades y poca redundancia espacial</a:t>
            </a:r>
            <a:endParaRPr lang="en-US" sz="2400" dirty="0"/>
          </a:p>
        </p:txBody>
      </p:sp>
      <p:sp>
        <p:nvSpPr>
          <p:cNvPr id="3" name="Cabecera Ventaja"/>
          <p:cNvSpPr/>
          <p:nvPr/>
        </p:nvSpPr>
        <p:spPr>
          <a:xfrm>
            <a:off x="457200" y="1325880"/>
            <a:ext cx="3931920" cy="502920"/>
          </a:xfrm>
          <a:prstGeom prst="rect">
            <a:avLst/>
          </a:prstGeom>
          <a:solidFill>
            <a:srgbClr val="1F4E79"/>
          </a:solidFill>
          <a:ln w="12700">
            <a:solidFill>
              <a:srgbClr val="1F4E79"/>
            </a:solidFill>
            <a:prstDash val="solid"/>
          </a:ln>
        </p:spPr>
      </p:sp>
      <p:sp>
        <p:nvSpPr>
          <p:cNvPr id="4" name="Text 2"/>
          <p:cNvSpPr txBox="1"/>
          <p:nvPr/>
        </p:nvSpPr>
        <p:spPr>
          <a:xfrm>
            <a:off x="457200" y="1325880"/>
            <a:ext cx="3931920" cy="50292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Ventaja</a:t>
            </a:r>
            <a:endParaRPr lang="en-US" sz="2000" dirty="0"/>
          </a:p>
        </p:txBody>
      </p:sp>
      <p:sp>
        <p:nvSpPr>
          <p:cNvPr id="5" name="Tarjeta Ventaja"/>
          <p:cNvSpPr/>
          <p:nvPr/>
        </p:nvSpPr>
        <p:spPr>
          <a:xfrm>
            <a:off x="457200" y="1828800"/>
            <a:ext cx="3931920" cy="2743200"/>
          </a:xfrm>
          <a:prstGeom prst="rect">
            <a:avLst/>
          </a:prstGeom>
          <a:solidFill>
            <a:srgbClr val="FFFFFF"/>
          </a:solidFill>
          <a:ln w="19050">
            <a:solidFill>
              <a:srgbClr val="1F4E79"/>
            </a:solidFill>
            <a:prstDash val="solid"/>
          </a:ln>
        </p:spPr>
      </p:sp>
      <p:sp>
        <p:nvSpPr>
          <p:cNvPr id="6" name="Text 4"/>
          <p:cNvSpPr txBox="1"/>
          <p:nvPr/>
        </p:nvSpPr>
        <p:spPr>
          <a:xfrm>
            <a:off x="594360" y="1874520"/>
            <a:ext cx="3657600" cy="26517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Instrumentación sencilla: solo dos receptores</a:t>
            </a:r>
            <a:endParaRPr lang="en-US" sz="1800" dirty="0"/>
          </a:p>
        </p:txBody>
      </p:sp>
      <p:sp>
        <p:nvSpPr>
          <p:cNvPr id="7" name="Cabecera Limitaciones"/>
          <p:cNvSpPr/>
          <p:nvPr/>
        </p:nvSpPr>
        <p:spPr>
          <a:xfrm>
            <a:off x="4754880" y="1325880"/>
            <a:ext cx="3931920" cy="502920"/>
          </a:xfrm>
          <a:prstGeom prst="rect">
            <a:avLst/>
          </a:prstGeom>
          <a:solidFill>
            <a:srgbClr val="C55A11"/>
          </a:solidFill>
          <a:ln w="12700">
            <a:solidFill>
              <a:srgbClr val="C55A11"/>
            </a:solidFill>
            <a:prstDash val="solid"/>
          </a:ln>
        </p:spPr>
      </p:sp>
      <p:sp>
        <p:nvSpPr>
          <p:cNvPr id="8" name="Text 6"/>
          <p:cNvSpPr txBox="1"/>
          <p:nvPr/>
        </p:nvSpPr>
        <p:spPr>
          <a:xfrm>
            <a:off x="4754880" y="1325880"/>
            <a:ext cx="3931920" cy="50292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Limitaciones</a:t>
            </a:r>
            <a:endParaRPr lang="en-US" sz="2000" dirty="0"/>
          </a:p>
        </p:txBody>
      </p:sp>
      <p:sp>
        <p:nvSpPr>
          <p:cNvPr id="9" name="Tarjeta Limitaciones"/>
          <p:cNvSpPr/>
          <p:nvPr/>
        </p:nvSpPr>
        <p:spPr>
          <a:xfrm>
            <a:off x="4754880" y="1828800"/>
            <a:ext cx="3931920" cy="2743200"/>
          </a:xfrm>
          <a:prstGeom prst="rect">
            <a:avLst/>
          </a:prstGeom>
          <a:solidFill>
            <a:srgbClr val="FFFFFF"/>
          </a:solidFill>
          <a:ln w="19050">
            <a:solidFill>
              <a:srgbClr val="C55A11"/>
            </a:solidFill>
            <a:prstDash val="solid"/>
          </a:ln>
        </p:spPr>
      </p:sp>
      <p:sp>
        <p:nvSpPr>
          <p:cNvPr id="10" name="Text 8"/>
          <p:cNvSpPr txBox="1"/>
          <p:nvPr/>
        </p:nvSpPr>
        <p:spPr>
          <a:xfrm>
            <a:off x="4892040" y="1874520"/>
            <a:ext cx="3657600" cy="2651760"/>
          </a:xfrm>
          <a:prstGeom prst="rect">
            <a:avLst/>
          </a:prstGeom>
          <a:noFill/>
          <a:ln/>
        </p:spPr>
        <p:txBody>
          <a:bodyPr wrap="square" lIns="0" tIns="0" rIns="0" bIns="0" rtlCol="0" anchor="ctr"/>
          <a:lstStyle/>
          <a:p>
            <a:pPr indent="0" marL="0">
              <a:buNone/>
            </a:pPr>
            <a:endParaRPr lang="en-US" sz="1800" dirty="0"/>
          </a:p>
        </p:txBody>
      </p:sp>
      <p:sp>
        <p:nvSpPr>
          <p:cNvPr id="11" name="Cuerpo limitaciones"/>
          <p:cNvSpPr txBox="1"/>
          <p:nvPr/>
        </p:nvSpPr>
        <p:spPr>
          <a:xfrm>
            <a:off x="4937760" y="1920240"/>
            <a:ext cx="3566160" cy="25603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La fase se conoce salvo ciclos enteros: Δφ + 2πN</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Poca redundancia para separar contribuciones superpuestas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Se repite con distintas separaciones</a:t>
            </a:r>
            <a:endParaRPr lang="en-US" sz="1800" dirty="0"/>
          </a:p>
        </p:txBody>
      </p:sp>
      <p:sp>
        <p:nvSpPr>
          <p:cNvPr id="12"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 Foti et al. (2014)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MASW extiende el principio a múltiples posiciones a lo largo del terreno</a:t>
            </a:r>
            <a:endParaRPr lang="en-US" sz="2400" dirty="0"/>
          </a:p>
        </p:txBody>
      </p:sp>
      <p:pic>
        <p:nvPicPr>
          <p:cNvPr id="3" name="Figura MASW" descr="Arreglo MASW: fuente y una línea de geófonos con espaciamiento dx">    </p:cNvPr>
          <p:cNvPicPr>
            <a:picLocks noChangeAspect="1"/>
          </p:cNvPicPr>
          <p:nvPr/>
        </p:nvPicPr>
        <p:blipFill>
          <a:blip r:embed="rId1"/>
          <a:stretch>
            <a:fillRect/>
          </a:stretch>
        </p:blipFill>
        <p:spPr>
          <a:xfrm>
            <a:off x="457200" y="1234440"/>
            <a:ext cx="5120640" cy="2399996"/>
          </a:xfrm>
          <a:prstGeom prst="rect">
            <a:avLst/>
          </a:prstGeom>
        </p:spPr>
      </p:pic>
      <p:sp>
        <p:nvSpPr>
          <p:cNvPr id="4" name="Cuerpo"/>
          <p:cNvSpPr txBox="1"/>
          <p:nvPr/>
        </p:nvSpPr>
        <p:spPr>
          <a:xfrm>
            <a:off x="5852160" y="1371600"/>
            <a:ext cx="283464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Un transductor y un canal por posición</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La redundancia espacial permite reconocer patrones coherentes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Se distinguen contribuciones superpuestas</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esquema SASW/MASW (fuente original por confirmar), traducido. Park et al. (1998, 1999); Foti et al. (2018).</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registro MASW es una matriz espacio–tiempo: una traza por posición</a:t>
            </a:r>
            <a:endParaRPr lang="en-US" sz="2400" dirty="0"/>
          </a:p>
        </p:txBody>
      </p:sp>
      <p:pic>
        <p:nvPicPr>
          <p:cNvPr id="3" name="Registro espacio-tiempo" descr="Registro sintético: trazas por posición, con el tiempo de llegada creciendo con la distancia">    </p:cNvPr>
          <p:cNvPicPr>
            <a:picLocks noChangeAspect="1"/>
          </p:cNvPicPr>
          <p:nvPr/>
        </p:nvPicPr>
        <p:blipFill>
          <a:blip r:embed="rId1"/>
          <a:stretch>
            <a:fillRect/>
          </a:stretch>
        </p:blipFill>
        <p:spPr>
          <a:xfrm>
            <a:off x="457200" y="1280160"/>
            <a:ext cx="4937760" cy="3108960"/>
          </a:xfrm>
          <a:prstGeom prst="rect">
            <a:avLst/>
          </a:prstGeom>
        </p:spPr>
      </p:pic>
      <p:sp>
        <p:nvSpPr>
          <p:cNvPr id="4" name="Fondo U"/>
          <p:cNvSpPr/>
          <p:nvPr/>
        </p:nvSpPr>
        <p:spPr>
          <a:xfrm>
            <a:off x="5669280" y="1325880"/>
            <a:ext cx="30175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U"/>
              <p:cNvSpPr txBox="1"/>
              <p:nvPr/>
            </p:nvSpPr>
            <p:spPr>
              <a:xfrm>
                <a:off x="5669280" y="1325880"/>
                <a:ext cx="30175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U[m,n]=</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u</m:t>
                          </m:r>
                        </m:e>
                        <m:sub>
                          <m:r>
                            <a:rPr lang="es-ES" sz="2400" i="1">
                              <a:solidFill>
                                <a:srgbClr val="1F4E79"/>
                              </a:solidFill>
                              <a:latin typeface="Cambria Math" panose="02040503050406030204" pitchFamily="18" charset="0"/>
                            </a:rPr>
                            <m:t xml:space="preserve">z</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x</m:t>
                          </m:r>
                        </m:e>
                        <m:sub>
                          <m:r>
                            <a:rPr lang="es-ES" sz="2400" i="1">
                              <a:solidFill>
                                <a:srgbClr val="1F4E79"/>
                              </a:solidFill>
                              <a:latin typeface="Cambria Math" panose="02040503050406030204" pitchFamily="18" charset="0"/>
                            </a:rPr>
                            <m:t xml:space="preserve">m</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t</m:t>
                          </m:r>
                        </m:e>
                        <m:sub>
                          <m:r>
                            <a:rPr lang="es-ES" sz="2400" i="1">
                              <a:solidFill>
                                <a:srgbClr val="1F4E79"/>
                              </a:solidFill>
                              <a:latin typeface="Cambria Math" panose="02040503050406030204" pitchFamily="18" charset="0"/>
                            </a:rPr>
                            <m:t xml:space="preserve">n</m:t>
                          </m:r>
                        </m:sub>
                      </m:sSub>
                      <m:r>
                        <a:rPr lang="es-ES" sz="2400" i="1">
                          <a:solidFill>
                            <a:srgbClr val="1F4E79"/>
                          </a:solidFill>
                          <a:latin typeface="Cambria Math" panose="02040503050406030204" pitchFamily="18" charset="0"/>
                        </a:rPr>
                        <m:t xml:space="preserve">)</m:t>
                      </m:r>
                    </m:oMath>
                  </m:oMathPara>
                </a14:m>
                <a:endParaRPr lang="es-ES"/>
              </a:p>
            </p:txBody>
          </p:sp>
        </mc:Choice>
        <mc:Fallback>
          <p:sp>
            <p:nvSpPr>
              <p:cNvPr id="5" name="Ecuación E_U"/>
              <p:cNvSpPr txBox="1"/>
              <p:nvPr/>
            </p:nvSpPr>
            <p:spPr>
              <a:xfrm>
                <a:off x="5669280" y="1325880"/>
                <a:ext cx="30175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U[m, n] = uz(xm, tn)</a:t>
                </a:r>
                <a:endParaRPr lang="en-US" sz="2400" dirty="0"/>
              </a:p>
            </p:txBody>
          </p:sp>
        </mc:Fallback>
      </mc:AlternateContent>
      <p:sp>
        <p:nvSpPr>
          <p:cNvPr id="6" name="Cuerpo"/>
          <p:cNvSpPr txBox="1"/>
          <p:nvPr/>
        </p:nvSpPr>
        <p:spPr>
          <a:xfrm>
            <a:off x="5669280" y="2286000"/>
            <a:ext cx="3017520"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Cada fila es la traza de una posición</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El conjunto es un registro espacio–tiempo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La propagación aparece como un corrimiento sistemático del tiempo entre trazas</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Registro sintético propio (ilustrativo), con la curva de la slide 41. Resumen firmado, ec. (6).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dimensión espacial puede sintetizarse con adquisiciones sucesivas</a:t>
            </a:r>
            <a:endParaRPr lang="en-US" sz="2400" dirty="0"/>
          </a:p>
        </p:txBody>
      </p:sp>
      <p:pic>
        <p:nvPicPr>
          <p:cNvPr id="3" name="Figura dimensión sintetizada" descr="Arreglo convencional con un receptor por posición y arreglo sintetizado con un receptor fijo y la fuente en posiciones sucesivas">    </p:cNvPr>
          <p:cNvPicPr>
            <a:picLocks noChangeAspect="1"/>
          </p:cNvPicPr>
          <p:nvPr/>
        </p:nvPicPr>
        <p:blipFill>
          <a:blip r:embed="rId1"/>
          <a:stretch>
            <a:fillRect/>
          </a:stretch>
        </p:blipFill>
        <p:spPr>
          <a:xfrm>
            <a:off x="457200" y="1280160"/>
            <a:ext cx="5486400" cy="2914650"/>
          </a:xfrm>
          <a:prstGeom prst="rect">
            <a:avLst/>
          </a:prstGeom>
        </p:spPr>
      </p:pic>
      <p:sp>
        <p:nvSpPr>
          <p:cNvPr id="4" name="Cuerpo"/>
          <p:cNvSpPr txBox="1"/>
          <p:nvPr/>
        </p:nvSpPr>
        <p:spPr>
          <a:xfrm>
            <a:off x="6126480" y="1371600"/>
            <a:ext cx="256032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Reduce el costo instrumental: menos canales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Lin y Ashlock (2016) validaron receptor fijo y fuente en posiciones sucesivas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Es la configuración recíproca de mover el receptor</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Lin y Ashlock (2016), según el resumen firmado (a confirmar en el artículo).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medición MASW fija tres requerimientos de adquisición</a:t>
            </a:r>
            <a:endParaRPr lang="en-US" sz="2400" dirty="0"/>
          </a:p>
        </p:txBody>
      </p:sp>
      <p:sp>
        <p:nvSpPr>
          <p:cNvPr id="3" name="Cabecera Tiempo y posición"/>
          <p:cNvSpPr/>
          <p:nvPr/>
        </p:nvSpPr>
        <p:spPr>
          <a:xfrm>
            <a:off x="457200" y="1325880"/>
            <a:ext cx="2651760" cy="548640"/>
          </a:xfrm>
          <a:prstGeom prst="rect">
            <a:avLst/>
          </a:prstGeom>
          <a:solidFill>
            <a:srgbClr val="1F4E79"/>
          </a:solidFill>
          <a:ln w="12700">
            <a:solidFill>
              <a:srgbClr val="1F4E79"/>
            </a:solidFill>
            <a:prstDash val="solid"/>
          </a:ln>
        </p:spPr>
      </p:sp>
      <p:sp>
        <p:nvSpPr>
          <p:cNvPr id="4" name="Text 2"/>
          <p:cNvSpPr txBox="1"/>
          <p:nvPr/>
        </p:nvSpPr>
        <p:spPr>
          <a:xfrm>
            <a:off x="457200" y="1325880"/>
            <a:ext cx="2651760" cy="548640"/>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Tiempo y posición</a:t>
            </a:r>
            <a:endParaRPr lang="en-US" sz="1800" dirty="0"/>
          </a:p>
        </p:txBody>
      </p:sp>
      <p:sp>
        <p:nvSpPr>
          <p:cNvPr id="5" name="Tarjeta Tiempo y posición"/>
          <p:cNvSpPr/>
          <p:nvPr/>
        </p:nvSpPr>
        <p:spPr>
          <a:xfrm>
            <a:off x="457200" y="1874520"/>
            <a:ext cx="2651760" cy="1737360"/>
          </a:xfrm>
          <a:prstGeom prst="rect">
            <a:avLst/>
          </a:prstGeom>
          <a:solidFill>
            <a:srgbClr val="FFFFFF"/>
          </a:solidFill>
          <a:ln w="19050">
            <a:solidFill>
              <a:srgbClr val="1F4E79"/>
            </a:solidFill>
            <a:prstDash val="solid"/>
          </a:ln>
        </p:spPr>
      </p:sp>
      <p:sp>
        <p:nvSpPr>
          <p:cNvPr id="6" name="Text 4"/>
          <p:cNvSpPr txBox="1"/>
          <p:nvPr/>
        </p:nvSpPr>
        <p:spPr>
          <a:xfrm>
            <a:off x="594360" y="1920240"/>
            <a:ext cx="2377440" cy="1645920"/>
          </a:xfrm>
          <a:prstGeom prst="rect">
            <a:avLst/>
          </a:prstGeom>
          <a:noFill/>
          <a:ln/>
        </p:spPr>
        <p:txBody>
          <a:bodyPr wrap="square" lIns="0" tIns="0" rIns="0" bIns="0" rtlCol="0" anchor="ctr"/>
          <a:lstStyle/>
          <a:p>
            <a:pPr indent="0" marL="0">
              <a:buNone/>
            </a:pPr>
            <a:r>
              <a:rPr lang="en-US" sz="1700" dirty="0">
                <a:solidFill>
                  <a:srgbClr val="2D2D2D"/>
                </a:solidFill>
                <a:latin typeface="Arial" pitchFamily="34" charset="0"/>
                <a:ea typeface="Arial" pitchFamily="34" charset="-122"/>
                <a:cs typeface="Arial" pitchFamily="34" charset="-120"/>
              </a:rPr>
              <a:t>Conservar la información temporal y espacial de cada traza</a:t>
            </a:r>
            <a:endParaRPr lang="en-US" sz="1700" dirty="0"/>
          </a:p>
        </p:txBody>
      </p:sp>
      <p:sp>
        <p:nvSpPr>
          <p:cNvPr id="7" name="Cabecera Referencia temporal"/>
          <p:cNvSpPr/>
          <p:nvPr/>
        </p:nvSpPr>
        <p:spPr>
          <a:xfrm>
            <a:off x="3246120" y="1325880"/>
            <a:ext cx="2651760" cy="548640"/>
          </a:xfrm>
          <a:prstGeom prst="rect">
            <a:avLst/>
          </a:prstGeom>
          <a:solidFill>
            <a:srgbClr val="1F4E79"/>
          </a:solidFill>
          <a:ln w="12700">
            <a:solidFill>
              <a:srgbClr val="1F4E79"/>
            </a:solidFill>
            <a:prstDash val="solid"/>
          </a:ln>
        </p:spPr>
      </p:sp>
      <p:sp>
        <p:nvSpPr>
          <p:cNvPr id="8" name="Text 6"/>
          <p:cNvSpPr txBox="1"/>
          <p:nvPr/>
        </p:nvSpPr>
        <p:spPr>
          <a:xfrm>
            <a:off x="3246120" y="1325880"/>
            <a:ext cx="2651760" cy="548640"/>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Referencia temporal</a:t>
            </a:r>
            <a:endParaRPr lang="en-US" sz="1800" dirty="0"/>
          </a:p>
        </p:txBody>
      </p:sp>
      <p:sp>
        <p:nvSpPr>
          <p:cNvPr id="9" name="Tarjeta Referencia temporal"/>
          <p:cNvSpPr/>
          <p:nvPr/>
        </p:nvSpPr>
        <p:spPr>
          <a:xfrm>
            <a:off x="3246120" y="1874520"/>
            <a:ext cx="2651760" cy="1737360"/>
          </a:xfrm>
          <a:prstGeom prst="rect">
            <a:avLst/>
          </a:prstGeom>
          <a:solidFill>
            <a:srgbClr val="FFFFFF"/>
          </a:solidFill>
          <a:ln w="19050">
            <a:solidFill>
              <a:srgbClr val="1F4E79"/>
            </a:solidFill>
            <a:prstDash val="solid"/>
          </a:ln>
        </p:spPr>
      </p:sp>
      <p:sp>
        <p:nvSpPr>
          <p:cNvPr id="10" name="Text 8"/>
          <p:cNvSpPr txBox="1"/>
          <p:nvPr/>
        </p:nvSpPr>
        <p:spPr>
          <a:xfrm>
            <a:off x="3383280" y="1920240"/>
            <a:ext cx="2377440" cy="1645920"/>
          </a:xfrm>
          <a:prstGeom prst="rect">
            <a:avLst/>
          </a:prstGeom>
          <a:noFill/>
          <a:ln/>
        </p:spPr>
        <p:txBody>
          <a:bodyPr wrap="square" lIns="0" tIns="0" rIns="0" bIns="0" rtlCol="0" anchor="ctr"/>
          <a:lstStyle/>
          <a:p>
            <a:pPr indent="0" marL="0">
              <a:buNone/>
            </a:pPr>
            <a:r>
              <a:rPr lang="en-US" sz="1700" dirty="0">
                <a:solidFill>
                  <a:srgbClr val="2D2D2D"/>
                </a:solidFill>
                <a:latin typeface="Arial" pitchFamily="34" charset="0"/>
                <a:ea typeface="Arial" pitchFamily="34" charset="-122"/>
                <a:cs typeface="Arial" pitchFamily="34" charset="-120"/>
              </a:rPr>
              <a:t>Mantener una referencia temporal entre registros</a:t>
            </a:r>
            <a:endParaRPr lang="en-US" sz="1700" dirty="0"/>
          </a:p>
        </p:txBody>
      </p:sp>
      <p:sp>
        <p:nvSpPr>
          <p:cNvPr id="11" name="Cabecera Forma de onda"/>
          <p:cNvSpPr/>
          <p:nvPr/>
        </p:nvSpPr>
        <p:spPr>
          <a:xfrm>
            <a:off x="6035040" y="1325880"/>
            <a:ext cx="2651760" cy="548640"/>
          </a:xfrm>
          <a:prstGeom prst="rect">
            <a:avLst/>
          </a:prstGeom>
          <a:solidFill>
            <a:srgbClr val="1F4E79"/>
          </a:solidFill>
          <a:ln w="12700">
            <a:solidFill>
              <a:srgbClr val="1F4E79"/>
            </a:solidFill>
            <a:prstDash val="solid"/>
          </a:ln>
        </p:spPr>
      </p:sp>
      <p:sp>
        <p:nvSpPr>
          <p:cNvPr id="12" name="Text 10"/>
          <p:cNvSpPr txBox="1"/>
          <p:nvPr/>
        </p:nvSpPr>
        <p:spPr>
          <a:xfrm>
            <a:off x="6035040" y="1325880"/>
            <a:ext cx="2651760" cy="548640"/>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Forma de onda</a:t>
            </a:r>
            <a:endParaRPr lang="en-US" sz="1800" dirty="0"/>
          </a:p>
        </p:txBody>
      </p:sp>
      <p:sp>
        <p:nvSpPr>
          <p:cNvPr id="13" name="Tarjeta Forma de onda"/>
          <p:cNvSpPr/>
          <p:nvPr/>
        </p:nvSpPr>
        <p:spPr>
          <a:xfrm>
            <a:off x="6035040" y="1874520"/>
            <a:ext cx="2651760" cy="1737360"/>
          </a:xfrm>
          <a:prstGeom prst="rect">
            <a:avLst/>
          </a:prstGeom>
          <a:solidFill>
            <a:srgbClr val="FFFFFF"/>
          </a:solidFill>
          <a:ln w="19050">
            <a:solidFill>
              <a:srgbClr val="1F4E79"/>
            </a:solidFill>
            <a:prstDash val="solid"/>
          </a:ln>
        </p:spPr>
      </p:sp>
      <p:sp>
        <p:nvSpPr>
          <p:cNvPr id="14" name="Text 12"/>
          <p:cNvSpPr txBox="1"/>
          <p:nvPr/>
        </p:nvSpPr>
        <p:spPr>
          <a:xfrm>
            <a:off x="6172200" y="1920240"/>
            <a:ext cx="2377440" cy="1645920"/>
          </a:xfrm>
          <a:prstGeom prst="rect">
            <a:avLst/>
          </a:prstGeom>
          <a:noFill/>
          <a:ln/>
        </p:spPr>
        <p:txBody>
          <a:bodyPr wrap="square" lIns="0" tIns="0" rIns="0" bIns="0" rtlCol="0" anchor="ctr"/>
          <a:lstStyle/>
          <a:p>
            <a:pPr indent="0" marL="0">
              <a:buNone/>
            </a:pPr>
            <a:r>
              <a:rPr lang="en-US" sz="1700" dirty="0">
                <a:solidFill>
                  <a:srgbClr val="2D2D2D"/>
                </a:solidFill>
                <a:latin typeface="Arial" pitchFamily="34" charset="0"/>
                <a:ea typeface="Arial" pitchFamily="34" charset="-122"/>
                <a:cs typeface="Arial" pitchFamily="34" charset="-120"/>
              </a:rPr>
              <a:t>Preservar la forma de la onda</a:t>
            </a:r>
            <a:endParaRPr lang="en-US" sz="1700" dirty="0"/>
          </a:p>
        </p:txBody>
      </p:sp>
      <p:sp>
        <p:nvSpPr>
          <p:cNvPr id="15" name="Mensaje"/>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Con adquisiciones sucesivas, además: fuente repetible, para no confundir variaciones del terreno con diferencias entre impactos</a:t>
            </a:r>
            <a:endParaRPr lang="en-US" sz="1800" dirty="0"/>
          </a:p>
        </p:txBody>
      </p:sp>
      <p:sp>
        <p:nvSpPr>
          <p:cNvPr id="1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Esos requerimientos se traducen en cinco condiciones de diseño del sistema</a:t>
            </a:r>
            <a:endParaRPr lang="en-US" sz="2400" dirty="0"/>
          </a:p>
        </p:txBody>
      </p:sp>
      <p:sp>
        <p:nvSpPr>
          <p:cNvPr id="3" name="Cabecera Banda y fase"/>
          <p:cNvSpPr/>
          <p:nvPr/>
        </p:nvSpPr>
        <p:spPr>
          <a:xfrm>
            <a:off x="457200" y="1234440"/>
            <a:ext cx="2651760" cy="502920"/>
          </a:xfrm>
          <a:prstGeom prst="rect">
            <a:avLst/>
          </a:prstGeom>
          <a:solidFill>
            <a:srgbClr val="1F4E79"/>
          </a:solidFill>
          <a:ln w="12700">
            <a:solidFill>
              <a:srgbClr val="1F4E79"/>
            </a:solidFill>
            <a:prstDash val="solid"/>
          </a:ln>
        </p:spPr>
      </p:sp>
      <p:sp>
        <p:nvSpPr>
          <p:cNvPr id="4" name="Text 2"/>
          <p:cNvSpPr txBox="1"/>
          <p:nvPr/>
        </p:nvSpPr>
        <p:spPr>
          <a:xfrm>
            <a:off x="457200" y="1234440"/>
            <a:ext cx="2651760" cy="50292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Banda y fase</a:t>
            </a:r>
            <a:endParaRPr lang="en-US" sz="1600" dirty="0"/>
          </a:p>
        </p:txBody>
      </p:sp>
      <p:sp>
        <p:nvSpPr>
          <p:cNvPr id="5" name="Tarjeta Banda y fase"/>
          <p:cNvSpPr/>
          <p:nvPr/>
        </p:nvSpPr>
        <p:spPr>
          <a:xfrm>
            <a:off x="457200" y="1737360"/>
            <a:ext cx="2651760" cy="1280160"/>
          </a:xfrm>
          <a:prstGeom prst="rect">
            <a:avLst/>
          </a:prstGeom>
          <a:solidFill>
            <a:srgbClr val="FFFFFF"/>
          </a:solidFill>
          <a:ln w="19050">
            <a:solidFill>
              <a:srgbClr val="1F4E79"/>
            </a:solidFill>
            <a:prstDash val="solid"/>
          </a:ln>
        </p:spPr>
      </p:sp>
      <p:sp>
        <p:nvSpPr>
          <p:cNvPr id="6" name="Text 4"/>
          <p:cNvSpPr txBox="1"/>
          <p:nvPr/>
        </p:nvSpPr>
        <p:spPr>
          <a:xfrm>
            <a:off x="594360" y="1783080"/>
            <a:ext cx="2377440" cy="11887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Cubrir las frecuencias de interés sin distorsiones dispares entre trazas</a:t>
            </a:r>
            <a:endParaRPr lang="en-US" sz="1600" dirty="0"/>
          </a:p>
        </p:txBody>
      </p:sp>
      <p:sp>
        <p:nvSpPr>
          <p:cNvPr id="7" name="Cabecera Margen dinámico"/>
          <p:cNvSpPr/>
          <p:nvPr/>
        </p:nvSpPr>
        <p:spPr>
          <a:xfrm>
            <a:off x="3246120" y="1234440"/>
            <a:ext cx="2651760" cy="502920"/>
          </a:xfrm>
          <a:prstGeom prst="rect">
            <a:avLst/>
          </a:prstGeom>
          <a:solidFill>
            <a:srgbClr val="1F4E79"/>
          </a:solidFill>
          <a:ln w="12700">
            <a:solidFill>
              <a:srgbClr val="1F4E79"/>
            </a:solidFill>
            <a:prstDash val="solid"/>
          </a:ln>
        </p:spPr>
      </p:sp>
      <p:sp>
        <p:nvSpPr>
          <p:cNvPr id="8" name="Text 6"/>
          <p:cNvSpPr txBox="1"/>
          <p:nvPr/>
        </p:nvSpPr>
        <p:spPr>
          <a:xfrm>
            <a:off x="3246120" y="1234440"/>
            <a:ext cx="2651760" cy="50292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Margen dinámico</a:t>
            </a:r>
            <a:endParaRPr lang="en-US" sz="1600" dirty="0"/>
          </a:p>
        </p:txBody>
      </p:sp>
      <p:sp>
        <p:nvSpPr>
          <p:cNvPr id="9" name="Tarjeta Margen dinámico"/>
          <p:cNvSpPr/>
          <p:nvPr/>
        </p:nvSpPr>
        <p:spPr>
          <a:xfrm>
            <a:off x="3246120" y="1737360"/>
            <a:ext cx="2651760" cy="1280160"/>
          </a:xfrm>
          <a:prstGeom prst="rect">
            <a:avLst/>
          </a:prstGeom>
          <a:solidFill>
            <a:srgbClr val="FFFFFF"/>
          </a:solidFill>
          <a:ln w="19050">
            <a:solidFill>
              <a:srgbClr val="1F4E79"/>
            </a:solidFill>
            <a:prstDash val="solid"/>
          </a:ln>
        </p:spPr>
      </p:sp>
      <p:sp>
        <p:nvSpPr>
          <p:cNvPr id="10" name="Text 8"/>
          <p:cNvSpPr txBox="1"/>
          <p:nvPr/>
        </p:nvSpPr>
        <p:spPr>
          <a:xfrm>
            <a:off x="3383280" y="1783080"/>
            <a:ext cx="2377440" cy="11887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Ganancia ajustable y resolución para señales cercanas y lejanas, sin saturar</a:t>
            </a:r>
            <a:endParaRPr lang="en-US" sz="1600" dirty="0"/>
          </a:p>
        </p:txBody>
      </p:sp>
      <p:sp>
        <p:nvSpPr>
          <p:cNvPr id="11" name="Cabecera Sincronización temporal"/>
          <p:cNvSpPr/>
          <p:nvPr/>
        </p:nvSpPr>
        <p:spPr>
          <a:xfrm>
            <a:off x="6035040" y="1234440"/>
            <a:ext cx="2651760" cy="502920"/>
          </a:xfrm>
          <a:prstGeom prst="rect">
            <a:avLst/>
          </a:prstGeom>
          <a:solidFill>
            <a:srgbClr val="1F4E79"/>
          </a:solidFill>
          <a:ln w="12700">
            <a:solidFill>
              <a:srgbClr val="1F4E79"/>
            </a:solidFill>
            <a:prstDash val="solid"/>
          </a:ln>
        </p:spPr>
      </p:sp>
      <p:sp>
        <p:nvSpPr>
          <p:cNvPr id="12" name="Text 10"/>
          <p:cNvSpPr txBox="1"/>
          <p:nvPr/>
        </p:nvSpPr>
        <p:spPr>
          <a:xfrm>
            <a:off x="6035040" y="1234440"/>
            <a:ext cx="2651760" cy="50292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Sincronización temporal</a:t>
            </a:r>
            <a:endParaRPr lang="en-US" sz="1600" dirty="0"/>
          </a:p>
        </p:txBody>
      </p:sp>
      <p:sp>
        <p:nvSpPr>
          <p:cNvPr id="13" name="Tarjeta Sincronización temporal"/>
          <p:cNvSpPr/>
          <p:nvPr/>
        </p:nvSpPr>
        <p:spPr>
          <a:xfrm>
            <a:off x="6035040" y="1737360"/>
            <a:ext cx="2651760" cy="1280160"/>
          </a:xfrm>
          <a:prstGeom prst="rect">
            <a:avLst/>
          </a:prstGeom>
          <a:solidFill>
            <a:srgbClr val="FFFFFF"/>
          </a:solidFill>
          <a:ln w="19050">
            <a:solidFill>
              <a:srgbClr val="1F4E79"/>
            </a:solidFill>
            <a:prstDash val="solid"/>
          </a:ln>
        </p:spPr>
      </p:sp>
      <p:sp>
        <p:nvSpPr>
          <p:cNvPr id="14" name="Text 12"/>
          <p:cNvSpPr txBox="1"/>
          <p:nvPr/>
        </p:nvSpPr>
        <p:spPr>
          <a:xfrm>
            <a:off x="6172200" y="1783080"/>
            <a:ext cx="2377440" cy="11887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Referencia de tiempo común entre nodos y con la excitación</a:t>
            </a:r>
            <a:endParaRPr lang="en-US" sz="1600" dirty="0"/>
          </a:p>
        </p:txBody>
      </p:sp>
      <p:sp>
        <p:nvSpPr>
          <p:cNvPr id="15" name="Cabecera Geometría"/>
          <p:cNvSpPr/>
          <p:nvPr/>
        </p:nvSpPr>
        <p:spPr>
          <a:xfrm>
            <a:off x="457200" y="3200400"/>
            <a:ext cx="4023360" cy="457200"/>
          </a:xfrm>
          <a:prstGeom prst="rect">
            <a:avLst/>
          </a:prstGeom>
          <a:solidFill>
            <a:srgbClr val="1F4E79"/>
          </a:solidFill>
          <a:ln w="12700">
            <a:solidFill>
              <a:srgbClr val="1F4E79"/>
            </a:solidFill>
            <a:prstDash val="solid"/>
          </a:ln>
        </p:spPr>
      </p:sp>
      <p:sp>
        <p:nvSpPr>
          <p:cNvPr id="16" name="Text 14"/>
          <p:cNvSpPr txBox="1"/>
          <p:nvPr/>
        </p:nvSpPr>
        <p:spPr>
          <a:xfrm>
            <a:off x="457200" y="3200400"/>
            <a:ext cx="4023360" cy="45720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Geometría</a:t>
            </a:r>
            <a:endParaRPr lang="en-US" sz="2000" dirty="0"/>
          </a:p>
        </p:txBody>
      </p:sp>
      <p:sp>
        <p:nvSpPr>
          <p:cNvPr id="17" name="Tarjeta Geometría"/>
          <p:cNvSpPr/>
          <p:nvPr/>
        </p:nvSpPr>
        <p:spPr>
          <a:xfrm>
            <a:off x="457200" y="3657600"/>
            <a:ext cx="4023360" cy="868680"/>
          </a:xfrm>
          <a:prstGeom prst="rect">
            <a:avLst/>
          </a:prstGeom>
          <a:solidFill>
            <a:srgbClr val="FFFFFF"/>
          </a:solidFill>
          <a:ln w="19050">
            <a:solidFill>
              <a:srgbClr val="1F4E79"/>
            </a:solidFill>
            <a:prstDash val="solid"/>
          </a:ln>
        </p:spPr>
      </p:sp>
      <p:sp>
        <p:nvSpPr>
          <p:cNvPr id="18" name="Text 16"/>
          <p:cNvSpPr txBox="1"/>
          <p:nvPr/>
        </p:nvSpPr>
        <p:spPr>
          <a:xfrm>
            <a:off x="594360" y="3703320"/>
            <a:ext cx="374904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Posición conocida de cada traza respecto de la fuente</a:t>
            </a:r>
            <a:endParaRPr lang="en-US" sz="1800" dirty="0"/>
          </a:p>
        </p:txBody>
      </p:sp>
      <p:sp>
        <p:nvSpPr>
          <p:cNvPr id="19" name="Cabecera Operación en campo"/>
          <p:cNvSpPr/>
          <p:nvPr/>
        </p:nvSpPr>
        <p:spPr>
          <a:xfrm>
            <a:off x="4663440" y="3200400"/>
            <a:ext cx="4023360" cy="457200"/>
          </a:xfrm>
          <a:prstGeom prst="rect">
            <a:avLst/>
          </a:prstGeom>
          <a:solidFill>
            <a:srgbClr val="1F4E79"/>
          </a:solidFill>
          <a:ln w="12700">
            <a:solidFill>
              <a:srgbClr val="1F4E79"/>
            </a:solidFill>
            <a:prstDash val="solid"/>
          </a:ln>
        </p:spPr>
      </p:sp>
      <p:sp>
        <p:nvSpPr>
          <p:cNvPr id="20" name="Text 18"/>
          <p:cNvSpPr txBox="1"/>
          <p:nvPr/>
        </p:nvSpPr>
        <p:spPr>
          <a:xfrm>
            <a:off x="4663440" y="3200400"/>
            <a:ext cx="4023360" cy="45720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Operación en campo</a:t>
            </a:r>
            <a:endParaRPr lang="en-US" sz="2000" dirty="0"/>
          </a:p>
        </p:txBody>
      </p:sp>
      <p:sp>
        <p:nvSpPr>
          <p:cNvPr id="21" name="Tarjeta Operación en campo"/>
          <p:cNvSpPr/>
          <p:nvPr/>
        </p:nvSpPr>
        <p:spPr>
          <a:xfrm>
            <a:off x="4663440" y="3657600"/>
            <a:ext cx="4023360" cy="868680"/>
          </a:xfrm>
          <a:prstGeom prst="rect">
            <a:avLst/>
          </a:prstGeom>
          <a:solidFill>
            <a:srgbClr val="FFFFFF"/>
          </a:solidFill>
          <a:ln w="19050">
            <a:solidFill>
              <a:srgbClr val="1F4E79"/>
            </a:solidFill>
            <a:prstDash val="solid"/>
          </a:ln>
        </p:spPr>
      </p:sp>
      <p:sp>
        <p:nvSpPr>
          <p:cNvPr id="22" name="Text 20"/>
          <p:cNvSpPr txBox="1"/>
          <p:nvPr/>
        </p:nvSpPr>
        <p:spPr>
          <a:xfrm>
            <a:off x="4800600" y="3703320"/>
            <a:ext cx="374904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Infraestructura mínima, con registro local y transmisión fiable</a:t>
            </a:r>
            <a:endParaRPr lang="en-US" sz="1800" dirty="0"/>
          </a:p>
        </p:txBody>
      </p:sp>
      <p:sp>
        <p:nvSpPr>
          <p:cNvPr id="23"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plataforma consta de un maestro y de nodos independientes que se comunican por ESP-NOW</a:t>
            </a:r>
            <a:endParaRPr lang="en-US" sz="2400" dirty="0"/>
          </a:p>
        </p:txBody>
      </p:sp>
      <p:sp>
        <p:nvSpPr>
          <p:cNvPr id="3" name="Navegador"/>
          <p:cNvSpPr/>
          <p:nvPr/>
        </p:nvSpPr>
        <p:spPr>
          <a:xfrm>
            <a:off x="457200" y="2148840"/>
            <a:ext cx="1737360" cy="914400"/>
          </a:xfrm>
          <a:prstGeom prst="roundRect">
            <a:avLst>
              <a:gd name="adj" fmla="val 8000"/>
            </a:avLst>
          </a:prstGeom>
          <a:solidFill>
            <a:srgbClr val="6B6B6B"/>
          </a:solidFill>
          <a:ln w="12700">
            <a:solidFill>
              <a:srgbClr val="6B6B6B"/>
            </a:solidFill>
            <a:prstDash val="solid"/>
          </a:ln>
        </p:spPr>
      </p:sp>
      <p:sp>
        <p:nvSpPr>
          <p:cNvPr id="4" name="Text 2"/>
          <p:cNvSpPr txBox="1"/>
          <p:nvPr/>
        </p:nvSpPr>
        <p:spPr>
          <a:xfrm>
            <a:off x="457200" y="2148840"/>
            <a:ext cx="1737360" cy="914400"/>
          </a:xfrm>
          <a:prstGeom prst="rect">
            <a:avLst/>
          </a:prstGeom>
          <a:noFill/>
          <a:ln/>
        </p:spPr>
        <p:txBody>
          <a:bodyPr wrap="square" lIns="50800" tIns="50800" rIns="50800" bIns="5080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Navegador</a:t>
            </a:r>
            <a:endParaRPr lang="en-US" sz="1500" dirty="0"/>
          </a:p>
          <a:p>
            <a:pPr algn="ctr" indent="0" marL="0">
              <a:buNone/>
            </a:pPr>
            <a:r>
              <a:rPr lang="en-US" sz="1500" b="1" dirty="0">
                <a:solidFill>
                  <a:srgbClr val="FFFFFF"/>
                </a:solidFill>
                <a:latin typeface="Arial" pitchFamily="34" charset="0"/>
                <a:ea typeface="Arial" pitchFamily="34" charset="-122"/>
                <a:cs typeface="Arial" pitchFamily="34" charset="-120"/>
              </a:rPr>
              <a:t>(celular o PC)</a:t>
            </a:r>
            <a:endParaRPr lang="en-US" sz="1500" dirty="0"/>
          </a:p>
        </p:txBody>
      </p:sp>
      <p:sp>
        <p:nvSpPr>
          <p:cNvPr id="5" name="Maestro"/>
          <p:cNvSpPr/>
          <p:nvPr/>
        </p:nvSpPr>
        <p:spPr>
          <a:xfrm>
            <a:off x="2788920" y="1280160"/>
            <a:ext cx="2286000" cy="2834640"/>
          </a:xfrm>
          <a:prstGeom prst="roundRect">
            <a:avLst>
              <a:gd name="adj" fmla="val 3200"/>
            </a:avLst>
          </a:prstGeom>
          <a:solidFill>
            <a:srgbClr val="1F4E79"/>
          </a:solidFill>
          <a:ln w="12700">
            <a:solidFill>
              <a:srgbClr val="1F4E79"/>
            </a:solidFill>
            <a:prstDash val="solid"/>
          </a:ln>
        </p:spPr>
      </p:sp>
      <p:sp>
        <p:nvSpPr>
          <p:cNvPr id="6" name="Text 4"/>
          <p:cNvSpPr txBox="1"/>
          <p:nvPr/>
        </p:nvSpPr>
        <p:spPr>
          <a:xfrm>
            <a:off x="2788920" y="1280160"/>
            <a:ext cx="2286000" cy="2834640"/>
          </a:xfrm>
          <a:prstGeom prst="rect">
            <a:avLst/>
          </a:prstGeom>
          <a:noFill/>
          <a:ln/>
        </p:spPr>
        <p:txBody>
          <a:bodyPr wrap="square" lIns="50800" tIns="50800" rIns="50800" bIns="5080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MAESTRO</a:t>
            </a:r>
            <a:endParaRPr lang="en-US" sz="1500" dirty="0"/>
          </a:p>
          <a:p>
            <a:pPr algn="ctr" indent="0" marL="0">
              <a:buNone/>
            </a:pPr>
            <a:r>
              <a:rPr lang="en-US" sz="1500" b="1" dirty="0">
                <a:solidFill>
                  <a:srgbClr val="FFFFFF"/>
                </a:solidFill>
                <a:latin typeface="Arial" pitchFamily="34" charset="0"/>
                <a:ea typeface="Arial" pitchFamily="34" charset="-122"/>
                <a:cs typeface="Arial" pitchFamily="34" charset="-120"/>
              </a:rPr>
              <a:t>ESP32</a:t>
            </a:r>
            <a:endParaRPr lang="en-US" sz="1500" dirty="0"/>
          </a:p>
          <a:p>
            <a:pPr algn="ctr" indent="0" marL="0">
              <a:buNone/>
            </a:pPr>
            <a:endParaRPr lang="en-US" sz="1500" dirty="0"/>
          </a:p>
          <a:p>
            <a:pPr algn="ctr" indent="0" marL="0">
              <a:buNone/>
            </a:pPr>
            <a:r>
              <a:rPr lang="en-US" sz="1500" b="1" dirty="0">
                <a:solidFill>
                  <a:srgbClr val="FFFFFF"/>
                </a:solidFill>
                <a:latin typeface="Arial" pitchFamily="34" charset="0"/>
                <a:ea typeface="Arial" pitchFamily="34" charset="-122"/>
                <a:cs typeface="Arial" pitchFamily="34" charset="-120"/>
              </a:rPr>
              <a:t>Interfaz web, coordinación de la captura</a:t>
            </a:r>
            <a:endParaRPr lang="en-US" sz="1500" dirty="0"/>
          </a:p>
        </p:txBody>
      </p:sp>
      <p:sp>
        <p:nvSpPr>
          <p:cNvPr id="7" name="Nodo GEO"/>
          <p:cNvSpPr/>
          <p:nvPr/>
        </p:nvSpPr>
        <p:spPr>
          <a:xfrm>
            <a:off x="5989320" y="1280160"/>
            <a:ext cx="2697480" cy="1234440"/>
          </a:xfrm>
          <a:prstGeom prst="roundRect">
            <a:avLst>
              <a:gd name="adj" fmla="val 5926"/>
            </a:avLst>
          </a:prstGeom>
          <a:solidFill>
            <a:srgbClr val="2E75B6"/>
          </a:solidFill>
          <a:ln w="12700">
            <a:solidFill>
              <a:srgbClr val="2E75B6"/>
            </a:solidFill>
            <a:prstDash val="solid"/>
          </a:ln>
        </p:spPr>
      </p:sp>
      <p:sp>
        <p:nvSpPr>
          <p:cNvPr id="8" name="Text 6"/>
          <p:cNvSpPr txBox="1"/>
          <p:nvPr/>
        </p:nvSpPr>
        <p:spPr>
          <a:xfrm>
            <a:off x="5989320" y="1280160"/>
            <a:ext cx="2697480" cy="1234440"/>
          </a:xfrm>
          <a:prstGeom prst="rect">
            <a:avLst/>
          </a:prstGeom>
          <a:noFill/>
          <a:ln/>
        </p:spPr>
        <p:txBody>
          <a:bodyPr wrap="square" lIns="50800" tIns="50800" rIns="50800" bIns="5080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Nodo GEO</a:t>
            </a:r>
            <a:endParaRPr lang="en-US" sz="1500" dirty="0"/>
          </a:p>
          <a:p>
            <a:pPr algn="ctr" indent="0" marL="0">
              <a:buNone/>
            </a:pPr>
            <a:r>
              <a:rPr lang="en-US" sz="1500" b="1" dirty="0">
                <a:solidFill>
                  <a:srgbClr val="FFFFFF"/>
                </a:solidFill>
                <a:latin typeface="Arial" pitchFamily="34" charset="0"/>
                <a:ea typeface="Arial" pitchFamily="34" charset="-122"/>
                <a:cs typeface="Arial" pitchFamily="34" charset="-120"/>
              </a:rPr>
              <a:t>ESP32 + PSoC 5LP</a:t>
            </a:r>
            <a:endParaRPr lang="en-US" sz="1500" dirty="0"/>
          </a:p>
          <a:p>
            <a:pPr algn="ctr" indent="0" marL="0">
              <a:buNone/>
            </a:pPr>
            <a:r>
              <a:rPr lang="en-US" sz="1500" b="1" dirty="0">
                <a:solidFill>
                  <a:srgbClr val="FFFFFF"/>
                </a:solidFill>
                <a:latin typeface="Arial" pitchFamily="34" charset="0"/>
                <a:ea typeface="Arial" pitchFamily="34" charset="-122"/>
                <a:cs typeface="Arial" pitchFamily="34" charset="-120"/>
              </a:rPr>
              <a:t>Geófono SM-24</a:t>
            </a:r>
            <a:endParaRPr lang="en-US" sz="1500" dirty="0"/>
          </a:p>
        </p:txBody>
      </p:sp>
      <p:sp>
        <p:nvSpPr>
          <p:cNvPr id="9" name="Nodo HAMMER"/>
          <p:cNvSpPr/>
          <p:nvPr/>
        </p:nvSpPr>
        <p:spPr>
          <a:xfrm>
            <a:off x="5989320" y="2880360"/>
            <a:ext cx="2697480" cy="1234440"/>
          </a:xfrm>
          <a:prstGeom prst="roundRect">
            <a:avLst>
              <a:gd name="adj" fmla="val 5926"/>
            </a:avLst>
          </a:prstGeom>
          <a:solidFill>
            <a:srgbClr val="C55A11"/>
          </a:solidFill>
          <a:ln w="12700">
            <a:solidFill>
              <a:srgbClr val="C55A11"/>
            </a:solidFill>
            <a:prstDash val="solid"/>
          </a:ln>
        </p:spPr>
      </p:sp>
      <p:sp>
        <p:nvSpPr>
          <p:cNvPr id="10" name="Text 8"/>
          <p:cNvSpPr txBox="1"/>
          <p:nvPr/>
        </p:nvSpPr>
        <p:spPr>
          <a:xfrm>
            <a:off x="5989320" y="2880360"/>
            <a:ext cx="2697480" cy="1234440"/>
          </a:xfrm>
          <a:prstGeom prst="rect">
            <a:avLst/>
          </a:prstGeom>
          <a:noFill/>
          <a:ln/>
        </p:spPr>
        <p:txBody>
          <a:bodyPr wrap="square" lIns="50800" tIns="50800" rIns="50800" bIns="5080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Nodo HAMMER</a:t>
            </a:r>
            <a:endParaRPr lang="en-US" sz="1500" dirty="0"/>
          </a:p>
          <a:p>
            <a:pPr algn="ctr" indent="0" marL="0">
              <a:buNone/>
            </a:pPr>
            <a:r>
              <a:rPr lang="en-US" sz="1500" b="1" dirty="0">
                <a:solidFill>
                  <a:srgbClr val="FFFFFF"/>
                </a:solidFill>
                <a:latin typeface="Arial" pitchFamily="34" charset="0"/>
                <a:ea typeface="Arial" pitchFamily="34" charset="-122"/>
                <a:cs typeface="Arial" pitchFamily="34" charset="-120"/>
              </a:rPr>
              <a:t>ESP32 + PSoC 5LP</a:t>
            </a:r>
            <a:endParaRPr lang="en-US" sz="1500" dirty="0"/>
          </a:p>
          <a:p>
            <a:pPr algn="ctr" indent="0" marL="0">
              <a:buNone/>
            </a:pPr>
            <a:r>
              <a:rPr lang="en-US" sz="1500" b="1" dirty="0">
                <a:solidFill>
                  <a:srgbClr val="FFFFFF"/>
                </a:solidFill>
                <a:latin typeface="Arial" pitchFamily="34" charset="0"/>
                <a:ea typeface="Arial" pitchFamily="34" charset="-122"/>
                <a:cs typeface="Arial" pitchFamily="34" charset="-120"/>
              </a:rPr>
              <a:t>Martillo con sensor de impacto</a:t>
            </a:r>
            <a:endParaRPr lang="en-US" sz="1500" dirty="0"/>
          </a:p>
        </p:txBody>
      </p:sp>
      <p:sp>
        <p:nvSpPr>
          <p:cNvPr id="11" name="Shape 9"/>
          <p:cNvSpPr/>
          <p:nvPr/>
        </p:nvSpPr>
        <p:spPr>
          <a:xfrm>
            <a:off x="2194560" y="2606040"/>
            <a:ext cx="594360" cy="0"/>
          </a:xfrm>
          <a:prstGeom prst="line">
            <a:avLst/>
          </a:prstGeom>
          <a:noFill/>
          <a:ln w="31750">
            <a:solidFill>
              <a:srgbClr val="1F4E79"/>
            </a:solidFill>
            <a:prstDash val="solid"/>
            <a:headEnd type="triangle"/>
            <a:tailEnd type="triangle"/>
          </a:ln>
        </p:spPr>
      </p:sp>
      <p:sp>
        <p:nvSpPr>
          <p:cNvPr id="12" name="Text 10"/>
          <p:cNvSpPr txBox="1"/>
          <p:nvPr/>
        </p:nvSpPr>
        <p:spPr>
          <a:xfrm>
            <a:off x="2148840" y="2240280"/>
            <a:ext cx="685800" cy="274320"/>
          </a:xfrm>
          <a:prstGeom prst="rect">
            <a:avLst/>
          </a:prstGeom>
          <a:noFill/>
          <a:ln/>
        </p:spPr>
        <p:txBody>
          <a:bodyPr wrap="square" lIns="0" tIns="0" rIns="0" bIns="0" rtlCol="0" anchor="t"/>
          <a:lstStyle/>
          <a:p>
            <a:pPr algn="ctr" indent="0" marL="0">
              <a:buNone/>
            </a:pPr>
            <a:r>
              <a:rPr lang="en-US" sz="1400" dirty="0">
                <a:solidFill>
                  <a:srgbClr val="6B6B6B"/>
                </a:solidFill>
                <a:latin typeface="Arial" pitchFamily="34" charset="0"/>
                <a:ea typeface="Arial" pitchFamily="34" charset="-122"/>
                <a:cs typeface="Arial" pitchFamily="34" charset="-120"/>
              </a:rPr>
              <a:t>Wi-Fi</a:t>
            </a:r>
            <a:endParaRPr lang="en-US" sz="1400" dirty="0"/>
          </a:p>
        </p:txBody>
      </p:sp>
      <p:sp>
        <p:nvSpPr>
          <p:cNvPr id="13" name="Shape 11"/>
          <p:cNvSpPr/>
          <p:nvPr/>
        </p:nvSpPr>
        <p:spPr>
          <a:xfrm>
            <a:off x="5074920" y="1892808"/>
            <a:ext cx="914400" cy="0"/>
          </a:xfrm>
          <a:prstGeom prst="line">
            <a:avLst/>
          </a:prstGeom>
          <a:noFill/>
          <a:ln w="31750">
            <a:solidFill>
              <a:srgbClr val="1F4E79"/>
            </a:solidFill>
            <a:prstDash val="solid"/>
            <a:headEnd type="triangle"/>
            <a:tailEnd type="triangle"/>
          </a:ln>
        </p:spPr>
      </p:sp>
      <p:sp>
        <p:nvSpPr>
          <p:cNvPr id="14" name="Shape 12"/>
          <p:cNvSpPr/>
          <p:nvPr/>
        </p:nvSpPr>
        <p:spPr>
          <a:xfrm>
            <a:off x="5074920" y="3493008"/>
            <a:ext cx="914400" cy="0"/>
          </a:xfrm>
          <a:prstGeom prst="line">
            <a:avLst/>
          </a:prstGeom>
          <a:noFill/>
          <a:ln w="31750">
            <a:solidFill>
              <a:srgbClr val="1F4E79"/>
            </a:solidFill>
            <a:prstDash val="solid"/>
            <a:headEnd type="triangle"/>
            <a:tailEnd type="triangle"/>
          </a:ln>
        </p:spPr>
      </p:sp>
      <p:sp>
        <p:nvSpPr>
          <p:cNvPr id="15" name="Text 13"/>
          <p:cNvSpPr txBox="1"/>
          <p:nvPr/>
        </p:nvSpPr>
        <p:spPr>
          <a:xfrm>
            <a:off x="4937760" y="1508760"/>
            <a:ext cx="1188720" cy="274320"/>
          </a:xfrm>
          <a:prstGeom prst="rect">
            <a:avLst/>
          </a:prstGeom>
          <a:noFill/>
          <a:ln/>
        </p:spPr>
        <p:txBody>
          <a:bodyPr wrap="square" lIns="0" tIns="0" rIns="0" bIns="0" rtlCol="0" anchor="t"/>
          <a:lstStyle/>
          <a:p>
            <a:pPr algn="ctr" indent="0" marL="0">
              <a:buNone/>
            </a:pPr>
            <a:r>
              <a:rPr lang="en-US" sz="1400" dirty="0">
                <a:solidFill>
                  <a:srgbClr val="6B6B6B"/>
                </a:solidFill>
                <a:latin typeface="Arial" pitchFamily="34" charset="0"/>
                <a:ea typeface="Arial" pitchFamily="34" charset="-122"/>
                <a:cs typeface="Arial" pitchFamily="34" charset="-120"/>
              </a:rPr>
              <a:t>ESP-NOW</a:t>
            </a:r>
            <a:endParaRPr lang="en-US" sz="1400" dirty="0"/>
          </a:p>
        </p:txBody>
      </p:sp>
      <p:sp>
        <p:nvSpPr>
          <p:cNvPr id="16" name="Text 14"/>
          <p:cNvSpPr txBox="1"/>
          <p:nvPr/>
        </p:nvSpPr>
        <p:spPr>
          <a:xfrm>
            <a:off x="457200" y="4160520"/>
            <a:ext cx="8229600" cy="365760"/>
          </a:xfrm>
          <a:prstGeom prst="rect">
            <a:avLst/>
          </a:prstGeom>
          <a:noFill/>
          <a:ln/>
        </p:spPr>
        <p:txBody>
          <a:bodyPr wrap="square" lIns="0" tIns="0" rIns="0" bIns="0" rtlCol="0" anchor="t"/>
          <a:lstStyle/>
          <a:p>
            <a:pPr indent="0" marL="0">
              <a:buNone/>
            </a:pPr>
            <a:r>
              <a:rPr lang="en-US" sz="1600" dirty="0">
                <a:solidFill>
                  <a:srgbClr val="2D2D2D"/>
                </a:solidFill>
                <a:latin typeface="Arial" pitchFamily="34" charset="0"/>
                <a:ea typeface="Arial" pitchFamily="34" charset="-122"/>
                <a:cs typeface="Arial" pitchFamily="34" charset="-120"/>
              </a:rPr>
              <a:t>Cada nodo acondiciona, digitaliza y guarda sus propias muestras. Más canales significa más nodos GEO.</a:t>
            </a:r>
            <a:endParaRPr lang="en-US" sz="1600" dirty="0"/>
          </a:p>
        </p:txBody>
      </p:sp>
      <p:sp>
        <p:nvSpPr>
          <p:cNvPr id="1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sobre la fig. 11 del resumen firmado (sec. 4.7).</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SM-24 es un geófono vertical pasivo de bobina móvil</a:t>
            </a:r>
            <a:endParaRPr lang="en-US" sz="2400" dirty="0"/>
          </a:p>
        </p:txBody>
      </p:sp>
      <p:pic>
        <p:nvPicPr>
          <p:cNvPr id="3" name="Foto SM-24" descr="Foto del geófono SM-24 con carcasa amarilla y punta">    </p:cNvPr>
          <p:cNvPicPr>
            <a:picLocks noChangeAspect="1"/>
          </p:cNvPicPr>
          <p:nvPr/>
        </p:nvPicPr>
        <p:blipFill>
          <a:blip r:embed="rId1"/>
          <a:stretch>
            <a:fillRect/>
          </a:stretch>
        </p:blipFill>
        <p:spPr>
          <a:xfrm>
            <a:off x="365760" y="1280160"/>
            <a:ext cx="2103120" cy="2103120"/>
          </a:xfrm>
          <a:prstGeom prst="rect">
            <a:avLst/>
          </a:prstGeom>
        </p:spPr>
      </p:pic>
      <p:pic>
        <p:nvPicPr>
          <p:cNvPr id="4" name="Corte geófono" descr="Corte interno de un geófono de bobina móvil: carcasa, resortes, imán y bobinas">    </p:cNvPr>
          <p:cNvPicPr>
            <a:picLocks noChangeAspect="1"/>
          </p:cNvPicPr>
          <p:nvPr/>
        </p:nvPicPr>
        <p:blipFill>
          <a:blip r:embed="rId2"/>
          <a:stretch>
            <a:fillRect/>
          </a:stretch>
        </p:blipFill>
        <p:spPr>
          <a:xfrm>
            <a:off x="2560320" y="1280160"/>
            <a:ext cx="3108960" cy="2348417"/>
          </a:xfrm>
          <a:prstGeom prst="rect">
            <a:avLst/>
          </a:prstGeom>
        </p:spPr>
      </p:pic>
      <p:sp>
        <p:nvSpPr>
          <p:cNvPr id="5" name="Cuerpo"/>
          <p:cNvSpPr txBox="1"/>
          <p:nvPr/>
        </p:nvSpPr>
        <p:spPr>
          <a:xfrm>
            <a:off x="5852160" y="1371600"/>
            <a:ext cx="2834640" cy="292608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Mide el movimiento vertical del suelo</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Frecuencia natural nominal: 10 Hz</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Sensibilidad: 28,8 V·s/m</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Amortiguamiento: depende de la carga eléctrica</a:t>
            </a:r>
            <a:endParaRPr lang="en-US" sz="1800" dirty="0"/>
          </a:p>
        </p:txBody>
      </p:sp>
      <p:sp>
        <p:nvSpPr>
          <p:cNvPr id="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Sensor Nederland B.V. (2006). Imágenes: origen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masa suspendida se mueve respecto de la carcasa, y ese movimiento relativo genera la tensión</a:t>
            </a:r>
            <a:endParaRPr lang="en-US" sz="2400" dirty="0"/>
          </a:p>
        </p:txBody>
      </p:sp>
      <p:sp>
        <p:nvSpPr>
          <p:cNvPr id="3" name="Fondo E_urel"/>
          <p:cNvSpPr/>
          <p:nvPr/>
        </p:nvSpPr>
        <p:spPr>
          <a:xfrm>
            <a:off x="457200" y="1325880"/>
            <a:ext cx="274320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urel"/>
              <p:cNvSpPr txBox="1"/>
              <p:nvPr/>
            </p:nvSpPr>
            <p:spPr>
              <a:xfrm>
                <a:off x="457200" y="1325880"/>
                <a:ext cx="274320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u=</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x</m:t>
                          </m:r>
                        </m:e>
                        <m:sub>
                          <m:r>
                            <a:rPr lang="es-ES" sz="2400" i="1">
                              <a:solidFill>
                                <a:srgbClr val="1F4E79"/>
                              </a:solidFill>
                              <a:latin typeface="Cambria Math" panose="02040503050406030204" pitchFamily="18" charset="0"/>
                            </a:rPr>
                            <m:t xml:space="preserve">m</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x</m:t>
                          </m:r>
                        </m:e>
                        <m:sub>
                          <m:r>
                            <a:rPr lang="es-ES" sz="2400" i="1">
                              <a:solidFill>
                                <a:srgbClr val="1F4E79"/>
                              </a:solidFill>
                              <a:latin typeface="Cambria Math" panose="02040503050406030204" pitchFamily="18" charset="0"/>
                            </a:rPr>
                            <m:t xml:space="preserve">g</m:t>
                          </m:r>
                        </m:sub>
                      </m:sSub>
                    </m:oMath>
                  </m:oMathPara>
                </a14:m>
                <a:endParaRPr lang="es-ES"/>
              </a:p>
            </p:txBody>
          </p:sp>
        </mc:Choice>
        <mc:Fallback>
          <p:sp>
            <p:nvSpPr>
              <p:cNvPr id="4" name="Ecuación E_urel"/>
              <p:cNvSpPr txBox="1"/>
              <p:nvPr/>
            </p:nvSpPr>
            <p:spPr>
              <a:xfrm>
                <a:off x="457200" y="1325880"/>
                <a:ext cx="274320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u = xm − xg</a:t>
                </a:r>
                <a:endParaRPr lang="en-US" sz="2400" dirty="0"/>
              </a:p>
            </p:txBody>
          </p:sp>
        </mc:Fallback>
      </mc:AlternateContent>
      <p:sp>
        <p:nvSpPr>
          <p:cNvPr id="5" name="Fondo E_mech"/>
          <p:cNvSpPr/>
          <p:nvPr/>
        </p:nvSpPr>
        <p:spPr>
          <a:xfrm>
            <a:off x="3383280" y="1325880"/>
            <a:ext cx="53035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mech"/>
              <p:cNvSpPr txBox="1"/>
              <p:nvPr/>
            </p:nvSpPr>
            <p:spPr>
              <a:xfrm>
                <a:off x="3383280" y="1325880"/>
                <a:ext cx="53035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m</m:t>
                      </m:r>
                      <m:acc>
                        <m:accPr>
                          <m:chr m:val="̈"/>
                          <m:ctrlPr>
                            <a:rPr lang="es-ES" sz="2400" i="1">
                              <a:latin typeface="Cambria Math" panose="02040503050406030204" pitchFamily="18" charset="0"/>
                            </a:rPr>
                          </m:ctrlPr>
                        </m:accPr>
                        <m:e>
                          <m:r>
                            <a:rPr lang="es-ES" sz="2400" i="1">
                              <a:solidFill>
                                <a:srgbClr val="1F4E79"/>
                              </a:solidFill>
                              <a:latin typeface="Cambria Math" panose="02040503050406030204" pitchFamily="18" charset="0"/>
                            </a:rPr>
                            <m:t xml:space="preserve">u</m:t>
                          </m:r>
                        </m:e>
                      </m:acc>
                      <m:r>
                        <a:rPr lang="es-ES" sz="2400" i="1">
                          <a:solidFill>
                            <a:srgbClr val="1F4E79"/>
                          </a:solidFill>
                          <a:latin typeface="Cambria Math" panose="02040503050406030204" pitchFamily="18" charset="0"/>
                        </a:rPr>
                        <m:t xml:space="preserve">+c</m:t>
                      </m:r>
                      <m:acc>
                        <m:accPr>
                          <m:chr m:val="̇"/>
                          <m:ctrlPr>
                            <a:rPr lang="es-ES" sz="2400" i="1">
                              <a:latin typeface="Cambria Math" panose="02040503050406030204" pitchFamily="18" charset="0"/>
                            </a:rPr>
                          </m:ctrlPr>
                        </m:accPr>
                        <m:e>
                          <m:r>
                            <a:rPr lang="es-ES" sz="2400" i="1">
                              <a:solidFill>
                                <a:srgbClr val="1F4E79"/>
                              </a:solidFill>
                              <a:latin typeface="Cambria Math" panose="02040503050406030204" pitchFamily="18" charset="0"/>
                            </a:rPr>
                            <m:t xml:space="preserve">u</m:t>
                          </m:r>
                        </m:e>
                      </m:acc>
                      <m:r>
                        <a:rPr lang="es-ES" sz="2400" i="1">
                          <a:solidFill>
                            <a:srgbClr val="1F4E79"/>
                          </a:solidFill>
                          <a:latin typeface="Cambria Math" panose="02040503050406030204" pitchFamily="18" charset="0"/>
                        </a:rPr>
                        <m:t xml:space="preserve">+ku=−m</m:t>
                      </m:r>
                      <m:sSub>
                        <m:sSubPr>
                          <m:ctrlPr>
                            <a:rPr lang="es-ES" sz="2400" i="1">
                              <a:latin typeface="Cambria Math" panose="02040503050406030204" pitchFamily="18" charset="0"/>
                            </a:rPr>
                          </m:ctrlPr>
                        </m:sSubPr>
                        <m:e>
                          <m:acc>
                            <m:accPr>
                              <m:chr m:val="̈"/>
                              <m:ctrlPr>
                                <a:rPr lang="es-ES" sz="2400" i="1">
                                  <a:latin typeface="Cambria Math" panose="02040503050406030204" pitchFamily="18" charset="0"/>
                                </a:rPr>
                              </m:ctrlPr>
                            </m:accPr>
                            <m:e>
                              <m:r>
                                <a:rPr lang="es-ES" sz="2400" i="1">
                                  <a:solidFill>
                                    <a:srgbClr val="1F4E79"/>
                                  </a:solidFill>
                                  <a:latin typeface="Cambria Math" panose="02040503050406030204" pitchFamily="18" charset="0"/>
                                </a:rPr>
                                <m:t xml:space="preserve">x</m:t>
                              </m:r>
                            </m:e>
                          </m:acc>
                        </m:e>
                        <m:sub>
                          <m:r>
                            <a:rPr lang="es-ES" sz="2400" i="1">
                              <a:solidFill>
                                <a:srgbClr val="1F4E79"/>
                              </a:solidFill>
                              <a:latin typeface="Cambria Math" panose="02040503050406030204" pitchFamily="18" charset="0"/>
                            </a:rPr>
                            <m:t xml:space="preserve">g</m:t>
                          </m:r>
                        </m:sub>
                      </m:sSub>
                    </m:oMath>
                  </m:oMathPara>
                </a14:m>
                <a:endParaRPr lang="es-ES"/>
              </a:p>
            </p:txBody>
          </p:sp>
        </mc:Choice>
        <mc:Fallback>
          <p:sp>
            <p:nvSpPr>
              <p:cNvPr id="6" name="Ecuación E_mech"/>
              <p:cNvSpPr txBox="1"/>
              <p:nvPr/>
            </p:nvSpPr>
            <p:spPr>
              <a:xfrm>
                <a:off x="3383280" y="1325880"/>
                <a:ext cx="53035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m ü + c u̇ + k u = −m ẍg</a:t>
                </a:r>
                <a:endParaRPr lang="en-US" sz="2400" dirty="0"/>
              </a:p>
            </p:txBody>
          </p:sp>
        </mc:Fallback>
      </mc:AlternateContent>
      <p:sp>
        <p:nvSpPr>
          <p:cNvPr id="7" name="Cuerpo"/>
          <p:cNvSpPr txBox="1"/>
          <p:nvPr/>
        </p:nvSpPr>
        <p:spPr>
          <a:xfrm>
            <a:off x="457200" y="2286000"/>
            <a:ext cx="8229600" cy="1371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u: desplazamiento de la masa respecto de la carcasa, que sigue al suelo</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m, c y k: masa móvil, amortiguamiento mecánico y rigidez del resorte</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La aceleración del terreno excita la masa; la tensión inducida es proporcional a u̇:</a:t>
            </a:r>
            <a:endParaRPr lang="en-US" sz="1600" dirty="0"/>
          </a:p>
        </p:txBody>
      </p:sp>
      <p:sp>
        <p:nvSpPr>
          <p:cNvPr id="8" name="Fondo E_vo"/>
          <p:cNvSpPr/>
          <p:nvPr/>
        </p:nvSpPr>
        <p:spPr>
          <a:xfrm>
            <a:off x="2743200" y="3749040"/>
            <a:ext cx="3657600" cy="6858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9" name="Ecuación E_vo"/>
              <p:cNvSpPr txBox="1"/>
              <p:nvPr/>
            </p:nvSpPr>
            <p:spPr>
              <a:xfrm>
                <a:off x="2743200" y="3749040"/>
                <a:ext cx="3657600" cy="6858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m:rPr>
                              <m:sty m:val="p"/>
                            </m:rPr>
                            <a:rPr lang="es-ES" sz="2400">
                              <a:solidFill>
                                <a:srgbClr val="1F4E79"/>
                              </a:solidFill>
                              <a:latin typeface="Cambria Math" panose="02040503050406030204" pitchFamily="18" charset="0"/>
                            </a:rPr>
                            <m:t xml:space="preserve">o</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a:rPr lang="es-ES" sz="2400" i="1">
                              <a:solidFill>
                                <a:srgbClr val="1F4E79"/>
                              </a:solidFill>
                              <a:latin typeface="Cambria Math" panose="02040503050406030204" pitchFamily="18" charset="0"/>
                            </a:rPr>
                            <m:t xml:space="preserve">0</m:t>
                          </m:r>
                        </m:sub>
                      </m:sSub>
                      <m:acc>
                        <m:accPr>
                          <m:chr m:val="̇"/>
                          <m:ctrlPr>
                            <a:rPr lang="es-ES" sz="2400" i="1">
                              <a:latin typeface="Cambria Math" panose="02040503050406030204" pitchFamily="18" charset="0"/>
                            </a:rPr>
                          </m:ctrlPr>
                        </m:accPr>
                        <m:e>
                          <m:r>
                            <a:rPr lang="es-ES" sz="2400" i="1">
                              <a:solidFill>
                                <a:srgbClr val="1F4E79"/>
                              </a:solidFill>
                              <a:latin typeface="Cambria Math" panose="02040503050406030204" pitchFamily="18" charset="0"/>
                            </a:rPr>
                            <m:t xml:space="preserve">u</m:t>
                          </m:r>
                        </m:e>
                      </m:acc>
                    </m:oMath>
                  </m:oMathPara>
                </a14:m>
                <a:endParaRPr lang="es-ES"/>
              </a:p>
            </p:txBody>
          </p:sp>
        </mc:Choice>
        <mc:Fallback>
          <p:sp>
            <p:nvSpPr>
              <p:cNvPr id="9" name="Ecuación E_vo"/>
              <p:cNvSpPr txBox="1"/>
              <p:nvPr/>
            </p:nvSpPr>
            <p:spPr>
              <a:xfrm>
                <a:off x="2743200" y="3749040"/>
                <a:ext cx="3657600" cy="6858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Vo = G0 u̇</a:t>
                </a:r>
                <a:endParaRPr lang="en-US" sz="2400" dirty="0"/>
              </a:p>
            </p:txBody>
          </p:sp>
        </mc:Fallback>
      </mc:AlternateContent>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4.2, ec. (7)–(9).</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carga eléctrica conectada a la bobina modifica el amortiguamiento y, con él, la respuesta</a:t>
            </a:r>
            <a:endParaRPr lang="en-US" sz="2400" dirty="0"/>
          </a:p>
        </p:txBody>
      </p:sp>
      <p:sp>
        <p:nvSpPr>
          <p:cNvPr id="3" name="Fondo E_zeta"/>
          <p:cNvSpPr/>
          <p:nvPr/>
        </p:nvSpPr>
        <p:spPr>
          <a:xfrm>
            <a:off x="457200" y="1325880"/>
            <a:ext cx="8229600" cy="109728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zeta"/>
              <p:cNvSpPr txBox="1"/>
              <p:nvPr/>
            </p:nvSpPr>
            <p:spPr>
              <a:xfrm>
                <a:off x="457200" y="1325880"/>
                <a:ext cx="8229600" cy="109728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200" i="1">
                          <a:solidFill>
                            <a:srgbClr val="1F4E79"/>
                          </a:solidFill>
                          <a:latin typeface="Cambria Math" panose="02040503050406030204" pitchFamily="18" charset="0"/>
                        </a:rPr>
                        <m:t xml:space="preserve">ζ=</m:t>
                      </m:r>
                      <m:f>
                        <m:fPr>
                          <m:ctrlPr>
                            <a:rPr lang="es-ES" sz="2200" i="1">
                              <a:latin typeface="Cambria Math" panose="02040503050406030204" pitchFamily="18" charset="0"/>
                            </a:rPr>
                          </m:ctrlPr>
                        </m:fPr>
                        <m:num>
                          <m:r>
                            <a:rPr lang="es-ES" sz="2200" i="1">
                              <a:solidFill>
                                <a:srgbClr val="1F4E79"/>
                              </a:solidFill>
                              <a:latin typeface="Cambria Math" panose="02040503050406030204" pitchFamily="18" charset="0"/>
                            </a:rPr>
                            <m:t xml:space="preserve">c</m:t>
                          </m:r>
                        </m:num>
                        <m:den>
                          <m:r>
                            <a:rPr lang="es-ES" sz="2200" i="1">
                              <a:solidFill>
                                <a:srgbClr val="1F4E79"/>
                              </a:solidFill>
                              <a:latin typeface="Cambria Math" panose="02040503050406030204" pitchFamily="18" charset="0"/>
                            </a:rPr>
                            <m:t xml:space="preserve">2m</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ω</m:t>
                              </m:r>
                            </m:e>
                            <m:sub>
                              <m:r>
                                <a:rPr lang="es-ES" sz="2200" i="1">
                                  <a:solidFill>
                                    <a:srgbClr val="1F4E79"/>
                                  </a:solidFill>
                                  <a:latin typeface="Cambria Math" panose="02040503050406030204" pitchFamily="18" charset="0"/>
                                </a:rPr>
                                <m:t xml:space="preserve">n</m:t>
                              </m:r>
                            </m:sub>
                          </m:sSub>
                        </m:den>
                      </m:f>
                      <m:r>
                        <a:rPr lang="es-ES" sz="2200" i="1">
                          <a:solidFill>
                            <a:srgbClr val="1F4E79"/>
                          </a:solidFill>
                          <a:latin typeface="Cambria Math" panose="02040503050406030204" pitchFamily="18" charset="0"/>
                        </a:rPr>
                        <m:t xml:space="preserve">+</m:t>
                      </m:r>
                      <m:f>
                        <m:fPr>
                          <m:ctrlPr>
                            <a:rPr lang="es-ES" sz="2200" i="1">
                              <a:latin typeface="Cambria Math" panose="02040503050406030204" pitchFamily="18" charset="0"/>
                            </a:rPr>
                          </m:ctrlPr>
                        </m:fPr>
                        <m:num>
                          <m:sSup>
                            <m:sSupPr>
                              <m:ctrlPr>
                                <a:rPr lang="es-ES" sz="2200" i="1">
                                  <a:latin typeface="Cambria Math" panose="02040503050406030204" pitchFamily="18" charset="0"/>
                                </a:rPr>
                              </m:ctrlPr>
                            </m:sSupPr>
                            <m:e>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G</m:t>
                                  </m:r>
                                </m:e>
                                <m:sub>
                                  <m:r>
                                    <a:rPr lang="es-ES" sz="2200" i="1">
                                      <a:solidFill>
                                        <a:srgbClr val="1F4E79"/>
                                      </a:solidFill>
                                      <a:latin typeface="Cambria Math" panose="02040503050406030204" pitchFamily="18" charset="0"/>
                                    </a:rPr>
                                    <m:t xml:space="preserve">0</m:t>
                                  </m:r>
                                </m:sub>
                              </m:sSub>
                            </m:e>
                            <m:sup>
                              <m:r>
                                <a:rPr lang="es-ES" sz="2200" i="1">
                                  <a:solidFill>
                                    <a:srgbClr val="1F4E79"/>
                                  </a:solidFill>
                                  <a:latin typeface="Cambria Math" panose="02040503050406030204" pitchFamily="18" charset="0"/>
                                </a:rPr>
                                <m:t xml:space="preserve">2</m:t>
                              </m:r>
                            </m:sup>
                          </m:sSup>
                        </m:num>
                        <m:den>
                          <m:r>
                            <a:rPr lang="es-ES" sz="2200" i="1">
                              <a:solidFill>
                                <a:srgbClr val="1F4E79"/>
                              </a:solidFill>
                              <a:latin typeface="Cambria Math" panose="02040503050406030204" pitchFamily="18" charset="0"/>
                            </a:rPr>
                            <m:t xml:space="preserve">2m</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ω</m:t>
                              </m:r>
                            </m:e>
                            <m:sub>
                              <m:r>
                                <a:rPr lang="es-ES" sz="2200" i="1">
                                  <a:solidFill>
                                    <a:srgbClr val="1F4E79"/>
                                  </a:solidFill>
                                  <a:latin typeface="Cambria Math" panose="02040503050406030204" pitchFamily="18" charset="0"/>
                                </a:rPr>
                                <m:t xml:space="preserve">n</m:t>
                              </m:r>
                            </m:sub>
                          </m:sSub>
                          <m:r>
                            <a:rPr lang="es-ES" sz="2200" i="1">
                              <a:solidFill>
                                <a:srgbClr val="1F4E79"/>
                              </a:solidFill>
                              <a:latin typeface="Cambria Math" panose="02040503050406030204" pitchFamily="18" charset="0"/>
                            </a:rPr>
                            <m:t xml:space="preserve">(</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R</m:t>
                              </m:r>
                            </m:e>
                            <m:sub>
                              <m:r>
                                <a:rPr lang="es-ES" sz="2200" i="1">
                                  <a:solidFill>
                                    <a:srgbClr val="1F4E79"/>
                                  </a:solidFill>
                                  <a:latin typeface="Cambria Math" panose="02040503050406030204" pitchFamily="18" charset="0"/>
                                </a:rPr>
                                <m:t xml:space="preserve">i</m:t>
                              </m:r>
                            </m:sub>
                          </m:sSub>
                          <m:r>
                            <a:rPr lang="es-ES" sz="2200" i="1">
                              <a:solidFill>
                                <a:srgbClr val="1F4E79"/>
                              </a:solidFill>
                              <a:latin typeface="Cambria Math" panose="02040503050406030204" pitchFamily="18" charset="0"/>
                            </a:rPr>
                            <m:t xml:space="preserve">+</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R</m:t>
                              </m:r>
                            </m:e>
                            <m:sub>
                              <m:r>
                                <a:rPr lang="es-ES" sz="2200" i="1">
                                  <a:solidFill>
                                    <a:srgbClr val="1F4E79"/>
                                  </a:solidFill>
                                  <a:latin typeface="Cambria Math" panose="02040503050406030204" pitchFamily="18" charset="0"/>
                                </a:rPr>
                                <m:t xml:space="preserve">L</m:t>
                              </m:r>
                            </m:sub>
                          </m:sSub>
                          <m:r>
                            <a:rPr lang="es-ES" sz="2200" i="1">
                              <a:solidFill>
                                <a:srgbClr val="1F4E79"/>
                              </a:solidFill>
                              <a:latin typeface="Cambria Math" panose="02040503050406030204" pitchFamily="18" charset="0"/>
                            </a:rPr>
                            <m:t xml:space="preserve">)</m:t>
                          </m:r>
                        </m:den>
                      </m:f>
                    </m:oMath>
                  </m:oMathPara>
                </a14:m>
                <a:endParaRPr lang="es-ES"/>
              </a:p>
            </p:txBody>
          </p:sp>
        </mc:Choice>
        <mc:Fallback>
          <p:sp>
            <p:nvSpPr>
              <p:cNvPr id="4" name="Ecuación E_zeta"/>
              <p:cNvSpPr txBox="1"/>
              <p:nvPr/>
            </p:nvSpPr>
            <p:spPr>
              <a:xfrm>
                <a:off x="457200" y="1325880"/>
                <a:ext cx="8229600" cy="109728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ζ = c/(2mωn) + G0²/(2mωn(Ri + RL))</a:t>
                </a:r>
                <a:endParaRPr lang="en-US" sz="2400" dirty="0"/>
              </a:p>
            </p:txBody>
          </p:sp>
        </mc:Fallback>
      </mc:AlternateContent>
      <p:sp>
        <p:nvSpPr>
          <p:cNvPr id="5" name="Cuerpo"/>
          <p:cNvSpPr txBox="1"/>
          <p:nvPr/>
        </p:nvSpPr>
        <p:spPr>
          <a:xfrm>
            <a:off x="457200" y="2606040"/>
            <a:ext cx="8229600" cy="192024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El primer término es el amortiguamiento mecánico; el segundo, el eléctrico</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G0 es la sensibilidad, Ri la resistencia de la bobina y RL la carga del frente</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Por eso la impedancia de entrada del frente también carga la bobina</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La entrada se diseñó con impedancia alta y simétrica, para no cargar de forma distinta cada unidad</a:t>
            </a:r>
            <a:endParaRPr lang="en-US" sz="1600" dirty="0"/>
          </a:p>
        </p:txBody>
      </p:sp>
      <p:sp>
        <p:nvSpPr>
          <p:cNvPr id="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4.2, ec. (8); Sensor Nederland B.V. (2006); Ma et al. (2023).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Por debajo de su frecuencia natural, la tensión del SM-24 cae rápido: a 1 Hz, unos 40 dB</a:t>
            </a:r>
            <a:endParaRPr lang="en-US" sz="2400" dirty="0"/>
          </a:p>
        </p:txBody>
      </p:sp>
      <p:pic>
        <p:nvPicPr>
          <p:cNvPr id="3" name="Respuesta SM-24" descr="Respuesta nominal del SM-24 referida a velocidad y a aceleración del terreno, con frecuencia natural de 10 Hz">    </p:cNvPr>
          <p:cNvPicPr>
            <a:picLocks noChangeAspect="1"/>
          </p:cNvPicPr>
          <p:nvPr/>
        </p:nvPicPr>
        <p:blipFill>
          <a:blip r:embed="rId1"/>
          <a:stretch>
            <a:fillRect/>
          </a:stretch>
        </p:blipFill>
        <p:spPr>
          <a:xfrm>
            <a:off x="1188720" y="1188720"/>
            <a:ext cx="6766560" cy="2470158"/>
          </a:xfrm>
          <a:prstGeom prst="rect">
            <a:avLst/>
          </a:prstGeom>
        </p:spPr>
      </p:pic>
      <p:sp>
        <p:nvSpPr>
          <p:cNvPr id="4" name="Fondo E_ha"/>
          <p:cNvSpPr/>
          <p:nvPr/>
        </p:nvSpPr>
        <p:spPr>
          <a:xfrm>
            <a:off x="2011680" y="3749040"/>
            <a:ext cx="512064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ha"/>
              <p:cNvSpPr txBox="1"/>
              <p:nvPr/>
            </p:nvSpPr>
            <p:spPr>
              <a:xfrm>
                <a:off x="2011680" y="3749040"/>
                <a:ext cx="512064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H</m:t>
                          </m:r>
                        </m:e>
                        <m:sub>
                          <m:r>
                            <a:rPr lang="es-ES" sz="2400" i="1">
                              <a:solidFill>
                                <a:srgbClr val="1F4E79"/>
                              </a:solidFill>
                              <a:latin typeface="Cambria Math" panose="02040503050406030204" pitchFamily="18" charset="0"/>
                            </a:rPr>
                            <m:t xml:space="preserve">a</m:t>
                          </m:r>
                        </m:sub>
                      </m:sSub>
                      <m:r>
                        <a:rPr lang="es-ES" sz="2400" i="1">
                          <a:solidFill>
                            <a:srgbClr val="1F4E79"/>
                          </a:solidFill>
                          <a:latin typeface="Cambria Math" panose="02040503050406030204" pitchFamily="18" charset="0"/>
                        </a:rPr>
                        <m:t xml:space="preserve">(s)=−</m:t>
                      </m:r>
                      <m:f>
                        <m:fPr>
                          <m:ctrlPr>
                            <a:rPr lang="es-ES" sz="2400" i="1">
                              <a:latin typeface="Cambria Math" panose="02040503050406030204" pitchFamily="18" charset="0"/>
                            </a:rPr>
                          </m:ctrlPr>
                        </m:fPr>
                        <m:num>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a:rPr lang="es-ES" sz="2400" i="1">
                                  <a:solidFill>
                                    <a:srgbClr val="1F4E79"/>
                                  </a:solidFill>
                                  <a:latin typeface="Cambria Math" panose="02040503050406030204" pitchFamily="18" charset="0"/>
                                </a:rPr>
                                <m:t xml:space="preserve">0</m:t>
                              </m:r>
                            </m:sub>
                          </m:sSub>
                          <m:r>
                            <a:rPr lang="es-ES" sz="2400" i="1">
                              <a:solidFill>
                                <a:srgbClr val="1F4E79"/>
                              </a:solidFill>
                              <a:latin typeface="Cambria Math" panose="02040503050406030204" pitchFamily="18" charset="0"/>
                            </a:rPr>
                            <m:t xml:space="preserve">s</m:t>
                          </m:r>
                        </m:num>
                        <m:den>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s</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+2ζ</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ω</m:t>
                              </m:r>
                            </m:e>
                            <m:sub>
                              <m:r>
                                <a:rPr lang="es-ES" sz="2400" i="1">
                                  <a:solidFill>
                                    <a:srgbClr val="1F4E79"/>
                                  </a:solidFill>
                                  <a:latin typeface="Cambria Math" panose="02040503050406030204" pitchFamily="18" charset="0"/>
                                </a:rPr>
                                <m:t xml:space="preserve">n</m:t>
                              </m:r>
                            </m:sub>
                          </m:sSub>
                          <m:r>
                            <a:rPr lang="es-ES" sz="2400" i="1">
                              <a:solidFill>
                                <a:srgbClr val="1F4E79"/>
                              </a:solidFill>
                              <a:latin typeface="Cambria Math" panose="02040503050406030204" pitchFamily="18" charset="0"/>
                            </a:rPr>
                            <m:t xml:space="preserve">s+</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ω</m:t>
                                  </m:r>
                                </m:e>
                                <m:sub>
                                  <m:r>
                                    <a:rPr lang="es-ES" sz="2400" i="1">
                                      <a:solidFill>
                                        <a:srgbClr val="1F4E79"/>
                                      </a:solidFill>
                                      <a:latin typeface="Cambria Math" panose="02040503050406030204" pitchFamily="18" charset="0"/>
                                    </a:rPr>
                                    <m:t xml:space="preserve">n</m:t>
                                  </m:r>
                                </m:sub>
                              </m:sSub>
                            </m:e>
                            <m:sup>
                              <m:r>
                                <a:rPr lang="es-ES" sz="2400" i="1">
                                  <a:solidFill>
                                    <a:srgbClr val="1F4E79"/>
                                  </a:solidFill>
                                  <a:latin typeface="Cambria Math" panose="02040503050406030204" pitchFamily="18" charset="0"/>
                                </a:rPr>
                                <m:t xml:space="preserve">2</m:t>
                              </m:r>
                            </m:sup>
                          </m:sSup>
                        </m:den>
                      </m:f>
                    </m:oMath>
                  </m:oMathPara>
                </a14:m>
                <a:endParaRPr lang="es-ES"/>
              </a:p>
            </p:txBody>
          </p:sp>
        </mc:Choice>
        <mc:Fallback>
          <p:sp>
            <p:nvSpPr>
              <p:cNvPr id="5" name="Ecuación E_ha"/>
              <p:cNvSpPr txBox="1"/>
              <p:nvPr/>
            </p:nvSpPr>
            <p:spPr>
              <a:xfrm>
                <a:off x="2011680" y="3749040"/>
                <a:ext cx="512064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Ha(s) = −G0·s / (s² + 2ζωn·s + ωn²)</a:t>
                </a:r>
                <a:endParaRPr lang="en-US" sz="2400" dirty="0"/>
              </a:p>
            </p:txBody>
          </p:sp>
        </mc:Fallback>
      </mc:AlternateContent>
      <p:sp>
        <p:nvSpPr>
          <p:cNvPr id="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Modelo propio a partir de Sensor Nederland B.V. (2006), circuito abierto; resumen firmado, fig. 4 y ec. (9).</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pérdida cae justo en las bajas frecuencias, que son las que llegan más profundo</a:t>
            </a:r>
            <a:endParaRPr lang="en-US" sz="2400" dirty="0"/>
          </a:p>
        </p:txBody>
      </p:sp>
      <p:sp>
        <p:nvSpPr>
          <p:cNvPr id="3" name="Cabecera Geófono de 4,5 Hz"/>
          <p:cNvSpPr/>
          <p:nvPr/>
        </p:nvSpPr>
        <p:spPr>
          <a:xfrm>
            <a:off x="457200" y="1325880"/>
            <a:ext cx="2011680" cy="502920"/>
          </a:xfrm>
          <a:prstGeom prst="rect">
            <a:avLst/>
          </a:prstGeom>
          <a:solidFill>
            <a:srgbClr val="6B6B6B"/>
          </a:solidFill>
          <a:ln w="12700">
            <a:solidFill>
              <a:srgbClr val="6B6B6B"/>
            </a:solidFill>
            <a:prstDash val="solid"/>
          </a:ln>
        </p:spPr>
      </p:sp>
      <p:sp>
        <p:nvSpPr>
          <p:cNvPr id="4" name="Text 2"/>
          <p:cNvSpPr txBox="1"/>
          <p:nvPr/>
        </p:nvSpPr>
        <p:spPr>
          <a:xfrm>
            <a:off x="457200" y="1325880"/>
            <a:ext cx="201168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Geófono de 4,5 Hz</a:t>
            </a:r>
            <a:endParaRPr lang="en-US" sz="1600" dirty="0"/>
          </a:p>
        </p:txBody>
      </p:sp>
      <p:sp>
        <p:nvSpPr>
          <p:cNvPr id="5" name="Tarjeta Geófono de 4,5 Hz"/>
          <p:cNvSpPr/>
          <p:nvPr/>
        </p:nvSpPr>
        <p:spPr>
          <a:xfrm>
            <a:off x="457200" y="1828800"/>
            <a:ext cx="2011680" cy="1097280"/>
          </a:xfrm>
          <a:prstGeom prst="rect">
            <a:avLst/>
          </a:prstGeom>
          <a:solidFill>
            <a:srgbClr val="FFFFFF"/>
          </a:solidFill>
          <a:ln w="19050">
            <a:solidFill>
              <a:srgbClr val="6B6B6B"/>
            </a:solidFill>
            <a:prstDash val="solid"/>
          </a:ln>
        </p:spPr>
      </p:sp>
      <p:sp>
        <p:nvSpPr>
          <p:cNvPr id="6" name="Text 4"/>
          <p:cNvSpPr txBox="1"/>
          <p:nvPr/>
        </p:nvSpPr>
        <p:spPr>
          <a:xfrm>
            <a:off x="548640" y="1874520"/>
            <a:ext cx="1828800" cy="100584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92 a 154 USD por canal</a:t>
            </a:r>
            <a:endParaRPr lang="en-US" sz="1800" dirty="0"/>
          </a:p>
        </p:txBody>
      </p:sp>
      <p:sp>
        <p:nvSpPr>
          <p:cNvPr id="7" name="Cabecera SM-24 de 10 Hz"/>
          <p:cNvSpPr/>
          <p:nvPr/>
        </p:nvSpPr>
        <p:spPr>
          <a:xfrm>
            <a:off x="2606040" y="1325880"/>
            <a:ext cx="2011680" cy="502920"/>
          </a:xfrm>
          <a:prstGeom prst="rect">
            <a:avLst/>
          </a:prstGeom>
          <a:solidFill>
            <a:srgbClr val="1F4E79"/>
          </a:solidFill>
          <a:ln w="12700">
            <a:solidFill>
              <a:srgbClr val="1F4E79"/>
            </a:solidFill>
            <a:prstDash val="solid"/>
          </a:ln>
        </p:spPr>
      </p:sp>
      <p:sp>
        <p:nvSpPr>
          <p:cNvPr id="8" name="Text 6"/>
          <p:cNvSpPr txBox="1"/>
          <p:nvPr/>
        </p:nvSpPr>
        <p:spPr>
          <a:xfrm>
            <a:off x="2606040" y="1325880"/>
            <a:ext cx="201168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SM-24 de 10 Hz</a:t>
            </a:r>
            <a:endParaRPr lang="en-US" sz="1600" dirty="0"/>
          </a:p>
        </p:txBody>
      </p:sp>
      <p:sp>
        <p:nvSpPr>
          <p:cNvPr id="9" name="Tarjeta SM-24 de 10 Hz"/>
          <p:cNvSpPr/>
          <p:nvPr/>
        </p:nvSpPr>
        <p:spPr>
          <a:xfrm>
            <a:off x="2606040" y="1828800"/>
            <a:ext cx="2011680" cy="1097280"/>
          </a:xfrm>
          <a:prstGeom prst="rect">
            <a:avLst/>
          </a:prstGeom>
          <a:solidFill>
            <a:srgbClr val="FFFFFF"/>
          </a:solidFill>
          <a:ln w="19050">
            <a:solidFill>
              <a:srgbClr val="1F4E79"/>
            </a:solidFill>
            <a:prstDash val="solid"/>
          </a:ln>
        </p:spPr>
      </p:sp>
      <p:sp>
        <p:nvSpPr>
          <p:cNvPr id="10" name="Text 8"/>
          <p:cNvSpPr txBox="1"/>
          <p:nvPr/>
        </p:nvSpPr>
        <p:spPr>
          <a:xfrm>
            <a:off x="2697480" y="1874520"/>
            <a:ext cx="1828800" cy="100584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unos 70 USD por canal</a:t>
            </a:r>
            <a:endParaRPr lang="en-US" sz="1800" dirty="0"/>
          </a:p>
        </p:txBody>
      </p:sp>
      <p:sp>
        <p:nvSpPr>
          <p:cNvPr id="11" name="Cuerpo"/>
          <p:cNvSpPr txBox="1"/>
          <p:nvPr/>
        </p:nvSpPr>
        <p:spPr>
          <a:xfrm>
            <a:off x="4846320" y="1325880"/>
            <a:ext cx="3840480" cy="301752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Menor frecuencia: mayor longitud de onda y mayor profundidad</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Un geófono de menor frecuencia natural reduciría el problema, a mayor costo por canal</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Usamos el SM-24 disponible y extendemos su banda con electrónica</a:t>
            </a:r>
            <a:endParaRPr lang="en-US" sz="1800" dirty="0"/>
          </a:p>
        </p:txBody>
      </p:sp>
      <p:sp>
        <p:nvSpPr>
          <p:cNvPr id="12" name="Text 10"/>
          <p:cNvSpPr txBox="1"/>
          <p:nvPr/>
        </p:nvSpPr>
        <p:spPr>
          <a:xfrm>
            <a:off x="457200" y="3108960"/>
            <a:ext cx="4114800" cy="457200"/>
          </a:xfrm>
          <a:prstGeom prst="rect">
            <a:avLst/>
          </a:prstGeom>
          <a:noFill/>
          <a:ln/>
        </p:spPr>
        <p:txBody>
          <a:bodyPr wrap="square" lIns="0" tIns="0" rIns="0" bIns="0" rtlCol="0" anchor="t"/>
          <a:lstStyle/>
          <a:p>
            <a:pPr indent="0" marL="0">
              <a:buNone/>
            </a:pPr>
            <a:r>
              <a:rPr lang="en-US" sz="1400" dirty="0">
                <a:solidFill>
                  <a:srgbClr val="6B6B6B"/>
                </a:solidFill>
                <a:latin typeface="Arial" pitchFamily="34" charset="0"/>
                <a:ea typeface="Arial" pitchFamily="34" charset="-122"/>
                <a:cs typeface="Arial" pitchFamily="34" charset="-120"/>
              </a:rPr>
              <a:t>Precios de referencia consultados por el autor en 2026.</a:t>
            </a:r>
            <a:endParaRPr lang="en-US" sz="1400" dirty="0"/>
          </a:p>
        </p:txBody>
      </p:sp>
      <p:sp>
        <p:nvSpPr>
          <p:cNvPr id="13"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4.2; SparkFun Electronics (2026); R. T. Clark (2026).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Restar una rama pasabanda del camino directo aplana la resonancia sin invertir la respuesta</a:t>
            </a:r>
            <a:endParaRPr lang="en-US" sz="2400" dirty="0"/>
          </a:p>
        </p:txBody>
      </p:sp>
      <p:sp>
        <p:nvSpPr>
          <p:cNvPr id="3" name="Geófono"/>
          <p:cNvSpPr/>
          <p:nvPr/>
        </p:nvSpPr>
        <p:spPr>
          <a:xfrm>
            <a:off x="457200" y="1554480"/>
            <a:ext cx="1325880" cy="640080"/>
          </a:xfrm>
          <a:prstGeom prst="roundRect">
            <a:avLst>
              <a:gd name="adj" fmla="val 11429"/>
            </a:avLst>
          </a:prstGeom>
          <a:solidFill>
            <a:srgbClr val="2E75B6"/>
          </a:solidFill>
          <a:ln w="12700">
            <a:solidFill>
              <a:srgbClr val="2E75B6"/>
            </a:solidFill>
            <a:prstDash val="solid"/>
          </a:ln>
        </p:spPr>
      </p:sp>
      <p:sp>
        <p:nvSpPr>
          <p:cNvPr id="4" name="Text 2"/>
          <p:cNvSpPr txBox="1"/>
          <p:nvPr/>
        </p:nvSpPr>
        <p:spPr>
          <a:xfrm>
            <a:off x="457200" y="1554480"/>
            <a:ext cx="1325880" cy="640080"/>
          </a:xfrm>
          <a:prstGeom prst="rect">
            <a:avLst/>
          </a:prstGeom>
          <a:noFill/>
          <a:ln/>
        </p:spPr>
        <p:txBody>
          <a:bodyPr wrap="square" lIns="50800" tIns="50800" rIns="50800" bIns="5080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Geófono</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SM-24</a:t>
            </a:r>
            <a:endParaRPr lang="en-US" sz="1400" dirty="0"/>
          </a:p>
        </p:txBody>
      </p:sp>
      <p:sp>
        <p:nvSpPr>
          <p:cNvPr id="5" name="PGA"/>
          <p:cNvSpPr/>
          <p:nvPr/>
        </p:nvSpPr>
        <p:spPr>
          <a:xfrm>
            <a:off x="2103120" y="1554480"/>
            <a:ext cx="914400" cy="640080"/>
          </a:xfrm>
          <a:prstGeom prst="roundRect">
            <a:avLst>
              <a:gd name="adj" fmla="val 11429"/>
            </a:avLst>
          </a:prstGeom>
          <a:solidFill>
            <a:srgbClr val="2E75B6"/>
          </a:solidFill>
          <a:ln w="12700">
            <a:solidFill>
              <a:srgbClr val="2E75B6"/>
            </a:solidFill>
            <a:prstDash val="solid"/>
          </a:ln>
        </p:spPr>
      </p:sp>
      <p:sp>
        <p:nvSpPr>
          <p:cNvPr id="6" name="Text 4"/>
          <p:cNvSpPr txBox="1"/>
          <p:nvPr/>
        </p:nvSpPr>
        <p:spPr>
          <a:xfrm>
            <a:off x="2103120" y="1554480"/>
            <a:ext cx="914400" cy="640080"/>
          </a:xfrm>
          <a:prstGeom prst="rect">
            <a:avLst/>
          </a:prstGeom>
          <a:noFill/>
          <a:ln/>
        </p:spPr>
        <p:txBody>
          <a:bodyPr wrap="square" lIns="50800" tIns="50800" rIns="50800" bIns="5080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PGA</a:t>
            </a:r>
            <a:endParaRPr lang="en-US" sz="1400" dirty="0"/>
          </a:p>
        </p:txBody>
      </p:sp>
      <p:sp>
        <p:nvSpPr>
          <p:cNvPr id="7" name="Pasabanda"/>
          <p:cNvSpPr/>
          <p:nvPr/>
        </p:nvSpPr>
        <p:spPr>
          <a:xfrm>
            <a:off x="3520440" y="2560320"/>
            <a:ext cx="1463040" cy="640080"/>
          </a:xfrm>
          <a:prstGeom prst="roundRect">
            <a:avLst>
              <a:gd name="adj" fmla="val 11429"/>
            </a:avLst>
          </a:prstGeom>
          <a:solidFill>
            <a:srgbClr val="C55A11"/>
          </a:solidFill>
          <a:ln w="12700">
            <a:solidFill>
              <a:srgbClr val="C55A11"/>
            </a:solidFill>
            <a:prstDash val="solid"/>
          </a:ln>
        </p:spPr>
      </p:sp>
      <p:sp>
        <p:nvSpPr>
          <p:cNvPr id="8" name="Text 6"/>
          <p:cNvSpPr txBox="1"/>
          <p:nvPr/>
        </p:nvSpPr>
        <p:spPr>
          <a:xfrm>
            <a:off x="3520440" y="2560320"/>
            <a:ext cx="1463040" cy="640080"/>
          </a:xfrm>
          <a:prstGeom prst="rect">
            <a:avLst/>
          </a:prstGeom>
          <a:noFill/>
          <a:ln/>
        </p:spPr>
        <p:txBody>
          <a:bodyPr wrap="square" lIns="50800" tIns="50800" rIns="50800" bIns="5080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Pasabanda</a:t>
            </a:r>
            <a:endParaRPr lang="en-US" sz="1400" dirty="0"/>
          </a:p>
          <a:p>
            <a:pPr algn="ctr" indent="0" marL="0">
              <a:buNone/>
            </a:pPr>
            <a:r>
              <a:rPr lang="en-US" sz="1400" b="1" dirty="0">
                <a:solidFill>
                  <a:srgbClr val="FFFFFF"/>
                </a:solidFill>
                <a:latin typeface="Arial" pitchFamily="34" charset="0"/>
                <a:ea typeface="Arial" pitchFamily="34" charset="-122"/>
                <a:cs typeface="Arial" pitchFamily="34" charset="-120"/>
              </a:rPr>
              <a:t>ajustable</a:t>
            </a:r>
            <a:endParaRPr lang="en-US" sz="1400" dirty="0"/>
          </a:p>
        </p:txBody>
      </p:sp>
      <p:sp>
        <p:nvSpPr>
          <p:cNvPr id="9" name="Sumador"/>
          <p:cNvSpPr/>
          <p:nvPr/>
        </p:nvSpPr>
        <p:spPr>
          <a:xfrm>
            <a:off x="5166360" y="1627632"/>
            <a:ext cx="493776" cy="493776"/>
          </a:xfrm>
          <a:prstGeom prst="ellipse">
            <a:avLst/>
          </a:prstGeom>
          <a:solidFill>
            <a:srgbClr val="1F4E79"/>
          </a:solidFill>
          <a:ln w="12700">
            <a:solidFill>
              <a:srgbClr val="1F4E79"/>
            </a:solidFill>
            <a:prstDash val="solid"/>
          </a:ln>
        </p:spPr>
      </p:sp>
      <p:sp>
        <p:nvSpPr>
          <p:cNvPr id="10" name="Text 8"/>
          <p:cNvSpPr txBox="1"/>
          <p:nvPr/>
        </p:nvSpPr>
        <p:spPr>
          <a:xfrm>
            <a:off x="5166360" y="162763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Σ</a:t>
            </a:r>
            <a:endParaRPr lang="en-US" sz="1800" dirty="0"/>
          </a:p>
        </p:txBody>
      </p:sp>
      <p:sp>
        <p:nvSpPr>
          <p:cNvPr id="11" name="Pasa-bajos"/>
          <p:cNvSpPr/>
          <p:nvPr/>
        </p:nvSpPr>
        <p:spPr>
          <a:xfrm>
            <a:off x="6080760" y="1554480"/>
            <a:ext cx="1188720" cy="640080"/>
          </a:xfrm>
          <a:prstGeom prst="roundRect">
            <a:avLst>
              <a:gd name="adj" fmla="val 11429"/>
            </a:avLst>
          </a:prstGeom>
          <a:solidFill>
            <a:srgbClr val="2E75B6"/>
          </a:solidFill>
          <a:ln w="12700">
            <a:solidFill>
              <a:srgbClr val="2E75B6"/>
            </a:solidFill>
            <a:prstDash val="solid"/>
          </a:ln>
        </p:spPr>
      </p:sp>
      <p:sp>
        <p:nvSpPr>
          <p:cNvPr id="12" name="Text 10"/>
          <p:cNvSpPr txBox="1"/>
          <p:nvPr/>
        </p:nvSpPr>
        <p:spPr>
          <a:xfrm>
            <a:off x="6080760" y="1554480"/>
            <a:ext cx="1188720" cy="640080"/>
          </a:xfrm>
          <a:prstGeom prst="rect">
            <a:avLst/>
          </a:prstGeom>
          <a:noFill/>
          <a:ln/>
        </p:spPr>
        <p:txBody>
          <a:bodyPr wrap="square" lIns="50800" tIns="50800" rIns="50800" bIns="5080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Pasa-bajos</a:t>
            </a:r>
            <a:endParaRPr lang="en-US" sz="1400" dirty="0"/>
          </a:p>
        </p:txBody>
      </p:sp>
      <p:sp>
        <p:nvSpPr>
          <p:cNvPr id="13" name="ADC"/>
          <p:cNvSpPr/>
          <p:nvPr/>
        </p:nvSpPr>
        <p:spPr>
          <a:xfrm>
            <a:off x="7589520" y="1554480"/>
            <a:ext cx="1097280" cy="640080"/>
          </a:xfrm>
          <a:prstGeom prst="roundRect">
            <a:avLst>
              <a:gd name="adj" fmla="val 11429"/>
            </a:avLst>
          </a:prstGeom>
          <a:solidFill>
            <a:srgbClr val="1F4E79"/>
          </a:solidFill>
          <a:ln w="12700">
            <a:solidFill>
              <a:srgbClr val="1F4E79"/>
            </a:solidFill>
            <a:prstDash val="solid"/>
          </a:ln>
        </p:spPr>
      </p:sp>
      <p:sp>
        <p:nvSpPr>
          <p:cNvPr id="14" name="Text 12"/>
          <p:cNvSpPr txBox="1"/>
          <p:nvPr/>
        </p:nvSpPr>
        <p:spPr>
          <a:xfrm>
            <a:off x="7589520" y="1554480"/>
            <a:ext cx="1097280" cy="640080"/>
          </a:xfrm>
          <a:prstGeom prst="rect">
            <a:avLst/>
          </a:prstGeom>
          <a:noFill/>
          <a:ln/>
        </p:spPr>
        <p:txBody>
          <a:bodyPr wrap="square" lIns="50800" tIns="50800" rIns="50800" bIns="5080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ADC</a:t>
            </a:r>
            <a:endParaRPr lang="en-US" sz="1400" dirty="0"/>
          </a:p>
        </p:txBody>
      </p:sp>
      <p:sp>
        <p:nvSpPr>
          <p:cNvPr id="15" name="Shape 13"/>
          <p:cNvSpPr/>
          <p:nvPr/>
        </p:nvSpPr>
        <p:spPr>
          <a:xfrm>
            <a:off x="1783080" y="1874520"/>
            <a:ext cx="320040" cy="0"/>
          </a:xfrm>
          <a:prstGeom prst="line">
            <a:avLst/>
          </a:prstGeom>
          <a:noFill/>
          <a:ln w="31750">
            <a:solidFill>
              <a:srgbClr val="1F4E79"/>
            </a:solidFill>
            <a:prstDash val="solid"/>
            <a:tailEnd type="triangle"/>
          </a:ln>
        </p:spPr>
      </p:sp>
      <p:sp>
        <p:nvSpPr>
          <p:cNvPr id="16" name="Shape 14"/>
          <p:cNvSpPr/>
          <p:nvPr/>
        </p:nvSpPr>
        <p:spPr>
          <a:xfrm>
            <a:off x="3017520" y="1874520"/>
            <a:ext cx="2148840" cy="0"/>
          </a:xfrm>
          <a:prstGeom prst="line">
            <a:avLst/>
          </a:prstGeom>
          <a:noFill/>
          <a:ln w="31750">
            <a:solidFill>
              <a:srgbClr val="1F4E79"/>
            </a:solidFill>
            <a:prstDash val="solid"/>
            <a:tailEnd type="triangle"/>
          </a:ln>
        </p:spPr>
      </p:sp>
      <p:sp>
        <p:nvSpPr>
          <p:cNvPr id="17" name="Shape 15"/>
          <p:cNvSpPr/>
          <p:nvPr/>
        </p:nvSpPr>
        <p:spPr>
          <a:xfrm>
            <a:off x="5660136" y="1874520"/>
            <a:ext cx="420624" cy="0"/>
          </a:xfrm>
          <a:prstGeom prst="line">
            <a:avLst/>
          </a:prstGeom>
          <a:noFill/>
          <a:ln w="31750">
            <a:solidFill>
              <a:srgbClr val="1F4E79"/>
            </a:solidFill>
            <a:prstDash val="solid"/>
            <a:tailEnd type="triangle"/>
          </a:ln>
        </p:spPr>
      </p:sp>
      <p:sp>
        <p:nvSpPr>
          <p:cNvPr id="18" name="Shape 16"/>
          <p:cNvSpPr/>
          <p:nvPr/>
        </p:nvSpPr>
        <p:spPr>
          <a:xfrm>
            <a:off x="7269480" y="1874520"/>
            <a:ext cx="320040" cy="0"/>
          </a:xfrm>
          <a:prstGeom prst="line">
            <a:avLst/>
          </a:prstGeom>
          <a:noFill/>
          <a:ln w="31750">
            <a:solidFill>
              <a:srgbClr val="1F4E79"/>
            </a:solidFill>
            <a:prstDash val="solid"/>
            <a:tailEnd type="triangle"/>
          </a:ln>
        </p:spPr>
      </p:sp>
      <p:sp>
        <p:nvSpPr>
          <p:cNvPr id="19" name="Nodo de derivación"/>
          <p:cNvSpPr/>
          <p:nvPr/>
        </p:nvSpPr>
        <p:spPr>
          <a:xfrm>
            <a:off x="3200400" y="1828800"/>
            <a:ext cx="91440" cy="91440"/>
          </a:xfrm>
          <a:prstGeom prst="ellipse">
            <a:avLst/>
          </a:prstGeom>
          <a:solidFill>
            <a:srgbClr val="1F4E79"/>
          </a:solidFill>
          <a:ln w="12700">
            <a:solidFill>
              <a:srgbClr val="1F4E79"/>
            </a:solidFill>
            <a:prstDash val="solid"/>
          </a:ln>
        </p:spPr>
      </p:sp>
      <p:sp>
        <p:nvSpPr>
          <p:cNvPr id="20" name="Shape 18"/>
          <p:cNvSpPr/>
          <p:nvPr/>
        </p:nvSpPr>
        <p:spPr>
          <a:xfrm>
            <a:off x="3246120" y="1874520"/>
            <a:ext cx="0" cy="1005840"/>
          </a:xfrm>
          <a:prstGeom prst="line">
            <a:avLst/>
          </a:prstGeom>
          <a:noFill/>
          <a:ln w="31750">
            <a:solidFill>
              <a:srgbClr val="C55A11"/>
            </a:solidFill>
            <a:prstDash val="solid"/>
          </a:ln>
        </p:spPr>
      </p:sp>
      <p:sp>
        <p:nvSpPr>
          <p:cNvPr id="21" name="Shape 19"/>
          <p:cNvSpPr/>
          <p:nvPr/>
        </p:nvSpPr>
        <p:spPr>
          <a:xfrm>
            <a:off x="3246120" y="2880360"/>
            <a:ext cx="274320" cy="0"/>
          </a:xfrm>
          <a:prstGeom prst="line">
            <a:avLst/>
          </a:prstGeom>
          <a:noFill/>
          <a:ln w="31750">
            <a:solidFill>
              <a:srgbClr val="C55A11"/>
            </a:solidFill>
            <a:prstDash val="solid"/>
            <a:tailEnd type="triangle"/>
          </a:ln>
        </p:spPr>
      </p:sp>
      <p:sp>
        <p:nvSpPr>
          <p:cNvPr id="22" name="Shape 20"/>
          <p:cNvSpPr/>
          <p:nvPr/>
        </p:nvSpPr>
        <p:spPr>
          <a:xfrm>
            <a:off x="4983480" y="2880360"/>
            <a:ext cx="429768" cy="0"/>
          </a:xfrm>
          <a:prstGeom prst="line">
            <a:avLst/>
          </a:prstGeom>
          <a:noFill/>
          <a:ln w="31750">
            <a:solidFill>
              <a:srgbClr val="C55A11"/>
            </a:solidFill>
            <a:prstDash val="solid"/>
          </a:ln>
        </p:spPr>
      </p:sp>
      <p:sp>
        <p:nvSpPr>
          <p:cNvPr id="23" name="Shape 21"/>
          <p:cNvSpPr/>
          <p:nvPr/>
        </p:nvSpPr>
        <p:spPr>
          <a:xfrm flipV="1">
            <a:off x="5413248" y="2121408"/>
            <a:ext cx="0" cy="758952"/>
          </a:xfrm>
          <a:prstGeom prst="line">
            <a:avLst/>
          </a:prstGeom>
          <a:noFill/>
          <a:ln w="31750">
            <a:solidFill>
              <a:srgbClr val="C55A11"/>
            </a:solidFill>
            <a:prstDash val="solid"/>
            <a:tailEnd type="triangle"/>
          </a:ln>
        </p:spPr>
      </p:sp>
      <p:sp>
        <p:nvSpPr>
          <p:cNvPr id="24" name="Text 22"/>
          <p:cNvSpPr txBox="1"/>
          <p:nvPr/>
        </p:nvSpPr>
        <p:spPr>
          <a:xfrm>
            <a:off x="4846320" y="1490472"/>
            <a:ext cx="274320" cy="274320"/>
          </a:xfrm>
          <a:prstGeom prst="rect">
            <a:avLst/>
          </a:prstGeom>
          <a:noFill/>
          <a:ln/>
        </p:spPr>
        <p:txBody>
          <a:bodyPr wrap="square" lIns="0" tIns="0" rIns="0" bIns="0" rtlCol="0" anchor="t"/>
          <a:lstStyle/>
          <a:p>
            <a:pPr algn="ctr" indent="0" marL="0">
              <a:buNone/>
            </a:pPr>
            <a:r>
              <a:rPr lang="en-US" sz="1600" b="1" dirty="0">
                <a:solidFill>
                  <a:srgbClr val="1F4E79"/>
                </a:solidFill>
                <a:latin typeface="Arial" pitchFamily="34" charset="0"/>
                <a:ea typeface="Arial" pitchFamily="34" charset="-122"/>
                <a:cs typeface="Arial" pitchFamily="34" charset="-120"/>
              </a:rPr>
              <a:t>+</a:t>
            </a:r>
            <a:endParaRPr lang="en-US" sz="1600" dirty="0"/>
          </a:p>
        </p:txBody>
      </p:sp>
      <p:sp>
        <p:nvSpPr>
          <p:cNvPr id="25" name="Text 23"/>
          <p:cNvSpPr txBox="1"/>
          <p:nvPr/>
        </p:nvSpPr>
        <p:spPr>
          <a:xfrm>
            <a:off x="5486400" y="2286000"/>
            <a:ext cx="274320" cy="274320"/>
          </a:xfrm>
          <a:prstGeom prst="rect">
            <a:avLst/>
          </a:prstGeom>
          <a:noFill/>
          <a:ln/>
        </p:spPr>
        <p:txBody>
          <a:bodyPr wrap="square" lIns="0" tIns="0" rIns="0" bIns="0" rtlCol="0" anchor="t"/>
          <a:lstStyle/>
          <a:p>
            <a:pPr algn="ctr" indent="0" marL="0">
              <a:buNone/>
            </a:pPr>
            <a:r>
              <a:rPr lang="en-US" sz="2000" b="1" dirty="0">
                <a:solidFill>
                  <a:srgbClr val="C55A11"/>
                </a:solidFill>
                <a:latin typeface="Arial" pitchFamily="34" charset="0"/>
                <a:ea typeface="Arial" pitchFamily="34" charset="-122"/>
                <a:cs typeface="Arial" pitchFamily="34" charset="-120"/>
              </a:rPr>
              <a:t>−</a:t>
            </a:r>
            <a:endParaRPr lang="en-US" sz="2000" dirty="0"/>
          </a:p>
        </p:txBody>
      </p:sp>
      <p:sp>
        <p:nvSpPr>
          <p:cNvPr id="26" name="Fondo E_hcomp"/>
          <p:cNvSpPr/>
          <p:nvPr/>
        </p:nvSpPr>
        <p:spPr>
          <a:xfrm>
            <a:off x="457200" y="3474720"/>
            <a:ext cx="384048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27" name="Ecuación E_hcomp"/>
              <p:cNvSpPr txBox="1"/>
              <p:nvPr/>
            </p:nvSpPr>
            <p:spPr>
              <a:xfrm>
                <a:off x="457200" y="3474720"/>
                <a:ext cx="384048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H</m:t>
                          </m:r>
                        </m:e>
                        <m:sub>
                          <m:r>
                            <m:rPr>
                              <m:sty m:val="p"/>
                            </m:rPr>
                            <a:rPr lang="es-ES" sz="2800">
                              <a:solidFill>
                                <a:srgbClr val="1F4E79"/>
                              </a:solidFill>
                              <a:latin typeface="Cambria Math" panose="02040503050406030204" pitchFamily="18" charset="0"/>
                            </a:rPr>
                            <m:t xml:space="preserve">comp</m:t>
                          </m:r>
                        </m:sub>
                      </m:sSub>
                      <m:r>
                        <a:rPr lang="es-ES" sz="2800" i="1">
                          <a:solidFill>
                            <a:srgbClr val="1F4E79"/>
                          </a:solidFill>
                          <a:latin typeface="Cambria Math" panose="02040503050406030204" pitchFamily="18" charset="0"/>
                        </a:rPr>
                        <m:t xml:space="preserve">(s)=1−</m:t>
                      </m:r>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H</m:t>
                          </m:r>
                        </m:e>
                        <m:sub>
                          <m:r>
                            <m:rPr>
                              <m:sty m:val="p"/>
                            </m:rPr>
                            <a:rPr lang="es-ES" sz="2800">
                              <a:solidFill>
                                <a:srgbClr val="1F4E79"/>
                              </a:solidFill>
                              <a:latin typeface="Cambria Math" panose="02040503050406030204" pitchFamily="18" charset="0"/>
                            </a:rPr>
                            <m:t xml:space="preserve">BP</m:t>
                          </m:r>
                        </m:sub>
                      </m:sSub>
                      <m:r>
                        <a:rPr lang="es-ES" sz="2800" i="1">
                          <a:solidFill>
                            <a:srgbClr val="1F4E79"/>
                          </a:solidFill>
                          <a:latin typeface="Cambria Math" panose="02040503050406030204" pitchFamily="18" charset="0"/>
                        </a:rPr>
                        <m:t xml:space="preserve">(s)</m:t>
                      </m:r>
                    </m:oMath>
                  </m:oMathPara>
                </a14:m>
                <a:endParaRPr lang="es-ES"/>
              </a:p>
            </p:txBody>
          </p:sp>
        </mc:Choice>
        <mc:Fallback>
          <p:sp>
            <p:nvSpPr>
              <p:cNvPr id="27" name="Ecuación E_hcomp"/>
              <p:cNvSpPr txBox="1"/>
              <p:nvPr/>
            </p:nvSpPr>
            <p:spPr>
              <a:xfrm>
                <a:off x="457200" y="3474720"/>
                <a:ext cx="384048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Hcomp(s) = 1 − HBP(s)</a:t>
                </a:r>
                <a:endParaRPr lang="en-US" sz="2400" dirty="0"/>
              </a:p>
            </p:txBody>
          </p:sp>
        </mc:Fallback>
      </mc:AlternateContent>
      <p:sp>
        <p:nvSpPr>
          <p:cNvPr id="28" name="Cuerpo"/>
          <p:cNvSpPr txBox="1"/>
          <p:nvPr/>
        </p:nvSpPr>
        <p:spPr>
          <a:xfrm>
            <a:off x="4572000" y="3383280"/>
            <a:ext cx="4114800" cy="10972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D2D2D"/>
                </a:solidFill>
                <a:latin typeface="Arial" pitchFamily="34" charset="0"/>
                <a:ea typeface="Arial" pitchFamily="34" charset="-122"/>
                <a:cs typeface="Arial" pitchFamily="34" charset="-120"/>
              </a:rPr>
              <a:t>No se invierte la respuesta: se evita amplificar el ruido de baja frecuencia</a:t>
            </a:r>
            <a:endParaRPr lang="en-US" sz="1500" dirty="0"/>
          </a:p>
          <a:p>
            <a:pPr marL="342900" indent="-342900">
              <a:spcAft>
                <a:spcPts val="600"/>
              </a:spcAft>
              <a:buSzPct val="100000"/>
              <a:buChar char="•"/>
            </a:pPr>
            <a:r>
              <a:rPr lang="en-US" sz="1500" dirty="0">
                <a:solidFill>
                  <a:srgbClr val="2D2D2D"/>
                </a:solidFill>
                <a:latin typeface="Arial" pitchFamily="34" charset="0"/>
                <a:ea typeface="Arial" pitchFamily="34" charset="-122"/>
                <a:cs typeface="Arial" pitchFamily="34" charset="-120"/>
              </a:rPr>
              <a:t>Costo: la respuesta queda más plana, pero con pérdida de ganancia</a:t>
            </a:r>
            <a:endParaRPr lang="en-US" sz="1500" dirty="0"/>
          </a:p>
        </p:txBody>
      </p:sp>
      <p:sp>
        <p:nvSpPr>
          <p:cNvPr id="2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Principio de Ma et al. (2023), según resumen firmado, sec. 4.3; 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frente analógico implementado cumple cuatro funciones antes del ADC</a:t>
            </a:r>
            <a:endParaRPr lang="en-US" sz="2400" dirty="0"/>
          </a:p>
        </p:txBody>
      </p:sp>
      <p:pic>
        <p:nvPicPr>
          <p:cNvPr id="3" name="Esquema AFE" descr="Esquema del frente analógico en PSoC Creator: entrada diferencial, ganancia programable, rama pasabanda, sumador, pasa-bajos, referencias VDAC y ADC">    </p:cNvPr>
          <p:cNvPicPr>
            <a:picLocks noChangeAspect="1"/>
          </p:cNvPicPr>
          <p:nvPr/>
        </p:nvPicPr>
        <p:blipFill>
          <a:blip r:embed="rId1"/>
          <a:stretch>
            <a:fillRect/>
          </a:stretch>
        </p:blipFill>
        <p:spPr>
          <a:xfrm>
            <a:off x="365760" y="1325880"/>
            <a:ext cx="5212080" cy="2349779"/>
          </a:xfrm>
          <a:prstGeom prst="rect">
            <a:avLst/>
          </a:prstGeom>
        </p:spPr>
      </p:pic>
      <p:sp>
        <p:nvSpPr>
          <p:cNvPr id="4" name="Cuerpo"/>
          <p:cNvSpPr txBox="1"/>
          <p:nvPr/>
        </p:nvSpPr>
        <p:spPr>
          <a:xfrm>
            <a:off x="5760720" y="1371600"/>
            <a:ext cx="2926080" cy="30175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Entrada diferencial, contra perturbaciones de modo común</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Ganancia programable, para distintos terrenos y distancias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Compensación del sensor en bajas frecuencias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Filtro pasa-bajos antialias</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Elaboración propia en PSoC Creator (resumen firmado, fig. 5 y sec. 4.3).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Cada etapa amplifica el offset de la anterior, y una etapa puede saturar antes de llegar al ADC</a:t>
            </a:r>
            <a:endParaRPr lang="en-US" sz="2400" dirty="0"/>
          </a:p>
        </p:txBody>
      </p:sp>
      <p:sp>
        <p:nvSpPr>
          <p:cNvPr id="3" name="Etapa PGA"/>
          <p:cNvSpPr/>
          <p:nvPr/>
        </p:nvSpPr>
        <p:spPr>
          <a:xfrm>
            <a:off x="457200" y="1508760"/>
            <a:ext cx="1371600" cy="640080"/>
          </a:xfrm>
          <a:prstGeom prst="roundRect">
            <a:avLst>
              <a:gd name="adj" fmla="val 11429"/>
            </a:avLst>
          </a:prstGeom>
          <a:solidFill>
            <a:srgbClr val="2E75B6"/>
          </a:solidFill>
          <a:ln w="12700">
            <a:solidFill>
              <a:srgbClr val="2E75B6"/>
            </a:solidFill>
            <a:prstDash val="solid"/>
          </a:ln>
        </p:spPr>
      </p:sp>
      <p:sp>
        <p:nvSpPr>
          <p:cNvPr id="4" name="Text 2"/>
          <p:cNvSpPr txBox="1"/>
          <p:nvPr/>
        </p:nvSpPr>
        <p:spPr>
          <a:xfrm>
            <a:off x="457200" y="1508760"/>
            <a:ext cx="1371600" cy="640080"/>
          </a:xfrm>
          <a:prstGeom prst="rect">
            <a:avLst/>
          </a:prstGeom>
          <a:noFill/>
          <a:ln/>
        </p:spPr>
        <p:txBody>
          <a:bodyPr wrap="square" lIns="50800" tIns="50800" rIns="50800" bIns="5080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PGA</a:t>
            </a:r>
            <a:endParaRPr lang="en-US" sz="1400" dirty="0"/>
          </a:p>
        </p:txBody>
      </p:sp>
      <p:sp>
        <p:nvSpPr>
          <p:cNvPr id="5" name="Shape 3"/>
          <p:cNvSpPr/>
          <p:nvPr/>
        </p:nvSpPr>
        <p:spPr>
          <a:xfrm>
            <a:off x="1828800" y="1828800"/>
            <a:ext cx="320040" cy="0"/>
          </a:xfrm>
          <a:prstGeom prst="line">
            <a:avLst/>
          </a:prstGeom>
          <a:noFill/>
          <a:ln w="31750">
            <a:solidFill>
              <a:srgbClr val="1F4E79"/>
            </a:solidFill>
            <a:prstDash val="solid"/>
            <a:tailEnd type="triangle"/>
          </a:ln>
        </p:spPr>
      </p:sp>
      <p:sp>
        <p:nvSpPr>
          <p:cNvPr id="6" name="Text 4"/>
          <p:cNvSpPr txBox="1"/>
          <p:nvPr/>
        </p:nvSpPr>
        <p:spPr>
          <a:xfrm>
            <a:off x="1577340" y="1234440"/>
            <a:ext cx="822960" cy="228600"/>
          </a:xfrm>
          <a:prstGeom prst="rect">
            <a:avLst/>
          </a:prstGeom>
          <a:noFill/>
          <a:ln/>
        </p:spPr>
        <p:txBody>
          <a:bodyPr wrap="square" lIns="0" tIns="0" rIns="0" bIns="0" rtlCol="0" anchor="t"/>
          <a:lstStyle/>
          <a:p>
            <a:pPr algn="ctr" indent="0" marL="0">
              <a:buNone/>
            </a:pPr>
            <a:r>
              <a:rPr lang="en-US" sz="1200" dirty="0">
                <a:solidFill>
                  <a:srgbClr val="C55A11"/>
                </a:solidFill>
                <a:latin typeface="Arial" pitchFamily="34" charset="0"/>
                <a:ea typeface="Arial" pitchFamily="34" charset="-122"/>
                <a:cs typeface="Arial" pitchFamily="34" charset="-120"/>
              </a:rPr>
              <a:t>offset</a:t>
            </a:r>
            <a:endParaRPr lang="en-US" sz="1200" dirty="0"/>
          </a:p>
        </p:txBody>
      </p:sp>
      <p:sp>
        <p:nvSpPr>
          <p:cNvPr id="7" name="Etapa Pasabanda"/>
          <p:cNvSpPr/>
          <p:nvPr/>
        </p:nvSpPr>
        <p:spPr>
          <a:xfrm>
            <a:off x="2148840" y="1508760"/>
            <a:ext cx="1371600" cy="640080"/>
          </a:xfrm>
          <a:prstGeom prst="roundRect">
            <a:avLst>
              <a:gd name="adj" fmla="val 11429"/>
            </a:avLst>
          </a:prstGeom>
          <a:solidFill>
            <a:srgbClr val="2E75B6"/>
          </a:solidFill>
          <a:ln w="12700">
            <a:solidFill>
              <a:srgbClr val="2E75B6"/>
            </a:solidFill>
            <a:prstDash val="solid"/>
          </a:ln>
        </p:spPr>
      </p:sp>
      <p:sp>
        <p:nvSpPr>
          <p:cNvPr id="8" name="Text 6"/>
          <p:cNvSpPr txBox="1"/>
          <p:nvPr/>
        </p:nvSpPr>
        <p:spPr>
          <a:xfrm>
            <a:off x="2148840" y="1508760"/>
            <a:ext cx="1371600" cy="640080"/>
          </a:xfrm>
          <a:prstGeom prst="rect">
            <a:avLst/>
          </a:prstGeom>
          <a:noFill/>
          <a:ln/>
        </p:spPr>
        <p:txBody>
          <a:bodyPr wrap="square" lIns="50800" tIns="50800" rIns="50800" bIns="5080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Pasabanda</a:t>
            </a:r>
            <a:endParaRPr lang="en-US" sz="1400" dirty="0"/>
          </a:p>
        </p:txBody>
      </p:sp>
      <p:sp>
        <p:nvSpPr>
          <p:cNvPr id="9" name="Shape 7"/>
          <p:cNvSpPr/>
          <p:nvPr/>
        </p:nvSpPr>
        <p:spPr>
          <a:xfrm>
            <a:off x="3520440" y="1828800"/>
            <a:ext cx="320040" cy="0"/>
          </a:xfrm>
          <a:prstGeom prst="line">
            <a:avLst/>
          </a:prstGeom>
          <a:noFill/>
          <a:ln w="31750">
            <a:solidFill>
              <a:srgbClr val="1F4E79"/>
            </a:solidFill>
            <a:prstDash val="solid"/>
            <a:tailEnd type="triangle"/>
          </a:ln>
        </p:spPr>
      </p:sp>
      <p:sp>
        <p:nvSpPr>
          <p:cNvPr id="10" name="Text 8"/>
          <p:cNvSpPr txBox="1"/>
          <p:nvPr/>
        </p:nvSpPr>
        <p:spPr>
          <a:xfrm>
            <a:off x="3268980" y="1234440"/>
            <a:ext cx="822960" cy="228600"/>
          </a:xfrm>
          <a:prstGeom prst="rect">
            <a:avLst/>
          </a:prstGeom>
          <a:noFill/>
          <a:ln/>
        </p:spPr>
        <p:txBody>
          <a:bodyPr wrap="square" lIns="0" tIns="0" rIns="0" bIns="0" rtlCol="0" anchor="t"/>
          <a:lstStyle/>
          <a:p>
            <a:pPr algn="ctr" indent="0" marL="0">
              <a:buNone/>
            </a:pPr>
            <a:r>
              <a:rPr lang="en-US" sz="1200" dirty="0">
                <a:solidFill>
                  <a:srgbClr val="C55A11"/>
                </a:solidFill>
                <a:latin typeface="Arial" pitchFamily="34" charset="0"/>
                <a:ea typeface="Arial" pitchFamily="34" charset="-122"/>
                <a:cs typeface="Arial" pitchFamily="34" charset="-120"/>
              </a:rPr>
              <a:t>offset</a:t>
            </a:r>
            <a:endParaRPr lang="en-US" sz="1200" dirty="0"/>
          </a:p>
        </p:txBody>
      </p:sp>
      <p:sp>
        <p:nvSpPr>
          <p:cNvPr id="11" name="Etapa Suma"/>
          <p:cNvSpPr/>
          <p:nvPr/>
        </p:nvSpPr>
        <p:spPr>
          <a:xfrm>
            <a:off x="3840480" y="1508760"/>
            <a:ext cx="1371600" cy="640080"/>
          </a:xfrm>
          <a:prstGeom prst="roundRect">
            <a:avLst>
              <a:gd name="adj" fmla="val 11429"/>
            </a:avLst>
          </a:prstGeom>
          <a:solidFill>
            <a:srgbClr val="2E75B6"/>
          </a:solidFill>
          <a:ln w="12700">
            <a:solidFill>
              <a:srgbClr val="2E75B6"/>
            </a:solidFill>
            <a:prstDash val="solid"/>
          </a:ln>
        </p:spPr>
      </p:sp>
      <p:sp>
        <p:nvSpPr>
          <p:cNvPr id="12" name="Text 10"/>
          <p:cNvSpPr txBox="1"/>
          <p:nvPr/>
        </p:nvSpPr>
        <p:spPr>
          <a:xfrm>
            <a:off x="3840480" y="1508760"/>
            <a:ext cx="1371600" cy="640080"/>
          </a:xfrm>
          <a:prstGeom prst="rect">
            <a:avLst/>
          </a:prstGeom>
          <a:noFill/>
          <a:ln/>
        </p:spPr>
        <p:txBody>
          <a:bodyPr wrap="square" lIns="50800" tIns="50800" rIns="50800" bIns="5080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Suma</a:t>
            </a:r>
            <a:endParaRPr lang="en-US" sz="1400" dirty="0"/>
          </a:p>
        </p:txBody>
      </p:sp>
      <p:sp>
        <p:nvSpPr>
          <p:cNvPr id="13" name="Shape 11"/>
          <p:cNvSpPr/>
          <p:nvPr/>
        </p:nvSpPr>
        <p:spPr>
          <a:xfrm>
            <a:off x="5212080" y="1828800"/>
            <a:ext cx="320040" cy="0"/>
          </a:xfrm>
          <a:prstGeom prst="line">
            <a:avLst/>
          </a:prstGeom>
          <a:noFill/>
          <a:ln w="31750">
            <a:solidFill>
              <a:srgbClr val="1F4E79"/>
            </a:solidFill>
            <a:prstDash val="solid"/>
            <a:tailEnd type="triangle"/>
          </a:ln>
        </p:spPr>
      </p:sp>
      <p:sp>
        <p:nvSpPr>
          <p:cNvPr id="14" name="Text 12"/>
          <p:cNvSpPr txBox="1"/>
          <p:nvPr/>
        </p:nvSpPr>
        <p:spPr>
          <a:xfrm>
            <a:off x="4960620" y="1234440"/>
            <a:ext cx="822960" cy="228600"/>
          </a:xfrm>
          <a:prstGeom prst="rect">
            <a:avLst/>
          </a:prstGeom>
          <a:noFill/>
          <a:ln/>
        </p:spPr>
        <p:txBody>
          <a:bodyPr wrap="square" lIns="0" tIns="0" rIns="0" bIns="0" rtlCol="0" anchor="t"/>
          <a:lstStyle/>
          <a:p>
            <a:pPr algn="ctr" indent="0" marL="0">
              <a:buNone/>
            </a:pPr>
            <a:r>
              <a:rPr lang="en-US" sz="1200" dirty="0">
                <a:solidFill>
                  <a:srgbClr val="C55A11"/>
                </a:solidFill>
                <a:latin typeface="Arial" pitchFamily="34" charset="0"/>
                <a:ea typeface="Arial" pitchFamily="34" charset="-122"/>
                <a:cs typeface="Arial" pitchFamily="34" charset="-120"/>
              </a:rPr>
              <a:t>offset</a:t>
            </a:r>
            <a:endParaRPr lang="en-US" sz="1200" dirty="0"/>
          </a:p>
        </p:txBody>
      </p:sp>
      <p:sp>
        <p:nvSpPr>
          <p:cNvPr id="15" name="Etapa Pasa-bajos"/>
          <p:cNvSpPr/>
          <p:nvPr/>
        </p:nvSpPr>
        <p:spPr>
          <a:xfrm>
            <a:off x="5532120" y="1508760"/>
            <a:ext cx="1371600" cy="640080"/>
          </a:xfrm>
          <a:prstGeom prst="roundRect">
            <a:avLst>
              <a:gd name="adj" fmla="val 11429"/>
            </a:avLst>
          </a:prstGeom>
          <a:solidFill>
            <a:srgbClr val="2E75B6"/>
          </a:solidFill>
          <a:ln w="12700">
            <a:solidFill>
              <a:srgbClr val="2E75B6"/>
            </a:solidFill>
            <a:prstDash val="solid"/>
          </a:ln>
        </p:spPr>
      </p:sp>
      <p:sp>
        <p:nvSpPr>
          <p:cNvPr id="16" name="Text 14"/>
          <p:cNvSpPr txBox="1"/>
          <p:nvPr/>
        </p:nvSpPr>
        <p:spPr>
          <a:xfrm>
            <a:off x="5532120" y="1508760"/>
            <a:ext cx="1371600" cy="640080"/>
          </a:xfrm>
          <a:prstGeom prst="rect">
            <a:avLst/>
          </a:prstGeom>
          <a:noFill/>
          <a:ln/>
        </p:spPr>
        <p:txBody>
          <a:bodyPr wrap="square" lIns="50800" tIns="50800" rIns="50800" bIns="5080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Pasa-bajos</a:t>
            </a:r>
            <a:endParaRPr lang="en-US" sz="1400" dirty="0"/>
          </a:p>
        </p:txBody>
      </p:sp>
      <p:sp>
        <p:nvSpPr>
          <p:cNvPr id="17" name="Shape 15"/>
          <p:cNvSpPr/>
          <p:nvPr/>
        </p:nvSpPr>
        <p:spPr>
          <a:xfrm>
            <a:off x="6903720" y="1828800"/>
            <a:ext cx="320040" cy="0"/>
          </a:xfrm>
          <a:prstGeom prst="line">
            <a:avLst/>
          </a:prstGeom>
          <a:noFill/>
          <a:ln w="31750">
            <a:solidFill>
              <a:srgbClr val="1F4E79"/>
            </a:solidFill>
            <a:prstDash val="solid"/>
            <a:tailEnd type="triangle"/>
          </a:ln>
        </p:spPr>
      </p:sp>
      <p:sp>
        <p:nvSpPr>
          <p:cNvPr id="18" name="Text 16"/>
          <p:cNvSpPr txBox="1"/>
          <p:nvPr/>
        </p:nvSpPr>
        <p:spPr>
          <a:xfrm>
            <a:off x="6652260" y="1234440"/>
            <a:ext cx="822960" cy="228600"/>
          </a:xfrm>
          <a:prstGeom prst="rect">
            <a:avLst/>
          </a:prstGeom>
          <a:noFill/>
          <a:ln/>
        </p:spPr>
        <p:txBody>
          <a:bodyPr wrap="square" lIns="0" tIns="0" rIns="0" bIns="0" rtlCol="0" anchor="t"/>
          <a:lstStyle/>
          <a:p>
            <a:pPr algn="ctr" indent="0" marL="0">
              <a:buNone/>
            </a:pPr>
            <a:r>
              <a:rPr lang="en-US" sz="1200" dirty="0">
                <a:solidFill>
                  <a:srgbClr val="C55A11"/>
                </a:solidFill>
                <a:latin typeface="Arial" pitchFamily="34" charset="0"/>
                <a:ea typeface="Arial" pitchFamily="34" charset="-122"/>
                <a:cs typeface="Arial" pitchFamily="34" charset="-120"/>
              </a:rPr>
              <a:t>offset</a:t>
            </a:r>
            <a:endParaRPr lang="en-US" sz="1200" dirty="0"/>
          </a:p>
        </p:txBody>
      </p:sp>
      <p:sp>
        <p:nvSpPr>
          <p:cNvPr id="19" name="Etapa ADC"/>
          <p:cNvSpPr/>
          <p:nvPr/>
        </p:nvSpPr>
        <p:spPr>
          <a:xfrm>
            <a:off x="7223760" y="1508760"/>
            <a:ext cx="1371600" cy="640080"/>
          </a:xfrm>
          <a:prstGeom prst="roundRect">
            <a:avLst>
              <a:gd name="adj" fmla="val 11429"/>
            </a:avLst>
          </a:prstGeom>
          <a:solidFill>
            <a:srgbClr val="1F4E79"/>
          </a:solidFill>
          <a:ln w="12700">
            <a:solidFill>
              <a:srgbClr val="1F4E79"/>
            </a:solidFill>
            <a:prstDash val="solid"/>
          </a:ln>
        </p:spPr>
      </p:sp>
      <p:sp>
        <p:nvSpPr>
          <p:cNvPr id="20" name="Text 18"/>
          <p:cNvSpPr txBox="1"/>
          <p:nvPr/>
        </p:nvSpPr>
        <p:spPr>
          <a:xfrm>
            <a:off x="7223760" y="1508760"/>
            <a:ext cx="1371600" cy="640080"/>
          </a:xfrm>
          <a:prstGeom prst="rect">
            <a:avLst/>
          </a:prstGeom>
          <a:noFill/>
          <a:ln/>
        </p:spPr>
        <p:txBody>
          <a:bodyPr wrap="square" lIns="50800" tIns="50800" rIns="50800" bIns="5080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ADC</a:t>
            </a:r>
            <a:endParaRPr lang="en-US" sz="1400" dirty="0"/>
          </a:p>
        </p:txBody>
      </p:sp>
      <p:sp>
        <p:nvSpPr>
          <p:cNvPr id="21" name="Text 19"/>
          <p:cNvSpPr txBox="1"/>
          <p:nvPr/>
        </p:nvSpPr>
        <p:spPr>
          <a:xfrm>
            <a:off x="457200" y="2286000"/>
            <a:ext cx="8229600" cy="320040"/>
          </a:xfrm>
          <a:prstGeom prst="rect">
            <a:avLst/>
          </a:prstGeom>
          <a:noFill/>
          <a:ln/>
        </p:spPr>
        <p:txBody>
          <a:bodyPr wrap="square" lIns="0" tIns="0" rIns="0" bIns="0" rtlCol="0" anchor="t"/>
          <a:lstStyle/>
          <a:p>
            <a:pPr algn="ctr" indent="0" marL="0">
              <a:buNone/>
            </a:pPr>
            <a:r>
              <a:rPr lang="en-US" sz="1600" b="1" dirty="0">
                <a:solidFill>
                  <a:srgbClr val="C55A11"/>
                </a:solidFill>
                <a:latin typeface="Arial" pitchFamily="34" charset="0"/>
                <a:ea typeface="Arial" pitchFamily="34" charset="-122"/>
                <a:cs typeface="Arial" pitchFamily="34" charset="-120"/>
              </a:rPr>
              <a:t>El offset se acumula a lo largo de la cadena</a:t>
            </a:r>
            <a:endParaRPr lang="en-US" sz="1600" dirty="0"/>
          </a:p>
        </p:txBody>
      </p:sp>
      <p:sp>
        <p:nvSpPr>
          <p:cNvPr id="22" name="Cuerpo"/>
          <p:cNvSpPr txBox="1"/>
          <p:nvPr/>
        </p:nvSpPr>
        <p:spPr>
          <a:xfrm>
            <a:off x="457200" y="2743200"/>
            <a:ext cx="8229600" cy="17373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Reduce el margen dinámico y puede saturar una etapa</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Un servo de continua activo condicionaría la captura: compromiso entre establecimiento y ancho de banda, justo la respuesta de baja frecuencia que se quiere preservar</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Solución adoptada: un ajuste automático previo a la captura</a:t>
            </a:r>
            <a:endParaRPr lang="en-US" sz="1600" dirty="0"/>
          </a:p>
        </p:txBody>
      </p:sp>
      <p:sp>
        <p:nvSpPr>
          <p:cNvPr id="23"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ajuste se hace antes de capturar, etapa por etapa, y queda fijo durante la captura</a:t>
            </a:r>
            <a:endParaRPr lang="en-US" sz="2400" dirty="0"/>
          </a:p>
        </p:txBody>
      </p:sp>
      <p:sp>
        <p:nvSpPr>
          <p:cNvPr id="3" name="Paso 1"/>
          <p:cNvSpPr/>
          <p:nvPr/>
        </p:nvSpPr>
        <p:spPr>
          <a:xfrm>
            <a:off x="457200" y="1371600"/>
            <a:ext cx="1828800" cy="1143000"/>
          </a:xfrm>
          <a:prstGeom prst="roundRect">
            <a:avLst>
              <a:gd name="adj" fmla="val 6400"/>
            </a:avLst>
          </a:prstGeom>
          <a:solidFill>
            <a:srgbClr val="2E75B6"/>
          </a:solidFill>
          <a:ln w="12700">
            <a:solidFill>
              <a:srgbClr val="2E75B6"/>
            </a:solidFill>
            <a:prstDash val="solid"/>
          </a:ln>
        </p:spPr>
      </p:sp>
      <p:sp>
        <p:nvSpPr>
          <p:cNvPr id="4" name="Text 2"/>
          <p:cNvSpPr txBox="1"/>
          <p:nvPr/>
        </p:nvSpPr>
        <p:spPr>
          <a:xfrm>
            <a:off x="457200" y="1371600"/>
            <a:ext cx="1828800" cy="1143000"/>
          </a:xfrm>
          <a:prstGeom prst="rect">
            <a:avLst/>
          </a:prstGeom>
          <a:noFill/>
          <a:ln/>
        </p:spPr>
        <p:txBody>
          <a:bodyPr wrap="square" lIns="50800" tIns="50800" rIns="50800" bIns="5080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Medir la continua de la etapa (FIR de 128 coeficientes)</a:t>
            </a:r>
            <a:endParaRPr lang="en-US" sz="1400" dirty="0"/>
          </a:p>
        </p:txBody>
      </p:sp>
      <p:sp>
        <p:nvSpPr>
          <p:cNvPr id="5" name="Shape 3"/>
          <p:cNvSpPr/>
          <p:nvPr/>
        </p:nvSpPr>
        <p:spPr>
          <a:xfrm>
            <a:off x="2286000" y="1943100"/>
            <a:ext cx="274320" cy="0"/>
          </a:xfrm>
          <a:prstGeom prst="line">
            <a:avLst/>
          </a:prstGeom>
          <a:noFill/>
          <a:ln w="31750">
            <a:solidFill>
              <a:srgbClr val="1F4E79"/>
            </a:solidFill>
            <a:prstDash val="solid"/>
            <a:tailEnd type="triangle"/>
          </a:ln>
        </p:spPr>
      </p:sp>
      <p:sp>
        <p:nvSpPr>
          <p:cNvPr id="6" name="Paso 2"/>
          <p:cNvSpPr/>
          <p:nvPr/>
        </p:nvSpPr>
        <p:spPr>
          <a:xfrm>
            <a:off x="2560320" y="1371600"/>
            <a:ext cx="1828800" cy="1143000"/>
          </a:xfrm>
          <a:prstGeom prst="roundRect">
            <a:avLst>
              <a:gd name="adj" fmla="val 6400"/>
            </a:avLst>
          </a:prstGeom>
          <a:solidFill>
            <a:srgbClr val="2E75B6"/>
          </a:solidFill>
          <a:ln w="12700">
            <a:solidFill>
              <a:srgbClr val="2E75B6"/>
            </a:solidFill>
            <a:prstDash val="solid"/>
          </a:ln>
        </p:spPr>
      </p:sp>
      <p:sp>
        <p:nvSpPr>
          <p:cNvPr id="7" name="Text 5"/>
          <p:cNvSpPr txBox="1"/>
          <p:nvPr/>
        </p:nvSpPr>
        <p:spPr>
          <a:xfrm>
            <a:off x="2560320" y="1371600"/>
            <a:ext cx="1828800" cy="1143000"/>
          </a:xfrm>
          <a:prstGeom prst="rect">
            <a:avLst/>
          </a:prstGeom>
          <a:noFill/>
          <a:ln/>
        </p:spPr>
        <p:txBody>
          <a:bodyPr wrap="square" lIns="50800" tIns="50800" rIns="50800" bIns="5080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Pasar el error a códigos del VDAC</a:t>
            </a:r>
            <a:endParaRPr lang="en-US" sz="1400" dirty="0"/>
          </a:p>
        </p:txBody>
      </p:sp>
      <p:sp>
        <p:nvSpPr>
          <p:cNvPr id="8" name="Shape 6"/>
          <p:cNvSpPr/>
          <p:nvPr/>
        </p:nvSpPr>
        <p:spPr>
          <a:xfrm>
            <a:off x="4389120" y="1943100"/>
            <a:ext cx="274320" cy="0"/>
          </a:xfrm>
          <a:prstGeom prst="line">
            <a:avLst/>
          </a:prstGeom>
          <a:noFill/>
          <a:ln w="31750">
            <a:solidFill>
              <a:srgbClr val="1F4E79"/>
            </a:solidFill>
            <a:prstDash val="solid"/>
            <a:tailEnd type="triangle"/>
          </a:ln>
        </p:spPr>
      </p:sp>
      <p:sp>
        <p:nvSpPr>
          <p:cNvPr id="9" name="Paso 3"/>
          <p:cNvSpPr/>
          <p:nvPr/>
        </p:nvSpPr>
        <p:spPr>
          <a:xfrm>
            <a:off x="4663440" y="1371600"/>
            <a:ext cx="1828800" cy="1143000"/>
          </a:xfrm>
          <a:prstGeom prst="roundRect">
            <a:avLst>
              <a:gd name="adj" fmla="val 6400"/>
            </a:avLst>
          </a:prstGeom>
          <a:solidFill>
            <a:srgbClr val="C55A11"/>
          </a:solidFill>
          <a:ln w="12700">
            <a:solidFill>
              <a:srgbClr val="C55A11"/>
            </a:solidFill>
            <a:prstDash val="solid"/>
          </a:ln>
        </p:spPr>
      </p:sp>
      <p:sp>
        <p:nvSpPr>
          <p:cNvPr id="10" name="Text 8"/>
          <p:cNvSpPr txBox="1"/>
          <p:nvPr/>
        </p:nvSpPr>
        <p:spPr>
          <a:xfrm>
            <a:off x="4663440" y="1371600"/>
            <a:ext cx="1828800" cy="1143000"/>
          </a:xfrm>
          <a:prstGeom prst="rect">
            <a:avLst/>
          </a:prstGeom>
          <a:noFill/>
          <a:ln/>
        </p:spPr>
        <p:txBody>
          <a:bodyPr wrap="square" lIns="50800" tIns="50800" rIns="50800" bIns="5080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Control PI con banda muerta</a:t>
            </a:r>
            <a:endParaRPr lang="en-US" sz="1400" dirty="0"/>
          </a:p>
        </p:txBody>
      </p:sp>
      <p:sp>
        <p:nvSpPr>
          <p:cNvPr id="11" name="Shape 9"/>
          <p:cNvSpPr/>
          <p:nvPr/>
        </p:nvSpPr>
        <p:spPr>
          <a:xfrm>
            <a:off x="6492240" y="1943100"/>
            <a:ext cx="274320" cy="0"/>
          </a:xfrm>
          <a:prstGeom prst="line">
            <a:avLst/>
          </a:prstGeom>
          <a:noFill/>
          <a:ln w="31750">
            <a:solidFill>
              <a:srgbClr val="1F4E79"/>
            </a:solidFill>
            <a:prstDash val="solid"/>
            <a:tailEnd type="triangle"/>
          </a:ln>
        </p:spPr>
      </p:sp>
      <p:sp>
        <p:nvSpPr>
          <p:cNvPr id="12" name="Paso 4"/>
          <p:cNvSpPr/>
          <p:nvPr/>
        </p:nvSpPr>
        <p:spPr>
          <a:xfrm>
            <a:off x="6766560" y="1371600"/>
            <a:ext cx="1828800" cy="1143000"/>
          </a:xfrm>
          <a:prstGeom prst="roundRect">
            <a:avLst>
              <a:gd name="adj" fmla="val 6400"/>
            </a:avLst>
          </a:prstGeom>
          <a:solidFill>
            <a:srgbClr val="2E75B6"/>
          </a:solidFill>
          <a:ln w="12700">
            <a:solidFill>
              <a:srgbClr val="2E75B6"/>
            </a:solidFill>
            <a:prstDash val="solid"/>
          </a:ln>
        </p:spPr>
      </p:sp>
      <p:sp>
        <p:nvSpPr>
          <p:cNvPr id="13" name="Text 11"/>
          <p:cNvSpPr txBox="1"/>
          <p:nvPr/>
        </p:nvSpPr>
        <p:spPr>
          <a:xfrm>
            <a:off x="6766560" y="1371600"/>
            <a:ext cx="1828800" cy="1143000"/>
          </a:xfrm>
          <a:prstGeom prst="rect">
            <a:avLst/>
          </a:prstGeom>
          <a:noFill/>
          <a:ln/>
        </p:spPr>
        <p:txBody>
          <a:bodyPr wrap="square" lIns="50800" tIns="50800" rIns="50800" bIns="5080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Guardar el código en EEPROM con CRC</a:t>
            </a:r>
            <a:endParaRPr lang="en-US" sz="1400" dirty="0"/>
          </a:p>
        </p:txBody>
      </p:sp>
      <p:sp>
        <p:nvSpPr>
          <p:cNvPr id="14" name="Text 12"/>
          <p:cNvSpPr txBox="1"/>
          <p:nvPr/>
        </p:nvSpPr>
        <p:spPr>
          <a:xfrm>
            <a:off x="457200" y="2697480"/>
            <a:ext cx="8229600" cy="320040"/>
          </a:xfrm>
          <a:prstGeom prst="rect">
            <a:avLst/>
          </a:prstGeom>
          <a:noFill/>
          <a:ln/>
        </p:spPr>
        <p:txBody>
          <a:bodyPr wrap="square" lIns="0" tIns="0" rIns="0" bIns="0" rtlCol="0" anchor="t"/>
          <a:lstStyle/>
          <a:p>
            <a:pPr algn="ctr" indent="0" marL="0">
              <a:buNone/>
            </a:pPr>
            <a:r>
              <a:rPr lang="en-US" sz="1600" b="1" dirty="0">
                <a:solidFill>
                  <a:srgbClr val="1F4E79"/>
                </a:solidFill>
                <a:latin typeface="Arial" pitchFamily="34" charset="0"/>
                <a:ea typeface="Arial" pitchFamily="34" charset="-122"/>
                <a:cs typeface="Arial" pitchFamily="34" charset="-120"/>
              </a:rPr>
              <a:t>Orden de ajuste: PGA, pasabanda, suma, pasa-bajos</a:t>
            </a:r>
            <a:endParaRPr lang="en-US" sz="1600" dirty="0"/>
          </a:p>
        </p:txBody>
      </p:sp>
      <p:sp>
        <p:nvSpPr>
          <p:cNvPr id="15" name="Cuerpo"/>
          <p:cNvSpPr txBox="1"/>
          <p:nvPr/>
        </p:nvSpPr>
        <p:spPr>
          <a:xfrm>
            <a:off x="457200" y="3200400"/>
            <a:ext cx="8229600" cy="12801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Paso del ADC: unos 19,1 µV; paso del VDAC: 16 mV</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La banda muerta evita oscilar entre códigos adyacentes</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Durante la captura el controlador está desactivado: los códigos no cambian</a:t>
            </a:r>
            <a:endParaRPr lang="en-US" sz="1600" dirty="0"/>
          </a:p>
        </p:txBody>
      </p:sp>
      <p:sp>
        <p:nvSpPr>
          <p:cNvPr id="1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4.4, ec. (10)–(14).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ajuste redujo el offset residual a la entrada del ADC a un 0,4–3,9 % del fondo de escala</a:t>
            </a:r>
            <a:endParaRPr lang="en-US" sz="2400" dirty="0"/>
          </a:p>
        </p:txBody>
      </p:sp>
      <p:sp>
        <p:nvSpPr>
          <p:cNvPr id="3" name="Cabecera Sin ajuste"/>
          <p:cNvSpPr/>
          <p:nvPr/>
        </p:nvSpPr>
        <p:spPr>
          <a:xfrm>
            <a:off x="457200" y="1371600"/>
            <a:ext cx="4023360" cy="502920"/>
          </a:xfrm>
          <a:prstGeom prst="rect">
            <a:avLst/>
          </a:prstGeom>
          <a:solidFill>
            <a:srgbClr val="C55A11"/>
          </a:solidFill>
          <a:ln w="12700">
            <a:solidFill>
              <a:srgbClr val="C55A11"/>
            </a:solidFill>
            <a:prstDash val="solid"/>
          </a:ln>
        </p:spPr>
      </p:sp>
      <p:sp>
        <p:nvSpPr>
          <p:cNvPr id="4" name="Text 2"/>
          <p:cNvSpPr txBox="1"/>
          <p:nvPr/>
        </p:nvSpPr>
        <p:spPr>
          <a:xfrm>
            <a:off x="457200" y="1371600"/>
            <a:ext cx="402336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Sin ajuste</a:t>
            </a:r>
            <a:endParaRPr lang="en-US" sz="2000" dirty="0"/>
          </a:p>
        </p:txBody>
      </p:sp>
      <p:sp>
        <p:nvSpPr>
          <p:cNvPr id="5" name="Tarjeta Sin ajuste"/>
          <p:cNvSpPr/>
          <p:nvPr/>
        </p:nvSpPr>
        <p:spPr>
          <a:xfrm>
            <a:off x="457200" y="1874520"/>
            <a:ext cx="4023360" cy="1188720"/>
          </a:xfrm>
          <a:prstGeom prst="rect">
            <a:avLst/>
          </a:prstGeom>
          <a:solidFill>
            <a:srgbClr val="FFFFFF"/>
          </a:solidFill>
          <a:ln w="19050">
            <a:solidFill>
              <a:srgbClr val="C55A11"/>
            </a:solidFill>
            <a:prstDash val="solid"/>
          </a:ln>
        </p:spPr>
      </p:sp>
      <p:sp>
        <p:nvSpPr>
          <p:cNvPr id="6" name="Text 4"/>
          <p:cNvSpPr txBox="1"/>
          <p:nvPr/>
        </p:nvSpPr>
        <p:spPr>
          <a:xfrm>
            <a:off x="457200" y="1874520"/>
            <a:ext cx="4023360" cy="1188720"/>
          </a:xfrm>
          <a:prstGeom prst="rect">
            <a:avLst/>
          </a:prstGeom>
          <a:noFill/>
          <a:ln/>
        </p:spPr>
        <p:txBody>
          <a:bodyPr wrap="square" lIns="0" tIns="0" rIns="0" bIns="0" rtlCol="0" anchor="ctr"/>
          <a:lstStyle/>
          <a:p>
            <a:pPr algn="ctr" indent="0" marL="0">
              <a:buNone/>
            </a:pPr>
            <a:r>
              <a:rPr lang="en-US" sz="3600" b="1" dirty="0">
                <a:solidFill>
                  <a:srgbClr val="C55A11"/>
                </a:solidFill>
                <a:latin typeface="Arial" pitchFamily="34" charset="0"/>
                <a:ea typeface="Arial" pitchFamily="34" charset="-122"/>
                <a:cs typeface="Arial" pitchFamily="34" charset="-120"/>
              </a:rPr>
              <a:t>2,9 a 45,8 %</a:t>
            </a:r>
            <a:endParaRPr lang="en-US" sz="3600" dirty="0"/>
          </a:p>
        </p:txBody>
      </p:sp>
      <p:sp>
        <p:nvSpPr>
          <p:cNvPr id="7" name="Cabecera Con ajuste"/>
          <p:cNvSpPr/>
          <p:nvPr/>
        </p:nvSpPr>
        <p:spPr>
          <a:xfrm>
            <a:off x="4663440" y="1371600"/>
            <a:ext cx="4023360" cy="502920"/>
          </a:xfrm>
          <a:prstGeom prst="rect">
            <a:avLst/>
          </a:prstGeom>
          <a:solidFill>
            <a:srgbClr val="1F4E79"/>
          </a:solidFill>
          <a:ln w="12700">
            <a:solidFill>
              <a:srgbClr val="1F4E79"/>
            </a:solidFill>
            <a:prstDash val="solid"/>
          </a:ln>
        </p:spPr>
      </p:sp>
      <p:sp>
        <p:nvSpPr>
          <p:cNvPr id="8" name="Text 6"/>
          <p:cNvSpPr txBox="1"/>
          <p:nvPr/>
        </p:nvSpPr>
        <p:spPr>
          <a:xfrm>
            <a:off x="4663440" y="1371600"/>
            <a:ext cx="402336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Con ajuste</a:t>
            </a:r>
            <a:endParaRPr lang="en-US" sz="2000" dirty="0"/>
          </a:p>
        </p:txBody>
      </p:sp>
      <p:sp>
        <p:nvSpPr>
          <p:cNvPr id="9" name="Tarjeta Con ajuste"/>
          <p:cNvSpPr/>
          <p:nvPr/>
        </p:nvSpPr>
        <p:spPr>
          <a:xfrm>
            <a:off x="4663440" y="1874520"/>
            <a:ext cx="4023360" cy="1188720"/>
          </a:xfrm>
          <a:prstGeom prst="rect">
            <a:avLst/>
          </a:prstGeom>
          <a:solidFill>
            <a:srgbClr val="FFFFFF"/>
          </a:solidFill>
          <a:ln w="19050">
            <a:solidFill>
              <a:srgbClr val="1F4E79"/>
            </a:solidFill>
            <a:prstDash val="solid"/>
          </a:ln>
        </p:spPr>
      </p:sp>
      <p:sp>
        <p:nvSpPr>
          <p:cNvPr id="10" name="Text 8"/>
          <p:cNvSpPr txBox="1"/>
          <p:nvPr/>
        </p:nvSpPr>
        <p:spPr>
          <a:xfrm>
            <a:off x="4663440" y="1874520"/>
            <a:ext cx="4023360" cy="1188720"/>
          </a:xfrm>
          <a:prstGeom prst="rect">
            <a:avLst/>
          </a:prstGeom>
          <a:noFill/>
          <a:ln/>
        </p:spPr>
        <p:txBody>
          <a:bodyPr wrap="square" lIns="0" tIns="0" rIns="0" bIns="0" rtlCol="0" anchor="ctr"/>
          <a:lstStyle/>
          <a:p>
            <a:pPr algn="ctr" indent="0" marL="0">
              <a:buNone/>
            </a:pPr>
            <a:r>
              <a:rPr lang="en-US" sz="3600" b="1" dirty="0">
                <a:solidFill>
                  <a:srgbClr val="1F4E79"/>
                </a:solidFill>
                <a:latin typeface="Arial" pitchFamily="34" charset="0"/>
                <a:ea typeface="Arial" pitchFamily="34" charset="-122"/>
                <a:cs typeface="Arial" pitchFamily="34" charset="-120"/>
              </a:rPr>
              <a:t>0,4 a 3,9 %</a:t>
            </a:r>
            <a:endParaRPr lang="en-US" sz="3600" dirty="0"/>
          </a:p>
        </p:txBody>
      </p:sp>
      <p:sp>
        <p:nvSpPr>
          <p:cNvPr id="11" name="Text 9"/>
          <p:cNvSpPr txBox="1"/>
          <p:nvPr/>
        </p:nvSpPr>
        <p:spPr>
          <a:xfrm>
            <a:off x="457200" y="3291840"/>
            <a:ext cx="8229600" cy="640080"/>
          </a:xfrm>
          <a:prstGeom prst="rect">
            <a:avLst/>
          </a:prstGeom>
          <a:noFill/>
          <a:ln/>
        </p:spPr>
        <p:txBody>
          <a:bodyPr wrap="square" lIns="0" tIns="0" rIns="0" bIns="0" rtlCol="0" anchor="t"/>
          <a:lstStyle/>
          <a:p>
            <a:pPr algn="ctr" indent="0" marL="0">
              <a:buNone/>
            </a:pPr>
            <a:r>
              <a:rPr lang="en-US" sz="1800" dirty="0">
                <a:solidFill>
                  <a:srgbClr val="2D2D2D"/>
                </a:solidFill>
                <a:latin typeface="Arial" pitchFamily="34" charset="0"/>
                <a:ea typeface="Arial" pitchFamily="34" charset="-122"/>
                <a:cs typeface="Arial" pitchFamily="34" charset="-120"/>
              </a:rPr>
              <a:t>Del fondo de escala, en 8 configuraciones placa–ganancia sobre 2 placas independientes</a:t>
            </a:r>
            <a:endParaRPr lang="en-US" sz="1800" dirty="0"/>
          </a:p>
        </p:txBody>
      </p:sp>
      <p:sp>
        <p:nvSpPr>
          <p:cNvPr id="12"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Documento de tesis, resumen (latex/secciones/00_resumen.tex). No figura en el resumen firmado.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respuesta del frente se midió con barridos senoidales y se comparó con el modelo</a:t>
            </a:r>
            <a:endParaRPr lang="en-US" sz="2400" dirty="0"/>
          </a:p>
        </p:txBody>
      </p:sp>
      <p:pic>
        <p:nvPicPr>
          <p:cNvPr id="3" name="Respuesta PGA-ADC" descr="Respuesta PGA–ADC medida: magnitud, fase y coherencia, junto al modelo, sus tolerancias y el rango del potenciómetro">    </p:cNvPr>
          <p:cNvPicPr>
            <a:picLocks noChangeAspect="1"/>
          </p:cNvPicPr>
          <p:nvPr/>
        </p:nvPicPr>
        <p:blipFill>
          <a:blip r:embed="rId1"/>
          <a:stretch>
            <a:fillRect/>
          </a:stretch>
        </p:blipFill>
        <p:spPr>
          <a:xfrm>
            <a:off x="365760" y="1234440"/>
            <a:ext cx="4114800" cy="3228045"/>
          </a:xfrm>
          <a:prstGeom prst="rect">
            <a:avLst/>
          </a:prstGeom>
        </p:spPr>
      </p:pic>
      <p:sp>
        <p:nvSpPr>
          <p:cNvPr id="4" name="Cuerpo"/>
          <p:cNvSpPr txBox="1"/>
          <p:nvPr/>
        </p:nvSpPr>
        <p:spPr>
          <a:xfrm>
            <a:off x="4754880" y="1371600"/>
            <a:ext cx="3931920" cy="30175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Barridos de 10 mHz a 200 kHz, en bandas superpuestas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Magnitud y fase: cociente espectral entre salida y entrada</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La coherencia delimita las regiones interpretables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Se midió por etapa y en la ruta completa PGA–ADC</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4.5, fig. 9a; figura propia.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cadena completa atenúa menos por debajo de 10 Hz: es una predicción, no una medición</a:t>
            </a:r>
            <a:endParaRPr lang="en-US" sz="2400" dirty="0"/>
          </a:p>
        </p:txBody>
      </p:sp>
      <p:pic>
        <p:nvPicPr>
          <p:cNvPr id="3" name="Geófono frente a cadena" descr="Geófono puro frente a la cadena completa geófono–ADC, ambas normalizadas a 0 dB en su máximo">    </p:cNvPr>
          <p:cNvPicPr>
            <a:picLocks noChangeAspect="1"/>
          </p:cNvPicPr>
          <p:nvPr/>
        </p:nvPicPr>
        <p:blipFill>
          <a:blip r:embed="rId1"/>
          <a:stretch>
            <a:fillRect/>
          </a:stretch>
        </p:blipFill>
        <p:spPr>
          <a:xfrm>
            <a:off x="365760" y="1280160"/>
            <a:ext cx="4846320" cy="3208293"/>
          </a:xfrm>
          <a:prstGeom prst="rect">
            <a:avLst/>
          </a:prstGeom>
        </p:spPr>
      </p:pic>
      <p:sp>
        <p:nvSpPr>
          <p:cNvPr id="4" name="Cuerpo"/>
          <p:cNvSpPr txBox="1"/>
          <p:nvPr/>
        </p:nvSpPr>
        <p:spPr>
          <a:xfrm>
            <a:off x="5394960" y="1371600"/>
            <a:ext cx="3291840" cy="31089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D2D2D"/>
                </a:solidFill>
                <a:latin typeface="Arial" pitchFamily="34" charset="0"/>
                <a:ea typeface="Arial" pitchFamily="34" charset="-122"/>
                <a:cs typeface="Arial" pitchFamily="34" charset="-120"/>
              </a:rPr>
              <a:t>Línea: SM-24 sin compensar (modelo nominal)</a:t>
            </a:r>
            <a:endParaRPr lang="en-US" sz="1500" dirty="0"/>
          </a:p>
          <a:p>
            <a:pPr marL="342900" indent="-342900">
              <a:spcAft>
                <a:spcPts val="800"/>
              </a:spcAft>
              <a:buSzPct val="100000"/>
              <a:buChar char="•"/>
            </a:pPr>
            <a:r>
              <a:rPr lang="en-US" sz="1500" dirty="0">
                <a:solidFill>
                  <a:srgbClr val="2D2D2D"/>
                </a:solidFill>
                <a:latin typeface="Arial" pitchFamily="34" charset="0"/>
                <a:ea typeface="Arial" pitchFamily="34" charset="-122"/>
                <a:cs typeface="Arial" pitchFamily="34" charset="-120"/>
              </a:rPr>
              <a:t>Puntos: respuesta medida del frente por el modelo nominal del SM-24</a:t>
            </a:r>
            <a:endParaRPr lang="en-US" sz="1500" dirty="0"/>
          </a:p>
          <a:p>
            <a:pPr marL="342900" indent="-342900">
              <a:spcAft>
                <a:spcPts val="800"/>
              </a:spcAft>
              <a:buSzPct val="100000"/>
              <a:buChar char="•"/>
            </a:pPr>
            <a:r>
              <a:rPr lang="en-US" sz="1500" dirty="0">
                <a:solidFill>
                  <a:srgbClr val="2D2D2D"/>
                </a:solidFill>
                <a:latin typeface="Arial" pitchFamily="34" charset="0"/>
                <a:ea typeface="Arial" pitchFamily="34" charset="-122"/>
                <a:cs typeface="Arial" pitchFamily="34" charset="-120"/>
              </a:rPr>
              <a:t>No se pudo imponer al geófono un movimiento mecánico conocido</a:t>
            </a:r>
            <a:endParaRPr lang="en-US" sz="1500" dirty="0"/>
          </a:p>
          <a:p>
            <a:pPr marL="342900" indent="-342900">
              <a:spcAft>
                <a:spcPts val="800"/>
              </a:spcAft>
              <a:buSzPct val="100000"/>
              <a:buChar char="•"/>
            </a:pPr>
            <a:r>
              <a:rPr lang="en-US" sz="1500" dirty="0">
                <a:solidFill>
                  <a:srgbClr val="2D2D2D"/>
                </a:solidFill>
                <a:latin typeface="Arial" pitchFamily="34" charset="0"/>
                <a:ea typeface="Arial" pitchFamily="34" charset="-122"/>
                <a:cs typeface="Arial" pitchFamily="34" charset="-120"/>
              </a:rPr>
              <a:t>Cada curva está normalizada en su máximo: no muestra la pérdida de ganancia</a:t>
            </a:r>
            <a:endParaRPr lang="en-US" sz="15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4.5, fig. 9b; figura propia.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Primera presentación de tesis</dc:title>
  <dc:subject>PptxGenJS Presentation</dc:subject>
  <dc:creator>Elías David Álvarez Martínez</dc:creator>
  <cp:lastModifiedBy>Elías David Álvarez Martínez</cp:lastModifiedBy>
  <cp:revision>1</cp:revision>
  <dcterms:created xsi:type="dcterms:W3CDTF">2026-10-13T04:28:19Z</dcterms:created>
  <dcterms:modified xsi:type="dcterms:W3CDTF">2026-10-13T04:28:19Z</dcterms:modified>
</cp:coreProperties>
</file>