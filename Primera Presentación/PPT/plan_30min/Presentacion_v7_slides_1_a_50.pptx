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ser>
          <c:idx val="1"/>
          <c:order val="1"/>
          <c:tx>
            <c:strRef>
              <c:f>Sheet1!$C$1</c:f>
              <c:strCache>
                <c:ptCount val="1"/>
                <c:pt idx="0">
                  <c:v>0,93·Vs de la capa 1 (139 m/s)</c:v>
                </c:pt>
              </c:strCache>
            </c:strRef>
          </c:tx>
          <c:spPr>
            <a:solidFill>
              <a:srgbClr val="2E75B6"/>
            </a:solidFill>
            <a:ln w="38100" cap="flat">
              <a:solidFill>
                <a:srgbClr val="2E75B6"/>
              </a:solidFill>
              <a:prstDash val="solid"/>
              <a:round/>
            </a:ln>
            <a:effectLst/>
          </c:spPr>
          <c:marker>
            <c:symbol val="none"/>
            <c:size val="6"/>
            <c:spPr>
              <a:solidFill>
                <a:srgbClr val="2E75B6"/>
              </a:solidFill>
              <a:ln w="9525" cap="flat">
                <a:solidFill>
                  <a:srgbClr val="2E75B6"/>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Sheet1!$C$2:$C$48</c:f>
              <c:numCache>
                <c:formatCode>General</c:formatCode>
                <c:ptCount val="47"/>
                <c:pt idx="0">
                  <c:v>139</c:v>
                </c:pt>
                <c:pt idx="1">
                  <c:v>139</c:v>
                </c:pt>
                <c:pt idx="2">
                  <c:v>139</c:v>
                </c:pt>
                <c:pt idx="3">
                  <c:v>139</c:v>
                </c:pt>
                <c:pt idx="4">
                  <c:v>139</c:v>
                </c:pt>
                <c:pt idx="5">
                  <c:v>139</c:v>
                </c:pt>
                <c:pt idx="6">
                  <c:v>139</c:v>
                </c:pt>
                <c:pt idx="7">
                  <c:v>139</c:v>
                </c:pt>
                <c:pt idx="8">
                  <c:v>139</c:v>
                </c:pt>
                <c:pt idx="9">
                  <c:v>139</c:v>
                </c:pt>
                <c:pt idx="10">
                  <c:v>139</c:v>
                </c:pt>
                <c:pt idx="11">
                  <c:v>139</c:v>
                </c:pt>
                <c:pt idx="12">
                  <c:v>139</c:v>
                </c:pt>
                <c:pt idx="13">
                  <c:v>139</c:v>
                </c:pt>
                <c:pt idx="14">
                  <c:v>139</c:v>
                </c:pt>
                <c:pt idx="15">
                  <c:v>139</c:v>
                </c:pt>
                <c:pt idx="16">
                  <c:v>139</c:v>
                </c:pt>
                <c:pt idx="17">
                  <c:v>139</c:v>
                </c:pt>
                <c:pt idx="18">
                  <c:v>139</c:v>
                </c:pt>
                <c:pt idx="19">
                  <c:v>139</c:v>
                </c:pt>
                <c:pt idx="20">
                  <c:v>139</c:v>
                </c:pt>
                <c:pt idx="21">
                  <c:v>139</c:v>
                </c:pt>
                <c:pt idx="22">
                  <c:v>139</c:v>
                </c:pt>
                <c:pt idx="23">
                  <c:v>139</c:v>
                </c:pt>
                <c:pt idx="24">
                  <c:v>139</c:v>
                </c:pt>
                <c:pt idx="25">
                  <c:v>139</c:v>
                </c:pt>
                <c:pt idx="26">
                  <c:v>139</c:v>
                </c:pt>
                <c:pt idx="27">
                  <c:v>139</c:v>
                </c:pt>
                <c:pt idx="28">
                  <c:v>139</c:v>
                </c:pt>
                <c:pt idx="29">
                  <c:v>139</c:v>
                </c:pt>
                <c:pt idx="30">
                  <c:v>139</c:v>
                </c:pt>
                <c:pt idx="31">
                  <c:v>139</c:v>
                </c:pt>
                <c:pt idx="32">
                  <c:v>139</c:v>
                </c:pt>
                <c:pt idx="33">
                  <c:v>139</c:v>
                </c:pt>
                <c:pt idx="34">
                  <c:v>139</c:v>
                </c:pt>
                <c:pt idx="35">
                  <c:v>139</c:v>
                </c:pt>
                <c:pt idx="36">
                  <c:v>139</c:v>
                </c:pt>
                <c:pt idx="37">
                  <c:v>139</c:v>
                </c:pt>
                <c:pt idx="38">
                  <c:v>139</c:v>
                </c:pt>
                <c:pt idx="39">
                  <c:v>139</c:v>
                </c:pt>
                <c:pt idx="40">
                  <c:v>139</c:v>
                </c:pt>
                <c:pt idx="41">
                  <c:v>139</c:v>
                </c:pt>
                <c:pt idx="42">
                  <c:v>139</c:v>
                </c:pt>
                <c:pt idx="43">
                  <c:v>139</c:v>
                </c:pt>
                <c:pt idx="44">
                  <c:v>139</c:v>
                </c:pt>
                <c:pt idx="45">
                  <c:v>139</c:v>
                </c:pt>
                <c:pt idx="46">
                  <c:v>139</c:v>
                </c:pt>
              </c:numCache>
            </c:numRef>
          </c:yVal>
          <c:smooth val="0"/>
        </c:ser>
        <c:ser>
          <c:idx val="2"/>
          <c:order val="2"/>
          <c:tx>
            <c:strRef>
              <c:f>Sheet1!$D$1</c:f>
              <c:strCache>
                <c:ptCount val="1"/>
                <c:pt idx="0">
                  <c:v>0,93·Vs del medio inferior (417 m/s)</c:v>
                </c:pt>
              </c:strCache>
            </c:strRef>
          </c:tx>
          <c:spPr>
            <a:solidFill>
              <a:srgbClr val="7F7F7F"/>
            </a:solidFill>
            <a:ln w="38100" cap="flat">
              <a:solidFill>
                <a:srgbClr val="7F7F7F"/>
              </a:solidFill>
              <a:prstDash val="solid"/>
              <a:round/>
            </a:ln>
            <a:effectLst/>
          </c:spPr>
          <c:marker>
            <c:symbol val="none"/>
            <c:size val="6"/>
            <c:spPr>
              <a:solidFill>
                <a:srgbClr val="7F7F7F"/>
              </a:solidFill>
              <a:ln w="9525" cap="flat">
                <a:solidFill>
                  <a:srgbClr val="7F7F7F"/>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Sheet1!$D$2:$D$48</c:f>
              <c:numCache>
                <c:formatCode>General</c:formatCode>
                <c:ptCount val="47"/>
                <c:pt idx="0">
                  <c:v>417</c:v>
                </c:pt>
                <c:pt idx="1">
                  <c:v>417</c:v>
                </c:pt>
                <c:pt idx="2">
                  <c:v>417</c:v>
                </c:pt>
                <c:pt idx="3">
                  <c:v>417</c:v>
                </c:pt>
                <c:pt idx="4">
                  <c:v>417</c:v>
                </c:pt>
                <c:pt idx="5">
                  <c:v>417</c:v>
                </c:pt>
                <c:pt idx="6">
                  <c:v>417</c:v>
                </c:pt>
                <c:pt idx="7">
                  <c:v>417</c:v>
                </c:pt>
                <c:pt idx="8">
                  <c:v>417</c:v>
                </c:pt>
                <c:pt idx="9">
                  <c:v>417</c:v>
                </c:pt>
                <c:pt idx="10">
                  <c:v>417</c:v>
                </c:pt>
                <c:pt idx="11">
                  <c:v>417</c:v>
                </c:pt>
                <c:pt idx="12">
                  <c:v>417</c:v>
                </c:pt>
                <c:pt idx="13">
                  <c:v>417</c:v>
                </c:pt>
                <c:pt idx="14">
                  <c:v>417</c:v>
                </c:pt>
                <c:pt idx="15">
                  <c:v>417</c:v>
                </c:pt>
                <c:pt idx="16">
                  <c:v>417</c:v>
                </c:pt>
                <c:pt idx="17">
                  <c:v>417</c:v>
                </c:pt>
                <c:pt idx="18">
                  <c:v>417</c:v>
                </c:pt>
                <c:pt idx="19">
                  <c:v>417</c:v>
                </c:pt>
                <c:pt idx="20">
                  <c:v>417</c:v>
                </c:pt>
                <c:pt idx="21">
                  <c:v>417</c:v>
                </c:pt>
                <c:pt idx="22">
                  <c:v>417</c:v>
                </c:pt>
                <c:pt idx="23">
                  <c:v>417</c:v>
                </c:pt>
                <c:pt idx="24">
                  <c:v>417</c:v>
                </c:pt>
                <c:pt idx="25">
                  <c:v>417</c:v>
                </c:pt>
                <c:pt idx="26">
                  <c:v>417</c:v>
                </c:pt>
                <c:pt idx="27">
                  <c:v>417</c:v>
                </c:pt>
                <c:pt idx="28">
                  <c:v>417</c:v>
                </c:pt>
                <c:pt idx="29">
                  <c:v>417</c:v>
                </c:pt>
                <c:pt idx="30">
                  <c:v>417</c:v>
                </c:pt>
                <c:pt idx="31">
                  <c:v>417</c:v>
                </c:pt>
                <c:pt idx="32">
                  <c:v>417</c:v>
                </c:pt>
                <c:pt idx="33">
                  <c:v>417</c:v>
                </c:pt>
                <c:pt idx="34">
                  <c:v>417</c:v>
                </c:pt>
                <c:pt idx="35">
                  <c:v>417</c:v>
                </c:pt>
                <c:pt idx="36">
                  <c:v>417</c:v>
                </c:pt>
                <c:pt idx="37">
                  <c:v>417</c:v>
                </c:pt>
                <c:pt idx="38">
                  <c:v>417</c:v>
                </c:pt>
                <c:pt idx="39">
                  <c:v>417</c:v>
                </c:pt>
                <c:pt idx="40">
                  <c:v>417</c:v>
                </c:pt>
                <c:pt idx="41">
                  <c:v>417</c:v>
                </c:pt>
                <c:pt idx="42">
                  <c:v>417</c:v>
                </c:pt>
                <c:pt idx="43">
                  <c:v>417</c:v>
                </c:pt>
                <c:pt idx="44">
                  <c:v>417</c:v>
                </c:pt>
                <c:pt idx="45">
                  <c:v>417</c:v>
                </c:pt>
                <c:pt idx="46">
                  <c:v>417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velocidad de corte cambia con la profundidad, y casi siempre aumenta. Como ejemplo uso un modelo de tres capas, de 150, 250 y 450 metros por segundo. Lo que queremos es el perfil Vs de z, porque con él y la densidad estimamos Gmax en función de la profundidad, como vimos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Una onda de baja frecuencia tiene una longitud de onda grande, y el movimiento que produce llega más profundo. Una de alta frecuencia tiene una longitud corta y solo siente lo superficial. Por eso, midiendo en varias frecuencias, podemos muestrear distintas profundidades. Cuidado: la regla de que la profundidad es del orden de lambda sobre tres o sobre dos es empírica, no una equivalencia exacta. Por qué no es exacta lo vemos ahora. Nota para mí: confirmar la regla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A alta frecuencia la longitud de onda es corta, la Rayleigh solo siente la capa superior y viaja a casi 0,93 veces su Vs, unos 139 metros por segundo. A medida que baja la frecuencia, la onda empieza a sentir las capas profundas y su velocidad sube hacia 0,93 veces la Vs del medio inferior. Esa dependencia de la velocidad con la frecuencia es la dispersión. Y explica por qué lambda igual a c sobre f no da una profundidad fija: c mismo cambia con f. El 0,93 sale de ν igual a 0,3 con la aproximación de Viktorov. Nota para mí: la curva baja de 417 solo asintóticamente; a 2 Hz está en 393.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cosas a tener presentes. Primero, la solución no es única: perfiles distintos pueden producir curvas de dispersión casi idénticas. Segundo, la resolución cae con la profundidad: las capas profundas se distinguen peor. Tercero, el resultado depende de lo que supongamos de entrada, como el modelo inicial y el número de capas. Y para todo esto hace falta medir la curva en un rango amplio de frecuencias, que es un requisito para nuestro sistema de adquisición.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amplitud y la fase de las componentes que nos interesan.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incluir las frecuencias de interés sin alterarlas, y el muestreo debe evitar el aliasing. Segundo, el margen dinámico: la amplitud cambia mucho con la distancia, así que hace falta ganancia ajustable y resolución para no saturar cerca de la fuente ni perder la señal lejos. Tercero, la referencia temporal y la geometría. Cuarto, operar en campo sin infraestructura externa, guardando los registros localmente y pudiendo verificar antes de avanzar.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29260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Vs = Δx / Δt</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2103120"/>
            <a:ext cx="374904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3154680"/>
            <a:ext cx="37490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cR / Vs va de 0,86 a 0,95 según ν</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No hay dispersión: todas las frecuencias van a la misma cR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Vs ≈ cR / 0,9</a:t>
            </a:r>
            <a:endParaRPr lang="en-US" sz="16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velocidad de corte cambia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371600"/>
            <a:ext cx="3931920" cy="30175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suele aumentar con la profundidad</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Ejemplo: tres capas, 150, 250 y 450 m/s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Lo que queremos conocer es Vs(z)</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Con Vs(z) se estima Gmax(z)</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frecuencia tiene una longitud de onda, y cada longitud de onda llega a una profundidad distinta</a:t>
            </a:r>
            <a:endParaRPr lang="en-US" sz="2400" dirty="0"/>
          </a:p>
        </p:txBody>
      </p:sp>
      <p:pic>
        <p:nvPicPr>
          <p:cNvPr id="3" name="Esquema longitud de onda" descr="Esquema: a 15 Hz la longitud de onda es de unos 12 m y sensa la capa superior; a 5 Hz es de unos 70 m y llega a capas profundas">    </p:cNvPr>
          <p:cNvPicPr>
            <a:picLocks noChangeAspect="1"/>
          </p:cNvPicPr>
          <p:nvPr/>
        </p:nvPicPr>
        <p:blipFill>
          <a:blip r:embed="rId1"/>
          <a:stretch>
            <a:fillRect/>
          </a:stretch>
        </p:blipFill>
        <p:spPr>
          <a:xfrm>
            <a:off x="457200" y="1325880"/>
            <a:ext cx="4937760" cy="3108960"/>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grande, llega más profundo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sensa lo superficial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Profundidad ≈ λ/3 a λ/2: regla empírica</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(c de la curva de la slide 41). Regla λ/3–λ/2: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capa tiene una Vs distinta, la velocidad de la Rayleigh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 depende de f: hay dispersión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c ≈ 0,93·Vs de la capa superior</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c tiende a 0,93·Vs del medio inferior</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Por eso λ = c/f no da una profundidad fija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ajusta un perfil Vs(z) hasta que su curva teórica coincide con la medida</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no es única y pierde resolución con la profundidad</a:t>
            </a:r>
            <a:endParaRPr lang="en-US" sz="2400" dirty="0"/>
          </a:p>
        </p:txBody>
      </p:sp>
      <p:sp>
        <p:nvSpPr>
          <p:cNvPr id="3" name="Cabecera No unicidad"/>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5" name="Tarjeta No unicidad"/>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7" name="Cabecera Resolución"/>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Resolución</a:t>
            </a:r>
            <a:endParaRPr lang="en-US" sz="2000" dirty="0"/>
          </a:p>
        </p:txBody>
      </p:sp>
      <p:sp>
        <p:nvSpPr>
          <p:cNvPr id="9" name="Tarjeta Resolución"/>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Baja con la profundidad: las capas profundas se distinguen peor</a:t>
            </a:r>
            <a:endParaRPr lang="en-US" sz="1800" dirty="0"/>
          </a:p>
        </p:txBody>
      </p:sp>
      <p:sp>
        <p:nvSpPr>
          <p:cNvPr id="11" name="Cabecera Supuestos"/>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13" name="Tarjeta Supuestos"/>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El resultado depende del modelo inicial y del número de capas</a:t>
            </a:r>
            <a:endParaRPr lang="en-US" sz="1800" dirty="0"/>
          </a:p>
        </p:txBody>
      </p:sp>
      <p:sp>
        <p:nvSpPr>
          <p:cNvPr id="15" name="Cabecera Datos"/>
          <p:cNvSpPr/>
          <p:nvPr/>
        </p:nvSpPr>
        <p:spPr>
          <a:xfrm>
            <a:off x="4663440" y="2880360"/>
            <a:ext cx="4023360" cy="457200"/>
          </a:xfrm>
          <a:prstGeom prst="rect">
            <a:avLst/>
          </a:prstGeom>
          <a:solidFill>
            <a:srgbClr val="1F4E79"/>
          </a:solidFill>
          <a:ln w="12700">
            <a:solidFill>
              <a:srgbClr val="1F4E79"/>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Datos</a:t>
            </a:r>
            <a:endParaRPr lang="en-US" sz="2000" dirty="0"/>
          </a:p>
        </p:txBody>
      </p:sp>
      <p:sp>
        <p:nvSpPr>
          <p:cNvPr id="17" name="Tarjeta Datos"/>
          <p:cNvSpPr/>
          <p:nvPr/>
        </p:nvSpPr>
        <p:spPr>
          <a:xfrm>
            <a:off x="4663440" y="3337560"/>
            <a:ext cx="4023360" cy="914400"/>
          </a:xfrm>
          <a:prstGeom prst="rect">
            <a:avLst/>
          </a:prstGeom>
          <a:solidFill>
            <a:srgbClr val="FFFFFF"/>
          </a:solidFill>
          <a:ln w="19050">
            <a:solidFill>
              <a:srgbClr val="1F4E79"/>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Hace falta la curva en un rango amplio de frecuencias</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Δφ(f) sale la velocidad de fase cR(f)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Δφ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55448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4630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Conservar la información temporal y espacial de cada traza</a:t>
            </a:r>
            <a:endParaRPr lang="en-US" sz="1800" dirty="0"/>
          </a:p>
        </p:txBody>
      </p:sp>
      <p:sp>
        <p:nvSpPr>
          <p:cNvPr id="7" name="Cabecera Referencia temporal"/>
          <p:cNvSpPr/>
          <p:nvPr/>
        </p:nvSpPr>
        <p:spPr>
          <a:xfrm>
            <a:off x="329184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91840" y="1874520"/>
            <a:ext cx="2651760" cy="1554480"/>
          </a:xfrm>
          <a:prstGeom prst="rect">
            <a:avLst/>
          </a:prstGeom>
          <a:solidFill>
            <a:srgbClr val="FFFFFF"/>
          </a:solidFill>
          <a:ln w="19050">
            <a:solidFill>
              <a:srgbClr val="1F4E79"/>
            </a:solidFill>
            <a:prstDash val="solid"/>
          </a:ln>
        </p:spPr>
      </p:sp>
      <p:sp>
        <p:nvSpPr>
          <p:cNvPr id="10" name="Text 8"/>
          <p:cNvSpPr txBox="1"/>
          <p:nvPr/>
        </p:nvSpPr>
        <p:spPr>
          <a:xfrm>
            <a:off x="3429000" y="1920240"/>
            <a:ext cx="2377440" cy="14630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Mantener una referencia temporal entre registros</a:t>
            </a:r>
            <a:endParaRPr lang="en-US" sz="1800" dirty="0"/>
          </a:p>
        </p:txBody>
      </p:sp>
      <p:sp>
        <p:nvSpPr>
          <p:cNvPr id="11" name="Cabecera Amplitud y fase"/>
          <p:cNvSpPr/>
          <p:nvPr/>
        </p:nvSpPr>
        <p:spPr>
          <a:xfrm>
            <a:off x="612648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Amplitud y fase</a:t>
            </a:r>
            <a:endParaRPr lang="en-US" sz="1800" dirty="0"/>
          </a:p>
        </p:txBody>
      </p:sp>
      <p:sp>
        <p:nvSpPr>
          <p:cNvPr id="13" name="Tarjeta Amplitud y fase"/>
          <p:cNvSpPr/>
          <p:nvPr/>
        </p:nvSpPr>
        <p:spPr>
          <a:xfrm>
            <a:off x="6126480" y="1874520"/>
            <a:ext cx="2651760" cy="1554480"/>
          </a:xfrm>
          <a:prstGeom prst="rect">
            <a:avLst/>
          </a:prstGeom>
          <a:solidFill>
            <a:srgbClr val="FFFFFF"/>
          </a:solidFill>
          <a:ln w="19050">
            <a:solidFill>
              <a:srgbClr val="1F4E79"/>
            </a:solidFill>
            <a:prstDash val="solid"/>
          </a:ln>
        </p:spPr>
      </p:sp>
      <p:sp>
        <p:nvSpPr>
          <p:cNvPr id="14" name="Text 12"/>
          <p:cNvSpPr txBox="1"/>
          <p:nvPr/>
        </p:nvSpPr>
        <p:spPr>
          <a:xfrm>
            <a:off x="6263640" y="1920240"/>
            <a:ext cx="2377440" cy="14630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Preservar la amplitud y la fase de las componentes de interés</a:t>
            </a:r>
            <a:endParaRPr lang="en-US" sz="1800" dirty="0"/>
          </a:p>
        </p:txBody>
      </p:sp>
      <p:sp>
        <p:nvSpPr>
          <p:cNvPr id="15" name="Mensaje"/>
          <p:cNvSpPr txBox="1"/>
          <p:nvPr/>
        </p:nvSpPr>
        <p:spPr>
          <a:xfrm>
            <a:off x="457200" y="370332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cuatro condiciones de diseño del sistema</a:t>
            </a:r>
            <a:endParaRPr lang="en-US" sz="2400" dirty="0"/>
          </a:p>
        </p:txBody>
      </p:sp>
      <p:sp>
        <p:nvSpPr>
          <p:cNvPr id="3" name="Cabecera Banda y fase"/>
          <p:cNvSpPr/>
          <p:nvPr/>
        </p:nvSpPr>
        <p:spPr>
          <a:xfrm>
            <a:off x="457200" y="128016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28016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Banda y fase</a:t>
            </a:r>
            <a:endParaRPr lang="en-US" sz="2000" dirty="0"/>
          </a:p>
        </p:txBody>
      </p:sp>
      <p:sp>
        <p:nvSpPr>
          <p:cNvPr id="5" name="Tarjeta Banda y fase"/>
          <p:cNvSpPr/>
          <p:nvPr/>
        </p:nvSpPr>
        <p:spPr>
          <a:xfrm>
            <a:off x="457200" y="173736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7830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Incluir las frecuencias de interés sin alterar amplitud ni fase, y muestrear sin aliasing</a:t>
            </a:r>
            <a:endParaRPr lang="en-US" sz="1800" dirty="0"/>
          </a:p>
        </p:txBody>
      </p:sp>
      <p:sp>
        <p:nvSpPr>
          <p:cNvPr id="7" name="Cabecera Margen dinámico"/>
          <p:cNvSpPr/>
          <p:nvPr/>
        </p:nvSpPr>
        <p:spPr>
          <a:xfrm>
            <a:off x="4663440" y="128016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28016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Margen dinámico</a:t>
            </a:r>
            <a:endParaRPr lang="en-US" sz="2000" dirty="0"/>
          </a:p>
        </p:txBody>
      </p:sp>
      <p:sp>
        <p:nvSpPr>
          <p:cNvPr id="9" name="Tarjeta Margen dinámico"/>
          <p:cNvSpPr/>
          <p:nvPr/>
        </p:nvSpPr>
        <p:spPr>
          <a:xfrm>
            <a:off x="4663440" y="173736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7830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800" dirty="0"/>
          </a:p>
        </p:txBody>
      </p:sp>
      <p:sp>
        <p:nvSpPr>
          <p:cNvPr id="11" name="Cabecera Referencia y geometría"/>
          <p:cNvSpPr/>
          <p:nvPr/>
        </p:nvSpPr>
        <p:spPr>
          <a:xfrm>
            <a:off x="457200" y="283464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3464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Referencia y geometría</a:t>
            </a:r>
            <a:endParaRPr lang="en-US" sz="2000" dirty="0"/>
          </a:p>
        </p:txBody>
      </p:sp>
      <p:sp>
        <p:nvSpPr>
          <p:cNvPr id="13" name="Tarjeta Referencia y geometría"/>
          <p:cNvSpPr/>
          <p:nvPr/>
        </p:nvSpPr>
        <p:spPr>
          <a:xfrm>
            <a:off x="457200" y="329184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3756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Cada traza conserva su posición y su referencia respecto de la excitación</a:t>
            </a:r>
            <a:endParaRPr lang="en-US" sz="1800" dirty="0"/>
          </a:p>
        </p:txBody>
      </p:sp>
      <p:sp>
        <p:nvSpPr>
          <p:cNvPr id="15" name="Cabecera Operación en campo"/>
          <p:cNvSpPr/>
          <p:nvPr/>
        </p:nvSpPr>
        <p:spPr>
          <a:xfrm>
            <a:off x="4663440" y="2834640"/>
            <a:ext cx="4023360" cy="457200"/>
          </a:xfrm>
          <a:prstGeom prst="rect">
            <a:avLst/>
          </a:prstGeom>
          <a:solidFill>
            <a:srgbClr val="1F4E79"/>
          </a:solidFill>
          <a:ln w="12700">
            <a:solidFill>
              <a:srgbClr val="1F4E79"/>
            </a:solidFill>
            <a:prstDash val="solid"/>
          </a:ln>
        </p:spPr>
      </p:sp>
      <p:sp>
        <p:nvSpPr>
          <p:cNvPr id="16" name="Text 14"/>
          <p:cNvSpPr txBox="1"/>
          <p:nvPr/>
        </p:nvSpPr>
        <p:spPr>
          <a:xfrm>
            <a:off x="4663440" y="283464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17" name="Tarjeta Operación en campo"/>
          <p:cNvSpPr/>
          <p:nvPr/>
        </p:nvSpPr>
        <p:spPr>
          <a:xfrm>
            <a:off x="4663440" y="3291840"/>
            <a:ext cx="4023360" cy="914400"/>
          </a:xfrm>
          <a:prstGeom prst="rect">
            <a:avLst/>
          </a:prstGeom>
          <a:solidFill>
            <a:srgbClr val="FFFFFF"/>
          </a:solidFill>
          <a:ln w="19050">
            <a:solidFill>
              <a:srgbClr val="1F4E79"/>
            </a:solidFill>
            <a:prstDash val="solid"/>
          </a:ln>
        </p:spPr>
      </p:sp>
      <p:sp>
        <p:nvSpPr>
          <p:cNvPr id="18" name="Text 16"/>
          <p:cNvSpPr txBox="1"/>
          <p:nvPr/>
        </p:nvSpPr>
        <p:spPr>
          <a:xfrm>
            <a:off x="4800600" y="333756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Sin infraestructura externa, con registro local y verificación antes de avanzar</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2026-10-13T03:43:21Z</dcterms:created>
  <dcterms:modified xsi:type="dcterms:W3CDTF">2026-10-13T03:43:21Z</dcterms:modified>
</cp:coreProperties>
</file>