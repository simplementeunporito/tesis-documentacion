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Buenas. Soy Elías Álvarez y les voy a mostrar cómo avanza mi proyecto final de carrera: una plataforma electrónica para medir el suelo con ondas sísmicas. En la imagen está la idea completa: un golpe en la superficie, una línea de geófonos y los registros que llegan a cada uno. Es la primera de dos presentaciones. Hoy me concentro en el estado del arte, la idea general y los resultados parciales; la validación completa queda para diciembre.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construir hay que saber sobre qué se apoya la obra. Se reconoce qué materiales hay y se estiman parámetros para dimensionar la fundación. Y durante la ejecución se controla que los rellenos y las capas compactadas sean uniformes. Esto importa acá: la construcción paraguaya creció 6,2 % en 2025 según el Banco Central. Hablo de un sector en expansión, no de un auge sin matices: venía de dos años de caída.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Pero el trabajo con el terreno no termina cuando se levanta la obra. Aparecen grietas y asentamientos, problemas en rutas y pavimentos, taludes que se mueven. Hay que volver a medir, y de preferencia sin dañar lo que ya está construido.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Entonces la pregunta es cómo medir. Necesitamos un método que capte algo del terreno y que, procesando lo sensado, nos dé información que sirva. Ese recorrido, del transductor al procesamiento, es lo que construye este trabajo: la plataforma de medición. Todavía no definimos qué fenómeno medir. Ese es el primer punto de la hoja de ruta: explorar los fenómenos candidatos y sus técnicas, analizar a fondo el que elijamos, ver las especificaciones y la plataforma propuesta, y cerrar con los resultados parciales.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6B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6B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457200" y="274320"/>
            <a:ext cx="8229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 e implementación de un sistema electrónico multicanal del tipo IoT para caracterización geotécnica del suelo mediante ondas sísmicas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600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final de carrera · Primera presentación</a:t>
            </a:r>
            <a:endParaRPr lang="en-US" sz="1800" dirty="0"/>
          </a:p>
        </p:txBody>
      </p:sp>
      <p:sp>
        <p:nvSpPr>
          <p:cNvPr id="4" name="Autoría"/>
          <p:cNvSpPr txBox="1"/>
          <p:nvPr/>
        </p:nvSpPr>
        <p:spPr>
          <a:xfrm>
            <a:off x="457200" y="228600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Elías David Álvarez Martínez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Matrícula Y24127 · Ingeniería Electrónica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Tutor: Enrique A. Vargas Cabral, Ph.D.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Universidad Católica «Nuestra Señora de la Asunción»</a:t>
            </a:r>
            <a:endParaRPr lang="en-US" sz="1600" dirty="0"/>
          </a:p>
        </p:txBody>
      </p:sp>
      <p:sp>
        <p:nvSpPr>
          <p:cNvPr id="5" name="Marco imagen"/>
          <p:cNvSpPr/>
          <p:nvPr/>
        </p:nvSpPr>
        <p:spPr>
          <a:xfrm>
            <a:off x="4206240" y="2240280"/>
            <a:ext cx="448056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Esquema MASW" descr="Esquema de adquisición MASW: martillo, línea de geófonos y registros en el tiemp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2286000"/>
            <a:ext cx="4389120" cy="2194560"/>
          </a:xfrm>
          <a:prstGeom prst="rect">
            <a:avLst/>
          </a:prstGeom>
        </p:spPr>
      </p:pic>
      <p:sp>
        <p:nvSpPr>
          <p:cNvPr id="7" name="Crédito imagen"/>
          <p:cNvSpPr txBox="1"/>
          <p:nvPr/>
        </p:nvSpPr>
        <p:spPr>
          <a:xfrm>
            <a:off x="4206240" y="45262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Esquema MASW: GeoStru (2019), original de M. Bandini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obra empieza por conocer el suelo que la sostiene</a:t>
            </a:r>
            <a:endParaRPr lang="en-US" sz="2400" dirty="0"/>
          </a:p>
        </p:txBody>
      </p:sp>
      <p:pic>
        <p:nvPicPr>
          <p:cNvPr id="3" name="Imagen fundación" descr="Esquema de zapata aislada: armadura, hormigón de limpieza y terreno de funda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1792224" cy="3191256"/>
          </a:xfrm>
          <a:prstGeom prst="rect">
            <a:avLst/>
          </a:prstGeom>
        </p:spPr>
      </p:pic>
      <p:sp>
        <p:nvSpPr>
          <p:cNvPr id="4" name="Cuerpo"/>
          <p:cNvSpPr txBox="1"/>
          <p:nvPr/>
        </p:nvSpPr>
        <p:spPr>
          <a:xfrm>
            <a:off x="2651760" y="12801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Reconocer los materiales antes de construir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Estimar parámetros para dimensionar la fundación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Controlar rellenos y capas compactadas durante la obra</a:t>
            </a:r>
            <a:endParaRPr lang="en-US" sz="2000" dirty="0"/>
          </a:p>
        </p:txBody>
      </p:sp>
      <p:sp>
        <p:nvSpPr>
          <p:cNvPr id="5" name="Recuadro dato"/>
          <p:cNvSpPr/>
          <p:nvPr/>
        </p:nvSpPr>
        <p:spPr>
          <a:xfrm>
            <a:off x="2651760" y="3246120"/>
            <a:ext cx="6035040" cy="822960"/>
          </a:xfrm>
          <a:prstGeom prst="rect">
            <a:avLst/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6" name="Dato Paraguay"/>
          <p:cNvSpPr txBox="1"/>
          <p:nvPr/>
        </p:nvSpPr>
        <p:spPr>
          <a:xfrm>
            <a:off x="2788920" y="324612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construcción creció 6,2 % en 2025 (BCP, 2026)</a:t>
            </a:r>
            <a:endParaRPr lang="en-US" sz="1800" dirty="0"/>
          </a:p>
        </p:txBody>
      </p:sp>
      <p:sp>
        <p:nvSpPr>
          <p:cNvPr id="7" name="Cita"/>
          <p:cNvSpPr txBox="1"/>
          <p:nvPr/>
        </p:nvSpPr>
        <p:spPr>
          <a:xfrm>
            <a:off x="457200" y="45720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Samtani y Nowatzki (2006). BCP (2026). Imagen: Instagram (s. f.).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6B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control del terreno no termina cuando la obra se levanta</a:t>
            </a:r>
            <a:endParaRPr lang="en-US" sz="2400" dirty="0"/>
          </a:p>
        </p:txBody>
      </p:sp>
      <p:pic>
        <p:nvPicPr>
          <p:cNvPr id="3" name="Foto grietas" descr="Grietas y asentamient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2560320" cy="15636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108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Grietas y asentamientos</a:t>
            </a:r>
            <a:endParaRPr lang="en-US" sz="1600" dirty="0"/>
          </a:p>
        </p:txBody>
      </p:sp>
      <p:pic>
        <p:nvPicPr>
          <p:cNvPr id="5" name="Foto pavimento_relleno" descr="Pavimentos y rellen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280160"/>
            <a:ext cx="2560320" cy="17373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3291840" y="3108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Pavimentos y rellenos</a:t>
            </a:r>
            <a:endParaRPr lang="en-US" sz="1600" dirty="0"/>
          </a:p>
        </p:txBody>
      </p:sp>
      <p:pic>
        <p:nvPicPr>
          <p:cNvPr id="7" name="Foto talud" descr="Talud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280160"/>
            <a:ext cx="2560320" cy="173736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126480" y="3108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Taludes</a:t>
            </a:r>
            <a:endParaRPr lang="en-US" sz="1600" dirty="0"/>
          </a:p>
        </p:txBody>
      </p:sp>
      <p:sp>
        <p:nvSpPr>
          <p:cNvPr id="9" name="Mensaje"/>
          <p:cNvSpPr txBox="1"/>
          <p:nvPr/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Evaluar durante y después de la obra: cambios, daños y mantenimiento, sin alterar lo construido</a:t>
            </a:r>
            <a:endParaRPr lang="en-US" sz="2000" dirty="0"/>
          </a:p>
        </p:txBody>
      </p:sp>
      <p:sp>
        <p:nvSpPr>
          <p:cNvPr id="10" name="Cita"/>
          <p:cNvSpPr txBox="1"/>
          <p:nvPr/>
        </p:nvSpPr>
        <p:spPr>
          <a:xfrm>
            <a:off x="457200" y="45720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 et al. (2018). Imágenes: UPCommons (asentamientos); 360 en Concreto (rodillo); Facebook (ilustración).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6B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proponemos definir un método de medición del terreno que, mediante el procesamiento de lo sensado, permita obtener información útil</a:t>
            </a:r>
            <a:endParaRPr lang="en-US" sz="2400" dirty="0"/>
          </a:p>
        </p:txBody>
      </p:sp>
      <p:sp>
        <p:nvSpPr>
          <p:cNvPr id="3" name="Marco plataforma"/>
          <p:cNvSpPr/>
          <p:nvPr/>
        </p:nvSpPr>
        <p:spPr>
          <a:xfrm>
            <a:off x="2514600" y="1463040"/>
            <a:ext cx="4114800" cy="1051560"/>
          </a:xfrm>
          <a:prstGeom prst="roundRect">
            <a:avLst>
              <a:gd name="adj" fmla="val 6957"/>
            </a:avLst>
          </a:prstGeom>
          <a:solidFill>
            <a:srgbClr val="FFFFFF">
              <a:alpha val="0"/>
            </a:srgbClr>
          </a:solidFill>
          <a:ln w="25400">
            <a:solidFill>
              <a:srgbClr val="C55A11"/>
            </a:solidFill>
            <a:prstDash val="solid"/>
          </a:ln>
        </p:spPr>
      </p:sp>
      <p:sp>
        <p:nvSpPr>
          <p:cNvPr id="4" name="Caja 1"/>
          <p:cNvSpPr/>
          <p:nvPr/>
        </p:nvSpPr>
        <p:spPr>
          <a:xfrm>
            <a:off x="457200" y="1554480"/>
            <a:ext cx="1783080" cy="868680"/>
          </a:xfrm>
          <a:prstGeom prst="rect">
            <a:avLst/>
          </a:prstGeom>
          <a:solidFill>
            <a:srgbClr val="EAF1F8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554480"/>
            <a:ext cx="178308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Fenómeno físico del terreno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267712" y="1988820"/>
            <a:ext cx="310896" cy="0"/>
          </a:xfrm>
          <a:prstGeom prst="line">
            <a:avLst/>
          </a:prstGeom>
          <a:noFill/>
          <a:ln w="25400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7" name="Caja 2"/>
          <p:cNvSpPr/>
          <p:nvPr/>
        </p:nvSpPr>
        <p:spPr>
          <a:xfrm>
            <a:off x="2606040" y="1554480"/>
            <a:ext cx="1783080" cy="868680"/>
          </a:xfrm>
          <a:prstGeom prst="rect">
            <a:avLst/>
          </a:prstGeom>
          <a:solidFill>
            <a:srgbClr val="EAF1F8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06040" y="1554480"/>
            <a:ext cx="178308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Transductor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416552" y="1988820"/>
            <a:ext cx="310896" cy="0"/>
          </a:xfrm>
          <a:prstGeom prst="line">
            <a:avLst/>
          </a:prstGeom>
          <a:noFill/>
          <a:ln w="25400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10" name="Caja 3"/>
          <p:cNvSpPr/>
          <p:nvPr/>
        </p:nvSpPr>
        <p:spPr>
          <a:xfrm>
            <a:off x="4754880" y="1554480"/>
            <a:ext cx="1783080" cy="868680"/>
          </a:xfrm>
          <a:prstGeom prst="rect">
            <a:avLst/>
          </a:prstGeom>
          <a:solidFill>
            <a:srgbClr val="EAF1F8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54880" y="1554480"/>
            <a:ext cx="178308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Procesamiento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565392" y="1988820"/>
            <a:ext cx="310896" cy="0"/>
          </a:xfrm>
          <a:prstGeom prst="line">
            <a:avLst/>
          </a:prstGeom>
          <a:noFill/>
          <a:ln w="25400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13" name="Caja 4"/>
          <p:cNvSpPr/>
          <p:nvPr/>
        </p:nvSpPr>
        <p:spPr>
          <a:xfrm>
            <a:off x="6903720" y="1554480"/>
            <a:ext cx="1783080" cy="8686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03720" y="1554480"/>
            <a:ext cx="178308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Información útil del terreno</a:t>
            </a:r>
            <a:endParaRPr lang="en-US" sz="1600" dirty="0"/>
          </a:p>
        </p:txBody>
      </p:sp>
      <p:sp>
        <p:nvSpPr>
          <p:cNvPr id="15" name="Etiqueta plataforma"/>
          <p:cNvSpPr txBox="1"/>
          <p:nvPr/>
        </p:nvSpPr>
        <p:spPr>
          <a:xfrm>
            <a:off x="2514600" y="25786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5A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construye este trabajo: la plataforma que realiza la medición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63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Hoja de ruta</a:t>
            </a:r>
            <a:endParaRPr lang="en-US" sz="2000" dirty="0"/>
          </a:p>
        </p:txBody>
      </p:sp>
      <p:sp>
        <p:nvSpPr>
          <p:cNvPr id="17" name="Número 1"/>
          <p:cNvSpPr/>
          <p:nvPr/>
        </p:nvSpPr>
        <p:spPr>
          <a:xfrm>
            <a:off x="457200" y="3493008"/>
            <a:ext cx="246888" cy="246888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493008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Hoja de ruta 1"/>
          <p:cNvSpPr txBox="1"/>
          <p:nvPr/>
        </p:nvSpPr>
        <p:spPr>
          <a:xfrm>
            <a:off x="822960" y="3474720"/>
            <a:ext cx="7863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Exploración de los fenómenos físicos candidatos a medir y las técnicas asociadas</a:t>
            </a:r>
            <a:endParaRPr lang="en-US" sz="1600" dirty="0"/>
          </a:p>
        </p:txBody>
      </p:sp>
      <p:sp>
        <p:nvSpPr>
          <p:cNvPr id="20" name="Número 2"/>
          <p:cNvSpPr/>
          <p:nvPr/>
        </p:nvSpPr>
        <p:spPr>
          <a:xfrm>
            <a:off x="457200" y="3803904"/>
            <a:ext cx="246888" cy="246888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80390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Hoja de ruta 2"/>
          <p:cNvSpPr txBox="1"/>
          <p:nvPr/>
        </p:nvSpPr>
        <p:spPr>
          <a:xfrm>
            <a:off x="822960" y="3785616"/>
            <a:ext cx="7863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Análisis en profundidad del método seleccionado</a:t>
            </a:r>
            <a:endParaRPr lang="en-US" sz="1600" dirty="0"/>
          </a:p>
        </p:txBody>
      </p:sp>
      <p:sp>
        <p:nvSpPr>
          <p:cNvPr id="23" name="Número 3"/>
          <p:cNvSpPr/>
          <p:nvPr/>
        </p:nvSpPr>
        <p:spPr>
          <a:xfrm>
            <a:off x="457200" y="4114800"/>
            <a:ext cx="246888" cy="246888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411480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Hoja de ruta 3"/>
          <p:cNvSpPr txBox="1"/>
          <p:nvPr/>
        </p:nvSpPr>
        <p:spPr>
          <a:xfrm>
            <a:off x="822960" y="4096512"/>
            <a:ext cx="7863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Especificaciones y plataforma propuesta</a:t>
            </a:r>
            <a:endParaRPr lang="en-US" sz="1600" dirty="0"/>
          </a:p>
        </p:txBody>
      </p:sp>
      <p:sp>
        <p:nvSpPr>
          <p:cNvPr id="26" name="Número 4"/>
          <p:cNvSpPr/>
          <p:nvPr/>
        </p:nvSpPr>
        <p:spPr>
          <a:xfrm>
            <a:off x="457200" y="4425696"/>
            <a:ext cx="246888" cy="246888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7200" y="442569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Hoja de ruta 4"/>
          <p:cNvSpPr txBox="1"/>
          <p:nvPr/>
        </p:nvSpPr>
        <p:spPr>
          <a:xfrm>
            <a:off x="822960" y="4407408"/>
            <a:ext cx="7863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parciales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6B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Primera presentación - Grupo 1</dc:title>
  <dc:subject>PptxGenJS Presentation</dc:subject>
  <dc:creator>Elías David Álvarez Martínez</dc:creator>
  <cp:lastModifiedBy>Elías David Álvarez Martínez</cp:lastModifiedBy>
  <cp:revision>1</cp:revision>
  <dcterms:created xsi:type="dcterms:W3CDTF">2026-10-13T02:08:11Z</dcterms:created>
  <dcterms:modified xsi:type="dcterms:W3CDTF">2026-10-13T02:08:11Z</dcterms:modified>
</cp:coreProperties>
</file>