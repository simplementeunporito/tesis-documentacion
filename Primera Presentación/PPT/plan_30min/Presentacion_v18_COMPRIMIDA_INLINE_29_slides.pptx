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553"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553"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553"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208">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8" b="0" i="0" u="none" strike="noStrike">
                    <a:solidFill>
                      <a:srgbClr val="6B6B6B"/>
                    </a:solidFill>
                    <a:latin typeface="Arial"/>
                  </a:defRPr>
                </a:pPr>
                <a:r>
                  <a:rPr sz="1208"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208" b="0" i="0" u="none" strike="noStrike">
                    <a:solidFill>
                      <a:srgbClr val="6B6B6B"/>
                    </a:solidFill>
                    <a:latin typeface="Arial"/>
                  </a:defRPr>
                </a:pPr>
                <a:r>
                  <a:rPr sz="1208"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8">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8" b="0" i="0" u="none" strike="noStrike">
                    <a:solidFill>
                      <a:srgbClr val="6B6B6B"/>
                    </a:solidFill>
                    <a:latin typeface="Arial"/>
                  </a:defRPr>
                </a:pPr>
                <a:r>
                  <a:rPr sz="1208"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208" b="0" i="0" u="none" strike="noStrike">
                    <a:solidFill>
                      <a:srgbClr val="6B6B6B"/>
                    </a:solidFill>
                    <a:latin typeface="Arial"/>
                  </a:defRPr>
                </a:pPr>
                <a:r>
                  <a:rPr sz="1208"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208" b="0" i="0" u="none" strike="noStrike">
                    <a:solidFill>
                      <a:srgbClr val="6B6B6B"/>
                    </a:solidFill>
                    <a:latin typeface="Arial"/>
                  </a:defRPr>
                </a:pPr>
                <a:r>
                  <a:rPr sz="1208"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208" b="0" i="0" u="none" strike="noStrike">
                    <a:solidFill>
                      <a:srgbClr val="6B6B6B"/>
                    </a:solidFill>
                    <a:latin typeface="Arial"/>
                  </a:defRPr>
                </a:pPr>
                <a:r>
                  <a:rPr sz="1208"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69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69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69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863" b="0" i="0" u="none" strike="noStrike">
                    <a:solidFill>
                      <a:srgbClr val="6B6B6B"/>
                    </a:solidFill>
                    <a:latin typeface="Arial"/>
                  </a:defRPr>
                </a:pPr>
                <a:r>
                  <a:rPr sz="863"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63"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863" b="0" i="0" u="none" strike="noStrike">
                    <a:solidFill>
                      <a:srgbClr val="6B6B6B"/>
                    </a:solidFill>
                    <a:latin typeface="Arial"/>
                  </a:defRPr>
                </a:pPr>
                <a:r>
                  <a:rPr sz="863"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63"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863">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863"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1
2604 Hz</c:v>
                  </c:pt>
                  <c:pt idx="1">
                    <c:v>2
1302 Hz</c:v>
                  </c:pt>
                  <c:pt idx="2">
                    <c:v>5
521 Hz</c:v>
                  </c:pt>
                  <c:pt idx="3">
                    <c:v>10
260 Hz</c:v>
                  </c:pt>
                  <c:pt idx="4">
                    <c:v>20
130 Hz</c:v>
                  </c:pt>
                  <c:pt idx="5">
                    <c:v>50
52 Hz</c:v>
                  </c:pt>
                  <c:pt idx="6">
                    <c:v>100
26 Hz</c:v>
                  </c:pt>
                </c:lvl>
              </c:multiLvlStrCache>
            </c:multiLvlStrRef>
          </c:cat>
          <c:val>
            <c:numRef>
              <c:f>Sheet1!$B$2:$B$8</c:f>
              <c:numCache>
                <c:formatCode>General</c:formatCode>
                <c:ptCount val="7"/>
                <c:pt idx="0">
                  <c:v>5.9</c:v>
                </c:pt>
                <c:pt idx="1">
                  <c:v>11.8</c:v>
                </c:pt>
                <c:pt idx="2">
                  <c:v>29.5</c:v>
                </c:pt>
                <c:pt idx="3">
                  <c:v>59</c:v>
                </c:pt>
                <c:pt idx="4">
                  <c:v>118</c:v>
                </c:pt>
                <c:pt idx="5">
                  <c:v>294.9</c:v>
                </c:pt>
                <c:pt idx="6">
                  <c:v>589.9</c:v>
                </c:pt>
              </c:numCache>
            </c:numRef>
          </c:val>
        </c:ser>
        <c:dLbls>
          <c:numFmt formatCode="0.0" sourceLinked="0"/>
          <c:txPr>
            <a:bodyPr/>
            <a:lstStyle/>
            <a:p>
              <a:pPr>
                <a:defRPr b="0" i="0" strike="noStrike" sz="863"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863" b="0" i="0" u="none" strike="noStrike">
                    <a:solidFill>
                      <a:srgbClr val="6B6B6B"/>
                    </a:solidFill>
                    <a:latin typeface="Arial"/>
                  </a:defRPr>
                </a:pPr>
                <a:r>
                  <a:rPr sz="863" b="0" i="0" u="none" strike="noStrike">
                    <a:solidFill>
                      <a:srgbClr val="6B6B6B"/>
                    </a:solidFill>
                    <a:latin typeface="Arial"/>
                  </a:rPr>
                  <a:t>Factor de diezmado D y frecuencia efectiva fs′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49"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E0E0E0"/>
              </a:solidFill>
              <a:prstDash val="solid"/>
              <a:round/>
            </a:ln>
          </c:spPr>
        </c:majorGridlines>
        <c:title>
          <c:tx>
            <c:rich>
              <a:bodyPr/>
              <a:lstStyle/>
              <a:p>
                <a:pPr>
                  <a:defRPr sz="863" b="0" i="0" u="none" strike="noStrike">
                    <a:solidFill>
                      <a:srgbClr val="6B6B6B"/>
                    </a:solidFill>
                    <a:latin typeface="Arial"/>
                  </a:defRPr>
                </a:pPr>
                <a:r>
                  <a:rPr sz="863"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63"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 Toda obra empieza por conocer el suelo que la sostiene]
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
[Slide larga 3: El control del terreno no termina cuando la obra se levanta]
Pero el trabajo con el terreno no termina cuando se levanta la obra. Aparecen grietas y asentamientos, problemas en rutas y pavimentos, taludes que se mueven. Hay que volver a medir, y de preferencia sin dañar lo que ya está construido.
[Slide larga 4: Nos proponemos definir un método de medición del terreno que, mediante el procesamiento de lo sensado, permita obtener información útil]
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 Hay dos formas de medir el terreno: por su resistencia o por cómo transmite ondas]
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
[Slide larga 6: SPT: se cuentan los golpes necesarios para hincar una cuchara en el suelo]
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
[Slide larga 7: CPT/CPTu: un cono se hinca a velocidad constante y mide mientras avanza]
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
[Slide larga 8: Ventajas: resistencia medida directamente y con mucha experiencia acumulada]
Qué ofrecen. El SPT es sencillo, está en todas partes y entrega una muestra. El CPT da un perfil continuo y repetible, sin perforar antes, y con presión de poros distingue mejor el tipo de suelo. Los dos tienen décadas de correlaciones publicadas, y eso pesa mucho en la práctica.
[Slide larga 9: Limitaciones: puntuales, invasivos y sin medir la rigidez de forma directa]
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 Al excitar un terreno sólido, este se deforma de forma transitoria y la perturbación se propaga]
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
[Slide larga 11: Para analizarlo, simplificamos: un medio homogéneo, isótropo y elástico lineal]
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
[Slide larga 12: En ese medio, la ecuación de movimiento admite solo dos tipos de onda: P y S]
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13: Onda P: el terreno se comprime y se dilata en la dirección en que avanza]
La solución del potencial escalar es la onda P. Las partículas oscilan en la misma dirección en que avanza la onda, así que el material se comprime y se dilata. No se transporta material: se transporta la perturbación. Viaja tanto en sólidos como en fluidos.
[Slide larga 14: Onda S: el terreno se corta en la dirección perpendicular al avance]
La solución del potencial vectorial es la onda S. La oscilación es perpendicular al avance y el material no se comprime: se corta. Por eso necesita que el medio resista al corte. Un fluido no lo hace, así que la S no viaja por el agua.
[Slide larga 15: Las velocidades de propagación se deducen de esas mismas ecuaciones]
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
[Slide larga 16: En suelos, la relación esfuerzo-deformación solo es lineal para deformaciones pequeñas]
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
[Slide larga 17: En pequeña señal, la velocidad de corte da directamente la rigidez máxima]
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
[Slide larga 18: Si conocemos Vs, podemos estimar Gmax con una incertidumbre razonable]
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19: Downhole: la fuente está en superficie y los geófonos dentro del pozo]
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
[Slide larga 20: Crosshole: fuente y receptor a la misma profundidad, en pozos distintos]
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
[Slide larga 21: Ventajas: miden Vs de forma directa, con trayectos conocidos]
Los dos miden Vs sin correlaciones: el trayecto es conocido. El downhole necesita un solo pozo y da un perfil con la profundidad. El crosshole mide capas individuales a una profundidad conocida, con mejor resolución vertical.
[Slide larga 22: Limitaciones: exigen perforar y siguen siendo ensayos puntuales]
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23: Refracción: a cierta distancia, la onda refractada llega antes que la directa]
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
[Slide larga 24: Refracción: del gráfico de tiempos salen las velocidades y el espesor de la capa]
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
[Slide larga 25: Refracción: simple y rápida, pero exige que la velocidad crezca con la profundidad]
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
[Slide larga 26: Reflexión: se registra el tiempo de ida y vuelta de la energía reflejada]
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
[Slide larga 27: Reflexión: alcanza más profundidad, pero rinde poco en los primeros metros]
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28: Las ondas de cuerpo, al llegar a una interfaz, se reflejan y se transmiten]
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
[Slide larga 29: En el caso de una superficie libre, la energía vuelve al terreno]
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
[Slide larga 30: Respecto a la superficie libre, la onda S se clasifica en SV y SH]
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
[Slide larga 31: Los ángulos de las ondas generadas se relacionan con la ley de Snell]
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
[Slide larga 32: En la superficie libre, P y SV se convierten entre sí; SH queda aparte]
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33: Las ondas Love solo existen si una capa blanda cubre un medio más rápido]
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
[Slide larga 34: Onda Love: movimiento horizontal, perpendicular a la propagación]
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
[Slide larga 35: Onda Rayleigh: P y SV acopladas en la superficie libre, con órbita elíptica]
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
[Slide larga 36: Una fuente en superficie envía dos tercios de su energía en ondas Rayleigh]
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
[Slide larga 37: Además, las Rayleigh se atenúan menos con la distancia que las de cuerpo]
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
[Slide larga 38: En un semiespacio homogéneo, Rayleigh viaja a cR ≈ 0,9·Vs y no depende de la frecuencia]
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39: En un terreno estratificado, la rigidez y la velocidad de corte cambian con la profundidad]
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
[Slide larga 40: Cada longitud de onda «ve» una profundidad distinta del terreno]
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
[Slide larga 41: Como cada frecuencia ve profundidades distintas, la velocidad de fase depende de la frecuencia: dispersión]
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
[Slide larga 42: La dispersión permite reconstruir un modelo estratificado compatible con las mediciones de campo]
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
[Slide larga 43: La inversión tiene límites: depende de supuestos y se apoya en otras mediciones]
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44: SASW: la diferencia de fase entre dos receptores da la velocidad de fase]
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
[Slide larga 45: SASW es simple, pero deja ambigüedades y poca redundancia espacial]
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
[Slide larga 46: MASW extiende el principio a múltiples posiciones a lo largo del terreno]
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
[Slide larga 47: El registro MASW es una matriz espacio–tiempo: una traza por posición]
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
[Slide larga 48: La dimensión espacial puede sintetizarse con adquisiciones sucesivas]
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49: La medición MASW fija tres requerimientos de adquisición]
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
[Slide larga 50: Esos requerimientos se traducen en cinco condiciones de diseño del sistema]
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
[Slide larga 51: La plataforma consta de un maestro y de nodos independientes que se comunican por ESP-NOW]
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52: El SM-24 es un geófono vertical pasivo de bobina móvil, y su amortiguamiento depende de la carga]
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
[Slide larga 53: La masa suspendida se mueve respecto de la carcasa, y ese movimiento relativo genera la tensión]
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
[Slide larga 54: Por debajo de su frecuencia natural, la tensión del SM-24 cae rápido: a 1 Hz, unos 40 dB]
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
[Slide larga 55: La pérdida cae justo en las bajas frecuencias, que son las que llegan más profundo]
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56: Existen cuatro familias de técnicas para mejorar la respuesta en baja frecuencia de un geófono]
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
[Slide larga 57: Invertir la respuesta del sensor exige muchísima ganancia cerca de continua]
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
[Slide larga 58: La resistencia negativa y el balance de fuerza funcionan, pero cargan al transductor con un lazo activo]
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
[Slide larga 59: La idea de Ma et al.: no levantar el fondo, bajar el pico]
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
[Slide larga 60: Elegimos el método de Ma et al. porque es estable, simple y no amplifica ruido]
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
[Slide larga 61: El compensador sube el amortiguamiento del conjunto: es un camino directo menos un pasabanda]
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62: Implementación: la ganancia se reparte entre las etapas para recuperar la atenuación del compensador]
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
[Slide larga 63: La entrada es instrumental, con dos operacionales, para rechazar el ruido de red]
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
[Slide larga 64: El pasabanda es un inversor con dos quiebres desacoplados, en lugar de un Sallen-Key]
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
[Slide larga 65: Como el pasabanda ya invierte la fase, un sumador reemplaza al amplificador diferencial]
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
[Slide larga 66: El antialias es un Bessel de tercer orden que aprovecha el polo del sumador]
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
[Slide larga 67: AFE final]
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68: La ruta PGA–ADC se midió con barridos y el geófono se tomó con su modelo nominal]
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
[Slide larga 69: El offset se acumula en la cadena y recorta la señal; no se puede filtrar en continua]
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
[Slide larga 70: La continua de cada etapa depende de las anteriores, por eso el ajuste se hace en orden]
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
[Slide larga 71: La calibración verifica los códigos guardados y, si hace falta, ajusta etapa por etapa antes de capturar]
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
[Slide larga 72: La calibración converge y baja el offset residual en el ADC de 2,9–45,8 % a 0,4–3,9 % del fondo de escala]
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73: Reparto de tareas digitales entre la máquina de estados y el procesador]
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
[Slide larga 74: Camino digital en PSoC Creator]
Así se ve la implementación en PSoC Creator. Arriba, el hardware digital: el SignalController, que es la máquina de estados en lógica programable, los tres canales DMA, el filtro digital, los temporizadores y la EEPROM. Abajo a la izquierda, lo auxiliar, con el SPI de la tarjeta SD. Abajo a la derecha, la interfaz con el ESP32 y la entrada SYNC_IN. Las etiquetas están en inglés porque son los nombres de los componentes del propio entorno. En la siguiente slide va el mismo camino dibujado en forma lógica.
[Slide larga 75: Camino lógico de los datos y del control en el PSoC]
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
[Slide larga 76: Selección del tipo de ADC: por qué delta-sigma]
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77: El ADC tiene cuatro rangos de entrada, y el rango y la ganancia se eligen juntos]
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
[Slide larga 78: Diezmamos con una media móvil: registros más chicos y mejor vista de las señales lentas]
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
[Slide larga 79: La máquina de estados en hardware dispara, cuenta y cierra la captura]
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
[Slide larga 80: Cada nodo guarda sus muestras en la RAM del ESP32 o, si hay tarjeta, en la SD del PSoC]
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
[Slide larga 81: Sin SD, el diezmado define cuánto dura el registro, a costa de ancho de banda]
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de modo que con D igual a 100 queda en 13 hertz, y para MASW eso es poco. Duración y banda compiten, y el D se elige según el sitio y la longitud de onda que se quiere resolver. Con tarjeta SD el límite lo fija el tamaño de la tarjeta y por eso no lo muestro. Nota para mí: supongo que el límite de 512 lotes cuenta muestras ya diezmadas, porque los metadatos guardan fs′ y D; es una inferencia que hay que confirmar en el firmware.
[Slide larga 82: Cada registro guarda sus metadatos y su integridad, y el original permanece en el nodo]
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83: El maestro coordina por ESP-NOW y cada nodo une su ESP32 con su PSoC]
El maestro es un ESP32 que no adquiere: aloja la interfaz web y coordina. Se comunica por ESP-NOW con los nodos esclavos, sin un punto de acceso intermedio. Cada nodo, GEO o HAMMER, tiene un ESP32 esclavo conectado a su PSoC con un enlace asimétrico: UART para los comandos del ESP al PSoC, I2C para las muestras del PSoC al ESP, y una línea local de sincronismo que dispara la captura. Los datos se guardan en el nodo, en la arena de RAM del ESP32 o en la microSD del PSoC, y viajan al maestro después de la captura. El navegador solo habla con el maestro. En paralelo, el maestro levanta un punto de acceso Wi-Fi propio solo para la interfaz de operador; no interviene en el disparo.
[Slide larga 84: Elegimos ESP-NOW por costo y simplicidad, no por ser la opción más precisa]
Fernando va a preguntar por qué ESP-NOW. La respuesta honesta es que no es la opción más precisa. El cable de sincronismo es determinista, pero lo usamos y lo retiramos, porque el tendido es justamente lo que queremos evitar. Wi-Fi con punto de acceso agrega acuses, reintentos y acceso al medio, con una latencia distinta en cada nodo. LoRa tiene tiempos en el aire de decenas de milisegundos y una tasa muy baja para descargar registros. GPS da una referencia absoluta muy buena y lo usan equipos comerciales, pero pide receptor y cielo abierto en cada nodo. ESP-NOW no necesita infraestructura, es barato y viene en el ESP32, y con broadcast se midieron entre 200 y 400 microsegundos con tres nodos. Eso consume el presupuesto: para 5 grados a 50 hertz hacen falta 278 microsegundos. Por eso UWB aparece como trabajo futuro: Korsimaa publica más menos 4 nanosegundos con módulos DWM1000 de bajo costo. Nota para mí: las propiedades de Wi-Fi, LoRa y GPS son conocimiento general, no salen de una medición nuestra ni de una referencia citada en el repositorio; si me piden números, buscar una fuente. Los 4 nanosegundos y los demás datos de UWB salen de 08_trabajos_futuros.tex.
[Slide larga 85: Un desfase de tiempo entre nodos se convierte en un error de fase que crece con la frecuencia]
Lo que importa para MASW no es el retardo en sí, sino lo que hace con la fase. Un desfase de tiempo Δt entre nodos produce un error de fase de 360 grados por frecuencia por Δt, y crece con la frecuencia. Si fijamos 5 grados como error máximo, el presupuesto es de 278 microsegundos a 50 hertz y de 139 a 100 hertz. Con 400 microsegundos tendríamos 7,2 grados a 50 hertz y 14,4 a 100. Dicho de otra forma, con 400 microsegundos los 5 grados se cumplen solo hasta unos 35 hertz. Ese número lo calculé yo, no sale del resumen. El resumen dice 3 grados a 20 hertz y 7 a 50. La aceptación hay que evaluarla contra la banda efectivamente usada, no contra un umbral de tiempo aislado. El criterio de 5 grados es una elección de diseño, no una norma.
[Slide larga 86: En velocidad de fase, el error depende del espaciamiento entre receptores y no de la frecuencia]
Vicente va a preferir ver el efecto en velocidad. Si dos receptores separados Δx miden el mismo frente, la velocidad de fase sale de c igual a 2π f Δx sobre Δφ. Un error de tiempo Δt entre canales agrega un error de fase 2π f Δt, y al dividir por la fase esperada la frecuencia se cancela: el error relativo de velocidad es c por Δt sobre Δx. Con receptores a 2 metros y c de 150 metros por segundo, un 5 por ciento llega recién a 667 microsegundos, y 400 microsegundos darían 3 por ciento. Una advertencia: esto trata el Δt como un desfase sistemático entre dos canales vecinos. Si el desfase cambia de captura a captura, entra como ruido en la curva de dispersión, y el promedio de varias capturas lo reduce. Nota para mí: la deducción es mía; la figura viene del repositorio, pero no está en 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87: El disparo se prepara en dos pasos y se ejecuta con una sola orden por broadcast]
La secuencia tiene preparación y ejecución. ARM verifica que los nodos estén disponibles y reserva recursos. PRESTART configura la longitud de la captura, reinicia contadores y deja el PSoC armado. El maestro espera la confirmación de todos y recién ahí difunde una única orden START por broadcast. Cada esclavo, al recibirla, eleva de inmediato su línea SYNC_TO_PSOC, y ese flanco local inicia la máquina de estados del PSoC. Entre el armado y el disparo los esclavos quedan en silencio de radio, y durante el muestreo no envían confirmación del START. La orden única busca reducir la dispersión de inicio respecto de órdenes independientes por canal. Abajo, el retorno: lo capturado se guarda en el nodo y se descarga después. El GPIO15 del maestro es solo un marcador para el osciloscopio.
[Slide larga 88: El disparo va por broadcast: el unicast agrega retransmisiones distintas en cada nodo]
El comando de disparo se emite en broadcast, no como envíos dirigidos a cada esclavo. Tres razones. Primera: un envío unicast espera confirmación y retransmite si no la recibe, y esa retransmisión es la mayor fuente de varianza, porque es distinta en cada nodo. El broadcast no tiene acuse ni reintento: se emite una vez o no llega. Segunda: con unicast el maestro transmite N veces en secuencia, y el último nodo recibe después del primero; con broadcast hay una sola trama que todos demodulan del mismo evento en el aire, y el error no crece con el número de nodos. Tercera: la latencia entre que el firmware manda y la antena emite no es determinista, pero en broadcast ocurre una sola vez y del lado del emisor, así que es común y se cancela entre canales. Lo que degrada el MASW es el jitter relativo entre canales, no el absoluto. Nota para mí: el repositorio dice que en las pruebas cualquier variante distinta del broadcast desincronizaba a los esclavos, pero no tengo la medición comparativa; Fernando la va a pedir y conviene hacerla con SCOPE_MULTI. Además, la documentación de ESP-IDF no describe el acuse de capa de enlace en unicast; el comportamiento es el del estándar 802.11.
[Slide larga 89: El jitter se mide con un disparo falso y un osciloscopio: 128 órdenes, 200 a 400 µs]
Para medir el jitter usamos un disparo falso. El comando CMD_SCOPE_START hace que cada nodo emita un pulso de un milisegundo por un GPIO dedicado, sin iniciar el muestreo ni responder por radio. Con el osciloscopio se mide la separación entre los flancos del maestro y de los esclavos, y esa separación es directamente la latencia de sincronización. El estado SCOPE_MULTI repite el disparo 128 veces, separado un segundo, y así se acumula la estadística sin operador. En el ensayo con tres nodos y 128 órdenes START por broadcast, los flancos quedaron separados entre 200 y 400 microsegundos. Se ensayaron distintas posiciones relativas entre maestro y esclavos y no se encontró relación con la posición, que es lo esperable: a estas distancias el tiempo de vuelo, de nanosegundos, es despreciable frente a la latencia de despacho. Es un resultado preliminar. Nota para mí: el resumen habla de 200 a 400 microsegundos y el repositorio de menos de unos 400, con el maestro a unos 5 metros; son compatibles. No tengo la distribución, los percentiles ni el peor caso, y eso es lo que Fernando va a pedir.
[Slide larga 90: Esta medición no incluye el inicio real del ADC ni la deriva posterior]
Hay que declarar lo que esta medición no dice. Mide la llegada de la orden y el flanco GPIO en cada ESP32, con los nodos cerca entre sí porque las puntas del osciloscopio tienen alcance limitado. No mide el inicio efectivo de los ADC ni la deriva posterior de sus relojes. Al entrar en muestreo se reinicia el modulador delta sigma, lo que introduce un retardo de grupo que es fijo e igual en todos los nodos, así que no agrega jitter relativo, pero nunca se calibró y desplaza el t igual a cero real respecto del flanco de sincronismo. Es un sesgo común, y se puede corregir en cuanto se mida. Faltan también repetibilidad entre encendidos, dependencia con el número de nodos, la temperatura y la ocupación del canal Wi-Fi. El experimento que cierra lo esencial, y es una propuesta mía, es inyectar una señal de referencia común a todos los nodos, por ejemplo una senoidal, y medir la fase relativa entre las trazas: eso incluye el inicio del ADC y la deriva, de punta a punta.
[Slide larga 91: Tras el disparo, cada nodo muestrea con su reloj local y la deriva se acumula]
Una vez iniciada la captura, la posición temporal de cada muestra la fija el reloj local de cada nodo. Para el nodo i, la frecuencia efectiva es fs por uno más ε i, y el instante de la muestra n es t0 i más n sobre fs por uno más ε i. Dos nodos cuyos relojes difieren en ε relativo se separan ε por T al cabo de T segundos. Con 10 partes por millón, un registro de 10 segundos acumula 100 microsegundos; con 50 partes por millón, 500, que es más que el jitter de inicio medido. Esos valores son ilustrativos, porque no medimos ε. La pregunta que hay que contestar es de dónde sale el reloj del ADC: si es un cristal, hablamos de decenas de ppm; si fuera el oscilador interno del PSoC, la tolerancia sería mucho peor y la deriva dominaría. Mide el resumen en trabajos futuros: medir el inicio efectivo de los ADC y la deriva relativa durante la captura. Nota para mí: verificar la fuente del reloj del ADC en el proyecto del PSoC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92: Los registros se descargan en lotes numerados, con CRC y reintento si algo falla]
Terminada la captura, los datos se descargan con un esquema de solicitud de lotes, uno por vez, nodo por nodo. El maestro pide el lote con su número de secuencia; el esclavo lo recupera de la microSD o de la arena de RAM y lo envía con nodo, secuencia, marca de tiempo y CRC. El maestro confirma con un acuse y pasa a la siguiente secuencia. Si hay tiempo de espera agotado o un rechazo, se repite el mismo par nodo y secuencia. El original permanece en el nodo, de modo que una pérdida o demora del enlace no modifica las muestras adquiridas. La descarga se pausa y se reanuda según la presencia del cliente WebSocket.
[Slide larga 93: El número de nodos está limitado por los pares de ESP-NOW y por la descarga secuencial]
Escalabilidad. Lo que está verificado en la documentación de ESP-IDF 5.5 es que ESP-NOW admite hasta 20 dispositivos emparejados, y hasta 17 con cifrado, 7 por defecto, y que la carga útil por trama es de 250 bytes en la versión 1 y de 1470 en la versión 2. Lo que infiero: si el maestro necesita un par para el broadcast y uno por cada nodo, quedarían del orden de 19 nodos; para un arreglo de 24 canales habría que reorganizar. Y como la descarga recorre un nodo por vez, el tiempo total crece con el número de nodos. Lo que no medimos: jitter y descarga con más de tres nodos, el efecto del canal Wi-Fi, y qué versión de ESP-NOW usa nuestro firmware. Nota para mí: el límite de pares y de cifrados depende de la configuración del SDK; verificar en el firmware si usa cifrado y si el par de broadcast cuenta contra los 20.
[Slide larga 94: El nodo HAMMER registra el impacto con un sensor ICP y el mismo firmware que los nodos GEO]
El nodo HAMMER usa el mismo firmware que el nodo GEO. El martillo lleva un sensor de impacto PCB 086D20, que se alimenta con corriente constante, el esquema ICP. La señal se desacopla y se protege antes de entrar a la cadena, y atraviesa una etapa de ganancia programable y un pasa-bajos antes del ADC. Su función es doble: da el instante de disparo y la forma del impacto. Con eso se alinean las trazas de posiciones sucesivas, se evalúa la repetibilidad y se detectan rebotes o contactos múltiples para aceptar o rechazar capturas. Nota para mí: la figura de la izquierda es el principio ICP de PCB, con etiquetas en inglés, y la de la derecha es nuestro esquema en PSoC Creator; ambas están marcadas.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95: Del impacto al perfil Vs(z): el flujo completo del sistema]
Este es el mapa de todo lo que sigue. A la izquierda, lo que ya vimos: el martillo excita un suelo estratificado y las ondas Rayleigh dispersivas llegan a los nodos esclavos, cada uno con su SM-24, su AFE y su ADC. Cada nodo captura y guarda en local, en la SD o en la arena de RAM del ESP32. El maestro pide los registros en orden y los reensambla. Desde el navegador de campo se arma un ZIP con las señales y los metadatos y se envía, por la red privada de Tailscale, a un servidor FastAPI. Ahí se alinea, se apila y se calcula la dispersión, y el objetivo final es el perfil de velocidad de onda S contra la profundidad. Hay que ser claro con el tribunal en un punto: la inversión y la extracción de curvas de dispersión son trabajo futuro, así que esa última caja todavía no está demostrada. Nota para mí: el diagrama es del drawio, no del resumen firmado; el resumen describe la interfaz web, el envío al servidor y el procesamiento en escritorio.
[Slide larga 96: La interfaz web del maestro configura, revisa y decide cada captura]
La interfaz web es la herramienta de campo. Se abre desde un teléfono o una notebook conectada a la red del maestro. Desde ahí se configura la ganancia, el rango del ADC, la duración y la ruta de señal, se preparan los nodos y se inicia la captura. Al terminar se ven de inmediato la señal del HAMMER y la del geófono. Esa revisión inmediata es lo que importa operativamente: permite detectar un geófono mal acoplado, un impacto doble o un ruido excesivo, y repetir la captura antes de mover el receptor a la posición siguiente. Después se decide: conservar, descartar o enviar. Nota para mí: la captura de pantalla está en español con algunas etiquetas en inglés; es la figura 15 del resumen firmado.
[Slide larga 97: Una sesión de campo: del navegador al servidor, con el maestro en el medio]
Este diagrama recorre una sesión completa por carriles: el usuario con su navegador, el ESP32 maestro, los nodos esclavos y el servidor de análisis. Primero el maestro levanta su propio punto de acceso, llamado GeoNetwork, y sirve la página desde su memoria. El usuario se conecta, carga la red de datos móviles o Wi-Fi que va a usar para salir a Internet y la dirección del servidor. Después pide la calibración, y el maestro reenvía el comando por ESP-NOW a los PSoC. Con el sistema calibrado, se inicia la captura con la secuencia ARM, PRESTART y START que ya vimos, y el maestro pide los esclavos en orden, reensambla y transmite por WebSocket. El usuario revisa y decide si conserva. Si conserva, el maestro entrega un ZIP al navegador, y el navegador lo envía por la red del cliente al servidor, a través de Tailscale. El servidor valida y publica la captura como raw aceptado. Una regla de diseño: el original no se modifica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98: El arreglo: 21 posiciones del receptor, un HAMMER fijo y 40 m de apertura]
La geometría de la campaña es simple. La fuente y el HAMMER quedan fijos en un extremo de la línea. Un único nodo GEO recorre 21 posiciones entre 10 y 50 metros de la fuente, con un paso de 2 metros, de modo que la apertura es L igual a Nr menos uno por Δx, o sea 40 metros. El punto de impacto permaneció fijo a varios metros del extremo del campo de fútbol y solo se movió el receptor, por una línea paralela a los laterales de la cancha. Una limitación que hay que decir antes de que la pregunten: no se conservaron coordenadas ni azimut de los extremos del tendido. Nota para mí: la figura es mía, no del resumen; hay que regenerarla en el repo. Los 2 metros son pasos nominales, no medidos con instrumento; lo retomo en la última slide de este grupo.
[Slide larga 99: La separación y la apertura fijan las longitudes de onda que se pueden medir]
Dos límites de la geometría. El primero es el aliasing espacial: con receptores separados Δx, la longitud de onda mínima que se puede interpretar es unas dos veces Δx. Con 2 metros, es 4 metros, y con una velocidad de fase de 150 metros por segundo eso da hasta 37,5 hertz. El segundo es la apertura: no se pueden resolver longitudes de onda mayores que el tendido. La tesis cita a Foti y colaboradores, que proponen que L sea al menos lambda máxima, con un ejemplo conservador de 1,5 veces, y adopta además un criterio más estricto de dos veces. Con 40 metros y el criterio de 1,5, la lambda máxima es unos 27 metros, y a 150 metros por segundo eso equivale a unos 5,6 hertz. La figura muestra, en el plano frecuencia y velocidad, la región donde la geometría es válida: entre la recta de aliasing y la recta de apertura. En el subarreglo de 22 a 42 metros, de 20 metros de apertura, la tesis llega a 8 hertz con una longitud de onda de 21,5 metros, que ya es comparable al tendido. Observación crítica mía, y es inferencia: con offset mínimo de 10 metros y longitudes de onda de 20 a 27 metros, el primer receptor puede quedar en campo cercano; es un criterio habitual de la literatura que no verifiqué contra el PDF de Foti. Discrepancia entre criterios: la tesis, en trabajo futuro, cita a Comina et al. (2011) con λmáx &gt; 60 m para estimar Vs,30 con confiabilidad, y reconoce que con 40 m ese criterio no se cumple; Foti 2018 es menos exigente. Responden a objetivos distintos (Vs,30 frente a curva de dispersión), pero hay que decirlo si preguntan. Nota para mí: confirmar capítulo y página de Foti 2018 y el criterio de Comina (no verificado en el artículo).
[Slide larga 100: Un receptor móvil sintetiza el registro; no equivale a un MASW simultáneo]
Hay que nombrar el alcance del experimento con precisión. El registro espacio-tiempo de la campaña se construye a partir de eventos distintos: un solo nodo GEO que se desplaza, mientras el HAMMER en posición fija registra cada excitación. Eso es adquisición secuencial, y no es lo mismo que un MASW convencional, donde todos los receptores registran el mismo golpe. Lin y Ashlock demostraron que simular un arreglo multicanal con un solo receptor puede dar imágenes de dispersión comparables, bajo condiciones controladas, pero con el receptor fijo y la fuente móvil, que es lo inverso de lo que hicimos. Esto supone una fuente repetible y un terreno que no cambia entre golpes: el HAMMER corrige la referencia de tiempo, pero no la variación de amplitud ni de contenido espectral entre impactos. Y no demuestra operación simultánea de canales, sincronización entre nodos, ni igualdad de magnitud y fase entre placas distintas. La expresión adquisición simultánea de 21 canales sería incorrecta y no se usa. Experimento que lo cerraría, propuesta mía: repetir con dos o más nodos GEO simultáneos sobre el mismo golpe y comparar contra el registro secuencial.
[Slide larga 104: Un error en la posición de los receptores se paga en velocidad de fase]
Esta slide es una advertencia propia, y es una inferencia mía, no un resultado de la tesis. En SASW, la velocidad de fase es c igual a 2 pi f Δx sobre Δφ. Si la separación que se usa para calcular es distinta de la real, el error relativo en c es el mismo que el error relativo en Δx: 10 centímetros de error sobre 2 metros son un 5 por ciento. Con 21 posiciones y un ajuste de la fase contra la distancia, los errores aleatorios de cada posición se promedian, pero un error sistemático, por ejemplo una cinta métrica mal calibrada o un paso real distinto del nominal, no se promedia: desplaza toda la curva. En la campaña los 2 metros son nominales: la posición de cada punto se midió con cinta métrica y se anotó a mano, y no se conservaron coordenadas ni azimut de los extremos. El experimento que resuelve esto es barato: medir las posiciones con cinta y con otro método, tres veces, y propagar la incertidumbre. Un posible camino futuro es UWB con ranging, que mediría la distancia entre nodos y atacaría a la vez el error de posición y el de sincronización. Brunetti se fija en los 400 microsegundos de sincronización; Vicente puede ir directo a esta incertidumbre geométrica, que pesa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101: Una captura real: el impacto del HAMMER marca el tiempo y el geófono lo sigue]
Esta es una captura real a 24 metros. El canal de arriba es el del HAMMER, crudo: el pico marca el instante del impacto, y es la referencia de tiempo común. El del medio es el geófono crudo, que se conserva con su nivel de continua para no perder información. El de abajo es la vista de trabajo, centrada y filtrada con el FIR, que es la que se usa para alinear y procesar. Nota para mí: esta figura no está en el resumen firmado; viene del documento de tesis, y la leyenda dice Start 71, que es el nombre interno de la captura.
[Slide larga 102: Cada posición se alinea con el HAMMER y se promedia traza por traza]
El procesamiento posterior se hace con una interfaz de escritorio. Cada captura se alinea en el tiempo usando como referencia el impacto detectado en el HAMMER. En la figura se ve la señal del martillo con el disparo detectado, y abajo la respuesta del geófono alineada y superpuesta a las demás capturas de la misma posición, en gris. Para cada posición se toman las capturas marcadas como aceptadas y revisadas, se alinean, se llevan a una frecuencia de muestreo común, se promedian muestra a muestra, y después se ordenan por distancia. La mediana fue de unos 30 golpes por posición. De 607 registros candidatos, 598 pasaron la auditoría de calidad. Nota para mí: son números de la tesis, no del resumen firmado; el resumen habla de 265 impactos en 15 distancias solo para el análisis de SNR aparente, que es otro subconjunto: no son contradictorios, pero conviene aclararlo si preguntan. Brunetti podría preguntar por la alineación: la precisión de la alineación está limitada por la tasa de muestreo del canal HAMMER y por cómo se detecta el disparo; no está cuantificada.
[Slide larga 103: El resultado: un registro espacio–tiempo de 21 trazas promediadas]
Este es el resultado de la campaña: las 21 trazas promediadas, ordenadas por distancia. El eje horizontal es el tiempo relativo al impacto, hasta 4 segundos, y el vertical la distancia fuente-receptor, de 10 a 50 metros. Se ve cómo el tren de ondas se desplaza hacia tiempos mayores a medida que aumenta la distancia, y cómo se dispersa. Cada traza se normalizó por su propio máximo para poder verla, así que la figura no permite comparar amplitudes absolutas entre posiciones. Lo que demuestra es la viabilidad operativa de construir un registro espacio-tiempo con adquisiciones sucesivas. Lo que no demuestra es una curva de dispersión ni un perfil Vs: eso es trabajo futuro, y ahí el tribunal puede preguntar con razón.
[Slide larga 105: El servidor conserva el original y procesa copias derivadas]
El servidor de análisis recibe el ZIP con las señales y los metadatos. Valida el paquete, calcula un hash, y publica la captura original de forma atómica y sin modificarla. El procesamiento científico corre en una cola independiente y cancelable, sobre copias: preprocesamiento, organización de trazas, productos intermedios como waterfall, f-k, wiggle y dispersión, y al final picking e inversión. El resumen firmado dice solo que el servidor valida y preserva los archivos originales y que el procesamiento se hace sobre copias derivadas. Los detalles de SHA-256, AnalysisJob y la cola vienen del diagrama y del documento de tesis. Nota para mí: la parte de picking e inversión aparece en el diagrama, pero es trabajo futuro; no la presente como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106: La SNR aparente compara la energía después del impacto con la de antes]
Para evaluar el contenido frecuencial de las capturas de campo se tomaron ventanas de un segundo inmediatamente antes y después del marcador de cada impacto. A cada segmento se le quitó el valor medio y se aplicó una ventana Hann. Para cada distancia se calcularon las medianas de los espectros posteriores, Ppost, y de los previos, Ppre, y la relación señal-ruido aparente es diez veces el logaritmo de su cociente. Se llama aparente porque la ventana posterior contiene la respuesta del impacto y el ruido que había durante la adquisición. Un valor cercano a 0 dB indica que, en esa banda, la energía registrada después del impacto apenas se distingue de la previa. Con ventanas de un segundo la resolución espectral efectiva es de unos 1 Hz; el relleno con ceros solo interpola la gráfica. Por eso se analizan bandas y tendencias. Observación crítica mía: no es una SNR en sentido estricto, porque el ruido previo no es necesariamente estacionario respecto del ruido posterior al impacto.
[Slide larga 107: Por debajo de 10 Hz la señal apenas se distingue del ruido; arriba, la SNR es alta]
Estos son los resultados de SNR aparente. En el panel superior de la figura, la densidad espectral por distancia; en el inferior, la SNR aparente, con la banda baja de interés sombreada y la frecuencia natural nominal del SM-24 en 10 hertz. Con 265 impactos en 15 distancias, la mediana fue de 0,5 dB entre 1 y 5 hertz y de 2,1 dB entre 5 y 10. En bandas superiores sube a 16,7 dB entre 10 y 20 hertz y a 24,4 dB entre 20 y 50. Ninguna de las 15 distancias tuvo una mediana superior a 10 dB por debajo de 10 hertz. Es el resultado más importante y menos cómodo de la campaña: justo en la banda baja que el proyecto quiere extender, la señal apenas se distingue del ruido. Nota para mí: no usar el 18,9 dB y 4,9 dB por distancia del documento de tesis sin aclarar que es otra agrupación; no coincide con las bandas del resumen firmado.
[Slide larga 108: No se puede atribuir la baja SNR a un solo elemento: cómo separar las causas]
El resumen es claro: estos resultados integran excitador, acoplamiento, propagación, geófono y electrónica, y no permiten atribuir la baja SNR por debajo de 10 hertz a un único elemento. Eso es una limitación y a la vez un plan. Lo que propone el resumen es un excitador de mayor energía y repetibilidad en esa región, comparando con la misma geometría. Dos pruebas más, propuestas mías: medir el piso de ruido sin golpear, con el geófono acoplado y desacoplado, que aísla el ruido ambiente; y terminar la entrada del AFE para medir el ruido de la electrónica, referido a la entrada, y compararlo con el del geófono. Un geófono de 4,5 hertz co-ubicado sería un control más. Vicente va a preguntar si bajo 10 hertz se está midiendo suelo o ruido, y la respuesta honesta es que todavía no se puede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109: Qué está demostrado y qué falta, por nivel de evidencia]
Esta tabla es la que Enrique va a mirar con más atención, porque distingue modelo, simulación, medición eléctrica, caracterización del AFE y validación extremo a extremo. El geófono está en el nivel de modelo con parámetros nominales. El AFE entre PGA y ADC se midió con barridos de magnitud y fase y se contrastó con el modelo; extenderlo al conjunto con el geófono es una predicción. La calibración de offset converge y los códigos se conservan por ganancia. La sincronización tiene una medición parcial, los flancos GPIO de los ESP32, y falta el inicio efectivo de los ADC. El campo demuestra viabilidad operativa de la adquisición secuencial. La dispersión y la inversión no se hicieron. Nota para mí: el contraste contra SPT o contra el SEV 01, medido en la misma cancha por terceros, es el criterio de éxito último que aún no se realizó, según el documento de tesis.
[Slide larga 110: Trabajo futuro: cinco pasos desde la adquisición hacia la caracterización del suelo]
El resumen ordena el trabajo futuro en cinco pasos. Primero, un excitador de mayor energía y repetibilidad en la banda baja, comparando con la misma geometría. Segundo, medir directamente el inicio efectivo de los ADC y la deriva relativa de sus relojes, para cuantificar el error de fase por frecuencia y delimitar la banda de coherencia. Tercero, caracterizar el offset residual y su variación con el tiempo y las condiciones. Cuarto, ampliar el arreglo con más nodos GEO para adquisiciones simultáneas, según financiamiento. Quinto, extraer curvas de dispersión, identificar modos e invertir para estimar Vs con la profundidad. El documento de tesis agrega, como validación definitiva, contrastar contra el SEV 01 medido en la misma cancha, y menciona que con 40 metros de apertura el criterio de Comina para Vs,30 no se cumple.
[Slide larga 111: Si ESP-NOW no alcanza, UWB es un candidato fundado, no una prestación disponible]
Si el ESP-NOW no cumple el presupuesto de fase, UWB es el candidato fundado. Korsimaa y colaboradores publican en HardwareX un distribuidor inalámbrico de disparo con módulos DWM1000 de bajo costo, con jitter de más o menos 4 nanosegundos con intervalo de confianza del 95 por ciento sobre un millón de transmisiones, probado hasta 25 metros. Wicsync reporta menos de 3 nanosegundos con diez nodos hasta 75 metros, pero con una arquitectura mucho más especializada. Pérez-Solano obtuvo 0,14 nanosegundos usando marcas internas del transceptor y unos 31 al trasladar la referencia al temporizador del microcontrolador, que muestra que la interfaz entre dominios de reloj puede dominar el error. Advertencia mía: comparar los más o menos 4 nanosegundos con nuestros 200 a 400 microsegundos no es 1 a 1, porque son estadísticas distintas: un intervalo de confianza sobre un millón de disparos contra el rango observado en 128 disparos con 3 nodos. Y hay que medir de punta a punta hasta el inicio del ADC.
[Slide larga 112: Riesgo conocido: un rearranque por watchdog puede ocultar una falla de sincronismo]
Es un defecto pendiente que conviene conocer antes de que lo encuentre Brunetti. En la ruta de recuperación de capturas almacenadas en RAM, si después del tiempo de captura previsto más 2,5 segundos el esclavo no recibió ningún lote del PSoC, el watchdog ejecuta START_NOW automáticamente. Ese segundo arranque conserva la marca temporal del disparo original, así que una falla podría terminar produciendo datos aparentemente completos pero iniciados varios segundos tarde, y por tanto inválidos para el análisis de fase. No es una fuente de retardo en las capturas que arrancan correctamente. La corrección pendiente es eliminar START_NOW de todo flujo sincronizado y, ante CAPTURE_SYNC_STALL, abortar y enviar un NACK al maestro, como ya se hace en el camino de SD. Nota para mí: esto viene del documento de tesis, no del resumen firmado; decidir con el tutor si se muestra o va al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cinco conclusiones, en el orden en que las demostramos. Uno: se diseñó una plataforma distribuida y ampliable. Dos: el AFE compensa la respuesta del SM-24 en bajas frecuencias y calibra el offset automáticamente. Tres: en campo se construyó un registro espacio-tiempo de 21 posiciones con un receptor desplazado. Cuatro: por debajo de 10 hertz la SNR aparente es de 0,5 a 2,1 dB, así que la banda baja que motiva el proyecto aún no se resuelve con esta fuente y esta cadena. Cinco: para validar el sistema como MASW multicanal hay que cuantificar la sincronización efectiva entre nodos, verificar la respuesta extremo a extremo en bajas frecuencias y hacer adquisiciones simultáneas. Los resultados demuestran la viabilidad operativa, y es lo que decimos, sin pasar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Nota para mí: ajustar nombres, institución y fecha según la portada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115: Referencias (1 de 2)]
Lista de referencias tomada del resumen firmado y de las fuentes añadidas durante la preparación. Nota para mí: completar y verificar cada entrada contra su PDF.
[Slide larga 116: Referencias (2 de 2)]
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chart" Target="/ppt/charts/chart1.xml"/><Relationship Id="rId5" Type="http://schemas.openxmlformats.org/officeDocument/2006/relationships/chart" Target="/ppt/charts/chart2.xml"/><Relationship Id="rId6" Type="http://schemas.openxmlformats.org/officeDocument/2006/relationships/chart" Target="/ppt/charts/chart3.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5" Type="http://schemas.openxmlformats.org/officeDocument/2006/relationships/chart" Target="/ppt/charts/chart5.xm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chart" Target="/ppt/charts/chart6.xm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Conocer el terreno importa antes, durante y después de la obra: proponemos un método</a:t>
            </a:r>
            <a:endParaRPr lang="en-US" sz="2200" dirty="0"/>
          </a:p>
        </p:txBody>
      </p:sp>
      <p:sp>
        <p:nvSpPr>
          <p:cNvPr id="3" name="Obj [o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Toda obra empieza por conocer el suelo que la sostiene</a:t>
            </a:r>
            <a:endParaRPr lang="en-US" sz="1400" dirty="0"/>
          </a:p>
        </p:txBody>
      </p:sp>
      <p:pic>
        <p:nvPicPr>
          <p:cNvPr id="4" name="Obj [o2]" descr="Esquema de zapata aislada: armadura, hormigón de limpieza y terreno de fundación">    </p:cNvPr>
          <p:cNvPicPr>
            <a:picLocks noChangeAspect="1"/>
          </p:cNvPicPr>
          <p:nvPr/>
        </p:nvPicPr>
        <p:blipFill>
          <a:blip r:embed="rId1"/>
          <a:stretch>
            <a:fillRect/>
          </a:stretch>
        </p:blipFill>
        <p:spPr>
          <a:xfrm>
            <a:off x="966136" y="1561458"/>
            <a:ext cx="1570554" cy="2796548"/>
          </a:xfrm>
          <a:prstGeom prst="rect">
            <a:avLst/>
          </a:prstGeom>
        </p:spPr>
      </p:pic>
      <p:sp>
        <p:nvSpPr>
          <p:cNvPr id="5" name="Obj [o3]"/>
          <p:cNvSpPr txBox="1"/>
          <p:nvPr/>
        </p:nvSpPr>
        <p:spPr>
          <a:xfrm>
            <a:off x="2889263" y="1641589"/>
            <a:ext cx="5288601" cy="1522476"/>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Reconocer los materiales antes de construir</a:t>
            </a:r>
            <a:endParaRPr lang="en-US" sz="1800" dirty="0"/>
          </a:p>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Estimar parámetros para dimensionar la fundación</a:t>
            </a:r>
            <a:endParaRPr lang="en-US" sz="1800" dirty="0"/>
          </a:p>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Controlar rellenos y capas compactadas durante la obra</a:t>
            </a:r>
            <a:endParaRPr lang="en-US" sz="1800" dirty="0"/>
          </a:p>
        </p:txBody>
      </p:sp>
      <p:sp>
        <p:nvSpPr>
          <p:cNvPr id="6" name="Obj [o4]"/>
          <p:cNvSpPr/>
          <p:nvPr/>
        </p:nvSpPr>
        <p:spPr>
          <a:xfrm>
            <a:off x="2889263" y="3364390"/>
            <a:ext cx="5288601" cy="721173"/>
          </a:xfrm>
          <a:prstGeom prst="rect">
            <a:avLst/>
          </a:prstGeom>
          <a:solidFill>
            <a:srgbClr val="EAF1F8"/>
          </a:solidFill>
          <a:ln w="6350">
            <a:solidFill>
              <a:srgbClr val="EAF1F8"/>
            </a:solidFill>
            <a:prstDash val="solid"/>
          </a:ln>
        </p:spPr>
      </p:sp>
      <p:sp>
        <p:nvSpPr>
          <p:cNvPr id="7" name="Obj [o5]"/>
          <p:cNvSpPr txBox="1"/>
          <p:nvPr/>
        </p:nvSpPr>
        <p:spPr>
          <a:xfrm>
            <a:off x="3009459" y="3364390"/>
            <a:ext cx="5048210" cy="721173"/>
          </a:xfrm>
          <a:prstGeom prst="rect">
            <a:avLst/>
          </a:prstGeom>
          <a:noFill/>
          <a:ln/>
        </p:spPr>
        <p:txBody>
          <a:bodyPr wrap="square" lIns="0" tIns="0" rIns="0" bIns="0" rtlCol="0" anchor="ctr"/>
          <a:lstStyle/>
          <a:p>
            <a:pPr indent="0" marL="0">
              <a:buNone/>
            </a:pPr>
            <a:r>
              <a:rPr lang="en-US" sz="1620" b="1" dirty="0">
                <a:solidFill>
                  <a:srgbClr val="1F4E79"/>
                </a:solidFill>
                <a:latin typeface="Arial" pitchFamily="34" charset="0"/>
                <a:ea typeface="Arial" pitchFamily="34" charset="-122"/>
                <a:cs typeface="Arial" pitchFamily="34" charset="-120"/>
              </a:rPr>
              <a:t>La construcción creció 6,2 % en 2025 (BCP, 2026)</a:t>
            </a:r>
            <a:endParaRPr lang="en-US" sz="1620" dirty="0"/>
          </a:p>
        </p:txBody>
      </p:sp>
      <p:sp>
        <p:nvSpPr>
          <p:cNvPr id="8" name="Obj [o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Samtani y Nowatzki (2006). BCP (2026). Imagen: Instagram (s. f.).</a:t>
            </a:r>
            <a:endParaRPr lang="en-US" sz="800" dirty="0"/>
          </a:p>
        </p:txBody>
      </p:sp>
      <p:sp>
        <p:nvSpPr>
          <p:cNvPr id="9" name="Obj [o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control del terreno no termina cuando la obra se levanta</a:t>
            </a:r>
            <a:endParaRPr lang="en-US" sz="1400" dirty="0"/>
          </a:p>
        </p:txBody>
      </p:sp>
      <p:pic>
        <p:nvPicPr>
          <p:cNvPr id="10" name="Obj [o8]" descr="Grietas y asentamientos">    </p:cNvPr>
          <p:cNvPicPr>
            <a:picLocks noChangeAspect="1"/>
          </p:cNvPicPr>
          <p:nvPr/>
        </p:nvPicPr>
        <p:blipFill>
          <a:blip r:embed="rId2"/>
          <a:stretch>
            <a:fillRect/>
          </a:stretch>
        </p:blipFill>
        <p:spPr>
          <a:xfrm>
            <a:off x="441794" y="1633397"/>
            <a:ext cx="2128962" cy="1300187"/>
          </a:xfrm>
          <a:prstGeom prst="rect">
            <a:avLst/>
          </a:prstGeom>
        </p:spPr>
      </p:pic>
      <p:sp>
        <p:nvSpPr>
          <p:cNvPr id="11" name="Obj [o9]"/>
          <p:cNvSpPr txBox="1"/>
          <p:nvPr/>
        </p:nvSpPr>
        <p:spPr>
          <a:xfrm>
            <a:off x="441794" y="3154084"/>
            <a:ext cx="2128962" cy="266120"/>
          </a:xfrm>
          <a:prstGeom prst="rect">
            <a:avLst/>
          </a:prstGeom>
          <a:noFill/>
          <a:ln/>
        </p:spPr>
        <p:txBody>
          <a:bodyPr wrap="square" lIns="0" tIns="0" rIns="0" bIns="0" rtlCol="0" anchor="t"/>
          <a:lstStyle/>
          <a:p>
            <a:pPr indent="0" marL="0">
              <a:buNone/>
            </a:pPr>
            <a:r>
              <a:rPr lang="en-US" sz="1380" b="1" dirty="0">
                <a:solidFill>
                  <a:srgbClr val="1F4E79"/>
                </a:solidFill>
                <a:latin typeface="Arial" pitchFamily="34" charset="0"/>
                <a:ea typeface="Arial" pitchFamily="34" charset="-122"/>
                <a:cs typeface="Arial" pitchFamily="34" charset="-120"/>
              </a:rPr>
              <a:t>Grietas y asentamientos</a:t>
            </a:r>
            <a:endParaRPr lang="en-US" sz="1380" dirty="0"/>
          </a:p>
        </p:txBody>
      </p:sp>
      <p:pic>
        <p:nvPicPr>
          <p:cNvPr id="12" name="Obj [o10]" descr="Pavimentos y rellenos">    </p:cNvPr>
          <p:cNvPicPr>
            <a:picLocks noChangeAspect="1"/>
          </p:cNvPicPr>
          <p:nvPr/>
        </p:nvPicPr>
        <p:blipFill>
          <a:blip r:embed="rId3"/>
          <a:stretch>
            <a:fillRect/>
          </a:stretch>
        </p:blipFill>
        <p:spPr>
          <a:xfrm>
            <a:off x="2798859" y="1633397"/>
            <a:ext cx="2128962" cy="1444653"/>
          </a:xfrm>
          <a:prstGeom prst="rect">
            <a:avLst/>
          </a:prstGeom>
        </p:spPr>
      </p:pic>
      <p:sp>
        <p:nvSpPr>
          <p:cNvPr id="13" name="Obj [o11]"/>
          <p:cNvSpPr txBox="1"/>
          <p:nvPr/>
        </p:nvSpPr>
        <p:spPr>
          <a:xfrm>
            <a:off x="2798859" y="3154084"/>
            <a:ext cx="2128962" cy="266120"/>
          </a:xfrm>
          <a:prstGeom prst="rect">
            <a:avLst/>
          </a:prstGeom>
          <a:noFill/>
          <a:ln/>
        </p:spPr>
        <p:txBody>
          <a:bodyPr wrap="square" lIns="0" tIns="0" rIns="0" bIns="0" rtlCol="0" anchor="t"/>
          <a:lstStyle/>
          <a:p>
            <a:pPr indent="0" marL="0">
              <a:buNone/>
            </a:pPr>
            <a:r>
              <a:rPr lang="en-US" sz="1380" b="1" dirty="0">
                <a:solidFill>
                  <a:srgbClr val="1F4E79"/>
                </a:solidFill>
                <a:latin typeface="Arial" pitchFamily="34" charset="0"/>
                <a:ea typeface="Arial" pitchFamily="34" charset="-122"/>
                <a:cs typeface="Arial" pitchFamily="34" charset="-120"/>
              </a:rPr>
              <a:t>Pavimentos y rellenos</a:t>
            </a:r>
            <a:endParaRPr lang="en-US" sz="1380" dirty="0"/>
          </a:p>
        </p:txBody>
      </p:sp>
      <p:pic>
        <p:nvPicPr>
          <p:cNvPr id="14" name="Obj [o12]" descr="Taludes">    </p:cNvPr>
          <p:cNvPicPr>
            <a:picLocks noChangeAspect="1"/>
          </p:cNvPicPr>
          <p:nvPr/>
        </p:nvPicPr>
        <p:blipFill>
          <a:blip r:embed="rId4"/>
          <a:stretch>
            <a:fillRect/>
          </a:stretch>
        </p:blipFill>
        <p:spPr>
          <a:xfrm>
            <a:off x="5155924" y="1633397"/>
            <a:ext cx="2128962" cy="1444653"/>
          </a:xfrm>
          <a:prstGeom prst="rect">
            <a:avLst/>
          </a:prstGeom>
        </p:spPr>
      </p:pic>
      <p:sp>
        <p:nvSpPr>
          <p:cNvPr id="15" name="Obj [o13]"/>
          <p:cNvSpPr txBox="1"/>
          <p:nvPr/>
        </p:nvSpPr>
        <p:spPr>
          <a:xfrm>
            <a:off x="5155924" y="3154084"/>
            <a:ext cx="2128962" cy="266120"/>
          </a:xfrm>
          <a:prstGeom prst="rect">
            <a:avLst/>
          </a:prstGeom>
          <a:noFill/>
          <a:ln/>
        </p:spPr>
        <p:txBody>
          <a:bodyPr wrap="square" lIns="0" tIns="0" rIns="0" bIns="0" rtlCol="0" anchor="t"/>
          <a:lstStyle/>
          <a:p>
            <a:pPr indent="0" marL="0">
              <a:buNone/>
            </a:pPr>
            <a:r>
              <a:rPr lang="en-US" sz="1380" b="1" dirty="0">
                <a:solidFill>
                  <a:srgbClr val="1F4E79"/>
                </a:solidFill>
                <a:latin typeface="Arial" pitchFamily="34" charset="0"/>
                <a:ea typeface="Arial" pitchFamily="34" charset="-122"/>
                <a:cs typeface="Arial" pitchFamily="34" charset="-120"/>
              </a:rPr>
              <a:t>Taludes</a:t>
            </a:r>
            <a:endParaRPr lang="en-US" sz="1380" dirty="0"/>
          </a:p>
        </p:txBody>
      </p:sp>
      <p:sp>
        <p:nvSpPr>
          <p:cNvPr id="16" name="Obj [o14]"/>
          <p:cNvSpPr txBox="1"/>
          <p:nvPr/>
        </p:nvSpPr>
        <p:spPr>
          <a:xfrm>
            <a:off x="441794" y="3610290"/>
            <a:ext cx="6843091" cy="608275"/>
          </a:xfrm>
          <a:prstGeom prst="rect">
            <a:avLst/>
          </a:prstGeom>
          <a:noFill/>
          <a:ln/>
        </p:spPr>
        <p:txBody>
          <a:bodyPr wrap="square" lIns="0" tIns="0" rIns="0" bIns="0" rtlCol="0" anchor="t"/>
          <a:lstStyle/>
          <a:p>
            <a:pPr indent="0" marL="0">
              <a:buNone/>
            </a:pPr>
            <a:r>
              <a:rPr lang="en-US" sz="1726"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1726" dirty="0"/>
          </a:p>
        </p:txBody>
      </p:sp>
      <p:sp>
        <p:nvSpPr>
          <p:cNvPr id="17" name="Obj [o1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Park et al. (2018). Imágenes: UPCommons (asentamientos); 360 en Concreto (rodillo); Facebook (ilustración).</a:t>
            </a:r>
            <a:endParaRPr lang="en-US" sz="800" dirty="0"/>
          </a:p>
        </p:txBody>
      </p:sp>
      <p:sp>
        <p:nvSpPr>
          <p:cNvPr id="18" name="Obj [o1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1400" dirty="0"/>
          </a:p>
        </p:txBody>
      </p:sp>
      <p:sp>
        <p:nvSpPr>
          <p:cNvPr id="19" name="Obj [o17]"/>
          <p:cNvSpPr/>
          <p:nvPr/>
        </p:nvSpPr>
        <p:spPr>
          <a:xfrm>
            <a:off x="2152567" y="1785465"/>
            <a:ext cx="3421546" cy="874395"/>
          </a:xfrm>
          <a:prstGeom prst="roundRect">
            <a:avLst>
              <a:gd name="adj" fmla="val 8366"/>
            </a:avLst>
          </a:prstGeom>
          <a:solidFill>
            <a:srgbClr val="FFFFFF">
              <a:alpha val="0"/>
            </a:srgbClr>
          </a:solidFill>
          <a:ln w="21121">
            <a:solidFill>
              <a:srgbClr val="C55A11"/>
            </a:solidFill>
            <a:prstDash val="solid"/>
          </a:ln>
        </p:spPr>
      </p:sp>
      <p:sp>
        <p:nvSpPr>
          <p:cNvPr id="20" name="Obj [o18]"/>
          <p:cNvSpPr/>
          <p:nvPr/>
        </p:nvSpPr>
        <p:spPr>
          <a:xfrm>
            <a:off x="441794" y="1861500"/>
            <a:ext cx="1482670" cy="722326"/>
          </a:xfrm>
          <a:prstGeom prst="rect">
            <a:avLst/>
          </a:prstGeom>
          <a:solidFill>
            <a:srgbClr val="EAF1F8"/>
          </a:solidFill>
          <a:ln w="10560">
            <a:solidFill>
              <a:srgbClr val="2E75B6"/>
            </a:solidFill>
            <a:prstDash val="solid"/>
          </a:ln>
        </p:spPr>
      </p:sp>
      <p:sp>
        <p:nvSpPr>
          <p:cNvPr id="21" name="Obj [o19]"/>
          <p:cNvSpPr txBox="1"/>
          <p:nvPr/>
        </p:nvSpPr>
        <p:spPr>
          <a:xfrm>
            <a:off x="441794"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1F4E79"/>
                </a:solidFill>
                <a:latin typeface="Arial" pitchFamily="34" charset="0"/>
                <a:ea typeface="Arial" pitchFamily="34" charset="-122"/>
                <a:cs typeface="Arial" pitchFamily="34" charset="-120"/>
              </a:rPr>
              <a:t>Fenómeno físico del terreno</a:t>
            </a:r>
            <a:endParaRPr lang="en-US" sz="1380" dirty="0"/>
          </a:p>
        </p:txBody>
      </p:sp>
      <p:sp>
        <p:nvSpPr>
          <p:cNvPr id="22" name="Obj [o20]"/>
          <p:cNvSpPr/>
          <p:nvPr/>
        </p:nvSpPr>
        <p:spPr>
          <a:xfrm>
            <a:off x="1947274" y="2222663"/>
            <a:ext cx="258517" cy="0"/>
          </a:xfrm>
          <a:prstGeom prst="line">
            <a:avLst/>
          </a:prstGeom>
          <a:noFill/>
          <a:ln w="21121">
            <a:solidFill>
              <a:srgbClr val="1F4E79"/>
            </a:solidFill>
            <a:prstDash val="solid"/>
            <a:tailEnd type="triangle"/>
          </a:ln>
        </p:spPr>
      </p:sp>
      <p:sp>
        <p:nvSpPr>
          <p:cNvPr id="23" name="Obj [o21]"/>
          <p:cNvSpPr/>
          <p:nvPr/>
        </p:nvSpPr>
        <p:spPr>
          <a:xfrm>
            <a:off x="2228602" y="1861500"/>
            <a:ext cx="1482670" cy="722326"/>
          </a:xfrm>
          <a:prstGeom prst="rect">
            <a:avLst/>
          </a:prstGeom>
          <a:solidFill>
            <a:srgbClr val="EAF1F8"/>
          </a:solidFill>
          <a:ln w="10560">
            <a:solidFill>
              <a:srgbClr val="2E75B6"/>
            </a:solidFill>
            <a:prstDash val="solid"/>
          </a:ln>
        </p:spPr>
      </p:sp>
      <p:sp>
        <p:nvSpPr>
          <p:cNvPr id="24" name="Obj [o22]"/>
          <p:cNvSpPr txBox="1"/>
          <p:nvPr/>
        </p:nvSpPr>
        <p:spPr>
          <a:xfrm>
            <a:off x="2228602"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1F4E79"/>
                </a:solidFill>
                <a:latin typeface="Arial" pitchFamily="34" charset="0"/>
                <a:ea typeface="Arial" pitchFamily="34" charset="-122"/>
                <a:cs typeface="Arial" pitchFamily="34" charset="-120"/>
              </a:rPr>
              <a:t>Transductor</a:t>
            </a:r>
            <a:endParaRPr lang="en-US" sz="1380" dirty="0"/>
          </a:p>
        </p:txBody>
      </p:sp>
      <p:sp>
        <p:nvSpPr>
          <p:cNvPr id="25" name="Obj [o23]"/>
          <p:cNvSpPr/>
          <p:nvPr/>
        </p:nvSpPr>
        <p:spPr>
          <a:xfrm>
            <a:off x="3734082" y="2222663"/>
            <a:ext cx="258517" cy="0"/>
          </a:xfrm>
          <a:prstGeom prst="line">
            <a:avLst/>
          </a:prstGeom>
          <a:noFill/>
          <a:ln w="21121">
            <a:solidFill>
              <a:srgbClr val="1F4E79"/>
            </a:solidFill>
            <a:prstDash val="solid"/>
            <a:tailEnd type="triangle"/>
          </a:ln>
        </p:spPr>
      </p:sp>
      <p:sp>
        <p:nvSpPr>
          <p:cNvPr id="26" name="Obj [o24]"/>
          <p:cNvSpPr/>
          <p:nvPr/>
        </p:nvSpPr>
        <p:spPr>
          <a:xfrm>
            <a:off x="4015409" y="1861500"/>
            <a:ext cx="1482670" cy="722326"/>
          </a:xfrm>
          <a:prstGeom prst="rect">
            <a:avLst/>
          </a:prstGeom>
          <a:solidFill>
            <a:srgbClr val="EAF1F8"/>
          </a:solidFill>
          <a:ln w="10560">
            <a:solidFill>
              <a:srgbClr val="2E75B6"/>
            </a:solidFill>
            <a:prstDash val="solid"/>
          </a:ln>
        </p:spPr>
      </p:sp>
      <p:sp>
        <p:nvSpPr>
          <p:cNvPr id="27" name="Obj [o25]"/>
          <p:cNvSpPr txBox="1"/>
          <p:nvPr/>
        </p:nvSpPr>
        <p:spPr>
          <a:xfrm>
            <a:off x="4015409"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1F4E79"/>
                </a:solidFill>
                <a:latin typeface="Arial" pitchFamily="34" charset="0"/>
                <a:ea typeface="Arial" pitchFamily="34" charset="-122"/>
                <a:cs typeface="Arial" pitchFamily="34" charset="-120"/>
              </a:rPr>
              <a:t>Procesamiento</a:t>
            </a:r>
            <a:endParaRPr lang="en-US" sz="1380" dirty="0"/>
          </a:p>
        </p:txBody>
      </p:sp>
      <p:sp>
        <p:nvSpPr>
          <p:cNvPr id="28" name="Obj [o26]"/>
          <p:cNvSpPr/>
          <p:nvPr/>
        </p:nvSpPr>
        <p:spPr>
          <a:xfrm>
            <a:off x="5520889" y="2222663"/>
            <a:ext cx="258517" cy="0"/>
          </a:xfrm>
          <a:prstGeom prst="line">
            <a:avLst/>
          </a:prstGeom>
          <a:noFill/>
          <a:ln w="21121">
            <a:solidFill>
              <a:srgbClr val="1F4E79"/>
            </a:solidFill>
            <a:prstDash val="solid"/>
            <a:tailEnd type="triangle"/>
          </a:ln>
        </p:spPr>
      </p:sp>
      <p:sp>
        <p:nvSpPr>
          <p:cNvPr id="29" name="Obj [o27]"/>
          <p:cNvSpPr/>
          <p:nvPr/>
        </p:nvSpPr>
        <p:spPr>
          <a:xfrm>
            <a:off x="5802216" y="1861500"/>
            <a:ext cx="1482670" cy="722326"/>
          </a:xfrm>
          <a:prstGeom prst="rect">
            <a:avLst/>
          </a:prstGeom>
          <a:solidFill>
            <a:srgbClr val="1F4E79"/>
          </a:solidFill>
          <a:ln w="10560">
            <a:solidFill>
              <a:srgbClr val="1F4E79"/>
            </a:solidFill>
            <a:prstDash val="solid"/>
          </a:ln>
        </p:spPr>
      </p:sp>
      <p:sp>
        <p:nvSpPr>
          <p:cNvPr id="30" name="Obj [o28]"/>
          <p:cNvSpPr txBox="1"/>
          <p:nvPr/>
        </p:nvSpPr>
        <p:spPr>
          <a:xfrm>
            <a:off x="5802216"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Información útil del terreno</a:t>
            </a:r>
            <a:endParaRPr lang="en-US" sz="1380" dirty="0"/>
          </a:p>
        </p:txBody>
      </p:sp>
      <p:sp>
        <p:nvSpPr>
          <p:cNvPr id="31" name="Obj [o29]"/>
          <p:cNvSpPr txBox="1"/>
          <p:nvPr/>
        </p:nvSpPr>
        <p:spPr>
          <a:xfrm>
            <a:off x="2152567" y="2713084"/>
            <a:ext cx="3421546" cy="380172"/>
          </a:xfrm>
          <a:prstGeom prst="rect">
            <a:avLst/>
          </a:prstGeom>
          <a:noFill/>
          <a:ln/>
        </p:spPr>
        <p:txBody>
          <a:bodyPr wrap="square" lIns="0" tIns="0" rIns="0" bIns="0" rtlCol="0" anchor="t"/>
          <a:lstStyle/>
          <a:p>
            <a:pPr algn="ctr" indent="0" marL="0">
              <a:buNone/>
            </a:pPr>
            <a:r>
              <a:rPr lang="en-US" sz="138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380" dirty="0"/>
          </a:p>
        </p:txBody>
      </p:sp>
      <p:sp>
        <p:nvSpPr>
          <p:cNvPr id="32" name="Obj [o30]"/>
          <p:cNvSpPr txBox="1"/>
          <p:nvPr/>
        </p:nvSpPr>
        <p:spPr>
          <a:xfrm>
            <a:off x="441794" y="3116066"/>
            <a:ext cx="2281030" cy="266120"/>
          </a:xfrm>
          <a:prstGeom prst="rect">
            <a:avLst/>
          </a:prstGeom>
          <a:noFill/>
          <a:ln/>
        </p:spPr>
        <p:txBody>
          <a:bodyPr wrap="square" lIns="0" tIns="0" rIns="0" bIns="0" rtlCol="0" anchor="ctr"/>
          <a:lstStyle/>
          <a:p>
            <a:pPr indent="0" marL="0">
              <a:buNone/>
            </a:pPr>
            <a:r>
              <a:rPr lang="en-US" sz="1726" b="1" dirty="0">
                <a:solidFill>
                  <a:srgbClr val="1F4E79"/>
                </a:solidFill>
                <a:latin typeface="Arial" pitchFamily="34" charset="0"/>
                <a:ea typeface="Arial" pitchFamily="34" charset="-122"/>
                <a:cs typeface="Arial" pitchFamily="34" charset="-120"/>
              </a:rPr>
              <a:t>Hoja de ruta</a:t>
            </a:r>
            <a:endParaRPr lang="en-US" sz="1726" dirty="0"/>
          </a:p>
        </p:txBody>
      </p:sp>
      <p:sp>
        <p:nvSpPr>
          <p:cNvPr id="33" name="Obj [o31]"/>
          <p:cNvSpPr/>
          <p:nvPr/>
        </p:nvSpPr>
        <p:spPr>
          <a:xfrm>
            <a:off x="441794" y="3473428"/>
            <a:ext cx="205293" cy="205293"/>
          </a:xfrm>
          <a:prstGeom prst="ellipse">
            <a:avLst/>
          </a:prstGeom>
          <a:solidFill>
            <a:srgbClr val="2E75B6"/>
          </a:solidFill>
          <a:ln w="6350">
            <a:solidFill>
              <a:srgbClr val="2E75B6"/>
            </a:solidFill>
            <a:prstDash val="solid"/>
          </a:ln>
        </p:spPr>
      </p:sp>
      <p:sp>
        <p:nvSpPr>
          <p:cNvPr id="34" name="Obj [o32]"/>
          <p:cNvSpPr txBox="1"/>
          <p:nvPr/>
        </p:nvSpPr>
        <p:spPr>
          <a:xfrm>
            <a:off x="441794" y="3473428"/>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1</a:t>
            </a:r>
            <a:endParaRPr lang="en-US" sz="1035" dirty="0"/>
          </a:p>
        </p:txBody>
      </p:sp>
      <p:sp>
        <p:nvSpPr>
          <p:cNvPr id="35" name="Obj [o33]"/>
          <p:cNvSpPr txBox="1"/>
          <p:nvPr/>
        </p:nvSpPr>
        <p:spPr>
          <a:xfrm>
            <a:off x="745932" y="3458221"/>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380" dirty="0"/>
          </a:p>
        </p:txBody>
      </p:sp>
      <p:sp>
        <p:nvSpPr>
          <p:cNvPr id="36" name="Obj [o34]"/>
          <p:cNvSpPr/>
          <p:nvPr/>
        </p:nvSpPr>
        <p:spPr>
          <a:xfrm>
            <a:off x="441794" y="3731945"/>
            <a:ext cx="205293" cy="205293"/>
          </a:xfrm>
          <a:prstGeom prst="ellipse">
            <a:avLst/>
          </a:prstGeom>
          <a:solidFill>
            <a:srgbClr val="2E75B6"/>
          </a:solidFill>
          <a:ln w="6350">
            <a:solidFill>
              <a:srgbClr val="2E75B6"/>
            </a:solidFill>
            <a:prstDash val="solid"/>
          </a:ln>
        </p:spPr>
      </p:sp>
      <p:sp>
        <p:nvSpPr>
          <p:cNvPr id="37" name="Obj [o35]"/>
          <p:cNvSpPr txBox="1"/>
          <p:nvPr/>
        </p:nvSpPr>
        <p:spPr>
          <a:xfrm>
            <a:off x="441794" y="3731945"/>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2</a:t>
            </a:r>
            <a:endParaRPr lang="en-US" sz="1035" dirty="0"/>
          </a:p>
        </p:txBody>
      </p:sp>
      <p:sp>
        <p:nvSpPr>
          <p:cNvPr id="38" name="Obj [o36]"/>
          <p:cNvSpPr txBox="1"/>
          <p:nvPr/>
        </p:nvSpPr>
        <p:spPr>
          <a:xfrm>
            <a:off x="745932" y="3716738"/>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Análisis en profundidad del método seleccionado</a:t>
            </a:r>
            <a:endParaRPr lang="en-US" sz="1380" dirty="0"/>
          </a:p>
        </p:txBody>
      </p:sp>
      <p:sp>
        <p:nvSpPr>
          <p:cNvPr id="39" name="Obj [o37]"/>
          <p:cNvSpPr/>
          <p:nvPr/>
        </p:nvSpPr>
        <p:spPr>
          <a:xfrm>
            <a:off x="441794" y="3990461"/>
            <a:ext cx="205293" cy="205293"/>
          </a:xfrm>
          <a:prstGeom prst="ellipse">
            <a:avLst/>
          </a:prstGeom>
          <a:solidFill>
            <a:srgbClr val="2E75B6"/>
          </a:solidFill>
          <a:ln w="6350">
            <a:solidFill>
              <a:srgbClr val="2E75B6"/>
            </a:solidFill>
            <a:prstDash val="solid"/>
          </a:ln>
        </p:spPr>
      </p:sp>
      <p:sp>
        <p:nvSpPr>
          <p:cNvPr id="40" name="Obj [o38]"/>
          <p:cNvSpPr txBox="1"/>
          <p:nvPr/>
        </p:nvSpPr>
        <p:spPr>
          <a:xfrm>
            <a:off x="441794" y="3990461"/>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3</a:t>
            </a:r>
            <a:endParaRPr lang="en-US" sz="1035" dirty="0"/>
          </a:p>
        </p:txBody>
      </p:sp>
      <p:sp>
        <p:nvSpPr>
          <p:cNvPr id="41" name="Obj [o39]"/>
          <p:cNvSpPr txBox="1"/>
          <p:nvPr/>
        </p:nvSpPr>
        <p:spPr>
          <a:xfrm>
            <a:off x="745932" y="3975255"/>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Especificaciones y plataforma propuesta</a:t>
            </a:r>
            <a:endParaRPr lang="en-US" sz="1380" dirty="0"/>
          </a:p>
        </p:txBody>
      </p:sp>
      <p:sp>
        <p:nvSpPr>
          <p:cNvPr id="42" name="Obj [o40]"/>
          <p:cNvSpPr/>
          <p:nvPr/>
        </p:nvSpPr>
        <p:spPr>
          <a:xfrm>
            <a:off x="441794" y="4248978"/>
            <a:ext cx="205293" cy="205293"/>
          </a:xfrm>
          <a:prstGeom prst="ellipse">
            <a:avLst/>
          </a:prstGeom>
          <a:solidFill>
            <a:srgbClr val="2E75B6"/>
          </a:solidFill>
          <a:ln w="6350">
            <a:solidFill>
              <a:srgbClr val="2E75B6"/>
            </a:solidFill>
            <a:prstDash val="solid"/>
          </a:ln>
        </p:spPr>
      </p:sp>
      <p:sp>
        <p:nvSpPr>
          <p:cNvPr id="43" name="Obj [o41]"/>
          <p:cNvSpPr txBox="1"/>
          <p:nvPr/>
        </p:nvSpPr>
        <p:spPr>
          <a:xfrm>
            <a:off x="441794" y="4248978"/>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4</a:t>
            </a:r>
            <a:endParaRPr lang="en-US" sz="1035" dirty="0"/>
          </a:p>
        </p:txBody>
      </p:sp>
      <p:sp>
        <p:nvSpPr>
          <p:cNvPr id="44" name="Obj [o42]"/>
          <p:cNvSpPr txBox="1"/>
          <p:nvPr/>
        </p:nvSpPr>
        <p:spPr>
          <a:xfrm>
            <a:off x="745932" y="4233771"/>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Resultados parciales</a:t>
            </a:r>
            <a:endParaRPr lang="en-US" sz="1380" dirty="0"/>
          </a:p>
        </p:txBody>
      </p:sp>
      <p:sp>
        <p:nvSpPr>
          <p:cNvPr id="45" name="Obj [o4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17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fill="hold" nodeType="withEffect">
                                  <p:stCondLst>
                                    <p:cond delay="48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par>
                                <p:cTn id="25" presetID="22" presetClass="entr" presetSubtype="8" fill="hold" nodeType="withEffect">
                                  <p:stCondLst>
                                    <p:cond delay="55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par>
                                <p:cTn id="28" presetID="10" presetClass="entr" presetSubtype="0" fill="hold" nodeType="withEffect">
                                  <p:stCondLst>
                                    <p:cond delay="4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5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350"/>
                                        <p:tgtEl>
                                          <p:spTgt spid="3"/>
                                        </p:tgtEl>
                                      </p:cBhvr>
                                    </p:animEffect>
                                    <p:set>
                                      <p:cBhvr>
                                        <p:cTn id="35" dur="1" fill="hold">
                                          <p:stCondLst>
                                            <p:cond delay="349"/>
                                          </p:stCondLst>
                                        </p:cTn>
                                        <p:tgtEl>
                                          <p:spTgt spid="3"/>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0" end="0"/>
                                            </p:txEl>
                                          </p:spTgt>
                                        </p:tgtEl>
                                      </p:cBhvr>
                                    </p:animEffect>
                                    <p:set>
                                      <p:cBhvr>
                                        <p:cTn id="38" dur="1" fill="hold">
                                          <p:stCondLst>
                                            <p:cond delay="349"/>
                                          </p:stCondLst>
                                        </p:cTn>
                                        <p:tgtEl>
                                          <p:spTgt spid="5">
                                            <p:txEl>
                                              <p:pRg st="0" end="0"/>
                                            </p:txEl>
                                          </p:spTgt>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350"/>
                                        <p:tgtEl>
                                          <p:spTgt spid="5">
                                            <p:txEl>
                                              <p:pRg st="1" end="1"/>
                                            </p:txEl>
                                          </p:spTgt>
                                        </p:tgtEl>
                                      </p:cBhvr>
                                    </p:animEffect>
                                    <p:set>
                                      <p:cBhvr>
                                        <p:cTn id="41" dur="1" fill="hold">
                                          <p:stCondLst>
                                            <p:cond delay="349"/>
                                          </p:stCondLst>
                                        </p:cTn>
                                        <p:tgtEl>
                                          <p:spTgt spid="5">
                                            <p:txEl>
                                              <p:pRg st="1" end="1"/>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5">
                                            <p:txEl>
                                              <p:pRg st="2" end="2"/>
                                            </p:txEl>
                                          </p:spTgt>
                                        </p:tgtEl>
                                      </p:cBhvr>
                                    </p:animEffect>
                                    <p:set>
                                      <p:cBhvr>
                                        <p:cTn id="44" dur="1" fill="hold">
                                          <p:stCondLst>
                                            <p:cond delay="349"/>
                                          </p:stCondLst>
                                        </p:cTn>
                                        <p:tgtEl>
                                          <p:spTgt spid="5">
                                            <p:txEl>
                                              <p:pRg st="2" end="2"/>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6"/>
                                        </p:tgtEl>
                                      </p:cBhvr>
                                    </p:animEffect>
                                    <p:set>
                                      <p:cBhvr>
                                        <p:cTn id="47" dur="1" fill="hold">
                                          <p:stCondLst>
                                            <p:cond delay="349"/>
                                          </p:stCondLst>
                                        </p:cTn>
                                        <p:tgtEl>
                                          <p:spTgt spid="6"/>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350"/>
                                        <p:tgtEl>
                                          <p:spTgt spid="7"/>
                                        </p:tgtEl>
                                      </p:cBhvr>
                                    </p:animEffect>
                                    <p:set>
                                      <p:cBhvr>
                                        <p:cTn id="50" dur="1" fill="hold">
                                          <p:stCondLst>
                                            <p:cond delay="349"/>
                                          </p:stCondLst>
                                        </p:cTn>
                                        <p:tgtEl>
                                          <p:spTgt spid="7"/>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8"/>
                                        </p:tgtEl>
                                      </p:cBhvr>
                                    </p:animEffect>
                                    <p:set>
                                      <p:cBhvr>
                                        <p:cTn id="53" dur="1" fill="hold">
                                          <p:stCondLst>
                                            <p:cond delay="349"/>
                                          </p:stCondLst>
                                        </p:cTn>
                                        <p:tgtEl>
                                          <p:spTgt spid="8"/>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70096 -0.20743 E" pathEditMode="relative" rAng="0" ptsTypes="AA">
                                      <p:cBhvr>
                                        <p:cTn id="55" dur="750" fill="hold"/>
                                        <p:tgtEl>
                                          <p:spTgt spid="4"/>
                                        </p:tgtEl>
                                        <p:attrNameLst>
                                          <p:attrName>ppt_x</p:attrName>
                                          <p:attrName>ppt_y</p:attrName>
                                        </p:attrNameLst>
                                      </p:cBhvr>
                                      <p:rCtr x="35048" y="-10371"/>
                                    </p:animMotion>
                                  </p:childTnLst>
                                </p:cTn>
                              </p:par>
                              <p:par>
                                <p:cTn id="56" presetID="6" presetClass="emph" presetSubtype="0" accel="50000" decel="50000" fill="hold" nodeType="withEffect">
                                  <p:stCondLst>
                                    <p:cond delay="0"/>
                                  </p:stCondLst>
                                  <p:childTnLst>
                                    <p:animScale>
                                      <p:cBhvr>
                                        <p:cTn id="57" dur="750" fill="hold"/>
                                        <p:tgtEl>
                                          <p:spTgt spid="4"/>
                                        </p:tgtEl>
                                      </p:cBhvr>
                                      <p:by x="29428" y="29428"/>
                                    </p:animScale>
                                  </p:childTnLst>
                                </p:cTn>
                              </p:par>
                              <p:par>
                                <p:cTn id="58" presetID="10" presetClass="entr" presetSubtype="0" fill="hold" nodeType="withEffect">
                                  <p:stCondLst>
                                    <p:cond delay="45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450"/>
                                        <p:tgtEl>
                                          <p:spTgt spid="9"/>
                                        </p:tgtEl>
                                      </p:cBhvr>
                                    </p:animEffect>
                                  </p:childTnLst>
                                </p:cTn>
                              </p:par>
                              <p:par>
                                <p:cTn id="61" presetID="53" presetClass="entr" presetSubtype="16" fill="hold" nodeType="withEffect">
                                  <p:stCondLst>
                                    <p:cond delay="520"/>
                                  </p:stCondLst>
                                  <p:childTnLst>
                                    <p:set>
                                      <p:cBhvr>
                                        <p:cTn id="62" dur="1" fill="hold">
                                          <p:stCondLst>
                                            <p:cond delay="0"/>
                                          </p:stCondLst>
                                        </p:cTn>
                                        <p:tgtEl>
                                          <p:spTgt spid="10"/>
                                        </p:tgtEl>
                                        <p:attrNameLst>
                                          <p:attrName>style.visibility</p:attrName>
                                        </p:attrNameLst>
                                      </p:cBhvr>
                                      <p:to>
                                        <p:strVal val="visible"/>
                                      </p:to>
                                    </p:set>
                                    <p:anim calcmode="lin" valueType="num">
                                      <p:cBhvr>
                                        <p:cTn id="63" dur="600" fill="hold"/>
                                        <p:tgtEl>
                                          <p:spTgt spid="10"/>
                                        </p:tgtEl>
                                        <p:attrNameLst>
                                          <p:attrName>ppt_w</p:attrName>
                                        </p:attrNameLst>
                                      </p:cBhvr>
                                      <p:tavLst>
                                        <p:tav tm="0">
                                          <p:val>
                                            <p:fltVal val="0"/>
                                          </p:val>
                                        </p:tav>
                                        <p:tav tm="100000">
                                          <p:val>
                                            <p:strVal val="#ppt_w"/>
                                          </p:val>
                                        </p:tav>
                                      </p:tavLst>
                                    </p:anim>
                                    <p:anim calcmode="lin" valueType="num">
                                      <p:cBhvr>
                                        <p:cTn id="64" dur="600" fill="hold"/>
                                        <p:tgtEl>
                                          <p:spTgt spid="10"/>
                                        </p:tgtEl>
                                        <p:attrNameLst>
                                          <p:attrName>ppt_h</p:attrName>
                                        </p:attrNameLst>
                                      </p:cBhvr>
                                      <p:tavLst>
                                        <p:tav tm="0">
                                          <p:val>
                                            <p:fltVal val="0"/>
                                          </p:val>
                                        </p:tav>
                                        <p:tav tm="100000">
                                          <p:val>
                                            <p:strVal val="#ppt_h"/>
                                          </p:val>
                                        </p:tav>
                                      </p:tavLst>
                                    </p:anim>
                                    <p:animEffect transition="in" filter="fade">
                                      <p:cBhvr>
                                        <p:cTn id="65" dur="600"/>
                                        <p:tgtEl>
                                          <p:spTgt spid="10"/>
                                        </p:tgtEl>
                                      </p:cBhvr>
                                    </p:animEffect>
                                  </p:childTnLst>
                                </p:cTn>
                              </p:par>
                              <p:par>
                                <p:cTn id="66" presetID="53" presetClass="entr" presetSubtype="16" fill="hold" nodeType="withEffect">
                                  <p:stCondLst>
                                    <p:cond delay="590"/>
                                  </p:stCondLst>
                                  <p:childTnLst>
                                    <p:set>
                                      <p:cBhvr>
                                        <p:cTn id="67" dur="1" fill="hold">
                                          <p:stCondLst>
                                            <p:cond delay="0"/>
                                          </p:stCondLst>
                                        </p:cTn>
                                        <p:tgtEl>
                                          <p:spTgt spid="12"/>
                                        </p:tgtEl>
                                        <p:attrNameLst>
                                          <p:attrName>style.visibility</p:attrName>
                                        </p:attrNameLst>
                                      </p:cBhvr>
                                      <p:to>
                                        <p:strVal val="visible"/>
                                      </p:to>
                                    </p:set>
                                    <p:anim calcmode="lin" valueType="num">
                                      <p:cBhvr>
                                        <p:cTn id="68" dur="600" fill="hold"/>
                                        <p:tgtEl>
                                          <p:spTgt spid="12"/>
                                        </p:tgtEl>
                                        <p:attrNameLst>
                                          <p:attrName>ppt_w</p:attrName>
                                        </p:attrNameLst>
                                      </p:cBhvr>
                                      <p:tavLst>
                                        <p:tav tm="0">
                                          <p:val>
                                            <p:fltVal val="0"/>
                                          </p:val>
                                        </p:tav>
                                        <p:tav tm="100000">
                                          <p:val>
                                            <p:strVal val="#ppt_w"/>
                                          </p:val>
                                        </p:tav>
                                      </p:tavLst>
                                    </p:anim>
                                    <p:anim calcmode="lin" valueType="num">
                                      <p:cBhvr>
                                        <p:cTn id="69" dur="600" fill="hold"/>
                                        <p:tgtEl>
                                          <p:spTgt spid="12"/>
                                        </p:tgtEl>
                                        <p:attrNameLst>
                                          <p:attrName>ppt_h</p:attrName>
                                        </p:attrNameLst>
                                      </p:cBhvr>
                                      <p:tavLst>
                                        <p:tav tm="0">
                                          <p:val>
                                            <p:fltVal val="0"/>
                                          </p:val>
                                        </p:tav>
                                        <p:tav tm="100000">
                                          <p:val>
                                            <p:strVal val="#ppt_h"/>
                                          </p:val>
                                        </p:tav>
                                      </p:tavLst>
                                    </p:anim>
                                    <p:animEffect transition="in" filter="fade">
                                      <p:cBhvr>
                                        <p:cTn id="70" dur="600"/>
                                        <p:tgtEl>
                                          <p:spTgt spid="12"/>
                                        </p:tgtEl>
                                      </p:cBhvr>
                                    </p:animEffect>
                                  </p:childTnLst>
                                </p:cTn>
                              </p:par>
                              <p:par>
                                <p:cTn id="71" presetID="53" presetClass="entr" presetSubtype="16" fill="hold" nodeType="withEffect">
                                  <p:stCondLst>
                                    <p:cond delay="660"/>
                                  </p:stCondLst>
                                  <p:childTnLst>
                                    <p:set>
                                      <p:cBhvr>
                                        <p:cTn id="72" dur="1" fill="hold">
                                          <p:stCondLst>
                                            <p:cond delay="0"/>
                                          </p:stCondLst>
                                        </p:cTn>
                                        <p:tgtEl>
                                          <p:spTgt spid="14"/>
                                        </p:tgtEl>
                                        <p:attrNameLst>
                                          <p:attrName>style.visibility</p:attrName>
                                        </p:attrNameLst>
                                      </p:cBhvr>
                                      <p:to>
                                        <p:strVal val="visible"/>
                                      </p:to>
                                    </p:set>
                                    <p:anim calcmode="lin" valueType="num">
                                      <p:cBhvr>
                                        <p:cTn id="73" dur="600" fill="hold"/>
                                        <p:tgtEl>
                                          <p:spTgt spid="14"/>
                                        </p:tgtEl>
                                        <p:attrNameLst>
                                          <p:attrName>ppt_w</p:attrName>
                                        </p:attrNameLst>
                                      </p:cBhvr>
                                      <p:tavLst>
                                        <p:tav tm="0">
                                          <p:val>
                                            <p:fltVal val="0"/>
                                          </p:val>
                                        </p:tav>
                                        <p:tav tm="100000">
                                          <p:val>
                                            <p:strVal val="#ppt_w"/>
                                          </p:val>
                                        </p:tav>
                                      </p:tavLst>
                                    </p:anim>
                                    <p:anim calcmode="lin" valueType="num">
                                      <p:cBhvr>
                                        <p:cTn id="74" dur="600" fill="hold"/>
                                        <p:tgtEl>
                                          <p:spTgt spid="14"/>
                                        </p:tgtEl>
                                        <p:attrNameLst>
                                          <p:attrName>ppt_h</p:attrName>
                                        </p:attrNameLst>
                                      </p:cBhvr>
                                      <p:tavLst>
                                        <p:tav tm="0">
                                          <p:val>
                                            <p:fltVal val="0"/>
                                          </p:val>
                                        </p:tav>
                                        <p:tav tm="100000">
                                          <p:val>
                                            <p:strVal val="#ppt_h"/>
                                          </p:val>
                                        </p:tav>
                                      </p:tavLst>
                                    </p:anim>
                                    <p:animEffect transition="in" filter="fade">
                                      <p:cBhvr>
                                        <p:cTn id="75" dur="600"/>
                                        <p:tgtEl>
                                          <p:spTgt spid="14"/>
                                        </p:tgtEl>
                                      </p:cBhvr>
                                    </p:animEffect>
                                  </p:childTnLst>
                                </p:cTn>
                              </p:par>
                              <p:par>
                                <p:cTn id="76" presetID="22" presetClass="entr" presetSubtype="4" fill="hold" nodeType="withEffect">
                                  <p:stCondLst>
                                    <p:cond delay="730"/>
                                  </p:stCondLst>
                                  <p:childTnLst>
                                    <p:set>
                                      <p:cBhvr>
                                        <p:cTn id="77" dur="1" fill="hold">
                                          <p:stCondLst>
                                            <p:cond delay="0"/>
                                          </p:stCondLst>
                                        </p:cTn>
                                        <p:tgtEl>
                                          <p:spTgt spid="11"/>
                                        </p:tgtEl>
                                        <p:attrNameLst>
                                          <p:attrName>style.visibility</p:attrName>
                                        </p:attrNameLst>
                                      </p:cBhvr>
                                      <p:to>
                                        <p:strVal val="visible"/>
                                      </p:to>
                                    </p:set>
                                    <p:animEffect transition="in" filter="wipe(down)">
                                      <p:cBhvr>
                                        <p:cTn id="78" dur="500"/>
                                        <p:tgtEl>
                                          <p:spTgt spid="11"/>
                                        </p:tgtEl>
                                      </p:cBhvr>
                                    </p:animEffect>
                                  </p:childTnLst>
                                </p:cTn>
                              </p:par>
                              <p:par>
                                <p:cTn id="79" presetID="22" presetClass="entr" presetSubtype="4" fill="hold" nodeType="withEffect">
                                  <p:stCondLst>
                                    <p:cond delay="800"/>
                                  </p:stCondLst>
                                  <p:childTnLst>
                                    <p:set>
                                      <p:cBhvr>
                                        <p:cTn id="80" dur="1" fill="hold">
                                          <p:stCondLst>
                                            <p:cond delay="0"/>
                                          </p:stCondLst>
                                        </p:cTn>
                                        <p:tgtEl>
                                          <p:spTgt spid="13"/>
                                        </p:tgtEl>
                                        <p:attrNameLst>
                                          <p:attrName>style.visibility</p:attrName>
                                        </p:attrNameLst>
                                      </p:cBhvr>
                                      <p:to>
                                        <p:strVal val="visible"/>
                                      </p:to>
                                    </p:set>
                                    <p:animEffect transition="in" filter="wipe(down)">
                                      <p:cBhvr>
                                        <p:cTn id="81" dur="500"/>
                                        <p:tgtEl>
                                          <p:spTgt spid="13"/>
                                        </p:tgtEl>
                                      </p:cBhvr>
                                    </p:animEffect>
                                  </p:childTnLst>
                                </p:cTn>
                              </p:par>
                              <p:par>
                                <p:cTn id="82" presetID="22" presetClass="entr" presetSubtype="4" fill="hold" nodeType="withEffect">
                                  <p:stCondLst>
                                    <p:cond delay="870"/>
                                  </p:stCondLst>
                                  <p:childTnLst>
                                    <p:set>
                                      <p:cBhvr>
                                        <p:cTn id="83" dur="1" fill="hold">
                                          <p:stCondLst>
                                            <p:cond delay="0"/>
                                          </p:stCondLst>
                                        </p:cTn>
                                        <p:tgtEl>
                                          <p:spTgt spid="15"/>
                                        </p:tgtEl>
                                        <p:attrNameLst>
                                          <p:attrName>style.visibility</p:attrName>
                                        </p:attrNameLst>
                                      </p:cBhvr>
                                      <p:to>
                                        <p:strVal val="visible"/>
                                      </p:to>
                                    </p:set>
                                    <p:animEffect transition="in" filter="wipe(down)">
                                      <p:cBhvr>
                                        <p:cTn id="84" dur="500"/>
                                        <p:tgtEl>
                                          <p:spTgt spid="15"/>
                                        </p:tgtEl>
                                      </p:cBhvr>
                                    </p:animEffect>
                                  </p:childTnLst>
                                </p:cTn>
                              </p:par>
                              <p:par>
                                <p:cTn id="85" presetID="22" presetClass="entr" presetSubtype="4" fill="hold" nodeType="withEffect">
                                  <p:stCondLst>
                                    <p:cond delay="940"/>
                                  </p:stCondLst>
                                  <p:childTnLst>
                                    <p:set>
                                      <p:cBhvr>
                                        <p:cTn id="86" dur="1" fill="hold">
                                          <p:stCondLst>
                                            <p:cond delay="0"/>
                                          </p:stCondLst>
                                        </p:cTn>
                                        <p:tgtEl>
                                          <p:spTgt spid="16"/>
                                        </p:tgtEl>
                                        <p:attrNameLst>
                                          <p:attrName>style.visibility</p:attrName>
                                        </p:attrNameLst>
                                      </p:cBhvr>
                                      <p:to>
                                        <p:strVal val="visible"/>
                                      </p:to>
                                    </p:set>
                                    <p:animEffect transition="in" filter="wipe(down)">
                                      <p:cBhvr>
                                        <p:cTn id="87" dur="500"/>
                                        <p:tgtEl>
                                          <p:spTgt spid="16"/>
                                        </p:tgtEl>
                                      </p:cBhvr>
                                    </p:animEffect>
                                  </p:childTnLst>
                                </p:cTn>
                              </p:par>
                              <p:par>
                                <p:cTn id="88" presetID="10" presetClass="entr" presetSubtype="0" fill="hold" nodeType="withEffect">
                                  <p:stCondLst>
                                    <p:cond delay="58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450"/>
                                        <p:tgtEl>
                                          <p:spTgt spid="17"/>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nodeType="clickEffect">
                                  <p:stCondLst>
                                    <p:cond delay="0"/>
                                  </p:stCondLst>
                                  <p:childTnLst>
                                    <p:animEffect transition="out" filter="fade">
                                      <p:cBhvr>
                                        <p:cTn id="94" dur="350"/>
                                        <p:tgtEl>
                                          <p:spTgt spid="9"/>
                                        </p:tgtEl>
                                      </p:cBhvr>
                                    </p:animEffect>
                                    <p:set>
                                      <p:cBhvr>
                                        <p:cTn id="95" dur="1" fill="hold">
                                          <p:stCondLst>
                                            <p:cond delay="349"/>
                                          </p:stCondLst>
                                        </p:cTn>
                                        <p:tgtEl>
                                          <p:spTgt spid="9"/>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350"/>
                                        <p:tgtEl>
                                          <p:spTgt spid="10"/>
                                        </p:tgtEl>
                                      </p:cBhvr>
                                    </p:animEffect>
                                    <p:set>
                                      <p:cBhvr>
                                        <p:cTn id="98" dur="1" fill="hold">
                                          <p:stCondLst>
                                            <p:cond delay="349"/>
                                          </p:stCondLst>
                                        </p:cTn>
                                        <p:tgtEl>
                                          <p:spTgt spid="10"/>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350"/>
                                        <p:tgtEl>
                                          <p:spTgt spid="11"/>
                                        </p:tgtEl>
                                      </p:cBhvr>
                                    </p:animEffect>
                                    <p:set>
                                      <p:cBhvr>
                                        <p:cTn id="101" dur="1" fill="hold">
                                          <p:stCondLst>
                                            <p:cond delay="349"/>
                                          </p:stCondLst>
                                        </p:cTn>
                                        <p:tgtEl>
                                          <p:spTgt spid="11"/>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3"/>
                                        </p:tgtEl>
                                      </p:cBhvr>
                                    </p:animEffect>
                                    <p:set>
                                      <p:cBhvr>
                                        <p:cTn id="104" dur="1" fill="hold">
                                          <p:stCondLst>
                                            <p:cond delay="349"/>
                                          </p:stCondLst>
                                        </p:cTn>
                                        <p:tgtEl>
                                          <p:spTgt spid="13"/>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4"/>
                                        </p:tgtEl>
                                      </p:cBhvr>
                                    </p:animEffect>
                                    <p:set>
                                      <p:cBhvr>
                                        <p:cTn id="107" dur="1" fill="hold">
                                          <p:stCondLst>
                                            <p:cond delay="349"/>
                                          </p:stCondLst>
                                        </p:cTn>
                                        <p:tgtEl>
                                          <p:spTgt spid="14"/>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5"/>
                                        </p:tgtEl>
                                      </p:cBhvr>
                                    </p:animEffect>
                                    <p:set>
                                      <p:cBhvr>
                                        <p:cTn id="110" dur="1" fill="hold">
                                          <p:stCondLst>
                                            <p:cond delay="349"/>
                                          </p:stCondLst>
                                        </p:cTn>
                                        <p:tgtEl>
                                          <p:spTgt spid="15"/>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16"/>
                                        </p:tgtEl>
                                      </p:cBhvr>
                                    </p:animEffect>
                                    <p:set>
                                      <p:cBhvr>
                                        <p:cTn id="113" dur="1" fill="hold">
                                          <p:stCondLst>
                                            <p:cond delay="349"/>
                                          </p:stCondLst>
                                        </p:cTn>
                                        <p:tgtEl>
                                          <p:spTgt spid="16"/>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350"/>
                                        <p:tgtEl>
                                          <p:spTgt spid="17"/>
                                        </p:tgtEl>
                                      </p:cBhvr>
                                    </p:animEffect>
                                    <p:set>
                                      <p:cBhvr>
                                        <p:cTn id="116" dur="1" fill="hold">
                                          <p:stCondLst>
                                            <p:cond delay="349"/>
                                          </p:stCondLst>
                                        </p:cTn>
                                        <p:tgtEl>
                                          <p:spTgt spid="17"/>
                                        </p:tgtEl>
                                        <p:attrNameLst>
                                          <p:attrName>style.visibility</p:attrName>
                                        </p:attrNameLst>
                                      </p:cBhvr>
                                      <p:to>
                                        <p:strVal val="hidden"/>
                                      </p:to>
                                    </p:set>
                                  </p:childTnLst>
                                </p:cTn>
                              </p:par>
                              <p:par>
                                <p:cTn id="117" presetID="0" presetClass="path" presetSubtype="0" accel="50000" decel="50000" fill="hold" nodeType="withEffect">
                                  <p:stCondLst>
                                    <p:cond delay="0"/>
                                  </p:stCondLst>
                                  <p:childTnLst>
                                    <p:animMotion origin="layout" path="M 0 0 L 0.47000 0.10556 E" pathEditMode="relative" rAng="0" ptsTypes="AA">
                                      <p:cBhvr>
                                        <p:cTn id="118" dur="750" fill="hold"/>
                                        <p:tgtEl>
                                          <p:spTgt spid="12"/>
                                        </p:tgtEl>
                                        <p:attrNameLst>
                                          <p:attrName>ppt_x</p:attrName>
                                          <p:attrName>ppt_y</p:attrName>
                                        </p:attrNameLst>
                                      </p:cBhvr>
                                      <p:rCtr x="23500" y="5277"/>
                                    </p:animMotion>
                                  </p:childTnLst>
                                </p:cTn>
                              </p:par>
                              <p:par>
                                <p:cTn id="119" presetID="6" presetClass="emph" presetSubtype="0" accel="50000" decel="50000" fill="hold" nodeType="withEffect">
                                  <p:stCondLst>
                                    <p:cond delay="0"/>
                                  </p:stCondLst>
                                  <p:childTnLst>
                                    <p:animScale>
                                      <p:cBhvr>
                                        <p:cTn id="120" dur="750" fill="hold"/>
                                        <p:tgtEl>
                                          <p:spTgt spid="12"/>
                                        </p:tgtEl>
                                      </p:cBhvr>
                                      <p:by x="56966" y="56966"/>
                                    </p:animScale>
                                  </p:childTnLst>
                                </p:cTn>
                              </p:par>
                              <p:par>
                                <p:cTn id="121" presetID="10" presetClass="entr" presetSubtype="0" fill="hold" nodeType="withEffect">
                                  <p:stCondLst>
                                    <p:cond delay="450"/>
                                  </p:stCondLst>
                                  <p:childTnLst>
                                    <p:set>
                                      <p:cBhvr>
                                        <p:cTn id="122" dur="1" fill="hold">
                                          <p:stCondLst>
                                            <p:cond delay="0"/>
                                          </p:stCondLst>
                                        </p:cTn>
                                        <p:tgtEl>
                                          <p:spTgt spid="18"/>
                                        </p:tgtEl>
                                        <p:attrNameLst>
                                          <p:attrName>style.visibility</p:attrName>
                                        </p:attrNameLst>
                                      </p:cBhvr>
                                      <p:to>
                                        <p:strVal val="visible"/>
                                      </p:to>
                                    </p:set>
                                    <p:animEffect transition="in" filter="fade">
                                      <p:cBhvr>
                                        <p:cTn id="123" dur="450"/>
                                        <p:tgtEl>
                                          <p:spTgt spid="18"/>
                                        </p:tgtEl>
                                      </p:cBhvr>
                                    </p:animEffect>
                                  </p:childTnLst>
                                </p:cTn>
                              </p:par>
                              <p:par>
                                <p:cTn id="124" presetID="10" presetClass="entr" presetSubtype="0" fill="hold" nodeType="withEffect">
                                  <p:stCondLst>
                                    <p:cond delay="520"/>
                                  </p:stCondLst>
                                  <p:childTnLst>
                                    <p:set>
                                      <p:cBhvr>
                                        <p:cTn id="125" dur="1" fill="hold">
                                          <p:stCondLst>
                                            <p:cond delay="0"/>
                                          </p:stCondLst>
                                        </p:cTn>
                                        <p:tgtEl>
                                          <p:spTgt spid="19"/>
                                        </p:tgtEl>
                                        <p:attrNameLst>
                                          <p:attrName>style.visibility</p:attrName>
                                        </p:attrNameLst>
                                      </p:cBhvr>
                                      <p:to>
                                        <p:strVal val="visible"/>
                                      </p:to>
                                    </p:set>
                                    <p:animEffect transition="in" filter="fade">
                                      <p:cBhvr>
                                        <p:cTn id="126" dur="450"/>
                                        <p:tgtEl>
                                          <p:spTgt spid="19"/>
                                        </p:tgtEl>
                                      </p:cBhvr>
                                    </p:animEffect>
                                  </p:childTnLst>
                                </p:cTn>
                              </p:par>
                              <p:par>
                                <p:cTn id="127" presetID="10" presetClass="entr" presetSubtype="0" fill="hold" nodeType="withEffect">
                                  <p:stCondLst>
                                    <p:cond delay="590"/>
                                  </p:stCondLst>
                                  <p:childTnLst>
                                    <p:set>
                                      <p:cBhvr>
                                        <p:cTn id="128" dur="1" fill="hold">
                                          <p:stCondLst>
                                            <p:cond delay="0"/>
                                          </p:stCondLst>
                                        </p:cTn>
                                        <p:tgtEl>
                                          <p:spTgt spid="20"/>
                                        </p:tgtEl>
                                        <p:attrNameLst>
                                          <p:attrName>style.visibility</p:attrName>
                                        </p:attrNameLst>
                                      </p:cBhvr>
                                      <p:to>
                                        <p:strVal val="visible"/>
                                      </p:to>
                                    </p:set>
                                    <p:animEffect transition="in" filter="fade">
                                      <p:cBhvr>
                                        <p:cTn id="129" dur="450"/>
                                        <p:tgtEl>
                                          <p:spTgt spid="20"/>
                                        </p:tgtEl>
                                      </p:cBhvr>
                                    </p:animEffect>
                                  </p:childTnLst>
                                </p:cTn>
                              </p:par>
                              <p:par>
                                <p:cTn id="130" presetID="22" presetClass="entr" presetSubtype="8" fill="hold" nodeType="withEffect">
                                  <p:stCondLst>
                                    <p:cond delay="590"/>
                                  </p:stCondLst>
                                  <p:childTnLst>
                                    <p:set>
                                      <p:cBhvr>
                                        <p:cTn id="131" dur="1" fill="hold">
                                          <p:stCondLst>
                                            <p:cond delay="0"/>
                                          </p:stCondLst>
                                        </p:cTn>
                                        <p:tgtEl>
                                          <p:spTgt spid="21"/>
                                        </p:tgtEl>
                                        <p:attrNameLst>
                                          <p:attrName>style.visibility</p:attrName>
                                        </p:attrNameLst>
                                      </p:cBhvr>
                                      <p:to>
                                        <p:strVal val="visible"/>
                                      </p:to>
                                    </p:set>
                                    <p:animEffect transition="in" filter="wipe(left)">
                                      <p:cBhvr>
                                        <p:cTn id="132" dur="500"/>
                                        <p:tgtEl>
                                          <p:spTgt spid="21"/>
                                        </p:tgtEl>
                                      </p:cBhvr>
                                    </p:animEffect>
                                  </p:childTnLst>
                                </p:cTn>
                              </p:par>
                              <p:par>
                                <p:cTn id="133" presetID="10" presetClass="entr" presetSubtype="0" fill="hold" nodeType="withEffect">
                                  <p:stCondLst>
                                    <p:cond delay="660"/>
                                  </p:stCondLst>
                                  <p:childTnLst>
                                    <p:set>
                                      <p:cBhvr>
                                        <p:cTn id="134" dur="1" fill="hold">
                                          <p:stCondLst>
                                            <p:cond delay="0"/>
                                          </p:stCondLst>
                                        </p:cTn>
                                        <p:tgtEl>
                                          <p:spTgt spid="22"/>
                                        </p:tgtEl>
                                        <p:attrNameLst>
                                          <p:attrName>style.visibility</p:attrName>
                                        </p:attrNameLst>
                                      </p:cBhvr>
                                      <p:to>
                                        <p:strVal val="visible"/>
                                      </p:to>
                                    </p:set>
                                    <p:animEffect transition="in" filter="fade">
                                      <p:cBhvr>
                                        <p:cTn id="135" dur="450"/>
                                        <p:tgtEl>
                                          <p:spTgt spid="22"/>
                                        </p:tgtEl>
                                      </p:cBhvr>
                                    </p:animEffect>
                                  </p:childTnLst>
                                </p:cTn>
                              </p:par>
                              <p:par>
                                <p:cTn id="136" presetID="10" presetClass="entr" presetSubtype="0" fill="hold" nodeType="withEffect">
                                  <p:stCondLst>
                                    <p:cond delay="730"/>
                                  </p:stCondLst>
                                  <p:childTnLst>
                                    <p:set>
                                      <p:cBhvr>
                                        <p:cTn id="137" dur="1" fill="hold">
                                          <p:stCondLst>
                                            <p:cond delay="0"/>
                                          </p:stCondLst>
                                        </p:cTn>
                                        <p:tgtEl>
                                          <p:spTgt spid="23"/>
                                        </p:tgtEl>
                                        <p:attrNameLst>
                                          <p:attrName>style.visibility</p:attrName>
                                        </p:attrNameLst>
                                      </p:cBhvr>
                                      <p:to>
                                        <p:strVal val="visible"/>
                                      </p:to>
                                    </p:set>
                                    <p:animEffect transition="in" filter="fade">
                                      <p:cBhvr>
                                        <p:cTn id="138" dur="450"/>
                                        <p:tgtEl>
                                          <p:spTgt spid="23"/>
                                        </p:tgtEl>
                                      </p:cBhvr>
                                    </p:animEffect>
                                  </p:childTnLst>
                                </p:cTn>
                              </p:par>
                              <p:par>
                                <p:cTn id="139" presetID="22" presetClass="entr" presetSubtype="8" fill="hold" nodeType="withEffect">
                                  <p:stCondLst>
                                    <p:cond delay="730"/>
                                  </p:stCondLst>
                                  <p:childTnLst>
                                    <p:set>
                                      <p:cBhvr>
                                        <p:cTn id="140" dur="1" fill="hold">
                                          <p:stCondLst>
                                            <p:cond delay="0"/>
                                          </p:stCondLst>
                                        </p:cTn>
                                        <p:tgtEl>
                                          <p:spTgt spid="24"/>
                                        </p:tgtEl>
                                        <p:attrNameLst>
                                          <p:attrName>style.visibility</p:attrName>
                                        </p:attrNameLst>
                                      </p:cBhvr>
                                      <p:to>
                                        <p:strVal val="visible"/>
                                      </p:to>
                                    </p:set>
                                    <p:animEffect transition="in" filter="wipe(left)">
                                      <p:cBhvr>
                                        <p:cTn id="141" dur="500"/>
                                        <p:tgtEl>
                                          <p:spTgt spid="24"/>
                                        </p:tgtEl>
                                      </p:cBhvr>
                                    </p:animEffect>
                                  </p:childTnLst>
                                </p:cTn>
                              </p:par>
                              <p:par>
                                <p:cTn id="142" presetID="10" presetClass="entr" presetSubtype="0" fill="hold" nodeType="withEffect">
                                  <p:stCondLst>
                                    <p:cond delay="800"/>
                                  </p:stCondLst>
                                  <p:childTnLst>
                                    <p:set>
                                      <p:cBhvr>
                                        <p:cTn id="143" dur="1" fill="hold">
                                          <p:stCondLst>
                                            <p:cond delay="0"/>
                                          </p:stCondLst>
                                        </p:cTn>
                                        <p:tgtEl>
                                          <p:spTgt spid="25"/>
                                        </p:tgtEl>
                                        <p:attrNameLst>
                                          <p:attrName>style.visibility</p:attrName>
                                        </p:attrNameLst>
                                      </p:cBhvr>
                                      <p:to>
                                        <p:strVal val="visible"/>
                                      </p:to>
                                    </p:set>
                                    <p:animEffect transition="in" filter="fade">
                                      <p:cBhvr>
                                        <p:cTn id="144" dur="450"/>
                                        <p:tgtEl>
                                          <p:spTgt spid="25"/>
                                        </p:tgtEl>
                                      </p:cBhvr>
                                    </p:animEffect>
                                  </p:childTnLst>
                                </p:cTn>
                              </p:par>
                              <p:par>
                                <p:cTn id="145" presetID="10" presetClass="entr" presetSubtype="0" fill="hold" nodeType="withEffect">
                                  <p:stCondLst>
                                    <p:cond delay="870"/>
                                  </p:stCondLst>
                                  <p:childTnLst>
                                    <p:set>
                                      <p:cBhvr>
                                        <p:cTn id="146" dur="1" fill="hold">
                                          <p:stCondLst>
                                            <p:cond delay="0"/>
                                          </p:stCondLst>
                                        </p:cTn>
                                        <p:tgtEl>
                                          <p:spTgt spid="26"/>
                                        </p:tgtEl>
                                        <p:attrNameLst>
                                          <p:attrName>style.visibility</p:attrName>
                                        </p:attrNameLst>
                                      </p:cBhvr>
                                      <p:to>
                                        <p:strVal val="visible"/>
                                      </p:to>
                                    </p:set>
                                    <p:animEffect transition="in" filter="fade">
                                      <p:cBhvr>
                                        <p:cTn id="147" dur="450"/>
                                        <p:tgtEl>
                                          <p:spTgt spid="26"/>
                                        </p:tgtEl>
                                      </p:cBhvr>
                                    </p:animEffect>
                                  </p:childTnLst>
                                </p:cTn>
                              </p:par>
                              <p:par>
                                <p:cTn id="148" presetID="22" presetClass="entr" presetSubtype="8" fill="hold" nodeType="withEffect">
                                  <p:stCondLst>
                                    <p:cond delay="870"/>
                                  </p:stCondLst>
                                  <p:childTnLst>
                                    <p:set>
                                      <p:cBhvr>
                                        <p:cTn id="149" dur="1" fill="hold">
                                          <p:stCondLst>
                                            <p:cond delay="0"/>
                                          </p:stCondLst>
                                        </p:cTn>
                                        <p:tgtEl>
                                          <p:spTgt spid="27"/>
                                        </p:tgtEl>
                                        <p:attrNameLst>
                                          <p:attrName>style.visibility</p:attrName>
                                        </p:attrNameLst>
                                      </p:cBhvr>
                                      <p:to>
                                        <p:strVal val="visible"/>
                                      </p:to>
                                    </p:set>
                                    <p:animEffect transition="in" filter="wipe(left)">
                                      <p:cBhvr>
                                        <p:cTn id="150" dur="500"/>
                                        <p:tgtEl>
                                          <p:spTgt spid="27"/>
                                        </p:tgtEl>
                                      </p:cBhvr>
                                    </p:animEffect>
                                  </p:childTnLst>
                                </p:cTn>
                              </p:par>
                              <p:par>
                                <p:cTn id="151" presetID="10" presetClass="entr" presetSubtype="0" fill="hold" nodeType="withEffect">
                                  <p:stCondLst>
                                    <p:cond delay="940"/>
                                  </p:stCondLst>
                                  <p:childTnLst>
                                    <p:set>
                                      <p:cBhvr>
                                        <p:cTn id="152" dur="1" fill="hold">
                                          <p:stCondLst>
                                            <p:cond delay="0"/>
                                          </p:stCondLst>
                                        </p:cTn>
                                        <p:tgtEl>
                                          <p:spTgt spid="28"/>
                                        </p:tgtEl>
                                        <p:attrNameLst>
                                          <p:attrName>style.visibility</p:attrName>
                                        </p:attrNameLst>
                                      </p:cBhvr>
                                      <p:to>
                                        <p:strVal val="visible"/>
                                      </p:to>
                                    </p:set>
                                    <p:animEffect transition="in" filter="fade">
                                      <p:cBhvr>
                                        <p:cTn id="153" dur="450"/>
                                        <p:tgtEl>
                                          <p:spTgt spid="28"/>
                                        </p:tgtEl>
                                      </p:cBhvr>
                                    </p:animEffect>
                                  </p:childTnLst>
                                </p:cTn>
                              </p:par>
                              <p:par>
                                <p:cTn id="154" presetID="10" presetClass="entr" presetSubtype="0" fill="hold" nodeType="withEffect">
                                  <p:stCondLst>
                                    <p:cond delay="1010"/>
                                  </p:stCondLst>
                                  <p:childTnLst>
                                    <p:set>
                                      <p:cBhvr>
                                        <p:cTn id="155" dur="1" fill="hold">
                                          <p:stCondLst>
                                            <p:cond delay="0"/>
                                          </p:stCondLst>
                                        </p:cTn>
                                        <p:tgtEl>
                                          <p:spTgt spid="29"/>
                                        </p:tgtEl>
                                        <p:attrNameLst>
                                          <p:attrName>style.visibility</p:attrName>
                                        </p:attrNameLst>
                                      </p:cBhvr>
                                      <p:to>
                                        <p:strVal val="visible"/>
                                      </p:to>
                                    </p:set>
                                    <p:animEffect transition="in" filter="fade">
                                      <p:cBhvr>
                                        <p:cTn id="156" dur="450"/>
                                        <p:tgtEl>
                                          <p:spTgt spid="29"/>
                                        </p:tgtEl>
                                      </p:cBhvr>
                                    </p:animEffect>
                                  </p:childTnLst>
                                </p:cTn>
                              </p:par>
                              <p:par>
                                <p:cTn id="157" presetID="22" presetClass="entr" presetSubtype="8" fill="hold" nodeType="withEffect">
                                  <p:stCondLst>
                                    <p:cond delay="1010"/>
                                  </p:stCondLst>
                                  <p:childTnLst>
                                    <p:set>
                                      <p:cBhvr>
                                        <p:cTn id="158" dur="1" fill="hold">
                                          <p:stCondLst>
                                            <p:cond delay="0"/>
                                          </p:stCondLst>
                                        </p:cTn>
                                        <p:tgtEl>
                                          <p:spTgt spid="30"/>
                                        </p:tgtEl>
                                        <p:attrNameLst>
                                          <p:attrName>style.visibility</p:attrName>
                                        </p:attrNameLst>
                                      </p:cBhvr>
                                      <p:to>
                                        <p:strVal val="visible"/>
                                      </p:to>
                                    </p:set>
                                    <p:animEffect transition="in" filter="wipe(left)">
                                      <p:cBhvr>
                                        <p:cTn id="159" dur="500"/>
                                        <p:tgtEl>
                                          <p:spTgt spid="30"/>
                                        </p:tgtEl>
                                      </p:cBhvr>
                                    </p:animEffect>
                                  </p:childTnLst>
                                </p:cTn>
                              </p:par>
                              <p:par>
                                <p:cTn id="160" presetID="22" presetClass="entr" presetSubtype="8" fill="hold" nodeType="withEffect">
                                  <p:stCondLst>
                                    <p:cond delay="1080"/>
                                  </p:stCondLst>
                                  <p:childTnLst>
                                    <p:set>
                                      <p:cBhvr>
                                        <p:cTn id="161" dur="1" fill="hold">
                                          <p:stCondLst>
                                            <p:cond delay="0"/>
                                          </p:stCondLst>
                                        </p:cTn>
                                        <p:tgtEl>
                                          <p:spTgt spid="31"/>
                                        </p:tgtEl>
                                        <p:attrNameLst>
                                          <p:attrName>style.visibility</p:attrName>
                                        </p:attrNameLst>
                                      </p:cBhvr>
                                      <p:to>
                                        <p:strVal val="visible"/>
                                      </p:to>
                                    </p:set>
                                    <p:animEffect transition="in" filter="wipe(left)">
                                      <p:cBhvr>
                                        <p:cTn id="162" dur="500"/>
                                        <p:tgtEl>
                                          <p:spTgt spid="31"/>
                                        </p:tgtEl>
                                      </p:cBhvr>
                                    </p:animEffect>
                                  </p:childTnLst>
                                </p:cTn>
                              </p:par>
                              <p:par>
                                <p:cTn id="163" presetID="22" presetClass="entr" presetSubtype="8" fill="hold" nodeType="withEffect">
                                  <p:stCondLst>
                                    <p:cond delay="1150"/>
                                  </p:stCondLst>
                                  <p:childTnLst>
                                    <p:set>
                                      <p:cBhvr>
                                        <p:cTn id="164" dur="1" fill="hold">
                                          <p:stCondLst>
                                            <p:cond delay="0"/>
                                          </p:stCondLst>
                                        </p:cTn>
                                        <p:tgtEl>
                                          <p:spTgt spid="32"/>
                                        </p:tgtEl>
                                        <p:attrNameLst>
                                          <p:attrName>style.visibility</p:attrName>
                                        </p:attrNameLst>
                                      </p:cBhvr>
                                      <p:to>
                                        <p:strVal val="visible"/>
                                      </p:to>
                                    </p:set>
                                    <p:animEffect transition="in" filter="wipe(left)">
                                      <p:cBhvr>
                                        <p:cTn id="165" dur="500"/>
                                        <p:tgtEl>
                                          <p:spTgt spid="32"/>
                                        </p:tgtEl>
                                      </p:cBhvr>
                                    </p:animEffect>
                                  </p:childTnLst>
                                </p:cTn>
                              </p:par>
                              <p:par>
                                <p:cTn id="166" presetID="10" presetClass="entr" presetSubtype="0" fill="hold" nodeType="withEffect">
                                  <p:stCondLst>
                                    <p:cond delay="1220"/>
                                  </p:stCondLst>
                                  <p:childTnLst>
                                    <p:set>
                                      <p:cBhvr>
                                        <p:cTn id="167" dur="1" fill="hold">
                                          <p:stCondLst>
                                            <p:cond delay="0"/>
                                          </p:stCondLst>
                                        </p:cTn>
                                        <p:tgtEl>
                                          <p:spTgt spid="33"/>
                                        </p:tgtEl>
                                        <p:attrNameLst>
                                          <p:attrName>style.visibility</p:attrName>
                                        </p:attrNameLst>
                                      </p:cBhvr>
                                      <p:to>
                                        <p:strVal val="visible"/>
                                      </p:to>
                                    </p:set>
                                    <p:animEffect transition="in" filter="fade">
                                      <p:cBhvr>
                                        <p:cTn id="168" dur="450"/>
                                        <p:tgtEl>
                                          <p:spTgt spid="33"/>
                                        </p:tgtEl>
                                      </p:cBhvr>
                                    </p:animEffect>
                                  </p:childTnLst>
                                </p:cTn>
                              </p:par>
                              <p:par>
                                <p:cTn id="169" presetID="22" presetClass="entr" presetSubtype="8" fill="hold" nodeType="withEffect">
                                  <p:stCondLst>
                                    <p:cond delay="1220"/>
                                  </p:stCondLst>
                                  <p:childTnLst>
                                    <p:set>
                                      <p:cBhvr>
                                        <p:cTn id="170" dur="1" fill="hold">
                                          <p:stCondLst>
                                            <p:cond delay="0"/>
                                          </p:stCondLst>
                                        </p:cTn>
                                        <p:tgtEl>
                                          <p:spTgt spid="34"/>
                                        </p:tgtEl>
                                        <p:attrNameLst>
                                          <p:attrName>style.visibility</p:attrName>
                                        </p:attrNameLst>
                                      </p:cBhvr>
                                      <p:to>
                                        <p:strVal val="visible"/>
                                      </p:to>
                                    </p:set>
                                    <p:animEffect transition="in" filter="wipe(left)">
                                      <p:cBhvr>
                                        <p:cTn id="171" dur="500"/>
                                        <p:tgtEl>
                                          <p:spTgt spid="34"/>
                                        </p:tgtEl>
                                      </p:cBhvr>
                                    </p:animEffect>
                                  </p:childTnLst>
                                </p:cTn>
                              </p:par>
                              <p:par>
                                <p:cTn id="172" presetID="22" presetClass="entr" presetSubtype="8" fill="hold" nodeType="withEffect">
                                  <p:stCondLst>
                                    <p:cond delay="1290"/>
                                  </p:stCondLst>
                                  <p:childTnLst>
                                    <p:set>
                                      <p:cBhvr>
                                        <p:cTn id="173" dur="1" fill="hold">
                                          <p:stCondLst>
                                            <p:cond delay="0"/>
                                          </p:stCondLst>
                                        </p:cTn>
                                        <p:tgtEl>
                                          <p:spTgt spid="35"/>
                                        </p:tgtEl>
                                        <p:attrNameLst>
                                          <p:attrName>style.visibility</p:attrName>
                                        </p:attrNameLst>
                                      </p:cBhvr>
                                      <p:to>
                                        <p:strVal val="visible"/>
                                      </p:to>
                                    </p:set>
                                    <p:animEffect transition="in" filter="wipe(left)">
                                      <p:cBhvr>
                                        <p:cTn id="174" dur="500"/>
                                        <p:tgtEl>
                                          <p:spTgt spid="35"/>
                                        </p:tgtEl>
                                      </p:cBhvr>
                                    </p:animEffect>
                                  </p:childTnLst>
                                </p:cTn>
                              </p:par>
                              <p:par>
                                <p:cTn id="175" presetID="10" presetClass="entr" presetSubtype="0" fill="hold" nodeType="withEffect">
                                  <p:stCondLst>
                                    <p:cond delay="1360"/>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450"/>
                                        <p:tgtEl>
                                          <p:spTgt spid="36"/>
                                        </p:tgtEl>
                                      </p:cBhvr>
                                    </p:animEffect>
                                  </p:childTnLst>
                                </p:cTn>
                              </p:par>
                              <p:par>
                                <p:cTn id="178" presetID="22" presetClass="entr" presetSubtype="8" fill="hold" nodeType="withEffect">
                                  <p:stCondLst>
                                    <p:cond delay="1360"/>
                                  </p:stCondLst>
                                  <p:childTnLst>
                                    <p:set>
                                      <p:cBhvr>
                                        <p:cTn id="179" dur="1" fill="hold">
                                          <p:stCondLst>
                                            <p:cond delay="0"/>
                                          </p:stCondLst>
                                        </p:cTn>
                                        <p:tgtEl>
                                          <p:spTgt spid="37"/>
                                        </p:tgtEl>
                                        <p:attrNameLst>
                                          <p:attrName>style.visibility</p:attrName>
                                        </p:attrNameLst>
                                      </p:cBhvr>
                                      <p:to>
                                        <p:strVal val="visible"/>
                                      </p:to>
                                    </p:set>
                                    <p:animEffect transition="in" filter="wipe(left)">
                                      <p:cBhvr>
                                        <p:cTn id="180" dur="500"/>
                                        <p:tgtEl>
                                          <p:spTgt spid="37"/>
                                        </p:tgtEl>
                                      </p:cBhvr>
                                    </p:animEffect>
                                  </p:childTnLst>
                                </p:cTn>
                              </p:par>
                              <p:par>
                                <p:cTn id="181" presetID="22" presetClass="entr" presetSubtype="8" fill="hold" nodeType="withEffect">
                                  <p:stCondLst>
                                    <p:cond delay="1430"/>
                                  </p:stCondLst>
                                  <p:childTnLst>
                                    <p:set>
                                      <p:cBhvr>
                                        <p:cTn id="182" dur="1" fill="hold">
                                          <p:stCondLst>
                                            <p:cond delay="0"/>
                                          </p:stCondLst>
                                        </p:cTn>
                                        <p:tgtEl>
                                          <p:spTgt spid="38"/>
                                        </p:tgtEl>
                                        <p:attrNameLst>
                                          <p:attrName>style.visibility</p:attrName>
                                        </p:attrNameLst>
                                      </p:cBhvr>
                                      <p:to>
                                        <p:strVal val="visible"/>
                                      </p:to>
                                    </p:set>
                                    <p:animEffect transition="in" filter="wipe(left)">
                                      <p:cBhvr>
                                        <p:cTn id="183" dur="500"/>
                                        <p:tgtEl>
                                          <p:spTgt spid="38"/>
                                        </p:tgtEl>
                                      </p:cBhvr>
                                    </p:animEffect>
                                  </p:childTnLst>
                                </p:cTn>
                              </p:par>
                              <p:par>
                                <p:cTn id="184" presetID="10" presetClass="entr" presetSubtype="0" fill="hold" nodeType="withEffect">
                                  <p:stCondLst>
                                    <p:cond delay="1480"/>
                                  </p:stCondLst>
                                  <p:childTnLst>
                                    <p:set>
                                      <p:cBhvr>
                                        <p:cTn id="185" dur="1" fill="hold">
                                          <p:stCondLst>
                                            <p:cond delay="0"/>
                                          </p:stCondLst>
                                        </p:cTn>
                                        <p:tgtEl>
                                          <p:spTgt spid="39"/>
                                        </p:tgtEl>
                                        <p:attrNameLst>
                                          <p:attrName>style.visibility</p:attrName>
                                        </p:attrNameLst>
                                      </p:cBhvr>
                                      <p:to>
                                        <p:strVal val="visible"/>
                                      </p:to>
                                    </p:set>
                                    <p:animEffect transition="in" filter="fade">
                                      <p:cBhvr>
                                        <p:cTn id="186" dur="450"/>
                                        <p:tgtEl>
                                          <p:spTgt spid="39"/>
                                        </p:tgtEl>
                                      </p:cBhvr>
                                    </p:animEffect>
                                  </p:childTnLst>
                                </p:cTn>
                              </p:par>
                              <p:par>
                                <p:cTn id="187" presetID="22" presetClass="entr" presetSubtype="8" fill="hold" nodeType="withEffect">
                                  <p:stCondLst>
                                    <p:cond delay="1480"/>
                                  </p:stCondLst>
                                  <p:childTnLst>
                                    <p:set>
                                      <p:cBhvr>
                                        <p:cTn id="188" dur="1" fill="hold">
                                          <p:stCondLst>
                                            <p:cond delay="0"/>
                                          </p:stCondLst>
                                        </p:cTn>
                                        <p:tgtEl>
                                          <p:spTgt spid="40"/>
                                        </p:tgtEl>
                                        <p:attrNameLst>
                                          <p:attrName>style.visibility</p:attrName>
                                        </p:attrNameLst>
                                      </p:cBhvr>
                                      <p:to>
                                        <p:strVal val="visible"/>
                                      </p:to>
                                    </p:set>
                                    <p:animEffect transition="in" filter="wipe(left)">
                                      <p:cBhvr>
                                        <p:cTn id="189" dur="500"/>
                                        <p:tgtEl>
                                          <p:spTgt spid="40"/>
                                        </p:tgtEl>
                                      </p:cBhvr>
                                    </p:animEffect>
                                  </p:childTnLst>
                                </p:cTn>
                              </p:par>
                              <p:par>
                                <p:cTn id="190" presetID="22" presetClass="entr" presetSubtype="8" fill="hold" nodeType="withEffect">
                                  <p:stCondLst>
                                    <p:cond delay="1480"/>
                                  </p:stCondLst>
                                  <p:childTnLst>
                                    <p:set>
                                      <p:cBhvr>
                                        <p:cTn id="191" dur="1" fill="hold">
                                          <p:stCondLst>
                                            <p:cond delay="0"/>
                                          </p:stCondLst>
                                        </p:cTn>
                                        <p:tgtEl>
                                          <p:spTgt spid="41"/>
                                        </p:tgtEl>
                                        <p:attrNameLst>
                                          <p:attrName>style.visibility</p:attrName>
                                        </p:attrNameLst>
                                      </p:cBhvr>
                                      <p:to>
                                        <p:strVal val="visible"/>
                                      </p:to>
                                    </p:set>
                                    <p:animEffect transition="in" filter="wipe(left)">
                                      <p:cBhvr>
                                        <p:cTn id="192" dur="500"/>
                                        <p:tgtEl>
                                          <p:spTgt spid="41"/>
                                        </p:tgtEl>
                                      </p:cBhvr>
                                    </p:animEffect>
                                  </p:childTnLst>
                                </p:cTn>
                              </p:par>
                              <p:par>
                                <p:cTn id="193" presetID="10" presetClass="entr" presetSubtype="0" fill="hold" nodeType="withEffect">
                                  <p:stCondLst>
                                    <p:cond delay="1480"/>
                                  </p:stCondLst>
                                  <p:childTnLst>
                                    <p:set>
                                      <p:cBhvr>
                                        <p:cTn id="194" dur="1" fill="hold">
                                          <p:stCondLst>
                                            <p:cond delay="0"/>
                                          </p:stCondLst>
                                        </p:cTn>
                                        <p:tgtEl>
                                          <p:spTgt spid="42"/>
                                        </p:tgtEl>
                                        <p:attrNameLst>
                                          <p:attrName>style.visibility</p:attrName>
                                        </p:attrNameLst>
                                      </p:cBhvr>
                                      <p:to>
                                        <p:strVal val="visible"/>
                                      </p:to>
                                    </p:set>
                                    <p:animEffect transition="in" filter="fade">
                                      <p:cBhvr>
                                        <p:cTn id="195" dur="450"/>
                                        <p:tgtEl>
                                          <p:spTgt spid="42"/>
                                        </p:tgtEl>
                                      </p:cBhvr>
                                    </p:animEffect>
                                  </p:childTnLst>
                                </p:cTn>
                              </p:par>
                              <p:par>
                                <p:cTn id="196" presetID="22" presetClass="entr" presetSubtype="8" fill="hold" nodeType="withEffect">
                                  <p:stCondLst>
                                    <p:cond delay="1480"/>
                                  </p:stCondLst>
                                  <p:childTnLst>
                                    <p:set>
                                      <p:cBhvr>
                                        <p:cTn id="197" dur="1" fill="hold">
                                          <p:stCondLst>
                                            <p:cond delay="0"/>
                                          </p:stCondLst>
                                        </p:cTn>
                                        <p:tgtEl>
                                          <p:spTgt spid="43"/>
                                        </p:tgtEl>
                                        <p:attrNameLst>
                                          <p:attrName>style.visibility</p:attrName>
                                        </p:attrNameLst>
                                      </p:cBhvr>
                                      <p:to>
                                        <p:strVal val="visible"/>
                                      </p:to>
                                    </p:set>
                                    <p:animEffect transition="in" filter="wipe(left)">
                                      <p:cBhvr>
                                        <p:cTn id="198" dur="500"/>
                                        <p:tgtEl>
                                          <p:spTgt spid="43"/>
                                        </p:tgtEl>
                                      </p:cBhvr>
                                    </p:animEffect>
                                  </p:childTnLst>
                                </p:cTn>
                              </p:par>
                              <p:par>
                                <p:cTn id="199" presetID="22" presetClass="entr" presetSubtype="8" fill="hold" nodeType="withEffect">
                                  <p:stCondLst>
                                    <p:cond delay="1480"/>
                                  </p:stCondLst>
                                  <p:childTnLst>
                                    <p:set>
                                      <p:cBhvr>
                                        <p:cTn id="200" dur="1" fill="hold">
                                          <p:stCondLst>
                                            <p:cond delay="0"/>
                                          </p:stCondLst>
                                        </p:cTn>
                                        <p:tgtEl>
                                          <p:spTgt spid="44"/>
                                        </p:tgtEl>
                                        <p:attrNameLst>
                                          <p:attrName>style.visibility</p:attrName>
                                        </p:attrNameLst>
                                      </p:cBhvr>
                                      <p:to>
                                        <p:strVal val="visible"/>
                                      </p:to>
                                    </p:set>
                                    <p:animEffect transition="in" filter="wipe(left)">
                                      <p:cBhvr>
                                        <p:cTn id="201" dur="500"/>
                                        <p:tgtEl>
                                          <p:spTgt spid="44"/>
                                        </p:tgtEl>
                                      </p:cBhvr>
                                    </p:animEffect>
                                  </p:childTnLst>
                                </p:cTn>
                              </p:par>
                              <p:par>
                                <p:cTn id="202" presetID="10" presetClass="entr" presetSubtype="0" fill="hold" nodeType="withEffect">
                                  <p:stCondLst>
                                    <p:cond delay="580"/>
                                  </p:stCondLst>
                                  <p:childTnLst>
                                    <p:set>
                                      <p:cBhvr>
                                        <p:cTn id="203" dur="1" fill="hold">
                                          <p:stCondLst>
                                            <p:cond delay="0"/>
                                          </p:stCondLst>
                                        </p:cTn>
                                        <p:tgtEl>
                                          <p:spTgt spid="45"/>
                                        </p:tgtEl>
                                        <p:attrNameLst>
                                          <p:attrName>style.visibility</p:attrName>
                                        </p:attrNameLst>
                                      </p:cBhvr>
                                      <p:to>
                                        <p:strVal val="visible"/>
                                      </p:to>
                                    </p:set>
                                    <p:animEffect transition="in" filter="fade">
                                      <p:cBhvr>
                                        <p:cTn id="204" dur="4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Hay dos familias de ensayos; los de penetración son directos pero puntuales</a:t>
            </a:r>
            <a:endParaRPr lang="en-US" sz="2200" dirty="0"/>
          </a:p>
        </p:txBody>
      </p:sp>
      <p:sp>
        <p:nvSpPr>
          <p:cNvPr id="3" name="Obj [o4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Hay dos formas de medir el terreno: por su resistencia o por cómo transmite ondas</a:t>
            </a:r>
            <a:endParaRPr lang="en-US" sz="1400" dirty="0"/>
          </a:p>
        </p:txBody>
      </p:sp>
      <p:sp>
        <p:nvSpPr>
          <p:cNvPr id="4" name="Obj [o45]"/>
          <p:cNvSpPr/>
          <p:nvPr/>
        </p:nvSpPr>
        <p:spPr>
          <a:xfrm>
            <a:off x="2360403" y="1561458"/>
            <a:ext cx="1522476" cy="681108"/>
          </a:xfrm>
          <a:prstGeom prst="rect">
            <a:avLst/>
          </a:prstGeom>
          <a:solidFill>
            <a:srgbClr val="1F4E79"/>
          </a:solidFill>
          <a:ln w="11129">
            <a:solidFill>
              <a:srgbClr val="1F4E79"/>
            </a:solidFill>
            <a:prstDash val="solid"/>
          </a:ln>
        </p:spPr>
      </p:sp>
      <p:sp>
        <p:nvSpPr>
          <p:cNvPr id="5" name="Obj [o46]"/>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6" name="Obj [o47]"/>
          <p:cNvSpPr/>
          <p:nvPr/>
        </p:nvSpPr>
        <p:spPr>
          <a:xfrm>
            <a:off x="3914931" y="1561458"/>
            <a:ext cx="1522476" cy="681108"/>
          </a:xfrm>
          <a:prstGeom prst="rect">
            <a:avLst/>
          </a:prstGeom>
          <a:solidFill>
            <a:srgbClr val="1F4E79"/>
          </a:solidFill>
          <a:ln w="11129">
            <a:solidFill>
              <a:srgbClr val="1F4E79"/>
            </a:solidFill>
            <a:prstDash val="solid"/>
          </a:ln>
        </p:spPr>
      </p:sp>
      <p:sp>
        <p:nvSpPr>
          <p:cNvPr id="7" name="Obj [o48]"/>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8" name="Obj [o49]"/>
          <p:cNvSpPr/>
          <p:nvPr/>
        </p:nvSpPr>
        <p:spPr>
          <a:xfrm>
            <a:off x="966136" y="2274618"/>
            <a:ext cx="1362215" cy="761238"/>
          </a:xfrm>
          <a:prstGeom prst="rect">
            <a:avLst/>
          </a:prstGeom>
          <a:solidFill>
            <a:srgbClr val="2E75B6"/>
          </a:solidFill>
          <a:ln w="11129">
            <a:solidFill>
              <a:srgbClr val="2E75B6"/>
            </a:solidFill>
            <a:prstDash val="solid"/>
          </a:ln>
        </p:spPr>
      </p:sp>
      <p:sp>
        <p:nvSpPr>
          <p:cNvPr id="9" name="Obj [o50]"/>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10" name="Obj [o51]"/>
          <p:cNvSpPr/>
          <p:nvPr/>
        </p:nvSpPr>
        <p:spPr>
          <a:xfrm>
            <a:off x="966136" y="3067908"/>
            <a:ext cx="1362215" cy="1322150"/>
          </a:xfrm>
          <a:prstGeom prst="rect">
            <a:avLst/>
          </a:prstGeom>
          <a:solidFill>
            <a:srgbClr val="2E75B6"/>
          </a:solidFill>
          <a:ln w="11129">
            <a:solidFill>
              <a:srgbClr val="2E75B6"/>
            </a:solidFill>
            <a:prstDash val="solid"/>
          </a:ln>
        </p:spPr>
      </p:sp>
      <p:sp>
        <p:nvSpPr>
          <p:cNvPr id="11" name="Obj [o52]"/>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12" name="Obj [o53]"/>
          <p:cNvSpPr/>
          <p:nvPr/>
        </p:nvSpPr>
        <p:spPr>
          <a:xfrm>
            <a:off x="2360403" y="2274618"/>
            <a:ext cx="1522476" cy="761238"/>
          </a:xfrm>
          <a:prstGeom prst="rect">
            <a:avLst/>
          </a:prstGeom>
          <a:solidFill>
            <a:srgbClr val="FFFFFF"/>
          </a:solidFill>
          <a:ln w="11129">
            <a:solidFill>
              <a:srgbClr val="6B6B6B"/>
            </a:solidFill>
            <a:prstDash val="solid"/>
          </a:ln>
        </p:spPr>
      </p:sp>
      <p:sp>
        <p:nvSpPr>
          <p:cNvPr id="13" name="Obj [o54]"/>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SPT</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CPT / CPTu</a:t>
            </a:r>
            <a:endParaRPr lang="en-US" sz="1440" dirty="0"/>
          </a:p>
        </p:txBody>
      </p:sp>
      <p:sp>
        <p:nvSpPr>
          <p:cNvPr id="14" name="Obj [o55]"/>
          <p:cNvSpPr/>
          <p:nvPr/>
        </p:nvSpPr>
        <p:spPr>
          <a:xfrm>
            <a:off x="3914931" y="2274618"/>
            <a:ext cx="1522476" cy="761238"/>
          </a:xfrm>
          <a:prstGeom prst="rect">
            <a:avLst/>
          </a:prstGeom>
          <a:solidFill>
            <a:srgbClr val="FFFFFF"/>
          </a:solidFill>
          <a:ln w="11129">
            <a:solidFill>
              <a:srgbClr val="6B6B6B"/>
            </a:solidFill>
            <a:prstDash val="solid"/>
          </a:ln>
        </p:spPr>
      </p:sp>
      <p:sp>
        <p:nvSpPr>
          <p:cNvPr id="15" name="Obj [o56]"/>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16" name="Obj [o57]"/>
          <p:cNvSpPr/>
          <p:nvPr/>
        </p:nvSpPr>
        <p:spPr>
          <a:xfrm>
            <a:off x="2360403" y="3067908"/>
            <a:ext cx="1522476" cy="1322150"/>
          </a:xfrm>
          <a:prstGeom prst="rect">
            <a:avLst/>
          </a:prstGeom>
          <a:solidFill>
            <a:srgbClr val="FFFFFF"/>
          </a:solidFill>
          <a:ln w="11129">
            <a:solidFill>
              <a:srgbClr val="6B6B6B"/>
            </a:solidFill>
            <a:prstDash val="solid"/>
          </a:ln>
        </p:spPr>
      </p:sp>
      <p:sp>
        <p:nvSpPr>
          <p:cNvPr id="17" name="Obj [o58]"/>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Downhole</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Crosshole</a:t>
            </a:r>
            <a:endParaRPr lang="en-US" sz="1440" dirty="0"/>
          </a:p>
        </p:txBody>
      </p:sp>
      <p:sp>
        <p:nvSpPr>
          <p:cNvPr id="18" name="Obj [o59]"/>
          <p:cNvSpPr/>
          <p:nvPr/>
        </p:nvSpPr>
        <p:spPr>
          <a:xfrm>
            <a:off x="3914931" y="3067908"/>
            <a:ext cx="1522476" cy="1322150"/>
          </a:xfrm>
          <a:prstGeom prst="rect">
            <a:avLst/>
          </a:prstGeom>
          <a:solidFill>
            <a:srgbClr val="FFFFFF"/>
          </a:solidFill>
          <a:ln w="33388">
            <a:solidFill>
              <a:srgbClr val="C55A11"/>
            </a:solidFill>
            <a:prstDash val="solid"/>
          </a:ln>
        </p:spPr>
      </p:sp>
      <p:sp>
        <p:nvSpPr>
          <p:cNvPr id="19" name="Obj [o60]"/>
          <p:cNvSpPr txBox="1"/>
          <p:nvPr/>
        </p:nvSpPr>
        <p:spPr>
          <a:xfrm>
            <a:off x="3914931"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Refracción</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Reflexión</a:t>
            </a:r>
            <a:endParaRPr lang="en-US" sz="1440" dirty="0"/>
          </a:p>
          <a:p>
            <a:pPr algn="ctr" indent="0" marL="0">
              <a:buNone/>
            </a:pPr>
            <a:r>
              <a:rPr lang="en-US" sz="1440" b="1" dirty="0">
                <a:solidFill>
                  <a:srgbClr val="C55A11"/>
                </a:solidFill>
                <a:latin typeface="Arial" pitchFamily="34" charset="0"/>
                <a:ea typeface="Arial" pitchFamily="34" charset="-122"/>
                <a:cs typeface="Arial" pitchFamily="34" charset="-120"/>
              </a:rPr>
              <a:t>Ondas superficiales</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Love, Rayleigh</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SASW / MASW</a:t>
            </a:r>
            <a:endParaRPr lang="en-US" sz="1440" dirty="0"/>
          </a:p>
        </p:txBody>
      </p:sp>
      <p:sp>
        <p:nvSpPr>
          <p:cNvPr id="20" name="Obj [o61]"/>
          <p:cNvSpPr txBox="1"/>
          <p:nvPr/>
        </p:nvSpPr>
        <p:spPr>
          <a:xfrm>
            <a:off x="5733890" y="1641589"/>
            <a:ext cx="2443975" cy="2724431"/>
          </a:xfrm>
          <a:prstGeom prst="rect">
            <a:avLst/>
          </a:prstGeom>
          <a:noFill/>
          <a:ln/>
        </p:spPr>
        <p:txBody>
          <a:bodyPr wrap="square" lIns="0" tIns="0" rIns="0" bIns="0" rtlCol="0" anchor="t"/>
          <a:lstStyle/>
          <a:p>
            <a:pPr marL="342900" indent="-342900">
              <a:spcAft>
                <a:spcPts val="1260"/>
              </a:spcAft>
              <a:buSzPct val="100000"/>
              <a:buChar char="•"/>
            </a:pPr>
            <a:r>
              <a:rPr lang="en-US" sz="1620" dirty="0">
                <a:solidFill>
                  <a:srgbClr val="2D2D2D"/>
                </a:solidFill>
                <a:latin typeface="Arial" pitchFamily="34" charset="0"/>
                <a:ea typeface="Arial" pitchFamily="34" charset="-122"/>
                <a:cs typeface="Arial" pitchFamily="34" charset="-120"/>
              </a:rPr>
              <a:t>Resistencia: miden cuánto cuesta penetrar el terreno</a:t>
            </a:r>
            <a:endParaRPr lang="en-US" sz="1620" dirty="0"/>
          </a:p>
          <a:p>
            <a:pPr marL="342900" indent="-342900">
              <a:spcAft>
                <a:spcPts val="1260"/>
              </a:spcAft>
              <a:buSzPct val="100000"/>
              <a:buChar char="•"/>
            </a:pPr>
            <a:r>
              <a:rPr lang="en-US" sz="162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620" dirty="0"/>
          </a:p>
        </p:txBody>
      </p:sp>
      <p:sp>
        <p:nvSpPr>
          <p:cNvPr id="21" name="Obj [o6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22" name="Obj [o6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SPT: se cuentan los golpes necesarios para hincar una cuchara en el suelo</a:t>
            </a:r>
            <a:endParaRPr lang="en-US" sz="1400" dirty="0"/>
          </a:p>
        </p:txBody>
      </p:sp>
      <p:pic>
        <p:nvPicPr>
          <p:cNvPr id="23" name="Obj [o64]" descr="Ensayo SPT: martillo, barras, cuchara partida y tres tramos de avance">    </p:cNvPr>
          <p:cNvPicPr>
            <a:picLocks noChangeAspect="1"/>
          </p:cNvPicPr>
          <p:nvPr/>
        </p:nvPicPr>
        <p:blipFill>
          <a:blip r:embed="rId1"/>
          <a:stretch>
            <a:fillRect/>
          </a:stretch>
        </p:blipFill>
        <p:spPr>
          <a:xfrm>
            <a:off x="966136" y="1601523"/>
            <a:ext cx="3846255" cy="2884691"/>
          </a:xfrm>
          <a:prstGeom prst="rect">
            <a:avLst/>
          </a:prstGeom>
        </p:spPr>
      </p:pic>
      <p:sp>
        <p:nvSpPr>
          <p:cNvPr id="24" name="Obj [o65]"/>
          <p:cNvSpPr txBox="1"/>
          <p:nvPr/>
        </p:nvSpPr>
        <p:spPr>
          <a:xfrm>
            <a:off x="5052782" y="1721719"/>
            <a:ext cx="3125082" cy="2564170"/>
          </a:xfrm>
          <a:prstGeom prst="rect">
            <a:avLst/>
          </a:prstGeom>
          <a:noFill/>
          <a:ln/>
        </p:spPr>
        <p:txBody>
          <a:bodyPr wrap="square" lIns="0" tIns="0" rIns="0" bIns="0" rtlCol="0" anchor="t"/>
          <a:lstStyle/>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Un martillo normalizado golpea una cuchara partida</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N: golpes para penetrar 0,304 m (N2 + N3)</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Además recupera una muestra alterada</a:t>
            </a:r>
            <a:endParaRPr lang="en-US" sz="1800" dirty="0"/>
          </a:p>
        </p:txBody>
      </p:sp>
      <p:sp>
        <p:nvSpPr>
          <p:cNvPr id="25" name="Obj [o6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Procedimiento según la norma ASTM D1586.</a:t>
            </a:r>
            <a:endParaRPr lang="en-US" sz="800" dirty="0"/>
          </a:p>
        </p:txBody>
      </p:sp>
      <p:sp>
        <p:nvSpPr>
          <p:cNvPr id="26" name="Obj [o6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CPT/CPTu: un cono se hinca a velocidad constante y mide mientras avanza</a:t>
            </a:r>
            <a:endParaRPr lang="en-US" sz="1400" dirty="0"/>
          </a:p>
        </p:txBody>
      </p:sp>
      <p:pic>
        <p:nvPicPr>
          <p:cNvPr id="27" name="Obj [o68]" descr="Piezocono: punta, manguito de fricción y presión de poros; camión de ensayo y perfil registrado">    </p:cNvPr>
          <p:cNvPicPr>
            <a:picLocks noChangeAspect="1"/>
          </p:cNvPicPr>
          <p:nvPr/>
        </p:nvPicPr>
        <p:blipFill>
          <a:blip r:embed="rId2"/>
          <a:stretch>
            <a:fillRect/>
          </a:stretch>
        </p:blipFill>
        <p:spPr>
          <a:xfrm>
            <a:off x="441794" y="1481328"/>
            <a:ext cx="2775516" cy="3003357"/>
          </a:xfrm>
          <a:prstGeom prst="rect">
            <a:avLst/>
          </a:prstGeom>
        </p:spPr>
      </p:pic>
      <p:sp>
        <p:nvSpPr>
          <p:cNvPr id="28" name="Obj [o69]"/>
          <p:cNvSpPr txBox="1"/>
          <p:nvPr/>
        </p:nvSpPr>
        <p:spPr>
          <a:xfrm>
            <a:off x="3483168" y="1633397"/>
            <a:ext cx="3801717" cy="2281030"/>
          </a:xfrm>
          <a:prstGeom prst="rect">
            <a:avLst/>
          </a:prstGeom>
          <a:noFill/>
          <a:ln/>
        </p:spPr>
        <p:txBody>
          <a:bodyPr wrap="square" lIns="0" tIns="0" rIns="0" bIns="0" rtlCol="0" anchor="t"/>
          <a:lstStyle/>
          <a:p>
            <a:pPr marL="342900" indent="-342900">
              <a:spcAft>
                <a:spcPts val="863"/>
              </a:spcAft>
              <a:buSzPct val="100000"/>
              <a:buChar char="•"/>
            </a:pPr>
            <a:r>
              <a:rPr lang="en-US" sz="1726" dirty="0">
                <a:solidFill>
                  <a:srgbClr val="2D2D2D"/>
                </a:solidFill>
                <a:latin typeface="Arial" pitchFamily="34" charset="0"/>
                <a:ea typeface="Arial" pitchFamily="34" charset="-122"/>
                <a:cs typeface="Arial" pitchFamily="34" charset="-120"/>
              </a:rPr>
              <a:t>Se hinca a unos 2 cm/s</a:t>
            </a:r>
            <a:endParaRPr lang="en-US" sz="1726" dirty="0"/>
          </a:p>
          <a:p>
            <a:pPr marL="342900" indent="-342900">
              <a:spcAft>
                <a:spcPts val="863"/>
              </a:spcAft>
              <a:buSzPct val="100000"/>
              <a:buChar char="•"/>
            </a:pPr>
            <a:r>
              <a:rPr lang="en-US" sz="1726" dirty="0">
                <a:solidFill>
                  <a:srgbClr val="2D2D2D"/>
                </a:solidFill>
                <a:latin typeface="Arial" pitchFamily="34" charset="0"/>
                <a:ea typeface="Arial" pitchFamily="34" charset="-122"/>
                <a:cs typeface="Arial" pitchFamily="34" charset="-120"/>
              </a:rPr>
              <a:t>Mide resistencia de punta (qc) y fricción lateral (</a:t>
            </a:r>
            <mc:AlternateContent xmlns:mc="http://schemas.openxmlformats.org/markup-compatibility/2006">
              <mc:Choice xmlns:a14="http://schemas.microsoft.com/office/drawing/2010/main" Requires="a14">
                <a14:m>
                  <m:oMath xmlns:m="http://schemas.openxmlformats.org/officeDocument/2006/math">
                    <m:sSub>
                      <m:sSubPr>
                        <m:ctrlPr>
                          <a:rPr lang="es-ES" sz="1726" i="1">
                            <a:latin typeface="Cambria Math" panose="02040503050406030204" pitchFamily="18" charset="0"/>
                          </a:rPr>
                        </m:ctrlPr>
                      </m:sSubPr>
                      <m:e>
                        <m:r>
                          <a:rPr lang="es-ES" sz="1726" i="1">
                            <a:solidFill>
                              <a:srgbClr val="2D2D2D"/>
                            </a:solidFill>
                            <a:latin typeface="Cambria Math" panose="02040503050406030204" pitchFamily="18" charset="0"/>
                          </a:rPr>
                          <m:t xml:space="preserve">f</m:t>
                        </m:r>
                      </m:e>
                      <m:sub>
                        <m:r>
                          <a:rPr lang="es-ES" sz="1726" i="1">
                            <a:solidFill>
                              <a:srgbClr val="2D2D2D"/>
                            </a:solidFill>
                            <a:latin typeface="Cambria Math" panose="02040503050406030204" pitchFamily="18" charset="0"/>
                          </a:rPr>
                          <m:t xml:space="preserve">s</m:t>
                        </m:r>
                      </m:sub>
                    </m:sSub>
                  </m:oMath>
                </a14:m>
              </mc:Choice>
              <mc:Fallback>
                <a:r>
                  <a:rPr lang="en-US" sz="1726" dirty="0">
                    <a:solidFill>
                      <a:srgbClr val="2D2D2D"/>
                    </a:solidFill>
                    <a:latin typeface="Arial" pitchFamily="34" charset="0"/>
                    <a:ea typeface="Arial" pitchFamily="34" charset="-122"/>
                    <a:cs typeface="Arial" pitchFamily="34" charset="-120"/>
                  </a:rPr>
                  <a:t>fs</a:t>
                </a:r>
              </mc:Fallback>
            </mc:AlternateContent>
            <a:r>
              <a:rPr lang="en-US" sz="1726" dirty="0">
                <a:solidFill>
                  <a:srgbClr val="2D2D2D"/>
                </a:solidFill>
                <a:latin typeface="Arial" pitchFamily="34" charset="0"/>
                <a:ea typeface="Arial" pitchFamily="34" charset="-122"/>
                <a:cs typeface="Arial" pitchFamily="34" charset="-120"/>
              </a:rPr>
              <a:t>)</a:t>
            </a:r>
            <a:endParaRPr lang="en-US" sz="1726" dirty="0"/>
          </a:p>
          <a:p>
            <a:pPr marL="342900" indent="-342900">
              <a:spcAft>
                <a:spcPts val="863"/>
              </a:spcAft>
              <a:buSzPct val="100000"/>
              <a:buChar char="•"/>
            </a:pPr>
            <a:r>
              <a:rPr lang="en-US" sz="1726" dirty="0">
                <a:solidFill>
                  <a:srgbClr val="2D2D2D"/>
                </a:solidFill>
                <a:latin typeface="Arial" pitchFamily="34" charset="0"/>
                <a:ea typeface="Arial" pitchFamily="34" charset="-122"/>
                <a:cs typeface="Arial" pitchFamily="34" charset="-120"/>
              </a:rPr>
              <a:t>El CPTu agrega la presión de poros (u₂)</a:t>
            </a:r>
            <a:endParaRPr lang="en-US" sz="1726" dirty="0"/>
          </a:p>
          <a:p>
            <a:pPr marL="342900" indent="-342900">
              <a:spcAft>
                <a:spcPts val="863"/>
              </a:spcAft>
              <a:buSzPct val="100000"/>
              <a:buChar char="•"/>
            </a:pPr>
            <a:r>
              <a:rPr lang="en-US" sz="1726" dirty="0">
                <a:solidFill>
                  <a:srgbClr val="2D2D2D"/>
                </a:solidFill>
                <a:latin typeface="Arial" pitchFamily="34" charset="0"/>
                <a:ea typeface="Arial" pitchFamily="34" charset="-122"/>
                <a:cs typeface="Arial" pitchFamily="34" charset="-120"/>
              </a:rPr>
              <a:t>Entrega un perfil continuo con la profundidad</a:t>
            </a:r>
            <a:endParaRPr lang="en-US" sz="1726" dirty="0"/>
          </a:p>
        </p:txBody>
      </p:sp>
      <p:sp>
        <p:nvSpPr>
          <p:cNvPr id="29" name="Obj [o7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Putt et al. (2022), Front. Environ. Sci. 9:821882, fig. 1 (CC BY), traducida.</a:t>
            </a:r>
            <a:endParaRPr lang="en-US" sz="800" dirty="0"/>
          </a:p>
        </p:txBody>
      </p:sp>
      <p:sp>
        <p:nvSpPr>
          <p:cNvPr id="30" name="Obj [o7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Ventajas: resistencia medida directamente y con mucha experiencia acumulada</a:t>
            </a:r>
            <a:endParaRPr lang="en-US" sz="1400" dirty="0"/>
          </a:p>
        </p:txBody>
      </p:sp>
      <p:sp>
        <p:nvSpPr>
          <p:cNvPr id="31" name="Obj [o72]"/>
          <p:cNvSpPr txBox="1"/>
          <p:nvPr/>
        </p:nvSpPr>
        <p:spPr>
          <a:xfrm>
            <a:off x="2809133" y="1561458"/>
            <a:ext cx="1602606" cy="1262052"/>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SPT</a:t>
            </a:r>
            <a:endParaRPr lang="en-US" sz="1800" dirty="0"/>
          </a:p>
        </p:txBody>
      </p:sp>
      <p:sp>
        <p:nvSpPr>
          <p:cNvPr id="32" name="Obj [o73]"/>
          <p:cNvSpPr txBox="1"/>
          <p:nvPr/>
        </p:nvSpPr>
        <p:spPr>
          <a:xfrm>
            <a:off x="966136" y="2983771"/>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Equipo simple y muy difundido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Recupera una muestra para clasificar</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Amplia base de correlaciones</a:t>
            </a:r>
            <a:endParaRPr lang="en-US" sz="1620" dirty="0"/>
          </a:p>
        </p:txBody>
      </p:sp>
      <p:sp>
        <p:nvSpPr>
          <p:cNvPr id="33" name="Obj [o74]"/>
          <p:cNvSpPr txBox="1"/>
          <p:nvPr/>
        </p:nvSpPr>
        <p:spPr>
          <a:xfrm>
            <a:off x="6054411" y="1561458"/>
            <a:ext cx="2123453" cy="1258046"/>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CPT / CPTu</a:t>
            </a:r>
            <a:endParaRPr lang="en-US" sz="1800" dirty="0"/>
          </a:p>
        </p:txBody>
      </p:sp>
      <p:sp>
        <p:nvSpPr>
          <p:cNvPr id="34" name="Obj [o75]"/>
          <p:cNvSpPr txBox="1"/>
          <p:nvPr/>
        </p:nvSpPr>
        <p:spPr>
          <a:xfrm>
            <a:off x="4732261" y="2979765"/>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Perfil continuo, rápido y repetible</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No requiere perforación previa</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La presión de poros ayuda a distinguir el suelo</a:t>
            </a:r>
            <a:endParaRPr lang="en-US" sz="1620" dirty="0"/>
          </a:p>
        </p:txBody>
      </p:sp>
      <p:sp>
        <p:nvSpPr>
          <p:cNvPr id="35" name="Obj [o7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CPT: Putt et al. (2022).</a:t>
            </a:r>
            <a:endParaRPr lang="en-US" sz="800" dirty="0"/>
          </a:p>
        </p:txBody>
      </p:sp>
      <p:sp>
        <p:nvSpPr>
          <p:cNvPr id="36" name="Obj [o7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Limitaciones: puntuales, invasivos y sin medir la rigidez de forma directa</a:t>
            </a:r>
            <a:endParaRPr lang="en-US" sz="1400" dirty="0"/>
          </a:p>
        </p:txBody>
      </p:sp>
      <p:sp>
        <p:nvSpPr>
          <p:cNvPr id="37" name="Obj [o78]"/>
          <p:cNvSpPr txBox="1"/>
          <p:nvPr/>
        </p:nvSpPr>
        <p:spPr>
          <a:xfrm>
            <a:off x="2809133" y="1561458"/>
            <a:ext cx="1602606" cy="1262052"/>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SPT</a:t>
            </a:r>
            <a:endParaRPr lang="en-US" sz="1800" dirty="0"/>
          </a:p>
        </p:txBody>
      </p:sp>
      <p:sp>
        <p:nvSpPr>
          <p:cNvPr id="38" name="Obj [o79]"/>
          <p:cNvSpPr txBox="1"/>
          <p:nvPr/>
        </p:nvSpPr>
        <p:spPr>
          <a:xfrm>
            <a:off x="966136" y="2983771"/>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Un dato por profundidad, no un perfil continuo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Depende de la energía del martillo y del operador</a:t>
            </a:r>
            <a:endParaRPr lang="en-US" sz="1620" dirty="0"/>
          </a:p>
        </p:txBody>
      </p:sp>
      <p:sp>
        <p:nvSpPr>
          <p:cNvPr id="39" name="Obj [o80]"/>
          <p:cNvSpPr txBox="1"/>
          <p:nvPr/>
        </p:nvSpPr>
        <p:spPr>
          <a:xfrm>
            <a:off x="6054411" y="1561458"/>
            <a:ext cx="2123453" cy="1258046"/>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CPT / CPTu</a:t>
            </a:r>
            <a:endParaRPr lang="en-US" sz="1800" dirty="0"/>
          </a:p>
        </p:txBody>
      </p:sp>
      <p:sp>
        <p:nvSpPr>
          <p:cNvPr id="40" name="Obj [o81]"/>
          <p:cNvSpPr txBox="1"/>
          <p:nvPr/>
        </p:nvSpPr>
        <p:spPr>
          <a:xfrm>
            <a:off x="4732261" y="2979765"/>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No recupera muestra</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No atraviesa gravas ni suelos muy duros</a:t>
            </a:r>
            <a:endParaRPr lang="en-US" sz="1620" dirty="0"/>
          </a:p>
        </p:txBody>
      </p:sp>
      <p:sp>
        <p:nvSpPr>
          <p:cNvPr id="41" name="Obj [o82]"/>
          <p:cNvSpPr txBox="1"/>
          <p:nvPr/>
        </p:nvSpPr>
        <p:spPr>
          <a:xfrm>
            <a:off x="966136" y="4165694"/>
            <a:ext cx="7211728" cy="360586"/>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620" dirty="0"/>
          </a:p>
        </p:txBody>
      </p:sp>
      <p:sp>
        <p:nvSpPr>
          <p:cNvPr id="42" name="Obj [o8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CPT: Putt et al. (2022).</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3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fill="hold" nodeType="withEffect">
                                  <p:stCondLst>
                                    <p:cond delay="41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22" presetClass="entr" presetSubtype="8" fill="hold" nodeType="withEffect">
                                  <p:stCondLst>
                                    <p:cond delay="41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10" presetClass="entr" presetSubtype="0" fill="hold" nodeType="withEffect">
                                  <p:stCondLst>
                                    <p:cond delay="48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22" presetClass="entr" presetSubtype="8" fill="hold" nodeType="withEffect">
                                  <p:stCondLst>
                                    <p:cond delay="48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10" presetClass="entr" presetSubtype="0" fill="hold" nodeType="withEffect">
                                  <p:stCondLst>
                                    <p:cond delay="5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22" presetClass="entr" presetSubtype="8" fill="hold" nodeType="withEffect">
                                  <p:stCondLst>
                                    <p:cond delay="55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10" presetClass="entr" presetSubtype="0" fill="hold" nodeType="withEffect">
                                  <p:stCondLst>
                                    <p:cond delay="62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grpId="0" fill="hold" nodeType="withEffect">
                                  <p:stCondLst>
                                    <p:cond delay="62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fade">
                                      <p:cBhvr>
                                        <p:cTn id="37" dur="450"/>
                                        <p:tgtEl>
                                          <p:spTgt spid="13">
                                            <p:txEl>
                                              <p:pRg st="0" end="0"/>
                                            </p:txEl>
                                          </p:spTgt>
                                        </p:tgtEl>
                                      </p:cBhvr>
                                    </p:animEffect>
                                  </p:childTnLst>
                                </p:cTn>
                              </p:par>
                              <p:par>
                                <p:cTn id="38" presetID="10" presetClass="entr" presetSubtype="0" grpId="0" fill="hold" nodeType="withEffect">
                                  <p:stCondLst>
                                    <p:cond delay="1000"/>
                                  </p:stCondLst>
                                  <p:childTnLst>
                                    <p:set>
                                      <p:cBhvr>
                                        <p:cTn id="39" dur="1" fill="hold">
                                          <p:stCondLst>
                                            <p:cond delay="0"/>
                                          </p:stCondLst>
                                        </p:cTn>
                                        <p:tgtEl>
                                          <p:spTgt spid="13">
                                            <p:txEl>
                                              <p:pRg st="1" end="1"/>
                                            </p:txEl>
                                          </p:spTgt>
                                        </p:tgtEl>
                                        <p:attrNameLst>
                                          <p:attrName>style.visibility</p:attrName>
                                        </p:attrNameLst>
                                      </p:cBhvr>
                                      <p:to>
                                        <p:strVal val="visible"/>
                                      </p:to>
                                    </p:set>
                                    <p:animEffect transition="in" filter="fade">
                                      <p:cBhvr>
                                        <p:cTn id="40" dur="450"/>
                                        <p:tgtEl>
                                          <p:spTgt spid="13">
                                            <p:txEl>
                                              <p:pRg st="1" end="1"/>
                                            </p:txEl>
                                          </p:spTgt>
                                        </p:tgtEl>
                                      </p:cBhvr>
                                    </p:animEffect>
                                  </p:childTnLst>
                                </p:cTn>
                              </p:par>
                              <p:par>
                                <p:cTn id="41" presetID="10" presetClass="entr" presetSubtype="0" fill="hold" nodeType="withEffect">
                                  <p:stCondLst>
                                    <p:cond delay="69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22" presetClass="entr" presetSubtype="8" fill="hold" nodeType="withEffect">
                                  <p:stCondLst>
                                    <p:cond delay="69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par>
                                <p:cTn id="47" presetID="10" presetClass="entr" presetSubtype="0" fill="hold" nodeType="withEffect">
                                  <p:stCondLst>
                                    <p:cond delay="76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grpId="0" fill="hold" nodeType="withEffect">
                                  <p:stCondLst>
                                    <p:cond delay="760"/>
                                  </p:stCondLst>
                                  <p:childTnLst>
                                    <p:set>
                                      <p:cBhvr>
                                        <p:cTn id="51" dur="1" fill="hold">
                                          <p:stCondLst>
                                            <p:cond delay="0"/>
                                          </p:stCondLst>
                                        </p:cTn>
                                        <p:tgtEl>
                                          <p:spTgt spid="17">
                                            <p:txEl>
                                              <p:pRg st="0" end="0"/>
                                            </p:txEl>
                                          </p:spTgt>
                                        </p:tgtEl>
                                        <p:attrNameLst>
                                          <p:attrName>style.visibility</p:attrName>
                                        </p:attrNameLst>
                                      </p:cBhvr>
                                      <p:to>
                                        <p:strVal val="visible"/>
                                      </p:to>
                                    </p:set>
                                    <p:animEffect transition="in" filter="fade">
                                      <p:cBhvr>
                                        <p:cTn id="52" dur="450"/>
                                        <p:tgtEl>
                                          <p:spTgt spid="17">
                                            <p:txEl>
                                              <p:pRg st="0" end="0"/>
                                            </p:txEl>
                                          </p:spTgt>
                                        </p:tgtEl>
                                      </p:cBhvr>
                                    </p:animEffect>
                                  </p:childTnLst>
                                </p:cTn>
                              </p:par>
                              <p:par>
                                <p:cTn id="53" presetID="10" presetClass="entr" presetSubtype="0" grpId="0" fill="hold" nodeType="withEffect">
                                  <p:stCondLst>
                                    <p:cond delay="1140"/>
                                  </p:stCondLst>
                                  <p:childTnLst>
                                    <p:set>
                                      <p:cBhvr>
                                        <p:cTn id="54" dur="1" fill="hold">
                                          <p:stCondLst>
                                            <p:cond delay="0"/>
                                          </p:stCondLst>
                                        </p:cTn>
                                        <p:tgtEl>
                                          <p:spTgt spid="17">
                                            <p:txEl>
                                              <p:pRg st="1" end="1"/>
                                            </p:txEl>
                                          </p:spTgt>
                                        </p:tgtEl>
                                        <p:attrNameLst>
                                          <p:attrName>style.visibility</p:attrName>
                                        </p:attrNameLst>
                                      </p:cBhvr>
                                      <p:to>
                                        <p:strVal val="visible"/>
                                      </p:to>
                                    </p:set>
                                    <p:animEffect transition="in" filter="fade">
                                      <p:cBhvr>
                                        <p:cTn id="55" dur="450"/>
                                        <p:tgtEl>
                                          <p:spTgt spid="17">
                                            <p:txEl>
                                              <p:pRg st="1" end="1"/>
                                            </p:txEl>
                                          </p:spTgt>
                                        </p:tgtEl>
                                      </p:cBhvr>
                                    </p:animEffect>
                                  </p:childTnLst>
                                </p:cTn>
                              </p:par>
                              <p:par>
                                <p:cTn id="56" presetID="10" presetClass="entr" presetSubtype="0" fill="hold" nodeType="withEffect">
                                  <p:stCondLst>
                                    <p:cond delay="83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50"/>
                                        <p:tgtEl>
                                          <p:spTgt spid="18"/>
                                        </p:tgtEl>
                                      </p:cBhvr>
                                    </p:animEffect>
                                  </p:childTnLst>
                                </p:cTn>
                              </p:par>
                              <p:par>
                                <p:cTn id="59" presetID="10" presetClass="entr" presetSubtype="0" grpId="0" fill="hold" nodeType="withEffect">
                                  <p:stCondLst>
                                    <p:cond delay="830"/>
                                  </p:stCondLst>
                                  <p:childTnLst>
                                    <p:set>
                                      <p:cBhvr>
                                        <p:cTn id="60" dur="1" fill="hold">
                                          <p:stCondLst>
                                            <p:cond delay="0"/>
                                          </p:stCondLst>
                                        </p:cTn>
                                        <p:tgtEl>
                                          <p:spTgt spid="19">
                                            <p:txEl>
                                              <p:pRg st="0" end="0"/>
                                            </p:txEl>
                                          </p:spTgt>
                                        </p:tgtEl>
                                        <p:attrNameLst>
                                          <p:attrName>style.visibility</p:attrName>
                                        </p:attrNameLst>
                                      </p:cBhvr>
                                      <p:to>
                                        <p:strVal val="visible"/>
                                      </p:to>
                                    </p:set>
                                    <p:animEffect transition="in" filter="fade">
                                      <p:cBhvr>
                                        <p:cTn id="61" dur="450"/>
                                        <p:tgtEl>
                                          <p:spTgt spid="19">
                                            <p:txEl>
                                              <p:pRg st="0" end="0"/>
                                            </p:txEl>
                                          </p:spTgt>
                                        </p:tgtEl>
                                      </p:cBhvr>
                                    </p:animEffect>
                                  </p:childTnLst>
                                </p:cTn>
                              </p:par>
                              <p:par>
                                <p:cTn id="62" presetID="10" presetClass="entr" presetSubtype="0" grpId="0" fill="hold" nodeType="withEffect">
                                  <p:stCondLst>
                                    <p:cond delay="1090"/>
                                  </p:stCondLst>
                                  <p:childTnLst>
                                    <p:set>
                                      <p:cBhvr>
                                        <p:cTn id="63" dur="1" fill="hold">
                                          <p:stCondLst>
                                            <p:cond delay="0"/>
                                          </p:stCondLst>
                                        </p:cTn>
                                        <p:tgtEl>
                                          <p:spTgt spid="19">
                                            <p:txEl>
                                              <p:pRg st="1" end="1"/>
                                            </p:txEl>
                                          </p:spTgt>
                                        </p:tgtEl>
                                        <p:attrNameLst>
                                          <p:attrName>style.visibility</p:attrName>
                                        </p:attrNameLst>
                                      </p:cBhvr>
                                      <p:to>
                                        <p:strVal val="visible"/>
                                      </p:to>
                                    </p:set>
                                    <p:animEffect transition="in" filter="fade">
                                      <p:cBhvr>
                                        <p:cTn id="64" dur="450"/>
                                        <p:tgtEl>
                                          <p:spTgt spid="19">
                                            <p:txEl>
                                              <p:pRg st="1" end="1"/>
                                            </p:txEl>
                                          </p:spTgt>
                                        </p:tgtEl>
                                      </p:cBhvr>
                                    </p:animEffect>
                                  </p:childTnLst>
                                </p:cTn>
                              </p:par>
                              <p:par>
                                <p:cTn id="65" presetID="10" presetClass="entr" presetSubtype="0" grpId="0" fill="hold" nodeType="withEffect">
                                  <p:stCondLst>
                                    <p:cond delay="1350"/>
                                  </p:stCondLst>
                                  <p:childTnLst>
                                    <p:set>
                                      <p:cBhvr>
                                        <p:cTn id="66" dur="1" fill="hold">
                                          <p:stCondLst>
                                            <p:cond delay="0"/>
                                          </p:stCondLst>
                                        </p:cTn>
                                        <p:tgtEl>
                                          <p:spTgt spid="19">
                                            <p:txEl>
                                              <p:pRg st="2" end="2"/>
                                            </p:txEl>
                                          </p:spTgt>
                                        </p:tgtEl>
                                        <p:attrNameLst>
                                          <p:attrName>style.visibility</p:attrName>
                                        </p:attrNameLst>
                                      </p:cBhvr>
                                      <p:to>
                                        <p:strVal val="visible"/>
                                      </p:to>
                                    </p:set>
                                    <p:animEffect transition="in" filter="fade">
                                      <p:cBhvr>
                                        <p:cTn id="67" dur="450"/>
                                        <p:tgtEl>
                                          <p:spTgt spid="19">
                                            <p:txEl>
                                              <p:pRg st="2" end="2"/>
                                            </p:txEl>
                                          </p:spTgt>
                                        </p:tgtEl>
                                      </p:cBhvr>
                                    </p:animEffect>
                                  </p:childTnLst>
                                </p:cTn>
                              </p:par>
                              <p:par>
                                <p:cTn id="68" presetID="10" presetClass="entr" presetSubtype="0" grpId="0" fill="hold" nodeType="withEffect">
                                  <p:stCondLst>
                                    <p:cond delay="1610"/>
                                  </p:stCondLst>
                                  <p:childTnLst>
                                    <p:set>
                                      <p:cBhvr>
                                        <p:cTn id="69" dur="1" fill="hold">
                                          <p:stCondLst>
                                            <p:cond delay="0"/>
                                          </p:stCondLst>
                                        </p:cTn>
                                        <p:tgtEl>
                                          <p:spTgt spid="19">
                                            <p:txEl>
                                              <p:pRg st="3" end="3"/>
                                            </p:txEl>
                                          </p:spTgt>
                                        </p:tgtEl>
                                        <p:attrNameLst>
                                          <p:attrName>style.visibility</p:attrName>
                                        </p:attrNameLst>
                                      </p:cBhvr>
                                      <p:to>
                                        <p:strVal val="visible"/>
                                      </p:to>
                                    </p:set>
                                    <p:animEffect transition="in" filter="fade">
                                      <p:cBhvr>
                                        <p:cTn id="70" dur="450"/>
                                        <p:tgtEl>
                                          <p:spTgt spid="19">
                                            <p:txEl>
                                              <p:pRg st="3" end="3"/>
                                            </p:txEl>
                                          </p:spTgt>
                                        </p:tgtEl>
                                      </p:cBhvr>
                                    </p:animEffect>
                                  </p:childTnLst>
                                </p:cTn>
                              </p:par>
                              <p:par>
                                <p:cTn id="71" presetID="10" presetClass="entr" presetSubtype="0" grpId="0" fill="hold" nodeType="withEffect">
                                  <p:stCondLst>
                                    <p:cond delay="1870"/>
                                  </p:stCondLst>
                                  <p:childTnLst>
                                    <p:set>
                                      <p:cBhvr>
                                        <p:cTn id="72" dur="1" fill="hold">
                                          <p:stCondLst>
                                            <p:cond delay="0"/>
                                          </p:stCondLst>
                                        </p:cTn>
                                        <p:tgtEl>
                                          <p:spTgt spid="19">
                                            <p:txEl>
                                              <p:pRg st="4" end="4"/>
                                            </p:txEl>
                                          </p:spTgt>
                                        </p:tgtEl>
                                        <p:attrNameLst>
                                          <p:attrName>style.visibility</p:attrName>
                                        </p:attrNameLst>
                                      </p:cBhvr>
                                      <p:to>
                                        <p:strVal val="visible"/>
                                      </p:to>
                                    </p:set>
                                    <p:animEffect transition="in" filter="fade">
                                      <p:cBhvr>
                                        <p:cTn id="73" dur="450"/>
                                        <p:tgtEl>
                                          <p:spTgt spid="19">
                                            <p:txEl>
                                              <p:pRg st="4" end="4"/>
                                            </p:txEl>
                                          </p:spTgt>
                                        </p:tgtEl>
                                      </p:cBhvr>
                                    </p:animEffect>
                                  </p:childTnLst>
                                </p:cTn>
                              </p:par>
                              <p:par>
                                <p:cTn id="74" presetID="10" presetClass="entr" presetSubtype="0" grpId="0" fill="hold" nodeType="withEffect">
                                  <p:stCondLst>
                                    <p:cond delay="900"/>
                                  </p:stCondLst>
                                  <p:childTnLst>
                                    <p:set>
                                      <p:cBhvr>
                                        <p:cTn id="75" dur="1" fill="hold">
                                          <p:stCondLst>
                                            <p:cond delay="0"/>
                                          </p:stCondLst>
                                        </p:cTn>
                                        <p:tgtEl>
                                          <p:spTgt spid="20">
                                            <p:txEl>
                                              <p:pRg st="0" end="0"/>
                                            </p:txEl>
                                          </p:spTgt>
                                        </p:tgtEl>
                                        <p:attrNameLst>
                                          <p:attrName>style.visibility</p:attrName>
                                        </p:attrNameLst>
                                      </p:cBhvr>
                                      <p:to>
                                        <p:strVal val="visible"/>
                                      </p:to>
                                    </p:set>
                                    <p:animEffect transition="in" filter="fade">
                                      <p:cBhvr>
                                        <p:cTn id="76" dur="450"/>
                                        <p:tgtEl>
                                          <p:spTgt spid="20">
                                            <p:txEl>
                                              <p:pRg st="0" end="0"/>
                                            </p:txEl>
                                          </p:spTgt>
                                        </p:tgtEl>
                                      </p:cBhvr>
                                    </p:animEffect>
                                  </p:childTnLst>
                                </p:cTn>
                              </p:par>
                              <p:par>
                                <p:cTn id="77" presetID="10" presetClass="entr" presetSubtype="0" grpId="0" fill="hold" nodeType="withEffect">
                                  <p:stCondLst>
                                    <p:cond delay="1280"/>
                                  </p:stCondLst>
                                  <p:childTnLst>
                                    <p:set>
                                      <p:cBhvr>
                                        <p:cTn id="78" dur="1" fill="hold">
                                          <p:stCondLst>
                                            <p:cond delay="0"/>
                                          </p:stCondLst>
                                        </p:cTn>
                                        <p:tgtEl>
                                          <p:spTgt spid="20">
                                            <p:txEl>
                                              <p:pRg st="1" end="1"/>
                                            </p:txEl>
                                          </p:spTgt>
                                        </p:tgtEl>
                                        <p:attrNameLst>
                                          <p:attrName>style.visibility</p:attrName>
                                        </p:attrNameLst>
                                      </p:cBhvr>
                                      <p:to>
                                        <p:strVal val="visible"/>
                                      </p:to>
                                    </p:set>
                                    <p:animEffect transition="in" filter="fade">
                                      <p:cBhvr>
                                        <p:cTn id="79" dur="450"/>
                                        <p:tgtEl>
                                          <p:spTgt spid="20">
                                            <p:txEl>
                                              <p:pRg st="1" end="1"/>
                                            </p:txEl>
                                          </p:spTgt>
                                        </p:tgtEl>
                                      </p:cBhvr>
                                    </p:animEffect>
                                  </p:childTnLst>
                                </p:cTn>
                              </p:par>
                              <p:par>
                                <p:cTn id="80" presetID="10" presetClass="entr" presetSubtype="0" fill="hold" nodeType="withEffect">
                                  <p:stCondLst>
                                    <p:cond delay="40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45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nodeType="clickEffect">
                                  <p:stCondLst>
                                    <p:cond delay="0"/>
                                  </p:stCondLst>
                                  <p:childTnLst>
                                    <p:animEffect transition="out" filter="fade">
                                      <p:cBhvr>
                                        <p:cTn id="86" dur="350"/>
                                        <p:tgtEl>
                                          <p:spTgt spid="3"/>
                                        </p:tgtEl>
                                      </p:cBhvr>
                                    </p:animEffect>
                                    <p:set>
                                      <p:cBhvr>
                                        <p:cTn id="87" dur="1" fill="hold">
                                          <p:stCondLst>
                                            <p:cond delay="349"/>
                                          </p:stCondLst>
                                        </p:cTn>
                                        <p:tgtEl>
                                          <p:spTgt spid="3"/>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4"/>
                                        </p:tgtEl>
                                      </p:cBhvr>
                                    </p:animEffect>
                                    <p:set>
                                      <p:cBhvr>
                                        <p:cTn id="90" dur="1" fill="hold">
                                          <p:stCondLst>
                                            <p:cond delay="349"/>
                                          </p:stCondLst>
                                        </p:cTn>
                                        <p:tgtEl>
                                          <p:spTgt spid="4"/>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350"/>
                                        <p:tgtEl>
                                          <p:spTgt spid="5"/>
                                        </p:tgtEl>
                                      </p:cBhvr>
                                    </p:animEffect>
                                    <p:set>
                                      <p:cBhvr>
                                        <p:cTn id="93" dur="1" fill="hold">
                                          <p:stCondLst>
                                            <p:cond delay="349"/>
                                          </p:stCondLst>
                                        </p:cTn>
                                        <p:tgtEl>
                                          <p:spTgt spid="5"/>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350"/>
                                        <p:tgtEl>
                                          <p:spTgt spid="6"/>
                                        </p:tgtEl>
                                      </p:cBhvr>
                                    </p:animEffect>
                                    <p:set>
                                      <p:cBhvr>
                                        <p:cTn id="96" dur="1" fill="hold">
                                          <p:stCondLst>
                                            <p:cond delay="349"/>
                                          </p:stCondLst>
                                        </p:cTn>
                                        <p:tgtEl>
                                          <p:spTgt spid="6"/>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350"/>
                                        <p:tgtEl>
                                          <p:spTgt spid="7"/>
                                        </p:tgtEl>
                                      </p:cBhvr>
                                    </p:animEffect>
                                    <p:set>
                                      <p:cBhvr>
                                        <p:cTn id="99" dur="1" fill="hold">
                                          <p:stCondLst>
                                            <p:cond delay="349"/>
                                          </p:stCondLst>
                                        </p:cTn>
                                        <p:tgtEl>
                                          <p:spTgt spid="7"/>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350"/>
                                        <p:tgtEl>
                                          <p:spTgt spid="8"/>
                                        </p:tgtEl>
                                      </p:cBhvr>
                                    </p:animEffect>
                                    <p:set>
                                      <p:cBhvr>
                                        <p:cTn id="102" dur="1" fill="hold">
                                          <p:stCondLst>
                                            <p:cond delay="349"/>
                                          </p:stCondLst>
                                        </p:cTn>
                                        <p:tgtEl>
                                          <p:spTgt spid="8"/>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350"/>
                                        <p:tgtEl>
                                          <p:spTgt spid="9"/>
                                        </p:tgtEl>
                                      </p:cBhvr>
                                    </p:animEffect>
                                    <p:set>
                                      <p:cBhvr>
                                        <p:cTn id="105" dur="1" fill="hold">
                                          <p:stCondLst>
                                            <p:cond delay="349"/>
                                          </p:stCondLst>
                                        </p:cTn>
                                        <p:tgtEl>
                                          <p:spTgt spid="9"/>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350"/>
                                        <p:tgtEl>
                                          <p:spTgt spid="10"/>
                                        </p:tgtEl>
                                      </p:cBhvr>
                                    </p:animEffect>
                                    <p:set>
                                      <p:cBhvr>
                                        <p:cTn id="108" dur="1" fill="hold">
                                          <p:stCondLst>
                                            <p:cond delay="349"/>
                                          </p:stCondLst>
                                        </p:cTn>
                                        <p:tgtEl>
                                          <p:spTgt spid="10"/>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350"/>
                                        <p:tgtEl>
                                          <p:spTgt spid="11"/>
                                        </p:tgtEl>
                                      </p:cBhvr>
                                    </p:animEffect>
                                    <p:set>
                                      <p:cBhvr>
                                        <p:cTn id="111" dur="1" fill="hold">
                                          <p:stCondLst>
                                            <p:cond delay="349"/>
                                          </p:stCondLst>
                                        </p:cTn>
                                        <p:tgtEl>
                                          <p:spTgt spid="11"/>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350"/>
                                        <p:tgtEl>
                                          <p:spTgt spid="12"/>
                                        </p:tgtEl>
                                      </p:cBhvr>
                                    </p:animEffect>
                                    <p:set>
                                      <p:cBhvr>
                                        <p:cTn id="114" dur="1" fill="hold">
                                          <p:stCondLst>
                                            <p:cond delay="349"/>
                                          </p:stCondLst>
                                        </p:cTn>
                                        <p:tgtEl>
                                          <p:spTgt spid="12"/>
                                        </p:tgtEl>
                                        <p:attrNameLst>
                                          <p:attrName>style.visibility</p:attrName>
                                        </p:attrNameLst>
                                      </p:cBhvr>
                                      <p:to>
                                        <p:strVal val="hidden"/>
                                      </p:to>
                                    </p:set>
                                  </p:childTnLst>
                                </p:cTn>
                              </p:par>
                              <p:par>
                                <p:cTn id="115" presetID="10" presetClass="exit" presetSubtype="0" grpId="0" fill="hold" nodeType="withEffect">
                                  <p:stCondLst>
                                    <p:cond delay="0"/>
                                  </p:stCondLst>
                                  <p:childTnLst>
                                    <p:animEffect transition="out" filter="fade">
                                      <p:cBhvr>
                                        <p:cTn id="116" dur="350"/>
                                        <p:tgtEl>
                                          <p:spTgt spid="13">
                                            <p:txEl>
                                              <p:pRg st="0" end="0"/>
                                            </p:txEl>
                                          </p:spTgt>
                                        </p:tgtEl>
                                      </p:cBhvr>
                                    </p:animEffect>
                                    <p:set>
                                      <p:cBhvr>
                                        <p:cTn id="117" dur="1" fill="hold">
                                          <p:stCondLst>
                                            <p:cond delay="349"/>
                                          </p:stCondLst>
                                        </p:cTn>
                                        <p:tgtEl>
                                          <p:spTgt spid="13">
                                            <p:txEl>
                                              <p:pRg st="0" end="0"/>
                                            </p:txEl>
                                          </p:spTgt>
                                        </p:tgtEl>
                                        <p:attrNameLst>
                                          <p:attrName>style.visibility</p:attrName>
                                        </p:attrNameLst>
                                      </p:cBhvr>
                                      <p:to>
                                        <p:strVal val="hidden"/>
                                      </p:to>
                                    </p:set>
                                  </p:childTnLst>
                                </p:cTn>
                              </p:par>
                              <p:par>
                                <p:cTn id="118" presetID="10" presetClass="exit" presetSubtype="0" grpId="0" fill="hold" nodeType="withEffect">
                                  <p:stCondLst>
                                    <p:cond delay="0"/>
                                  </p:stCondLst>
                                  <p:childTnLst>
                                    <p:animEffect transition="out" filter="fade">
                                      <p:cBhvr>
                                        <p:cTn id="119" dur="350"/>
                                        <p:tgtEl>
                                          <p:spTgt spid="13">
                                            <p:txEl>
                                              <p:pRg st="1" end="1"/>
                                            </p:txEl>
                                          </p:spTgt>
                                        </p:tgtEl>
                                      </p:cBhvr>
                                    </p:animEffect>
                                    <p:set>
                                      <p:cBhvr>
                                        <p:cTn id="120" dur="1" fill="hold">
                                          <p:stCondLst>
                                            <p:cond delay="349"/>
                                          </p:stCondLst>
                                        </p:cTn>
                                        <p:tgtEl>
                                          <p:spTgt spid="13">
                                            <p:txEl>
                                              <p:pRg st="1" end="1"/>
                                            </p:txEl>
                                          </p:spTgt>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350"/>
                                        <p:tgtEl>
                                          <p:spTgt spid="14"/>
                                        </p:tgtEl>
                                      </p:cBhvr>
                                    </p:animEffect>
                                    <p:set>
                                      <p:cBhvr>
                                        <p:cTn id="123" dur="1" fill="hold">
                                          <p:stCondLst>
                                            <p:cond delay="349"/>
                                          </p:stCondLst>
                                        </p:cTn>
                                        <p:tgtEl>
                                          <p:spTgt spid="14"/>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350"/>
                                        <p:tgtEl>
                                          <p:spTgt spid="15"/>
                                        </p:tgtEl>
                                      </p:cBhvr>
                                    </p:animEffect>
                                    <p:set>
                                      <p:cBhvr>
                                        <p:cTn id="126" dur="1" fill="hold">
                                          <p:stCondLst>
                                            <p:cond delay="349"/>
                                          </p:stCondLst>
                                        </p:cTn>
                                        <p:tgtEl>
                                          <p:spTgt spid="15"/>
                                        </p:tgtEl>
                                        <p:attrNameLst>
                                          <p:attrName>style.visibility</p:attrName>
                                        </p:attrNameLst>
                                      </p:cBhvr>
                                      <p:to>
                                        <p:strVal val="hidden"/>
                                      </p:to>
                                    </p:set>
                                  </p:childTnLst>
                                </p:cTn>
                              </p:par>
                              <p:par>
                                <p:cTn id="127" presetID="10" presetClass="exit" presetSubtype="0" fill="hold" nodeType="withEffect">
                                  <p:stCondLst>
                                    <p:cond delay="0"/>
                                  </p:stCondLst>
                                  <p:childTnLst>
                                    <p:animEffect transition="out" filter="fade">
                                      <p:cBhvr>
                                        <p:cTn id="128" dur="350"/>
                                        <p:tgtEl>
                                          <p:spTgt spid="16"/>
                                        </p:tgtEl>
                                      </p:cBhvr>
                                    </p:animEffect>
                                    <p:set>
                                      <p:cBhvr>
                                        <p:cTn id="129" dur="1" fill="hold">
                                          <p:stCondLst>
                                            <p:cond delay="349"/>
                                          </p:stCondLst>
                                        </p:cTn>
                                        <p:tgtEl>
                                          <p:spTgt spid="16"/>
                                        </p:tgtEl>
                                        <p:attrNameLst>
                                          <p:attrName>style.visibility</p:attrName>
                                        </p:attrNameLst>
                                      </p:cBhvr>
                                      <p:to>
                                        <p:strVal val="hidden"/>
                                      </p:to>
                                    </p:set>
                                  </p:childTnLst>
                                </p:cTn>
                              </p:par>
                              <p:par>
                                <p:cTn id="130" presetID="10" presetClass="exit" presetSubtype="0" grpId="0" fill="hold" nodeType="withEffect">
                                  <p:stCondLst>
                                    <p:cond delay="0"/>
                                  </p:stCondLst>
                                  <p:childTnLst>
                                    <p:animEffect transition="out" filter="fade">
                                      <p:cBhvr>
                                        <p:cTn id="131" dur="350"/>
                                        <p:tgtEl>
                                          <p:spTgt spid="17">
                                            <p:txEl>
                                              <p:pRg st="0" end="0"/>
                                            </p:txEl>
                                          </p:spTgt>
                                        </p:tgtEl>
                                      </p:cBhvr>
                                    </p:animEffect>
                                    <p:set>
                                      <p:cBhvr>
                                        <p:cTn id="132" dur="1" fill="hold">
                                          <p:stCondLst>
                                            <p:cond delay="349"/>
                                          </p:stCondLst>
                                        </p:cTn>
                                        <p:tgtEl>
                                          <p:spTgt spid="17">
                                            <p:txEl>
                                              <p:pRg st="0" end="0"/>
                                            </p:txEl>
                                          </p:spTgt>
                                        </p:tgtEl>
                                        <p:attrNameLst>
                                          <p:attrName>style.visibility</p:attrName>
                                        </p:attrNameLst>
                                      </p:cBhvr>
                                      <p:to>
                                        <p:strVal val="hidden"/>
                                      </p:to>
                                    </p:set>
                                  </p:childTnLst>
                                </p:cTn>
                              </p:par>
                              <p:par>
                                <p:cTn id="133" presetID="10" presetClass="exit" presetSubtype="0" grpId="0" fill="hold" nodeType="withEffect">
                                  <p:stCondLst>
                                    <p:cond delay="0"/>
                                  </p:stCondLst>
                                  <p:childTnLst>
                                    <p:animEffect transition="out" filter="fade">
                                      <p:cBhvr>
                                        <p:cTn id="134" dur="350"/>
                                        <p:tgtEl>
                                          <p:spTgt spid="17">
                                            <p:txEl>
                                              <p:pRg st="1" end="1"/>
                                            </p:txEl>
                                          </p:spTgt>
                                        </p:tgtEl>
                                      </p:cBhvr>
                                    </p:animEffect>
                                    <p:set>
                                      <p:cBhvr>
                                        <p:cTn id="135" dur="1" fill="hold">
                                          <p:stCondLst>
                                            <p:cond delay="349"/>
                                          </p:stCondLst>
                                        </p:cTn>
                                        <p:tgtEl>
                                          <p:spTgt spid="17">
                                            <p:txEl>
                                              <p:pRg st="1" end="1"/>
                                            </p:txEl>
                                          </p:spTgt>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350"/>
                                        <p:tgtEl>
                                          <p:spTgt spid="18"/>
                                        </p:tgtEl>
                                      </p:cBhvr>
                                    </p:animEffect>
                                    <p:set>
                                      <p:cBhvr>
                                        <p:cTn id="138" dur="1" fill="hold">
                                          <p:stCondLst>
                                            <p:cond delay="349"/>
                                          </p:stCondLst>
                                        </p:cTn>
                                        <p:tgtEl>
                                          <p:spTgt spid="18"/>
                                        </p:tgtEl>
                                        <p:attrNameLst>
                                          <p:attrName>style.visibility</p:attrName>
                                        </p:attrNameLst>
                                      </p:cBhvr>
                                      <p:to>
                                        <p:strVal val="hidden"/>
                                      </p:to>
                                    </p:set>
                                  </p:childTnLst>
                                </p:cTn>
                              </p:par>
                              <p:par>
                                <p:cTn id="139" presetID="10" presetClass="exit" presetSubtype="0" grpId="0" fill="hold" nodeType="withEffect">
                                  <p:stCondLst>
                                    <p:cond delay="0"/>
                                  </p:stCondLst>
                                  <p:childTnLst>
                                    <p:animEffect transition="out" filter="fade">
                                      <p:cBhvr>
                                        <p:cTn id="140" dur="350"/>
                                        <p:tgtEl>
                                          <p:spTgt spid="19">
                                            <p:txEl>
                                              <p:pRg st="0" end="0"/>
                                            </p:txEl>
                                          </p:spTgt>
                                        </p:tgtEl>
                                      </p:cBhvr>
                                    </p:animEffect>
                                    <p:set>
                                      <p:cBhvr>
                                        <p:cTn id="141" dur="1" fill="hold">
                                          <p:stCondLst>
                                            <p:cond delay="349"/>
                                          </p:stCondLst>
                                        </p:cTn>
                                        <p:tgtEl>
                                          <p:spTgt spid="19">
                                            <p:txEl>
                                              <p:pRg st="0" end="0"/>
                                            </p:txEl>
                                          </p:spTgt>
                                        </p:tgtEl>
                                        <p:attrNameLst>
                                          <p:attrName>style.visibility</p:attrName>
                                        </p:attrNameLst>
                                      </p:cBhvr>
                                      <p:to>
                                        <p:strVal val="hidden"/>
                                      </p:to>
                                    </p:set>
                                  </p:childTnLst>
                                </p:cTn>
                              </p:par>
                              <p:par>
                                <p:cTn id="142" presetID="10" presetClass="exit" presetSubtype="0" grpId="0" fill="hold" nodeType="withEffect">
                                  <p:stCondLst>
                                    <p:cond delay="0"/>
                                  </p:stCondLst>
                                  <p:childTnLst>
                                    <p:animEffect transition="out" filter="fade">
                                      <p:cBhvr>
                                        <p:cTn id="143" dur="350"/>
                                        <p:tgtEl>
                                          <p:spTgt spid="19">
                                            <p:txEl>
                                              <p:pRg st="1" end="1"/>
                                            </p:txEl>
                                          </p:spTgt>
                                        </p:tgtEl>
                                      </p:cBhvr>
                                    </p:animEffect>
                                    <p:set>
                                      <p:cBhvr>
                                        <p:cTn id="144" dur="1" fill="hold">
                                          <p:stCondLst>
                                            <p:cond delay="349"/>
                                          </p:stCondLst>
                                        </p:cTn>
                                        <p:tgtEl>
                                          <p:spTgt spid="19">
                                            <p:txEl>
                                              <p:pRg st="1" end="1"/>
                                            </p:txEl>
                                          </p:spTgt>
                                        </p:tgtEl>
                                        <p:attrNameLst>
                                          <p:attrName>style.visibility</p:attrName>
                                        </p:attrNameLst>
                                      </p:cBhvr>
                                      <p:to>
                                        <p:strVal val="hidden"/>
                                      </p:to>
                                    </p:set>
                                  </p:childTnLst>
                                </p:cTn>
                              </p:par>
                              <p:par>
                                <p:cTn id="145" presetID="10" presetClass="exit" presetSubtype="0" grpId="0" fill="hold" nodeType="withEffect">
                                  <p:stCondLst>
                                    <p:cond delay="0"/>
                                  </p:stCondLst>
                                  <p:childTnLst>
                                    <p:animEffect transition="out" filter="fade">
                                      <p:cBhvr>
                                        <p:cTn id="146" dur="350"/>
                                        <p:tgtEl>
                                          <p:spTgt spid="19">
                                            <p:txEl>
                                              <p:pRg st="2" end="2"/>
                                            </p:txEl>
                                          </p:spTgt>
                                        </p:tgtEl>
                                      </p:cBhvr>
                                    </p:animEffect>
                                    <p:set>
                                      <p:cBhvr>
                                        <p:cTn id="147" dur="1" fill="hold">
                                          <p:stCondLst>
                                            <p:cond delay="349"/>
                                          </p:stCondLst>
                                        </p:cTn>
                                        <p:tgtEl>
                                          <p:spTgt spid="19">
                                            <p:txEl>
                                              <p:pRg st="2" end="2"/>
                                            </p:txEl>
                                          </p:spTgt>
                                        </p:tgtEl>
                                        <p:attrNameLst>
                                          <p:attrName>style.visibility</p:attrName>
                                        </p:attrNameLst>
                                      </p:cBhvr>
                                      <p:to>
                                        <p:strVal val="hidden"/>
                                      </p:to>
                                    </p:set>
                                  </p:childTnLst>
                                </p:cTn>
                              </p:par>
                              <p:par>
                                <p:cTn id="148" presetID="10" presetClass="exit" presetSubtype="0" grpId="0" fill="hold" nodeType="withEffect">
                                  <p:stCondLst>
                                    <p:cond delay="0"/>
                                  </p:stCondLst>
                                  <p:childTnLst>
                                    <p:animEffect transition="out" filter="fade">
                                      <p:cBhvr>
                                        <p:cTn id="149" dur="350"/>
                                        <p:tgtEl>
                                          <p:spTgt spid="19">
                                            <p:txEl>
                                              <p:pRg st="3" end="3"/>
                                            </p:txEl>
                                          </p:spTgt>
                                        </p:tgtEl>
                                      </p:cBhvr>
                                    </p:animEffect>
                                    <p:set>
                                      <p:cBhvr>
                                        <p:cTn id="150" dur="1" fill="hold">
                                          <p:stCondLst>
                                            <p:cond delay="349"/>
                                          </p:stCondLst>
                                        </p:cTn>
                                        <p:tgtEl>
                                          <p:spTgt spid="19">
                                            <p:txEl>
                                              <p:pRg st="3" end="3"/>
                                            </p:txEl>
                                          </p:spTgt>
                                        </p:tgtEl>
                                        <p:attrNameLst>
                                          <p:attrName>style.visibility</p:attrName>
                                        </p:attrNameLst>
                                      </p:cBhvr>
                                      <p:to>
                                        <p:strVal val="hidden"/>
                                      </p:to>
                                    </p:set>
                                  </p:childTnLst>
                                </p:cTn>
                              </p:par>
                              <p:par>
                                <p:cTn id="151" presetID="10" presetClass="exit" presetSubtype="0" grpId="0" fill="hold" nodeType="withEffect">
                                  <p:stCondLst>
                                    <p:cond delay="0"/>
                                  </p:stCondLst>
                                  <p:childTnLst>
                                    <p:animEffect transition="out" filter="fade">
                                      <p:cBhvr>
                                        <p:cTn id="152" dur="350"/>
                                        <p:tgtEl>
                                          <p:spTgt spid="19">
                                            <p:txEl>
                                              <p:pRg st="4" end="4"/>
                                            </p:txEl>
                                          </p:spTgt>
                                        </p:tgtEl>
                                      </p:cBhvr>
                                    </p:animEffect>
                                    <p:set>
                                      <p:cBhvr>
                                        <p:cTn id="153" dur="1" fill="hold">
                                          <p:stCondLst>
                                            <p:cond delay="349"/>
                                          </p:stCondLst>
                                        </p:cTn>
                                        <p:tgtEl>
                                          <p:spTgt spid="19">
                                            <p:txEl>
                                              <p:pRg st="4" end="4"/>
                                            </p:txEl>
                                          </p:spTgt>
                                        </p:tgtEl>
                                        <p:attrNameLst>
                                          <p:attrName>style.visibility</p:attrName>
                                        </p:attrNameLst>
                                      </p:cBhvr>
                                      <p:to>
                                        <p:strVal val="hidden"/>
                                      </p:to>
                                    </p:set>
                                  </p:childTnLst>
                                </p:cTn>
                              </p:par>
                              <p:par>
                                <p:cTn id="154" presetID="10" presetClass="exit" presetSubtype="0" grpId="0" fill="hold" nodeType="withEffect">
                                  <p:stCondLst>
                                    <p:cond delay="0"/>
                                  </p:stCondLst>
                                  <p:childTnLst>
                                    <p:animEffect transition="out" filter="fade">
                                      <p:cBhvr>
                                        <p:cTn id="155" dur="350"/>
                                        <p:tgtEl>
                                          <p:spTgt spid="20">
                                            <p:txEl>
                                              <p:pRg st="0" end="0"/>
                                            </p:txEl>
                                          </p:spTgt>
                                        </p:tgtEl>
                                      </p:cBhvr>
                                    </p:animEffect>
                                    <p:set>
                                      <p:cBhvr>
                                        <p:cTn id="156" dur="1" fill="hold">
                                          <p:stCondLst>
                                            <p:cond delay="349"/>
                                          </p:stCondLst>
                                        </p:cTn>
                                        <p:tgtEl>
                                          <p:spTgt spid="20">
                                            <p:txEl>
                                              <p:pRg st="0" end="0"/>
                                            </p:txEl>
                                          </p:spTgt>
                                        </p:tgtEl>
                                        <p:attrNameLst>
                                          <p:attrName>style.visibility</p:attrName>
                                        </p:attrNameLst>
                                      </p:cBhvr>
                                      <p:to>
                                        <p:strVal val="hidden"/>
                                      </p:to>
                                    </p:set>
                                  </p:childTnLst>
                                </p:cTn>
                              </p:par>
                              <p:par>
                                <p:cTn id="157" presetID="10" presetClass="exit" presetSubtype="0" grpId="0" fill="hold" nodeType="withEffect">
                                  <p:stCondLst>
                                    <p:cond delay="0"/>
                                  </p:stCondLst>
                                  <p:childTnLst>
                                    <p:animEffect transition="out" filter="fade">
                                      <p:cBhvr>
                                        <p:cTn id="158" dur="350"/>
                                        <p:tgtEl>
                                          <p:spTgt spid="20">
                                            <p:txEl>
                                              <p:pRg st="1" end="1"/>
                                            </p:txEl>
                                          </p:spTgt>
                                        </p:tgtEl>
                                      </p:cBhvr>
                                    </p:animEffect>
                                    <p:set>
                                      <p:cBhvr>
                                        <p:cTn id="159" dur="1" fill="hold">
                                          <p:stCondLst>
                                            <p:cond delay="349"/>
                                          </p:stCondLst>
                                        </p:cTn>
                                        <p:tgtEl>
                                          <p:spTgt spid="20">
                                            <p:txEl>
                                              <p:pRg st="1" end="1"/>
                                            </p:txEl>
                                          </p:spTgt>
                                        </p:tgtEl>
                                        <p:attrNameLst>
                                          <p:attrName>style.visibility</p:attrName>
                                        </p:attrNameLst>
                                      </p:cBhvr>
                                      <p:to>
                                        <p:strVal val="hidden"/>
                                      </p:to>
                                    </p:set>
                                  </p:childTnLst>
                                </p:cTn>
                              </p:par>
                              <p:par>
                                <p:cTn id="160" presetID="10" presetClass="exit" presetSubtype="0" fill="hold" nodeType="withEffect">
                                  <p:stCondLst>
                                    <p:cond delay="0"/>
                                  </p:stCondLst>
                                  <p:childTnLst>
                                    <p:animEffect transition="out" filter="fade">
                                      <p:cBhvr>
                                        <p:cTn id="161" dur="350"/>
                                        <p:tgtEl>
                                          <p:spTgt spid="21"/>
                                        </p:tgtEl>
                                      </p:cBhvr>
                                    </p:animEffect>
                                    <p:set>
                                      <p:cBhvr>
                                        <p:cTn id="162" dur="1" fill="hold">
                                          <p:stCondLst>
                                            <p:cond delay="349"/>
                                          </p:stCondLst>
                                        </p:cTn>
                                        <p:tgtEl>
                                          <p:spTgt spid="21"/>
                                        </p:tgtEl>
                                        <p:attrNameLst>
                                          <p:attrName>style.visibility</p:attrName>
                                        </p:attrNameLst>
                                      </p:cBhvr>
                                      <p:to>
                                        <p:strVal val="hidden"/>
                                      </p:to>
                                    </p:set>
                                  </p:childTnLst>
                                </p:cTn>
                              </p:par>
                              <p:par>
                                <p:cTn id="163" presetID="10" presetClass="entr" presetSubtype="0" fill="hold" nodeType="withEffect">
                                  <p:stCondLst>
                                    <p:cond delay="450"/>
                                  </p:stCondLst>
                                  <p:childTnLst>
                                    <p:set>
                                      <p:cBhvr>
                                        <p:cTn id="164" dur="1" fill="hold">
                                          <p:stCondLst>
                                            <p:cond delay="0"/>
                                          </p:stCondLst>
                                        </p:cTn>
                                        <p:tgtEl>
                                          <p:spTgt spid="22"/>
                                        </p:tgtEl>
                                        <p:attrNameLst>
                                          <p:attrName>style.visibility</p:attrName>
                                        </p:attrNameLst>
                                      </p:cBhvr>
                                      <p:to>
                                        <p:strVal val="visible"/>
                                      </p:to>
                                    </p:set>
                                    <p:animEffect transition="in" filter="fade">
                                      <p:cBhvr>
                                        <p:cTn id="165" dur="450"/>
                                        <p:tgtEl>
                                          <p:spTgt spid="22"/>
                                        </p:tgtEl>
                                      </p:cBhvr>
                                    </p:animEffect>
                                  </p:childTnLst>
                                </p:cTn>
                              </p:par>
                              <p:par>
                                <p:cTn id="166" presetID="53" presetClass="entr" presetSubtype="16" fill="hold" nodeType="withEffect">
                                  <p:stCondLst>
                                    <p:cond delay="520"/>
                                  </p:stCondLst>
                                  <p:childTnLst>
                                    <p:set>
                                      <p:cBhvr>
                                        <p:cTn id="167" dur="1" fill="hold">
                                          <p:stCondLst>
                                            <p:cond delay="0"/>
                                          </p:stCondLst>
                                        </p:cTn>
                                        <p:tgtEl>
                                          <p:spTgt spid="23"/>
                                        </p:tgtEl>
                                        <p:attrNameLst>
                                          <p:attrName>style.visibility</p:attrName>
                                        </p:attrNameLst>
                                      </p:cBhvr>
                                      <p:to>
                                        <p:strVal val="visible"/>
                                      </p:to>
                                    </p:set>
                                    <p:anim calcmode="lin" valueType="num">
                                      <p:cBhvr>
                                        <p:cTn id="168" dur="600" fill="hold"/>
                                        <p:tgtEl>
                                          <p:spTgt spid="23"/>
                                        </p:tgtEl>
                                        <p:attrNameLst>
                                          <p:attrName>ppt_w</p:attrName>
                                        </p:attrNameLst>
                                      </p:cBhvr>
                                      <p:tavLst>
                                        <p:tav tm="0">
                                          <p:val>
                                            <p:fltVal val="0"/>
                                          </p:val>
                                        </p:tav>
                                        <p:tav tm="100000">
                                          <p:val>
                                            <p:strVal val="#ppt_w"/>
                                          </p:val>
                                        </p:tav>
                                      </p:tavLst>
                                    </p:anim>
                                    <p:anim calcmode="lin" valueType="num">
                                      <p:cBhvr>
                                        <p:cTn id="169" dur="600" fill="hold"/>
                                        <p:tgtEl>
                                          <p:spTgt spid="23"/>
                                        </p:tgtEl>
                                        <p:attrNameLst>
                                          <p:attrName>ppt_h</p:attrName>
                                        </p:attrNameLst>
                                      </p:cBhvr>
                                      <p:tavLst>
                                        <p:tav tm="0">
                                          <p:val>
                                            <p:fltVal val="0"/>
                                          </p:val>
                                        </p:tav>
                                        <p:tav tm="100000">
                                          <p:val>
                                            <p:strVal val="#ppt_h"/>
                                          </p:val>
                                        </p:tav>
                                      </p:tavLst>
                                    </p:anim>
                                    <p:animEffect transition="in" filter="fade">
                                      <p:cBhvr>
                                        <p:cTn id="170" dur="600"/>
                                        <p:tgtEl>
                                          <p:spTgt spid="23"/>
                                        </p:tgtEl>
                                      </p:cBhvr>
                                    </p:animEffect>
                                  </p:childTnLst>
                                </p:cTn>
                              </p:par>
                              <p:par>
                                <p:cTn id="171" presetID="10" presetClass="entr" presetSubtype="0" grpId="0" fill="hold" nodeType="withEffect">
                                  <p:stCondLst>
                                    <p:cond delay="590"/>
                                  </p:stCondLst>
                                  <p:childTnLst>
                                    <p:set>
                                      <p:cBhvr>
                                        <p:cTn id="172" dur="1" fill="hold">
                                          <p:stCondLst>
                                            <p:cond delay="0"/>
                                          </p:stCondLst>
                                        </p:cTn>
                                        <p:tgtEl>
                                          <p:spTgt spid="24">
                                            <p:txEl>
                                              <p:pRg st="0" end="0"/>
                                            </p:txEl>
                                          </p:spTgt>
                                        </p:tgtEl>
                                        <p:attrNameLst>
                                          <p:attrName>style.visibility</p:attrName>
                                        </p:attrNameLst>
                                      </p:cBhvr>
                                      <p:to>
                                        <p:strVal val="visible"/>
                                      </p:to>
                                    </p:set>
                                    <p:animEffect transition="in" filter="fade">
                                      <p:cBhvr>
                                        <p:cTn id="173" dur="450"/>
                                        <p:tgtEl>
                                          <p:spTgt spid="24">
                                            <p:txEl>
                                              <p:pRg st="0" end="0"/>
                                            </p:txEl>
                                          </p:spTgt>
                                        </p:tgtEl>
                                      </p:cBhvr>
                                    </p:animEffect>
                                  </p:childTnLst>
                                </p:cTn>
                              </p:par>
                              <p:par>
                                <p:cTn id="174" presetID="10" presetClass="entr" presetSubtype="0" grpId="0" fill="hold" nodeType="withEffect">
                                  <p:stCondLst>
                                    <p:cond delay="970"/>
                                  </p:stCondLst>
                                  <p:childTnLst>
                                    <p:set>
                                      <p:cBhvr>
                                        <p:cTn id="175" dur="1" fill="hold">
                                          <p:stCondLst>
                                            <p:cond delay="0"/>
                                          </p:stCondLst>
                                        </p:cTn>
                                        <p:tgtEl>
                                          <p:spTgt spid="24">
                                            <p:txEl>
                                              <p:pRg st="1" end="1"/>
                                            </p:txEl>
                                          </p:spTgt>
                                        </p:tgtEl>
                                        <p:attrNameLst>
                                          <p:attrName>style.visibility</p:attrName>
                                        </p:attrNameLst>
                                      </p:cBhvr>
                                      <p:to>
                                        <p:strVal val="visible"/>
                                      </p:to>
                                    </p:set>
                                    <p:animEffect transition="in" filter="fade">
                                      <p:cBhvr>
                                        <p:cTn id="176" dur="450"/>
                                        <p:tgtEl>
                                          <p:spTgt spid="24">
                                            <p:txEl>
                                              <p:pRg st="1" end="1"/>
                                            </p:txEl>
                                          </p:spTgt>
                                        </p:tgtEl>
                                      </p:cBhvr>
                                    </p:animEffect>
                                  </p:childTnLst>
                                </p:cTn>
                              </p:par>
                              <p:par>
                                <p:cTn id="177" presetID="10" presetClass="entr" presetSubtype="0" grpId="0" fill="hold" nodeType="withEffect">
                                  <p:stCondLst>
                                    <p:cond delay="1350"/>
                                  </p:stCondLst>
                                  <p:childTnLst>
                                    <p:set>
                                      <p:cBhvr>
                                        <p:cTn id="178" dur="1" fill="hold">
                                          <p:stCondLst>
                                            <p:cond delay="0"/>
                                          </p:stCondLst>
                                        </p:cTn>
                                        <p:tgtEl>
                                          <p:spTgt spid="24">
                                            <p:txEl>
                                              <p:pRg st="2" end="2"/>
                                            </p:txEl>
                                          </p:spTgt>
                                        </p:tgtEl>
                                        <p:attrNameLst>
                                          <p:attrName>style.visibility</p:attrName>
                                        </p:attrNameLst>
                                      </p:cBhvr>
                                      <p:to>
                                        <p:strVal val="visible"/>
                                      </p:to>
                                    </p:set>
                                    <p:animEffect transition="in" filter="fade">
                                      <p:cBhvr>
                                        <p:cTn id="179" dur="450"/>
                                        <p:tgtEl>
                                          <p:spTgt spid="24">
                                            <p:txEl>
                                              <p:pRg st="2" end="2"/>
                                            </p:txEl>
                                          </p:spTgt>
                                        </p:tgtEl>
                                      </p:cBhvr>
                                    </p:animEffect>
                                  </p:childTnLst>
                                </p:cTn>
                              </p:par>
                              <p:par>
                                <p:cTn id="180" presetID="10" presetClass="entr" presetSubtype="0" fill="hold" nodeType="withEffect">
                                  <p:stCondLst>
                                    <p:cond delay="580"/>
                                  </p:stCondLst>
                                  <p:childTnLst>
                                    <p:set>
                                      <p:cBhvr>
                                        <p:cTn id="181" dur="1" fill="hold">
                                          <p:stCondLst>
                                            <p:cond delay="0"/>
                                          </p:stCondLst>
                                        </p:cTn>
                                        <p:tgtEl>
                                          <p:spTgt spid="25"/>
                                        </p:tgtEl>
                                        <p:attrNameLst>
                                          <p:attrName>style.visibility</p:attrName>
                                        </p:attrNameLst>
                                      </p:cBhvr>
                                      <p:to>
                                        <p:strVal val="visible"/>
                                      </p:to>
                                    </p:set>
                                    <p:animEffect transition="in" filter="fade">
                                      <p:cBhvr>
                                        <p:cTn id="182" dur="450"/>
                                        <p:tgtEl>
                                          <p:spTgt spid="25"/>
                                        </p:tgtEl>
                                      </p:cBhvr>
                                    </p:animEffect>
                                  </p:childTnLst>
                                </p:cTn>
                              </p:par>
                            </p:childTnLst>
                          </p:cTn>
                        </p:par>
                      </p:childTnLst>
                    </p:cTn>
                  </p:par>
                  <p:par>
                    <p:cTn id="183" fill="hold">
                      <p:stCondLst>
                        <p:cond delay="indefinite"/>
                      </p:stCondLst>
                      <p:childTnLst>
                        <p:par>
                          <p:cTn id="184" fill="hold">
                            <p:stCondLst>
                              <p:cond delay="0"/>
                            </p:stCondLst>
                            <p:childTnLst>
                              <p:par>
                                <p:cTn id="185" presetID="10" presetClass="exit" presetSubtype="0" fill="hold" nodeType="clickEffect">
                                  <p:stCondLst>
                                    <p:cond delay="0"/>
                                  </p:stCondLst>
                                  <p:childTnLst>
                                    <p:animEffect transition="out" filter="fade">
                                      <p:cBhvr>
                                        <p:cTn id="186" dur="350"/>
                                        <p:tgtEl>
                                          <p:spTgt spid="22"/>
                                        </p:tgtEl>
                                      </p:cBhvr>
                                    </p:animEffect>
                                    <p:set>
                                      <p:cBhvr>
                                        <p:cTn id="187" dur="1" fill="hold">
                                          <p:stCondLst>
                                            <p:cond delay="349"/>
                                          </p:stCondLst>
                                        </p:cTn>
                                        <p:tgtEl>
                                          <p:spTgt spid="22"/>
                                        </p:tgtEl>
                                        <p:attrNameLst>
                                          <p:attrName>style.visibility</p:attrName>
                                        </p:attrNameLst>
                                      </p:cBhvr>
                                      <p:to>
                                        <p:strVal val="hidden"/>
                                      </p:to>
                                    </p:set>
                                  </p:childTnLst>
                                </p:cTn>
                              </p:par>
                              <p:par>
                                <p:cTn id="188" presetID="10" presetClass="exit" presetSubtype="0" grpId="0" fill="hold" nodeType="withEffect">
                                  <p:stCondLst>
                                    <p:cond delay="0"/>
                                  </p:stCondLst>
                                  <p:childTnLst>
                                    <p:animEffect transition="out" filter="fade">
                                      <p:cBhvr>
                                        <p:cTn id="189" dur="350"/>
                                        <p:tgtEl>
                                          <p:spTgt spid="24">
                                            <p:txEl>
                                              <p:pRg st="0" end="0"/>
                                            </p:txEl>
                                          </p:spTgt>
                                        </p:tgtEl>
                                      </p:cBhvr>
                                    </p:animEffect>
                                    <p:set>
                                      <p:cBhvr>
                                        <p:cTn id="190" dur="1" fill="hold">
                                          <p:stCondLst>
                                            <p:cond delay="349"/>
                                          </p:stCondLst>
                                        </p:cTn>
                                        <p:tgtEl>
                                          <p:spTgt spid="24">
                                            <p:txEl>
                                              <p:pRg st="0" end="0"/>
                                            </p:txEl>
                                          </p:spTgt>
                                        </p:tgtEl>
                                        <p:attrNameLst>
                                          <p:attrName>style.visibility</p:attrName>
                                        </p:attrNameLst>
                                      </p:cBhvr>
                                      <p:to>
                                        <p:strVal val="hidden"/>
                                      </p:to>
                                    </p:set>
                                  </p:childTnLst>
                                </p:cTn>
                              </p:par>
                              <p:par>
                                <p:cTn id="191" presetID="10" presetClass="exit" presetSubtype="0" grpId="0" fill="hold" nodeType="withEffect">
                                  <p:stCondLst>
                                    <p:cond delay="0"/>
                                  </p:stCondLst>
                                  <p:childTnLst>
                                    <p:animEffect transition="out" filter="fade">
                                      <p:cBhvr>
                                        <p:cTn id="192" dur="350"/>
                                        <p:tgtEl>
                                          <p:spTgt spid="24">
                                            <p:txEl>
                                              <p:pRg st="1" end="1"/>
                                            </p:txEl>
                                          </p:spTgt>
                                        </p:tgtEl>
                                      </p:cBhvr>
                                    </p:animEffect>
                                    <p:set>
                                      <p:cBhvr>
                                        <p:cTn id="193" dur="1" fill="hold">
                                          <p:stCondLst>
                                            <p:cond delay="349"/>
                                          </p:stCondLst>
                                        </p:cTn>
                                        <p:tgtEl>
                                          <p:spTgt spid="24">
                                            <p:txEl>
                                              <p:pRg st="1" end="1"/>
                                            </p:txEl>
                                          </p:spTgt>
                                        </p:tgtEl>
                                        <p:attrNameLst>
                                          <p:attrName>style.visibility</p:attrName>
                                        </p:attrNameLst>
                                      </p:cBhvr>
                                      <p:to>
                                        <p:strVal val="hidden"/>
                                      </p:to>
                                    </p:set>
                                  </p:childTnLst>
                                </p:cTn>
                              </p:par>
                              <p:par>
                                <p:cTn id="194" presetID="10" presetClass="exit" presetSubtype="0" grpId="0" fill="hold" nodeType="withEffect">
                                  <p:stCondLst>
                                    <p:cond delay="0"/>
                                  </p:stCondLst>
                                  <p:childTnLst>
                                    <p:animEffect transition="out" filter="fade">
                                      <p:cBhvr>
                                        <p:cTn id="195" dur="350"/>
                                        <p:tgtEl>
                                          <p:spTgt spid="24">
                                            <p:txEl>
                                              <p:pRg st="2" end="2"/>
                                            </p:txEl>
                                          </p:spTgt>
                                        </p:tgtEl>
                                      </p:cBhvr>
                                    </p:animEffect>
                                    <p:set>
                                      <p:cBhvr>
                                        <p:cTn id="196" dur="1" fill="hold">
                                          <p:stCondLst>
                                            <p:cond delay="349"/>
                                          </p:stCondLst>
                                        </p:cTn>
                                        <p:tgtEl>
                                          <p:spTgt spid="24">
                                            <p:txEl>
                                              <p:pRg st="2" end="2"/>
                                            </p:txEl>
                                          </p:spTgt>
                                        </p:tgtEl>
                                        <p:attrNameLst>
                                          <p:attrName>style.visibility</p:attrName>
                                        </p:attrNameLst>
                                      </p:cBhvr>
                                      <p:to>
                                        <p:strVal val="hidden"/>
                                      </p:to>
                                    </p:set>
                                  </p:childTnLst>
                                </p:cTn>
                              </p:par>
                              <p:par>
                                <p:cTn id="197" presetID="10" presetClass="exit" presetSubtype="0" fill="hold" nodeType="withEffect">
                                  <p:stCondLst>
                                    <p:cond delay="0"/>
                                  </p:stCondLst>
                                  <p:childTnLst>
                                    <p:animEffect transition="out" filter="fade">
                                      <p:cBhvr>
                                        <p:cTn id="198" dur="350"/>
                                        <p:tgtEl>
                                          <p:spTgt spid="25"/>
                                        </p:tgtEl>
                                      </p:cBhvr>
                                    </p:animEffect>
                                    <p:set>
                                      <p:cBhvr>
                                        <p:cTn id="199" dur="1" fill="hold">
                                          <p:stCondLst>
                                            <p:cond delay="349"/>
                                          </p:stCondLst>
                                        </p:cTn>
                                        <p:tgtEl>
                                          <p:spTgt spid="25"/>
                                        </p:tgtEl>
                                        <p:attrNameLst>
                                          <p:attrName>style.visibility</p:attrName>
                                        </p:attrNameLst>
                                      </p:cBhvr>
                                      <p:to>
                                        <p:strVal val="hidden"/>
                                      </p:to>
                                    </p:set>
                                  </p:childTnLst>
                                </p:cTn>
                              </p:par>
                              <p:par>
                                <p:cTn id="200" presetID="0" presetClass="path" presetSubtype="0" accel="50000" decel="50000" fill="hold" nodeType="withEffect">
                                  <p:stCondLst>
                                    <p:cond delay="0"/>
                                  </p:stCondLst>
                                  <p:childTnLst>
                                    <p:animMotion origin="layout" path="M 0 0 L 0.57653 -0.22379 E" pathEditMode="relative" rAng="0" ptsTypes="AA">
                                      <p:cBhvr>
                                        <p:cTn id="201" dur="750" fill="hold"/>
                                        <p:tgtEl>
                                          <p:spTgt spid="23"/>
                                        </p:tgtEl>
                                        <p:attrNameLst>
                                          <p:attrName>ppt_x</p:attrName>
                                          <p:attrName>ppt_y</p:attrName>
                                        </p:attrNameLst>
                                      </p:cBhvr>
                                      <p:rCtr x="28826" y="-11189"/>
                                    </p:animMotion>
                                  </p:childTnLst>
                                </p:cTn>
                              </p:par>
                              <p:par>
                                <p:cTn id="202" presetID="6" presetClass="emph" presetSubtype="0" accel="50000" decel="50000" fill="hold" nodeType="withEffect">
                                  <p:stCondLst>
                                    <p:cond delay="0"/>
                                  </p:stCondLst>
                                  <p:childTnLst>
                                    <p:animScale>
                                      <p:cBhvr>
                                        <p:cTn id="203" dur="750" fill="hold"/>
                                        <p:tgtEl>
                                          <p:spTgt spid="23"/>
                                        </p:tgtEl>
                                      </p:cBhvr>
                                      <p:by x="28529" y="28529"/>
                                    </p:animScale>
                                  </p:childTnLst>
                                </p:cTn>
                              </p:par>
                              <p:par>
                                <p:cTn id="204" presetID="10" presetClass="entr" presetSubtype="0" fill="hold" nodeType="withEffect">
                                  <p:stCondLst>
                                    <p:cond delay="450"/>
                                  </p:stCondLst>
                                  <p:childTnLst>
                                    <p:set>
                                      <p:cBhvr>
                                        <p:cTn id="205" dur="1" fill="hold">
                                          <p:stCondLst>
                                            <p:cond delay="0"/>
                                          </p:stCondLst>
                                        </p:cTn>
                                        <p:tgtEl>
                                          <p:spTgt spid="26"/>
                                        </p:tgtEl>
                                        <p:attrNameLst>
                                          <p:attrName>style.visibility</p:attrName>
                                        </p:attrNameLst>
                                      </p:cBhvr>
                                      <p:to>
                                        <p:strVal val="visible"/>
                                      </p:to>
                                    </p:set>
                                    <p:animEffect transition="in" filter="fade">
                                      <p:cBhvr>
                                        <p:cTn id="206" dur="450"/>
                                        <p:tgtEl>
                                          <p:spTgt spid="26"/>
                                        </p:tgtEl>
                                      </p:cBhvr>
                                    </p:animEffect>
                                  </p:childTnLst>
                                </p:cTn>
                              </p:par>
                              <p:par>
                                <p:cTn id="207" presetID="53" presetClass="entr" presetSubtype="16" fill="hold" nodeType="withEffect">
                                  <p:stCondLst>
                                    <p:cond delay="520"/>
                                  </p:stCondLst>
                                  <p:childTnLst>
                                    <p:set>
                                      <p:cBhvr>
                                        <p:cTn id="208" dur="1" fill="hold">
                                          <p:stCondLst>
                                            <p:cond delay="0"/>
                                          </p:stCondLst>
                                        </p:cTn>
                                        <p:tgtEl>
                                          <p:spTgt spid="27"/>
                                        </p:tgtEl>
                                        <p:attrNameLst>
                                          <p:attrName>style.visibility</p:attrName>
                                        </p:attrNameLst>
                                      </p:cBhvr>
                                      <p:to>
                                        <p:strVal val="visible"/>
                                      </p:to>
                                    </p:set>
                                    <p:anim calcmode="lin" valueType="num">
                                      <p:cBhvr>
                                        <p:cTn id="209" dur="600" fill="hold"/>
                                        <p:tgtEl>
                                          <p:spTgt spid="27"/>
                                        </p:tgtEl>
                                        <p:attrNameLst>
                                          <p:attrName>ppt_w</p:attrName>
                                        </p:attrNameLst>
                                      </p:cBhvr>
                                      <p:tavLst>
                                        <p:tav tm="0">
                                          <p:val>
                                            <p:fltVal val="0"/>
                                          </p:val>
                                        </p:tav>
                                        <p:tav tm="100000">
                                          <p:val>
                                            <p:strVal val="#ppt_w"/>
                                          </p:val>
                                        </p:tav>
                                      </p:tavLst>
                                    </p:anim>
                                    <p:anim calcmode="lin" valueType="num">
                                      <p:cBhvr>
                                        <p:cTn id="210" dur="600" fill="hold"/>
                                        <p:tgtEl>
                                          <p:spTgt spid="27"/>
                                        </p:tgtEl>
                                        <p:attrNameLst>
                                          <p:attrName>ppt_h</p:attrName>
                                        </p:attrNameLst>
                                      </p:cBhvr>
                                      <p:tavLst>
                                        <p:tav tm="0">
                                          <p:val>
                                            <p:fltVal val="0"/>
                                          </p:val>
                                        </p:tav>
                                        <p:tav tm="100000">
                                          <p:val>
                                            <p:strVal val="#ppt_h"/>
                                          </p:val>
                                        </p:tav>
                                      </p:tavLst>
                                    </p:anim>
                                    <p:animEffect transition="in" filter="fade">
                                      <p:cBhvr>
                                        <p:cTn id="211" dur="600"/>
                                        <p:tgtEl>
                                          <p:spTgt spid="27"/>
                                        </p:tgtEl>
                                      </p:cBhvr>
                                    </p:animEffect>
                                  </p:childTnLst>
                                </p:cTn>
                              </p:par>
                              <p:par>
                                <p:cTn id="212" presetID="10" presetClass="entr" presetSubtype="0" grpId="0" fill="hold" nodeType="withEffect">
                                  <p:stCondLst>
                                    <p:cond delay="590"/>
                                  </p:stCondLst>
                                  <p:childTnLst>
                                    <p:set>
                                      <p:cBhvr>
                                        <p:cTn id="213" dur="1" fill="hold">
                                          <p:stCondLst>
                                            <p:cond delay="0"/>
                                          </p:stCondLst>
                                        </p:cTn>
                                        <p:tgtEl>
                                          <p:spTgt spid="28">
                                            <p:txEl>
                                              <p:pRg st="0" end="0"/>
                                            </p:txEl>
                                          </p:spTgt>
                                        </p:tgtEl>
                                        <p:attrNameLst>
                                          <p:attrName>style.visibility</p:attrName>
                                        </p:attrNameLst>
                                      </p:cBhvr>
                                      <p:to>
                                        <p:strVal val="visible"/>
                                      </p:to>
                                    </p:set>
                                    <p:animEffect transition="in" filter="fade">
                                      <p:cBhvr>
                                        <p:cTn id="214" dur="450"/>
                                        <p:tgtEl>
                                          <p:spTgt spid="28">
                                            <p:txEl>
                                              <p:pRg st="0" end="0"/>
                                            </p:txEl>
                                          </p:spTgt>
                                        </p:tgtEl>
                                      </p:cBhvr>
                                    </p:animEffect>
                                  </p:childTnLst>
                                </p:cTn>
                              </p:par>
                              <p:par>
                                <p:cTn id="215" presetID="10" presetClass="entr" presetSubtype="0" grpId="0" fill="hold" nodeType="withEffect">
                                  <p:stCondLst>
                                    <p:cond delay="915"/>
                                  </p:stCondLst>
                                  <p:childTnLst>
                                    <p:set>
                                      <p:cBhvr>
                                        <p:cTn id="216" dur="1" fill="hold">
                                          <p:stCondLst>
                                            <p:cond delay="0"/>
                                          </p:stCondLst>
                                        </p:cTn>
                                        <p:tgtEl>
                                          <p:spTgt spid="28">
                                            <p:txEl>
                                              <p:pRg st="1" end="1"/>
                                            </p:txEl>
                                          </p:spTgt>
                                        </p:tgtEl>
                                        <p:attrNameLst>
                                          <p:attrName>style.visibility</p:attrName>
                                        </p:attrNameLst>
                                      </p:cBhvr>
                                      <p:to>
                                        <p:strVal val="visible"/>
                                      </p:to>
                                    </p:set>
                                    <p:animEffect transition="in" filter="fade">
                                      <p:cBhvr>
                                        <p:cTn id="217" dur="450"/>
                                        <p:tgtEl>
                                          <p:spTgt spid="28">
                                            <p:txEl>
                                              <p:pRg st="1" end="1"/>
                                            </p:txEl>
                                          </p:spTgt>
                                        </p:tgtEl>
                                      </p:cBhvr>
                                    </p:animEffect>
                                  </p:childTnLst>
                                </p:cTn>
                              </p:par>
                              <p:par>
                                <p:cTn id="218" presetID="10" presetClass="entr" presetSubtype="0" grpId="0" fill="hold" nodeType="withEffect">
                                  <p:stCondLst>
                                    <p:cond delay="1240"/>
                                  </p:stCondLst>
                                  <p:childTnLst>
                                    <p:set>
                                      <p:cBhvr>
                                        <p:cTn id="219" dur="1" fill="hold">
                                          <p:stCondLst>
                                            <p:cond delay="0"/>
                                          </p:stCondLst>
                                        </p:cTn>
                                        <p:tgtEl>
                                          <p:spTgt spid="28">
                                            <p:txEl>
                                              <p:pRg st="2" end="2"/>
                                            </p:txEl>
                                          </p:spTgt>
                                        </p:tgtEl>
                                        <p:attrNameLst>
                                          <p:attrName>style.visibility</p:attrName>
                                        </p:attrNameLst>
                                      </p:cBhvr>
                                      <p:to>
                                        <p:strVal val="visible"/>
                                      </p:to>
                                    </p:set>
                                    <p:animEffect transition="in" filter="fade">
                                      <p:cBhvr>
                                        <p:cTn id="220" dur="450"/>
                                        <p:tgtEl>
                                          <p:spTgt spid="28">
                                            <p:txEl>
                                              <p:pRg st="2" end="2"/>
                                            </p:txEl>
                                          </p:spTgt>
                                        </p:tgtEl>
                                      </p:cBhvr>
                                    </p:animEffect>
                                  </p:childTnLst>
                                </p:cTn>
                              </p:par>
                              <p:par>
                                <p:cTn id="221" presetID="10" presetClass="entr" presetSubtype="0" grpId="0" fill="hold" nodeType="withEffect">
                                  <p:stCondLst>
                                    <p:cond delay="1565"/>
                                  </p:stCondLst>
                                  <p:childTnLst>
                                    <p:set>
                                      <p:cBhvr>
                                        <p:cTn id="222" dur="1" fill="hold">
                                          <p:stCondLst>
                                            <p:cond delay="0"/>
                                          </p:stCondLst>
                                        </p:cTn>
                                        <p:tgtEl>
                                          <p:spTgt spid="28">
                                            <p:txEl>
                                              <p:pRg st="3" end="3"/>
                                            </p:txEl>
                                          </p:spTgt>
                                        </p:tgtEl>
                                        <p:attrNameLst>
                                          <p:attrName>style.visibility</p:attrName>
                                        </p:attrNameLst>
                                      </p:cBhvr>
                                      <p:to>
                                        <p:strVal val="visible"/>
                                      </p:to>
                                    </p:set>
                                    <p:animEffect transition="in" filter="fade">
                                      <p:cBhvr>
                                        <p:cTn id="223" dur="450"/>
                                        <p:tgtEl>
                                          <p:spTgt spid="28">
                                            <p:txEl>
                                              <p:pRg st="3" end="3"/>
                                            </p:txEl>
                                          </p:spTgt>
                                        </p:tgtEl>
                                      </p:cBhvr>
                                    </p:animEffect>
                                  </p:childTnLst>
                                </p:cTn>
                              </p:par>
                              <p:par>
                                <p:cTn id="224" presetID="10" presetClass="entr" presetSubtype="0" fill="hold" nodeType="withEffect">
                                  <p:stCondLst>
                                    <p:cond delay="580"/>
                                  </p:stCondLst>
                                  <p:childTnLst>
                                    <p:set>
                                      <p:cBhvr>
                                        <p:cTn id="225" dur="1" fill="hold">
                                          <p:stCondLst>
                                            <p:cond delay="0"/>
                                          </p:stCondLst>
                                        </p:cTn>
                                        <p:tgtEl>
                                          <p:spTgt spid="29"/>
                                        </p:tgtEl>
                                        <p:attrNameLst>
                                          <p:attrName>style.visibility</p:attrName>
                                        </p:attrNameLst>
                                      </p:cBhvr>
                                      <p:to>
                                        <p:strVal val="visible"/>
                                      </p:to>
                                    </p:set>
                                    <p:animEffect transition="in" filter="fade">
                                      <p:cBhvr>
                                        <p:cTn id="226" dur="450"/>
                                        <p:tgtEl>
                                          <p:spTgt spid="29"/>
                                        </p:tgtEl>
                                      </p:cBhvr>
                                    </p:animEffect>
                                  </p:childTnLst>
                                </p:cTn>
                              </p:par>
                            </p:childTnLst>
                          </p:cTn>
                        </p:par>
                      </p:childTnLst>
                    </p:cTn>
                  </p:par>
                  <p:par>
                    <p:cTn id="227" fill="hold">
                      <p:stCondLst>
                        <p:cond delay="indefinite"/>
                      </p:stCondLst>
                      <p:childTnLst>
                        <p:par>
                          <p:cTn id="228" fill="hold">
                            <p:stCondLst>
                              <p:cond delay="0"/>
                            </p:stCondLst>
                            <p:childTnLst>
                              <p:par>
                                <p:cTn id="229" presetID="10" presetClass="exit" presetSubtype="0" fill="hold" nodeType="clickEffect">
                                  <p:stCondLst>
                                    <p:cond delay="0"/>
                                  </p:stCondLst>
                                  <p:childTnLst>
                                    <p:animEffect transition="out" filter="fade">
                                      <p:cBhvr>
                                        <p:cTn id="230" dur="350"/>
                                        <p:tgtEl>
                                          <p:spTgt spid="26"/>
                                        </p:tgtEl>
                                      </p:cBhvr>
                                    </p:animEffect>
                                    <p:set>
                                      <p:cBhvr>
                                        <p:cTn id="231" dur="1" fill="hold">
                                          <p:stCondLst>
                                            <p:cond delay="349"/>
                                          </p:stCondLst>
                                        </p:cTn>
                                        <p:tgtEl>
                                          <p:spTgt spid="26"/>
                                        </p:tgtEl>
                                        <p:attrNameLst>
                                          <p:attrName>style.visibility</p:attrName>
                                        </p:attrNameLst>
                                      </p:cBhvr>
                                      <p:to>
                                        <p:strVal val="hidden"/>
                                      </p:to>
                                    </p:set>
                                  </p:childTnLst>
                                </p:cTn>
                              </p:par>
                              <p:par>
                                <p:cTn id="232" presetID="10" presetClass="exit" presetSubtype="0" grpId="0" fill="hold" nodeType="withEffect">
                                  <p:stCondLst>
                                    <p:cond delay="0"/>
                                  </p:stCondLst>
                                  <p:childTnLst>
                                    <p:animEffect transition="out" filter="fade">
                                      <p:cBhvr>
                                        <p:cTn id="233" dur="350"/>
                                        <p:tgtEl>
                                          <p:spTgt spid="28">
                                            <p:txEl>
                                              <p:pRg st="0" end="0"/>
                                            </p:txEl>
                                          </p:spTgt>
                                        </p:tgtEl>
                                      </p:cBhvr>
                                    </p:animEffect>
                                    <p:set>
                                      <p:cBhvr>
                                        <p:cTn id="234" dur="1" fill="hold">
                                          <p:stCondLst>
                                            <p:cond delay="349"/>
                                          </p:stCondLst>
                                        </p:cTn>
                                        <p:tgtEl>
                                          <p:spTgt spid="28">
                                            <p:txEl>
                                              <p:pRg st="0" end="0"/>
                                            </p:txEl>
                                          </p:spTgt>
                                        </p:tgtEl>
                                        <p:attrNameLst>
                                          <p:attrName>style.visibility</p:attrName>
                                        </p:attrNameLst>
                                      </p:cBhvr>
                                      <p:to>
                                        <p:strVal val="hidden"/>
                                      </p:to>
                                    </p:set>
                                  </p:childTnLst>
                                </p:cTn>
                              </p:par>
                              <p:par>
                                <p:cTn id="235" presetID="10" presetClass="exit" presetSubtype="0" grpId="0" fill="hold" nodeType="withEffect">
                                  <p:stCondLst>
                                    <p:cond delay="0"/>
                                  </p:stCondLst>
                                  <p:childTnLst>
                                    <p:animEffect transition="out" filter="fade">
                                      <p:cBhvr>
                                        <p:cTn id="236" dur="350"/>
                                        <p:tgtEl>
                                          <p:spTgt spid="28">
                                            <p:txEl>
                                              <p:pRg st="1" end="1"/>
                                            </p:txEl>
                                          </p:spTgt>
                                        </p:tgtEl>
                                      </p:cBhvr>
                                    </p:animEffect>
                                    <p:set>
                                      <p:cBhvr>
                                        <p:cTn id="237" dur="1" fill="hold">
                                          <p:stCondLst>
                                            <p:cond delay="349"/>
                                          </p:stCondLst>
                                        </p:cTn>
                                        <p:tgtEl>
                                          <p:spTgt spid="28">
                                            <p:txEl>
                                              <p:pRg st="1" end="1"/>
                                            </p:txEl>
                                          </p:spTgt>
                                        </p:tgtEl>
                                        <p:attrNameLst>
                                          <p:attrName>style.visibility</p:attrName>
                                        </p:attrNameLst>
                                      </p:cBhvr>
                                      <p:to>
                                        <p:strVal val="hidden"/>
                                      </p:to>
                                    </p:set>
                                  </p:childTnLst>
                                </p:cTn>
                              </p:par>
                              <p:par>
                                <p:cTn id="238" presetID="10" presetClass="exit" presetSubtype="0" grpId="0" fill="hold" nodeType="withEffect">
                                  <p:stCondLst>
                                    <p:cond delay="0"/>
                                  </p:stCondLst>
                                  <p:childTnLst>
                                    <p:animEffect transition="out" filter="fade">
                                      <p:cBhvr>
                                        <p:cTn id="239" dur="350"/>
                                        <p:tgtEl>
                                          <p:spTgt spid="28">
                                            <p:txEl>
                                              <p:pRg st="2" end="2"/>
                                            </p:txEl>
                                          </p:spTgt>
                                        </p:tgtEl>
                                      </p:cBhvr>
                                    </p:animEffect>
                                    <p:set>
                                      <p:cBhvr>
                                        <p:cTn id="240" dur="1" fill="hold">
                                          <p:stCondLst>
                                            <p:cond delay="349"/>
                                          </p:stCondLst>
                                        </p:cTn>
                                        <p:tgtEl>
                                          <p:spTgt spid="28">
                                            <p:txEl>
                                              <p:pRg st="2" end="2"/>
                                            </p:txEl>
                                          </p:spTgt>
                                        </p:tgtEl>
                                        <p:attrNameLst>
                                          <p:attrName>style.visibility</p:attrName>
                                        </p:attrNameLst>
                                      </p:cBhvr>
                                      <p:to>
                                        <p:strVal val="hidden"/>
                                      </p:to>
                                    </p:set>
                                  </p:childTnLst>
                                </p:cTn>
                              </p:par>
                              <p:par>
                                <p:cTn id="241" presetID="10" presetClass="exit" presetSubtype="0" grpId="0" fill="hold" nodeType="withEffect">
                                  <p:stCondLst>
                                    <p:cond delay="0"/>
                                  </p:stCondLst>
                                  <p:childTnLst>
                                    <p:animEffect transition="out" filter="fade">
                                      <p:cBhvr>
                                        <p:cTn id="242" dur="350"/>
                                        <p:tgtEl>
                                          <p:spTgt spid="28">
                                            <p:txEl>
                                              <p:pRg st="3" end="3"/>
                                            </p:txEl>
                                          </p:spTgt>
                                        </p:tgtEl>
                                      </p:cBhvr>
                                    </p:animEffect>
                                    <p:set>
                                      <p:cBhvr>
                                        <p:cTn id="243" dur="1" fill="hold">
                                          <p:stCondLst>
                                            <p:cond delay="349"/>
                                          </p:stCondLst>
                                        </p:cTn>
                                        <p:tgtEl>
                                          <p:spTgt spid="28">
                                            <p:txEl>
                                              <p:pRg st="3" end="3"/>
                                            </p:txEl>
                                          </p:spTgt>
                                        </p:tgtEl>
                                        <p:attrNameLst>
                                          <p:attrName>style.visibility</p:attrName>
                                        </p:attrNameLst>
                                      </p:cBhvr>
                                      <p:to>
                                        <p:strVal val="hidden"/>
                                      </p:to>
                                    </p:set>
                                  </p:childTnLst>
                                </p:cTn>
                              </p:par>
                              <p:par>
                                <p:cTn id="244" presetID="10" presetClass="exit" presetSubtype="0" fill="hold" nodeType="withEffect">
                                  <p:stCondLst>
                                    <p:cond delay="0"/>
                                  </p:stCondLst>
                                  <p:childTnLst>
                                    <p:animEffect transition="out" filter="fade">
                                      <p:cBhvr>
                                        <p:cTn id="245" dur="350"/>
                                        <p:tgtEl>
                                          <p:spTgt spid="29"/>
                                        </p:tgtEl>
                                      </p:cBhvr>
                                    </p:animEffect>
                                    <p:set>
                                      <p:cBhvr>
                                        <p:cTn id="246" dur="1" fill="hold">
                                          <p:stCondLst>
                                            <p:cond delay="349"/>
                                          </p:stCondLst>
                                        </p:cTn>
                                        <p:tgtEl>
                                          <p:spTgt spid="29"/>
                                        </p:tgtEl>
                                        <p:attrNameLst>
                                          <p:attrName>style.visibility</p:attrName>
                                        </p:attrNameLst>
                                      </p:cBhvr>
                                      <p:to>
                                        <p:strVal val="hidden"/>
                                      </p:to>
                                    </p:set>
                                  </p:childTnLst>
                                </p:cTn>
                              </p:par>
                              <p:par>
                                <p:cTn id="247" presetID="0" presetClass="path" presetSubtype="0" accel="50000" decel="50000" fill="hold" nodeType="withEffect">
                                  <p:stCondLst>
                                    <p:cond delay="0"/>
                                  </p:stCondLst>
                                  <p:childTnLst>
                                    <p:animMotion origin="layout" path="M 0 0 L -0.69483 0.05826 E" pathEditMode="relative" rAng="0" ptsTypes="AA">
                                      <p:cBhvr>
                                        <p:cTn id="248" dur="750" fill="hold"/>
                                        <p:tgtEl>
                                          <p:spTgt spid="23"/>
                                        </p:tgtEl>
                                        <p:attrNameLst>
                                          <p:attrName>ppt_x</p:attrName>
                                          <p:attrName>ppt_y</p:attrName>
                                        </p:attrNameLst>
                                      </p:cBhvr>
                                      <p:rCtr x="-34741" y="2913"/>
                                    </p:animMotion>
                                  </p:childTnLst>
                                </p:cTn>
                              </p:par>
                              <p:par>
                                <p:cTn id="249" presetID="6" presetClass="emph" presetSubtype="0" accel="50000" decel="50000" fill="hold" nodeType="withEffect">
                                  <p:stCondLst>
                                    <p:cond delay="0"/>
                                  </p:stCondLst>
                                  <p:childTnLst>
                                    <p:animScale>
                                      <p:cBhvr>
                                        <p:cTn id="250" dur="750" fill="hold"/>
                                        <p:tgtEl>
                                          <p:spTgt spid="23"/>
                                        </p:tgtEl>
                                      </p:cBhvr>
                                      <p:by x="153355" y="153355"/>
                                    </p:animScale>
                                  </p:childTnLst>
                                </p:cTn>
                              </p:par>
                              <p:par>
                                <p:cTn id="251" presetID="0" presetClass="path" presetSubtype="0" accel="50000" decel="50000" fill="hold" nodeType="withEffect">
                                  <p:stCondLst>
                                    <p:cond delay="0"/>
                                  </p:stCondLst>
                                  <p:childTnLst>
                                    <p:animMotion origin="layout" path="M 0 0 L 0.38098 -0.15408 E" pathEditMode="relative" rAng="0" ptsTypes="AA">
                                      <p:cBhvr>
                                        <p:cTn id="252" dur="750" fill="hold"/>
                                        <p:tgtEl>
                                          <p:spTgt spid="27"/>
                                        </p:tgtEl>
                                        <p:attrNameLst>
                                          <p:attrName>ppt_x</p:attrName>
                                          <p:attrName>ppt_y</p:attrName>
                                        </p:attrNameLst>
                                      </p:cBhvr>
                                      <p:rCtr x="19048" y="-7704"/>
                                    </p:animMotion>
                                  </p:childTnLst>
                                </p:cTn>
                              </p:par>
                              <p:par>
                                <p:cTn id="253" presetID="6" presetClass="emph" presetSubtype="0" accel="50000" decel="50000" fill="hold" nodeType="withEffect">
                                  <p:stCondLst>
                                    <p:cond delay="0"/>
                                  </p:stCondLst>
                                  <p:childTnLst>
                                    <p:animScale>
                                      <p:cBhvr>
                                        <p:cTn id="254" dur="750" fill="hold"/>
                                        <p:tgtEl>
                                          <p:spTgt spid="27"/>
                                        </p:tgtEl>
                                      </p:cBhvr>
                                      <p:by x="41862" y="41888"/>
                                    </p:animScale>
                                  </p:childTnLst>
                                </p:cTn>
                              </p:par>
                              <p:par>
                                <p:cTn id="255" presetID="10" presetClass="entr" presetSubtype="0" fill="hold" nodeType="withEffect">
                                  <p:stCondLst>
                                    <p:cond delay="450"/>
                                  </p:stCondLst>
                                  <p:childTnLst>
                                    <p:set>
                                      <p:cBhvr>
                                        <p:cTn id="256" dur="1" fill="hold">
                                          <p:stCondLst>
                                            <p:cond delay="0"/>
                                          </p:stCondLst>
                                        </p:cTn>
                                        <p:tgtEl>
                                          <p:spTgt spid="30"/>
                                        </p:tgtEl>
                                        <p:attrNameLst>
                                          <p:attrName>style.visibility</p:attrName>
                                        </p:attrNameLst>
                                      </p:cBhvr>
                                      <p:to>
                                        <p:strVal val="visible"/>
                                      </p:to>
                                    </p:set>
                                    <p:animEffect transition="in" filter="fade">
                                      <p:cBhvr>
                                        <p:cTn id="257" dur="450"/>
                                        <p:tgtEl>
                                          <p:spTgt spid="30"/>
                                        </p:tgtEl>
                                      </p:cBhvr>
                                    </p:animEffect>
                                  </p:childTnLst>
                                </p:cTn>
                              </p:par>
                              <p:par>
                                <p:cTn id="258" presetID="22" presetClass="entr" presetSubtype="4" fill="hold" nodeType="withEffect">
                                  <p:stCondLst>
                                    <p:cond delay="520"/>
                                  </p:stCondLst>
                                  <p:childTnLst>
                                    <p:set>
                                      <p:cBhvr>
                                        <p:cTn id="259" dur="1" fill="hold">
                                          <p:stCondLst>
                                            <p:cond delay="0"/>
                                          </p:stCondLst>
                                        </p:cTn>
                                        <p:tgtEl>
                                          <p:spTgt spid="31"/>
                                        </p:tgtEl>
                                        <p:attrNameLst>
                                          <p:attrName>style.visibility</p:attrName>
                                        </p:attrNameLst>
                                      </p:cBhvr>
                                      <p:to>
                                        <p:strVal val="visible"/>
                                      </p:to>
                                    </p:set>
                                    <p:animEffect transition="in" filter="wipe(down)">
                                      <p:cBhvr>
                                        <p:cTn id="260" dur="500"/>
                                        <p:tgtEl>
                                          <p:spTgt spid="31"/>
                                        </p:tgtEl>
                                      </p:cBhvr>
                                    </p:animEffect>
                                  </p:childTnLst>
                                </p:cTn>
                              </p:par>
                              <p:par>
                                <p:cTn id="261" presetID="10" presetClass="entr" presetSubtype="0" grpId="0" fill="hold" nodeType="withEffect">
                                  <p:stCondLst>
                                    <p:cond delay="590"/>
                                  </p:stCondLst>
                                  <p:childTnLst>
                                    <p:set>
                                      <p:cBhvr>
                                        <p:cTn id="262" dur="1" fill="hold">
                                          <p:stCondLst>
                                            <p:cond delay="0"/>
                                          </p:stCondLst>
                                        </p:cTn>
                                        <p:tgtEl>
                                          <p:spTgt spid="32">
                                            <p:txEl>
                                              <p:pRg st="0" end="0"/>
                                            </p:txEl>
                                          </p:spTgt>
                                        </p:tgtEl>
                                        <p:attrNameLst>
                                          <p:attrName>style.visibility</p:attrName>
                                        </p:attrNameLst>
                                      </p:cBhvr>
                                      <p:to>
                                        <p:strVal val="visible"/>
                                      </p:to>
                                    </p:set>
                                    <p:animEffect transition="in" filter="fade">
                                      <p:cBhvr>
                                        <p:cTn id="263" dur="450"/>
                                        <p:tgtEl>
                                          <p:spTgt spid="32">
                                            <p:txEl>
                                              <p:pRg st="0" end="0"/>
                                            </p:txEl>
                                          </p:spTgt>
                                        </p:tgtEl>
                                      </p:cBhvr>
                                    </p:animEffect>
                                  </p:childTnLst>
                                </p:cTn>
                              </p:par>
                              <p:par>
                                <p:cTn id="264" presetID="10" presetClass="entr" presetSubtype="0" grpId="0" fill="hold" nodeType="withEffect">
                                  <p:stCondLst>
                                    <p:cond delay="970"/>
                                  </p:stCondLst>
                                  <p:childTnLst>
                                    <p:set>
                                      <p:cBhvr>
                                        <p:cTn id="265" dur="1" fill="hold">
                                          <p:stCondLst>
                                            <p:cond delay="0"/>
                                          </p:stCondLst>
                                        </p:cTn>
                                        <p:tgtEl>
                                          <p:spTgt spid="32">
                                            <p:txEl>
                                              <p:pRg st="1" end="1"/>
                                            </p:txEl>
                                          </p:spTgt>
                                        </p:tgtEl>
                                        <p:attrNameLst>
                                          <p:attrName>style.visibility</p:attrName>
                                        </p:attrNameLst>
                                      </p:cBhvr>
                                      <p:to>
                                        <p:strVal val="visible"/>
                                      </p:to>
                                    </p:set>
                                    <p:animEffect transition="in" filter="fade">
                                      <p:cBhvr>
                                        <p:cTn id="266" dur="450"/>
                                        <p:tgtEl>
                                          <p:spTgt spid="32">
                                            <p:txEl>
                                              <p:pRg st="1" end="1"/>
                                            </p:txEl>
                                          </p:spTgt>
                                        </p:tgtEl>
                                      </p:cBhvr>
                                    </p:animEffect>
                                  </p:childTnLst>
                                </p:cTn>
                              </p:par>
                              <p:par>
                                <p:cTn id="267" presetID="10" presetClass="entr" presetSubtype="0" grpId="0" fill="hold" nodeType="withEffect">
                                  <p:stCondLst>
                                    <p:cond delay="1350"/>
                                  </p:stCondLst>
                                  <p:childTnLst>
                                    <p:set>
                                      <p:cBhvr>
                                        <p:cTn id="268" dur="1" fill="hold">
                                          <p:stCondLst>
                                            <p:cond delay="0"/>
                                          </p:stCondLst>
                                        </p:cTn>
                                        <p:tgtEl>
                                          <p:spTgt spid="32">
                                            <p:txEl>
                                              <p:pRg st="2" end="2"/>
                                            </p:txEl>
                                          </p:spTgt>
                                        </p:tgtEl>
                                        <p:attrNameLst>
                                          <p:attrName>style.visibility</p:attrName>
                                        </p:attrNameLst>
                                      </p:cBhvr>
                                      <p:to>
                                        <p:strVal val="visible"/>
                                      </p:to>
                                    </p:set>
                                    <p:animEffect transition="in" filter="fade">
                                      <p:cBhvr>
                                        <p:cTn id="269" dur="450"/>
                                        <p:tgtEl>
                                          <p:spTgt spid="32">
                                            <p:txEl>
                                              <p:pRg st="2" end="2"/>
                                            </p:txEl>
                                          </p:spTgt>
                                        </p:tgtEl>
                                      </p:cBhvr>
                                    </p:animEffect>
                                  </p:childTnLst>
                                </p:cTn>
                              </p:par>
                              <p:par>
                                <p:cTn id="270" presetID="22" presetClass="entr" presetSubtype="4" fill="hold" nodeType="withEffect">
                                  <p:stCondLst>
                                    <p:cond delay="660"/>
                                  </p:stCondLst>
                                  <p:childTnLst>
                                    <p:set>
                                      <p:cBhvr>
                                        <p:cTn id="271" dur="1" fill="hold">
                                          <p:stCondLst>
                                            <p:cond delay="0"/>
                                          </p:stCondLst>
                                        </p:cTn>
                                        <p:tgtEl>
                                          <p:spTgt spid="33"/>
                                        </p:tgtEl>
                                        <p:attrNameLst>
                                          <p:attrName>style.visibility</p:attrName>
                                        </p:attrNameLst>
                                      </p:cBhvr>
                                      <p:to>
                                        <p:strVal val="visible"/>
                                      </p:to>
                                    </p:set>
                                    <p:animEffect transition="in" filter="wipe(down)">
                                      <p:cBhvr>
                                        <p:cTn id="272" dur="500"/>
                                        <p:tgtEl>
                                          <p:spTgt spid="33"/>
                                        </p:tgtEl>
                                      </p:cBhvr>
                                    </p:animEffect>
                                  </p:childTnLst>
                                </p:cTn>
                              </p:par>
                              <p:par>
                                <p:cTn id="273" presetID="10" presetClass="entr" presetSubtype="0" grpId="0" fill="hold" nodeType="withEffect">
                                  <p:stCondLst>
                                    <p:cond delay="730"/>
                                  </p:stCondLst>
                                  <p:childTnLst>
                                    <p:set>
                                      <p:cBhvr>
                                        <p:cTn id="274" dur="1" fill="hold">
                                          <p:stCondLst>
                                            <p:cond delay="0"/>
                                          </p:stCondLst>
                                        </p:cTn>
                                        <p:tgtEl>
                                          <p:spTgt spid="34">
                                            <p:txEl>
                                              <p:pRg st="0" end="0"/>
                                            </p:txEl>
                                          </p:spTgt>
                                        </p:tgtEl>
                                        <p:attrNameLst>
                                          <p:attrName>style.visibility</p:attrName>
                                        </p:attrNameLst>
                                      </p:cBhvr>
                                      <p:to>
                                        <p:strVal val="visible"/>
                                      </p:to>
                                    </p:set>
                                    <p:animEffect transition="in" filter="fade">
                                      <p:cBhvr>
                                        <p:cTn id="275" dur="450"/>
                                        <p:tgtEl>
                                          <p:spTgt spid="34">
                                            <p:txEl>
                                              <p:pRg st="0" end="0"/>
                                            </p:txEl>
                                          </p:spTgt>
                                        </p:tgtEl>
                                      </p:cBhvr>
                                    </p:animEffect>
                                  </p:childTnLst>
                                </p:cTn>
                              </p:par>
                              <p:par>
                                <p:cTn id="276" presetID="10" presetClass="entr" presetSubtype="0" grpId="0" fill="hold" nodeType="withEffect">
                                  <p:stCondLst>
                                    <p:cond delay="1110"/>
                                  </p:stCondLst>
                                  <p:childTnLst>
                                    <p:set>
                                      <p:cBhvr>
                                        <p:cTn id="277" dur="1" fill="hold">
                                          <p:stCondLst>
                                            <p:cond delay="0"/>
                                          </p:stCondLst>
                                        </p:cTn>
                                        <p:tgtEl>
                                          <p:spTgt spid="34">
                                            <p:txEl>
                                              <p:pRg st="1" end="1"/>
                                            </p:txEl>
                                          </p:spTgt>
                                        </p:tgtEl>
                                        <p:attrNameLst>
                                          <p:attrName>style.visibility</p:attrName>
                                        </p:attrNameLst>
                                      </p:cBhvr>
                                      <p:to>
                                        <p:strVal val="visible"/>
                                      </p:to>
                                    </p:set>
                                    <p:animEffect transition="in" filter="fade">
                                      <p:cBhvr>
                                        <p:cTn id="278" dur="450"/>
                                        <p:tgtEl>
                                          <p:spTgt spid="34">
                                            <p:txEl>
                                              <p:pRg st="1" end="1"/>
                                            </p:txEl>
                                          </p:spTgt>
                                        </p:tgtEl>
                                      </p:cBhvr>
                                    </p:animEffect>
                                  </p:childTnLst>
                                </p:cTn>
                              </p:par>
                              <p:par>
                                <p:cTn id="279" presetID="10" presetClass="entr" presetSubtype="0" grpId="0" fill="hold" nodeType="withEffect">
                                  <p:stCondLst>
                                    <p:cond delay="1490"/>
                                  </p:stCondLst>
                                  <p:childTnLst>
                                    <p:set>
                                      <p:cBhvr>
                                        <p:cTn id="280" dur="1" fill="hold">
                                          <p:stCondLst>
                                            <p:cond delay="0"/>
                                          </p:stCondLst>
                                        </p:cTn>
                                        <p:tgtEl>
                                          <p:spTgt spid="34">
                                            <p:txEl>
                                              <p:pRg st="2" end="2"/>
                                            </p:txEl>
                                          </p:spTgt>
                                        </p:tgtEl>
                                        <p:attrNameLst>
                                          <p:attrName>style.visibility</p:attrName>
                                        </p:attrNameLst>
                                      </p:cBhvr>
                                      <p:to>
                                        <p:strVal val="visible"/>
                                      </p:to>
                                    </p:set>
                                    <p:animEffect transition="in" filter="fade">
                                      <p:cBhvr>
                                        <p:cTn id="281" dur="450"/>
                                        <p:tgtEl>
                                          <p:spTgt spid="34">
                                            <p:txEl>
                                              <p:pRg st="2" end="2"/>
                                            </p:txEl>
                                          </p:spTgt>
                                        </p:tgtEl>
                                      </p:cBhvr>
                                    </p:animEffect>
                                  </p:childTnLst>
                                </p:cTn>
                              </p:par>
                              <p:par>
                                <p:cTn id="282" presetID="10" presetClass="entr" presetSubtype="0" fill="hold" nodeType="withEffect">
                                  <p:stCondLst>
                                    <p:cond delay="580"/>
                                  </p:stCondLst>
                                  <p:childTnLst>
                                    <p:set>
                                      <p:cBhvr>
                                        <p:cTn id="283" dur="1" fill="hold">
                                          <p:stCondLst>
                                            <p:cond delay="0"/>
                                          </p:stCondLst>
                                        </p:cTn>
                                        <p:tgtEl>
                                          <p:spTgt spid="35"/>
                                        </p:tgtEl>
                                        <p:attrNameLst>
                                          <p:attrName>style.visibility</p:attrName>
                                        </p:attrNameLst>
                                      </p:cBhvr>
                                      <p:to>
                                        <p:strVal val="visible"/>
                                      </p:to>
                                    </p:set>
                                    <p:animEffect transition="in" filter="fade">
                                      <p:cBhvr>
                                        <p:cTn id="284" dur="450"/>
                                        <p:tgtEl>
                                          <p:spTgt spid="35"/>
                                        </p:tgtEl>
                                      </p:cBhvr>
                                    </p:animEffect>
                                  </p:childTnLst>
                                </p:cTn>
                              </p:par>
                            </p:childTnLst>
                          </p:cTn>
                        </p:par>
                      </p:childTnLst>
                    </p:cTn>
                  </p:par>
                  <p:par>
                    <p:cTn id="285" fill="hold">
                      <p:stCondLst>
                        <p:cond delay="indefinite"/>
                      </p:stCondLst>
                      <p:childTnLst>
                        <p:par>
                          <p:cTn id="286" fill="hold">
                            <p:stCondLst>
                              <p:cond delay="0"/>
                            </p:stCondLst>
                            <p:childTnLst>
                              <p:par>
                                <p:cTn id="287" presetID="10" presetClass="exit" presetSubtype="0" fill="hold" nodeType="clickEffect">
                                  <p:stCondLst>
                                    <p:cond delay="0"/>
                                  </p:stCondLst>
                                  <p:childTnLst>
                                    <p:animEffect transition="out" filter="fade">
                                      <p:cBhvr>
                                        <p:cTn id="288" dur="350"/>
                                        <p:tgtEl>
                                          <p:spTgt spid="30"/>
                                        </p:tgtEl>
                                      </p:cBhvr>
                                    </p:animEffect>
                                    <p:set>
                                      <p:cBhvr>
                                        <p:cTn id="289" dur="1" fill="hold">
                                          <p:stCondLst>
                                            <p:cond delay="349"/>
                                          </p:stCondLst>
                                        </p:cTn>
                                        <p:tgtEl>
                                          <p:spTgt spid="30"/>
                                        </p:tgtEl>
                                        <p:attrNameLst>
                                          <p:attrName>style.visibility</p:attrName>
                                        </p:attrNameLst>
                                      </p:cBhvr>
                                      <p:to>
                                        <p:strVal val="hidden"/>
                                      </p:to>
                                    </p:set>
                                  </p:childTnLst>
                                </p:cTn>
                              </p:par>
                              <p:par>
                                <p:cTn id="290" presetID="10" presetClass="exit" presetSubtype="0" fill="hold" nodeType="withEffect">
                                  <p:stCondLst>
                                    <p:cond delay="0"/>
                                  </p:stCondLst>
                                  <p:childTnLst>
                                    <p:animEffect transition="out" filter="fade">
                                      <p:cBhvr>
                                        <p:cTn id="291" dur="350"/>
                                        <p:tgtEl>
                                          <p:spTgt spid="31"/>
                                        </p:tgtEl>
                                      </p:cBhvr>
                                    </p:animEffect>
                                    <p:set>
                                      <p:cBhvr>
                                        <p:cTn id="292" dur="1" fill="hold">
                                          <p:stCondLst>
                                            <p:cond delay="349"/>
                                          </p:stCondLst>
                                        </p:cTn>
                                        <p:tgtEl>
                                          <p:spTgt spid="31"/>
                                        </p:tgtEl>
                                        <p:attrNameLst>
                                          <p:attrName>style.visibility</p:attrName>
                                        </p:attrNameLst>
                                      </p:cBhvr>
                                      <p:to>
                                        <p:strVal val="hidden"/>
                                      </p:to>
                                    </p:set>
                                  </p:childTnLst>
                                </p:cTn>
                              </p:par>
                              <p:par>
                                <p:cTn id="293" presetID="10" presetClass="exit" presetSubtype="0" grpId="0" fill="hold" nodeType="withEffect">
                                  <p:stCondLst>
                                    <p:cond delay="0"/>
                                  </p:stCondLst>
                                  <p:childTnLst>
                                    <p:animEffect transition="out" filter="fade">
                                      <p:cBhvr>
                                        <p:cTn id="294" dur="350"/>
                                        <p:tgtEl>
                                          <p:spTgt spid="32">
                                            <p:txEl>
                                              <p:pRg st="0" end="0"/>
                                            </p:txEl>
                                          </p:spTgt>
                                        </p:tgtEl>
                                      </p:cBhvr>
                                    </p:animEffect>
                                    <p:set>
                                      <p:cBhvr>
                                        <p:cTn id="295" dur="1" fill="hold">
                                          <p:stCondLst>
                                            <p:cond delay="349"/>
                                          </p:stCondLst>
                                        </p:cTn>
                                        <p:tgtEl>
                                          <p:spTgt spid="32">
                                            <p:txEl>
                                              <p:pRg st="0" end="0"/>
                                            </p:txEl>
                                          </p:spTgt>
                                        </p:tgtEl>
                                        <p:attrNameLst>
                                          <p:attrName>style.visibility</p:attrName>
                                        </p:attrNameLst>
                                      </p:cBhvr>
                                      <p:to>
                                        <p:strVal val="hidden"/>
                                      </p:to>
                                    </p:set>
                                  </p:childTnLst>
                                </p:cTn>
                              </p:par>
                              <p:par>
                                <p:cTn id="296" presetID="10" presetClass="exit" presetSubtype="0" grpId="0" fill="hold" nodeType="withEffect">
                                  <p:stCondLst>
                                    <p:cond delay="0"/>
                                  </p:stCondLst>
                                  <p:childTnLst>
                                    <p:animEffect transition="out" filter="fade">
                                      <p:cBhvr>
                                        <p:cTn id="297" dur="350"/>
                                        <p:tgtEl>
                                          <p:spTgt spid="32">
                                            <p:txEl>
                                              <p:pRg st="1" end="1"/>
                                            </p:txEl>
                                          </p:spTgt>
                                        </p:tgtEl>
                                      </p:cBhvr>
                                    </p:animEffect>
                                    <p:set>
                                      <p:cBhvr>
                                        <p:cTn id="298" dur="1" fill="hold">
                                          <p:stCondLst>
                                            <p:cond delay="349"/>
                                          </p:stCondLst>
                                        </p:cTn>
                                        <p:tgtEl>
                                          <p:spTgt spid="32">
                                            <p:txEl>
                                              <p:pRg st="1" end="1"/>
                                            </p:txEl>
                                          </p:spTgt>
                                        </p:tgtEl>
                                        <p:attrNameLst>
                                          <p:attrName>style.visibility</p:attrName>
                                        </p:attrNameLst>
                                      </p:cBhvr>
                                      <p:to>
                                        <p:strVal val="hidden"/>
                                      </p:to>
                                    </p:set>
                                  </p:childTnLst>
                                </p:cTn>
                              </p:par>
                              <p:par>
                                <p:cTn id="299" presetID="10" presetClass="exit" presetSubtype="0" grpId="0" fill="hold" nodeType="withEffect">
                                  <p:stCondLst>
                                    <p:cond delay="0"/>
                                  </p:stCondLst>
                                  <p:childTnLst>
                                    <p:animEffect transition="out" filter="fade">
                                      <p:cBhvr>
                                        <p:cTn id="300" dur="350"/>
                                        <p:tgtEl>
                                          <p:spTgt spid="32">
                                            <p:txEl>
                                              <p:pRg st="2" end="2"/>
                                            </p:txEl>
                                          </p:spTgt>
                                        </p:tgtEl>
                                      </p:cBhvr>
                                    </p:animEffect>
                                    <p:set>
                                      <p:cBhvr>
                                        <p:cTn id="301" dur="1" fill="hold">
                                          <p:stCondLst>
                                            <p:cond delay="349"/>
                                          </p:stCondLst>
                                        </p:cTn>
                                        <p:tgtEl>
                                          <p:spTgt spid="32">
                                            <p:txEl>
                                              <p:pRg st="2" end="2"/>
                                            </p:txEl>
                                          </p:spTgt>
                                        </p:tgtEl>
                                        <p:attrNameLst>
                                          <p:attrName>style.visibility</p:attrName>
                                        </p:attrNameLst>
                                      </p:cBhvr>
                                      <p:to>
                                        <p:strVal val="hidden"/>
                                      </p:to>
                                    </p:set>
                                  </p:childTnLst>
                                </p:cTn>
                              </p:par>
                              <p:par>
                                <p:cTn id="302" presetID="10" presetClass="exit" presetSubtype="0" fill="hold" nodeType="withEffect">
                                  <p:stCondLst>
                                    <p:cond delay="0"/>
                                  </p:stCondLst>
                                  <p:childTnLst>
                                    <p:animEffect transition="out" filter="fade">
                                      <p:cBhvr>
                                        <p:cTn id="303" dur="350"/>
                                        <p:tgtEl>
                                          <p:spTgt spid="33"/>
                                        </p:tgtEl>
                                      </p:cBhvr>
                                    </p:animEffect>
                                    <p:set>
                                      <p:cBhvr>
                                        <p:cTn id="304" dur="1" fill="hold">
                                          <p:stCondLst>
                                            <p:cond delay="349"/>
                                          </p:stCondLst>
                                        </p:cTn>
                                        <p:tgtEl>
                                          <p:spTgt spid="33"/>
                                        </p:tgtEl>
                                        <p:attrNameLst>
                                          <p:attrName>style.visibility</p:attrName>
                                        </p:attrNameLst>
                                      </p:cBhvr>
                                      <p:to>
                                        <p:strVal val="hidden"/>
                                      </p:to>
                                    </p:set>
                                  </p:childTnLst>
                                </p:cTn>
                              </p:par>
                              <p:par>
                                <p:cTn id="305" presetID="10" presetClass="exit" presetSubtype="0" grpId="0" fill="hold" nodeType="withEffect">
                                  <p:stCondLst>
                                    <p:cond delay="0"/>
                                  </p:stCondLst>
                                  <p:childTnLst>
                                    <p:animEffect transition="out" filter="fade">
                                      <p:cBhvr>
                                        <p:cTn id="306" dur="350"/>
                                        <p:tgtEl>
                                          <p:spTgt spid="34">
                                            <p:txEl>
                                              <p:pRg st="0" end="0"/>
                                            </p:txEl>
                                          </p:spTgt>
                                        </p:tgtEl>
                                      </p:cBhvr>
                                    </p:animEffect>
                                    <p:set>
                                      <p:cBhvr>
                                        <p:cTn id="307" dur="1" fill="hold">
                                          <p:stCondLst>
                                            <p:cond delay="349"/>
                                          </p:stCondLst>
                                        </p:cTn>
                                        <p:tgtEl>
                                          <p:spTgt spid="34">
                                            <p:txEl>
                                              <p:pRg st="0" end="0"/>
                                            </p:txEl>
                                          </p:spTgt>
                                        </p:tgtEl>
                                        <p:attrNameLst>
                                          <p:attrName>style.visibility</p:attrName>
                                        </p:attrNameLst>
                                      </p:cBhvr>
                                      <p:to>
                                        <p:strVal val="hidden"/>
                                      </p:to>
                                    </p:set>
                                  </p:childTnLst>
                                </p:cTn>
                              </p:par>
                              <p:par>
                                <p:cTn id="308" presetID="10" presetClass="exit" presetSubtype="0" grpId="0" fill="hold" nodeType="withEffect">
                                  <p:stCondLst>
                                    <p:cond delay="0"/>
                                  </p:stCondLst>
                                  <p:childTnLst>
                                    <p:animEffect transition="out" filter="fade">
                                      <p:cBhvr>
                                        <p:cTn id="309" dur="350"/>
                                        <p:tgtEl>
                                          <p:spTgt spid="34">
                                            <p:txEl>
                                              <p:pRg st="1" end="1"/>
                                            </p:txEl>
                                          </p:spTgt>
                                        </p:tgtEl>
                                      </p:cBhvr>
                                    </p:animEffect>
                                    <p:set>
                                      <p:cBhvr>
                                        <p:cTn id="310" dur="1" fill="hold">
                                          <p:stCondLst>
                                            <p:cond delay="349"/>
                                          </p:stCondLst>
                                        </p:cTn>
                                        <p:tgtEl>
                                          <p:spTgt spid="34">
                                            <p:txEl>
                                              <p:pRg st="1" end="1"/>
                                            </p:txEl>
                                          </p:spTgt>
                                        </p:tgtEl>
                                        <p:attrNameLst>
                                          <p:attrName>style.visibility</p:attrName>
                                        </p:attrNameLst>
                                      </p:cBhvr>
                                      <p:to>
                                        <p:strVal val="hidden"/>
                                      </p:to>
                                    </p:set>
                                  </p:childTnLst>
                                </p:cTn>
                              </p:par>
                              <p:par>
                                <p:cTn id="311" presetID="10" presetClass="exit" presetSubtype="0" grpId="0" fill="hold" nodeType="withEffect">
                                  <p:stCondLst>
                                    <p:cond delay="0"/>
                                  </p:stCondLst>
                                  <p:childTnLst>
                                    <p:animEffect transition="out" filter="fade">
                                      <p:cBhvr>
                                        <p:cTn id="312" dur="350"/>
                                        <p:tgtEl>
                                          <p:spTgt spid="34">
                                            <p:txEl>
                                              <p:pRg st="2" end="2"/>
                                            </p:txEl>
                                          </p:spTgt>
                                        </p:tgtEl>
                                      </p:cBhvr>
                                    </p:animEffect>
                                    <p:set>
                                      <p:cBhvr>
                                        <p:cTn id="313" dur="1" fill="hold">
                                          <p:stCondLst>
                                            <p:cond delay="349"/>
                                          </p:stCondLst>
                                        </p:cTn>
                                        <p:tgtEl>
                                          <p:spTgt spid="34">
                                            <p:txEl>
                                              <p:pRg st="2" end="2"/>
                                            </p:txEl>
                                          </p:spTgt>
                                        </p:tgtEl>
                                        <p:attrNameLst>
                                          <p:attrName>style.visibility</p:attrName>
                                        </p:attrNameLst>
                                      </p:cBhvr>
                                      <p:to>
                                        <p:strVal val="hidden"/>
                                      </p:to>
                                    </p:set>
                                  </p:childTnLst>
                                </p:cTn>
                              </p:par>
                              <p:par>
                                <p:cTn id="314" presetID="10" presetClass="exit" presetSubtype="0" fill="hold" nodeType="withEffect">
                                  <p:stCondLst>
                                    <p:cond delay="0"/>
                                  </p:stCondLst>
                                  <p:childTnLst>
                                    <p:animEffect transition="out" filter="fade">
                                      <p:cBhvr>
                                        <p:cTn id="315" dur="350"/>
                                        <p:tgtEl>
                                          <p:spTgt spid="35"/>
                                        </p:tgtEl>
                                      </p:cBhvr>
                                    </p:animEffect>
                                    <p:set>
                                      <p:cBhvr>
                                        <p:cTn id="316" dur="1" fill="hold">
                                          <p:stCondLst>
                                            <p:cond delay="349"/>
                                          </p:stCondLst>
                                        </p:cTn>
                                        <p:tgtEl>
                                          <p:spTgt spid="35"/>
                                        </p:tgtEl>
                                        <p:attrNameLst>
                                          <p:attrName>style.visibility</p:attrName>
                                        </p:attrNameLst>
                                      </p:cBhvr>
                                      <p:to>
                                        <p:strVal val="hidden"/>
                                      </p:to>
                                    </p:set>
                                  </p:childTnLst>
                                </p:cTn>
                              </p:par>
                              <p:par>
                                <p:cTn id="317" presetID="10" presetClass="entr" presetSubtype="0" fill="hold" nodeType="withEffect">
                                  <p:stCondLst>
                                    <p:cond delay="450"/>
                                  </p:stCondLst>
                                  <p:childTnLst>
                                    <p:set>
                                      <p:cBhvr>
                                        <p:cTn id="318" dur="1" fill="hold">
                                          <p:stCondLst>
                                            <p:cond delay="0"/>
                                          </p:stCondLst>
                                        </p:cTn>
                                        <p:tgtEl>
                                          <p:spTgt spid="36"/>
                                        </p:tgtEl>
                                        <p:attrNameLst>
                                          <p:attrName>style.visibility</p:attrName>
                                        </p:attrNameLst>
                                      </p:cBhvr>
                                      <p:to>
                                        <p:strVal val="visible"/>
                                      </p:to>
                                    </p:set>
                                    <p:animEffect transition="in" filter="fade">
                                      <p:cBhvr>
                                        <p:cTn id="319" dur="450"/>
                                        <p:tgtEl>
                                          <p:spTgt spid="36"/>
                                        </p:tgtEl>
                                      </p:cBhvr>
                                    </p:animEffect>
                                  </p:childTnLst>
                                </p:cTn>
                              </p:par>
                              <p:par>
                                <p:cTn id="320" presetID="22" presetClass="entr" presetSubtype="8" fill="hold" nodeType="withEffect">
                                  <p:stCondLst>
                                    <p:cond delay="520"/>
                                  </p:stCondLst>
                                  <p:childTnLst>
                                    <p:set>
                                      <p:cBhvr>
                                        <p:cTn id="321" dur="1" fill="hold">
                                          <p:stCondLst>
                                            <p:cond delay="0"/>
                                          </p:stCondLst>
                                        </p:cTn>
                                        <p:tgtEl>
                                          <p:spTgt spid="37"/>
                                        </p:tgtEl>
                                        <p:attrNameLst>
                                          <p:attrName>style.visibility</p:attrName>
                                        </p:attrNameLst>
                                      </p:cBhvr>
                                      <p:to>
                                        <p:strVal val="visible"/>
                                      </p:to>
                                    </p:set>
                                    <p:animEffect transition="in" filter="wipe(left)">
                                      <p:cBhvr>
                                        <p:cTn id="322" dur="500"/>
                                        <p:tgtEl>
                                          <p:spTgt spid="37"/>
                                        </p:tgtEl>
                                      </p:cBhvr>
                                    </p:animEffect>
                                  </p:childTnLst>
                                </p:cTn>
                              </p:par>
                              <p:par>
                                <p:cTn id="323" presetID="10" presetClass="entr" presetSubtype="0" grpId="0" fill="hold" nodeType="withEffect">
                                  <p:stCondLst>
                                    <p:cond delay="590"/>
                                  </p:stCondLst>
                                  <p:childTnLst>
                                    <p:set>
                                      <p:cBhvr>
                                        <p:cTn id="324" dur="1" fill="hold">
                                          <p:stCondLst>
                                            <p:cond delay="0"/>
                                          </p:stCondLst>
                                        </p:cTn>
                                        <p:tgtEl>
                                          <p:spTgt spid="38">
                                            <p:txEl>
                                              <p:pRg st="0" end="0"/>
                                            </p:txEl>
                                          </p:spTgt>
                                        </p:tgtEl>
                                        <p:attrNameLst>
                                          <p:attrName>style.visibility</p:attrName>
                                        </p:attrNameLst>
                                      </p:cBhvr>
                                      <p:to>
                                        <p:strVal val="visible"/>
                                      </p:to>
                                    </p:set>
                                    <p:animEffect transition="in" filter="fade">
                                      <p:cBhvr>
                                        <p:cTn id="325" dur="450"/>
                                        <p:tgtEl>
                                          <p:spTgt spid="38">
                                            <p:txEl>
                                              <p:pRg st="0" end="0"/>
                                            </p:txEl>
                                          </p:spTgt>
                                        </p:tgtEl>
                                      </p:cBhvr>
                                    </p:animEffect>
                                  </p:childTnLst>
                                </p:cTn>
                              </p:par>
                              <p:par>
                                <p:cTn id="326" presetID="10" presetClass="entr" presetSubtype="0" grpId="0" fill="hold" nodeType="withEffect">
                                  <p:stCondLst>
                                    <p:cond delay="970"/>
                                  </p:stCondLst>
                                  <p:childTnLst>
                                    <p:set>
                                      <p:cBhvr>
                                        <p:cTn id="327" dur="1" fill="hold">
                                          <p:stCondLst>
                                            <p:cond delay="0"/>
                                          </p:stCondLst>
                                        </p:cTn>
                                        <p:tgtEl>
                                          <p:spTgt spid="38">
                                            <p:txEl>
                                              <p:pRg st="1" end="1"/>
                                            </p:txEl>
                                          </p:spTgt>
                                        </p:tgtEl>
                                        <p:attrNameLst>
                                          <p:attrName>style.visibility</p:attrName>
                                        </p:attrNameLst>
                                      </p:cBhvr>
                                      <p:to>
                                        <p:strVal val="visible"/>
                                      </p:to>
                                    </p:set>
                                    <p:animEffect transition="in" filter="fade">
                                      <p:cBhvr>
                                        <p:cTn id="328" dur="450"/>
                                        <p:tgtEl>
                                          <p:spTgt spid="38">
                                            <p:txEl>
                                              <p:pRg st="1" end="1"/>
                                            </p:txEl>
                                          </p:spTgt>
                                        </p:tgtEl>
                                      </p:cBhvr>
                                    </p:animEffect>
                                  </p:childTnLst>
                                </p:cTn>
                              </p:par>
                              <p:par>
                                <p:cTn id="329" presetID="22" presetClass="entr" presetSubtype="8" fill="hold" nodeType="withEffect">
                                  <p:stCondLst>
                                    <p:cond delay="660"/>
                                  </p:stCondLst>
                                  <p:childTnLst>
                                    <p:set>
                                      <p:cBhvr>
                                        <p:cTn id="330" dur="1" fill="hold">
                                          <p:stCondLst>
                                            <p:cond delay="0"/>
                                          </p:stCondLst>
                                        </p:cTn>
                                        <p:tgtEl>
                                          <p:spTgt spid="39"/>
                                        </p:tgtEl>
                                        <p:attrNameLst>
                                          <p:attrName>style.visibility</p:attrName>
                                        </p:attrNameLst>
                                      </p:cBhvr>
                                      <p:to>
                                        <p:strVal val="visible"/>
                                      </p:to>
                                    </p:set>
                                    <p:animEffect transition="in" filter="wipe(left)">
                                      <p:cBhvr>
                                        <p:cTn id="331" dur="500"/>
                                        <p:tgtEl>
                                          <p:spTgt spid="39"/>
                                        </p:tgtEl>
                                      </p:cBhvr>
                                    </p:animEffect>
                                  </p:childTnLst>
                                </p:cTn>
                              </p:par>
                              <p:par>
                                <p:cTn id="332" presetID="10" presetClass="entr" presetSubtype="0" grpId="0" fill="hold" nodeType="withEffect">
                                  <p:stCondLst>
                                    <p:cond delay="730"/>
                                  </p:stCondLst>
                                  <p:childTnLst>
                                    <p:set>
                                      <p:cBhvr>
                                        <p:cTn id="333" dur="1" fill="hold">
                                          <p:stCondLst>
                                            <p:cond delay="0"/>
                                          </p:stCondLst>
                                        </p:cTn>
                                        <p:tgtEl>
                                          <p:spTgt spid="40">
                                            <p:txEl>
                                              <p:pRg st="0" end="0"/>
                                            </p:txEl>
                                          </p:spTgt>
                                        </p:tgtEl>
                                        <p:attrNameLst>
                                          <p:attrName>style.visibility</p:attrName>
                                        </p:attrNameLst>
                                      </p:cBhvr>
                                      <p:to>
                                        <p:strVal val="visible"/>
                                      </p:to>
                                    </p:set>
                                    <p:animEffect transition="in" filter="fade">
                                      <p:cBhvr>
                                        <p:cTn id="334" dur="450"/>
                                        <p:tgtEl>
                                          <p:spTgt spid="40">
                                            <p:txEl>
                                              <p:pRg st="0" end="0"/>
                                            </p:txEl>
                                          </p:spTgt>
                                        </p:tgtEl>
                                      </p:cBhvr>
                                    </p:animEffect>
                                  </p:childTnLst>
                                </p:cTn>
                              </p:par>
                              <p:par>
                                <p:cTn id="335" presetID="10" presetClass="entr" presetSubtype="0" grpId="0" fill="hold" nodeType="withEffect">
                                  <p:stCondLst>
                                    <p:cond delay="1110"/>
                                  </p:stCondLst>
                                  <p:childTnLst>
                                    <p:set>
                                      <p:cBhvr>
                                        <p:cTn id="336" dur="1" fill="hold">
                                          <p:stCondLst>
                                            <p:cond delay="0"/>
                                          </p:stCondLst>
                                        </p:cTn>
                                        <p:tgtEl>
                                          <p:spTgt spid="40">
                                            <p:txEl>
                                              <p:pRg st="1" end="1"/>
                                            </p:txEl>
                                          </p:spTgt>
                                        </p:tgtEl>
                                        <p:attrNameLst>
                                          <p:attrName>style.visibility</p:attrName>
                                        </p:attrNameLst>
                                      </p:cBhvr>
                                      <p:to>
                                        <p:strVal val="visible"/>
                                      </p:to>
                                    </p:set>
                                    <p:animEffect transition="in" filter="fade">
                                      <p:cBhvr>
                                        <p:cTn id="337" dur="450"/>
                                        <p:tgtEl>
                                          <p:spTgt spid="40">
                                            <p:txEl>
                                              <p:pRg st="1" end="1"/>
                                            </p:txEl>
                                          </p:spTgt>
                                        </p:tgtEl>
                                      </p:cBhvr>
                                    </p:animEffect>
                                  </p:childTnLst>
                                </p:cTn>
                              </p:par>
                              <p:par>
                                <p:cTn id="338" presetID="22" presetClass="entr" presetSubtype="8" fill="hold" nodeType="withEffect">
                                  <p:stCondLst>
                                    <p:cond delay="800"/>
                                  </p:stCondLst>
                                  <p:childTnLst>
                                    <p:set>
                                      <p:cBhvr>
                                        <p:cTn id="339" dur="1" fill="hold">
                                          <p:stCondLst>
                                            <p:cond delay="0"/>
                                          </p:stCondLst>
                                        </p:cTn>
                                        <p:tgtEl>
                                          <p:spTgt spid="41"/>
                                        </p:tgtEl>
                                        <p:attrNameLst>
                                          <p:attrName>style.visibility</p:attrName>
                                        </p:attrNameLst>
                                      </p:cBhvr>
                                      <p:to>
                                        <p:strVal val="visible"/>
                                      </p:to>
                                    </p:set>
                                    <p:animEffect transition="in" filter="wipe(left)">
                                      <p:cBhvr>
                                        <p:cTn id="340" dur="500"/>
                                        <p:tgtEl>
                                          <p:spTgt spid="41"/>
                                        </p:tgtEl>
                                      </p:cBhvr>
                                    </p:animEffect>
                                  </p:childTnLst>
                                </p:cTn>
                              </p:par>
                              <p:par>
                                <p:cTn id="341" presetID="10" presetClass="entr" presetSubtype="0" fill="hold" nodeType="withEffect">
                                  <p:stCondLst>
                                    <p:cond delay="580"/>
                                  </p:stCondLst>
                                  <p:childTnLst>
                                    <p:set>
                                      <p:cBhvr>
                                        <p:cTn id="342" dur="1" fill="hold">
                                          <p:stCondLst>
                                            <p:cond delay="0"/>
                                          </p:stCondLst>
                                        </p:cTn>
                                        <p:tgtEl>
                                          <p:spTgt spid="42"/>
                                        </p:tgtEl>
                                        <p:attrNameLst>
                                          <p:attrName>style.visibility</p:attrName>
                                        </p:attrNameLst>
                                      </p:cBhvr>
                                      <p:to>
                                        <p:strVal val="visible"/>
                                      </p:to>
                                    </p:set>
                                    <p:animEffect transition="in" filter="fade">
                                      <p:cBhvr>
                                        <p:cTn id="343"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7" grpId="0" build="p"/>
      <p:bldP spid="19" grpId="0" build="p"/>
      <p:bldP spid="20" grpId="0" build="p"/>
      <p:bldP spid="24" grpId="0" build="p"/>
      <p:bldP spid="28" grpId="0" build="p"/>
      <p:bldP spid="32" grpId="0" build="p"/>
      <p:bldP spid="34" grpId="0" build="p"/>
      <p:bldP spid="38" grpId="0" build="p"/>
      <p:bldP spid="4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Al excitar el terreno, la perturbación se propaga como ondas que podemos modelar</a:t>
            </a:r>
            <a:endParaRPr lang="en-US" sz="2200" dirty="0"/>
          </a:p>
        </p:txBody>
      </p:sp>
      <p:sp>
        <p:nvSpPr>
          <p:cNvPr id="3" name="Obj [o8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Al excitar un terreno sólido, este se deforma de forma transitoria y la perturbación se propaga</a:t>
            </a:r>
            <a:endParaRPr lang="en-US" sz="1400" dirty="0"/>
          </a:p>
        </p:txBody>
      </p:sp>
      <p:sp>
        <p:nvSpPr>
          <p:cNvPr id="4" name="Obj [o85]"/>
          <p:cNvSpPr txBox="1"/>
          <p:nvPr/>
        </p:nvSpPr>
        <p:spPr>
          <a:xfrm>
            <a:off x="966136" y="1721719"/>
            <a:ext cx="2884691" cy="2403909"/>
          </a:xfrm>
          <a:prstGeom prst="rect">
            <a:avLst/>
          </a:prstGeom>
          <a:noFill/>
          <a:ln/>
        </p:spPr>
        <p:txBody>
          <a:bodyPr wrap="square" lIns="0" tIns="0" rIns="0" bIns="0" rtlCol="0" anchor="t"/>
          <a:lstStyle/>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Un golpe aplica energía en un punto</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El material se deforma de distintas maneras</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Cada tipo de deformación viaja como una onda</a:t>
            </a:r>
            <a:endParaRPr lang="en-US" sz="1800" dirty="0"/>
          </a:p>
        </p:txBody>
      </p:sp>
      <p:pic>
        <p:nvPicPr>
          <p:cNvPr id="5" name="Obj [o86]" descr="Ondas Rayleigh generadas por una fuente en superficie, con campo cercano y órbita de partícula">    </p:cNvPr>
          <p:cNvPicPr>
            <a:picLocks noChangeAspect="1"/>
          </p:cNvPicPr>
          <p:nvPr/>
        </p:nvPicPr>
        <p:blipFill>
          <a:blip r:embed="rId1"/>
          <a:stretch>
            <a:fillRect/>
          </a:stretch>
        </p:blipFill>
        <p:spPr>
          <a:xfrm>
            <a:off x="4011088" y="1601523"/>
            <a:ext cx="4166776" cy="2642217"/>
          </a:xfrm>
          <a:prstGeom prst="rect">
            <a:avLst/>
          </a:prstGeom>
        </p:spPr>
      </p:pic>
      <p:sp>
        <p:nvSpPr>
          <p:cNvPr id="6" name="Obj [o8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Foti et al. (2014), fig. 1.1 (cap. 1; por confirmar), traducida.</a:t>
            </a:r>
            <a:endParaRPr lang="en-US" sz="800" dirty="0"/>
          </a:p>
        </p:txBody>
      </p:sp>
      <p:sp>
        <p:nvSpPr>
          <p:cNvPr id="7" name="Obj [o8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Para analizarlo, simplificamos: un medio homogéneo, isótropo y elástico lineal</a:t>
            </a:r>
            <a:endParaRPr lang="en-US" sz="1400" dirty="0"/>
          </a:p>
        </p:txBody>
      </p:sp>
      <p:sp>
        <p:nvSpPr>
          <p:cNvPr id="8" name="Obj [o89]"/>
          <p:cNvSpPr/>
          <p:nvPr/>
        </p:nvSpPr>
        <p:spPr>
          <a:xfrm>
            <a:off x="441794" y="1671414"/>
            <a:ext cx="2128962" cy="456206"/>
          </a:xfrm>
          <a:prstGeom prst="rect">
            <a:avLst/>
          </a:prstGeom>
          <a:solidFill>
            <a:srgbClr val="1F4E79"/>
          </a:solidFill>
          <a:ln w="6350">
            <a:solidFill>
              <a:srgbClr val="1F4E79"/>
            </a:solidFill>
            <a:prstDash val="solid"/>
          </a:ln>
        </p:spPr>
      </p:sp>
      <p:sp>
        <p:nvSpPr>
          <p:cNvPr id="9" name="Obj [o90]"/>
          <p:cNvSpPr txBox="1"/>
          <p:nvPr/>
        </p:nvSpPr>
        <p:spPr>
          <a:xfrm>
            <a:off x="441794" y="1671414"/>
            <a:ext cx="2128962" cy="456206"/>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Homogéneo</a:t>
            </a:r>
            <a:endParaRPr lang="en-US" sz="1726" dirty="0"/>
          </a:p>
        </p:txBody>
      </p:sp>
      <p:sp>
        <p:nvSpPr>
          <p:cNvPr id="10" name="Obj [o91]"/>
          <p:cNvSpPr/>
          <p:nvPr/>
        </p:nvSpPr>
        <p:spPr>
          <a:xfrm>
            <a:off x="441794" y="2127620"/>
            <a:ext cx="2128962" cy="1216550"/>
          </a:xfrm>
          <a:prstGeom prst="rect">
            <a:avLst/>
          </a:prstGeom>
          <a:solidFill>
            <a:srgbClr val="FFFFFF"/>
          </a:solidFill>
          <a:ln w="15840">
            <a:solidFill>
              <a:srgbClr val="1F4E79"/>
            </a:solidFill>
            <a:prstDash val="solid"/>
          </a:ln>
        </p:spPr>
      </p:sp>
      <p:sp>
        <p:nvSpPr>
          <p:cNvPr id="11" name="Obj [o92]"/>
          <p:cNvSpPr txBox="1"/>
          <p:nvPr/>
        </p:nvSpPr>
        <p:spPr>
          <a:xfrm>
            <a:off x="555846" y="2241671"/>
            <a:ext cx="1900859" cy="1064481"/>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Mismas propiedades en todos los puntos</a:t>
            </a:r>
            <a:endParaRPr lang="en-US" sz="1553" dirty="0"/>
          </a:p>
        </p:txBody>
      </p:sp>
      <p:sp>
        <p:nvSpPr>
          <p:cNvPr id="12" name="Obj [o93]"/>
          <p:cNvSpPr/>
          <p:nvPr/>
        </p:nvSpPr>
        <p:spPr>
          <a:xfrm>
            <a:off x="2798859" y="1671414"/>
            <a:ext cx="2128962" cy="456206"/>
          </a:xfrm>
          <a:prstGeom prst="rect">
            <a:avLst/>
          </a:prstGeom>
          <a:solidFill>
            <a:srgbClr val="1F4E79"/>
          </a:solidFill>
          <a:ln w="6350">
            <a:solidFill>
              <a:srgbClr val="1F4E79"/>
            </a:solidFill>
            <a:prstDash val="solid"/>
          </a:ln>
        </p:spPr>
      </p:sp>
      <p:sp>
        <p:nvSpPr>
          <p:cNvPr id="13" name="Obj [o94]"/>
          <p:cNvSpPr txBox="1"/>
          <p:nvPr/>
        </p:nvSpPr>
        <p:spPr>
          <a:xfrm>
            <a:off x="2798859" y="1671414"/>
            <a:ext cx="2128962" cy="456206"/>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Isótropo</a:t>
            </a:r>
            <a:endParaRPr lang="en-US" sz="1726" dirty="0"/>
          </a:p>
        </p:txBody>
      </p:sp>
      <p:sp>
        <p:nvSpPr>
          <p:cNvPr id="14" name="Obj [o95]"/>
          <p:cNvSpPr/>
          <p:nvPr/>
        </p:nvSpPr>
        <p:spPr>
          <a:xfrm>
            <a:off x="2798859" y="2127620"/>
            <a:ext cx="2128962" cy="1216550"/>
          </a:xfrm>
          <a:prstGeom prst="rect">
            <a:avLst/>
          </a:prstGeom>
          <a:solidFill>
            <a:srgbClr val="FFFFFF"/>
          </a:solidFill>
          <a:ln w="15840">
            <a:solidFill>
              <a:srgbClr val="1F4E79"/>
            </a:solidFill>
            <a:prstDash val="solid"/>
          </a:ln>
        </p:spPr>
      </p:sp>
      <p:sp>
        <p:nvSpPr>
          <p:cNvPr id="15" name="Obj [o96]"/>
          <p:cNvSpPr txBox="1"/>
          <p:nvPr/>
        </p:nvSpPr>
        <p:spPr>
          <a:xfrm>
            <a:off x="2912911" y="2241671"/>
            <a:ext cx="1900859" cy="1064481"/>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Mismas propiedades en todas las direcciones</a:t>
            </a:r>
            <a:endParaRPr lang="en-US" sz="1553" dirty="0"/>
          </a:p>
        </p:txBody>
      </p:sp>
      <p:sp>
        <p:nvSpPr>
          <p:cNvPr id="16" name="Obj [o97]"/>
          <p:cNvSpPr/>
          <p:nvPr/>
        </p:nvSpPr>
        <p:spPr>
          <a:xfrm>
            <a:off x="5155924" y="1671414"/>
            <a:ext cx="2128962" cy="456206"/>
          </a:xfrm>
          <a:prstGeom prst="rect">
            <a:avLst/>
          </a:prstGeom>
          <a:solidFill>
            <a:srgbClr val="1F4E79"/>
          </a:solidFill>
          <a:ln w="6350">
            <a:solidFill>
              <a:srgbClr val="1F4E79"/>
            </a:solidFill>
            <a:prstDash val="solid"/>
          </a:ln>
        </p:spPr>
      </p:sp>
      <p:sp>
        <p:nvSpPr>
          <p:cNvPr id="17" name="Obj [o98]"/>
          <p:cNvSpPr txBox="1"/>
          <p:nvPr/>
        </p:nvSpPr>
        <p:spPr>
          <a:xfrm>
            <a:off x="5155924" y="1671414"/>
            <a:ext cx="2128962" cy="456206"/>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Elástico lineal</a:t>
            </a:r>
            <a:endParaRPr lang="en-US" sz="1726" dirty="0"/>
          </a:p>
        </p:txBody>
      </p:sp>
      <p:sp>
        <p:nvSpPr>
          <p:cNvPr id="18" name="Obj [o99]"/>
          <p:cNvSpPr/>
          <p:nvPr/>
        </p:nvSpPr>
        <p:spPr>
          <a:xfrm>
            <a:off x="5155924" y="2127620"/>
            <a:ext cx="2128962" cy="1216550"/>
          </a:xfrm>
          <a:prstGeom prst="rect">
            <a:avLst/>
          </a:prstGeom>
          <a:solidFill>
            <a:srgbClr val="FFFFFF"/>
          </a:solidFill>
          <a:ln w="15840">
            <a:solidFill>
              <a:srgbClr val="1F4E79"/>
            </a:solidFill>
            <a:prstDash val="solid"/>
          </a:ln>
        </p:spPr>
      </p:sp>
      <p:sp>
        <p:nvSpPr>
          <p:cNvPr id="19" name="Obj [o100]"/>
          <p:cNvSpPr txBox="1"/>
          <p:nvPr/>
        </p:nvSpPr>
        <p:spPr>
          <a:xfrm>
            <a:off x="5269975" y="2241671"/>
            <a:ext cx="1900859" cy="1064481"/>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553" dirty="0"/>
          </a:p>
        </p:txBody>
      </p:sp>
      <p:sp>
        <p:nvSpPr>
          <p:cNvPr id="20" name="Obj [o101]"/>
          <p:cNvSpPr txBox="1"/>
          <p:nvPr/>
        </p:nvSpPr>
        <p:spPr>
          <a:xfrm>
            <a:off x="441794" y="3610290"/>
            <a:ext cx="6843091" cy="532240"/>
          </a:xfrm>
          <a:prstGeom prst="rect">
            <a:avLst/>
          </a:prstGeom>
          <a:noFill/>
          <a:ln/>
        </p:spPr>
        <p:txBody>
          <a:bodyPr wrap="square" lIns="0" tIns="0" rIns="0" bIns="0" rtlCol="0" anchor="t"/>
          <a:lstStyle/>
          <a:p>
            <a:pPr indent="0" marL="0">
              <a:buNone/>
            </a:pPr>
            <a:r>
              <a:rPr lang="en-US" sz="1726"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1726" dirty="0"/>
          </a:p>
        </p:txBody>
      </p:sp>
      <p:sp>
        <p:nvSpPr>
          <p:cNvPr id="21" name="Obj [o10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 (a confirmar).</a:t>
            </a:r>
            <a:endParaRPr lang="en-US" sz="800" dirty="0"/>
          </a:p>
        </p:txBody>
      </p:sp>
      <p:sp>
        <p:nvSpPr>
          <p:cNvPr id="22" name="Obj [o10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ese medio, la ecuación de movimiento admite solo dos tipos de onda: P y S</a:t>
            </a:r>
            <a:endParaRPr lang="en-US" sz="1400" dirty="0"/>
          </a:p>
        </p:txBody>
      </p:sp>
      <p:sp>
        <p:nvSpPr>
          <p:cNvPr id="23" name="Obj [o104]"/>
          <p:cNvSpPr/>
          <p:nvPr/>
        </p:nvSpPr>
        <p:spPr>
          <a:xfrm>
            <a:off x="441794" y="1557362"/>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4" name="Obj [o105]"/>
              <p:cNvSpPr txBox="1"/>
              <p:nvPr/>
            </p:nvSpPr>
            <p:spPr>
              <a:xfrm>
                <a:off x="441794" y="1557362"/>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600" i="1">
                          <a:solidFill>
                            <a:srgbClr val="1F4E79"/>
                          </a:solidFill>
                          <a:latin typeface="Cambria Math" panose="02040503050406030204" pitchFamily="18" charset="0"/>
                        </a:rPr>
                        <m:t xml:space="preserve">ρ</m:t>
                      </m:r>
                      <m:f>
                        <m:fPr>
                          <m:ctrlPr>
                            <a:rPr lang="es-ES" sz="1600" i="1">
                              <a:latin typeface="Cambria Math" panose="02040503050406030204" pitchFamily="18" charset="0"/>
                            </a:rPr>
                          </m:ctrlPr>
                        </m:fPr>
                        <m:num>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m:t>
                              </m:r>
                            </m:e>
                            <m:sup>
                              <m:r>
                                <a:rPr lang="es-ES" sz="1600" i="1">
                                  <a:solidFill>
                                    <a:srgbClr val="1F4E79"/>
                                  </a:solidFill>
                                  <a:latin typeface="Cambria Math" panose="02040503050406030204" pitchFamily="18" charset="0"/>
                                </a:rPr>
                                <m:t xml:space="preserve">2</m:t>
                              </m:r>
                            </m:sup>
                          </m:sSup>
                          <m:r>
                            <a:rPr lang="es-ES" sz="1600" i="1">
                              <a:solidFill>
                                <a:srgbClr val="1F4E79"/>
                              </a:solidFill>
                              <a:latin typeface="Cambria Math" panose="02040503050406030204" pitchFamily="18" charset="0"/>
                            </a:rPr>
                            <m:t xml:space="preserve">u</m:t>
                          </m:r>
                        </m:num>
                        <m:den>
                          <m:r>
                            <a:rPr lang="es-ES" sz="1600" i="1">
                              <a:solidFill>
                                <a:srgbClr val="1F4E79"/>
                              </a:solidFill>
                              <a:latin typeface="Cambria Math" panose="02040503050406030204" pitchFamily="18" charset="0"/>
                            </a:rPr>
                            <m:t xml:space="preserve">∂</m:t>
                          </m:r>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t</m:t>
                              </m:r>
                            </m:e>
                            <m:sup>
                              <m:r>
                                <a:rPr lang="es-ES" sz="1600" i="1">
                                  <a:solidFill>
                                    <a:srgbClr val="1F4E79"/>
                                  </a:solidFill>
                                  <a:latin typeface="Cambria Math" panose="02040503050406030204" pitchFamily="18" charset="0"/>
                                </a:rPr>
                                <m:t xml:space="preserve">2</m:t>
                              </m:r>
                            </m:sup>
                          </m:sSup>
                        </m:den>
                      </m:f>
                      <m:r>
                        <a:rPr lang="es-ES" sz="1600" i="1">
                          <a:solidFill>
                            <a:srgbClr val="1F4E79"/>
                          </a:solidFill>
                          <a:latin typeface="Cambria Math" panose="02040503050406030204" pitchFamily="18" charset="0"/>
                        </a:rPr>
                        <m:t xml:space="preserve">=(λ+μ)∇(∇·u)+μ</m:t>
                      </m:r>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m:t>
                          </m:r>
                        </m:e>
                        <m:sup>
                          <m:r>
                            <a:rPr lang="es-ES" sz="1600" i="1">
                              <a:solidFill>
                                <a:srgbClr val="1F4E79"/>
                              </a:solidFill>
                              <a:latin typeface="Cambria Math" panose="02040503050406030204" pitchFamily="18" charset="0"/>
                            </a:rPr>
                            <m:t xml:space="preserve">2</m:t>
                          </m:r>
                        </m:sup>
                      </m:sSup>
                      <m:r>
                        <a:rPr lang="es-ES" sz="1600" i="1">
                          <a:solidFill>
                            <a:srgbClr val="1F4E79"/>
                          </a:solidFill>
                          <a:latin typeface="Cambria Math" panose="02040503050406030204" pitchFamily="18" charset="0"/>
                        </a:rPr>
                        <m:t xml:space="preserve">u</m:t>
                      </m:r>
                    </m:oMath>
                  </m:oMathPara>
                </a14:m>
                <a:endParaRPr lang="es-ES"/>
              </a:p>
            </p:txBody>
          </p:sp>
        </mc:Choice>
        <mc:Fallback>
          <p:sp>
            <p:nvSpPr>
              <p:cNvPr id="24" name="Obj [o105]"/>
              <p:cNvSpPr txBox="1"/>
              <p:nvPr/>
            </p:nvSpPr>
            <p:spPr>
              <a:xfrm>
                <a:off x="441794" y="1557362"/>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ρ ∂²u/∂t² = (λ+μ)∇(∇·u) + μ∇²u</a:t>
                </a:r>
                <a:endParaRPr lang="en-US" sz="2071" dirty="0"/>
              </a:p>
            </p:txBody>
          </p:sp>
        </mc:Fallback>
      </mc:AlternateContent>
      <p:sp>
        <p:nvSpPr>
          <p:cNvPr id="25" name="Obj [o106]"/>
          <p:cNvSpPr txBox="1"/>
          <p:nvPr/>
        </p:nvSpPr>
        <p:spPr>
          <a:xfrm>
            <a:off x="4281529" y="1557362"/>
            <a:ext cx="3003357" cy="608275"/>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Ecuación de movimiento. u: desplazamiento;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ρ</m:t>
                    </m:r>
                  </m:oMath>
                </a14:m>
              </mc:Choice>
              <mc:Fallback>
                <a:r>
                  <a:rPr lang="en-US" sz="1380" dirty="0">
                    <a:solidFill>
                      <a:srgbClr val="2D2D2D"/>
                    </a:solidFill>
                    <a:latin typeface="Arial" pitchFamily="34" charset="0"/>
                    <a:ea typeface="Arial" pitchFamily="34" charset="-122"/>
                    <a:cs typeface="Arial" pitchFamily="34" charset="-120"/>
                  </a:rPr>
                  <a:t>ρ</a:t>
                </a:r>
              </mc:Fallback>
            </mc:AlternateContent>
            <a:r>
              <a:rPr lang="en-US" sz="1380" dirty="0">
                <a:solidFill>
                  <a:srgbClr val="2D2D2D"/>
                </a:solidFill>
                <a:latin typeface="Arial" pitchFamily="34" charset="0"/>
                <a:ea typeface="Arial" pitchFamily="34" charset="-122"/>
                <a:cs typeface="Arial" pitchFamily="34" charset="-120"/>
              </a:rPr>
              <a:t>: densidad;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λ</m:t>
                    </m:r>
                  </m:oMath>
                </a14:m>
              </mc:Choice>
              <mc:Fallback>
                <a:r>
                  <a:rPr lang="en-US" sz="1380" dirty="0">
                    <a:solidFill>
                      <a:srgbClr val="2D2D2D"/>
                    </a:solidFill>
                    <a:latin typeface="Arial" pitchFamily="34" charset="0"/>
                    <a:ea typeface="Arial" pitchFamily="34" charset="-122"/>
                    <a:cs typeface="Arial" pitchFamily="34" charset="-120"/>
                  </a:rPr>
                  <a:t>λ</a:t>
                </a:r>
              </mc:Fallback>
            </mc:AlternateContent>
            <a:r>
              <a:rPr lang="en-US" sz="138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μ</m:t>
                    </m:r>
                  </m:oMath>
                </a14:m>
              </mc:Choice>
              <mc:Fallback>
                <a:r>
                  <a:rPr lang="en-US" sz="1380" dirty="0">
                    <a:solidFill>
                      <a:srgbClr val="2D2D2D"/>
                    </a:solidFill>
                    <a:latin typeface="Arial" pitchFamily="34" charset="0"/>
                    <a:ea typeface="Arial" pitchFamily="34" charset="-122"/>
                    <a:cs typeface="Arial" pitchFamily="34" charset="-120"/>
                  </a:rPr>
                  <a:t>μ</a:t>
                </a:r>
              </mc:Fallback>
            </mc:AlternateContent>
            <a:r>
              <a:rPr lang="en-US" sz="1380" dirty="0">
                <a:solidFill>
                  <a:srgbClr val="2D2D2D"/>
                </a:solidFill>
                <a:latin typeface="Arial" pitchFamily="34" charset="0"/>
                <a:ea typeface="Arial" pitchFamily="34" charset="-122"/>
                <a:cs typeface="Arial" pitchFamily="34" charset="-120"/>
              </a:rPr>
              <a:t>: constantes de Lamé</a:t>
            </a:r>
            <a:endParaRPr lang="en-US" sz="1380" dirty="0"/>
          </a:p>
        </p:txBody>
      </p:sp>
      <p:sp>
        <p:nvSpPr>
          <p:cNvPr id="26" name="Obj [o107]"/>
          <p:cNvSpPr/>
          <p:nvPr/>
        </p:nvSpPr>
        <p:spPr>
          <a:xfrm>
            <a:off x="441794" y="2226465"/>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7" name="Obj [o108]"/>
              <p:cNvSpPr txBox="1"/>
              <p:nvPr/>
            </p:nvSpPr>
            <p:spPr>
              <a:xfrm>
                <a:off x="441794" y="2226465"/>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u=∇φ+∇×ψ</m:t>
                      </m:r>
                    </m:oMath>
                  </m:oMathPara>
                </a14:m>
                <a:endParaRPr lang="es-ES"/>
              </a:p>
            </p:txBody>
          </p:sp>
        </mc:Choice>
        <mc:Fallback>
          <p:sp>
            <p:nvSpPr>
              <p:cNvPr id="27" name="Obj [o108]"/>
              <p:cNvSpPr txBox="1"/>
              <p:nvPr/>
            </p:nvSpPr>
            <p:spPr>
              <a:xfrm>
                <a:off x="441794" y="2226465"/>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u = ∇φ + ∇×ψ</a:t>
                </a:r>
                <a:endParaRPr lang="en-US" sz="2071" dirty="0"/>
              </a:p>
            </p:txBody>
          </p:sp>
        </mc:Fallback>
      </mc:AlternateContent>
      <p:sp>
        <p:nvSpPr>
          <p:cNvPr id="28" name="Obj [o109]"/>
          <p:cNvSpPr txBox="1"/>
          <p:nvPr/>
        </p:nvSpPr>
        <p:spPr>
          <a:xfrm>
            <a:off x="4281529" y="2226465"/>
            <a:ext cx="3003357" cy="608275"/>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Descomposición con un potencial escalar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φ</m:t>
                    </m:r>
                  </m:oMath>
                </a14:m>
              </mc:Choice>
              <mc:Fallback>
                <a:r>
                  <a:rPr lang="en-US" sz="1380" dirty="0">
                    <a:solidFill>
                      <a:srgbClr val="2D2D2D"/>
                    </a:solidFill>
                    <a:latin typeface="Arial" pitchFamily="34" charset="0"/>
                    <a:ea typeface="Arial" pitchFamily="34" charset="-122"/>
                    <a:cs typeface="Arial" pitchFamily="34" charset="-120"/>
                  </a:rPr>
                  <a:t>φ</a:t>
                </a:r>
              </mc:Fallback>
            </mc:AlternateContent>
            <a:r>
              <a:rPr lang="en-US" sz="1380" dirty="0">
                <a:solidFill>
                  <a:srgbClr val="2D2D2D"/>
                </a:solidFill>
                <a:latin typeface="Arial" pitchFamily="34" charset="0"/>
                <a:ea typeface="Arial" pitchFamily="34" charset="-122"/>
                <a:cs typeface="Arial" pitchFamily="34" charset="-120"/>
              </a:rPr>
              <a:t> y uno vectorial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ψ</m:t>
                    </m:r>
                  </m:oMath>
                </a14:m>
              </mc:Choice>
              <mc:Fallback>
                <a:r>
                  <a:rPr lang="en-US" sz="1380" dirty="0">
                    <a:solidFill>
                      <a:srgbClr val="2D2D2D"/>
                    </a:solidFill>
                    <a:latin typeface="Arial" pitchFamily="34" charset="0"/>
                    <a:ea typeface="Arial" pitchFamily="34" charset="-122"/>
                    <a:cs typeface="Arial" pitchFamily="34" charset="-120"/>
                  </a:rPr>
                  <a:t>ψ</a:t>
                </a:r>
              </mc:Fallback>
            </mc:AlternateContent>
            <a:endParaRPr lang="en-US" sz="1380" dirty="0"/>
          </a:p>
        </p:txBody>
      </p:sp>
      <p:sp>
        <p:nvSpPr>
          <p:cNvPr id="29" name="Obj [o110]"/>
          <p:cNvSpPr/>
          <p:nvPr/>
        </p:nvSpPr>
        <p:spPr>
          <a:xfrm>
            <a:off x="441794" y="2895567"/>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0" name="Obj [o111]"/>
              <p:cNvSpPr txBox="1"/>
              <p:nvPr/>
            </p:nvSpPr>
            <p:spPr>
              <a:xfrm>
                <a:off x="441794" y="2895567"/>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φ</m:t>
                          </m:r>
                        </m:num>
                        <m:den>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t</m:t>
                              </m:r>
                            </m:e>
                            <m:sup>
                              <m:r>
                                <a:rPr lang="es-ES" sz="2100" i="1">
                                  <a:solidFill>
                                    <a:srgbClr val="1F4E79"/>
                                  </a:solidFill>
                                  <a:latin typeface="Cambria Math" panose="02040503050406030204" pitchFamily="18" charset="0"/>
                                </a:rPr>
                                <m:t xml:space="preserve">2</m:t>
                              </m:r>
                            </m:sup>
                          </m:sSup>
                        </m:den>
                      </m:f>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p</m:t>
                              </m:r>
                            </m:sub>
                          </m:sSub>
                        </m:e>
                        <m:sup>
                          <m:r>
                            <a:rPr lang="es-ES" sz="2100" i="1">
                              <a:solidFill>
                                <a:srgbClr val="1F4E79"/>
                              </a:solidFill>
                              <a:latin typeface="Cambria Math" panose="02040503050406030204" pitchFamily="18" charset="0"/>
                            </a:rPr>
                            <m:t xml:space="preserve">2</m:t>
                          </m:r>
                        </m:sup>
                      </m:sSup>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φ</m:t>
                      </m:r>
                    </m:oMath>
                  </m:oMathPara>
                </a14:m>
                <a:endParaRPr lang="es-ES"/>
              </a:p>
            </p:txBody>
          </p:sp>
        </mc:Choice>
        <mc:Fallback>
          <p:sp>
            <p:nvSpPr>
              <p:cNvPr id="30" name="Obj [o111]"/>
              <p:cNvSpPr txBox="1"/>
              <p:nvPr/>
            </p:nvSpPr>
            <p:spPr>
              <a:xfrm>
                <a:off x="441794" y="2895567"/>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∂²φ/∂t² = Vp² ∇²φ</a:t>
                </a:r>
                <a:endParaRPr lang="en-US" sz="2071" dirty="0"/>
              </a:p>
            </p:txBody>
          </p:sp>
        </mc:Fallback>
      </mc:AlternateContent>
      <p:sp>
        <p:nvSpPr>
          <p:cNvPr id="31" name="Obj [o112]"/>
          <p:cNvSpPr txBox="1"/>
          <p:nvPr/>
        </p:nvSpPr>
        <p:spPr>
          <a:xfrm>
            <a:off x="4281529" y="2895567"/>
            <a:ext cx="3003357" cy="608275"/>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φ</m:t>
                    </m:r>
                  </m:oMath>
                </a14:m>
              </mc:Choice>
              <mc:Fallback>
                <a:r>
                  <a:rPr lang="en-US" sz="1380" dirty="0">
                    <a:solidFill>
                      <a:srgbClr val="2D2D2D"/>
                    </a:solidFill>
                    <a:latin typeface="Arial" pitchFamily="34" charset="0"/>
                    <a:ea typeface="Arial" pitchFamily="34" charset="-122"/>
                    <a:cs typeface="Arial" pitchFamily="34" charset="-120"/>
                  </a:rPr>
                  <a:t>φ</a:t>
                </a:r>
              </mc:Fallback>
            </mc:AlternateContent>
            <a:r>
              <a:rPr lang="en-US" sz="1380" dirty="0">
                <a:solidFill>
                  <a:srgbClr val="2D2D2D"/>
                </a:solidFill>
                <a:latin typeface="Arial" pitchFamily="34" charset="0"/>
                <a:ea typeface="Arial" pitchFamily="34" charset="-122"/>
                <a:cs typeface="Arial" pitchFamily="34" charset="-120"/>
              </a:rPr>
              <a:t>: compresión, viaja a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p</m:t>
                        </m:r>
                      </m:sub>
                    </m:sSub>
                  </m:oMath>
                </a14:m>
              </mc:Choice>
              <mc:Fallback>
                <a:r>
                  <a:rPr lang="en-US" sz="1380" dirty="0">
                    <a:solidFill>
                      <a:srgbClr val="2D2D2D"/>
                    </a:solidFill>
                    <a:latin typeface="Arial" pitchFamily="34" charset="0"/>
                    <a:ea typeface="Arial" pitchFamily="34" charset="-122"/>
                    <a:cs typeface="Arial" pitchFamily="34" charset="-120"/>
                  </a:rPr>
                  <a:t>Vp</a:t>
                </a:r>
              </mc:Fallback>
            </mc:AlternateContent>
            <a:r>
              <a:rPr lang="en-US" sz="1380" dirty="0">
                <a:solidFill>
                  <a:srgbClr val="2D2D2D"/>
                </a:solidFill>
                <a:latin typeface="Arial" pitchFamily="34" charset="0"/>
                <a:ea typeface="Arial" pitchFamily="34" charset="-122"/>
                <a:cs typeface="Arial" pitchFamily="34" charset="-120"/>
              </a:rPr>
              <a:t> (onda P)</a:t>
            </a:r>
            <a:endParaRPr lang="en-US" sz="1380" dirty="0"/>
          </a:p>
        </p:txBody>
      </p:sp>
      <p:sp>
        <p:nvSpPr>
          <p:cNvPr id="32" name="Obj [o113]"/>
          <p:cNvSpPr/>
          <p:nvPr/>
        </p:nvSpPr>
        <p:spPr>
          <a:xfrm>
            <a:off x="441794" y="3564669"/>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3" name="Obj [o114]"/>
              <p:cNvSpPr txBox="1"/>
              <p:nvPr/>
            </p:nvSpPr>
            <p:spPr>
              <a:xfrm>
                <a:off x="441794" y="3564669"/>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ψ</m:t>
                          </m:r>
                        </m:num>
                        <m:den>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t</m:t>
                              </m:r>
                            </m:e>
                            <m:sup>
                              <m:r>
                                <a:rPr lang="es-ES" sz="2100" i="1">
                                  <a:solidFill>
                                    <a:srgbClr val="1F4E79"/>
                                  </a:solidFill>
                                  <a:latin typeface="Cambria Math" panose="02040503050406030204" pitchFamily="18" charset="0"/>
                                </a:rPr>
                                <m:t xml:space="preserve">2</m:t>
                              </m:r>
                            </m:sup>
                          </m:sSup>
                        </m:den>
                      </m:f>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e>
                        <m:sup>
                          <m:r>
                            <a:rPr lang="es-ES" sz="2100" i="1">
                              <a:solidFill>
                                <a:srgbClr val="1F4E79"/>
                              </a:solidFill>
                              <a:latin typeface="Cambria Math" panose="02040503050406030204" pitchFamily="18" charset="0"/>
                            </a:rPr>
                            <m:t xml:space="preserve">2</m:t>
                          </m:r>
                        </m:sup>
                      </m:sSup>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ψ</m:t>
                      </m:r>
                    </m:oMath>
                  </m:oMathPara>
                </a14:m>
                <a:endParaRPr lang="es-ES"/>
              </a:p>
            </p:txBody>
          </p:sp>
        </mc:Choice>
        <mc:Fallback>
          <p:sp>
            <p:nvSpPr>
              <p:cNvPr id="33" name="Obj [o114]"/>
              <p:cNvSpPr txBox="1"/>
              <p:nvPr/>
            </p:nvSpPr>
            <p:spPr>
              <a:xfrm>
                <a:off x="441794" y="3564669"/>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∂²ψ/∂t² = Vs² ∇²ψ</a:t>
                </a:r>
                <a:endParaRPr lang="en-US" sz="2071" dirty="0"/>
              </a:p>
            </p:txBody>
          </p:sp>
        </mc:Fallback>
      </mc:AlternateContent>
      <p:sp>
        <p:nvSpPr>
          <p:cNvPr id="34" name="Obj [o115]"/>
          <p:cNvSpPr txBox="1"/>
          <p:nvPr/>
        </p:nvSpPr>
        <p:spPr>
          <a:xfrm>
            <a:off x="4281529" y="3564669"/>
            <a:ext cx="3003357" cy="608275"/>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ψ</m:t>
                    </m:r>
                  </m:oMath>
                </a14:m>
              </mc:Choice>
              <mc:Fallback>
                <a:r>
                  <a:rPr lang="en-US" sz="1380" dirty="0">
                    <a:solidFill>
                      <a:srgbClr val="2D2D2D"/>
                    </a:solidFill>
                    <a:latin typeface="Arial" pitchFamily="34" charset="0"/>
                    <a:ea typeface="Arial" pitchFamily="34" charset="-122"/>
                    <a:cs typeface="Arial" pitchFamily="34" charset="-120"/>
                  </a:rPr>
                  <a:t>ψ</a:t>
                </a:r>
              </mc:Fallback>
            </mc:AlternateContent>
            <a:r>
              <a:rPr lang="en-US" sz="1380" dirty="0">
                <a:solidFill>
                  <a:srgbClr val="2D2D2D"/>
                </a:solidFill>
                <a:latin typeface="Arial" pitchFamily="34" charset="0"/>
                <a:ea typeface="Arial" pitchFamily="34" charset="-122"/>
                <a:cs typeface="Arial" pitchFamily="34" charset="-120"/>
              </a:rPr>
              <a:t>: corte, viaja a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s</m:t>
                        </m:r>
                      </m:sub>
                    </m:sSub>
                  </m:oMath>
                </a14:m>
              </mc:Choice>
              <mc:Fallback>
                <a:r>
                  <a:rPr lang="en-US" sz="1380" dirty="0">
                    <a:solidFill>
                      <a:srgbClr val="2D2D2D"/>
                    </a:solidFill>
                    <a:latin typeface="Arial" pitchFamily="34" charset="0"/>
                    <a:ea typeface="Arial" pitchFamily="34" charset="-122"/>
                    <a:cs typeface="Arial" pitchFamily="34" charset="-120"/>
                  </a:rPr>
                  <a:t>Vs</a:t>
                </a:r>
              </mc:Fallback>
            </mc:AlternateContent>
            <a:r>
              <a:rPr lang="en-US" sz="1380" dirty="0">
                <a:solidFill>
                  <a:srgbClr val="2D2D2D"/>
                </a:solidFill>
                <a:latin typeface="Arial" pitchFamily="34" charset="0"/>
                <a:ea typeface="Arial" pitchFamily="34" charset="-122"/>
                <a:cs typeface="Arial" pitchFamily="34" charset="-120"/>
              </a:rPr>
              <a:t> (onda S)</a:t>
            </a:r>
            <a:endParaRPr lang="en-US" sz="1380" dirty="0"/>
          </a:p>
        </p:txBody>
      </p:sp>
      <p:sp>
        <p:nvSpPr>
          <p:cNvPr id="35" name="Obj [o11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Descomposición de Helmholtz de la ecuación de Navier. Foti et al. (2014), cap. 2 (a confirmar).</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5"/>
                                        </p:tgtEl>
                                        <p:attrNameLst>
                                          <p:attrName>style.visibility</p:attrName>
                                        </p:attrNameLst>
                                      </p:cBhvr>
                                      <p:to>
                                        <p:strVal val="visible"/>
                                      </p:to>
                                    </p:set>
                                    <p:anim calcmode="lin" valueType="num">
                                      <p:cBhvr>
                                        <p:cTn id="10" dur="600" fill="hold"/>
                                        <p:tgtEl>
                                          <p:spTgt spid="5"/>
                                        </p:tgtEl>
                                        <p:attrNameLst>
                                          <p:attrName>ppt_w</p:attrName>
                                        </p:attrNameLst>
                                      </p:cBhvr>
                                      <p:tavLst>
                                        <p:tav tm="0">
                                          <p:val>
                                            <p:fltVal val="0"/>
                                          </p:val>
                                        </p:tav>
                                        <p:tav tm="100000">
                                          <p:val>
                                            <p:strVal val="#ppt_w"/>
                                          </p:val>
                                        </p:tav>
                                      </p:tavLst>
                                    </p:anim>
                                    <p:anim calcmode="lin" valueType="num">
                                      <p:cBhvr>
                                        <p:cTn id="11" dur="600" fill="hold"/>
                                        <p:tgtEl>
                                          <p:spTgt spid="5"/>
                                        </p:tgtEl>
                                        <p:attrNameLst>
                                          <p:attrName>ppt_h</p:attrName>
                                        </p:attrNameLst>
                                      </p:cBhvr>
                                      <p:tavLst>
                                        <p:tav tm="0">
                                          <p:val>
                                            <p:fltVal val="0"/>
                                          </p:val>
                                        </p:tav>
                                        <p:tav tm="100000">
                                          <p:val>
                                            <p:strVal val="#ppt_h"/>
                                          </p:val>
                                        </p:tav>
                                      </p:tavLst>
                                    </p:anim>
                                    <p:animEffect transition="in" filter="fade">
                                      <p:cBhvr>
                                        <p:cTn id="12" dur="600"/>
                                        <p:tgtEl>
                                          <p:spTgt spid="5"/>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50"/>
                                        <p:tgtEl>
                                          <p:spTgt spid="4">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50"/>
                                        <p:tgtEl>
                                          <p:spTgt spid="4">
                                            <p:txEl>
                                              <p:pRg st="1" end="1"/>
                                            </p:txEl>
                                          </p:spTgt>
                                        </p:tgtEl>
                                      </p:cBhvr>
                                    </p:animEffect>
                                  </p:childTnLst>
                                </p:cTn>
                              </p:par>
                              <p:par>
                                <p:cTn id="19" presetID="10" presetClass="entr" presetSubtype="0" grpId="0" fill="hold" nodeType="withEffect">
                                  <p:stCondLst>
                                    <p:cond delay="117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50"/>
                                        <p:tgtEl>
                                          <p:spTgt spid="4">
                                            <p:txEl>
                                              <p:pRg st="2" end="2"/>
                                            </p:txEl>
                                          </p:spTgt>
                                        </p:tgtEl>
                                      </p:cBhvr>
                                    </p:animEffect>
                                  </p:childTnLst>
                                </p:cTn>
                              </p:par>
                              <p:par>
                                <p:cTn id="22" presetID="10" presetClass="entr" presetSubtype="0" fill="hold" nodeType="withEffect">
                                  <p:stCondLst>
                                    <p:cond delay="4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350"/>
                                        <p:tgtEl>
                                          <p:spTgt spid="3"/>
                                        </p:tgtEl>
                                      </p:cBhvr>
                                    </p:animEffect>
                                    <p:set>
                                      <p:cBhvr>
                                        <p:cTn id="29" dur="1" fill="hold">
                                          <p:stCondLst>
                                            <p:cond delay="349"/>
                                          </p:stCondLst>
                                        </p:cTn>
                                        <p:tgtEl>
                                          <p:spTgt spid="3"/>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4">
                                            <p:txEl>
                                              <p:pRg st="0" end="0"/>
                                            </p:txEl>
                                          </p:spTgt>
                                        </p:tgtEl>
                                      </p:cBhvr>
                                    </p:animEffect>
                                    <p:set>
                                      <p:cBhvr>
                                        <p:cTn id="32" dur="1" fill="hold">
                                          <p:stCondLst>
                                            <p:cond delay="349"/>
                                          </p:stCondLst>
                                        </p:cTn>
                                        <p:tgtEl>
                                          <p:spTgt spid="4">
                                            <p:txEl>
                                              <p:pRg st="0" end="0"/>
                                            </p:txEl>
                                          </p:spTgt>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4">
                                            <p:txEl>
                                              <p:pRg st="1" end="1"/>
                                            </p:txEl>
                                          </p:spTgt>
                                        </p:tgtEl>
                                      </p:cBhvr>
                                    </p:animEffect>
                                    <p:set>
                                      <p:cBhvr>
                                        <p:cTn id="35" dur="1" fill="hold">
                                          <p:stCondLst>
                                            <p:cond delay="349"/>
                                          </p:stCondLst>
                                        </p:cTn>
                                        <p:tgtEl>
                                          <p:spTgt spid="4">
                                            <p:txEl>
                                              <p:pRg st="1" end="1"/>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4">
                                            <p:txEl>
                                              <p:pRg st="2" end="2"/>
                                            </p:txEl>
                                          </p:spTgt>
                                        </p:tgtEl>
                                      </p:cBhvr>
                                    </p:animEffect>
                                    <p:set>
                                      <p:cBhvr>
                                        <p:cTn id="38" dur="1" fill="hold">
                                          <p:stCondLst>
                                            <p:cond delay="349"/>
                                          </p:stCondLst>
                                        </p:cTn>
                                        <p:tgtEl>
                                          <p:spTgt spid="4">
                                            <p:txEl>
                                              <p:pRg st="2" end="2"/>
                                            </p:txEl>
                                          </p:spTgt>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0" presetClass="path" presetSubtype="0" accel="50000" decel="50000" fill="hold" nodeType="withEffect">
                                  <p:stCondLst>
                                    <p:cond delay="0"/>
                                  </p:stCondLst>
                                  <p:childTnLst>
                                    <p:animMotion origin="layout" path="M 0 0 L 0.22600 -0.20022 E" pathEditMode="relative" rAng="0" ptsTypes="AA">
                                      <p:cBhvr>
                                        <p:cTn id="43" dur="750" fill="hold"/>
                                        <p:tgtEl>
                                          <p:spTgt spid="5"/>
                                        </p:tgtEl>
                                        <p:attrNameLst>
                                          <p:attrName>ppt_x</p:attrName>
                                          <p:attrName>ppt_y</p:attrName>
                                        </p:attrNameLst>
                                      </p:cBhvr>
                                      <p:rCtr x="11299" y="-10010"/>
                                    </p:animMotion>
                                  </p:childTnLst>
                                </p:cTn>
                              </p:par>
                              <p:par>
                                <p:cTn id="44" presetID="6" presetClass="emph" presetSubtype="0" accel="50000" decel="50000" fill="hold" nodeType="withEffect">
                                  <p:stCondLst>
                                    <p:cond delay="0"/>
                                  </p:stCondLst>
                                  <p:childTnLst>
                                    <p:animScale>
                                      <p:cBhvr>
                                        <p:cTn id="45" dur="750" fill="hold"/>
                                        <p:tgtEl>
                                          <p:spTgt spid="5"/>
                                        </p:tgtEl>
                                      </p:cBhvr>
                                      <p:by x="29626" y="29626"/>
                                    </p:animScale>
                                  </p:childTnLst>
                                </p:cTn>
                              </p:par>
                              <p:par>
                                <p:cTn id="46" presetID="10" presetClass="entr" presetSubtype="0" fill="hold" nodeType="withEffect">
                                  <p:stCondLst>
                                    <p:cond delay="45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450"/>
                                        <p:tgtEl>
                                          <p:spTgt spid="7"/>
                                        </p:tgtEl>
                                      </p:cBhvr>
                                    </p:animEffect>
                                  </p:childTnLst>
                                </p:cTn>
                              </p:par>
                              <p:par>
                                <p:cTn id="49" presetID="10" presetClass="entr" presetSubtype="0" fill="hold" nodeType="withEffect">
                                  <p:stCondLst>
                                    <p:cond delay="52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450"/>
                                        <p:tgtEl>
                                          <p:spTgt spid="8"/>
                                        </p:tgtEl>
                                      </p:cBhvr>
                                    </p:animEffect>
                                  </p:childTnLst>
                                </p:cTn>
                              </p:par>
                              <p:par>
                                <p:cTn id="52" presetID="22" presetClass="entr" presetSubtype="4" fill="hold" nodeType="withEffect">
                                  <p:stCondLst>
                                    <p:cond delay="520"/>
                                  </p:stCondLst>
                                  <p:childTnLst>
                                    <p:set>
                                      <p:cBhvr>
                                        <p:cTn id="53" dur="1" fill="hold">
                                          <p:stCondLst>
                                            <p:cond delay="0"/>
                                          </p:stCondLst>
                                        </p:cTn>
                                        <p:tgtEl>
                                          <p:spTgt spid="9"/>
                                        </p:tgtEl>
                                        <p:attrNameLst>
                                          <p:attrName>style.visibility</p:attrName>
                                        </p:attrNameLst>
                                      </p:cBhvr>
                                      <p:to>
                                        <p:strVal val="visible"/>
                                      </p:to>
                                    </p:set>
                                    <p:animEffect transition="in" filter="wipe(down)">
                                      <p:cBhvr>
                                        <p:cTn id="54" dur="500"/>
                                        <p:tgtEl>
                                          <p:spTgt spid="9"/>
                                        </p:tgtEl>
                                      </p:cBhvr>
                                    </p:animEffect>
                                  </p:childTnLst>
                                </p:cTn>
                              </p:par>
                              <p:par>
                                <p:cTn id="55" presetID="10" presetClass="entr" presetSubtype="0" fill="hold" nodeType="withEffect">
                                  <p:stCondLst>
                                    <p:cond delay="59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450"/>
                                        <p:tgtEl>
                                          <p:spTgt spid="10"/>
                                        </p:tgtEl>
                                      </p:cBhvr>
                                    </p:animEffect>
                                  </p:childTnLst>
                                </p:cTn>
                              </p:par>
                              <p:par>
                                <p:cTn id="58" presetID="22" presetClass="entr" presetSubtype="4" fill="hold" nodeType="withEffect">
                                  <p:stCondLst>
                                    <p:cond delay="660"/>
                                  </p:stCondLst>
                                  <p:childTnLst>
                                    <p:set>
                                      <p:cBhvr>
                                        <p:cTn id="59" dur="1" fill="hold">
                                          <p:stCondLst>
                                            <p:cond delay="0"/>
                                          </p:stCondLst>
                                        </p:cTn>
                                        <p:tgtEl>
                                          <p:spTgt spid="11"/>
                                        </p:tgtEl>
                                        <p:attrNameLst>
                                          <p:attrName>style.visibility</p:attrName>
                                        </p:attrNameLst>
                                      </p:cBhvr>
                                      <p:to>
                                        <p:strVal val="visible"/>
                                      </p:to>
                                    </p:set>
                                    <p:animEffect transition="in" filter="wipe(down)">
                                      <p:cBhvr>
                                        <p:cTn id="60" dur="500"/>
                                        <p:tgtEl>
                                          <p:spTgt spid="11"/>
                                        </p:tgtEl>
                                      </p:cBhvr>
                                    </p:animEffect>
                                  </p:childTnLst>
                                </p:cTn>
                              </p:par>
                              <p:par>
                                <p:cTn id="61" presetID="10" presetClass="entr" presetSubtype="0" fill="hold" nodeType="withEffect">
                                  <p:stCondLst>
                                    <p:cond delay="73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450"/>
                                        <p:tgtEl>
                                          <p:spTgt spid="12"/>
                                        </p:tgtEl>
                                      </p:cBhvr>
                                    </p:animEffect>
                                  </p:childTnLst>
                                </p:cTn>
                              </p:par>
                              <p:par>
                                <p:cTn id="64" presetID="22" presetClass="entr" presetSubtype="4" fill="hold" nodeType="withEffect">
                                  <p:stCondLst>
                                    <p:cond delay="730"/>
                                  </p:stCondLst>
                                  <p:childTnLst>
                                    <p:set>
                                      <p:cBhvr>
                                        <p:cTn id="65" dur="1" fill="hold">
                                          <p:stCondLst>
                                            <p:cond delay="0"/>
                                          </p:stCondLst>
                                        </p:cTn>
                                        <p:tgtEl>
                                          <p:spTgt spid="13"/>
                                        </p:tgtEl>
                                        <p:attrNameLst>
                                          <p:attrName>style.visibility</p:attrName>
                                        </p:attrNameLst>
                                      </p:cBhvr>
                                      <p:to>
                                        <p:strVal val="visible"/>
                                      </p:to>
                                    </p:set>
                                    <p:animEffect transition="in" filter="wipe(down)">
                                      <p:cBhvr>
                                        <p:cTn id="66" dur="500"/>
                                        <p:tgtEl>
                                          <p:spTgt spid="13"/>
                                        </p:tgtEl>
                                      </p:cBhvr>
                                    </p:animEffect>
                                  </p:childTnLst>
                                </p:cTn>
                              </p:par>
                              <p:par>
                                <p:cTn id="67" presetID="10" presetClass="entr" presetSubtype="0" fill="hold" nodeType="withEffect">
                                  <p:stCondLst>
                                    <p:cond delay="80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450"/>
                                        <p:tgtEl>
                                          <p:spTgt spid="14"/>
                                        </p:tgtEl>
                                      </p:cBhvr>
                                    </p:animEffect>
                                  </p:childTnLst>
                                </p:cTn>
                              </p:par>
                              <p:par>
                                <p:cTn id="70" presetID="22" presetClass="entr" presetSubtype="4" fill="hold" nodeType="withEffect">
                                  <p:stCondLst>
                                    <p:cond delay="870"/>
                                  </p:stCondLst>
                                  <p:childTnLst>
                                    <p:set>
                                      <p:cBhvr>
                                        <p:cTn id="71" dur="1" fill="hold">
                                          <p:stCondLst>
                                            <p:cond delay="0"/>
                                          </p:stCondLst>
                                        </p:cTn>
                                        <p:tgtEl>
                                          <p:spTgt spid="15"/>
                                        </p:tgtEl>
                                        <p:attrNameLst>
                                          <p:attrName>style.visibility</p:attrName>
                                        </p:attrNameLst>
                                      </p:cBhvr>
                                      <p:to>
                                        <p:strVal val="visible"/>
                                      </p:to>
                                    </p:set>
                                    <p:animEffect transition="in" filter="wipe(down)">
                                      <p:cBhvr>
                                        <p:cTn id="72" dur="500"/>
                                        <p:tgtEl>
                                          <p:spTgt spid="15"/>
                                        </p:tgtEl>
                                      </p:cBhvr>
                                    </p:animEffect>
                                  </p:childTnLst>
                                </p:cTn>
                              </p:par>
                              <p:par>
                                <p:cTn id="73" presetID="10" presetClass="entr" presetSubtype="0" fill="hold" nodeType="withEffect">
                                  <p:stCondLst>
                                    <p:cond delay="94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450"/>
                                        <p:tgtEl>
                                          <p:spTgt spid="16"/>
                                        </p:tgtEl>
                                      </p:cBhvr>
                                    </p:animEffect>
                                  </p:childTnLst>
                                </p:cTn>
                              </p:par>
                              <p:par>
                                <p:cTn id="76" presetID="22" presetClass="entr" presetSubtype="4" fill="hold" nodeType="withEffect">
                                  <p:stCondLst>
                                    <p:cond delay="940"/>
                                  </p:stCondLst>
                                  <p:childTnLst>
                                    <p:set>
                                      <p:cBhvr>
                                        <p:cTn id="77" dur="1" fill="hold">
                                          <p:stCondLst>
                                            <p:cond delay="0"/>
                                          </p:stCondLst>
                                        </p:cTn>
                                        <p:tgtEl>
                                          <p:spTgt spid="17"/>
                                        </p:tgtEl>
                                        <p:attrNameLst>
                                          <p:attrName>style.visibility</p:attrName>
                                        </p:attrNameLst>
                                      </p:cBhvr>
                                      <p:to>
                                        <p:strVal val="visible"/>
                                      </p:to>
                                    </p:set>
                                    <p:animEffect transition="in" filter="wipe(down)">
                                      <p:cBhvr>
                                        <p:cTn id="78" dur="500"/>
                                        <p:tgtEl>
                                          <p:spTgt spid="17"/>
                                        </p:tgtEl>
                                      </p:cBhvr>
                                    </p:animEffect>
                                  </p:childTnLst>
                                </p:cTn>
                              </p:par>
                              <p:par>
                                <p:cTn id="79" presetID="10" presetClass="entr" presetSubtype="0" fill="hold" nodeType="withEffect">
                                  <p:stCondLst>
                                    <p:cond delay="101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450"/>
                                        <p:tgtEl>
                                          <p:spTgt spid="18"/>
                                        </p:tgtEl>
                                      </p:cBhvr>
                                    </p:animEffect>
                                  </p:childTnLst>
                                </p:cTn>
                              </p:par>
                              <p:par>
                                <p:cTn id="82" presetID="22" presetClass="entr" presetSubtype="4" fill="hold" nodeType="withEffect">
                                  <p:stCondLst>
                                    <p:cond delay="1080"/>
                                  </p:stCondLst>
                                  <p:childTnLst>
                                    <p:set>
                                      <p:cBhvr>
                                        <p:cTn id="83" dur="1" fill="hold">
                                          <p:stCondLst>
                                            <p:cond delay="0"/>
                                          </p:stCondLst>
                                        </p:cTn>
                                        <p:tgtEl>
                                          <p:spTgt spid="19"/>
                                        </p:tgtEl>
                                        <p:attrNameLst>
                                          <p:attrName>style.visibility</p:attrName>
                                        </p:attrNameLst>
                                      </p:cBhvr>
                                      <p:to>
                                        <p:strVal val="visible"/>
                                      </p:to>
                                    </p:set>
                                    <p:animEffect transition="in" filter="wipe(down)">
                                      <p:cBhvr>
                                        <p:cTn id="84" dur="500"/>
                                        <p:tgtEl>
                                          <p:spTgt spid="19"/>
                                        </p:tgtEl>
                                      </p:cBhvr>
                                    </p:animEffect>
                                  </p:childTnLst>
                                </p:cTn>
                              </p:par>
                              <p:par>
                                <p:cTn id="85" presetID="22" presetClass="entr" presetSubtype="4" fill="hold" nodeType="withEffect">
                                  <p:stCondLst>
                                    <p:cond delay="1150"/>
                                  </p:stCondLst>
                                  <p:childTnLst>
                                    <p:set>
                                      <p:cBhvr>
                                        <p:cTn id="86" dur="1" fill="hold">
                                          <p:stCondLst>
                                            <p:cond delay="0"/>
                                          </p:stCondLst>
                                        </p:cTn>
                                        <p:tgtEl>
                                          <p:spTgt spid="20"/>
                                        </p:tgtEl>
                                        <p:attrNameLst>
                                          <p:attrName>style.visibility</p:attrName>
                                        </p:attrNameLst>
                                      </p:cBhvr>
                                      <p:to>
                                        <p:strVal val="visible"/>
                                      </p:to>
                                    </p:set>
                                    <p:animEffect transition="in" filter="wipe(down)">
                                      <p:cBhvr>
                                        <p:cTn id="87" dur="500"/>
                                        <p:tgtEl>
                                          <p:spTgt spid="20"/>
                                        </p:tgtEl>
                                      </p:cBhvr>
                                    </p:animEffect>
                                  </p:childTnLst>
                                </p:cTn>
                              </p:par>
                              <p:par>
                                <p:cTn id="88" presetID="10" presetClass="entr" presetSubtype="0" fill="hold" nodeType="withEffect">
                                  <p:stCondLst>
                                    <p:cond delay="58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450"/>
                                        <p:tgtEl>
                                          <p:spTgt spid="21"/>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nodeType="clickEffect">
                                  <p:stCondLst>
                                    <p:cond delay="0"/>
                                  </p:stCondLst>
                                  <p:childTnLst>
                                    <p:animEffect transition="out" filter="fade">
                                      <p:cBhvr>
                                        <p:cTn id="94" dur="350"/>
                                        <p:tgtEl>
                                          <p:spTgt spid="7"/>
                                        </p:tgtEl>
                                      </p:cBhvr>
                                    </p:animEffect>
                                    <p:set>
                                      <p:cBhvr>
                                        <p:cTn id="95" dur="1" fill="hold">
                                          <p:stCondLst>
                                            <p:cond delay="349"/>
                                          </p:stCondLst>
                                        </p:cTn>
                                        <p:tgtEl>
                                          <p:spTgt spid="7"/>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350"/>
                                        <p:tgtEl>
                                          <p:spTgt spid="8"/>
                                        </p:tgtEl>
                                      </p:cBhvr>
                                    </p:animEffect>
                                    <p:set>
                                      <p:cBhvr>
                                        <p:cTn id="98" dur="1" fill="hold">
                                          <p:stCondLst>
                                            <p:cond delay="349"/>
                                          </p:stCondLst>
                                        </p:cTn>
                                        <p:tgtEl>
                                          <p:spTgt spid="8"/>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350"/>
                                        <p:tgtEl>
                                          <p:spTgt spid="9"/>
                                        </p:tgtEl>
                                      </p:cBhvr>
                                    </p:animEffect>
                                    <p:set>
                                      <p:cBhvr>
                                        <p:cTn id="101" dur="1" fill="hold">
                                          <p:stCondLst>
                                            <p:cond delay="349"/>
                                          </p:stCondLst>
                                        </p:cTn>
                                        <p:tgtEl>
                                          <p:spTgt spid="9"/>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0"/>
                                        </p:tgtEl>
                                      </p:cBhvr>
                                    </p:animEffect>
                                    <p:set>
                                      <p:cBhvr>
                                        <p:cTn id="104" dur="1" fill="hold">
                                          <p:stCondLst>
                                            <p:cond delay="349"/>
                                          </p:stCondLst>
                                        </p:cTn>
                                        <p:tgtEl>
                                          <p:spTgt spid="10"/>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1"/>
                                        </p:tgtEl>
                                      </p:cBhvr>
                                    </p:animEffect>
                                    <p:set>
                                      <p:cBhvr>
                                        <p:cTn id="107" dur="1" fill="hold">
                                          <p:stCondLst>
                                            <p:cond delay="349"/>
                                          </p:stCondLst>
                                        </p:cTn>
                                        <p:tgtEl>
                                          <p:spTgt spid="11"/>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2"/>
                                        </p:tgtEl>
                                      </p:cBhvr>
                                    </p:animEffect>
                                    <p:set>
                                      <p:cBhvr>
                                        <p:cTn id="110" dur="1" fill="hold">
                                          <p:stCondLst>
                                            <p:cond delay="349"/>
                                          </p:stCondLst>
                                        </p:cTn>
                                        <p:tgtEl>
                                          <p:spTgt spid="12"/>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13"/>
                                        </p:tgtEl>
                                      </p:cBhvr>
                                    </p:animEffect>
                                    <p:set>
                                      <p:cBhvr>
                                        <p:cTn id="113" dur="1" fill="hold">
                                          <p:stCondLst>
                                            <p:cond delay="349"/>
                                          </p:stCondLst>
                                        </p:cTn>
                                        <p:tgtEl>
                                          <p:spTgt spid="13"/>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350"/>
                                        <p:tgtEl>
                                          <p:spTgt spid="14"/>
                                        </p:tgtEl>
                                      </p:cBhvr>
                                    </p:animEffect>
                                    <p:set>
                                      <p:cBhvr>
                                        <p:cTn id="116" dur="1" fill="hold">
                                          <p:stCondLst>
                                            <p:cond delay="349"/>
                                          </p:stCondLst>
                                        </p:cTn>
                                        <p:tgtEl>
                                          <p:spTgt spid="14"/>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350"/>
                                        <p:tgtEl>
                                          <p:spTgt spid="15"/>
                                        </p:tgtEl>
                                      </p:cBhvr>
                                    </p:animEffect>
                                    <p:set>
                                      <p:cBhvr>
                                        <p:cTn id="119" dur="1" fill="hold">
                                          <p:stCondLst>
                                            <p:cond delay="349"/>
                                          </p:stCondLst>
                                        </p:cTn>
                                        <p:tgtEl>
                                          <p:spTgt spid="15"/>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16"/>
                                        </p:tgtEl>
                                      </p:cBhvr>
                                    </p:animEffect>
                                    <p:set>
                                      <p:cBhvr>
                                        <p:cTn id="122" dur="1" fill="hold">
                                          <p:stCondLst>
                                            <p:cond delay="349"/>
                                          </p:stCondLst>
                                        </p:cTn>
                                        <p:tgtEl>
                                          <p:spTgt spid="16"/>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350"/>
                                        <p:tgtEl>
                                          <p:spTgt spid="17"/>
                                        </p:tgtEl>
                                      </p:cBhvr>
                                    </p:animEffect>
                                    <p:set>
                                      <p:cBhvr>
                                        <p:cTn id="125" dur="1" fill="hold">
                                          <p:stCondLst>
                                            <p:cond delay="349"/>
                                          </p:stCondLst>
                                        </p:cTn>
                                        <p:tgtEl>
                                          <p:spTgt spid="17"/>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350"/>
                                        <p:tgtEl>
                                          <p:spTgt spid="18"/>
                                        </p:tgtEl>
                                      </p:cBhvr>
                                    </p:animEffect>
                                    <p:set>
                                      <p:cBhvr>
                                        <p:cTn id="128" dur="1" fill="hold">
                                          <p:stCondLst>
                                            <p:cond delay="349"/>
                                          </p:stCondLst>
                                        </p:cTn>
                                        <p:tgtEl>
                                          <p:spTgt spid="18"/>
                                        </p:tgtEl>
                                        <p:attrNameLst>
                                          <p:attrName>style.visibility</p:attrName>
                                        </p:attrNameLst>
                                      </p:cBhvr>
                                      <p:to>
                                        <p:strVal val="hidden"/>
                                      </p:to>
                                    </p:set>
                                  </p:childTnLst>
                                </p:cTn>
                              </p:par>
                              <p:par>
                                <p:cTn id="129" presetID="10" presetClass="exit" presetSubtype="0" fill="hold" nodeType="withEffect">
                                  <p:stCondLst>
                                    <p:cond delay="0"/>
                                  </p:stCondLst>
                                  <p:childTnLst>
                                    <p:animEffect transition="out" filter="fade">
                                      <p:cBhvr>
                                        <p:cTn id="130" dur="350"/>
                                        <p:tgtEl>
                                          <p:spTgt spid="19"/>
                                        </p:tgtEl>
                                      </p:cBhvr>
                                    </p:animEffect>
                                    <p:set>
                                      <p:cBhvr>
                                        <p:cTn id="131" dur="1" fill="hold">
                                          <p:stCondLst>
                                            <p:cond delay="349"/>
                                          </p:stCondLst>
                                        </p:cTn>
                                        <p:tgtEl>
                                          <p:spTgt spid="19"/>
                                        </p:tgtEl>
                                        <p:attrNameLst>
                                          <p:attrName>style.visibility</p:attrName>
                                        </p:attrNameLst>
                                      </p:cBhvr>
                                      <p:to>
                                        <p:strVal val="hidden"/>
                                      </p:to>
                                    </p:set>
                                  </p:childTnLst>
                                </p:cTn>
                              </p:par>
                              <p:par>
                                <p:cTn id="132" presetID="10" presetClass="exit" presetSubtype="0" fill="hold" nodeType="withEffect">
                                  <p:stCondLst>
                                    <p:cond delay="0"/>
                                  </p:stCondLst>
                                  <p:childTnLst>
                                    <p:animEffect transition="out" filter="fade">
                                      <p:cBhvr>
                                        <p:cTn id="133" dur="350"/>
                                        <p:tgtEl>
                                          <p:spTgt spid="20"/>
                                        </p:tgtEl>
                                      </p:cBhvr>
                                    </p:animEffect>
                                    <p:set>
                                      <p:cBhvr>
                                        <p:cTn id="134" dur="1" fill="hold">
                                          <p:stCondLst>
                                            <p:cond delay="349"/>
                                          </p:stCondLst>
                                        </p:cTn>
                                        <p:tgtEl>
                                          <p:spTgt spid="20"/>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350"/>
                                        <p:tgtEl>
                                          <p:spTgt spid="21"/>
                                        </p:tgtEl>
                                      </p:cBhvr>
                                    </p:animEffect>
                                    <p:set>
                                      <p:cBhvr>
                                        <p:cTn id="137" dur="1" fill="hold">
                                          <p:stCondLst>
                                            <p:cond delay="349"/>
                                          </p:stCondLst>
                                        </p:cTn>
                                        <p:tgtEl>
                                          <p:spTgt spid="21"/>
                                        </p:tgtEl>
                                        <p:attrNameLst>
                                          <p:attrName>style.visibility</p:attrName>
                                        </p:attrNameLst>
                                      </p:cBhvr>
                                      <p:to>
                                        <p:strVal val="hidden"/>
                                      </p:to>
                                    </p:set>
                                  </p:childTnLst>
                                </p:cTn>
                              </p:par>
                              <p:par>
                                <p:cTn id="138" presetID="10" presetClass="entr" presetSubtype="0" fill="hold" nodeType="withEffect">
                                  <p:stCondLst>
                                    <p:cond delay="450"/>
                                  </p:stCondLst>
                                  <p:childTnLst>
                                    <p:set>
                                      <p:cBhvr>
                                        <p:cTn id="139" dur="1" fill="hold">
                                          <p:stCondLst>
                                            <p:cond delay="0"/>
                                          </p:stCondLst>
                                        </p:cTn>
                                        <p:tgtEl>
                                          <p:spTgt spid="22"/>
                                        </p:tgtEl>
                                        <p:attrNameLst>
                                          <p:attrName>style.visibility</p:attrName>
                                        </p:attrNameLst>
                                      </p:cBhvr>
                                      <p:to>
                                        <p:strVal val="visible"/>
                                      </p:to>
                                    </p:set>
                                    <p:animEffect transition="in" filter="fade">
                                      <p:cBhvr>
                                        <p:cTn id="140" dur="450"/>
                                        <p:tgtEl>
                                          <p:spTgt spid="22"/>
                                        </p:tgtEl>
                                      </p:cBhvr>
                                    </p:animEffect>
                                  </p:childTnLst>
                                </p:cTn>
                              </p:par>
                              <p:par>
                                <p:cTn id="141" presetID="10" presetClass="entr" presetSubtype="0" fill="hold" nodeType="withEffect">
                                  <p:stCondLst>
                                    <p:cond delay="520"/>
                                  </p:stCondLst>
                                  <p:childTnLst>
                                    <p:set>
                                      <p:cBhvr>
                                        <p:cTn id="142" dur="1" fill="hold">
                                          <p:stCondLst>
                                            <p:cond delay="0"/>
                                          </p:stCondLst>
                                        </p:cTn>
                                        <p:tgtEl>
                                          <p:spTgt spid="23"/>
                                        </p:tgtEl>
                                        <p:attrNameLst>
                                          <p:attrName>style.visibility</p:attrName>
                                        </p:attrNameLst>
                                      </p:cBhvr>
                                      <p:to>
                                        <p:strVal val="visible"/>
                                      </p:to>
                                    </p:set>
                                    <p:animEffect transition="in" filter="fade">
                                      <p:cBhvr>
                                        <p:cTn id="143" dur="450"/>
                                        <p:tgtEl>
                                          <p:spTgt spid="23"/>
                                        </p:tgtEl>
                                      </p:cBhvr>
                                    </p:animEffect>
                                  </p:childTnLst>
                                </p:cTn>
                              </p:par>
                              <p:par>
                                <p:cTn id="144" presetID="22" presetClass="entr" presetSubtype="8" fill="hold" nodeType="withEffect">
                                  <p:stCondLst>
                                    <p:cond delay="520"/>
                                  </p:stCondLst>
                                  <p:childTnLst>
                                    <p:set>
                                      <p:cBhvr>
                                        <p:cTn id="145" dur="1" fill="hold">
                                          <p:stCondLst>
                                            <p:cond delay="0"/>
                                          </p:stCondLst>
                                        </p:cTn>
                                        <p:tgtEl>
                                          <p:spTgt spid="24"/>
                                        </p:tgtEl>
                                        <p:attrNameLst>
                                          <p:attrName>style.visibility</p:attrName>
                                        </p:attrNameLst>
                                      </p:cBhvr>
                                      <p:to>
                                        <p:strVal val="visible"/>
                                      </p:to>
                                    </p:set>
                                    <p:animEffect transition="in" filter="wipe(left)">
                                      <p:cBhvr>
                                        <p:cTn id="146" dur="500"/>
                                        <p:tgtEl>
                                          <p:spTgt spid="24"/>
                                        </p:tgtEl>
                                      </p:cBhvr>
                                    </p:animEffect>
                                  </p:childTnLst>
                                </p:cTn>
                              </p:par>
                              <p:par>
                                <p:cTn id="147" presetID="22" presetClass="entr" presetSubtype="8" fill="hold" nodeType="withEffect">
                                  <p:stCondLst>
                                    <p:cond delay="590"/>
                                  </p:stCondLst>
                                  <p:childTnLst>
                                    <p:set>
                                      <p:cBhvr>
                                        <p:cTn id="148" dur="1" fill="hold">
                                          <p:stCondLst>
                                            <p:cond delay="0"/>
                                          </p:stCondLst>
                                        </p:cTn>
                                        <p:tgtEl>
                                          <p:spTgt spid="25"/>
                                        </p:tgtEl>
                                        <p:attrNameLst>
                                          <p:attrName>style.visibility</p:attrName>
                                        </p:attrNameLst>
                                      </p:cBhvr>
                                      <p:to>
                                        <p:strVal val="visible"/>
                                      </p:to>
                                    </p:set>
                                    <p:animEffect transition="in" filter="wipe(left)">
                                      <p:cBhvr>
                                        <p:cTn id="149" dur="500"/>
                                        <p:tgtEl>
                                          <p:spTgt spid="25"/>
                                        </p:tgtEl>
                                      </p:cBhvr>
                                    </p:animEffect>
                                  </p:childTnLst>
                                </p:cTn>
                              </p:par>
                              <p:par>
                                <p:cTn id="150" presetID="10" presetClass="entr" presetSubtype="0" fill="hold" nodeType="withEffect">
                                  <p:stCondLst>
                                    <p:cond delay="660"/>
                                  </p:stCondLst>
                                  <p:childTnLst>
                                    <p:set>
                                      <p:cBhvr>
                                        <p:cTn id="151" dur="1" fill="hold">
                                          <p:stCondLst>
                                            <p:cond delay="0"/>
                                          </p:stCondLst>
                                        </p:cTn>
                                        <p:tgtEl>
                                          <p:spTgt spid="26"/>
                                        </p:tgtEl>
                                        <p:attrNameLst>
                                          <p:attrName>style.visibility</p:attrName>
                                        </p:attrNameLst>
                                      </p:cBhvr>
                                      <p:to>
                                        <p:strVal val="visible"/>
                                      </p:to>
                                    </p:set>
                                    <p:animEffect transition="in" filter="fade">
                                      <p:cBhvr>
                                        <p:cTn id="152" dur="450"/>
                                        <p:tgtEl>
                                          <p:spTgt spid="26"/>
                                        </p:tgtEl>
                                      </p:cBhvr>
                                    </p:animEffect>
                                  </p:childTnLst>
                                </p:cTn>
                              </p:par>
                              <p:par>
                                <p:cTn id="153" presetID="22" presetClass="entr" presetSubtype="8" fill="hold" nodeType="withEffect">
                                  <p:stCondLst>
                                    <p:cond delay="660"/>
                                  </p:stCondLst>
                                  <p:childTnLst>
                                    <p:set>
                                      <p:cBhvr>
                                        <p:cTn id="154" dur="1" fill="hold">
                                          <p:stCondLst>
                                            <p:cond delay="0"/>
                                          </p:stCondLst>
                                        </p:cTn>
                                        <p:tgtEl>
                                          <p:spTgt spid="27"/>
                                        </p:tgtEl>
                                        <p:attrNameLst>
                                          <p:attrName>style.visibility</p:attrName>
                                        </p:attrNameLst>
                                      </p:cBhvr>
                                      <p:to>
                                        <p:strVal val="visible"/>
                                      </p:to>
                                    </p:set>
                                    <p:animEffect transition="in" filter="wipe(left)">
                                      <p:cBhvr>
                                        <p:cTn id="155" dur="500"/>
                                        <p:tgtEl>
                                          <p:spTgt spid="27"/>
                                        </p:tgtEl>
                                      </p:cBhvr>
                                    </p:animEffect>
                                  </p:childTnLst>
                                </p:cTn>
                              </p:par>
                              <p:par>
                                <p:cTn id="156" presetID="22" presetClass="entr" presetSubtype="8" fill="hold" nodeType="withEffect">
                                  <p:stCondLst>
                                    <p:cond delay="730"/>
                                  </p:stCondLst>
                                  <p:childTnLst>
                                    <p:set>
                                      <p:cBhvr>
                                        <p:cTn id="157" dur="1" fill="hold">
                                          <p:stCondLst>
                                            <p:cond delay="0"/>
                                          </p:stCondLst>
                                        </p:cTn>
                                        <p:tgtEl>
                                          <p:spTgt spid="28"/>
                                        </p:tgtEl>
                                        <p:attrNameLst>
                                          <p:attrName>style.visibility</p:attrName>
                                        </p:attrNameLst>
                                      </p:cBhvr>
                                      <p:to>
                                        <p:strVal val="visible"/>
                                      </p:to>
                                    </p:set>
                                    <p:animEffect transition="in" filter="wipe(left)">
                                      <p:cBhvr>
                                        <p:cTn id="158" dur="500"/>
                                        <p:tgtEl>
                                          <p:spTgt spid="28"/>
                                        </p:tgtEl>
                                      </p:cBhvr>
                                    </p:animEffect>
                                  </p:childTnLst>
                                </p:cTn>
                              </p:par>
                              <p:par>
                                <p:cTn id="159" presetID="10" presetClass="entr" presetSubtype="0" fill="hold" nodeType="withEffect">
                                  <p:stCondLst>
                                    <p:cond delay="800"/>
                                  </p:stCondLst>
                                  <p:childTnLst>
                                    <p:set>
                                      <p:cBhvr>
                                        <p:cTn id="160" dur="1" fill="hold">
                                          <p:stCondLst>
                                            <p:cond delay="0"/>
                                          </p:stCondLst>
                                        </p:cTn>
                                        <p:tgtEl>
                                          <p:spTgt spid="29"/>
                                        </p:tgtEl>
                                        <p:attrNameLst>
                                          <p:attrName>style.visibility</p:attrName>
                                        </p:attrNameLst>
                                      </p:cBhvr>
                                      <p:to>
                                        <p:strVal val="visible"/>
                                      </p:to>
                                    </p:set>
                                    <p:animEffect transition="in" filter="fade">
                                      <p:cBhvr>
                                        <p:cTn id="161" dur="450"/>
                                        <p:tgtEl>
                                          <p:spTgt spid="29"/>
                                        </p:tgtEl>
                                      </p:cBhvr>
                                    </p:animEffect>
                                  </p:childTnLst>
                                </p:cTn>
                              </p:par>
                              <p:par>
                                <p:cTn id="162" presetID="22" presetClass="entr" presetSubtype="8" fill="hold" nodeType="withEffect">
                                  <p:stCondLst>
                                    <p:cond delay="800"/>
                                  </p:stCondLst>
                                  <p:childTnLst>
                                    <p:set>
                                      <p:cBhvr>
                                        <p:cTn id="163" dur="1" fill="hold">
                                          <p:stCondLst>
                                            <p:cond delay="0"/>
                                          </p:stCondLst>
                                        </p:cTn>
                                        <p:tgtEl>
                                          <p:spTgt spid="30"/>
                                        </p:tgtEl>
                                        <p:attrNameLst>
                                          <p:attrName>style.visibility</p:attrName>
                                        </p:attrNameLst>
                                      </p:cBhvr>
                                      <p:to>
                                        <p:strVal val="visible"/>
                                      </p:to>
                                    </p:set>
                                    <p:animEffect transition="in" filter="wipe(left)">
                                      <p:cBhvr>
                                        <p:cTn id="164" dur="500"/>
                                        <p:tgtEl>
                                          <p:spTgt spid="30"/>
                                        </p:tgtEl>
                                      </p:cBhvr>
                                    </p:animEffect>
                                  </p:childTnLst>
                                </p:cTn>
                              </p:par>
                              <p:par>
                                <p:cTn id="165" presetID="22" presetClass="entr" presetSubtype="8" fill="hold" nodeType="withEffect">
                                  <p:stCondLst>
                                    <p:cond delay="870"/>
                                  </p:stCondLst>
                                  <p:childTnLst>
                                    <p:set>
                                      <p:cBhvr>
                                        <p:cTn id="166" dur="1" fill="hold">
                                          <p:stCondLst>
                                            <p:cond delay="0"/>
                                          </p:stCondLst>
                                        </p:cTn>
                                        <p:tgtEl>
                                          <p:spTgt spid="31"/>
                                        </p:tgtEl>
                                        <p:attrNameLst>
                                          <p:attrName>style.visibility</p:attrName>
                                        </p:attrNameLst>
                                      </p:cBhvr>
                                      <p:to>
                                        <p:strVal val="visible"/>
                                      </p:to>
                                    </p:set>
                                    <p:animEffect transition="in" filter="wipe(left)">
                                      <p:cBhvr>
                                        <p:cTn id="167" dur="500"/>
                                        <p:tgtEl>
                                          <p:spTgt spid="31"/>
                                        </p:tgtEl>
                                      </p:cBhvr>
                                    </p:animEffect>
                                  </p:childTnLst>
                                </p:cTn>
                              </p:par>
                              <p:par>
                                <p:cTn id="168" presetID="10" presetClass="entr" presetSubtype="0" fill="hold" nodeType="withEffect">
                                  <p:stCondLst>
                                    <p:cond delay="940"/>
                                  </p:stCondLst>
                                  <p:childTnLst>
                                    <p:set>
                                      <p:cBhvr>
                                        <p:cTn id="169" dur="1" fill="hold">
                                          <p:stCondLst>
                                            <p:cond delay="0"/>
                                          </p:stCondLst>
                                        </p:cTn>
                                        <p:tgtEl>
                                          <p:spTgt spid="32"/>
                                        </p:tgtEl>
                                        <p:attrNameLst>
                                          <p:attrName>style.visibility</p:attrName>
                                        </p:attrNameLst>
                                      </p:cBhvr>
                                      <p:to>
                                        <p:strVal val="visible"/>
                                      </p:to>
                                    </p:set>
                                    <p:animEffect transition="in" filter="fade">
                                      <p:cBhvr>
                                        <p:cTn id="170" dur="450"/>
                                        <p:tgtEl>
                                          <p:spTgt spid="32"/>
                                        </p:tgtEl>
                                      </p:cBhvr>
                                    </p:animEffect>
                                  </p:childTnLst>
                                </p:cTn>
                              </p:par>
                              <p:par>
                                <p:cTn id="171" presetID="22" presetClass="entr" presetSubtype="8" fill="hold" nodeType="withEffect">
                                  <p:stCondLst>
                                    <p:cond delay="940"/>
                                  </p:stCondLst>
                                  <p:childTnLst>
                                    <p:set>
                                      <p:cBhvr>
                                        <p:cTn id="172" dur="1" fill="hold">
                                          <p:stCondLst>
                                            <p:cond delay="0"/>
                                          </p:stCondLst>
                                        </p:cTn>
                                        <p:tgtEl>
                                          <p:spTgt spid="33"/>
                                        </p:tgtEl>
                                        <p:attrNameLst>
                                          <p:attrName>style.visibility</p:attrName>
                                        </p:attrNameLst>
                                      </p:cBhvr>
                                      <p:to>
                                        <p:strVal val="visible"/>
                                      </p:to>
                                    </p:set>
                                    <p:animEffect transition="in" filter="wipe(left)">
                                      <p:cBhvr>
                                        <p:cTn id="173" dur="500"/>
                                        <p:tgtEl>
                                          <p:spTgt spid="33"/>
                                        </p:tgtEl>
                                      </p:cBhvr>
                                    </p:animEffect>
                                  </p:childTnLst>
                                </p:cTn>
                              </p:par>
                              <p:par>
                                <p:cTn id="174" presetID="22" presetClass="entr" presetSubtype="8" fill="hold" nodeType="withEffect">
                                  <p:stCondLst>
                                    <p:cond delay="1010"/>
                                  </p:stCondLst>
                                  <p:childTnLst>
                                    <p:set>
                                      <p:cBhvr>
                                        <p:cTn id="175" dur="1" fill="hold">
                                          <p:stCondLst>
                                            <p:cond delay="0"/>
                                          </p:stCondLst>
                                        </p:cTn>
                                        <p:tgtEl>
                                          <p:spTgt spid="34"/>
                                        </p:tgtEl>
                                        <p:attrNameLst>
                                          <p:attrName>style.visibility</p:attrName>
                                        </p:attrNameLst>
                                      </p:cBhvr>
                                      <p:to>
                                        <p:strVal val="visible"/>
                                      </p:to>
                                    </p:set>
                                    <p:animEffect transition="in" filter="wipe(left)">
                                      <p:cBhvr>
                                        <p:cTn id="176" dur="500"/>
                                        <p:tgtEl>
                                          <p:spTgt spid="34"/>
                                        </p:tgtEl>
                                      </p:cBhvr>
                                    </p:animEffect>
                                  </p:childTnLst>
                                </p:cTn>
                              </p:par>
                              <p:par>
                                <p:cTn id="177" presetID="10" presetClass="entr" presetSubtype="0" fill="hold" nodeType="withEffect">
                                  <p:stCondLst>
                                    <p:cond delay="580"/>
                                  </p:stCondLst>
                                  <p:childTnLst>
                                    <p:set>
                                      <p:cBhvr>
                                        <p:cTn id="178" dur="1" fill="hold">
                                          <p:stCondLst>
                                            <p:cond delay="0"/>
                                          </p:stCondLst>
                                        </p:cTn>
                                        <p:tgtEl>
                                          <p:spTgt spid="35"/>
                                        </p:tgtEl>
                                        <p:attrNameLst>
                                          <p:attrName>style.visibility</p:attrName>
                                        </p:attrNameLst>
                                      </p:cBhvr>
                                      <p:to>
                                        <p:strVal val="visible"/>
                                      </p:to>
                                    </p:set>
                                    <p:animEffect transition="in" filter="fade">
                                      <p:cBhvr>
                                        <p:cTn id="179"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Las ondas P y S llevan la rigidez del suelo: </a:t>
            </a:r>
            <mc:AlternateContent xmlns:mc="http://schemas.openxmlformats.org/markup-compatibility/2006">
              <mc:Choice xmlns:a14="http://schemas.microsoft.com/office/drawing/2010/main" Requires="a14">
                <a14:m>
                  <m:oMath xmlns:m="http://schemas.openxmlformats.org/officeDocument/2006/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oMath>
                </a14:m>
              </mc:Choice>
              <mc:Fallback>
                <a:r>
                  <a:rPr lang="en-US" sz="2200" b="1" dirty="0">
                    <a:solidFill>
                      <a:srgbClr val="1F4E79"/>
                    </a:solidFill>
                    <a:latin typeface="Arial" pitchFamily="34" charset="0"/>
                    <a:ea typeface="Arial" pitchFamily="34" charset="-122"/>
                    <a:cs typeface="Arial" pitchFamily="34" charset="-120"/>
                  </a:rPr>
                  <a:t>Vs</a:t>
                </a:r>
              </mc:Fallback>
            </mc:AlternateContent>
            <a:r>
              <a:rPr lang="en-US" sz="2200" b="1" dirty="0">
                <a:solidFill>
                  <a:srgbClr val="1F4E79"/>
                </a:solidFill>
                <a:latin typeface="Arial" pitchFamily="34" charset="0"/>
                <a:ea typeface="Arial" pitchFamily="34" charset="-122"/>
                <a:cs typeface="Arial" pitchFamily="34" charset="-120"/>
              </a:rPr>
              <a:t> da directamente </a:t>
            </a:r>
            <mc:AlternateContent xmlns:mc="http://schemas.openxmlformats.org/markup-compatibility/2006">
              <mc:Choice xmlns:a14="http://schemas.microsoft.com/office/drawing/2010/main" Requires="a14">
                <a14:m>
                  <m:oMath xmlns:m="http://schemas.openxmlformats.org/officeDocument/2006/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m:rPr>
                            <m:sty m:val="p"/>
                          </m:rPr>
                          <a:rPr lang="es-ES" sz="2200">
                            <a:solidFill>
                              <a:srgbClr val="1F4E79"/>
                            </a:solidFill>
                            <a:latin typeface="Cambria Math" panose="02040503050406030204" pitchFamily="18" charset="0"/>
                          </a:rPr>
                          <m:t xml:space="preserve">max</m:t>
                        </m:r>
                      </m:sub>
                    </m:sSub>
                  </m:oMath>
                </a14:m>
              </mc:Choice>
              <mc:Fallback>
                <a:r>
                  <a:rPr lang="en-US" sz="2200" b="1" dirty="0">
                    <a:solidFill>
                      <a:srgbClr val="1F4E79"/>
                    </a:solidFill>
                    <a:latin typeface="Arial" pitchFamily="34" charset="0"/>
                    <a:ea typeface="Arial" pitchFamily="34" charset="-122"/>
                    <a:cs typeface="Arial" pitchFamily="34" charset="-120"/>
                  </a:rPr>
                  <a:t>Gmax</a:t>
                </a:r>
              </mc:Fallback>
            </mc:AlternateContent>
            <a:endParaRPr lang="en-US" sz="2200" dirty="0"/>
          </a:p>
        </p:txBody>
      </p:sp>
      <p:sp>
        <p:nvSpPr>
          <p:cNvPr id="3" name="Obj [o11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P: el terreno se comprime y se dilata en la dirección en que avanza</a:t>
            </a:r>
            <a:endParaRPr lang="en-US" sz="1400" dirty="0"/>
          </a:p>
        </p:txBody>
      </p:sp>
      <p:pic>
        <p:nvPicPr>
          <p:cNvPr id="4" name="Obj [o118]" descr="Onda P: compresión y dilatación, dirección de propagación">    </p:cNvPr>
          <p:cNvPicPr>
            <a:picLocks noChangeAspect="1"/>
          </p:cNvPicPr>
          <p:nvPr/>
        </p:nvPicPr>
        <p:blipFill>
          <a:blip r:embed="rId1"/>
          <a:stretch>
            <a:fillRect/>
          </a:stretch>
        </p:blipFill>
        <p:spPr>
          <a:xfrm>
            <a:off x="966136" y="1641589"/>
            <a:ext cx="4807819" cy="2403909"/>
          </a:xfrm>
          <a:prstGeom prst="rect">
            <a:avLst/>
          </a:prstGeom>
        </p:spPr>
      </p:pic>
      <p:sp>
        <p:nvSpPr>
          <p:cNvPr id="5" name="Obj [o119]"/>
          <p:cNvSpPr txBox="1"/>
          <p:nvPr/>
        </p:nvSpPr>
        <p:spPr>
          <a:xfrm>
            <a:off x="6014346" y="1721719"/>
            <a:ext cx="2163519" cy="2403909"/>
          </a:xfrm>
          <a:prstGeom prst="rect">
            <a:avLst/>
          </a:prstGeom>
          <a:noFill/>
          <a:ln/>
        </p:spPr>
        <p:txBody>
          <a:bodyPr wrap="square" lIns="0" tIns="0" rIns="0" bIns="0" rtlCol="0" anchor="t"/>
          <a:lstStyle/>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Las partículas oscilan en la dirección de propagación</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Viaja en sólidos y en fluidos</a:t>
            </a:r>
            <a:endParaRPr lang="en-US" sz="1620" dirty="0"/>
          </a:p>
        </p:txBody>
      </p:sp>
      <p:sp>
        <p:nvSpPr>
          <p:cNvPr id="6" name="Obj [o12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7" name="Obj [o12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S: el terreno se corta en la dirección perpendicular al avance</a:t>
            </a:r>
            <a:endParaRPr lang="en-US" sz="1400" dirty="0"/>
          </a:p>
        </p:txBody>
      </p:sp>
      <p:pic>
        <p:nvPicPr>
          <p:cNvPr id="8" name="Obj [o122]" descr="Onda S: oscilación perpendicular a la dirección de propagación">    </p:cNvPr>
          <p:cNvPicPr>
            <a:picLocks noChangeAspect="1"/>
          </p:cNvPicPr>
          <p:nvPr/>
        </p:nvPicPr>
        <p:blipFill>
          <a:blip r:embed="rId2"/>
          <a:stretch>
            <a:fillRect/>
          </a:stretch>
        </p:blipFill>
        <p:spPr>
          <a:xfrm>
            <a:off x="441794" y="1633397"/>
            <a:ext cx="4562061" cy="2281030"/>
          </a:xfrm>
          <a:prstGeom prst="rect">
            <a:avLst/>
          </a:prstGeom>
        </p:spPr>
      </p:pic>
      <p:sp>
        <p:nvSpPr>
          <p:cNvPr id="9" name="Obj [o123]"/>
          <p:cNvSpPr txBox="1"/>
          <p:nvPr/>
        </p:nvSpPr>
        <p:spPr>
          <a:xfrm>
            <a:off x="5231958" y="1709431"/>
            <a:ext cx="2052927" cy="2281030"/>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Las partículas oscilan perpendicular a la propagación</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No viaja por fluidos: necesita rigidez al corte</a:t>
            </a:r>
            <a:endParaRPr lang="en-US" sz="1553" dirty="0"/>
          </a:p>
        </p:txBody>
      </p:sp>
      <p:sp>
        <p:nvSpPr>
          <p:cNvPr id="10" name="Obj [o12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1" name="Obj [o12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velocidades de propagación se deducen de esas mismas ecuaciones</a:t>
            </a:r>
            <a:endParaRPr lang="en-US" sz="1400" dirty="0"/>
          </a:p>
        </p:txBody>
      </p:sp>
      <p:sp>
        <p:nvSpPr>
          <p:cNvPr id="12" name="Obj [o126]"/>
          <p:cNvSpPr/>
          <p:nvPr/>
        </p:nvSpPr>
        <p:spPr>
          <a:xfrm>
            <a:off x="441794" y="1671414"/>
            <a:ext cx="3649649"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127]"/>
              <p:cNvSpPr txBox="1"/>
              <p:nvPr/>
            </p:nvSpPr>
            <p:spPr>
              <a:xfrm>
                <a:off x="441794" y="1671414"/>
                <a:ext cx="3649649"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r>
                        <a:rPr lang="es-ES" sz="2400" i="1">
                          <a:solidFill>
                            <a:srgbClr val="1F4E79"/>
                          </a:solidFill>
                          <a:latin typeface="Cambria Math" panose="02040503050406030204" pitchFamily="18" charset="0"/>
                        </a:rPr>
                        <m:t xml:space="preserve">=</m:t>
                      </m:r>
                      <m:rad>
                        <m:radPr>
                          <m:degHide m:val="1"/>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λ+2μ</m:t>
                              </m:r>
                            </m:num>
                            <m:den>
                              <m:r>
                                <a:rPr lang="es-ES" sz="2400" i="1">
                                  <a:solidFill>
                                    <a:srgbClr val="1F4E79"/>
                                  </a:solidFill>
                                  <a:latin typeface="Cambria Math" panose="02040503050406030204" pitchFamily="18" charset="0"/>
                                </a:rPr>
                                <m:t xml:space="preserve">ρ</m:t>
                              </m:r>
                            </m:den>
                          </m:f>
                        </m:e>
                      </m:rad>
                    </m:oMath>
                  </m:oMathPara>
                </a14:m>
                <a:endParaRPr lang="es-ES"/>
              </a:p>
            </p:txBody>
          </p:sp>
        </mc:Choice>
        <mc:Fallback>
          <p:sp>
            <p:nvSpPr>
              <p:cNvPr id="13" name="Obj [o127]"/>
              <p:cNvSpPr txBox="1"/>
              <p:nvPr/>
            </p:nvSpPr>
            <p:spPr>
              <a:xfrm>
                <a:off x="441794" y="1671414"/>
                <a:ext cx="3649649"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Vp = √((λ + 2μ) / ρ)</a:t>
                </a:r>
                <a:endParaRPr lang="en-US" sz="2071" dirty="0"/>
              </a:p>
            </p:txBody>
          </p:sp>
        </mc:Fallback>
      </mc:AlternateContent>
      <p:sp>
        <p:nvSpPr>
          <p:cNvPr id="14" name="Obj [o128]"/>
          <p:cNvSpPr/>
          <p:nvPr/>
        </p:nvSpPr>
        <p:spPr>
          <a:xfrm>
            <a:off x="441794" y="2545809"/>
            <a:ext cx="3649649"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Obj [o129]"/>
              <p:cNvSpPr txBox="1"/>
              <p:nvPr/>
            </p:nvSpPr>
            <p:spPr>
              <a:xfrm>
                <a:off x="441794" y="2545809"/>
                <a:ext cx="3649649"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rad>
                        <m:radPr>
                          <m:degHide m:val="1"/>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μ</m:t>
                              </m:r>
                            </m:num>
                            <m:den>
                              <m:r>
                                <a:rPr lang="es-ES" sz="2400" i="1">
                                  <a:solidFill>
                                    <a:srgbClr val="1F4E79"/>
                                  </a:solidFill>
                                  <a:latin typeface="Cambria Math" panose="02040503050406030204" pitchFamily="18" charset="0"/>
                                </a:rPr>
                                <m:t xml:space="preserve">ρ</m:t>
                              </m:r>
                            </m:den>
                          </m:f>
                        </m:e>
                      </m:rad>
                    </m:oMath>
                  </m:oMathPara>
                </a14:m>
                <a:endParaRPr lang="es-ES"/>
              </a:p>
            </p:txBody>
          </p:sp>
        </mc:Choice>
        <mc:Fallback>
          <p:sp>
            <p:nvSpPr>
              <p:cNvPr id="15" name="Obj [o129]"/>
              <p:cNvSpPr txBox="1"/>
              <p:nvPr/>
            </p:nvSpPr>
            <p:spPr>
              <a:xfrm>
                <a:off x="441794" y="2545809"/>
                <a:ext cx="3649649"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√(μ / ρ)</a:t>
                </a:r>
                <a:endParaRPr lang="en-US" sz="2071" dirty="0"/>
              </a:p>
            </p:txBody>
          </p:sp>
        </mc:Fallback>
      </mc:AlternateContent>
      <p:sp>
        <p:nvSpPr>
          <p:cNvPr id="16" name="Obj [o130]"/>
          <p:cNvSpPr txBox="1"/>
          <p:nvPr/>
        </p:nvSpPr>
        <p:spPr>
          <a:xfrm>
            <a:off x="4319546" y="1671414"/>
            <a:ext cx="2965340" cy="2128962"/>
          </a:xfrm>
          <a:prstGeom prst="rect">
            <a:avLst/>
          </a:prstGeom>
          <a:noFill/>
          <a:ln/>
        </p:spPr>
        <p:txBody>
          <a:bodyPr wrap="square" lIns="0" tIns="0" rIns="0" bIns="0" rtlCol="0" anchor="t"/>
          <a:lstStyle/>
          <a:p>
            <a:pPr marL="342900" indent="-342900">
              <a:spcAft>
                <a:spcPts val="69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μ</m:t>
                    </m:r>
                  </m:oMath>
                </a14:m>
              </mc:Choice>
              <mc:Fallback>
                <a:r>
                  <a:rPr lang="en-US" sz="1553" dirty="0">
                    <a:solidFill>
                      <a:srgbClr val="2D2D2D"/>
                    </a:solidFill>
                    <a:latin typeface="Arial" pitchFamily="34" charset="0"/>
                    <a:ea typeface="Arial" pitchFamily="34" charset="-122"/>
                    <a:cs typeface="Arial" pitchFamily="34" charset="-120"/>
                  </a:rPr>
                  <a:t>μ</a:t>
                </a:r>
              </mc:Fallback>
            </mc:AlternateContent>
            <a:r>
              <a:rPr lang="en-US" sz="1553" dirty="0">
                <a:solidFill>
                  <a:srgbClr val="2D2D2D"/>
                </a:solidFill>
                <a:latin typeface="Arial" pitchFamily="34" charset="0"/>
                <a:ea typeface="Arial" pitchFamily="34" charset="-122"/>
                <a:cs typeface="Arial" pitchFamily="34" charset="-120"/>
              </a:rPr>
              <a:t>: módulo de corte (también G), la rigidez al corte</a:t>
            </a:r>
            <a:endParaRPr lang="en-US" sz="1553" dirty="0"/>
          </a:p>
          <a:p>
            <a:pPr marL="342900" indent="-342900">
              <a:spcAft>
                <a:spcPts val="69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λ</m:t>
                    </m:r>
                  </m:oMath>
                </a14:m>
              </mc:Choice>
              <mc:Fallback>
                <a:r>
                  <a:rPr lang="en-US" sz="1553" dirty="0">
                    <a:solidFill>
                      <a:srgbClr val="2D2D2D"/>
                    </a:solidFill>
                    <a:latin typeface="Arial" pitchFamily="34" charset="0"/>
                    <a:ea typeface="Arial" pitchFamily="34" charset="-122"/>
                    <a:cs typeface="Arial" pitchFamily="34" charset="-120"/>
                  </a:rPr>
                  <a:t>λ</a:t>
                </a:r>
              </mc:Fallback>
            </mc:AlternateContent>
            <a:r>
              <a:rPr lang="en-US" sz="1553" dirty="0">
                <a:solidFill>
                  <a:srgbClr val="2D2D2D"/>
                </a:solidFill>
                <a:latin typeface="Arial" pitchFamily="34" charset="0"/>
                <a:ea typeface="Arial" pitchFamily="34" charset="-122"/>
                <a:cs typeface="Arial" pitchFamily="34" charset="-120"/>
              </a:rPr>
              <a:t>: constante de Lamé</a:t>
            </a:r>
            <a:endParaRPr lang="en-US" sz="1553" dirty="0"/>
          </a:p>
          <a:p>
            <a:pPr marL="342900" indent="-342900">
              <a:spcAft>
                <a:spcPts val="69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ρ</m:t>
                    </m:r>
                  </m:oMath>
                </a14:m>
              </mc:Choice>
              <mc:Fallback>
                <a:r>
                  <a:rPr lang="en-US" sz="1553" dirty="0">
                    <a:solidFill>
                      <a:srgbClr val="2D2D2D"/>
                    </a:solidFill>
                    <a:latin typeface="Arial" pitchFamily="34" charset="0"/>
                    <a:ea typeface="Arial" pitchFamily="34" charset="-122"/>
                    <a:cs typeface="Arial" pitchFamily="34" charset="-120"/>
                  </a:rPr>
                  <a:t>ρ</a:t>
                </a:r>
              </mc:Fallback>
            </mc:AlternateContent>
            <a:r>
              <a:rPr lang="en-US" sz="1553" dirty="0">
                <a:solidFill>
                  <a:srgbClr val="2D2D2D"/>
                </a:solidFill>
                <a:latin typeface="Arial" pitchFamily="34" charset="0"/>
                <a:ea typeface="Arial" pitchFamily="34" charset="-122"/>
                <a:cs typeface="Arial" pitchFamily="34" charset="-120"/>
              </a:rPr>
              <a:t>: densidad del medio</a:t>
            </a:r>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En el mismo medio, </a:t>
            </a: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V</m:t>
                        </m:r>
                      </m:e>
                      <m:sub>
                        <m:r>
                          <a:rPr lang="es-ES" sz="1553" i="1">
                            <a:solidFill>
                              <a:srgbClr val="2D2D2D"/>
                            </a:solidFill>
                            <a:latin typeface="Cambria Math" panose="02040503050406030204" pitchFamily="18" charset="0"/>
                          </a:rPr>
                          <m:t xml:space="preserve">p</m:t>
                        </m:r>
                      </m:sub>
                    </m:sSub>
                    <m:r>
                      <m:rPr>
                        <m:sty m:val="p"/>
                      </m:rPr>
                      <a:rPr lang="es-ES" sz="1553">
                        <a:solidFill>
                          <a:srgbClr val="2D2D2D"/>
                        </a:solidFill>
                        <a:latin typeface="Cambria Math" panose="02040503050406030204" pitchFamily="18" charset="0"/>
                      </a:rPr>
                      <m:t xml:space="preserve">&gt;</m:t>
                    </m:r>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V</m:t>
                        </m:r>
                      </m:e>
                      <m:sub>
                        <m:r>
                          <a:rPr lang="es-ES" sz="1553" i="1">
                            <a:solidFill>
                              <a:srgbClr val="2D2D2D"/>
                            </a:solidFill>
                            <a:latin typeface="Cambria Math" panose="02040503050406030204" pitchFamily="18" charset="0"/>
                          </a:rPr>
                          <m:t xml:space="preserve">s</m:t>
                        </m:r>
                      </m:sub>
                    </m:sSub>
                  </m:oMath>
                </a14:m>
              </mc:Choice>
              <mc:Fallback>
                <a:r>
                  <a:rPr lang="en-US" sz="1553" dirty="0">
                    <a:solidFill>
                      <a:srgbClr val="2D2D2D"/>
                    </a:solidFill>
                    <a:latin typeface="Arial" pitchFamily="34" charset="0"/>
                    <a:ea typeface="Arial" pitchFamily="34" charset="-122"/>
                    <a:cs typeface="Arial" pitchFamily="34" charset="-120"/>
                  </a:rPr>
                  <a:t>Vp &gt; Vs</a:t>
                </a:r>
              </mc:Fallback>
            </mc:AlternateContent>
            <a:endParaRPr lang="en-US" sz="1553" dirty="0"/>
          </a:p>
        </p:txBody>
      </p:sp>
      <p:sp>
        <p:nvSpPr>
          <p:cNvPr id="17" name="Obj [o131]"/>
          <p:cNvSpPr txBox="1"/>
          <p:nvPr/>
        </p:nvSpPr>
        <p:spPr>
          <a:xfrm>
            <a:off x="441794" y="3572273"/>
            <a:ext cx="6843091" cy="608275"/>
          </a:xfrm>
          <a:prstGeom prst="rect">
            <a:avLst/>
          </a:prstGeom>
          <a:noFill/>
          <a:ln/>
        </p:spPr>
        <p:txBody>
          <a:bodyPr wrap="square" lIns="0" tIns="0" rIns="0" bIns="0" rtlCol="0" anchor="t"/>
          <a:lstStyle/>
          <a:p>
            <a:pPr indent="0" marL="0">
              <a:buNone/>
            </a:pPr>
            <a:r>
              <a:rPr lang="en-US" sz="1726"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1726" dirty="0"/>
          </a:p>
        </p:txBody>
      </p:sp>
      <p:sp>
        <p:nvSpPr>
          <p:cNvPr id="18" name="Obj [o13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a:t>
            </a:r>
            <a:endParaRPr lang="en-US" sz="800" dirty="0"/>
          </a:p>
        </p:txBody>
      </p:sp>
      <p:sp>
        <p:nvSpPr>
          <p:cNvPr id="19" name="Obj [o13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suelos, la relación esfuerzo-deformación solo es lineal para deformaciones pequeñas</a:t>
            </a:r>
            <a:endParaRPr lang="en-US" sz="1400" dirty="0"/>
          </a:p>
        </p:txBody>
      </p:sp>
      <p:pic>
        <p:nvPicPr>
          <p:cNvPr id="20" name="Obj [o134]" descr="Corte simple: esfuerzo τ y deformación γ = Δ/h">    </p:cNvPr>
          <p:cNvPicPr>
            <a:picLocks noChangeAspect="1"/>
          </p:cNvPicPr>
          <p:nvPr/>
        </p:nvPicPr>
        <p:blipFill>
          <a:blip r:embed="rId3"/>
          <a:stretch>
            <a:fillRect/>
          </a:stretch>
        </p:blipFill>
        <p:spPr>
          <a:xfrm>
            <a:off x="441794" y="1633397"/>
            <a:ext cx="3345511" cy="2509133"/>
          </a:xfrm>
          <a:prstGeom prst="rect">
            <a:avLst/>
          </a:prstGeom>
        </p:spPr>
      </p:pic>
      <p:sp>
        <p:nvSpPr>
          <p:cNvPr id="21" name="Obj [o135]"/>
          <p:cNvSpPr/>
          <p:nvPr/>
        </p:nvSpPr>
        <p:spPr>
          <a:xfrm>
            <a:off x="4015409" y="1671414"/>
            <a:ext cx="3269477" cy="68430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2" name="Obj [o136]"/>
              <p:cNvSpPr txBox="1"/>
              <p:nvPr/>
            </p:nvSpPr>
            <p:spPr>
              <a:xfrm>
                <a:off x="4015409" y="1671414"/>
                <a:ext cx="3269477" cy="68430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τ=G·γ</m:t>
                      </m:r>
                    </m:oMath>
                  </m:oMathPara>
                </a14:m>
                <a:endParaRPr lang="es-ES"/>
              </a:p>
            </p:txBody>
          </p:sp>
        </mc:Choice>
        <mc:Fallback>
          <p:sp>
            <p:nvSpPr>
              <p:cNvPr id="22" name="Obj [o136]"/>
              <p:cNvSpPr txBox="1"/>
              <p:nvPr/>
            </p:nvSpPr>
            <p:spPr>
              <a:xfrm>
                <a:off x="4015409" y="1671414"/>
                <a:ext cx="3269477" cy="68430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τ = G · γ</a:t>
                </a:r>
                <a:endParaRPr lang="en-US" sz="2071" dirty="0"/>
              </a:p>
            </p:txBody>
          </p:sp>
        </mc:Fallback>
      </mc:AlternateContent>
      <p:sp>
        <p:nvSpPr>
          <p:cNvPr id="23" name="Obj [o137]"/>
          <p:cNvSpPr txBox="1"/>
          <p:nvPr/>
        </p:nvSpPr>
        <p:spPr>
          <a:xfrm>
            <a:off x="4015409" y="2507792"/>
            <a:ext cx="3269477" cy="1824824"/>
          </a:xfrm>
          <a:prstGeom prst="rect">
            <a:avLst/>
          </a:prstGeom>
          <a:noFill/>
          <a:ln/>
        </p:spPr>
        <p:txBody>
          <a:bodyPr wrap="square" lIns="0" tIns="0" rIns="0" bIns="0" rtlCol="0" anchor="t"/>
          <a:lstStyle/>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Esfuerzo y deformación de corte son proporcionales</a:t>
            </a:r>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γ</m:t>
                    </m:r>
                  </m:oMath>
                </a14:m>
              </mc:Choice>
              <mc:Fallback>
                <a:r>
                  <a:rPr lang="en-US" sz="1553" dirty="0">
                    <a:solidFill>
                      <a:srgbClr val="2D2D2D"/>
                    </a:solidFill>
                    <a:latin typeface="Arial" pitchFamily="34" charset="0"/>
                    <a:ea typeface="Arial" pitchFamily="34" charset="-122"/>
                    <a:cs typeface="Arial" pitchFamily="34" charset="-120"/>
                  </a:rPr>
                  <a:t>γ</a:t>
                </a:r>
              </mc:Fallback>
            </mc:AlternateContent>
            <a:r>
              <a:rPr lang="en-US" sz="1553" dirty="0">
                <a:solidFill>
                  <a:srgbClr val="2D2D2D"/>
                </a:solidFill>
                <a:latin typeface="Arial" pitchFamily="34" charset="0"/>
                <a:ea typeface="Arial" pitchFamily="34" charset="-122"/>
                <a:cs typeface="Arial" pitchFamily="34" charset="-120"/>
              </a:rPr>
              <a:t> del orden de 10⁻⁵ o menos, G es casi constante: </a:t>
            </a: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G</m:t>
                        </m:r>
                      </m:e>
                      <m:sub>
                        <m:r>
                          <m:rPr>
                            <m:sty m:val="p"/>
                          </m:rPr>
                          <a:rPr lang="es-ES" sz="1553">
                            <a:solidFill>
                              <a:srgbClr val="2D2D2D"/>
                            </a:solidFill>
                            <a:latin typeface="Cambria Math" panose="02040503050406030204" pitchFamily="18" charset="0"/>
                          </a:rPr>
                          <m:t xml:space="preserve">max</m:t>
                        </m:r>
                      </m:sub>
                    </m:sSub>
                  </m:oMath>
                </a14:m>
              </mc:Choice>
              <mc:Fallback>
                <a:r>
                  <a:rPr lang="en-US" sz="1553" dirty="0">
                    <a:solidFill>
                      <a:srgbClr val="2D2D2D"/>
                    </a:solidFill>
                    <a:latin typeface="Arial" pitchFamily="34" charset="0"/>
                    <a:ea typeface="Arial" pitchFamily="34" charset="-122"/>
                    <a:cs typeface="Arial" pitchFamily="34" charset="-120"/>
                  </a:rPr>
                  <a:t>Gmax</a:t>
                </a:r>
              </mc:Fallback>
            </mc:AlternateContent>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553" dirty="0"/>
          </a:p>
        </p:txBody>
      </p:sp>
      <p:sp>
        <p:nvSpPr>
          <p:cNvPr id="24" name="Obj [o13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Umbral aproximado; depende del tipo de suelo (Foti et al., 2014).</a:t>
            </a:r>
            <a:endParaRPr lang="en-US" sz="800" dirty="0"/>
          </a:p>
        </p:txBody>
      </p:sp>
      <p:sp>
        <p:nvSpPr>
          <p:cNvPr id="25" name="Obj [o13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pequeña señal, la velocidad de corte da directamente la rigidez máxima</a:t>
            </a:r>
            <a:endParaRPr lang="en-US" sz="1400" dirty="0"/>
          </a:p>
        </p:txBody>
      </p:sp>
      <p:sp>
        <p:nvSpPr>
          <p:cNvPr id="26" name="Obj [o140]"/>
          <p:cNvSpPr/>
          <p:nvPr/>
        </p:nvSpPr>
        <p:spPr>
          <a:xfrm>
            <a:off x="441794" y="1633397"/>
            <a:ext cx="3649649"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7" name="Obj [o141]"/>
              <p:cNvSpPr txBox="1"/>
              <p:nvPr/>
            </p:nvSpPr>
            <p:spPr>
              <a:xfrm>
                <a:off x="441794" y="1633397"/>
                <a:ext cx="3649649"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rad>
                        <m:radPr>
                          <m:degHide m:val="1"/>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μ</m:t>
                              </m:r>
                            </m:num>
                            <m:den>
                              <m:r>
                                <a:rPr lang="es-ES" sz="2400" i="1">
                                  <a:solidFill>
                                    <a:srgbClr val="1F4E79"/>
                                  </a:solidFill>
                                  <a:latin typeface="Cambria Math" panose="02040503050406030204" pitchFamily="18" charset="0"/>
                                </a:rPr>
                                <m:t xml:space="preserve">ρ</m:t>
                              </m:r>
                            </m:den>
                          </m:f>
                        </m:e>
                      </m:rad>
                    </m:oMath>
                  </m:oMathPara>
                </a14:m>
                <a:endParaRPr lang="es-ES"/>
              </a:p>
            </p:txBody>
          </p:sp>
        </mc:Choice>
        <mc:Fallback>
          <p:sp>
            <p:nvSpPr>
              <p:cNvPr id="27" name="Obj [o141]"/>
              <p:cNvSpPr txBox="1"/>
              <p:nvPr/>
            </p:nvSpPr>
            <p:spPr>
              <a:xfrm>
                <a:off x="441794" y="1633397"/>
                <a:ext cx="3649649"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√(μ / ρ)</a:t>
                </a:r>
                <a:endParaRPr lang="en-US" sz="2071" dirty="0"/>
              </a:p>
            </p:txBody>
          </p:sp>
        </mc:Fallback>
      </mc:AlternateContent>
      <p:sp>
        <p:nvSpPr>
          <p:cNvPr id="28" name="Obj [o142]"/>
          <p:cNvSpPr txBox="1"/>
          <p:nvPr/>
        </p:nvSpPr>
        <p:spPr>
          <a:xfrm>
            <a:off x="4319546" y="1633397"/>
            <a:ext cx="2965340" cy="646292"/>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Medio elástico lineal, homogéneo e isótropo</a:t>
            </a:r>
            <a:endParaRPr lang="en-US" sz="1553" dirty="0"/>
          </a:p>
        </p:txBody>
      </p:sp>
      <p:sp>
        <p:nvSpPr>
          <p:cNvPr id="29" name="Obj [o143]"/>
          <p:cNvSpPr/>
          <p:nvPr/>
        </p:nvSpPr>
        <p:spPr>
          <a:xfrm>
            <a:off x="2266619" y="2294896"/>
            <a:ext cx="0" cy="197689"/>
          </a:xfrm>
          <a:prstGeom prst="line">
            <a:avLst/>
          </a:prstGeom>
          <a:noFill/>
          <a:ln w="21121">
            <a:solidFill>
              <a:srgbClr val="1F4E79"/>
            </a:solidFill>
            <a:prstDash val="solid"/>
            <a:tailEnd type="triangle"/>
          </a:ln>
        </p:spPr>
      </p:sp>
      <p:sp>
        <p:nvSpPr>
          <p:cNvPr id="30" name="Obj [o144]"/>
          <p:cNvSpPr/>
          <p:nvPr/>
        </p:nvSpPr>
        <p:spPr>
          <a:xfrm>
            <a:off x="441794" y="2507792"/>
            <a:ext cx="3649649"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1" name="Obj [o145]"/>
              <p:cNvSpPr txBox="1"/>
              <p:nvPr/>
            </p:nvSpPr>
            <p:spPr>
              <a:xfrm>
                <a:off x="441794" y="2507792"/>
                <a:ext cx="3649649"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μ=</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oMath>
                  </m:oMathPara>
                </a14:m>
                <a:endParaRPr lang="es-ES"/>
              </a:p>
            </p:txBody>
          </p:sp>
        </mc:Choice>
        <mc:Fallback>
          <p:sp>
            <p:nvSpPr>
              <p:cNvPr id="31" name="Obj [o145]"/>
              <p:cNvSpPr txBox="1"/>
              <p:nvPr/>
            </p:nvSpPr>
            <p:spPr>
              <a:xfrm>
                <a:off x="441794" y="2507792"/>
                <a:ext cx="3649649"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μ = Gmax</a:t>
                </a:r>
                <a:endParaRPr lang="en-US" sz="2071" dirty="0"/>
              </a:p>
            </p:txBody>
          </p:sp>
        </mc:Fallback>
      </mc:AlternateContent>
      <p:sp>
        <p:nvSpPr>
          <p:cNvPr id="32" name="Obj [o146]"/>
          <p:cNvSpPr txBox="1"/>
          <p:nvPr/>
        </p:nvSpPr>
        <p:spPr>
          <a:xfrm>
            <a:off x="4319546" y="2507792"/>
            <a:ext cx="2965340" cy="646292"/>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Solo en pequeña señal: el módulo de corte es </a:t>
            </a: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G</m:t>
                        </m:r>
                      </m:e>
                      <m:sub>
                        <m:r>
                          <m:rPr>
                            <m:sty m:val="p"/>
                          </m:rPr>
                          <a:rPr lang="es-ES" sz="1553">
                            <a:solidFill>
                              <a:srgbClr val="2D2D2D"/>
                            </a:solidFill>
                            <a:latin typeface="Cambria Math" panose="02040503050406030204" pitchFamily="18" charset="0"/>
                          </a:rPr>
                          <m:t xml:space="preserve">max</m:t>
                        </m:r>
                      </m:sub>
                    </m:sSub>
                  </m:oMath>
                </a14:m>
              </mc:Choice>
              <mc:Fallback>
                <a:r>
                  <a:rPr lang="en-US" sz="1553" dirty="0">
                    <a:solidFill>
                      <a:srgbClr val="2D2D2D"/>
                    </a:solidFill>
                    <a:latin typeface="Arial" pitchFamily="34" charset="0"/>
                    <a:ea typeface="Arial" pitchFamily="34" charset="-122"/>
                    <a:cs typeface="Arial" pitchFamily="34" charset="-120"/>
                  </a:rPr>
                  <a:t>Gmax</a:t>
                </a:r>
              </mc:Fallback>
            </mc:AlternateContent>
            <a:endParaRPr lang="en-US" sz="1553" dirty="0"/>
          </a:p>
        </p:txBody>
      </p:sp>
      <p:sp>
        <p:nvSpPr>
          <p:cNvPr id="33" name="Obj [o147]"/>
          <p:cNvSpPr/>
          <p:nvPr/>
        </p:nvSpPr>
        <p:spPr>
          <a:xfrm>
            <a:off x="2266619" y="3169291"/>
            <a:ext cx="0" cy="197689"/>
          </a:xfrm>
          <a:prstGeom prst="line">
            <a:avLst/>
          </a:prstGeom>
          <a:noFill/>
          <a:ln w="21121">
            <a:solidFill>
              <a:srgbClr val="1F4E79"/>
            </a:solidFill>
            <a:prstDash val="solid"/>
            <a:tailEnd type="triangle"/>
          </a:ln>
        </p:spPr>
      </p:sp>
      <p:sp>
        <p:nvSpPr>
          <p:cNvPr id="34" name="Obj [o148]"/>
          <p:cNvSpPr/>
          <p:nvPr/>
        </p:nvSpPr>
        <p:spPr>
          <a:xfrm>
            <a:off x="441794" y="3382187"/>
            <a:ext cx="3649649" cy="646292"/>
          </a:xfrm>
          <a:prstGeom prst="rect">
            <a:avLst/>
          </a:prstGeom>
          <a:solidFill>
            <a:srgbClr val="1F4E79"/>
          </a:solidFill>
          <a:ln w="6350">
            <a:solidFill>
              <a:srgbClr val="1F4E79"/>
            </a:solidFill>
            <a:prstDash val="solid"/>
          </a:ln>
        </p:spPr>
      </p:sp>
      <mc:AlternateContent xmlns:mc="http://schemas.openxmlformats.org/markup-compatibility/2006">
        <mc:Choice xmlns:a14="http://schemas.microsoft.com/office/drawing/2010/main" Requires="a14">
          <p:sp>
            <p:nvSpPr>
              <p:cNvPr id="35" name="Obj [o149]"/>
              <p:cNvSpPr txBox="1"/>
              <p:nvPr/>
            </p:nvSpPr>
            <p:spPr>
              <a:xfrm>
                <a:off x="441794" y="3382187"/>
                <a:ext cx="3649649"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FFFFFF"/>
                              </a:solidFill>
                              <a:latin typeface="Cambria Math" panose="02040503050406030204" pitchFamily="18" charset="0"/>
                            </a:rPr>
                            <m:t xml:space="preserve">G</m:t>
                          </m:r>
                        </m:e>
                        <m:sub>
                          <m:r>
                            <m:rPr>
                              <m:sty m:val="p"/>
                            </m:rPr>
                            <a:rPr lang="es-ES" sz="2400">
                              <a:solidFill>
                                <a:srgbClr val="FFFFFF"/>
                              </a:solidFill>
                              <a:latin typeface="Cambria Math" panose="02040503050406030204" pitchFamily="18" charset="0"/>
                            </a:rPr>
                            <m:t xml:space="preserve">max</m:t>
                          </m:r>
                        </m:sub>
                      </m:sSub>
                      <m:r>
                        <a:rPr lang="es-ES" sz="2400" i="1">
                          <a:solidFill>
                            <a:srgbClr val="FFFFFF"/>
                          </a:solidFill>
                          <a:latin typeface="Cambria Math" panose="02040503050406030204" pitchFamily="18" charset="0"/>
                        </a:rPr>
                        <m:t xml:space="preserve">=ρ</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FFFFFF"/>
                                  </a:solidFill>
                                  <a:latin typeface="Cambria Math" panose="02040503050406030204" pitchFamily="18" charset="0"/>
                                </a:rPr>
                                <m:t xml:space="preserve">V</m:t>
                              </m:r>
                            </m:e>
                            <m:sub>
                              <m:r>
                                <a:rPr lang="es-ES" sz="2400" i="1">
                                  <a:solidFill>
                                    <a:srgbClr val="FFFFFF"/>
                                  </a:solidFill>
                                  <a:latin typeface="Cambria Math" panose="02040503050406030204" pitchFamily="18" charset="0"/>
                                </a:rPr>
                                <m:t xml:space="preserve">s</m:t>
                              </m:r>
                            </m:sub>
                          </m:sSub>
                        </m:e>
                        <m:sup>
                          <m:r>
                            <a:rPr lang="es-ES" sz="2400" i="1">
                              <a:solidFill>
                                <a:srgbClr val="FFFFFF"/>
                              </a:solidFill>
                              <a:latin typeface="Cambria Math" panose="02040503050406030204" pitchFamily="18" charset="0"/>
                            </a:rPr>
                            <m:t xml:space="preserve">2</m:t>
                          </m:r>
                        </m:sup>
                      </m:sSup>
                    </m:oMath>
                  </m:oMathPara>
                </a14:m>
                <a:endParaRPr lang="es-ES"/>
              </a:p>
            </p:txBody>
          </p:sp>
        </mc:Choice>
        <mc:Fallback>
          <p:sp>
            <p:nvSpPr>
              <p:cNvPr id="35" name="Obj [o149]"/>
              <p:cNvSpPr txBox="1"/>
              <p:nvPr/>
            </p:nvSpPr>
            <p:spPr>
              <a:xfrm>
                <a:off x="441794" y="3382187"/>
                <a:ext cx="3649649" cy="646292"/>
              </a:xfrm>
              <a:prstGeom prst="rect">
                <a:avLst/>
              </a:prstGeom>
              <a:noFill/>
              <a:ln/>
            </p:spPr>
            <p:txBody>
              <a:bodyPr wrap="square" lIns="0" tIns="0" rIns="0" bIns="0" rtlCol="0" anchor="ctr"/>
              <a:lstStyle/>
              <a:p>
                <a:pPr algn="ctr" indent="0" marL="0">
                  <a:buNone/>
                </a:pPr>
                <a:r>
                  <a:rPr lang="en-US" sz="2071" dirty="0">
                    <a:solidFill>
                      <a:srgbClr val="FFFFFF"/>
                    </a:solidFill>
                    <a:latin typeface="Arial" pitchFamily="34" charset="0"/>
                    <a:ea typeface="Arial" pitchFamily="34" charset="-122"/>
                    <a:cs typeface="Arial" pitchFamily="34" charset="-120"/>
                  </a:rPr>
                  <a:t>Gmax = ρ · Vs²</a:t>
                </a:r>
                <a:endParaRPr lang="en-US" sz="2071" dirty="0"/>
              </a:p>
            </p:txBody>
          </p:sp>
        </mc:Fallback>
      </mc:AlternateContent>
      <p:sp>
        <p:nvSpPr>
          <p:cNvPr id="36" name="Obj [o150]"/>
          <p:cNvSpPr txBox="1"/>
          <p:nvPr/>
        </p:nvSpPr>
        <p:spPr>
          <a:xfrm>
            <a:off x="4319546" y="3382187"/>
            <a:ext cx="2965340" cy="646292"/>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Relación buscada. Válida solo en pequeña señal</a:t>
            </a:r>
            <a:endParaRPr lang="en-US" sz="1553" dirty="0"/>
          </a:p>
        </p:txBody>
      </p:sp>
      <p:sp>
        <p:nvSpPr>
          <p:cNvPr id="37" name="Obj [o15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a:t>
            </a:r>
            <a:endParaRPr lang="en-US" sz="800" dirty="0"/>
          </a:p>
        </p:txBody>
      </p:sp>
      <p:sp>
        <p:nvSpPr>
          <p:cNvPr id="38" name="Obj [o15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 podemos estimar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G</m:t>
                        </m:r>
                      </m:e>
                      <m:sub>
                        <m:r>
                          <m:rPr>
                            <m:sty m:val="p"/>
                          </m:rPr>
                          <a:rPr lang="es-ES" sz="1400">
                            <a:solidFill>
                              <a:srgbClr val="2E75B6"/>
                            </a:solidFill>
                            <a:latin typeface="Cambria Math" panose="02040503050406030204" pitchFamily="18" charset="0"/>
                          </a:rPr>
                          <m:t xml:space="preserve">max</m:t>
                        </m:r>
                      </m:sub>
                    </m:sSub>
                  </m:oMath>
                </a14:m>
              </mc:Choice>
              <mc:Fallback>
                <a:r>
                  <a:rPr lang="en-US" sz="1400" b="1" dirty="0">
                    <a:solidFill>
                      <a:srgbClr val="2E75B6"/>
                    </a:solidFill>
                    <a:latin typeface="Arial" pitchFamily="34" charset="0"/>
                    <a:ea typeface="Arial" pitchFamily="34" charset="-122"/>
                    <a:cs typeface="Arial" pitchFamily="34" charset="-120"/>
                  </a:rPr>
                  <a:t>Gmax</a:t>
                </a:r>
              </mc:Fallback>
            </mc:AlternateContent>
            <a:r>
              <a:rPr lang="en-US" sz="1400" b="1" dirty="0">
                <a:solidFill>
                  <a:srgbClr val="2E75B6"/>
                </a:solidFill>
                <a:latin typeface="Arial" pitchFamily="34" charset="0"/>
                <a:ea typeface="Arial" pitchFamily="34" charset="-122"/>
                <a:cs typeface="Arial" pitchFamily="34" charset="-120"/>
              </a:rPr>
              <a:t> con una incertidumbre razonable</a:t>
            </a:r>
            <a:endParaRPr lang="en-US" sz="1400" dirty="0"/>
          </a:p>
        </p:txBody>
      </p:sp>
      <p:sp>
        <p:nvSpPr>
          <p:cNvPr id="39" name="Obj [o153]"/>
          <p:cNvSpPr/>
          <p:nvPr/>
        </p:nvSpPr>
        <p:spPr>
          <a:xfrm>
            <a:off x="441794" y="1671414"/>
            <a:ext cx="3649649" cy="91241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0" name="Obj [o154]"/>
              <p:cNvSpPr txBox="1"/>
              <p:nvPr/>
            </p:nvSpPr>
            <p:spPr>
              <a:xfrm>
                <a:off x="441794" y="1671414"/>
                <a:ext cx="3649649" cy="91241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ΔG</m:t>
                          </m:r>
                        </m:num>
                        <m:den>
                          <m:r>
                            <a:rPr lang="es-ES" sz="2100" i="1">
                              <a:solidFill>
                                <a:srgbClr val="1F4E79"/>
                              </a:solidFill>
                              <a:latin typeface="Cambria Math" panose="02040503050406030204" pitchFamily="18" charset="0"/>
                            </a:rPr>
                            <m:t xml:space="preserve">G</m:t>
                          </m:r>
                        </m:den>
                      </m:f>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Δρ</m:t>
                          </m:r>
                        </m:num>
                        <m:den>
                          <m:r>
                            <a:rPr lang="es-ES" sz="2100" i="1">
                              <a:solidFill>
                                <a:srgbClr val="1F4E79"/>
                              </a:solidFill>
                              <a:latin typeface="Cambria Math" panose="02040503050406030204" pitchFamily="18" charset="0"/>
                            </a:rPr>
                            <m:t xml:space="preserve">ρ</m:t>
                          </m:r>
                        </m:den>
                      </m:f>
                      <m:r>
                        <a:rPr lang="es-ES" sz="2100" i="1">
                          <a:solidFill>
                            <a:srgbClr val="1F4E79"/>
                          </a:solidFill>
                          <a:latin typeface="Cambria Math" panose="02040503050406030204" pitchFamily="18" charset="0"/>
                        </a:rPr>
                        <m:t xml:space="preserve">+2</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Δ</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num>
                        <m:den>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den>
                      </m:f>
                    </m:oMath>
                  </m:oMathPara>
                </a14:m>
                <a:endParaRPr lang="es-ES"/>
              </a:p>
            </p:txBody>
          </p:sp>
        </mc:Choice>
        <mc:Fallback>
          <p:sp>
            <p:nvSpPr>
              <p:cNvPr id="40" name="Obj [o154]"/>
              <p:cNvSpPr txBox="1"/>
              <p:nvPr/>
            </p:nvSpPr>
            <p:spPr>
              <a:xfrm>
                <a:off x="441794" y="1671414"/>
                <a:ext cx="3649649" cy="91241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ΔG/G ≈ Δρ/ρ + 2·ΔVs/Vs</a:t>
                </a:r>
                <a:endParaRPr lang="en-US" sz="2071" dirty="0"/>
              </a:p>
            </p:txBody>
          </p:sp>
        </mc:Fallback>
      </mc:AlternateContent>
      <p:sp>
        <p:nvSpPr>
          <p:cNvPr id="41" name="Obj [o155]"/>
          <p:cNvSpPr txBox="1"/>
          <p:nvPr/>
        </p:nvSpPr>
        <p:spPr>
          <a:xfrm>
            <a:off x="4319546" y="1671414"/>
            <a:ext cx="2965340" cy="2281030"/>
          </a:xfrm>
          <a:prstGeom prst="rect">
            <a:avLst/>
          </a:prstGeom>
          <a:noFill/>
          <a:ln/>
        </p:spPr>
        <p:txBody>
          <a:bodyPr wrap="square" lIns="0" tIns="0" rIns="0" bIns="0" rtlCol="0" anchor="t"/>
          <a:lstStyle/>
          <a:p>
            <a:pPr marL="342900" indent="-342900">
              <a:spcAft>
                <a:spcPts val="863"/>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ρ</m:t>
                    </m:r>
                  </m:oMath>
                </a14:m>
              </mc:Choice>
              <mc:Fallback>
                <a:r>
                  <a:rPr lang="en-US" sz="1553" dirty="0">
                    <a:solidFill>
                      <a:srgbClr val="2D2D2D"/>
                    </a:solidFill>
                    <a:latin typeface="Arial" pitchFamily="34" charset="0"/>
                    <a:ea typeface="Arial" pitchFamily="34" charset="-122"/>
                    <a:cs typeface="Arial" pitchFamily="34" charset="-120"/>
                  </a:rPr>
                  <a:t>ρ</a:t>
                </a:r>
              </mc:Fallback>
            </mc:AlternateContent>
            <a:r>
              <a:rPr lang="en-US" sz="1553" dirty="0">
                <a:solidFill>
                  <a:srgbClr val="2D2D2D"/>
                </a:solidFill>
                <a:latin typeface="Arial" pitchFamily="34" charset="0"/>
                <a:ea typeface="Arial" pitchFamily="34" charset="-122"/>
                <a:cs typeface="Arial" pitchFamily="34" charset="-120"/>
              </a:rPr>
              <a:t> varía poco entre suelos y se estima con muestras o correlaciones</a:t>
            </a:r>
            <a:endParaRPr lang="en-US" sz="1553" dirty="0"/>
          </a:p>
          <a:p>
            <a:pPr marL="342900" indent="-342900">
              <a:spcAft>
                <a:spcPts val="863"/>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V</m:t>
                        </m:r>
                      </m:e>
                      <m:sub>
                        <m:r>
                          <a:rPr lang="es-ES" sz="1553" i="1">
                            <a:solidFill>
                              <a:srgbClr val="2D2D2D"/>
                            </a:solidFill>
                            <a:latin typeface="Cambria Math" panose="02040503050406030204" pitchFamily="18" charset="0"/>
                          </a:rPr>
                          <m:t xml:space="preserve">s</m:t>
                        </m:r>
                      </m:sub>
                    </m:sSub>
                  </m:oMath>
                </a14:m>
              </mc:Choice>
              <mc:Fallback>
                <a:r>
                  <a:rPr lang="en-US" sz="1553" dirty="0">
                    <a:solidFill>
                      <a:srgbClr val="2D2D2D"/>
                    </a:solidFill>
                    <a:latin typeface="Arial" pitchFamily="34" charset="0"/>
                    <a:ea typeface="Arial" pitchFamily="34" charset="-122"/>
                    <a:cs typeface="Arial" pitchFamily="34" charset="-120"/>
                  </a:rPr>
                  <a:t>Vs</a:t>
                </a:r>
              </mc:Fallback>
            </mc:AlternateContent>
            <a:r>
              <a:rPr lang="en-US" sz="1553" dirty="0">
                <a:solidFill>
                  <a:srgbClr val="2D2D2D"/>
                </a:solidFill>
                <a:latin typeface="Arial" pitchFamily="34" charset="0"/>
                <a:ea typeface="Arial" pitchFamily="34" charset="-122"/>
                <a:cs typeface="Arial" pitchFamily="34" charset="-120"/>
              </a:rPr>
              <a:t> varía mucho y se mide en campo</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Un error en </a:t>
            </a:r>
            <mc:AlternateContent xmlns:mc="http://schemas.openxmlformats.org/markup-compatibility/2006">
              <mc:Choice xmlns:a14="http://schemas.microsoft.com/office/drawing/2010/main" Requires="a14">
                <a14:m>
                  <m:oMath xmlns:m="http://schemas.openxmlformats.org/officeDocument/2006/math">
                    <m:sSub>
                      <m:sSubPr>
                        <m:ctrlPr>
                          <a:rPr lang="es-ES" sz="1553" i="1">
                            <a:latin typeface="Cambria Math" panose="02040503050406030204" pitchFamily="18" charset="0"/>
                          </a:rPr>
                        </m:ctrlPr>
                      </m:sSubPr>
                      <m:e>
                        <m:r>
                          <a:rPr lang="es-ES" sz="1553" i="1">
                            <a:solidFill>
                              <a:srgbClr val="2D2D2D"/>
                            </a:solidFill>
                            <a:latin typeface="Cambria Math" panose="02040503050406030204" pitchFamily="18" charset="0"/>
                          </a:rPr>
                          <m:t xml:space="preserve">V</m:t>
                        </m:r>
                      </m:e>
                      <m:sub>
                        <m:r>
                          <a:rPr lang="es-ES" sz="1553" i="1">
                            <a:solidFill>
                              <a:srgbClr val="2D2D2D"/>
                            </a:solidFill>
                            <a:latin typeface="Cambria Math" panose="02040503050406030204" pitchFamily="18" charset="0"/>
                          </a:rPr>
                          <m:t xml:space="preserve">s</m:t>
                        </m:r>
                      </m:sub>
                    </m:sSub>
                  </m:oMath>
                </a14:m>
              </mc:Choice>
              <mc:Fallback>
                <a:r>
                  <a:rPr lang="en-US" sz="1553" dirty="0">
                    <a:solidFill>
                      <a:srgbClr val="2D2D2D"/>
                    </a:solidFill>
                    <a:latin typeface="Arial" pitchFamily="34" charset="0"/>
                    <a:ea typeface="Arial" pitchFamily="34" charset="-122"/>
                    <a:cs typeface="Arial" pitchFamily="34" charset="-120"/>
                  </a:rPr>
                  <a:t>Vs</a:t>
                </a:r>
              </mc:Fallback>
            </mc:AlternateContent>
            <a:r>
              <a:rPr lang="en-US" sz="1553" dirty="0">
                <a:solidFill>
                  <a:srgbClr val="2D2D2D"/>
                </a:solidFill>
                <a:latin typeface="Arial" pitchFamily="34" charset="0"/>
                <a:ea typeface="Arial" pitchFamily="34" charset="-122"/>
                <a:cs typeface="Arial" pitchFamily="34" charset="-120"/>
              </a:rPr>
              <a:t> pesa el doble que uno en </a:t>
            </a: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ρ</m:t>
                    </m:r>
                  </m:oMath>
                </a14:m>
              </mc:Choice>
              <mc:Fallback>
                <a:r>
                  <a:rPr lang="en-US" sz="1553" dirty="0">
                    <a:solidFill>
                      <a:srgbClr val="2D2D2D"/>
                    </a:solidFill>
                    <a:latin typeface="Arial" pitchFamily="34" charset="0"/>
                    <a:ea typeface="Arial" pitchFamily="34" charset="-122"/>
                    <a:cs typeface="Arial" pitchFamily="34" charset="-120"/>
                  </a:rPr>
                  <a:t>ρ</a:t>
                </a:r>
              </mc:Fallback>
            </mc:AlternateContent>
            <a:endParaRPr lang="en-US" sz="1553" dirty="0"/>
          </a:p>
        </p:txBody>
      </p:sp>
      <p:sp>
        <p:nvSpPr>
          <p:cNvPr id="42" name="Obj [o156]"/>
          <p:cNvSpPr txBox="1"/>
          <p:nvPr/>
        </p:nvSpPr>
        <p:spPr>
          <a:xfrm>
            <a:off x="441794" y="2849946"/>
            <a:ext cx="3649649" cy="912412"/>
          </a:xfrm>
          <a:prstGeom prst="rect">
            <a:avLst/>
          </a:prstGeom>
          <a:noFill/>
          <a:ln/>
        </p:spPr>
        <p:txBody>
          <a:bodyPr wrap="square" lIns="0" tIns="0" rIns="0" bIns="0" rtlCol="0" anchor="t"/>
          <a:lstStyle/>
          <a:p>
            <a:pPr indent="0" marL="0">
              <a:buNone/>
            </a:pPr>
            <a:r>
              <a:rPr lang="en-US" sz="1553"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553" dirty="0"/>
          </a:p>
        </p:txBody>
      </p:sp>
      <p:sp>
        <p:nvSpPr>
          <p:cNvPr id="43" name="Obj [o15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Propagación de errores lineal, cota superior. Foti et al. (2014).</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fill="hold" nodeType="withEffect">
                                  <p:stCondLst>
                                    <p:cond delay="4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5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350"/>
                                        <p:tgtEl>
                                          <p:spTgt spid="3"/>
                                        </p:tgtEl>
                                      </p:cBhvr>
                                    </p:animEffect>
                                    <p:set>
                                      <p:cBhvr>
                                        <p:cTn id="26" dur="1" fill="hold">
                                          <p:stCondLst>
                                            <p:cond delay="349"/>
                                          </p:stCondLst>
                                        </p:cTn>
                                        <p:tgtEl>
                                          <p:spTgt spid="3"/>
                                        </p:tgtEl>
                                        <p:attrNameLst>
                                          <p:attrName>style.visibility</p:attrName>
                                        </p:attrNameLst>
                                      </p:cBhvr>
                                      <p:to>
                                        <p:strVal val="hidden"/>
                                      </p:to>
                                    </p:set>
                                  </p:childTnLst>
                                </p:cTn>
                              </p:par>
                              <p:par>
                                <p:cTn id="27" presetID="10" presetClass="exit" presetSubtype="0" grpId="0" fill="hold" nodeType="withEffect">
                                  <p:stCondLst>
                                    <p:cond delay="0"/>
                                  </p:stCondLst>
                                  <p:childTnLst>
                                    <p:animEffect transition="out" filter="fade">
                                      <p:cBhvr>
                                        <p:cTn id="28" dur="350"/>
                                        <p:tgtEl>
                                          <p:spTgt spid="5">
                                            <p:txEl>
                                              <p:pRg st="0" end="0"/>
                                            </p:txEl>
                                          </p:spTgt>
                                        </p:tgtEl>
                                      </p:cBhvr>
                                    </p:animEffect>
                                    <p:set>
                                      <p:cBhvr>
                                        <p:cTn id="29" dur="1" fill="hold">
                                          <p:stCondLst>
                                            <p:cond delay="349"/>
                                          </p:stCondLst>
                                        </p:cTn>
                                        <p:tgtEl>
                                          <p:spTgt spid="5">
                                            <p:txEl>
                                              <p:pRg st="0" end="0"/>
                                            </p:txEl>
                                          </p:spTgt>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5">
                                            <p:txEl>
                                              <p:pRg st="1" end="1"/>
                                            </p:txEl>
                                          </p:spTgt>
                                        </p:tgtEl>
                                      </p:cBhvr>
                                    </p:animEffect>
                                    <p:set>
                                      <p:cBhvr>
                                        <p:cTn id="32" dur="1" fill="hold">
                                          <p:stCondLst>
                                            <p:cond delay="349"/>
                                          </p:stCondLst>
                                        </p:cTn>
                                        <p:tgtEl>
                                          <p:spTgt spid="5">
                                            <p:txEl>
                                              <p:pRg st="1" end="1"/>
                                            </p:txEl>
                                          </p:spTgt>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350"/>
                                        <p:tgtEl>
                                          <p:spTgt spid="6"/>
                                        </p:tgtEl>
                                      </p:cBhvr>
                                    </p:animEffect>
                                    <p:set>
                                      <p:cBhvr>
                                        <p:cTn id="35" dur="1" fill="hold">
                                          <p:stCondLst>
                                            <p:cond delay="349"/>
                                          </p:stCondLst>
                                        </p:cTn>
                                        <p:tgtEl>
                                          <p:spTgt spid="6"/>
                                        </p:tgtEl>
                                        <p:attrNameLst>
                                          <p:attrName>style.visibility</p:attrName>
                                        </p:attrNameLst>
                                      </p:cBhvr>
                                      <p:to>
                                        <p:strVal val="hidden"/>
                                      </p:to>
                                    </p:set>
                                  </p:childTnLst>
                                </p:cTn>
                              </p:par>
                              <p:par>
                                <p:cTn id="36" presetID="0" presetClass="path" presetSubtype="0" accel="50000" decel="50000" fill="hold" nodeType="withEffect">
                                  <p:stCondLst>
                                    <p:cond delay="0"/>
                                  </p:stCondLst>
                                  <p:childTnLst>
                                    <p:animMotion origin="layout" path="M 0 0 L 0.52395 -0.18484 E" pathEditMode="relative" rAng="0" ptsTypes="AA">
                                      <p:cBhvr>
                                        <p:cTn id="37" dur="750" fill="hold"/>
                                        <p:tgtEl>
                                          <p:spTgt spid="4"/>
                                        </p:tgtEl>
                                        <p:attrNameLst>
                                          <p:attrName>ppt_x</p:attrName>
                                          <p:attrName>ppt_y</p:attrName>
                                        </p:attrNameLst>
                                      </p:cBhvr>
                                      <p:rCtr x="26197" y="-9242"/>
                                    </p:animMotion>
                                  </p:childTnLst>
                                </p:cTn>
                              </p:par>
                              <p:par>
                                <p:cTn id="38" presetID="6" presetClass="emph" presetSubtype="0" accel="50000" decel="50000" fill="hold" nodeType="withEffect">
                                  <p:stCondLst>
                                    <p:cond delay="0"/>
                                  </p:stCondLst>
                                  <p:childTnLst>
                                    <p:animScale>
                                      <p:cBhvr>
                                        <p:cTn id="39" dur="750" fill="hold"/>
                                        <p:tgtEl>
                                          <p:spTgt spid="4"/>
                                        </p:tgtEl>
                                      </p:cBhvr>
                                      <p:by x="25676" y="25676"/>
                                    </p:animScale>
                                  </p:childTnLst>
                                </p:cTn>
                              </p:par>
                              <p:par>
                                <p:cTn id="40" presetID="10" presetClass="entr" presetSubtype="0" fill="hold" nodeType="withEffect">
                                  <p:stCondLst>
                                    <p:cond delay="4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450"/>
                                        <p:tgtEl>
                                          <p:spTgt spid="7"/>
                                        </p:tgtEl>
                                      </p:cBhvr>
                                    </p:animEffect>
                                  </p:childTnLst>
                                </p:cTn>
                              </p:par>
                              <p:par>
                                <p:cTn id="43" presetID="53" presetClass="entr" presetSubtype="16" fill="hold" nodeType="withEffect">
                                  <p:stCondLst>
                                    <p:cond delay="520"/>
                                  </p:stCondLst>
                                  <p:childTnLst>
                                    <p:set>
                                      <p:cBhvr>
                                        <p:cTn id="44" dur="1" fill="hold">
                                          <p:stCondLst>
                                            <p:cond delay="0"/>
                                          </p:stCondLst>
                                        </p:cTn>
                                        <p:tgtEl>
                                          <p:spTgt spid="8"/>
                                        </p:tgtEl>
                                        <p:attrNameLst>
                                          <p:attrName>style.visibility</p:attrName>
                                        </p:attrNameLst>
                                      </p:cBhvr>
                                      <p:to>
                                        <p:strVal val="visible"/>
                                      </p:to>
                                    </p:set>
                                    <p:anim calcmode="lin" valueType="num">
                                      <p:cBhvr>
                                        <p:cTn id="45" dur="600" fill="hold"/>
                                        <p:tgtEl>
                                          <p:spTgt spid="8"/>
                                        </p:tgtEl>
                                        <p:attrNameLst>
                                          <p:attrName>ppt_w</p:attrName>
                                        </p:attrNameLst>
                                      </p:cBhvr>
                                      <p:tavLst>
                                        <p:tav tm="0">
                                          <p:val>
                                            <p:fltVal val="0"/>
                                          </p:val>
                                        </p:tav>
                                        <p:tav tm="100000">
                                          <p:val>
                                            <p:strVal val="#ppt_w"/>
                                          </p:val>
                                        </p:tav>
                                      </p:tavLst>
                                    </p:anim>
                                    <p:anim calcmode="lin" valueType="num">
                                      <p:cBhvr>
                                        <p:cTn id="46" dur="600" fill="hold"/>
                                        <p:tgtEl>
                                          <p:spTgt spid="8"/>
                                        </p:tgtEl>
                                        <p:attrNameLst>
                                          <p:attrName>ppt_h</p:attrName>
                                        </p:attrNameLst>
                                      </p:cBhvr>
                                      <p:tavLst>
                                        <p:tav tm="0">
                                          <p:val>
                                            <p:fltVal val="0"/>
                                          </p:val>
                                        </p:tav>
                                        <p:tav tm="100000">
                                          <p:val>
                                            <p:strVal val="#ppt_h"/>
                                          </p:val>
                                        </p:tav>
                                      </p:tavLst>
                                    </p:anim>
                                    <p:animEffect transition="in" filter="fade">
                                      <p:cBhvr>
                                        <p:cTn id="47" dur="600"/>
                                        <p:tgtEl>
                                          <p:spTgt spid="8"/>
                                        </p:tgtEl>
                                      </p:cBhvr>
                                    </p:animEffect>
                                  </p:childTnLst>
                                </p:cTn>
                              </p:par>
                              <p:par>
                                <p:cTn id="48" presetID="10" presetClass="entr" presetSubtype="0" grpId="0" fill="hold" nodeType="withEffect">
                                  <p:stCondLst>
                                    <p:cond delay="590"/>
                                  </p:stCondLst>
                                  <p:childTnLst>
                                    <p:set>
                                      <p:cBhvr>
                                        <p:cTn id="49" dur="1" fill="hold">
                                          <p:stCondLst>
                                            <p:cond delay="0"/>
                                          </p:stCondLst>
                                        </p:cTn>
                                        <p:tgtEl>
                                          <p:spTgt spid="9">
                                            <p:txEl>
                                              <p:pRg st="0" end="0"/>
                                            </p:txEl>
                                          </p:spTgt>
                                        </p:tgtEl>
                                        <p:attrNameLst>
                                          <p:attrName>style.visibility</p:attrName>
                                        </p:attrNameLst>
                                      </p:cBhvr>
                                      <p:to>
                                        <p:strVal val="visible"/>
                                      </p:to>
                                    </p:set>
                                    <p:animEffect transition="in" filter="fade">
                                      <p:cBhvr>
                                        <p:cTn id="50" dur="450"/>
                                        <p:tgtEl>
                                          <p:spTgt spid="9">
                                            <p:txEl>
                                              <p:pRg st="0" end="0"/>
                                            </p:txEl>
                                          </p:spTgt>
                                        </p:tgtEl>
                                      </p:cBhvr>
                                    </p:animEffect>
                                  </p:childTnLst>
                                </p:cTn>
                              </p:par>
                              <p:par>
                                <p:cTn id="51" presetID="10" presetClass="entr" presetSubtype="0" grpId="0" fill="hold" nodeType="withEffect">
                                  <p:stCondLst>
                                    <p:cond delay="970"/>
                                  </p:stCondLst>
                                  <p:childTnLst>
                                    <p:set>
                                      <p:cBhvr>
                                        <p:cTn id="52" dur="1" fill="hold">
                                          <p:stCondLst>
                                            <p:cond delay="0"/>
                                          </p:stCondLst>
                                        </p:cTn>
                                        <p:tgtEl>
                                          <p:spTgt spid="9">
                                            <p:txEl>
                                              <p:pRg st="1" end="1"/>
                                            </p:txEl>
                                          </p:spTgt>
                                        </p:tgtEl>
                                        <p:attrNameLst>
                                          <p:attrName>style.visibility</p:attrName>
                                        </p:attrNameLst>
                                      </p:cBhvr>
                                      <p:to>
                                        <p:strVal val="visible"/>
                                      </p:to>
                                    </p:set>
                                    <p:animEffect transition="in" filter="fade">
                                      <p:cBhvr>
                                        <p:cTn id="53" dur="450"/>
                                        <p:tgtEl>
                                          <p:spTgt spid="9">
                                            <p:txEl>
                                              <p:pRg st="1" end="1"/>
                                            </p:txEl>
                                          </p:spTgt>
                                        </p:tgtEl>
                                      </p:cBhvr>
                                    </p:animEffect>
                                  </p:childTnLst>
                                </p:cTn>
                              </p:par>
                              <p:par>
                                <p:cTn id="54" presetID="10" presetClass="entr" presetSubtype="0" fill="hold" nodeType="withEffect">
                                  <p:stCondLst>
                                    <p:cond delay="58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45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nodeType="clickEffect">
                                  <p:stCondLst>
                                    <p:cond delay="0"/>
                                  </p:stCondLst>
                                  <p:childTnLst>
                                    <p:animEffect transition="out" filter="fade">
                                      <p:cBhvr>
                                        <p:cTn id="60" dur="350"/>
                                        <p:tgtEl>
                                          <p:spTgt spid="7"/>
                                        </p:tgtEl>
                                      </p:cBhvr>
                                    </p:animEffect>
                                    <p:set>
                                      <p:cBhvr>
                                        <p:cTn id="61" dur="1" fill="hold">
                                          <p:stCondLst>
                                            <p:cond delay="349"/>
                                          </p:stCondLst>
                                        </p:cTn>
                                        <p:tgtEl>
                                          <p:spTgt spid="7"/>
                                        </p:tgtEl>
                                        <p:attrNameLst>
                                          <p:attrName>style.visibility</p:attrName>
                                        </p:attrNameLst>
                                      </p:cBhvr>
                                      <p:to>
                                        <p:strVal val="hidden"/>
                                      </p:to>
                                    </p:set>
                                  </p:childTnLst>
                                </p:cTn>
                              </p:par>
                              <p:par>
                                <p:cTn id="62" presetID="10" presetClass="exit" presetSubtype="0" grpId="0" fill="hold" nodeType="withEffect">
                                  <p:stCondLst>
                                    <p:cond delay="0"/>
                                  </p:stCondLst>
                                  <p:childTnLst>
                                    <p:animEffect transition="out" filter="fade">
                                      <p:cBhvr>
                                        <p:cTn id="63" dur="350"/>
                                        <p:tgtEl>
                                          <p:spTgt spid="9">
                                            <p:txEl>
                                              <p:pRg st="0" end="0"/>
                                            </p:txEl>
                                          </p:spTgt>
                                        </p:tgtEl>
                                      </p:cBhvr>
                                    </p:animEffect>
                                    <p:set>
                                      <p:cBhvr>
                                        <p:cTn id="64" dur="1" fill="hold">
                                          <p:stCondLst>
                                            <p:cond delay="349"/>
                                          </p:stCondLst>
                                        </p:cTn>
                                        <p:tgtEl>
                                          <p:spTgt spid="9">
                                            <p:txEl>
                                              <p:pRg st="0" end="0"/>
                                            </p:txEl>
                                          </p:spTgt>
                                        </p:tgtEl>
                                        <p:attrNameLst>
                                          <p:attrName>style.visibility</p:attrName>
                                        </p:attrNameLst>
                                      </p:cBhvr>
                                      <p:to>
                                        <p:strVal val="hidden"/>
                                      </p:to>
                                    </p:set>
                                  </p:childTnLst>
                                </p:cTn>
                              </p:par>
                              <p:par>
                                <p:cTn id="65" presetID="10" presetClass="exit" presetSubtype="0" grpId="0" fill="hold" nodeType="withEffect">
                                  <p:stCondLst>
                                    <p:cond delay="0"/>
                                  </p:stCondLst>
                                  <p:childTnLst>
                                    <p:animEffect transition="out" filter="fade">
                                      <p:cBhvr>
                                        <p:cTn id="66" dur="350"/>
                                        <p:tgtEl>
                                          <p:spTgt spid="9">
                                            <p:txEl>
                                              <p:pRg st="1" end="1"/>
                                            </p:txEl>
                                          </p:spTgt>
                                        </p:tgtEl>
                                      </p:cBhvr>
                                    </p:animEffect>
                                    <p:set>
                                      <p:cBhvr>
                                        <p:cTn id="67" dur="1" fill="hold">
                                          <p:stCondLst>
                                            <p:cond delay="349"/>
                                          </p:stCondLst>
                                        </p:cTn>
                                        <p:tgtEl>
                                          <p:spTgt spid="9">
                                            <p:txEl>
                                              <p:pRg st="1" end="1"/>
                                            </p:txEl>
                                          </p:spTgt>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350"/>
                                        <p:tgtEl>
                                          <p:spTgt spid="10"/>
                                        </p:tgtEl>
                                      </p:cBhvr>
                                    </p:animEffect>
                                    <p:set>
                                      <p:cBhvr>
                                        <p:cTn id="70" dur="1" fill="hold">
                                          <p:stCondLst>
                                            <p:cond delay="349"/>
                                          </p:stCondLst>
                                        </p:cTn>
                                        <p:tgtEl>
                                          <p:spTgt spid="10"/>
                                        </p:tgtEl>
                                        <p:attrNameLst>
                                          <p:attrName>style.visibility</p:attrName>
                                        </p:attrNameLst>
                                      </p:cBhvr>
                                      <p:to>
                                        <p:strVal val="hidden"/>
                                      </p:to>
                                    </p:set>
                                  </p:childTnLst>
                                </p:cTn>
                              </p:par>
                              <p:par>
                                <p:cTn id="71" presetID="0" presetClass="path" presetSubtype="0" accel="50000" decel="50000" fill="hold" nodeType="withEffect">
                                  <p:stCondLst>
                                    <p:cond delay="0"/>
                                  </p:stCondLst>
                                  <p:childTnLst>
                                    <p:animMotion origin="layout" path="M 0 0 L 0.59473 0.02425 E" pathEditMode="relative" rAng="0" ptsTypes="AA">
                                      <p:cBhvr>
                                        <p:cTn id="72" dur="750" fill="hold"/>
                                        <p:tgtEl>
                                          <p:spTgt spid="8"/>
                                        </p:tgtEl>
                                        <p:attrNameLst>
                                          <p:attrName>ppt_x</p:attrName>
                                          <p:attrName>ppt_y</p:attrName>
                                        </p:attrNameLst>
                                      </p:cBhvr>
                                      <p:rCtr x="29736" y="1212"/>
                                    </p:animMotion>
                                  </p:childTnLst>
                                </p:cTn>
                              </p:par>
                              <p:par>
                                <p:cTn id="73" presetID="6" presetClass="emph" presetSubtype="0" accel="50000" decel="50000" fill="hold" nodeType="withEffect">
                                  <p:stCondLst>
                                    <p:cond delay="0"/>
                                  </p:stCondLst>
                                  <p:childTnLst>
                                    <p:animScale>
                                      <p:cBhvr>
                                        <p:cTn id="74" dur="750" fill="hold"/>
                                        <p:tgtEl>
                                          <p:spTgt spid="8"/>
                                        </p:tgtEl>
                                      </p:cBhvr>
                                      <p:by x="27059" y="27059"/>
                                    </p:animScale>
                                  </p:childTnLst>
                                </p:cTn>
                              </p:par>
                              <p:par>
                                <p:cTn id="75" presetID="10" presetClass="entr" presetSubtype="0" fill="hold" nodeType="withEffect">
                                  <p:stCondLst>
                                    <p:cond delay="450"/>
                                  </p:stCondLst>
                                  <p:childTnLst>
                                    <p:set>
                                      <p:cBhvr>
                                        <p:cTn id="76" dur="1" fill="hold">
                                          <p:stCondLst>
                                            <p:cond delay="0"/>
                                          </p:stCondLst>
                                        </p:cTn>
                                        <p:tgtEl>
                                          <p:spTgt spid="11"/>
                                        </p:tgtEl>
                                        <p:attrNameLst>
                                          <p:attrName>style.visibility</p:attrName>
                                        </p:attrNameLst>
                                      </p:cBhvr>
                                      <p:to>
                                        <p:strVal val="visible"/>
                                      </p:to>
                                    </p:set>
                                    <p:animEffect transition="in" filter="fade">
                                      <p:cBhvr>
                                        <p:cTn id="77" dur="450"/>
                                        <p:tgtEl>
                                          <p:spTgt spid="11"/>
                                        </p:tgtEl>
                                      </p:cBhvr>
                                    </p:animEffect>
                                  </p:childTnLst>
                                </p:cTn>
                              </p:par>
                              <p:par>
                                <p:cTn id="78" presetID="10" presetClass="entr" presetSubtype="0" fill="hold" nodeType="withEffect">
                                  <p:stCondLst>
                                    <p:cond delay="520"/>
                                  </p:stCondLst>
                                  <p:childTnLst>
                                    <p:set>
                                      <p:cBhvr>
                                        <p:cTn id="79" dur="1" fill="hold">
                                          <p:stCondLst>
                                            <p:cond delay="0"/>
                                          </p:stCondLst>
                                        </p:cTn>
                                        <p:tgtEl>
                                          <p:spTgt spid="12"/>
                                        </p:tgtEl>
                                        <p:attrNameLst>
                                          <p:attrName>style.visibility</p:attrName>
                                        </p:attrNameLst>
                                      </p:cBhvr>
                                      <p:to>
                                        <p:strVal val="visible"/>
                                      </p:to>
                                    </p:set>
                                    <p:animEffect transition="in" filter="fade">
                                      <p:cBhvr>
                                        <p:cTn id="80" dur="450"/>
                                        <p:tgtEl>
                                          <p:spTgt spid="12"/>
                                        </p:tgtEl>
                                      </p:cBhvr>
                                    </p:animEffect>
                                  </p:childTnLst>
                                </p:cTn>
                              </p:par>
                              <p:par>
                                <p:cTn id="81" presetID="22" presetClass="entr" presetSubtype="8" fill="hold" nodeType="withEffect">
                                  <p:stCondLst>
                                    <p:cond delay="520"/>
                                  </p:stCondLst>
                                  <p:childTnLst>
                                    <p:set>
                                      <p:cBhvr>
                                        <p:cTn id="82" dur="1" fill="hold">
                                          <p:stCondLst>
                                            <p:cond delay="0"/>
                                          </p:stCondLst>
                                        </p:cTn>
                                        <p:tgtEl>
                                          <p:spTgt spid="13"/>
                                        </p:tgtEl>
                                        <p:attrNameLst>
                                          <p:attrName>style.visibility</p:attrName>
                                        </p:attrNameLst>
                                      </p:cBhvr>
                                      <p:to>
                                        <p:strVal val="visible"/>
                                      </p:to>
                                    </p:set>
                                    <p:animEffect transition="in" filter="wipe(left)">
                                      <p:cBhvr>
                                        <p:cTn id="83" dur="500"/>
                                        <p:tgtEl>
                                          <p:spTgt spid="13"/>
                                        </p:tgtEl>
                                      </p:cBhvr>
                                    </p:animEffect>
                                  </p:childTnLst>
                                </p:cTn>
                              </p:par>
                              <p:par>
                                <p:cTn id="84" presetID="10" presetClass="entr" presetSubtype="0" fill="hold" nodeType="withEffect">
                                  <p:stCondLst>
                                    <p:cond delay="59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450"/>
                                        <p:tgtEl>
                                          <p:spTgt spid="14"/>
                                        </p:tgtEl>
                                      </p:cBhvr>
                                    </p:animEffect>
                                  </p:childTnLst>
                                </p:cTn>
                              </p:par>
                              <p:par>
                                <p:cTn id="87" presetID="22" presetClass="entr" presetSubtype="8" fill="hold" nodeType="withEffect">
                                  <p:stCondLst>
                                    <p:cond delay="590"/>
                                  </p:stCondLst>
                                  <p:childTnLst>
                                    <p:set>
                                      <p:cBhvr>
                                        <p:cTn id="88" dur="1" fill="hold">
                                          <p:stCondLst>
                                            <p:cond delay="0"/>
                                          </p:stCondLst>
                                        </p:cTn>
                                        <p:tgtEl>
                                          <p:spTgt spid="15"/>
                                        </p:tgtEl>
                                        <p:attrNameLst>
                                          <p:attrName>style.visibility</p:attrName>
                                        </p:attrNameLst>
                                      </p:cBhvr>
                                      <p:to>
                                        <p:strVal val="visible"/>
                                      </p:to>
                                    </p:set>
                                    <p:animEffect transition="in" filter="wipe(left)">
                                      <p:cBhvr>
                                        <p:cTn id="89" dur="500"/>
                                        <p:tgtEl>
                                          <p:spTgt spid="15"/>
                                        </p:tgtEl>
                                      </p:cBhvr>
                                    </p:animEffect>
                                  </p:childTnLst>
                                </p:cTn>
                              </p:par>
                              <p:par>
                                <p:cTn id="90" presetID="10" presetClass="entr" presetSubtype="0" grpId="0" fill="hold" nodeType="withEffect">
                                  <p:stCondLst>
                                    <p:cond delay="660"/>
                                  </p:stCondLst>
                                  <p:childTnLst>
                                    <p:set>
                                      <p:cBhvr>
                                        <p:cTn id="91" dur="1" fill="hold">
                                          <p:stCondLst>
                                            <p:cond delay="0"/>
                                          </p:stCondLst>
                                        </p:cTn>
                                        <p:tgtEl>
                                          <p:spTgt spid="16">
                                            <p:txEl>
                                              <p:pRg st="0" end="0"/>
                                            </p:txEl>
                                          </p:spTgt>
                                        </p:tgtEl>
                                        <p:attrNameLst>
                                          <p:attrName>style.visibility</p:attrName>
                                        </p:attrNameLst>
                                      </p:cBhvr>
                                      <p:to>
                                        <p:strVal val="visible"/>
                                      </p:to>
                                    </p:set>
                                    <p:animEffect transition="in" filter="fade">
                                      <p:cBhvr>
                                        <p:cTn id="92" dur="450"/>
                                        <p:tgtEl>
                                          <p:spTgt spid="16">
                                            <p:txEl>
                                              <p:pRg st="0" end="0"/>
                                            </p:txEl>
                                          </p:spTgt>
                                        </p:tgtEl>
                                      </p:cBhvr>
                                    </p:animEffect>
                                  </p:childTnLst>
                                </p:cTn>
                              </p:par>
                              <p:par>
                                <p:cTn id="93" presetID="10" presetClass="entr" presetSubtype="0" grpId="0" fill="hold" nodeType="withEffect">
                                  <p:stCondLst>
                                    <p:cond delay="985"/>
                                  </p:stCondLst>
                                  <p:childTnLst>
                                    <p:set>
                                      <p:cBhvr>
                                        <p:cTn id="94" dur="1" fill="hold">
                                          <p:stCondLst>
                                            <p:cond delay="0"/>
                                          </p:stCondLst>
                                        </p:cTn>
                                        <p:tgtEl>
                                          <p:spTgt spid="16">
                                            <p:txEl>
                                              <p:pRg st="1" end="1"/>
                                            </p:txEl>
                                          </p:spTgt>
                                        </p:tgtEl>
                                        <p:attrNameLst>
                                          <p:attrName>style.visibility</p:attrName>
                                        </p:attrNameLst>
                                      </p:cBhvr>
                                      <p:to>
                                        <p:strVal val="visible"/>
                                      </p:to>
                                    </p:set>
                                    <p:animEffect transition="in" filter="fade">
                                      <p:cBhvr>
                                        <p:cTn id="95" dur="450"/>
                                        <p:tgtEl>
                                          <p:spTgt spid="16">
                                            <p:txEl>
                                              <p:pRg st="1" end="1"/>
                                            </p:txEl>
                                          </p:spTgt>
                                        </p:tgtEl>
                                      </p:cBhvr>
                                    </p:animEffect>
                                  </p:childTnLst>
                                </p:cTn>
                              </p:par>
                              <p:par>
                                <p:cTn id="96" presetID="10" presetClass="entr" presetSubtype="0" grpId="0" fill="hold" nodeType="withEffect">
                                  <p:stCondLst>
                                    <p:cond delay="1310"/>
                                  </p:stCondLst>
                                  <p:childTnLst>
                                    <p:set>
                                      <p:cBhvr>
                                        <p:cTn id="97" dur="1" fill="hold">
                                          <p:stCondLst>
                                            <p:cond delay="0"/>
                                          </p:stCondLst>
                                        </p:cTn>
                                        <p:tgtEl>
                                          <p:spTgt spid="16">
                                            <p:txEl>
                                              <p:pRg st="2" end="2"/>
                                            </p:txEl>
                                          </p:spTgt>
                                        </p:tgtEl>
                                        <p:attrNameLst>
                                          <p:attrName>style.visibility</p:attrName>
                                        </p:attrNameLst>
                                      </p:cBhvr>
                                      <p:to>
                                        <p:strVal val="visible"/>
                                      </p:to>
                                    </p:set>
                                    <p:animEffect transition="in" filter="fade">
                                      <p:cBhvr>
                                        <p:cTn id="98" dur="450"/>
                                        <p:tgtEl>
                                          <p:spTgt spid="16">
                                            <p:txEl>
                                              <p:pRg st="2" end="2"/>
                                            </p:txEl>
                                          </p:spTgt>
                                        </p:tgtEl>
                                      </p:cBhvr>
                                    </p:animEffect>
                                  </p:childTnLst>
                                </p:cTn>
                              </p:par>
                              <p:par>
                                <p:cTn id="99" presetID="10" presetClass="entr" presetSubtype="0" grpId="0" fill="hold" nodeType="withEffect">
                                  <p:stCondLst>
                                    <p:cond delay="1635"/>
                                  </p:stCondLst>
                                  <p:childTnLst>
                                    <p:set>
                                      <p:cBhvr>
                                        <p:cTn id="100" dur="1" fill="hold">
                                          <p:stCondLst>
                                            <p:cond delay="0"/>
                                          </p:stCondLst>
                                        </p:cTn>
                                        <p:tgtEl>
                                          <p:spTgt spid="16">
                                            <p:txEl>
                                              <p:pRg st="3" end="3"/>
                                            </p:txEl>
                                          </p:spTgt>
                                        </p:tgtEl>
                                        <p:attrNameLst>
                                          <p:attrName>style.visibility</p:attrName>
                                        </p:attrNameLst>
                                      </p:cBhvr>
                                      <p:to>
                                        <p:strVal val="visible"/>
                                      </p:to>
                                    </p:set>
                                    <p:animEffect transition="in" filter="fade">
                                      <p:cBhvr>
                                        <p:cTn id="101" dur="450"/>
                                        <p:tgtEl>
                                          <p:spTgt spid="16">
                                            <p:txEl>
                                              <p:pRg st="3" end="3"/>
                                            </p:txEl>
                                          </p:spTgt>
                                        </p:tgtEl>
                                      </p:cBhvr>
                                    </p:animEffect>
                                  </p:childTnLst>
                                </p:cTn>
                              </p:par>
                              <p:par>
                                <p:cTn id="102" presetID="22" presetClass="entr" presetSubtype="8" fill="hold" nodeType="withEffect">
                                  <p:stCondLst>
                                    <p:cond delay="730"/>
                                  </p:stCondLst>
                                  <p:childTnLst>
                                    <p:set>
                                      <p:cBhvr>
                                        <p:cTn id="103" dur="1" fill="hold">
                                          <p:stCondLst>
                                            <p:cond delay="0"/>
                                          </p:stCondLst>
                                        </p:cTn>
                                        <p:tgtEl>
                                          <p:spTgt spid="17"/>
                                        </p:tgtEl>
                                        <p:attrNameLst>
                                          <p:attrName>style.visibility</p:attrName>
                                        </p:attrNameLst>
                                      </p:cBhvr>
                                      <p:to>
                                        <p:strVal val="visible"/>
                                      </p:to>
                                    </p:set>
                                    <p:animEffect transition="in" filter="wipe(left)">
                                      <p:cBhvr>
                                        <p:cTn id="104" dur="500"/>
                                        <p:tgtEl>
                                          <p:spTgt spid="17"/>
                                        </p:tgtEl>
                                      </p:cBhvr>
                                    </p:animEffect>
                                  </p:childTnLst>
                                </p:cTn>
                              </p:par>
                              <p:par>
                                <p:cTn id="105" presetID="10" presetClass="entr" presetSubtype="0" fill="hold" nodeType="withEffect">
                                  <p:stCondLst>
                                    <p:cond delay="580"/>
                                  </p:stCondLst>
                                  <p:childTnLst>
                                    <p:set>
                                      <p:cBhvr>
                                        <p:cTn id="106" dur="1" fill="hold">
                                          <p:stCondLst>
                                            <p:cond delay="0"/>
                                          </p:stCondLst>
                                        </p:cTn>
                                        <p:tgtEl>
                                          <p:spTgt spid="18"/>
                                        </p:tgtEl>
                                        <p:attrNameLst>
                                          <p:attrName>style.visibility</p:attrName>
                                        </p:attrNameLst>
                                      </p:cBhvr>
                                      <p:to>
                                        <p:strVal val="visible"/>
                                      </p:to>
                                    </p:set>
                                    <p:animEffect transition="in" filter="fade">
                                      <p:cBhvr>
                                        <p:cTn id="107" dur="450"/>
                                        <p:tgtEl>
                                          <p:spTgt spid="18"/>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nodeType="clickEffect">
                                  <p:stCondLst>
                                    <p:cond delay="0"/>
                                  </p:stCondLst>
                                  <p:childTnLst>
                                    <p:animEffect transition="out" filter="fade">
                                      <p:cBhvr>
                                        <p:cTn id="111" dur="350"/>
                                        <p:tgtEl>
                                          <p:spTgt spid="11"/>
                                        </p:tgtEl>
                                      </p:cBhvr>
                                    </p:animEffect>
                                    <p:set>
                                      <p:cBhvr>
                                        <p:cTn id="112" dur="1" fill="hold">
                                          <p:stCondLst>
                                            <p:cond delay="349"/>
                                          </p:stCondLst>
                                        </p:cTn>
                                        <p:tgtEl>
                                          <p:spTgt spid="11"/>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2"/>
                                        </p:tgtEl>
                                      </p:cBhvr>
                                    </p:animEffect>
                                    <p:set>
                                      <p:cBhvr>
                                        <p:cTn id="115" dur="1" fill="hold">
                                          <p:stCondLst>
                                            <p:cond delay="349"/>
                                          </p:stCondLst>
                                        </p:cTn>
                                        <p:tgtEl>
                                          <p:spTgt spid="12"/>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3"/>
                                        </p:tgtEl>
                                      </p:cBhvr>
                                    </p:animEffect>
                                    <p:set>
                                      <p:cBhvr>
                                        <p:cTn id="118" dur="1" fill="hold">
                                          <p:stCondLst>
                                            <p:cond delay="349"/>
                                          </p:stCondLst>
                                        </p:cTn>
                                        <p:tgtEl>
                                          <p:spTgt spid="13"/>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350"/>
                                        <p:tgtEl>
                                          <p:spTgt spid="14"/>
                                        </p:tgtEl>
                                      </p:cBhvr>
                                    </p:animEffect>
                                    <p:set>
                                      <p:cBhvr>
                                        <p:cTn id="121" dur="1" fill="hold">
                                          <p:stCondLst>
                                            <p:cond delay="349"/>
                                          </p:stCondLst>
                                        </p:cTn>
                                        <p:tgtEl>
                                          <p:spTgt spid="14"/>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350"/>
                                        <p:tgtEl>
                                          <p:spTgt spid="15"/>
                                        </p:tgtEl>
                                      </p:cBhvr>
                                    </p:animEffect>
                                    <p:set>
                                      <p:cBhvr>
                                        <p:cTn id="124" dur="1" fill="hold">
                                          <p:stCondLst>
                                            <p:cond delay="349"/>
                                          </p:stCondLst>
                                        </p:cTn>
                                        <p:tgtEl>
                                          <p:spTgt spid="15"/>
                                        </p:tgtEl>
                                        <p:attrNameLst>
                                          <p:attrName>style.visibility</p:attrName>
                                        </p:attrNameLst>
                                      </p:cBhvr>
                                      <p:to>
                                        <p:strVal val="hidden"/>
                                      </p:to>
                                    </p:set>
                                  </p:childTnLst>
                                </p:cTn>
                              </p:par>
                              <p:par>
                                <p:cTn id="125" presetID="10" presetClass="exit" presetSubtype="0" grpId="0" fill="hold" nodeType="withEffect">
                                  <p:stCondLst>
                                    <p:cond delay="0"/>
                                  </p:stCondLst>
                                  <p:childTnLst>
                                    <p:animEffect transition="out" filter="fade">
                                      <p:cBhvr>
                                        <p:cTn id="126" dur="350"/>
                                        <p:tgtEl>
                                          <p:spTgt spid="16">
                                            <p:txEl>
                                              <p:pRg st="0" end="0"/>
                                            </p:txEl>
                                          </p:spTgt>
                                        </p:tgtEl>
                                      </p:cBhvr>
                                    </p:animEffect>
                                    <p:set>
                                      <p:cBhvr>
                                        <p:cTn id="127" dur="1" fill="hold">
                                          <p:stCondLst>
                                            <p:cond delay="349"/>
                                          </p:stCondLst>
                                        </p:cTn>
                                        <p:tgtEl>
                                          <p:spTgt spid="16">
                                            <p:txEl>
                                              <p:pRg st="0" end="0"/>
                                            </p:txEl>
                                          </p:spTgt>
                                        </p:tgtEl>
                                        <p:attrNameLst>
                                          <p:attrName>style.visibility</p:attrName>
                                        </p:attrNameLst>
                                      </p:cBhvr>
                                      <p:to>
                                        <p:strVal val="hidden"/>
                                      </p:to>
                                    </p:set>
                                  </p:childTnLst>
                                </p:cTn>
                              </p:par>
                              <p:par>
                                <p:cTn id="128" presetID="10" presetClass="exit" presetSubtype="0" grpId="0" fill="hold" nodeType="withEffect">
                                  <p:stCondLst>
                                    <p:cond delay="0"/>
                                  </p:stCondLst>
                                  <p:childTnLst>
                                    <p:animEffect transition="out" filter="fade">
                                      <p:cBhvr>
                                        <p:cTn id="129" dur="350"/>
                                        <p:tgtEl>
                                          <p:spTgt spid="16">
                                            <p:txEl>
                                              <p:pRg st="1" end="1"/>
                                            </p:txEl>
                                          </p:spTgt>
                                        </p:tgtEl>
                                      </p:cBhvr>
                                    </p:animEffect>
                                    <p:set>
                                      <p:cBhvr>
                                        <p:cTn id="130" dur="1" fill="hold">
                                          <p:stCondLst>
                                            <p:cond delay="349"/>
                                          </p:stCondLst>
                                        </p:cTn>
                                        <p:tgtEl>
                                          <p:spTgt spid="16">
                                            <p:txEl>
                                              <p:pRg st="1" end="1"/>
                                            </p:txEl>
                                          </p:spTgt>
                                        </p:tgtEl>
                                        <p:attrNameLst>
                                          <p:attrName>style.visibility</p:attrName>
                                        </p:attrNameLst>
                                      </p:cBhvr>
                                      <p:to>
                                        <p:strVal val="hidden"/>
                                      </p:to>
                                    </p:set>
                                  </p:childTnLst>
                                </p:cTn>
                              </p:par>
                              <p:par>
                                <p:cTn id="131" presetID="10" presetClass="exit" presetSubtype="0" grpId="0" fill="hold" nodeType="withEffect">
                                  <p:stCondLst>
                                    <p:cond delay="0"/>
                                  </p:stCondLst>
                                  <p:childTnLst>
                                    <p:animEffect transition="out" filter="fade">
                                      <p:cBhvr>
                                        <p:cTn id="132" dur="350"/>
                                        <p:tgtEl>
                                          <p:spTgt spid="16">
                                            <p:txEl>
                                              <p:pRg st="2" end="2"/>
                                            </p:txEl>
                                          </p:spTgt>
                                        </p:tgtEl>
                                      </p:cBhvr>
                                    </p:animEffect>
                                    <p:set>
                                      <p:cBhvr>
                                        <p:cTn id="133" dur="1" fill="hold">
                                          <p:stCondLst>
                                            <p:cond delay="349"/>
                                          </p:stCondLst>
                                        </p:cTn>
                                        <p:tgtEl>
                                          <p:spTgt spid="16">
                                            <p:txEl>
                                              <p:pRg st="2" end="2"/>
                                            </p:txEl>
                                          </p:spTgt>
                                        </p:tgtEl>
                                        <p:attrNameLst>
                                          <p:attrName>style.visibility</p:attrName>
                                        </p:attrNameLst>
                                      </p:cBhvr>
                                      <p:to>
                                        <p:strVal val="hidden"/>
                                      </p:to>
                                    </p:set>
                                  </p:childTnLst>
                                </p:cTn>
                              </p:par>
                              <p:par>
                                <p:cTn id="134" presetID="10" presetClass="exit" presetSubtype="0" grpId="0" fill="hold" nodeType="withEffect">
                                  <p:stCondLst>
                                    <p:cond delay="0"/>
                                  </p:stCondLst>
                                  <p:childTnLst>
                                    <p:animEffect transition="out" filter="fade">
                                      <p:cBhvr>
                                        <p:cTn id="135" dur="350"/>
                                        <p:tgtEl>
                                          <p:spTgt spid="16">
                                            <p:txEl>
                                              <p:pRg st="3" end="3"/>
                                            </p:txEl>
                                          </p:spTgt>
                                        </p:tgtEl>
                                      </p:cBhvr>
                                    </p:animEffect>
                                    <p:set>
                                      <p:cBhvr>
                                        <p:cTn id="136" dur="1" fill="hold">
                                          <p:stCondLst>
                                            <p:cond delay="349"/>
                                          </p:stCondLst>
                                        </p:cTn>
                                        <p:tgtEl>
                                          <p:spTgt spid="16">
                                            <p:txEl>
                                              <p:pRg st="3" end="3"/>
                                            </p:txEl>
                                          </p:spTgt>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350"/>
                                        <p:tgtEl>
                                          <p:spTgt spid="17"/>
                                        </p:tgtEl>
                                      </p:cBhvr>
                                    </p:animEffect>
                                    <p:set>
                                      <p:cBhvr>
                                        <p:cTn id="139" dur="1" fill="hold">
                                          <p:stCondLst>
                                            <p:cond delay="349"/>
                                          </p:stCondLst>
                                        </p:cTn>
                                        <p:tgtEl>
                                          <p:spTgt spid="17"/>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350"/>
                                        <p:tgtEl>
                                          <p:spTgt spid="18"/>
                                        </p:tgtEl>
                                      </p:cBhvr>
                                    </p:animEffect>
                                    <p:set>
                                      <p:cBhvr>
                                        <p:cTn id="142" dur="1" fill="hold">
                                          <p:stCondLst>
                                            <p:cond delay="349"/>
                                          </p:stCondLst>
                                        </p:cTn>
                                        <p:tgtEl>
                                          <p:spTgt spid="18"/>
                                        </p:tgtEl>
                                        <p:attrNameLst>
                                          <p:attrName>style.visibility</p:attrName>
                                        </p:attrNameLst>
                                      </p:cBhvr>
                                      <p:to>
                                        <p:strVal val="hidden"/>
                                      </p:to>
                                    </p:set>
                                  </p:childTnLst>
                                </p:cTn>
                              </p:par>
                              <p:par>
                                <p:cTn id="143" presetID="10" presetClass="entr" presetSubtype="0" fill="hold" nodeType="withEffect">
                                  <p:stCondLst>
                                    <p:cond delay="450"/>
                                  </p:stCondLst>
                                  <p:childTnLst>
                                    <p:set>
                                      <p:cBhvr>
                                        <p:cTn id="144" dur="1" fill="hold">
                                          <p:stCondLst>
                                            <p:cond delay="0"/>
                                          </p:stCondLst>
                                        </p:cTn>
                                        <p:tgtEl>
                                          <p:spTgt spid="19"/>
                                        </p:tgtEl>
                                        <p:attrNameLst>
                                          <p:attrName>style.visibility</p:attrName>
                                        </p:attrNameLst>
                                      </p:cBhvr>
                                      <p:to>
                                        <p:strVal val="visible"/>
                                      </p:to>
                                    </p:set>
                                    <p:animEffect transition="in" filter="fade">
                                      <p:cBhvr>
                                        <p:cTn id="145" dur="450"/>
                                        <p:tgtEl>
                                          <p:spTgt spid="19"/>
                                        </p:tgtEl>
                                      </p:cBhvr>
                                    </p:animEffect>
                                  </p:childTnLst>
                                </p:cTn>
                              </p:par>
                              <p:par>
                                <p:cTn id="146" presetID="53" presetClass="entr" presetSubtype="16" fill="hold" nodeType="withEffect">
                                  <p:stCondLst>
                                    <p:cond delay="520"/>
                                  </p:stCondLst>
                                  <p:childTnLst>
                                    <p:set>
                                      <p:cBhvr>
                                        <p:cTn id="147" dur="1" fill="hold">
                                          <p:stCondLst>
                                            <p:cond delay="0"/>
                                          </p:stCondLst>
                                        </p:cTn>
                                        <p:tgtEl>
                                          <p:spTgt spid="20"/>
                                        </p:tgtEl>
                                        <p:attrNameLst>
                                          <p:attrName>style.visibility</p:attrName>
                                        </p:attrNameLst>
                                      </p:cBhvr>
                                      <p:to>
                                        <p:strVal val="visible"/>
                                      </p:to>
                                    </p:set>
                                    <p:anim calcmode="lin" valueType="num">
                                      <p:cBhvr>
                                        <p:cTn id="148" dur="600" fill="hold"/>
                                        <p:tgtEl>
                                          <p:spTgt spid="20"/>
                                        </p:tgtEl>
                                        <p:attrNameLst>
                                          <p:attrName>ppt_w</p:attrName>
                                        </p:attrNameLst>
                                      </p:cBhvr>
                                      <p:tavLst>
                                        <p:tav tm="0">
                                          <p:val>
                                            <p:fltVal val="0"/>
                                          </p:val>
                                        </p:tav>
                                        <p:tav tm="100000">
                                          <p:val>
                                            <p:strVal val="#ppt_w"/>
                                          </p:val>
                                        </p:tav>
                                      </p:tavLst>
                                    </p:anim>
                                    <p:anim calcmode="lin" valueType="num">
                                      <p:cBhvr>
                                        <p:cTn id="149" dur="600" fill="hold"/>
                                        <p:tgtEl>
                                          <p:spTgt spid="20"/>
                                        </p:tgtEl>
                                        <p:attrNameLst>
                                          <p:attrName>ppt_h</p:attrName>
                                        </p:attrNameLst>
                                      </p:cBhvr>
                                      <p:tavLst>
                                        <p:tav tm="0">
                                          <p:val>
                                            <p:fltVal val="0"/>
                                          </p:val>
                                        </p:tav>
                                        <p:tav tm="100000">
                                          <p:val>
                                            <p:strVal val="#ppt_h"/>
                                          </p:val>
                                        </p:tav>
                                      </p:tavLst>
                                    </p:anim>
                                    <p:animEffect transition="in" filter="fade">
                                      <p:cBhvr>
                                        <p:cTn id="150" dur="600"/>
                                        <p:tgtEl>
                                          <p:spTgt spid="20"/>
                                        </p:tgtEl>
                                      </p:cBhvr>
                                    </p:animEffect>
                                  </p:childTnLst>
                                </p:cTn>
                              </p:par>
                              <p:par>
                                <p:cTn id="151" presetID="10" presetClass="entr" presetSubtype="0" fill="hold" nodeType="withEffect">
                                  <p:stCondLst>
                                    <p:cond delay="590"/>
                                  </p:stCondLst>
                                  <p:childTnLst>
                                    <p:set>
                                      <p:cBhvr>
                                        <p:cTn id="152" dur="1" fill="hold">
                                          <p:stCondLst>
                                            <p:cond delay="0"/>
                                          </p:stCondLst>
                                        </p:cTn>
                                        <p:tgtEl>
                                          <p:spTgt spid="21"/>
                                        </p:tgtEl>
                                        <p:attrNameLst>
                                          <p:attrName>style.visibility</p:attrName>
                                        </p:attrNameLst>
                                      </p:cBhvr>
                                      <p:to>
                                        <p:strVal val="visible"/>
                                      </p:to>
                                    </p:set>
                                    <p:animEffect transition="in" filter="fade">
                                      <p:cBhvr>
                                        <p:cTn id="153" dur="450"/>
                                        <p:tgtEl>
                                          <p:spTgt spid="21"/>
                                        </p:tgtEl>
                                      </p:cBhvr>
                                    </p:animEffect>
                                  </p:childTnLst>
                                </p:cTn>
                              </p:par>
                              <p:par>
                                <p:cTn id="154" presetID="22" presetClass="entr" presetSubtype="4" fill="hold" nodeType="withEffect">
                                  <p:stCondLst>
                                    <p:cond delay="590"/>
                                  </p:stCondLst>
                                  <p:childTnLst>
                                    <p:set>
                                      <p:cBhvr>
                                        <p:cTn id="155" dur="1" fill="hold">
                                          <p:stCondLst>
                                            <p:cond delay="0"/>
                                          </p:stCondLst>
                                        </p:cTn>
                                        <p:tgtEl>
                                          <p:spTgt spid="22"/>
                                        </p:tgtEl>
                                        <p:attrNameLst>
                                          <p:attrName>style.visibility</p:attrName>
                                        </p:attrNameLst>
                                      </p:cBhvr>
                                      <p:to>
                                        <p:strVal val="visible"/>
                                      </p:to>
                                    </p:set>
                                    <p:animEffect transition="in" filter="wipe(down)">
                                      <p:cBhvr>
                                        <p:cTn id="156" dur="500"/>
                                        <p:tgtEl>
                                          <p:spTgt spid="22"/>
                                        </p:tgtEl>
                                      </p:cBhvr>
                                    </p:animEffect>
                                  </p:childTnLst>
                                </p:cTn>
                              </p:par>
                              <p:par>
                                <p:cTn id="157" presetID="10" presetClass="entr" presetSubtype="0" grpId="0" fill="hold" nodeType="withEffect">
                                  <p:stCondLst>
                                    <p:cond delay="660"/>
                                  </p:stCondLst>
                                  <p:childTnLst>
                                    <p:set>
                                      <p:cBhvr>
                                        <p:cTn id="158" dur="1" fill="hold">
                                          <p:stCondLst>
                                            <p:cond delay="0"/>
                                          </p:stCondLst>
                                        </p:cTn>
                                        <p:tgtEl>
                                          <p:spTgt spid="23">
                                            <p:txEl>
                                              <p:pRg st="0" end="0"/>
                                            </p:txEl>
                                          </p:spTgt>
                                        </p:tgtEl>
                                        <p:attrNameLst>
                                          <p:attrName>style.visibility</p:attrName>
                                        </p:attrNameLst>
                                      </p:cBhvr>
                                      <p:to>
                                        <p:strVal val="visible"/>
                                      </p:to>
                                    </p:set>
                                    <p:animEffect transition="in" filter="fade">
                                      <p:cBhvr>
                                        <p:cTn id="159" dur="450"/>
                                        <p:tgtEl>
                                          <p:spTgt spid="23">
                                            <p:txEl>
                                              <p:pRg st="0" end="0"/>
                                            </p:txEl>
                                          </p:spTgt>
                                        </p:tgtEl>
                                      </p:cBhvr>
                                    </p:animEffect>
                                  </p:childTnLst>
                                </p:cTn>
                              </p:par>
                              <p:par>
                                <p:cTn id="160" presetID="10" presetClass="entr" presetSubtype="0" grpId="0" fill="hold" nodeType="withEffect">
                                  <p:stCondLst>
                                    <p:cond delay="1040"/>
                                  </p:stCondLst>
                                  <p:childTnLst>
                                    <p:set>
                                      <p:cBhvr>
                                        <p:cTn id="161" dur="1" fill="hold">
                                          <p:stCondLst>
                                            <p:cond delay="0"/>
                                          </p:stCondLst>
                                        </p:cTn>
                                        <p:tgtEl>
                                          <p:spTgt spid="23">
                                            <p:txEl>
                                              <p:pRg st="1" end="1"/>
                                            </p:txEl>
                                          </p:spTgt>
                                        </p:tgtEl>
                                        <p:attrNameLst>
                                          <p:attrName>style.visibility</p:attrName>
                                        </p:attrNameLst>
                                      </p:cBhvr>
                                      <p:to>
                                        <p:strVal val="visible"/>
                                      </p:to>
                                    </p:set>
                                    <p:animEffect transition="in" filter="fade">
                                      <p:cBhvr>
                                        <p:cTn id="162" dur="450"/>
                                        <p:tgtEl>
                                          <p:spTgt spid="23">
                                            <p:txEl>
                                              <p:pRg st="1" end="1"/>
                                            </p:txEl>
                                          </p:spTgt>
                                        </p:tgtEl>
                                      </p:cBhvr>
                                    </p:animEffect>
                                  </p:childTnLst>
                                </p:cTn>
                              </p:par>
                              <p:par>
                                <p:cTn id="163" presetID="10" presetClass="entr" presetSubtype="0" grpId="0" fill="hold" nodeType="withEffect">
                                  <p:stCondLst>
                                    <p:cond delay="1420"/>
                                  </p:stCondLst>
                                  <p:childTnLst>
                                    <p:set>
                                      <p:cBhvr>
                                        <p:cTn id="164" dur="1" fill="hold">
                                          <p:stCondLst>
                                            <p:cond delay="0"/>
                                          </p:stCondLst>
                                        </p:cTn>
                                        <p:tgtEl>
                                          <p:spTgt spid="23">
                                            <p:txEl>
                                              <p:pRg st="2" end="2"/>
                                            </p:txEl>
                                          </p:spTgt>
                                        </p:tgtEl>
                                        <p:attrNameLst>
                                          <p:attrName>style.visibility</p:attrName>
                                        </p:attrNameLst>
                                      </p:cBhvr>
                                      <p:to>
                                        <p:strVal val="visible"/>
                                      </p:to>
                                    </p:set>
                                    <p:animEffect transition="in" filter="fade">
                                      <p:cBhvr>
                                        <p:cTn id="165" dur="450"/>
                                        <p:tgtEl>
                                          <p:spTgt spid="23">
                                            <p:txEl>
                                              <p:pRg st="2" end="2"/>
                                            </p:txEl>
                                          </p:spTgt>
                                        </p:tgtEl>
                                      </p:cBhvr>
                                    </p:animEffect>
                                  </p:childTnLst>
                                </p:cTn>
                              </p:par>
                              <p:par>
                                <p:cTn id="166" presetID="10" presetClass="entr" presetSubtype="0" fill="hold" nodeType="withEffect">
                                  <p:stCondLst>
                                    <p:cond delay="58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xit" presetSubtype="0" fill="hold" nodeType="clickEffect">
                                  <p:stCondLst>
                                    <p:cond delay="0"/>
                                  </p:stCondLst>
                                  <p:childTnLst>
                                    <p:animEffect transition="out" filter="fade">
                                      <p:cBhvr>
                                        <p:cTn id="172" dur="350"/>
                                        <p:tgtEl>
                                          <p:spTgt spid="19"/>
                                        </p:tgtEl>
                                      </p:cBhvr>
                                    </p:animEffect>
                                    <p:set>
                                      <p:cBhvr>
                                        <p:cTn id="173" dur="1" fill="hold">
                                          <p:stCondLst>
                                            <p:cond delay="349"/>
                                          </p:stCondLst>
                                        </p:cTn>
                                        <p:tgtEl>
                                          <p:spTgt spid="19"/>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21"/>
                                        </p:tgtEl>
                                      </p:cBhvr>
                                    </p:animEffect>
                                    <p:set>
                                      <p:cBhvr>
                                        <p:cTn id="176" dur="1" fill="hold">
                                          <p:stCondLst>
                                            <p:cond delay="349"/>
                                          </p:stCondLst>
                                        </p:cTn>
                                        <p:tgtEl>
                                          <p:spTgt spid="21"/>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350"/>
                                        <p:tgtEl>
                                          <p:spTgt spid="22"/>
                                        </p:tgtEl>
                                      </p:cBhvr>
                                    </p:animEffect>
                                    <p:set>
                                      <p:cBhvr>
                                        <p:cTn id="179" dur="1" fill="hold">
                                          <p:stCondLst>
                                            <p:cond delay="349"/>
                                          </p:stCondLst>
                                        </p:cTn>
                                        <p:tgtEl>
                                          <p:spTgt spid="22"/>
                                        </p:tgtEl>
                                        <p:attrNameLst>
                                          <p:attrName>style.visibility</p:attrName>
                                        </p:attrNameLst>
                                      </p:cBhvr>
                                      <p:to>
                                        <p:strVal val="hidden"/>
                                      </p:to>
                                    </p:set>
                                  </p:childTnLst>
                                </p:cTn>
                              </p:par>
                              <p:par>
                                <p:cTn id="180" presetID="10" presetClass="exit" presetSubtype="0" grpId="0" fill="hold" nodeType="withEffect">
                                  <p:stCondLst>
                                    <p:cond delay="0"/>
                                  </p:stCondLst>
                                  <p:childTnLst>
                                    <p:animEffect transition="out" filter="fade">
                                      <p:cBhvr>
                                        <p:cTn id="181" dur="350"/>
                                        <p:tgtEl>
                                          <p:spTgt spid="23">
                                            <p:txEl>
                                              <p:pRg st="0" end="0"/>
                                            </p:txEl>
                                          </p:spTgt>
                                        </p:tgtEl>
                                      </p:cBhvr>
                                    </p:animEffect>
                                    <p:set>
                                      <p:cBhvr>
                                        <p:cTn id="182" dur="1" fill="hold">
                                          <p:stCondLst>
                                            <p:cond delay="349"/>
                                          </p:stCondLst>
                                        </p:cTn>
                                        <p:tgtEl>
                                          <p:spTgt spid="23">
                                            <p:txEl>
                                              <p:pRg st="0" end="0"/>
                                            </p:txEl>
                                          </p:spTgt>
                                        </p:tgtEl>
                                        <p:attrNameLst>
                                          <p:attrName>style.visibility</p:attrName>
                                        </p:attrNameLst>
                                      </p:cBhvr>
                                      <p:to>
                                        <p:strVal val="hidden"/>
                                      </p:to>
                                    </p:set>
                                  </p:childTnLst>
                                </p:cTn>
                              </p:par>
                              <p:par>
                                <p:cTn id="183" presetID="10" presetClass="exit" presetSubtype="0" grpId="0" fill="hold" nodeType="withEffect">
                                  <p:stCondLst>
                                    <p:cond delay="0"/>
                                  </p:stCondLst>
                                  <p:childTnLst>
                                    <p:animEffect transition="out" filter="fade">
                                      <p:cBhvr>
                                        <p:cTn id="184" dur="350"/>
                                        <p:tgtEl>
                                          <p:spTgt spid="23">
                                            <p:txEl>
                                              <p:pRg st="1" end="1"/>
                                            </p:txEl>
                                          </p:spTgt>
                                        </p:tgtEl>
                                      </p:cBhvr>
                                    </p:animEffect>
                                    <p:set>
                                      <p:cBhvr>
                                        <p:cTn id="185" dur="1" fill="hold">
                                          <p:stCondLst>
                                            <p:cond delay="349"/>
                                          </p:stCondLst>
                                        </p:cTn>
                                        <p:tgtEl>
                                          <p:spTgt spid="23">
                                            <p:txEl>
                                              <p:pRg st="1" end="1"/>
                                            </p:txEl>
                                          </p:spTgt>
                                        </p:tgtEl>
                                        <p:attrNameLst>
                                          <p:attrName>style.visibility</p:attrName>
                                        </p:attrNameLst>
                                      </p:cBhvr>
                                      <p:to>
                                        <p:strVal val="hidden"/>
                                      </p:to>
                                    </p:set>
                                  </p:childTnLst>
                                </p:cTn>
                              </p:par>
                              <p:par>
                                <p:cTn id="186" presetID="10" presetClass="exit" presetSubtype="0" grpId="0" fill="hold" nodeType="withEffect">
                                  <p:stCondLst>
                                    <p:cond delay="0"/>
                                  </p:stCondLst>
                                  <p:childTnLst>
                                    <p:animEffect transition="out" filter="fade">
                                      <p:cBhvr>
                                        <p:cTn id="187" dur="350"/>
                                        <p:tgtEl>
                                          <p:spTgt spid="23">
                                            <p:txEl>
                                              <p:pRg st="2" end="2"/>
                                            </p:txEl>
                                          </p:spTgt>
                                        </p:tgtEl>
                                      </p:cBhvr>
                                    </p:animEffect>
                                    <p:set>
                                      <p:cBhvr>
                                        <p:cTn id="188" dur="1" fill="hold">
                                          <p:stCondLst>
                                            <p:cond delay="349"/>
                                          </p:stCondLst>
                                        </p:cTn>
                                        <p:tgtEl>
                                          <p:spTgt spid="23">
                                            <p:txEl>
                                              <p:pRg st="2" end="2"/>
                                            </p:txEl>
                                          </p:spTgt>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350"/>
                                        <p:tgtEl>
                                          <p:spTgt spid="24"/>
                                        </p:tgtEl>
                                      </p:cBhvr>
                                    </p:animEffect>
                                    <p:set>
                                      <p:cBhvr>
                                        <p:cTn id="191" dur="1" fill="hold">
                                          <p:stCondLst>
                                            <p:cond delay="349"/>
                                          </p:stCondLst>
                                        </p:cTn>
                                        <p:tgtEl>
                                          <p:spTgt spid="24"/>
                                        </p:tgtEl>
                                        <p:attrNameLst>
                                          <p:attrName>style.visibility</p:attrName>
                                        </p:attrNameLst>
                                      </p:cBhvr>
                                      <p:to>
                                        <p:strVal val="hidden"/>
                                      </p:to>
                                    </p:set>
                                  </p:childTnLst>
                                </p:cTn>
                              </p:par>
                              <p:par>
                                <p:cTn id="192" presetID="0" presetClass="path" presetSubtype="0" accel="50000" decel="50000" fill="hold" nodeType="withEffect">
                                  <p:stCondLst>
                                    <p:cond delay="0"/>
                                  </p:stCondLst>
                                  <p:childTnLst>
                                    <p:animMotion origin="layout" path="M 0 0 L 0.66125 0.19763 E" pathEditMode="relative" rAng="0" ptsTypes="AA">
                                      <p:cBhvr>
                                        <p:cTn id="193" dur="750" fill="hold"/>
                                        <p:tgtEl>
                                          <p:spTgt spid="20"/>
                                        </p:tgtEl>
                                        <p:attrNameLst>
                                          <p:attrName>ppt_x</p:attrName>
                                          <p:attrName>ppt_y</p:attrName>
                                        </p:attrNameLst>
                                      </p:cBhvr>
                                      <p:rCtr x="33062" y="9881"/>
                                    </p:animMotion>
                                  </p:childTnLst>
                                </p:cTn>
                              </p:par>
                              <p:par>
                                <p:cTn id="194" presetID="6" presetClass="emph" presetSubtype="0" accel="50000" decel="50000" fill="hold" nodeType="withEffect">
                                  <p:stCondLst>
                                    <p:cond delay="0"/>
                                  </p:stCondLst>
                                  <p:childTnLst>
                                    <p:animScale>
                                      <p:cBhvr>
                                        <p:cTn id="195" dur="750" fill="hold"/>
                                        <p:tgtEl>
                                          <p:spTgt spid="20"/>
                                        </p:tgtEl>
                                      </p:cBhvr>
                                      <p:by x="32799" y="32799"/>
                                    </p:animScale>
                                  </p:childTnLst>
                                </p:cTn>
                              </p:par>
                              <p:par>
                                <p:cTn id="196" presetID="10" presetClass="entr" presetSubtype="0" fill="hold" nodeType="withEffect">
                                  <p:stCondLst>
                                    <p:cond delay="450"/>
                                  </p:stCondLst>
                                  <p:childTnLst>
                                    <p:set>
                                      <p:cBhvr>
                                        <p:cTn id="197" dur="1" fill="hold">
                                          <p:stCondLst>
                                            <p:cond delay="0"/>
                                          </p:stCondLst>
                                        </p:cTn>
                                        <p:tgtEl>
                                          <p:spTgt spid="25"/>
                                        </p:tgtEl>
                                        <p:attrNameLst>
                                          <p:attrName>style.visibility</p:attrName>
                                        </p:attrNameLst>
                                      </p:cBhvr>
                                      <p:to>
                                        <p:strVal val="visible"/>
                                      </p:to>
                                    </p:set>
                                    <p:animEffect transition="in" filter="fade">
                                      <p:cBhvr>
                                        <p:cTn id="198" dur="450"/>
                                        <p:tgtEl>
                                          <p:spTgt spid="25"/>
                                        </p:tgtEl>
                                      </p:cBhvr>
                                    </p:animEffect>
                                  </p:childTnLst>
                                </p:cTn>
                              </p:par>
                              <p:par>
                                <p:cTn id="199" presetID="10" presetClass="entr" presetSubtype="0" fill="hold" nodeType="withEffect">
                                  <p:stCondLst>
                                    <p:cond delay="520"/>
                                  </p:stCondLst>
                                  <p:childTnLst>
                                    <p:set>
                                      <p:cBhvr>
                                        <p:cTn id="200" dur="1" fill="hold">
                                          <p:stCondLst>
                                            <p:cond delay="0"/>
                                          </p:stCondLst>
                                        </p:cTn>
                                        <p:tgtEl>
                                          <p:spTgt spid="26"/>
                                        </p:tgtEl>
                                        <p:attrNameLst>
                                          <p:attrName>style.visibility</p:attrName>
                                        </p:attrNameLst>
                                      </p:cBhvr>
                                      <p:to>
                                        <p:strVal val="visible"/>
                                      </p:to>
                                    </p:set>
                                    <p:animEffect transition="in" filter="fade">
                                      <p:cBhvr>
                                        <p:cTn id="201" dur="450"/>
                                        <p:tgtEl>
                                          <p:spTgt spid="26"/>
                                        </p:tgtEl>
                                      </p:cBhvr>
                                    </p:animEffect>
                                  </p:childTnLst>
                                </p:cTn>
                              </p:par>
                              <p:par>
                                <p:cTn id="202" presetID="22" presetClass="entr" presetSubtype="8" fill="hold" nodeType="withEffect">
                                  <p:stCondLst>
                                    <p:cond delay="520"/>
                                  </p:stCondLst>
                                  <p:childTnLst>
                                    <p:set>
                                      <p:cBhvr>
                                        <p:cTn id="203" dur="1" fill="hold">
                                          <p:stCondLst>
                                            <p:cond delay="0"/>
                                          </p:stCondLst>
                                        </p:cTn>
                                        <p:tgtEl>
                                          <p:spTgt spid="27"/>
                                        </p:tgtEl>
                                        <p:attrNameLst>
                                          <p:attrName>style.visibility</p:attrName>
                                        </p:attrNameLst>
                                      </p:cBhvr>
                                      <p:to>
                                        <p:strVal val="visible"/>
                                      </p:to>
                                    </p:set>
                                    <p:animEffect transition="in" filter="wipe(left)">
                                      <p:cBhvr>
                                        <p:cTn id="204" dur="500"/>
                                        <p:tgtEl>
                                          <p:spTgt spid="27"/>
                                        </p:tgtEl>
                                      </p:cBhvr>
                                    </p:animEffect>
                                  </p:childTnLst>
                                </p:cTn>
                              </p:par>
                              <p:par>
                                <p:cTn id="205" presetID="22" presetClass="entr" presetSubtype="8" fill="hold" nodeType="withEffect">
                                  <p:stCondLst>
                                    <p:cond delay="590"/>
                                  </p:stCondLst>
                                  <p:childTnLst>
                                    <p:set>
                                      <p:cBhvr>
                                        <p:cTn id="206" dur="1" fill="hold">
                                          <p:stCondLst>
                                            <p:cond delay="0"/>
                                          </p:stCondLst>
                                        </p:cTn>
                                        <p:tgtEl>
                                          <p:spTgt spid="28"/>
                                        </p:tgtEl>
                                        <p:attrNameLst>
                                          <p:attrName>style.visibility</p:attrName>
                                        </p:attrNameLst>
                                      </p:cBhvr>
                                      <p:to>
                                        <p:strVal val="visible"/>
                                      </p:to>
                                    </p:set>
                                    <p:animEffect transition="in" filter="wipe(left)">
                                      <p:cBhvr>
                                        <p:cTn id="207" dur="500"/>
                                        <p:tgtEl>
                                          <p:spTgt spid="28"/>
                                        </p:tgtEl>
                                      </p:cBhvr>
                                    </p:animEffect>
                                  </p:childTnLst>
                                </p:cTn>
                              </p:par>
                              <p:par>
                                <p:cTn id="208" presetID="10" presetClass="entr" presetSubtype="0" fill="hold" nodeType="withEffect">
                                  <p:stCondLst>
                                    <p:cond delay="660"/>
                                  </p:stCondLst>
                                  <p:childTnLst>
                                    <p:set>
                                      <p:cBhvr>
                                        <p:cTn id="209" dur="1" fill="hold">
                                          <p:stCondLst>
                                            <p:cond delay="0"/>
                                          </p:stCondLst>
                                        </p:cTn>
                                        <p:tgtEl>
                                          <p:spTgt spid="29"/>
                                        </p:tgtEl>
                                        <p:attrNameLst>
                                          <p:attrName>style.visibility</p:attrName>
                                        </p:attrNameLst>
                                      </p:cBhvr>
                                      <p:to>
                                        <p:strVal val="visible"/>
                                      </p:to>
                                    </p:set>
                                    <p:animEffect transition="in" filter="fade">
                                      <p:cBhvr>
                                        <p:cTn id="210" dur="450"/>
                                        <p:tgtEl>
                                          <p:spTgt spid="29"/>
                                        </p:tgtEl>
                                      </p:cBhvr>
                                    </p:animEffect>
                                  </p:childTnLst>
                                </p:cTn>
                              </p:par>
                              <p:par>
                                <p:cTn id="211" presetID="10" presetClass="entr" presetSubtype="0" fill="hold" nodeType="withEffect">
                                  <p:stCondLst>
                                    <p:cond delay="730"/>
                                  </p:stCondLst>
                                  <p:childTnLst>
                                    <p:set>
                                      <p:cBhvr>
                                        <p:cTn id="212" dur="1" fill="hold">
                                          <p:stCondLst>
                                            <p:cond delay="0"/>
                                          </p:stCondLst>
                                        </p:cTn>
                                        <p:tgtEl>
                                          <p:spTgt spid="30"/>
                                        </p:tgtEl>
                                        <p:attrNameLst>
                                          <p:attrName>style.visibility</p:attrName>
                                        </p:attrNameLst>
                                      </p:cBhvr>
                                      <p:to>
                                        <p:strVal val="visible"/>
                                      </p:to>
                                    </p:set>
                                    <p:animEffect transition="in" filter="fade">
                                      <p:cBhvr>
                                        <p:cTn id="213" dur="450"/>
                                        <p:tgtEl>
                                          <p:spTgt spid="30"/>
                                        </p:tgtEl>
                                      </p:cBhvr>
                                    </p:animEffect>
                                  </p:childTnLst>
                                </p:cTn>
                              </p:par>
                              <p:par>
                                <p:cTn id="214" presetID="22" presetClass="entr" presetSubtype="8" fill="hold" nodeType="withEffect">
                                  <p:stCondLst>
                                    <p:cond delay="730"/>
                                  </p:stCondLst>
                                  <p:childTnLst>
                                    <p:set>
                                      <p:cBhvr>
                                        <p:cTn id="215" dur="1" fill="hold">
                                          <p:stCondLst>
                                            <p:cond delay="0"/>
                                          </p:stCondLst>
                                        </p:cTn>
                                        <p:tgtEl>
                                          <p:spTgt spid="31"/>
                                        </p:tgtEl>
                                        <p:attrNameLst>
                                          <p:attrName>style.visibility</p:attrName>
                                        </p:attrNameLst>
                                      </p:cBhvr>
                                      <p:to>
                                        <p:strVal val="visible"/>
                                      </p:to>
                                    </p:set>
                                    <p:animEffect transition="in" filter="wipe(left)">
                                      <p:cBhvr>
                                        <p:cTn id="216" dur="500"/>
                                        <p:tgtEl>
                                          <p:spTgt spid="31"/>
                                        </p:tgtEl>
                                      </p:cBhvr>
                                    </p:animEffect>
                                  </p:childTnLst>
                                </p:cTn>
                              </p:par>
                              <p:par>
                                <p:cTn id="217" presetID="22" presetClass="entr" presetSubtype="8" fill="hold" nodeType="withEffect">
                                  <p:stCondLst>
                                    <p:cond delay="800"/>
                                  </p:stCondLst>
                                  <p:childTnLst>
                                    <p:set>
                                      <p:cBhvr>
                                        <p:cTn id="218" dur="1" fill="hold">
                                          <p:stCondLst>
                                            <p:cond delay="0"/>
                                          </p:stCondLst>
                                        </p:cTn>
                                        <p:tgtEl>
                                          <p:spTgt spid="32"/>
                                        </p:tgtEl>
                                        <p:attrNameLst>
                                          <p:attrName>style.visibility</p:attrName>
                                        </p:attrNameLst>
                                      </p:cBhvr>
                                      <p:to>
                                        <p:strVal val="visible"/>
                                      </p:to>
                                    </p:set>
                                    <p:animEffect transition="in" filter="wipe(left)">
                                      <p:cBhvr>
                                        <p:cTn id="219" dur="500"/>
                                        <p:tgtEl>
                                          <p:spTgt spid="32"/>
                                        </p:tgtEl>
                                      </p:cBhvr>
                                    </p:animEffect>
                                  </p:childTnLst>
                                </p:cTn>
                              </p:par>
                              <p:par>
                                <p:cTn id="220" presetID="10" presetClass="entr" presetSubtype="0" fill="hold" nodeType="withEffect">
                                  <p:stCondLst>
                                    <p:cond delay="870"/>
                                  </p:stCondLst>
                                  <p:childTnLst>
                                    <p:set>
                                      <p:cBhvr>
                                        <p:cTn id="221" dur="1" fill="hold">
                                          <p:stCondLst>
                                            <p:cond delay="0"/>
                                          </p:stCondLst>
                                        </p:cTn>
                                        <p:tgtEl>
                                          <p:spTgt spid="33"/>
                                        </p:tgtEl>
                                        <p:attrNameLst>
                                          <p:attrName>style.visibility</p:attrName>
                                        </p:attrNameLst>
                                      </p:cBhvr>
                                      <p:to>
                                        <p:strVal val="visible"/>
                                      </p:to>
                                    </p:set>
                                    <p:animEffect transition="in" filter="fade">
                                      <p:cBhvr>
                                        <p:cTn id="222" dur="450"/>
                                        <p:tgtEl>
                                          <p:spTgt spid="33"/>
                                        </p:tgtEl>
                                      </p:cBhvr>
                                    </p:animEffect>
                                  </p:childTnLst>
                                </p:cTn>
                              </p:par>
                              <p:par>
                                <p:cTn id="223" presetID="10" presetClass="entr" presetSubtype="0" fill="hold" nodeType="withEffect">
                                  <p:stCondLst>
                                    <p:cond delay="940"/>
                                  </p:stCondLst>
                                  <p:childTnLst>
                                    <p:set>
                                      <p:cBhvr>
                                        <p:cTn id="224" dur="1" fill="hold">
                                          <p:stCondLst>
                                            <p:cond delay="0"/>
                                          </p:stCondLst>
                                        </p:cTn>
                                        <p:tgtEl>
                                          <p:spTgt spid="34"/>
                                        </p:tgtEl>
                                        <p:attrNameLst>
                                          <p:attrName>style.visibility</p:attrName>
                                        </p:attrNameLst>
                                      </p:cBhvr>
                                      <p:to>
                                        <p:strVal val="visible"/>
                                      </p:to>
                                    </p:set>
                                    <p:animEffect transition="in" filter="fade">
                                      <p:cBhvr>
                                        <p:cTn id="225" dur="450"/>
                                        <p:tgtEl>
                                          <p:spTgt spid="34"/>
                                        </p:tgtEl>
                                      </p:cBhvr>
                                    </p:animEffect>
                                  </p:childTnLst>
                                </p:cTn>
                              </p:par>
                              <p:par>
                                <p:cTn id="226" presetID="22" presetClass="entr" presetSubtype="8" fill="hold" nodeType="withEffect">
                                  <p:stCondLst>
                                    <p:cond delay="940"/>
                                  </p:stCondLst>
                                  <p:childTnLst>
                                    <p:set>
                                      <p:cBhvr>
                                        <p:cTn id="227" dur="1" fill="hold">
                                          <p:stCondLst>
                                            <p:cond delay="0"/>
                                          </p:stCondLst>
                                        </p:cTn>
                                        <p:tgtEl>
                                          <p:spTgt spid="35"/>
                                        </p:tgtEl>
                                        <p:attrNameLst>
                                          <p:attrName>style.visibility</p:attrName>
                                        </p:attrNameLst>
                                      </p:cBhvr>
                                      <p:to>
                                        <p:strVal val="visible"/>
                                      </p:to>
                                    </p:set>
                                    <p:animEffect transition="in" filter="wipe(left)">
                                      <p:cBhvr>
                                        <p:cTn id="228" dur="500"/>
                                        <p:tgtEl>
                                          <p:spTgt spid="35"/>
                                        </p:tgtEl>
                                      </p:cBhvr>
                                    </p:animEffect>
                                  </p:childTnLst>
                                </p:cTn>
                              </p:par>
                              <p:par>
                                <p:cTn id="229" presetID="22" presetClass="entr" presetSubtype="8" fill="hold" nodeType="withEffect">
                                  <p:stCondLst>
                                    <p:cond delay="1010"/>
                                  </p:stCondLst>
                                  <p:childTnLst>
                                    <p:set>
                                      <p:cBhvr>
                                        <p:cTn id="230" dur="1" fill="hold">
                                          <p:stCondLst>
                                            <p:cond delay="0"/>
                                          </p:stCondLst>
                                        </p:cTn>
                                        <p:tgtEl>
                                          <p:spTgt spid="36"/>
                                        </p:tgtEl>
                                        <p:attrNameLst>
                                          <p:attrName>style.visibility</p:attrName>
                                        </p:attrNameLst>
                                      </p:cBhvr>
                                      <p:to>
                                        <p:strVal val="visible"/>
                                      </p:to>
                                    </p:set>
                                    <p:animEffect transition="in" filter="wipe(left)">
                                      <p:cBhvr>
                                        <p:cTn id="231" dur="500"/>
                                        <p:tgtEl>
                                          <p:spTgt spid="36"/>
                                        </p:tgtEl>
                                      </p:cBhvr>
                                    </p:animEffect>
                                  </p:childTnLst>
                                </p:cTn>
                              </p:par>
                              <p:par>
                                <p:cTn id="232" presetID="10" presetClass="entr" presetSubtype="0" fill="hold" nodeType="withEffect">
                                  <p:stCondLst>
                                    <p:cond delay="580"/>
                                  </p:stCondLst>
                                  <p:childTnLst>
                                    <p:set>
                                      <p:cBhvr>
                                        <p:cTn id="233" dur="1" fill="hold">
                                          <p:stCondLst>
                                            <p:cond delay="0"/>
                                          </p:stCondLst>
                                        </p:cTn>
                                        <p:tgtEl>
                                          <p:spTgt spid="37"/>
                                        </p:tgtEl>
                                        <p:attrNameLst>
                                          <p:attrName>style.visibility</p:attrName>
                                        </p:attrNameLst>
                                      </p:cBhvr>
                                      <p:to>
                                        <p:strVal val="visible"/>
                                      </p:to>
                                    </p:set>
                                    <p:animEffect transition="in" filter="fade">
                                      <p:cBhvr>
                                        <p:cTn id="234" dur="450"/>
                                        <p:tgtEl>
                                          <p:spTgt spid="37"/>
                                        </p:tgtEl>
                                      </p:cBhvr>
                                    </p:animEffect>
                                  </p:childTnLst>
                                </p:cTn>
                              </p:par>
                            </p:childTnLst>
                          </p:cTn>
                        </p:par>
                      </p:childTnLst>
                    </p:cTn>
                  </p:par>
                  <p:par>
                    <p:cTn id="235" fill="hold">
                      <p:stCondLst>
                        <p:cond delay="indefinite"/>
                      </p:stCondLst>
                      <p:childTnLst>
                        <p:par>
                          <p:cTn id="236" fill="hold">
                            <p:stCondLst>
                              <p:cond delay="0"/>
                            </p:stCondLst>
                            <p:childTnLst>
                              <p:par>
                                <p:cTn id="237" presetID="10" presetClass="exit" presetSubtype="0" fill="hold" nodeType="clickEffect">
                                  <p:stCondLst>
                                    <p:cond delay="0"/>
                                  </p:stCondLst>
                                  <p:childTnLst>
                                    <p:animEffect transition="out" filter="fade">
                                      <p:cBhvr>
                                        <p:cTn id="238" dur="350"/>
                                        <p:tgtEl>
                                          <p:spTgt spid="25"/>
                                        </p:tgtEl>
                                      </p:cBhvr>
                                    </p:animEffect>
                                    <p:set>
                                      <p:cBhvr>
                                        <p:cTn id="239" dur="1" fill="hold">
                                          <p:stCondLst>
                                            <p:cond delay="349"/>
                                          </p:stCondLst>
                                        </p:cTn>
                                        <p:tgtEl>
                                          <p:spTgt spid="25"/>
                                        </p:tgtEl>
                                        <p:attrNameLst>
                                          <p:attrName>style.visibility</p:attrName>
                                        </p:attrNameLst>
                                      </p:cBhvr>
                                      <p:to>
                                        <p:strVal val="hidden"/>
                                      </p:to>
                                    </p:set>
                                  </p:childTnLst>
                                </p:cTn>
                              </p:par>
                              <p:par>
                                <p:cTn id="240" presetID="10" presetClass="exit" presetSubtype="0" fill="hold" nodeType="withEffect">
                                  <p:stCondLst>
                                    <p:cond delay="0"/>
                                  </p:stCondLst>
                                  <p:childTnLst>
                                    <p:animEffect transition="out" filter="fade">
                                      <p:cBhvr>
                                        <p:cTn id="241" dur="350"/>
                                        <p:tgtEl>
                                          <p:spTgt spid="26"/>
                                        </p:tgtEl>
                                      </p:cBhvr>
                                    </p:animEffect>
                                    <p:set>
                                      <p:cBhvr>
                                        <p:cTn id="242" dur="1" fill="hold">
                                          <p:stCondLst>
                                            <p:cond delay="349"/>
                                          </p:stCondLst>
                                        </p:cTn>
                                        <p:tgtEl>
                                          <p:spTgt spid="26"/>
                                        </p:tgtEl>
                                        <p:attrNameLst>
                                          <p:attrName>style.visibility</p:attrName>
                                        </p:attrNameLst>
                                      </p:cBhvr>
                                      <p:to>
                                        <p:strVal val="hidden"/>
                                      </p:to>
                                    </p:set>
                                  </p:childTnLst>
                                </p:cTn>
                              </p:par>
                              <p:par>
                                <p:cTn id="243" presetID="10" presetClass="exit" presetSubtype="0" fill="hold" nodeType="withEffect">
                                  <p:stCondLst>
                                    <p:cond delay="0"/>
                                  </p:stCondLst>
                                  <p:childTnLst>
                                    <p:animEffect transition="out" filter="fade">
                                      <p:cBhvr>
                                        <p:cTn id="244" dur="350"/>
                                        <p:tgtEl>
                                          <p:spTgt spid="27"/>
                                        </p:tgtEl>
                                      </p:cBhvr>
                                    </p:animEffect>
                                    <p:set>
                                      <p:cBhvr>
                                        <p:cTn id="245" dur="1" fill="hold">
                                          <p:stCondLst>
                                            <p:cond delay="349"/>
                                          </p:stCondLst>
                                        </p:cTn>
                                        <p:tgtEl>
                                          <p:spTgt spid="27"/>
                                        </p:tgtEl>
                                        <p:attrNameLst>
                                          <p:attrName>style.visibility</p:attrName>
                                        </p:attrNameLst>
                                      </p:cBhvr>
                                      <p:to>
                                        <p:strVal val="hidden"/>
                                      </p:to>
                                    </p:set>
                                  </p:childTnLst>
                                </p:cTn>
                              </p:par>
                              <p:par>
                                <p:cTn id="246" presetID="10" presetClass="exit" presetSubtype="0" fill="hold" nodeType="withEffect">
                                  <p:stCondLst>
                                    <p:cond delay="0"/>
                                  </p:stCondLst>
                                  <p:childTnLst>
                                    <p:animEffect transition="out" filter="fade">
                                      <p:cBhvr>
                                        <p:cTn id="247" dur="350"/>
                                        <p:tgtEl>
                                          <p:spTgt spid="28"/>
                                        </p:tgtEl>
                                      </p:cBhvr>
                                    </p:animEffect>
                                    <p:set>
                                      <p:cBhvr>
                                        <p:cTn id="248" dur="1" fill="hold">
                                          <p:stCondLst>
                                            <p:cond delay="349"/>
                                          </p:stCondLst>
                                        </p:cTn>
                                        <p:tgtEl>
                                          <p:spTgt spid="28"/>
                                        </p:tgtEl>
                                        <p:attrNameLst>
                                          <p:attrName>style.visibility</p:attrName>
                                        </p:attrNameLst>
                                      </p:cBhvr>
                                      <p:to>
                                        <p:strVal val="hidden"/>
                                      </p:to>
                                    </p:set>
                                  </p:childTnLst>
                                </p:cTn>
                              </p:par>
                              <p:par>
                                <p:cTn id="249" presetID="10" presetClass="exit" presetSubtype="0" fill="hold" nodeType="withEffect">
                                  <p:stCondLst>
                                    <p:cond delay="0"/>
                                  </p:stCondLst>
                                  <p:childTnLst>
                                    <p:animEffect transition="out" filter="fade">
                                      <p:cBhvr>
                                        <p:cTn id="250" dur="350"/>
                                        <p:tgtEl>
                                          <p:spTgt spid="29"/>
                                        </p:tgtEl>
                                      </p:cBhvr>
                                    </p:animEffect>
                                    <p:set>
                                      <p:cBhvr>
                                        <p:cTn id="251" dur="1" fill="hold">
                                          <p:stCondLst>
                                            <p:cond delay="349"/>
                                          </p:stCondLst>
                                        </p:cTn>
                                        <p:tgtEl>
                                          <p:spTgt spid="29"/>
                                        </p:tgtEl>
                                        <p:attrNameLst>
                                          <p:attrName>style.visibility</p:attrName>
                                        </p:attrNameLst>
                                      </p:cBhvr>
                                      <p:to>
                                        <p:strVal val="hidden"/>
                                      </p:to>
                                    </p:set>
                                  </p:childTnLst>
                                </p:cTn>
                              </p:par>
                              <p:par>
                                <p:cTn id="252" presetID="10" presetClass="exit" presetSubtype="0" fill="hold" nodeType="withEffect">
                                  <p:stCondLst>
                                    <p:cond delay="0"/>
                                  </p:stCondLst>
                                  <p:childTnLst>
                                    <p:animEffect transition="out" filter="fade">
                                      <p:cBhvr>
                                        <p:cTn id="253" dur="350"/>
                                        <p:tgtEl>
                                          <p:spTgt spid="30"/>
                                        </p:tgtEl>
                                      </p:cBhvr>
                                    </p:animEffect>
                                    <p:set>
                                      <p:cBhvr>
                                        <p:cTn id="254" dur="1" fill="hold">
                                          <p:stCondLst>
                                            <p:cond delay="349"/>
                                          </p:stCondLst>
                                        </p:cTn>
                                        <p:tgtEl>
                                          <p:spTgt spid="30"/>
                                        </p:tgtEl>
                                        <p:attrNameLst>
                                          <p:attrName>style.visibility</p:attrName>
                                        </p:attrNameLst>
                                      </p:cBhvr>
                                      <p:to>
                                        <p:strVal val="hidden"/>
                                      </p:to>
                                    </p:set>
                                  </p:childTnLst>
                                </p:cTn>
                              </p:par>
                              <p:par>
                                <p:cTn id="255" presetID="10" presetClass="exit" presetSubtype="0" fill="hold" nodeType="withEffect">
                                  <p:stCondLst>
                                    <p:cond delay="0"/>
                                  </p:stCondLst>
                                  <p:childTnLst>
                                    <p:animEffect transition="out" filter="fade">
                                      <p:cBhvr>
                                        <p:cTn id="256" dur="350"/>
                                        <p:tgtEl>
                                          <p:spTgt spid="31"/>
                                        </p:tgtEl>
                                      </p:cBhvr>
                                    </p:animEffect>
                                    <p:set>
                                      <p:cBhvr>
                                        <p:cTn id="257" dur="1" fill="hold">
                                          <p:stCondLst>
                                            <p:cond delay="349"/>
                                          </p:stCondLst>
                                        </p:cTn>
                                        <p:tgtEl>
                                          <p:spTgt spid="31"/>
                                        </p:tgtEl>
                                        <p:attrNameLst>
                                          <p:attrName>style.visibility</p:attrName>
                                        </p:attrNameLst>
                                      </p:cBhvr>
                                      <p:to>
                                        <p:strVal val="hidden"/>
                                      </p:to>
                                    </p:set>
                                  </p:childTnLst>
                                </p:cTn>
                              </p:par>
                              <p:par>
                                <p:cTn id="258" presetID="10" presetClass="exit" presetSubtype="0" fill="hold" nodeType="withEffect">
                                  <p:stCondLst>
                                    <p:cond delay="0"/>
                                  </p:stCondLst>
                                  <p:childTnLst>
                                    <p:animEffect transition="out" filter="fade">
                                      <p:cBhvr>
                                        <p:cTn id="259" dur="350"/>
                                        <p:tgtEl>
                                          <p:spTgt spid="32"/>
                                        </p:tgtEl>
                                      </p:cBhvr>
                                    </p:animEffect>
                                    <p:set>
                                      <p:cBhvr>
                                        <p:cTn id="260" dur="1" fill="hold">
                                          <p:stCondLst>
                                            <p:cond delay="349"/>
                                          </p:stCondLst>
                                        </p:cTn>
                                        <p:tgtEl>
                                          <p:spTgt spid="32"/>
                                        </p:tgtEl>
                                        <p:attrNameLst>
                                          <p:attrName>style.visibility</p:attrName>
                                        </p:attrNameLst>
                                      </p:cBhvr>
                                      <p:to>
                                        <p:strVal val="hidden"/>
                                      </p:to>
                                    </p:set>
                                  </p:childTnLst>
                                </p:cTn>
                              </p:par>
                              <p:par>
                                <p:cTn id="261" presetID="10" presetClass="exit" presetSubtype="0" fill="hold" nodeType="withEffect">
                                  <p:stCondLst>
                                    <p:cond delay="0"/>
                                  </p:stCondLst>
                                  <p:childTnLst>
                                    <p:animEffect transition="out" filter="fade">
                                      <p:cBhvr>
                                        <p:cTn id="262" dur="350"/>
                                        <p:tgtEl>
                                          <p:spTgt spid="33"/>
                                        </p:tgtEl>
                                      </p:cBhvr>
                                    </p:animEffect>
                                    <p:set>
                                      <p:cBhvr>
                                        <p:cTn id="263" dur="1" fill="hold">
                                          <p:stCondLst>
                                            <p:cond delay="349"/>
                                          </p:stCondLst>
                                        </p:cTn>
                                        <p:tgtEl>
                                          <p:spTgt spid="33"/>
                                        </p:tgtEl>
                                        <p:attrNameLst>
                                          <p:attrName>style.visibility</p:attrName>
                                        </p:attrNameLst>
                                      </p:cBhvr>
                                      <p:to>
                                        <p:strVal val="hidden"/>
                                      </p:to>
                                    </p:set>
                                  </p:childTnLst>
                                </p:cTn>
                              </p:par>
                              <p:par>
                                <p:cTn id="264" presetID="10" presetClass="exit" presetSubtype="0" fill="hold" nodeType="withEffect">
                                  <p:stCondLst>
                                    <p:cond delay="0"/>
                                  </p:stCondLst>
                                  <p:childTnLst>
                                    <p:animEffect transition="out" filter="fade">
                                      <p:cBhvr>
                                        <p:cTn id="265" dur="350"/>
                                        <p:tgtEl>
                                          <p:spTgt spid="34"/>
                                        </p:tgtEl>
                                      </p:cBhvr>
                                    </p:animEffect>
                                    <p:set>
                                      <p:cBhvr>
                                        <p:cTn id="266" dur="1" fill="hold">
                                          <p:stCondLst>
                                            <p:cond delay="349"/>
                                          </p:stCondLst>
                                        </p:cTn>
                                        <p:tgtEl>
                                          <p:spTgt spid="34"/>
                                        </p:tgtEl>
                                        <p:attrNameLst>
                                          <p:attrName>style.visibility</p:attrName>
                                        </p:attrNameLst>
                                      </p:cBhvr>
                                      <p:to>
                                        <p:strVal val="hidden"/>
                                      </p:to>
                                    </p:set>
                                  </p:childTnLst>
                                </p:cTn>
                              </p:par>
                              <p:par>
                                <p:cTn id="267" presetID="10" presetClass="exit" presetSubtype="0" fill="hold" nodeType="withEffect">
                                  <p:stCondLst>
                                    <p:cond delay="0"/>
                                  </p:stCondLst>
                                  <p:childTnLst>
                                    <p:animEffect transition="out" filter="fade">
                                      <p:cBhvr>
                                        <p:cTn id="268" dur="350"/>
                                        <p:tgtEl>
                                          <p:spTgt spid="35"/>
                                        </p:tgtEl>
                                      </p:cBhvr>
                                    </p:animEffect>
                                    <p:set>
                                      <p:cBhvr>
                                        <p:cTn id="269" dur="1" fill="hold">
                                          <p:stCondLst>
                                            <p:cond delay="349"/>
                                          </p:stCondLst>
                                        </p:cTn>
                                        <p:tgtEl>
                                          <p:spTgt spid="35"/>
                                        </p:tgtEl>
                                        <p:attrNameLst>
                                          <p:attrName>style.visibility</p:attrName>
                                        </p:attrNameLst>
                                      </p:cBhvr>
                                      <p:to>
                                        <p:strVal val="hidden"/>
                                      </p:to>
                                    </p:set>
                                  </p:childTnLst>
                                </p:cTn>
                              </p:par>
                              <p:par>
                                <p:cTn id="270" presetID="10" presetClass="exit" presetSubtype="0" fill="hold" nodeType="withEffect">
                                  <p:stCondLst>
                                    <p:cond delay="0"/>
                                  </p:stCondLst>
                                  <p:childTnLst>
                                    <p:animEffect transition="out" filter="fade">
                                      <p:cBhvr>
                                        <p:cTn id="271" dur="350"/>
                                        <p:tgtEl>
                                          <p:spTgt spid="36"/>
                                        </p:tgtEl>
                                      </p:cBhvr>
                                    </p:animEffect>
                                    <p:set>
                                      <p:cBhvr>
                                        <p:cTn id="272" dur="1" fill="hold">
                                          <p:stCondLst>
                                            <p:cond delay="349"/>
                                          </p:stCondLst>
                                        </p:cTn>
                                        <p:tgtEl>
                                          <p:spTgt spid="36"/>
                                        </p:tgtEl>
                                        <p:attrNameLst>
                                          <p:attrName>style.visibility</p:attrName>
                                        </p:attrNameLst>
                                      </p:cBhvr>
                                      <p:to>
                                        <p:strVal val="hidden"/>
                                      </p:to>
                                    </p:set>
                                  </p:childTnLst>
                                </p:cTn>
                              </p:par>
                              <p:par>
                                <p:cTn id="273" presetID="10" presetClass="exit" presetSubtype="0" fill="hold" nodeType="withEffect">
                                  <p:stCondLst>
                                    <p:cond delay="0"/>
                                  </p:stCondLst>
                                  <p:childTnLst>
                                    <p:animEffect transition="out" filter="fade">
                                      <p:cBhvr>
                                        <p:cTn id="274" dur="350"/>
                                        <p:tgtEl>
                                          <p:spTgt spid="37"/>
                                        </p:tgtEl>
                                      </p:cBhvr>
                                    </p:animEffect>
                                    <p:set>
                                      <p:cBhvr>
                                        <p:cTn id="275" dur="1" fill="hold">
                                          <p:stCondLst>
                                            <p:cond delay="349"/>
                                          </p:stCondLst>
                                        </p:cTn>
                                        <p:tgtEl>
                                          <p:spTgt spid="37"/>
                                        </p:tgtEl>
                                        <p:attrNameLst>
                                          <p:attrName>style.visibility</p:attrName>
                                        </p:attrNameLst>
                                      </p:cBhvr>
                                      <p:to>
                                        <p:strVal val="hidden"/>
                                      </p:to>
                                    </p:set>
                                  </p:childTnLst>
                                </p:cTn>
                              </p:par>
                              <p:par>
                                <p:cTn id="276" presetID="10" presetClass="entr" presetSubtype="0" fill="hold" nodeType="withEffect">
                                  <p:stCondLst>
                                    <p:cond delay="450"/>
                                  </p:stCondLst>
                                  <p:childTnLst>
                                    <p:set>
                                      <p:cBhvr>
                                        <p:cTn id="277" dur="1" fill="hold">
                                          <p:stCondLst>
                                            <p:cond delay="0"/>
                                          </p:stCondLst>
                                        </p:cTn>
                                        <p:tgtEl>
                                          <p:spTgt spid="38"/>
                                        </p:tgtEl>
                                        <p:attrNameLst>
                                          <p:attrName>style.visibility</p:attrName>
                                        </p:attrNameLst>
                                      </p:cBhvr>
                                      <p:to>
                                        <p:strVal val="visible"/>
                                      </p:to>
                                    </p:set>
                                    <p:animEffect transition="in" filter="fade">
                                      <p:cBhvr>
                                        <p:cTn id="278" dur="450"/>
                                        <p:tgtEl>
                                          <p:spTgt spid="38"/>
                                        </p:tgtEl>
                                      </p:cBhvr>
                                    </p:animEffect>
                                  </p:childTnLst>
                                </p:cTn>
                              </p:par>
                              <p:par>
                                <p:cTn id="279" presetID="10" presetClass="entr" presetSubtype="0" fill="hold" nodeType="withEffect">
                                  <p:stCondLst>
                                    <p:cond delay="520"/>
                                  </p:stCondLst>
                                  <p:childTnLst>
                                    <p:set>
                                      <p:cBhvr>
                                        <p:cTn id="280" dur="1" fill="hold">
                                          <p:stCondLst>
                                            <p:cond delay="0"/>
                                          </p:stCondLst>
                                        </p:cTn>
                                        <p:tgtEl>
                                          <p:spTgt spid="39"/>
                                        </p:tgtEl>
                                        <p:attrNameLst>
                                          <p:attrName>style.visibility</p:attrName>
                                        </p:attrNameLst>
                                      </p:cBhvr>
                                      <p:to>
                                        <p:strVal val="visible"/>
                                      </p:to>
                                    </p:set>
                                    <p:animEffect transition="in" filter="fade">
                                      <p:cBhvr>
                                        <p:cTn id="281" dur="450"/>
                                        <p:tgtEl>
                                          <p:spTgt spid="39"/>
                                        </p:tgtEl>
                                      </p:cBhvr>
                                    </p:animEffect>
                                  </p:childTnLst>
                                </p:cTn>
                              </p:par>
                              <p:par>
                                <p:cTn id="282" presetID="22" presetClass="entr" presetSubtype="4" fill="hold" nodeType="withEffect">
                                  <p:stCondLst>
                                    <p:cond delay="520"/>
                                  </p:stCondLst>
                                  <p:childTnLst>
                                    <p:set>
                                      <p:cBhvr>
                                        <p:cTn id="283" dur="1" fill="hold">
                                          <p:stCondLst>
                                            <p:cond delay="0"/>
                                          </p:stCondLst>
                                        </p:cTn>
                                        <p:tgtEl>
                                          <p:spTgt spid="40"/>
                                        </p:tgtEl>
                                        <p:attrNameLst>
                                          <p:attrName>style.visibility</p:attrName>
                                        </p:attrNameLst>
                                      </p:cBhvr>
                                      <p:to>
                                        <p:strVal val="visible"/>
                                      </p:to>
                                    </p:set>
                                    <p:animEffect transition="in" filter="wipe(down)">
                                      <p:cBhvr>
                                        <p:cTn id="284" dur="500"/>
                                        <p:tgtEl>
                                          <p:spTgt spid="40"/>
                                        </p:tgtEl>
                                      </p:cBhvr>
                                    </p:animEffect>
                                  </p:childTnLst>
                                </p:cTn>
                              </p:par>
                              <p:par>
                                <p:cTn id="285" presetID="10" presetClass="entr" presetSubtype="0" grpId="0" fill="hold" nodeType="withEffect">
                                  <p:stCondLst>
                                    <p:cond delay="590"/>
                                  </p:stCondLst>
                                  <p:childTnLst>
                                    <p:set>
                                      <p:cBhvr>
                                        <p:cTn id="286" dur="1" fill="hold">
                                          <p:stCondLst>
                                            <p:cond delay="0"/>
                                          </p:stCondLst>
                                        </p:cTn>
                                        <p:tgtEl>
                                          <p:spTgt spid="41">
                                            <p:txEl>
                                              <p:pRg st="0" end="0"/>
                                            </p:txEl>
                                          </p:spTgt>
                                        </p:tgtEl>
                                        <p:attrNameLst>
                                          <p:attrName>style.visibility</p:attrName>
                                        </p:attrNameLst>
                                      </p:cBhvr>
                                      <p:to>
                                        <p:strVal val="visible"/>
                                      </p:to>
                                    </p:set>
                                    <p:animEffect transition="in" filter="fade">
                                      <p:cBhvr>
                                        <p:cTn id="287" dur="450"/>
                                        <p:tgtEl>
                                          <p:spTgt spid="41">
                                            <p:txEl>
                                              <p:pRg st="0" end="0"/>
                                            </p:txEl>
                                          </p:spTgt>
                                        </p:tgtEl>
                                      </p:cBhvr>
                                    </p:animEffect>
                                  </p:childTnLst>
                                </p:cTn>
                              </p:par>
                              <p:par>
                                <p:cTn id="288" presetID="10" presetClass="entr" presetSubtype="0" grpId="0" fill="hold" nodeType="withEffect">
                                  <p:stCondLst>
                                    <p:cond delay="970"/>
                                  </p:stCondLst>
                                  <p:childTnLst>
                                    <p:set>
                                      <p:cBhvr>
                                        <p:cTn id="289" dur="1" fill="hold">
                                          <p:stCondLst>
                                            <p:cond delay="0"/>
                                          </p:stCondLst>
                                        </p:cTn>
                                        <p:tgtEl>
                                          <p:spTgt spid="41">
                                            <p:txEl>
                                              <p:pRg st="1" end="1"/>
                                            </p:txEl>
                                          </p:spTgt>
                                        </p:tgtEl>
                                        <p:attrNameLst>
                                          <p:attrName>style.visibility</p:attrName>
                                        </p:attrNameLst>
                                      </p:cBhvr>
                                      <p:to>
                                        <p:strVal val="visible"/>
                                      </p:to>
                                    </p:set>
                                    <p:animEffect transition="in" filter="fade">
                                      <p:cBhvr>
                                        <p:cTn id="290" dur="450"/>
                                        <p:tgtEl>
                                          <p:spTgt spid="41">
                                            <p:txEl>
                                              <p:pRg st="1" end="1"/>
                                            </p:txEl>
                                          </p:spTgt>
                                        </p:tgtEl>
                                      </p:cBhvr>
                                    </p:animEffect>
                                  </p:childTnLst>
                                </p:cTn>
                              </p:par>
                              <p:par>
                                <p:cTn id="291" presetID="10" presetClass="entr" presetSubtype="0" grpId="0" fill="hold" nodeType="withEffect">
                                  <p:stCondLst>
                                    <p:cond delay="1350"/>
                                  </p:stCondLst>
                                  <p:childTnLst>
                                    <p:set>
                                      <p:cBhvr>
                                        <p:cTn id="292" dur="1" fill="hold">
                                          <p:stCondLst>
                                            <p:cond delay="0"/>
                                          </p:stCondLst>
                                        </p:cTn>
                                        <p:tgtEl>
                                          <p:spTgt spid="41">
                                            <p:txEl>
                                              <p:pRg st="2" end="2"/>
                                            </p:txEl>
                                          </p:spTgt>
                                        </p:tgtEl>
                                        <p:attrNameLst>
                                          <p:attrName>style.visibility</p:attrName>
                                        </p:attrNameLst>
                                      </p:cBhvr>
                                      <p:to>
                                        <p:strVal val="visible"/>
                                      </p:to>
                                    </p:set>
                                    <p:animEffect transition="in" filter="fade">
                                      <p:cBhvr>
                                        <p:cTn id="293" dur="450"/>
                                        <p:tgtEl>
                                          <p:spTgt spid="41">
                                            <p:txEl>
                                              <p:pRg st="2" end="2"/>
                                            </p:txEl>
                                          </p:spTgt>
                                        </p:tgtEl>
                                      </p:cBhvr>
                                    </p:animEffect>
                                  </p:childTnLst>
                                </p:cTn>
                              </p:par>
                              <p:par>
                                <p:cTn id="294" presetID="22" presetClass="entr" presetSubtype="4" fill="hold" nodeType="withEffect">
                                  <p:stCondLst>
                                    <p:cond delay="660"/>
                                  </p:stCondLst>
                                  <p:childTnLst>
                                    <p:set>
                                      <p:cBhvr>
                                        <p:cTn id="295" dur="1" fill="hold">
                                          <p:stCondLst>
                                            <p:cond delay="0"/>
                                          </p:stCondLst>
                                        </p:cTn>
                                        <p:tgtEl>
                                          <p:spTgt spid="42"/>
                                        </p:tgtEl>
                                        <p:attrNameLst>
                                          <p:attrName>style.visibility</p:attrName>
                                        </p:attrNameLst>
                                      </p:cBhvr>
                                      <p:to>
                                        <p:strVal val="visible"/>
                                      </p:to>
                                    </p:set>
                                    <p:animEffect transition="in" filter="wipe(down)">
                                      <p:cBhvr>
                                        <p:cTn id="296" dur="500"/>
                                        <p:tgtEl>
                                          <p:spTgt spid="42"/>
                                        </p:tgtEl>
                                      </p:cBhvr>
                                    </p:animEffect>
                                  </p:childTnLst>
                                </p:cTn>
                              </p:par>
                              <p:par>
                                <p:cTn id="297" presetID="10" presetClass="entr" presetSubtype="0" fill="hold" nodeType="withEffect">
                                  <p:stCondLst>
                                    <p:cond delay="580"/>
                                  </p:stCondLst>
                                  <p:childTnLst>
                                    <p:set>
                                      <p:cBhvr>
                                        <p:cTn id="298" dur="1" fill="hold">
                                          <p:stCondLst>
                                            <p:cond delay="0"/>
                                          </p:stCondLst>
                                        </p:cTn>
                                        <p:tgtEl>
                                          <p:spTgt spid="43"/>
                                        </p:tgtEl>
                                        <p:attrNameLst>
                                          <p:attrName>style.visibility</p:attrName>
                                        </p:attrNameLst>
                                      </p:cBhvr>
                                      <p:to>
                                        <p:strVal val="visible"/>
                                      </p:to>
                                    </p:set>
                                    <p:animEffect transition="in" filter="fade">
                                      <p:cBhvr>
                                        <p:cTn id="299"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6" grpId="0" build="p"/>
      <p:bldP spid="23" grpId="0" build="p"/>
      <p:bldP spid="4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Downhole y crosshole miden </a:t>
            </a:r>
            <mc:AlternateContent xmlns:mc="http://schemas.openxmlformats.org/markup-compatibility/2006">
              <mc:Choice xmlns:a14="http://schemas.microsoft.com/office/drawing/2010/main" Requires="a14">
                <a14:m>
                  <m:oMath xmlns:m="http://schemas.openxmlformats.org/officeDocument/2006/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oMath>
                </a14:m>
              </mc:Choice>
              <mc:Fallback>
                <a:r>
                  <a:rPr lang="en-US" sz="2200" b="1" dirty="0">
                    <a:solidFill>
                      <a:srgbClr val="1F4E79"/>
                    </a:solidFill>
                    <a:latin typeface="Arial" pitchFamily="34" charset="0"/>
                    <a:ea typeface="Arial" pitchFamily="34" charset="-122"/>
                    <a:cs typeface="Arial" pitchFamily="34" charset="-120"/>
                  </a:rPr>
                  <a:t>Vs</a:t>
                </a:r>
              </mc:Fallback>
            </mc:AlternateContent>
            <a:r>
              <a:rPr lang="en-US" sz="2200" b="1" dirty="0">
                <a:solidFill>
                  <a:srgbClr val="1F4E79"/>
                </a:solidFill>
                <a:latin typeface="Arial" pitchFamily="34" charset="0"/>
                <a:ea typeface="Arial" pitchFamily="34" charset="-122"/>
                <a:cs typeface="Arial" pitchFamily="34" charset="-120"/>
              </a:rPr>
              <a:t> de forma directa, pero exigen perforar</a:t>
            </a:r>
            <a:endParaRPr lang="en-US" sz="2200" dirty="0"/>
          </a:p>
        </p:txBody>
      </p:sp>
      <p:sp>
        <p:nvSpPr>
          <p:cNvPr id="3" name="Obj [o15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Downhole: la fuente está en superficie y los geófonos dentro del pozo</a:t>
            </a:r>
            <a:endParaRPr lang="en-US" sz="1400" dirty="0"/>
          </a:p>
        </p:txBody>
      </p:sp>
      <p:pic>
        <p:nvPicPr>
          <p:cNvPr id="4" name="Obj [o159]" descr="Ensayo downhole: fuente sísmica en superficie, geófonos dentro del pozo, tres capas">    </p:cNvPr>
          <p:cNvPicPr>
            <a:picLocks noChangeAspect="1"/>
          </p:cNvPicPr>
          <p:nvPr/>
        </p:nvPicPr>
        <p:blipFill>
          <a:blip r:embed="rId1"/>
          <a:stretch>
            <a:fillRect/>
          </a:stretch>
        </p:blipFill>
        <p:spPr>
          <a:xfrm>
            <a:off x="966136" y="1561458"/>
            <a:ext cx="3528278" cy="2884691"/>
          </a:xfrm>
          <a:prstGeom prst="rect">
            <a:avLst/>
          </a:prstGeom>
        </p:spPr>
      </p:pic>
      <p:sp>
        <p:nvSpPr>
          <p:cNvPr id="5" name="Obj [o160]"/>
          <p:cNvSpPr txBox="1"/>
          <p:nvPr/>
        </p:nvSpPr>
        <p:spPr>
          <a:xfrm>
            <a:off x="4732261" y="1721719"/>
            <a:ext cx="3445604" cy="2564170"/>
          </a:xfrm>
          <a:prstGeom prst="rect">
            <a:avLst/>
          </a:prstGeom>
          <a:noFill/>
          <a:ln/>
        </p:spPr>
        <p:txBody>
          <a:bodyPr wrap="square" lIns="0" tIns="0" rIns="0" bIns="0" rtlCol="0" anchor="t"/>
          <a:lstStyle/>
          <a:p>
            <a:pPr marL="342900" indent="-342900">
              <a:spcAft>
                <a:spcPts val="1080"/>
              </a:spcAft>
              <a:buSzPct val="100000"/>
              <a:buChar char="•"/>
            </a:pPr>
            <a:r>
              <a:rPr lang="en-US" sz="1800" dirty="0">
                <a:solidFill>
                  <a:srgbClr val="2D2D2D"/>
                </a:solidFill>
                <a:latin typeface="Arial" pitchFamily="34" charset="0"/>
                <a:ea typeface="Arial" pitchFamily="34" charset="-122"/>
                <a:cs typeface="Arial" pitchFamily="34" charset="-120"/>
              </a:rPr>
              <a:t>Un solo pozo con geófonos a distintas profundidades</a:t>
            </a:r>
            <a:endParaRPr lang="en-US" sz="1800" dirty="0"/>
          </a:p>
          <a:p>
            <a:pPr marL="342900" indent="-342900">
              <a:spcAft>
                <a:spcPts val="1080"/>
              </a:spcAft>
              <a:buSzPct val="100000"/>
              <a:buChar char="•"/>
            </a:pPr>
            <a:r>
              <a:rPr lang="en-US" sz="1800" dirty="0">
                <a:solidFill>
                  <a:srgbClr val="2D2D2D"/>
                </a:solidFill>
                <a:latin typeface="Arial" pitchFamily="34" charset="0"/>
                <a:ea typeface="Arial" pitchFamily="34" charset="-122"/>
                <a:cs typeface="Arial" pitchFamily="34" charset="-120"/>
              </a:rPr>
              <a:t>Una fuente golpea en superficie</a:t>
            </a:r>
            <a:endParaRPr lang="en-US" sz="1800" dirty="0"/>
          </a:p>
          <a:p>
            <a:pPr marL="342900" indent="-342900">
              <a:spcAft>
                <a:spcPts val="108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de cada tramo: distancia entre geófonos sobre diferencia de tiempos</a:t>
            </a:r>
            <a:endParaRPr lang="en-US" sz="1800" dirty="0"/>
          </a:p>
        </p:txBody>
      </p:sp>
      <p:sp>
        <p:nvSpPr>
          <p:cNvPr id="6" name="Obj [o16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a:t>
            </a:r>
            <a:endParaRPr lang="en-US" sz="800" dirty="0"/>
          </a:p>
        </p:txBody>
      </p:sp>
      <p:sp>
        <p:nvSpPr>
          <p:cNvPr id="7" name="Obj [o16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Crosshole: fuente y receptor a la misma profundidad, en pozos distintos</a:t>
            </a:r>
            <a:endParaRPr lang="en-US" sz="1400" dirty="0"/>
          </a:p>
        </p:txBody>
      </p:sp>
      <p:pic>
        <p:nvPicPr>
          <p:cNvPr id="8" name="Obj [o163]" descr="Ensayo crosshole: fuente en un pozo, receptor en otro, distancia Δx">    </p:cNvPr>
          <p:cNvPicPr>
            <a:picLocks noChangeAspect="1"/>
          </p:cNvPicPr>
          <p:nvPr/>
        </p:nvPicPr>
        <p:blipFill>
          <a:blip r:embed="rId2"/>
          <a:stretch>
            <a:fillRect/>
          </a:stretch>
        </p:blipFill>
        <p:spPr>
          <a:xfrm>
            <a:off x="441794" y="1595380"/>
            <a:ext cx="4105855" cy="2528236"/>
          </a:xfrm>
          <a:prstGeom prst="rect">
            <a:avLst/>
          </a:prstGeom>
        </p:spPr>
      </p:pic>
      <p:sp>
        <p:nvSpPr>
          <p:cNvPr id="9" name="Obj [o164]"/>
          <p:cNvSpPr txBox="1"/>
          <p:nvPr/>
        </p:nvSpPr>
        <p:spPr>
          <a:xfrm>
            <a:off x="4775752" y="1709431"/>
            <a:ext cx="2509133" cy="1520687"/>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Dos pozos o más, a distancia </a:t>
            </a: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Δ</m:t>
                    </m:r>
                    <m:r>
                      <a:rPr lang="es-ES" sz="1553" i="1">
                        <a:solidFill>
                          <a:srgbClr val="2D2D2D"/>
                        </a:solidFill>
                        <a:latin typeface="Cambria Math" panose="02040503050406030204" pitchFamily="18" charset="0"/>
                      </a:rPr>
                      <m:t xml:space="preserve">x</m:t>
                    </m:r>
                  </m:oMath>
                </a14:m>
              </mc:Choice>
              <mc:Fallback>
                <a:r>
                  <a:rPr lang="en-US" sz="1553" dirty="0">
                    <a:solidFill>
                      <a:srgbClr val="2D2D2D"/>
                    </a:solidFill>
                    <a:latin typeface="Arial" pitchFamily="34" charset="0"/>
                    <a:ea typeface="Arial" pitchFamily="34" charset="-122"/>
                    <a:cs typeface="Arial" pitchFamily="34" charset="-120"/>
                  </a:rPr>
                  <a:t>Δx</a:t>
                </a:r>
              </mc:Fallback>
            </mc:AlternateContent>
            <a:r>
              <a:rPr lang="en-US" sz="1553" dirty="0">
                <a:solidFill>
                  <a:srgbClr val="2D2D2D"/>
                </a:solidFill>
                <a:latin typeface="Arial" pitchFamily="34" charset="0"/>
                <a:ea typeface="Arial" pitchFamily="34" charset="-122"/>
                <a:cs typeface="Arial" pitchFamily="34" charset="-120"/>
              </a:rPr>
              <a:t> conocida</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La onda S viaja en horizontal por una sola capa</a:t>
            </a:r>
            <a:endParaRPr lang="en-US" sz="1553" dirty="0"/>
          </a:p>
        </p:txBody>
      </p:sp>
      <p:sp>
        <p:nvSpPr>
          <p:cNvPr id="10" name="Obj [o165]"/>
          <p:cNvSpPr/>
          <p:nvPr/>
        </p:nvSpPr>
        <p:spPr>
          <a:xfrm>
            <a:off x="4775752" y="3268135"/>
            <a:ext cx="2509133"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1" name="Obj [o166]"/>
              <p:cNvSpPr txBox="1"/>
              <p:nvPr/>
            </p:nvSpPr>
            <p:spPr>
              <a:xfrm>
                <a:off x="4775752" y="3268135"/>
                <a:ext cx="2509133"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Δx</m:t>
                          </m:r>
                        </m:num>
                        <m:den>
                          <m:r>
                            <a:rPr lang="es-ES" sz="2400" i="1">
                              <a:solidFill>
                                <a:srgbClr val="1F4E79"/>
                              </a:solidFill>
                              <a:latin typeface="Cambria Math" panose="02040503050406030204" pitchFamily="18" charset="0"/>
                            </a:rPr>
                            <m:t xml:space="preserve">Δt</m:t>
                          </m:r>
                        </m:den>
                      </m:f>
                    </m:oMath>
                  </m:oMathPara>
                </a14:m>
                <a:endParaRPr lang="es-ES"/>
              </a:p>
            </p:txBody>
          </p:sp>
        </mc:Choice>
        <mc:Fallback>
          <p:sp>
            <p:nvSpPr>
              <p:cNvPr id="11" name="Obj [o166]"/>
              <p:cNvSpPr txBox="1"/>
              <p:nvPr/>
            </p:nvSpPr>
            <p:spPr>
              <a:xfrm>
                <a:off x="4775752" y="3268135"/>
                <a:ext cx="2509133"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Δx / Δt</a:t>
                </a:r>
                <a:endParaRPr lang="en-US" sz="2071" dirty="0"/>
              </a:p>
            </p:txBody>
          </p:sp>
        </mc:Fallback>
      </mc:AlternateContent>
      <p:sp>
        <p:nvSpPr>
          <p:cNvPr id="12" name="Obj [o1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Adaptada de Foti et al. (2014), cap. 1 (a confirmar).</a:t>
            </a:r>
            <a:endParaRPr lang="en-US" sz="800" dirty="0"/>
          </a:p>
        </p:txBody>
      </p:sp>
      <p:sp>
        <p:nvSpPr>
          <p:cNvPr id="13" name="Obj [o16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Ventajas: miden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 de forma directa, con trayectos conocidos</a:t>
            </a:r>
            <a:endParaRPr lang="en-US" sz="1400" dirty="0"/>
          </a:p>
        </p:txBody>
      </p:sp>
      <p:sp>
        <p:nvSpPr>
          <p:cNvPr id="14" name="Obj [o169]"/>
          <p:cNvSpPr txBox="1"/>
          <p:nvPr/>
        </p:nvSpPr>
        <p:spPr>
          <a:xfrm>
            <a:off x="2809133" y="1561458"/>
            <a:ext cx="1602606" cy="1375838"/>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Downhole</a:t>
            </a:r>
            <a:endParaRPr lang="en-US" sz="1800" dirty="0"/>
          </a:p>
        </p:txBody>
      </p:sp>
      <p:sp>
        <p:nvSpPr>
          <p:cNvPr id="15" name="Obj [o170]"/>
          <p:cNvSpPr txBox="1"/>
          <p:nvPr/>
        </p:nvSpPr>
        <p:spPr>
          <a:xfrm>
            <a:off x="966136" y="3097556"/>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Un solo pozo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Perfil de </a:t>
            </a: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V</m:t>
                        </m:r>
                      </m:e>
                      <m:sub>
                        <m:r>
                          <a:rPr lang="es-ES" sz="1620" i="1">
                            <a:solidFill>
                              <a:srgbClr val="2D2D2D"/>
                            </a:solidFill>
                            <a:latin typeface="Cambria Math" panose="02040503050406030204" pitchFamily="18" charset="0"/>
                          </a:rPr>
                          <m:t xml:space="preserve">s</m:t>
                        </m:r>
                      </m:sub>
                    </m:sSub>
                  </m:oMath>
                </a14:m>
              </mc:Choice>
              <mc:Fallback>
                <a:r>
                  <a:rPr lang="en-US" sz="1620" dirty="0">
                    <a:solidFill>
                      <a:srgbClr val="2D2D2D"/>
                    </a:solidFill>
                    <a:latin typeface="Arial" pitchFamily="34" charset="0"/>
                    <a:ea typeface="Arial" pitchFamily="34" charset="-122"/>
                    <a:cs typeface="Arial" pitchFamily="34" charset="-120"/>
                  </a:rPr>
                  <a:t>Vs</a:t>
                </a:r>
              </mc:Fallback>
            </mc:AlternateContent>
            <a:r>
              <a:rPr lang="en-US" sz="1620" dirty="0">
                <a:solidFill>
                  <a:srgbClr val="2D2D2D"/>
                </a:solidFill>
                <a:latin typeface="Arial" pitchFamily="34" charset="0"/>
                <a:ea typeface="Arial" pitchFamily="34" charset="-122"/>
                <a:cs typeface="Arial" pitchFamily="34" charset="-120"/>
              </a:rPr>
              <a:t> con la profundidad</a:t>
            </a:r>
            <a:endParaRPr lang="en-US" sz="1620" dirty="0"/>
          </a:p>
        </p:txBody>
      </p:sp>
      <p:sp>
        <p:nvSpPr>
          <p:cNvPr id="16" name="Obj [o171]"/>
          <p:cNvSpPr txBox="1"/>
          <p:nvPr/>
        </p:nvSpPr>
        <p:spPr>
          <a:xfrm>
            <a:off x="6975909" y="1561458"/>
            <a:ext cx="1201955" cy="1282085"/>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Crosshole</a:t>
            </a:r>
            <a:endParaRPr lang="en-US" sz="1800" dirty="0"/>
          </a:p>
        </p:txBody>
      </p:sp>
      <p:sp>
        <p:nvSpPr>
          <p:cNvPr id="17" name="Obj [o172]"/>
          <p:cNvSpPr txBox="1"/>
          <p:nvPr/>
        </p:nvSpPr>
        <p:spPr>
          <a:xfrm>
            <a:off x="4732261" y="3003804"/>
            <a:ext cx="3445604" cy="1602606"/>
          </a:xfrm>
          <a:prstGeom prst="rect">
            <a:avLst/>
          </a:prstGeom>
          <a:noFill/>
          <a:ln/>
        </p:spPr>
        <p:txBody>
          <a:bodyPr wrap="square" lIns="0" tIns="0" rIns="0" bIns="0" rtlCol="0" anchor="t"/>
          <a:lstStyle/>
          <a:p>
            <a:pPr marL="342900" indent="-342900">
              <a:spcAft>
                <a:spcPts val="72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V</m:t>
                        </m:r>
                      </m:e>
                      <m:sub>
                        <m:r>
                          <a:rPr lang="es-ES" sz="1620" i="1">
                            <a:solidFill>
                              <a:srgbClr val="2D2D2D"/>
                            </a:solidFill>
                            <a:latin typeface="Cambria Math" panose="02040503050406030204" pitchFamily="18" charset="0"/>
                          </a:rPr>
                          <m:t xml:space="preserve">s</m:t>
                        </m:r>
                      </m:sub>
                    </m:sSub>
                  </m:oMath>
                </a14:m>
              </mc:Choice>
              <mc:Fallback>
                <a:r>
                  <a:rPr lang="en-US" sz="1620" dirty="0">
                    <a:solidFill>
                      <a:srgbClr val="2D2D2D"/>
                    </a:solidFill>
                    <a:latin typeface="Arial" pitchFamily="34" charset="0"/>
                    <a:ea typeface="Arial" pitchFamily="34" charset="-122"/>
                    <a:cs typeface="Arial" pitchFamily="34" charset="-120"/>
                  </a:rPr>
                  <a:t>Vs</a:t>
                </a:r>
              </mc:Fallback>
            </mc:AlternateContent>
            <a:r>
              <a:rPr lang="en-US" sz="1620" dirty="0">
                <a:solidFill>
                  <a:srgbClr val="2D2D2D"/>
                </a:solidFill>
                <a:latin typeface="Arial" pitchFamily="34" charset="0"/>
                <a:ea typeface="Arial" pitchFamily="34" charset="-122"/>
                <a:cs typeface="Arial" pitchFamily="34" charset="-120"/>
              </a:rPr>
              <a:t> de capas individuales a profundidad conocida</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Mejor resolución vertical</a:t>
            </a:r>
            <a:endParaRPr lang="en-US" sz="1620" dirty="0"/>
          </a:p>
        </p:txBody>
      </p:sp>
      <p:sp>
        <p:nvSpPr>
          <p:cNvPr id="18" name="Obj [o17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Crosshole: Foti et al. (2014).</a:t>
            </a:r>
            <a:endParaRPr lang="en-US" sz="800" dirty="0"/>
          </a:p>
        </p:txBody>
      </p:sp>
      <p:sp>
        <p:nvSpPr>
          <p:cNvPr id="19" name="Obj [o17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Limitaciones: exigen perforar y siguen siendo ensayos puntuales</a:t>
            </a:r>
            <a:endParaRPr lang="en-US" sz="1400" dirty="0"/>
          </a:p>
        </p:txBody>
      </p:sp>
      <p:sp>
        <p:nvSpPr>
          <p:cNvPr id="20" name="Obj [o175]"/>
          <p:cNvSpPr txBox="1"/>
          <p:nvPr/>
        </p:nvSpPr>
        <p:spPr>
          <a:xfrm>
            <a:off x="2809133" y="1561458"/>
            <a:ext cx="1602606" cy="1375838"/>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Downhole</a:t>
            </a:r>
            <a:endParaRPr lang="en-US" sz="1800" dirty="0"/>
          </a:p>
        </p:txBody>
      </p:sp>
      <p:sp>
        <p:nvSpPr>
          <p:cNvPr id="21" name="Obj [o176]"/>
          <p:cNvSpPr txBox="1"/>
          <p:nvPr/>
        </p:nvSpPr>
        <p:spPr>
          <a:xfrm>
            <a:off x="966136" y="3097556"/>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Menor resolución vertical</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Requiere perforar y entubar</a:t>
            </a:r>
            <a:endParaRPr lang="en-US" sz="1620" dirty="0"/>
          </a:p>
        </p:txBody>
      </p:sp>
      <p:sp>
        <p:nvSpPr>
          <p:cNvPr id="22" name="Obj [o177]"/>
          <p:cNvSpPr txBox="1"/>
          <p:nvPr/>
        </p:nvSpPr>
        <p:spPr>
          <a:xfrm>
            <a:off x="6975909" y="1561458"/>
            <a:ext cx="1201955" cy="1282085"/>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Crosshole</a:t>
            </a:r>
            <a:endParaRPr lang="en-US" sz="1800" dirty="0"/>
          </a:p>
        </p:txBody>
      </p:sp>
      <p:sp>
        <p:nvSpPr>
          <p:cNvPr id="23" name="Obj [o178]"/>
          <p:cNvSpPr txBox="1"/>
          <p:nvPr/>
        </p:nvSpPr>
        <p:spPr>
          <a:xfrm>
            <a:off x="4732261" y="3003804"/>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Dos o más pozos alineados y verticales</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Costo y tiempo altos</a:t>
            </a:r>
            <a:endParaRPr lang="en-US" sz="1620" dirty="0"/>
          </a:p>
        </p:txBody>
      </p:sp>
      <p:sp>
        <p:nvSpPr>
          <p:cNvPr id="24" name="Obj [o179]"/>
          <p:cNvSpPr txBox="1"/>
          <p:nvPr/>
        </p:nvSpPr>
        <p:spPr>
          <a:xfrm>
            <a:off x="966136" y="4165694"/>
            <a:ext cx="7211728" cy="360586"/>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Dan </a:t>
            </a: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C55A11"/>
                            </a:solidFill>
                            <a:latin typeface="Cambria Math" panose="02040503050406030204" pitchFamily="18" charset="0"/>
                          </a:rPr>
                          <m:t xml:space="preserve">V</m:t>
                        </m:r>
                      </m:e>
                      <m:sub>
                        <m:r>
                          <a:rPr lang="es-ES" sz="1620" i="1">
                            <a:solidFill>
                              <a:srgbClr val="C55A11"/>
                            </a:solidFill>
                            <a:latin typeface="Cambria Math" panose="02040503050406030204" pitchFamily="18" charset="0"/>
                          </a:rPr>
                          <m:t xml:space="preserve">s</m:t>
                        </m:r>
                      </m:sub>
                    </m:sSub>
                  </m:oMath>
                </a14:m>
              </mc:Choice>
              <mc:Fallback>
                <a:r>
                  <a:rPr lang="en-US" sz="1620" b="1" dirty="0">
                    <a:solidFill>
                      <a:srgbClr val="C55A11"/>
                    </a:solidFill>
                    <a:latin typeface="Arial" pitchFamily="34" charset="0"/>
                    <a:ea typeface="Arial" pitchFamily="34" charset="-122"/>
                    <a:cs typeface="Arial" pitchFamily="34" charset="-120"/>
                  </a:rPr>
                  <a:t>Vs</a:t>
                </a:r>
              </mc:Fallback>
            </mc:AlternateContent>
            <a:r>
              <a:rPr lang="en-US" sz="1620" b="1" dirty="0">
                <a:solidFill>
                  <a:srgbClr val="C55A11"/>
                </a:solidFill>
                <a:latin typeface="Arial" pitchFamily="34" charset="0"/>
                <a:ea typeface="Arial" pitchFamily="34" charset="-122"/>
                <a:cs typeface="Arial" pitchFamily="34" charset="-120"/>
              </a:rPr>
              <a:t> de forma directa, pero un punto del sitio por ensayo</a:t>
            </a:r>
            <a:endParaRPr lang="en-US" sz="1620" dirty="0"/>
          </a:p>
        </p:txBody>
      </p:sp>
      <p:sp>
        <p:nvSpPr>
          <p:cNvPr id="25" name="Obj [o18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Crosshole: Foti et al. (2014).</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17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fill="hold" nodeType="withEffect">
                                  <p:stCondLst>
                                    <p:cond delay="4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350"/>
                                        <p:tgtEl>
                                          <p:spTgt spid="3"/>
                                        </p:tgtEl>
                                      </p:cBhvr>
                                    </p:animEffect>
                                    <p:set>
                                      <p:cBhvr>
                                        <p:cTn id="29" dur="1" fill="hold">
                                          <p:stCondLst>
                                            <p:cond delay="349"/>
                                          </p:stCondLst>
                                        </p:cTn>
                                        <p:tgtEl>
                                          <p:spTgt spid="3"/>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5">
                                            <p:txEl>
                                              <p:pRg st="0" end="0"/>
                                            </p:txEl>
                                          </p:spTgt>
                                        </p:tgtEl>
                                      </p:cBhvr>
                                    </p:animEffect>
                                    <p:set>
                                      <p:cBhvr>
                                        <p:cTn id="32" dur="1" fill="hold">
                                          <p:stCondLst>
                                            <p:cond delay="349"/>
                                          </p:stCondLst>
                                        </p:cTn>
                                        <p:tgtEl>
                                          <p:spTgt spid="5">
                                            <p:txEl>
                                              <p:pRg st="0" end="0"/>
                                            </p:txEl>
                                          </p:spTgt>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5">
                                            <p:txEl>
                                              <p:pRg st="1" end="1"/>
                                            </p:txEl>
                                          </p:spTgt>
                                        </p:tgtEl>
                                      </p:cBhvr>
                                    </p:animEffect>
                                    <p:set>
                                      <p:cBhvr>
                                        <p:cTn id="35" dur="1" fill="hold">
                                          <p:stCondLst>
                                            <p:cond delay="349"/>
                                          </p:stCondLst>
                                        </p:cTn>
                                        <p:tgtEl>
                                          <p:spTgt spid="5">
                                            <p:txEl>
                                              <p:pRg st="1" end="1"/>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2" end="2"/>
                                            </p:txEl>
                                          </p:spTgt>
                                        </p:tgtEl>
                                      </p:cBhvr>
                                    </p:animEffect>
                                    <p:set>
                                      <p:cBhvr>
                                        <p:cTn id="38" dur="1" fill="hold">
                                          <p:stCondLst>
                                            <p:cond delay="349"/>
                                          </p:stCondLst>
                                        </p:cTn>
                                        <p:tgtEl>
                                          <p:spTgt spid="5">
                                            <p:txEl>
                                              <p:pRg st="2" end="2"/>
                                            </p:txEl>
                                          </p:spTgt>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0" presetClass="path" presetSubtype="0" accel="50000" decel="50000" fill="hold" nodeType="withEffect">
                                  <p:stCondLst>
                                    <p:cond delay="0"/>
                                  </p:stCondLst>
                                  <p:childTnLst>
                                    <p:animMotion origin="layout" path="M 0 0 L 0.59391 -0.21600 E" pathEditMode="relative" rAng="0" ptsTypes="AA">
                                      <p:cBhvr>
                                        <p:cTn id="43" dur="750" fill="hold"/>
                                        <p:tgtEl>
                                          <p:spTgt spid="4"/>
                                        </p:tgtEl>
                                        <p:attrNameLst>
                                          <p:attrName>ppt_x</p:attrName>
                                          <p:attrName>ppt_y</p:attrName>
                                        </p:attrNameLst>
                                      </p:cBhvr>
                                      <p:rCtr x="29695" y="-10799"/>
                                    </p:animMotion>
                                  </p:childTnLst>
                                </p:cTn>
                              </p:par>
                              <p:par>
                                <p:cTn id="44" presetID="6" presetClass="emph" presetSubtype="0" accel="50000" decel="50000" fill="hold" nodeType="withEffect">
                                  <p:stCondLst>
                                    <p:cond delay="0"/>
                                  </p:stCondLst>
                                  <p:childTnLst>
                                    <p:animScale>
                                      <p:cBhvr>
                                        <p:cTn id="45" dur="750" fill="hold"/>
                                        <p:tgtEl>
                                          <p:spTgt spid="4"/>
                                        </p:tgtEl>
                                      </p:cBhvr>
                                      <p:by x="28529" y="28529"/>
                                    </p:animScale>
                                  </p:childTnLst>
                                </p:cTn>
                              </p:par>
                              <p:par>
                                <p:cTn id="46" presetID="10" presetClass="entr" presetSubtype="0" fill="hold" nodeType="withEffect">
                                  <p:stCondLst>
                                    <p:cond delay="45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450"/>
                                        <p:tgtEl>
                                          <p:spTgt spid="7"/>
                                        </p:tgtEl>
                                      </p:cBhvr>
                                    </p:animEffect>
                                  </p:childTnLst>
                                </p:cTn>
                              </p:par>
                              <p:par>
                                <p:cTn id="49" presetID="53" presetClass="entr" presetSubtype="16" fill="hold" nodeType="withEffect">
                                  <p:stCondLst>
                                    <p:cond delay="520"/>
                                  </p:stCondLst>
                                  <p:childTnLst>
                                    <p:set>
                                      <p:cBhvr>
                                        <p:cTn id="50" dur="1" fill="hold">
                                          <p:stCondLst>
                                            <p:cond delay="0"/>
                                          </p:stCondLst>
                                        </p:cTn>
                                        <p:tgtEl>
                                          <p:spTgt spid="8"/>
                                        </p:tgtEl>
                                        <p:attrNameLst>
                                          <p:attrName>style.visibility</p:attrName>
                                        </p:attrNameLst>
                                      </p:cBhvr>
                                      <p:to>
                                        <p:strVal val="visible"/>
                                      </p:to>
                                    </p:set>
                                    <p:anim calcmode="lin" valueType="num">
                                      <p:cBhvr>
                                        <p:cTn id="51" dur="600" fill="hold"/>
                                        <p:tgtEl>
                                          <p:spTgt spid="8"/>
                                        </p:tgtEl>
                                        <p:attrNameLst>
                                          <p:attrName>ppt_w</p:attrName>
                                        </p:attrNameLst>
                                      </p:cBhvr>
                                      <p:tavLst>
                                        <p:tav tm="0">
                                          <p:val>
                                            <p:fltVal val="0"/>
                                          </p:val>
                                        </p:tav>
                                        <p:tav tm="100000">
                                          <p:val>
                                            <p:strVal val="#ppt_w"/>
                                          </p:val>
                                        </p:tav>
                                      </p:tavLst>
                                    </p:anim>
                                    <p:anim calcmode="lin" valueType="num">
                                      <p:cBhvr>
                                        <p:cTn id="52" dur="600" fill="hold"/>
                                        <p:tgtEl>
                                          <p:spTgt spid="8"/>
                                        </p:tgtEl>
                                        <p:attrNameLst>
                                          <p:attrName>ppt_h</p:attrName>
                                        </p:attrNameLst>
                                      </p:cBhvr>
                                      <p:tavLst>
                                        <p:tav tm="0">
                                          <p:val>
                                            <p:fltVal val="0"/>
                                          </p:val>
                                        </p:tav>
                                        <p:tav tm="100000">
                                          <p:val>
                                            <p:strVal val="#ppt_h"/>
                                          </p:val>
                                        </p:tav>
                                      </p:tavLst>
                                    </p:anim>
                                    <p:animEffect transition="in" filter="fade">
                                      <p:cBhvr>
                                        <p:cTn id="53" dur="600"/>
                                        <p:tgtEl>
                                          <p:spTgt spid="8"/>
                                        </p:tgtEl>
                                      </p:cBhvr>
                                    </p:animEffect>
                                  </p:childTnLst>
                                </p:cTn>
                              </p:par>
                              <p:par>
                                <p:cTn id="54" presetID="10" presetClass="entr" presetSubtype="0" grpId="0" fill="hold" nodeType="withEffect">
                                  <p:stCondLst>
                                    <p:cond delay="590"/>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fade">
                                      <p:cBhvr>
                                        <p:cTn id="56" dur="450"/>
                                        <p:tgtEl>
                                          <p:spTgt spid="9">
                                            <p:txEl>
                                              <p:pRg st="0" end="0"/>
                                            </p:txEl>
                                          </p:spTgt>
                                        </p:tgtEl>
                                      </p:cBhvr>
                                    </p:animEffect>
                                  </p:childTnLst>
                                </p:cTn>
                              </p:par>
                              <p:par>
                                <p:cTn id="57" presetID="10" presetClass="entr" presetSubtype="0" grpId="0" fill="hold" nodeType="withEffect">
                                  <p:stCondLst>
                                    <p:cond delay="970"/>
                                  </p:stCondLst>
                                  <p:childTnLst>
                                    <p:set>
                                      <p:cBhvr>
                                        <p:cTn id="58" dur="1" fill="hold">
                                          <p:stCondLst>
                                            <p:cond delay="0"/>
                                          </p:stCondLst>
                                        </p:cTn>
                                        <p:tgtEl>
                                          <p:spTgt spid="9">
                                            <p:txEl>
                                              <p:pRg st="1" end="1"/>
                                            </p:txEl>
                                          </p:spTgt>
                                        </p:tgtEl>
                                        <p:attrNameLst>
                                          <p:attrName>style.visibility</p:attrName>
                                        </p:attrNameLst>
                                      </p:cBhvr>
                                      <p:to>
                                        <p:strVal val="visible"/>
                                      </p:to>
                                    </p:set>
                                    <p:animEffect transition="in" filter="fade">
                                      <p:cBhvr>
                                        <p:cTn id="59" dur="450"/>
                                        <p:tgtEl>
                                          <p:spTgt spid="9">
                                            <p:txEl>
                                              <p:pRg st="1" end="1"/>
                                            </p:txEl>
                                          </p:spTgt>
                                        </p:tgtEl>
                                      </p:cBhvr>
                                    </p:animEffect>
                                  </p:childTnLst>
                                </p:cTn>
                              </p:par>
                              <p:par>
                                <p:cTn id="60" presetID="10" presetClass="entr" presetSubtype="0" fill="hold" nodeType="withEffect">
                                  <p:stCondLst>
                                    <p:cond delay="66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450"/>
                                        <p:tgtEl>
                                          <p:spTgt spid="10"/>
                                        </p:tgtEl>
                                      </p:cBhvr>
                                    </p:animEffect>
                                  </p:childTnLst>
                                </p:cTn>
                              </p:par>
                              <p:par>
                                <p:cTn id="63" presetID="22" presetClass="entr" presetSubtype="4" fill="hold" nodeType="withEffect">
                                  <p:stCondLst>
                                    <p:cond delay="660"/>
                                  </p:stCondLst>
                                  <p:childTnLst>
                                    <p:set>
                                      <p:cBhvr>
                                        <p:cTn id="64" dur="1" fill="hold">
                                          <p:stCondLst>
                                            <p:cond delay="0"/>
                                          </p:stCondLst>
                                        </p:cTn>
                                        <p:tgtEl>
                                          <p:spTgt spid="11"/>
                                        </p:tgtEl>
                                        <p:attrNameLst>
                                          <p:attrName>style.visibility</p:attrName>
                                        </p:attrNameLst>
                                      </p:cBhvr>
                                      <p:to>
                                        <p:strVal val="visible"/>
                                      </p:to>
                                    </p:set>
                                    <p:animEffect transition="in" filter="wipe(down)">
                                      <p:cBhvr>
                                        <p:cTn id="65" dur="500"/>
                                        <p:tgtEl>
                                          <p:spTgt spid="11"/>
                                        </p:tgtEl>
                                      </p:cBhvr>
                                    </p:animEffect>
                                  </p:childTnLst>
                                </p:cTn>
                              </p:par>
                              <p:par>
                                <p:cTn id="66" presetID="10" presetClass="entr" presetSubtype="0" fill="hold" nodeType="withEffect">
                                  <p:stCondLst>
                                    <p:cond delay="580"/>
                                  </p:stCondLst>
                                  <p:childTnLst>
                                    <p:set>
                                      <p:cBhvr>
                                        <p:cTn id="67" dur="1" fill="hold">
                                          <p:stCondLst>
                                            <p:cond delay="0"/>
                                          </p:stCondLst>
                                        </p:cTn>
                                        <p:tgtEl>
                                          <p:spTgt spid="12"/>
                                        </p:tgtEl>
                                        <p:attrNameLst>
                                          <p:attrName>style.visibility</p:attrName>
                                        </p:attrNameLst>
                                      </p:cBhvr>
                                      <p:to>
                                        <p:strVal val="visible"/>
                                      </p:to>
                                    </p:set>
                                    <p:animEffect transition="in" filter="fade">
                                      <p:cBhvr>
                                        <p:cTn id="68" dur="450"/>
                                        <p:tgtEl>
                                          <p:spTgt spid="1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nodeType="clickEffect">
                                  <p:stCondLst>
                                    <p:cond delay="0"/>
                                  </p:stCondLst>
                                  <p:childTnLst>
                                    <p:animEffect transition="out" filter="fade">
                                      <p:cBhvr>
                                        <p:cTn id="72" dur="350"/>
                                        <p:tgtEl>
                                          <p:spTgt spid="7"/>
                                        </p:tgtEl>
                                      </p:cBhvr>
                                    </p:animEffect>
                                    <p:set>
                                      <p:cBhvr>
                                        <p:cTn id="73" dur="1" fill="hold">
                                          <p:stCondLst>
                                            <p:cond delay="349"/>
                                          </p:stCondLst>
                                        </p:cTn>
                                        <p:tgtEl>
                                          <p:spTgt spid="7"/>
                                        </p:tgtEl>
                                        <p:attrNameLst>
                                          <p:attrName>style.visibility</p:attrName>
                                        </p:attrNameLst>
                                      </p:cBhvr>
                                      <p:to>
                                        <p:strVal val="hidden"/>
                                      </p:to>
                                    </p:set>
                                  </p:childTnLst>
                                </p:cTn>
                              </p:par>
                              <p:par>
                                <p:cTn id="74" presetID="10" presetClass="exit" presetSubtype="0" grpId="0" fill="hold" nodeType="withEffect">
                                  <p:stCondLst>
                                    <p:cond delay="0"/>
                                  </p:stCondLst>
                                  <p:childTnLst>
                                    <p:animEffect transition="out" filter="fade">
                                      <p:cBhvr>
                                        <p:cTn id="75" dur="350"/>
                                        <p:tgtEl>
                                          <p:spTgt spid="9">
                                            <p:txEl>
                                              <p:pRg st="0" end="0"/>
                                            </p:txEl>
                                          </p:spTgt>
                                        </p:tgtEl>
                                      </p:cBhvr>
                                    </p:animEffect>
                                    <p:set>
                                      <p:cBhvr>
                                        <p:cTn id="76" dur="1" fill="hold">
                                          <p:stCondLst>
                                            <p:cond delay="349"/>
                                          </p:stCondLst>
                                        </p:cTn>
                                        <p:tgtEl>
                                          <p:spTgt spid="9">
                                            <p:txEl>
                                              <p:pRg st="0" end="0"/>
                                            </p:txEl>
                                          </p:spTgt>
                                        </p:tgtEl>
                                        <p:attrNameLst>
                                          <p:attrName>style.visibility</p:attrName>
                                        </p:attrNameLst>
                                      </p:cBhvr>
                                      <p:to>
                                        <p:strVal val="hidden"/>
                                      </p:to>
                                    </p:set>
                                  </p:childTnLst>
                                </p:cTn>
                              </p:par>
                              <p:par>
                                <p:cTn id="77" presetID="10" presetClass="exit" presetSubtype="0" grpId="0" fill="hold" nodeType="withEffect">
                                  <p:stCondLst>
                                    <p:cond delay="0"/>
                                  </p:stCondLst>
                                  <p:childTnLst>
                                    <p:animEffect transition="out" filter="fade">
                                      <p:cBhvr>
                                        <p:cTn id="78" dur="350"/>
                                        <p:tgtEl>
                                          <p:spTgt spid="9">
                                            <p:txEl>
                                              <p:pRg st="1" end="1"/>
                                            </p:txEl>
                                          </p:spTgt>
                                        </p:tgtEl>
                                      </p:cBhvr>
                                    </p:animEffect>
                                    <p:set>
                                      <p:cBhvr>
                                        <p:cTn id="79" dur="1" fill="hold">
                                          <p:stCondLst>
                                            <p:cond delay="349"/>
                                          </p:stCondLst>
                                        </p:cTn>
                                        <p:tgtEl>
                                          <p:spTgt spid="9">
                                            <p:txEl>
                                              <p:pRg st="1" end="1"/>
                                            </p:txEl>
                                          </p:spTgt>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350"/>
                                        <p:tgtEl>
                                          <p:spTgt spid="10"/>
                                        </p:tgtEl>
                                      </p:cBhvr>
                                    </p:animEffect>
                                    <p:set>
                                      <p:cBhvr>
                                        <p:cTn id="82" dur="1" fill="hold">
                                          <p:stCondLst>
                                            <p:cond delay="349"/>
                                          </p:stCondLst>
                                        </p:cTn>
                                        <p:tgtEl>
                                          <p:spTgt spid="10"/>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350"/>
                                        <p:tgtEl>
                                          <p:spTgt spid="11"/>
                                        </p:tgtEl>
                                      </p:cBhvr>
                                    </p:animEffect>
                                    <p:set>
                                      <p:cBhvr>
                                        <p:cTn id="85" dur="1" fill="hold">
                                          <p:stCondLst>
                                            <p:cond delay="349"/>
                                          </p:stCondLst>
                                        </p:cTn>
                                        <p:tgtEl>
                                          <p:spTgt spid="11"/>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350"/>
                                        <p:tgtEl>
                                          <p:spTgt spid="12"/>
                                        </p:tgtEl>
                                      </p:cBhvr>
                                    </p:animEffect>
                                    <p:set>
                                      <p:cBhvr>
                                        <p:cTn id="88" dur="1" fill="hold">
                                          <p:stCondLst>
                                            <p:cond delay="349"/>
                                          </p:stCondLst>
                                        </p:cTn>
                                        <p:tgtEl>
                                          <p:spTgt spid="12"/>
                                        </p:tgtEl>
                                        <p:attrNameLst>
                                          <p:attrName>style.visibility</p:attrName>
                                        </p:attrNameLst>
                                      </p:cBhvr>
                                      <p:to>
                                        <p:strVal val="hidden"/>
                                      </p:to>
                                    </p:set>
                                  </p:childTnLst>
                                </p:cTn>
                              </p:par>
                              <p:par>
                                <p:cTn id="89" presetID="0" presetClass="path" presetSubtype="0" accel="50000" decel="50000" fill="hold" nodeType="withEffect">
                                  <p:stCondLst>
                                    <p:cond delay="0"/>
                                  </p:stCondLst>
                                  <p:childTnLst>
                                    <p:animMotion origin="layout" path="M 0 0 L -0.69483 0.06932 E" pathEditMode="relative" rAng="0" ptsTypes="AA">
                                      <p:cBhvr>
                                        <p:cTn id="90" dur="750" fill="hold"/>
                                        <p:tgtEl>
                                          <p:spTgt spid="4"/>
                                        </p:tgtEl>
                                        <p:attrNameLst>
                                          <p:attrName>ppt_x</p:attrName>
                                          <p:attrName>ppt_y</p:attrName>
                                        </p:attrNameLst>
                                      </p:cBhvr>
                                      <p:rCtr x="-34741" y="3466"/>
                                    </p:animMotion>
                                  </p:childTnLst>
                                </p:cTn>
                              </p:par>
                              <p:par>
                                <p:cTn id="91" presetID="6" presetClass="emph" presetSubtype="0" accel="50000" decel="50000" fill="hold" nodeType="withEffect">
                                  <p:stCondLst>
                                    <p:cond delay="0"/>
                                  </p:stCondLst>
                                  <p:childTnLst>
                                    <p:animScale>
                                      <p:cBhvr>
                                        <p:cTn id="92" dur="750" fill="hold"/>
                                        <p:tgtEl>
                                          <p:spTgt spid="4"/>
                                        </p:tgtEl>
                                      </p:cBhvr>
                                      <p:by x="167176" y="167182"/>
                                    </p:animScale>
                                  </p:childTnLst>
                                </p:cTn>
                              </p:par>
                              <p:par>
                                <p:cTn id="93" presetID="0" presetClass="path" presetSubtype="0" accel="50000" decel="50000" fill="hold" nodeType="withEffect">
                                  <p:stCondLst>
                                    <p:cond delay="0"/>
                                  </p:stCondLst>
                                  <p:childTnLst>
                                    <p:animMotion origin="layout" path="M 0 0 L 0.35862 -0.12773 E" pathEditMode="relative" rAng="0" ptsTypes="AA">
                                      <p:cBhvr>
                                        <p:cTn id="94" dur="750" fill="hold"/>
                                        <p:tgtEl>
                                          <p:spTgt spid="8"/>
                                        </p:tgtEl>
                                        <p:attrNameLst>
                                          <p:attrName>ppt_x</p:attrName>
                                          <p:attrName>ppt_y</p:attrName>
                                        </p:attrNameLst>
                                      </p:cBhvr>
                                      <p:rCtr x="17931" y="-6386"/>
                                    </p:animMotion>
                                  </p:childTnLst>
                                </p:cTn>
                              </p:par>
                              <p:par>
                                <p:cTn id="95" presetID="6" presetClass="emph" presetSubtype="0" accel="50000" decel="50000" fill="hold" nodeType="withEffect">
                                  <p:stCondLst>
                                    <p:cond delay="0"/>
                                  </p:stCondLst>
                                  <p:childTnLst>
                                    <p:animScale>
                                      <p:cBhvr>
                                        <p:cTn id="96" dur="750" fill="hold"/>
                                        <p:tgtEl>
                                          <p:spTgt spid="8"/>
                                        </p:tgtEl>
                                      </p:cBhvr>
                                      <p:by x="50742" y="50711"/>
                                    </p:animScale>
                                  </p:childTnLst>
                                </p:cTn>
                              </p:par>
                              <p:par>
                                <p:cTn id="97" presetID="10" presetClass="entr" presetSubtype="0" fill="hold" nodeType="withEffect">
                                  <p:stCondLst>
                                    <p:cond delay="450"/>
                                  </p:stCondLst>
                                  <p:childTnLst>
                                    <p:set>
                                      <p:cBhvr>
                                        <p:cTn id="98" dur="1" fill="hold">
                                          <p:stCondLst>
                                            <p:cond delay="0"/>
                                          </p:stCondLst>
                                        </p:cTn>
                                        <p:tgtEl>
                                          <p:spTgt spid="13"/>
                                        </p:tgtEl>
                                        <p:attrNameLst>
                                          <p:attrName>style.visibility</p:attrName>
                                        </p:attrNameLst>
                                      </p:cBhvr>
                                      <p:to>
                                        <p:strVal val="visible"/>
                                      </p:to>
                                    </p:set>
                                    <p:animEffect transition="in" filter="fade">
                                      <p:cBhvr>
                                        <p:cTn id="99" dur="450"/>
                                        <p:tgtEl>
                                          <p:spTgt spid="13"/>
                                        </p:tgtEl>
                                      </p:cBhvr>
                                    </p:animEffect>
                                  </p:childTnLst>
                                </p:cTn>
                              </p:par>
                              <p:par>
                                <p:cTn id="100" presetID="22" presetClass="entr" presetSubtype="8" fill="hold" nodeType="withEffect">
                                  <p:stCondLst>
                                    <p:cond delay="520"/>
                                  </p:stCondLst>
                                  <p:childTnLst>
                                    <p:set>
                                      <p:cBhvr>
                                        <p:cTn id="101" dur="1" fill="hold">
                                          <p:stCondLst>
                                            <p:cond delay="0"/>
                                          </p:stCondLst>
                                        </p:cTn>
                                        <p:tgtEl>
                                          <p:spTgt spid="14"/>
                                        </p:tgtEl>
                                        <p:attrNameLst>
                                          <p:attrName>style.visibility</p:attrName>
                                        </p:attrNameLst>
                                      </p:cBhvr>
                                      <p:to>
                                        <p:strVal val="visible"/>
                                      </p:to>
                                    </p:set>
                                    <p:animEffect transition="in" filter="wipe(left)">
                                      <p:cBhvr>
                                        <p:cTn id="102" dur="500"/>
                                        <p:tgtEl>
                                          <p:spTgt spid="14"/>
                                        </p:tgtEl>
                                      </p:cBhvr>
                                    </p:animEffect>
                                  </p:childTnLst>
                                </p:cTn>
                              </p:par>
                              <p:par>
                                <p:cTn id="103" presetID="10" presetClass="entr" presetSubtype="0" grpId="0" fill="hold" nodeType="withEffect">
                                  <p:stCondLst>
                                    <p:cond delay="590"/>
                                  </p:stCondLst>
                                  <p:childTnLst>
                                    <p:set>
                                      <p:cBhvr>
                                        <p:cTn id="104" dur="1" fill="hold">
                                          <p:stCondLst>
                                            <p:cond delay="0"/>
                                          </p:stCondLst>
                                        </p:cTn>
                                        <p:tgtEl>
                                          <p:spTgt spid="15">
                                            <p:txEl>
                                              <p:pRg st="0" end="0"/>
                                            </p:txEl>
                                          </p:spTgt>
                                        </p:tgtEl>
                                        <p:attrNameLst>
                                          <p:attrName>style.visibility</p:attrName>
                                        </p:attrNameLst>
                                      </p:cBhvr>
                                      <p:to>
                                        <p:strVal val="visible"/>
                                      </p:to>
                                    </p:set>
                                    <p:animEffect transition="in" filter="fade">
                                      <p:cBhvr>
                                        <p:cTn id="105" dur="450"/>
                                        <p:tgtEl>
                                          <p:spTgt spid="15">
                                            <p:txEl>
                                              <p:pRg st="0" end="0"/>
                                            </p:txEl>
                                          </p:spTgt>
                                        </p:tgtEl>
                                      </p:cBhvr>
                                    </p:animEffect>
                                  </p:childTnLst>
                                </p:cTn>
                              </p:par>
                              <p:par>
                                <p:cTn id="106" presetID="10" presetClass="entr" presetSubtype="0" grpId="0" fill="hold" nodeType="withEffect">
                                  <p:stCondLst>
                                    <p:cond delay="970"/>
                                  </p:stCondLst>
                                  <p:childTnLst>
                                    <p:set>
                                      <p:cBhvr>
                                        <p:cTn id="107" dur="1" fill="hold">
                                          <p:stCondLst>
                                            <p:cond delay="0"/>
                                          </p:stCondLst>
                                        </p:cTn>
                                        <p:tgtEl>
                                          <p:spTgt spid="15">
                                            <p:txEl>
                                              <p:pRg st="1" end="1"/>
                                            </p:txEl>
                                          </p:spTgt>
                                        </p:tgtEl>
                                        <p:attrNameLst>
                                          <p:attrName>style.visibility</p:attrName>
                                        </p:attrNameLst>
                                      </p:cBhvr>
                                      <p:to>
                                        <p:strVal val="visible"/>
                                      </p:to>
                                    </p:set>
                                    <p:animEffect transition="in" filter="fade">
                                      <p:cBhvr>
                                        <p:cTn id="108" dur="450"/>
                                        <p:tgtEl>
                                          <p:spTgt spid="15">
                                            <p:txEl>
                                              <p:pRg st="1" end="1"/>
                                            </p:txEl>
                                          </p:spTgt>
                                        </p:tgtEl>
                                      </p:cBhvr>
                                    </p:animEffect>
                                  </p:childTnLst>
                                </p:cTn>
                              </p:par>
                              <p:par>
                                <p:cTn id="109" presetID="22" presetClass="entr" presetSubtype="8" fill="hold" nodeType="withEffect">
                                  <p:stCondLst>
                                    <p:cond delay="660"/>
                                  </p:stCondLst>
                                  <p:childTnLst>
                                    <p:set>
                                      <p:cBhvr>
                                        <p:cTn id="110" dur="1" fill="hold">
                                          <p:stCondLst>
                                            <p:cond delay="0"/>
                                          </p:stCondLst>
                                        </p:cTn>
                                        <p:tgtEl>
                                          <p:spTgt spid="16"/>
                                        </p:tgtEl>
                                        <p:attrNameLst>
                                          <p:attrName>style.visibility</p:attrName>
                                        </p:attrNameLst>
                                      </p:cBhvr>
                                      <p:to>
                                        <p:strVal val="visible"/>
                                      </p:to>
                                    </p:set>
                                    <p:animEffect transition="in" filter="wipe(left)">
                                      <p:cBhvr>
                                        <p:cTn id="111" dur="500"/>
                                        <p:tgtEl>
                                          <p:spTgt spid="16"/>
                                        </p:tgtEl>
                                      </p:cBhvr>
                                    </p:animEffect>
                                  </p:childTnLst>
                                </p:cTn>
                              </p:par>
                              <p:par>
                                <p:cTn id="112" presetID="10" presetClass="entr" presetSubtype="0" grpId="0" fill="hold" nodeType="withEffect">
                                  <p:stCondLst>
                                    <p:cond delay="730"/>
                                  </p:stCondLst>
                                  <p:childTnLst>
                                    <p:set>
                                      <p:cBhvr>
                                        <p:cTn id="113" dur="1" fill="hold">
                                          <p:stCondLst>
                                            <p:cond delay="0"/>
                                          </p:stCondLst>
                                        </p:cTn>
                                        <p:tgtEl>
                                          <p:spTgt spid="17">
                                            <p:txEl>
                                              <p:pRg st="0" end="0"/>
                                            </p:txEl>
                                          </p:spTgt>
                                        </p:tgtEl>
                                        <p:attrNameLst>
                                          <p:attrName>style.visibility</p:attrName>
                                        </p:attrNameLst>
                                      </p:cBhvr>
                                      <p:to>
                                        <p:strVal val="visible"/>
                                      </p:to>
                                    </p:set>
                                    <p:animEffect transition="in" filter="fade">
                                      <p:cBhvr>
                                        <p:cTn id="114" dur="450"/>
                                        <p:tgtEl>
                                          <p:spTgt spid="17">
                                            <p:txEl>
                                              <p:pRg st="0" end="0"/>
                                            </p:txEl>
                                          </p:spTgt>
                                        </p:tgtEl>
                                      </p:cBhvr>
                                    </p:animEffect>
                                  </p:childTnLst>
                                </p:cTn>
                              </p:par>
                              <p:par>
                                <p:cTn id="115" presetID="10" presetClass="entr" presetSubtype="0" grpId="0" fill="hold" nodeType="withEffect">
                                  <p:stCondLst>
                                    <p:cond delay="1110"/>
                                  </p:stCondLst>
                                  <p:childTnLst>
                                    <p:set>
                                      <p:cBhvr>
                                        <p:cTn id="116" dur="1" fill="hold">
                                          <p:stCondLst>
                                            <p:cond delay="0"/>
                                          </p:stCondLst>
                                        </p:cTn>
                                        <p:tgtEl>
                                          <p:spTgt spid="17">
                                            <p:txEl>
                                              <p:pRg st="1" end="1"/>
                                            </p:txEl>
                                          </p:spTgt>
                                        </p:tgtEl>
                                        <p:attrNameLst>
                                          <p:attrName>style.visibility</p:attrName>
                                        </p:attrNameLst>
                                      </p:cBhvr>
                                      <p:to>
                                        <p:strVal val="visible"/>
                                      </p:to>
                                    </p:set>
                                    <p:animEffect transition="in" filter="fade">
                                      <p:cBhvr>
                                        <p:cTn id="117" dur="450"/>
                                        <p:tgtEl>
                                          <p:spTgt spid="17">
                                            <p:txEl>
                                              <p:pRg st="1" end="1"/>
                                            </p:txEl>
                                          </p:spTgt>
                                        </p:tgtEl>
                                      </p:cBhvr>
                                    </p:animEffect>
                                  </p:childTnLst>
                                </p:cTn>
                              </p:par>
                              <p:par>
                                <p:cTn id="118" presetID="10" presetClass="entr" presetSubtype="0" fill="hold" nodeType="withEffect">
                                  <p:stCondLst>
                                    <p:cond delay="580"/>
                                  </p:stCondLst>
                                  <p:childTnLst>
                                    <p:set>
                                      <p:cBhvr>
                                        <p:cTn id="119" dur="1" fill="hold">
                                          <p:stCondLst>
                                            <p:cond delay="0"/>
                                          </p:stCondLst>
                                        </p:cTn>
                                        <p:tgtEl>
                                          <p:spTgt spid="18"/>
                                        </p:tgtEl>
                                        <p:attrNameLst>
                                          <p:attrName>style.visibility</p:attrName>
                                        </p:attrNameLst>
                                      </p:cBhvr>
                                      <p:to>
                                        <p:strVal val="visible"/>
                                      </p:to>
                                    </p:set>
                                    <p:animEffect transition="in" filter="fade">
                                      <p:cBhvr>
                                        <p:cTn id="120" dur="450"/>
                                        <p:tgtEl>
                                          <p:spTgt spid="18"/>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xit" presetSubtype="0" fill="hold" nodeType="clickEffect">
                                  <p:stCondLst>
                                    <p:cond delay="0"/>
                                  </p:stCondLst>
                                  <p:childTnLst>
                                    <p:animEffect transition="out" filter="fade">
                                      <p:cBhvr>
                                        <p:cTn id="124" dur="350"/>
                                        <p:tgtEl>
                                          <p:spTgt spid="13"/>
                                        </p:tgtEl>
                                      </p:cBhvr>
                                    </p:animEffect>
                                    <p:set>
                                      <p:cBhvr>
                                        <p:cTn id="125" dur="1" fill="hold">
                                          <p:stCondLst>
                                            <p:cond delay="349"/>
                                          </p:stCondLst>
                                        </p:cTn>
                                        <p:tgtEl>
                                          <p:spTgt spid="13"/>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350"/>
                                        <p:tgtEl>
                                          <p:spTgt spid="14"/>
                                        </p:tgtEl>
                                      </p:cBhvr>
                                    </p:animEffect>
                                    <p:set>
                                      <p:cBhvr>
                                        <p:cTn id="128" dur="1" fill="hold">
                                          <p:stCondLst>
                                            <p:cond delay="349"/>
                                          </p:stCondLst>
                                        </p:cTn>
                                        <p:tgtEl>
                                          <p:spTgt spid="14"/>
                                        </p:tgtEl>
                                        <p:attrNameLst>
                                          <p:attrName>style.visibility</p:attrName>
                                        </p:attrNameLst>
                                      </p:cBhvr>
                                      <p:to>
                                        <p:strVal val="hidden"/>
                                      </p:to>
                                    </p:set>
                                  </p:childTnLst>
                                </p:cTn>
                              </p:par>
                              <p:par>
                                <p:cTn id="129" presetID="10" presetClass="exit" presetSubtype="0" grpId="0" fill="hold" nodeType="withEffect">
                                  <p:stCondLst>
                                    <p:cond delay="0"/>
                                  </p:stCondLst>
                                  <p:childTnLst>
                                    <p:animEffect transition="out" filter="fade">
                                      <p:cBhvr>
                                        <p:cTn id="130" dur="350"/>
                                        <p:tgtEl>
                                          <p:spTgt spid="15">
                                            <p:txEl>
                                              <p:pRg st="0" end="0"/>
                                            </p:txEl>
                                          </p:spTgt>
                                        </p:tgtEl>
                                      </p:cBhvr>
                                    </p:animEffect>
                                    <p:set>
                                      <p:cBhvr>
                                        <p:cTn id="131" dur="1" fill="hold">
                                          <p:stCondLst>
                                            <p:cond delay="349"/>
                                          </p:stCondLst>
                                        </p:cTn>
                                        <p:tgtEl>
                                          <p:spTgt spid="15">
                                            <p:txEl>
                                              <p:pRg st="0" end="0"/>
                                            </p:txEl>
                                          </p:spTgt>
                                        </p:tgtEl>
                                        <p:attrNameLst>
                                          <p:attrName>style.visibility</p:attrName>
                                        </p:attrNameLst>
                                      </p:cBhvr>
                                      <p:to>
                                        <p:strVal val="hidden"/>
                                      </p:to>
                                    </p:set>
                                  </p:childTnLst>
                                </p:cTn>
                              </p:par>
                              <p:par>
                                <p:cTn id="132" presetID="10" presetClass="exit" presetSubtype="0" grpId="0" fill="hold" nodeType="withEffect">
                                  <p:stCondLst>
                                    <p:cond delay="0"/>
                                  </p:stCondLst>
                                  <p:childTnLst>
                                    <p:animEffect transition="out" filter="fade">
                                      <p:cBhvr>
                                        <p:cTn id="133" dur="350"/>
                                        <p:tgtEl>
                                          <p:spTgt spid="15">
                                            <p:txEl>
                                              <p:pRg st="1" end="1"/>
                                            </p:txEl>
                                          </p:spTgt>
                                        </p:tgtEl>
                                      </p:cBhvr>
                                    </p:animEffect>
                                    <p:set>
                                      <p:cBhvr>
                                        <p:cTn id="134" dur="1" fill="hold">
                                          <p:stCondLst>
                                            <p:cond delay="349"/>
                                          </p:stCondLst>
                                        </p:cTn>
                                        <p:tgtEl>
                                          <p:spTgt spid="15">
                                            <p:txEl>
                                              <p:pRg st="1" end="1"/>
                                            </p:txEl>
                                          </p:spTgt>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350"/>
                                        <p:tgtEl>
                                          <p:spTgt spid="16"/>
                                        </p:tgtEl>
                                      </p:cBhvr>
                                    </p:animEffect>
                                    <p:set>
                                      <p:cBhvr>
                                        <p:cTn id="137" dur="1" fill="hold">
                                          <p:stCondLst>
                                            <p:cond delay="349"/>
                                          </p:stCondLst>
                                        </p:cTn>
                                        <p:tgtEl>
                                          <p:spTgt spid="16"/>
                                        </p:tgtEl>
                                        <p:attrNameLst>
                                          <p:attrName>style.visibility</p:attrName>
                                        </p:attrNameLst>
                                      </p:cBhvr>
                                      <p:to>
                                        <p:strVal val="hidden"/>
                                      </p:to>
                                    </p:set>
                                  </p:childTnLst>
                                </p:cTn>
                              </p:par>
                              <p:par>
                                <p:cTn id="138" presetID="10" presetClass="exit" presetSubtype="0" grpId="0" fill="hold" nodeType="withEffect">
                                  <p:stCondLst>
                                    <p:cond delay="0"/>
                                  </p:stCondLst>
                                  <p:childTnLst>
                                    <p:animEffect transition="out" filter="fade">
                                      <p:cBhvr>
                                        <p:cTn id="139" dur="350"/>
                                        <p:tgtEl>
                                          <p:spTgt spid="17">
                                            <p:txEl>
                                              <p:pRg st="0" end="0"/>
                                            </p:txEl>
                                          </p:spTgt>
                                        </p:tgtEl>
                                      </p:cBhvr>
                                    </p:animEffect>
                                    <p:set>
                                      <p:cBhvr>
                                        <p:cTn id="140" dur="1" fill="hold">
                                          <p:stCondLst>
                                            <p:cond delay="349"/>
                                          </p:stCondLst>
                                        </p:cTn>
                                        <p:tgtEl>
                                          <p:spTgt spid="17">
                                            <p:txEl>
                                              <p:pRg st="0" end="0"/>
                                            </p:txEl>
                                          </p:spTgt>
                                        </p:tgtEl>
                                        <p:attrNameLst>
                                          <p:attrName>style.visibility</p:attrName>
                                        </p:attrNameLst>
                                      </p:cBhvr>
                                      <p:to>
                                        <p:strVal val="hidden"/>
                                      </p:to>
                                    </p:set>
                                  </p:childTnLst>
                                </p:cTn>
                              </p:par>
                              <p:par>
                                <p:cTn id="141" presetID="10" presetClass="exit" presetSubtype="0" grpId="0" fill="hold" nodeType="withEffect">
                                  <p:stCondLst>
                                    <p:cond delay="0"/>
                                  </p:stCondLst>
                                  <p:childTnLst>
                                    <p:animEffect transition="out" filter="fade">
                                      <p:cBhvr>
                                        <p:cTn id="142" dur="350"/>
                                        <p:tgtEl>
                                          <p:spTgt spid="17">
                                            <p:txEl>
                                              <p:pRg st="1" end="1"/>
                                            </p:txEl>
                                          </p:spTgt>
                                        </p:tgtEl>
                                      </p:cBhvr>
                                    </p:animEffect>
                                    <p:set>
                                      <p:cBhvr>
                                        <p:cTn id="143" dur="1" fill="hold">
                                          <p:stCondLst>
                                            <p:cond delay="349"/>
                                          </p:stCondLst>
                                        </p:cTn>
                                        <p:tgtEl>
                                          <p:spTgt spid="17">
                                            <p:txEl>
                                              <p:pRg st="1" end="1"/>
                                            </p:txEl>
                                          </p:spTgt>
                                        </p:tgtEl>
                                        <p:attrNameLst>
                                          <p:attrName>style.visibility</p:attrName>
                                        </p:attrNameLst>
                                      </p:cBhvr>
                                      <p:to>
                                        <p:strVal val="hidden"/>
                                      </p:to>
                                    </p:set>
                                  </p:childTnLst>
                                </p:cTn>
                              </p:par>
                              <p:par>
                                <p:cTn id="144" presetID="10" presetClass="exit" presetSubtype="0" fill="hold" nodeType="withEffect">
                                  <p:stCondLst>
                                    <p:cond delay="0"/>
                                  </p:stCondLst>
                                  <p:childTnLst>
                                    <p:animEffect transition="out" filter="fade">
                                      <p:cBhvr>
                                        <p:cTn id="145" dur="350"/>
                                        <p:tgtEl>
                                          <p:spTgt spid="18"/>
                                        </p:tgtEl>
                                      </p:cBhvr>
                                    </p:animEffect>
                                    <p:set>
                                      <p:cBhvr>
                                        <p:cTn id="146" dur="1" fill="hold">
                                          <p:stCondLst>
                                            <p:cond delay="349"/>
                                          </p:stCondLst>
                                        </p:cTn>
                                        <p:tgtEl>
                                          <p:spTgt spid="18"/>
                                        </p:tgtEl>
                                        <p:attrNameLst>
                                          <p:attrName>style.visibility</p:attrName>
                                        </p:attrNameLst>
                                      </p:cBhvr>
                                      <p:to>
                                        <p:strVal val="hidden"/>
                                      </p:to>
                                    </p:set>
                                  </p:childTnLst>
                                </p:cTn>
                              </p:par>
                              <p:par>
                                <p:cTn id="147" presetID="10" presetClass="entr" presetSubtype="0" fill="hold" nodeType="withEffect">
                                  <p:stCondLst>
                                    <p:cond delay="450"/>
                                  </p:stCondLst>
                                  <p:childTnLst>
                                    <p:set>
                                      <p:cBhvr>
                                        <p:cTn id="148" dur="1" fill="hold">
                                          <p:stCondLst>
                                            <p:cond delay="0"/>
                                          </p:stCondLst>
                                        </p:cTn>
                                        <p:tgtEl>
                                          <p:spTgt spid="19"/>
                                        </p:tgtEl>
                                        <p:attrNameLst>
                                          <p:attrName>style.visibility</p:attrName>
                                        </p:attrNameLst>
                                      </p:cBhvr>
                                      <p:to>
                                        <p:strVal val="visible"/>
                                      </p:to>
                                    </p:set>
                                    <p:animEffect transition="in" filter="fade">
                                      <p:cBhvr>
                                        <p:cTn id="149" dur="450"/>
                                        <p:tgtEl>
                                          <p:spTgt spid="19"/>
                                        </p:tgtEl>
                                      </p:cBhvr>
                                    </p:animEffect>
                                  </p:childTnLst>
                                </p:cTn>
                              </p:par>
                              <p:par>
                                <p:cTn id="150" presetID="22" presetClass="entr" presetSubtype="4" fill="hold" nodeType="withEffect">
                                  <p:stCondLst>
                                    <p:cond delay="520"/>
                                  </p:stCondLst>
                                  <p:childTnLst>
                                    <p:set>
                                      <p:cBhvr>
                                        <p:cTn id="151" dur="1" fill="hold">
                                          <p:stCondLst>
                                            <p:cond delay="0"/>
                                          </p:stCondLst>
                                        </p:cTn>
                                        <p:tgtEl>
                                          <p:spTgt spid="20"/>
                                        </p:tgtEl>
                                        <p:attrNameLst>
                                          <p:attrName>style.visibility</p:attrName>
                                        </p:attrNameLst>
                                      </p:cBhvr>
                                      <p:to>
                                        <p:strVal val="visible"/>
                                      </p:to>
                                    </p:set>
                                    <p:animEffect transition="in" filter="wipe(down)">
                                      <p:cBhvr>
                                        <p:cTn id="152" dur="500"/>
                                        <p:tgtEl>
                                          <p:spTgt spid="20"/>
                                        </p:tgtEl>
                                      </p:cBhvr>
                                    </p:animEffect>
                                  </p:childTnLst>
                                </p:cTn>
                              </p:par>
                              <p:par>
                                <p:cTn id="153" presetID="10" presetClass="entr" presetSubtype="0" grpId="0" fill="hold" nodeType="withEffect">
                                  <p:stCondLst>
                                    <p:cond delay="590"/>
                                  </p:stCondLst>
                                  <p:childTnLst>
                                    <p:set>
                                      <p:cBhvr>
                                        <p:cTn id="154" dur="1" fill="hold">
                                          <p:stCondLst>
                                            <p:cond delay="0"/>
                                          </p:stCondLst>
                                        </p:cTn>
                                        <p:tgtEl>
                                          <p:spTgt spid="21">
                                            <p:txEl>
                                              <p:pRg st="0" end="0"/>
                                            </p:txEl>
                                          </p:spTgt>
                                        </p:tgtEl>
                                        <p:attrNameLst>
                                          <p:attrName>style.visibility</p:attrName>
                                        </p:attrNameLst>
                                      </p:cBhvr>
                                      <p:to>
                                        <p:strVal val="visible"/>
                                      </p:to>
                                    </p:set>
                                    <p:animEffect transition="in" filter="fade">
                                      <p:cBhvr>
                                        <p:cTn id="155" dur="450"/>
                                        <p:tgtEl>
                                          <p:spTgt spid="21">
                                            <p:txEl>
                                              <p:pRg st="0" end="0"/>
                                            </p:txEl>
                                          </p:spTgt>
                                        </p:tgtEl>
                                      </p:cBhvr>
                                    </p:animEffect>
                                  </p:childTnLst>
                                </p:cTn>
                              </p:par>
                              <p:par>
                                <p:cTn id="156" presetID="10" presetClass="entr" presetSubtype="0" grpId="0" fill="hold" nodeType="withEffect">
                                  <p:stCondLst>
                                    <p:cond delay="970"/>
                                  </p:stCondLst>
                                  <p:childTnLst>
                                    <p:set>
                                      <p:cBhvr>
                                        <p:cTn id="157" dur="1" fill="hold">
                                          <p:stCondLst>
                                            <p:cond delay="0"/>
                                          </p:stCondLst>
                                        </p:cTn>
                                        <p:tgtEl>
                                          <p:spTgt spid="21">
                                            <p:txEl>
                                              <p:pRg st="1" end="1"/>
                                            </p:txEl>
                                          </p:spTgt>
                                        </p:tgtEl>
                                        <p:attrNameLst>
                                          <p:attrName>style.visibility</p:attrName>
                                        </p:attrNameLst>
                                      </p:cBhvr>
                                      <p:to>
                                        <p:strVal val="visible"/>
                                      </p:to>
                                    </p:set>
                                    <p:animEffect transition="in" filter="fade">
                                      <p:cBhvr>
                                        <p:cTn id="158" dur="450"/>
                                        <p:tgtEl>
                                          <p:spTgt spid="21">
                                            <p:txEl>
                                              <p:pRg st="1" end="1"/>
                                            </p:txEl>
                                          </p:spTgt>
                                        </p:tgtEl>
                                      </p:cBhvr>
                                    </p:animEffect>
                                  </p:childTnLst>
                                </p:cTn>
                              </p:par>
                              <p:par>
                                <p:cTn id="159" presetID="22" presetClass="entr" presetSubtype="4" fill="hold" nodeType="withEffect">
                                  <p:stCondLst>
                                    <p:cond delay="660"/>
                                  </p:stCondLst>
                                  <p:childTnLst>
                                    <p:set>
                                      <p:cBhvr>
                                        <p:cTn id="160" dur="1" fill="hold">
                                          <p:stCondLst>
                                            <p:cond delay="0"/>
                                          </p:stCondLst>
                                        </p:cTn>
                                        <p:tgtEl>
                                          <p:spTgt spid="22"/>
                                        </p:tgtEl>
                                        <p:attrNameLst>
                                          <p:attrName>style.visibility</p:attrName>
                                        </p:attrNameLst>
                                      </p:cBhvr>
                                      <p:to>
                                        <p:strVal val="visible"/>
                                      </p:to>
                                    </p:set>
                                    <p:animEffect transition="in" filter="wipe(down)">
                                      <p:cBhvr>
                                        <p:cTn id="161" dur="500"/>
                                        <p:tgtEl>
                                          <p:spTgt spid="22"/>
                                        </p:tgtEl>
                                      </p:cBhvr>
                                    </p:animEffect>
                                  </p:childTnLst>
                                </p:cTn>
                              </p:par>
                              <p:par>
                                <p:cTn id="162" presetID="10" presetClass="entr" presetSubtype="0" grpId="0" fill="hold" nodeType="withEffect">
                                  <p:stCondLst>
                                    <p:cond delay="730"/>
                                  </p:stCondLst>
                                  <p:childTnLst>
                                    <p:set>
                                      <p:cBhvr>
                                        <p:cTn id="163" dur="1" fill="hold">
                                          <p:stCondLst>
                                            <p:cond delay="0"/>
                                          </p:stCondLst>
                                        </p:cTn>
                                        <p:tgtEl>
                                          <p:spTgt spid="23">
                                            <p:txEl>
                                              <p:pRg st="0" end="0"/>
                                            </p:txEl>
                                          </p:spTgt>
                                        </p:tgtEl>
                                        <p:attrNameLst>
                                          <p:attrName>style.visibility</p:attrName>
                                        </p:attrNameLst>
                                      </p:cBhvr>
                                      <p:to>
                                        <p:strVal val="visible"/>
                                      </p:to>
                                    </p:set>
                                    <p:animEffect transition="in" filter="fade">
                                      <p:cBhvr>
                                        <p:cTn id="164" dur="450"/>
                                        <p:tgtEl>
                                          <p:spTgt spid="23">
                                            <p:txEl>
                                              <p:pRg st="0" end="0"/>
                                            </p:txEl>
                                          </p:spTgt>
                                        </p:tgtEl>
                                      </p:cBhvr>
                                    </p:animEffect>
                                  </p:childTnLst>
                                </p:cTn>
                              </p:par>
                              <p:par>
                                <p:cTn id="165" presetID="10" presetClass="entr" presetSubtype="0" grpId="0" fill="hold" nodeType="withEffect">
                                  <p:stCondLst>
                                    <p:cond delay="1110"/>
                                  </p:stCondLst>
                                  <p:childTnLst>
                                    <p:set>
                                      <p:cBhvr>
                                        <p:cTn id="166" dur="1" fill="hold">
                                          <p:stCondLst>
                                            <p:cond delay="0"/>
                                          </p:stCondLst>
                                        </p:cTn>
                                        <p:tgtEl>
                                          <p:spTgt spid="23">
                                            <p:txEl>
                                              <p:pRg st="1" end="1"/>
                                            </p:txEl>
                                          </p:spTgt>
                                        </p:tgtEl>
                                        <p:attrNameLst>
                                          <p:attrName>style.visibility</p:attrName>
                                        </p:attrNameLst>
                                      </p:cBhvr>
                                      <p:to>
                                        <p:strVal val="visible"/>
                                      </p:to>
                                    </p:set>
                                    <p:animEffect transition="in" filter="fade">
                                      <p:cBhvr>
                                        <p:cTn id="167" dur="450"/>
                                        <p:tgtEl>
                                          <p:spTgt spid="23">
                                            <p:txEl>
                                              <p:pRg st="1" end="1"/>
                                            </p:txEl>
                                          </p:spTgt>
                                        </p:tgtEl>
                                      </p:cBhvr>
                                    </p:animEffect>
                                  </p:childTnLst>
                                </p:cTn>
                              </p:par>
                              <p:par>
                                <p:cTn id="168" presetID="22" presetClass="entr" presetSubtype="4" fill="hold" nodeType="withEffect">
                                  <p:stCondLst>
                                    <p:cond delay="800"/>
                                  </p:stCondLst>
                                  <p:childTnLst>
                                    <p:set>
                                      <p:cBhvr>
                                        <p:cTn id="169" dur="1" fill="hold">
                                          <p:stCondLst>
                                            <p:cond delay="0"/>
                                          </p:stCondLst>
                                        </p:cTn>
                                        <p:tgtEl>
                                          <p:spTgt spid="24"/>
                                        </p:tgtEl>
                                        <p:attrNameLst>
                                          <p:attrName>style.visibility</p:attrName>
                                        </p:attrNameLst>
                                      </p:cBhvr>
                                      <p:to>
                                        <p:strVal val="visible"/>
                                      </p:to>
                                    </p:set>
                                    <p:animEffect transition="in" filter="wipe(down)">
                                      <p:cBhvr>
                                        <p:cTn id="170" dur="500"/>
                                        <p:tgtEl>
                                          <p:spTgt spid="24"/>
                                        </p:tgtEl>
                                      </p:cBhvr>
                                    </p:animEffect>
                                  </p:childTnLst>
                                </p:cTn>
                              </p:par>
                              <p:par>
                                <p:cTn id="171" presetID="10" presetClass="entr" presetSubtype="0" fill="hold" nodeType="withEffect">
                                  <p:stCondLst>
                                    <p:cond delay="580"/>
                                  </p:stCondLst>
                                  <p:childTnLst>
                                    <p:set>
                                      <p:cBhvr>
                                        <p:cTn id="172" dur="1" fill="hold">
                                          <p:stCondLst>
                                            <p:cond delay="0"/>
                                          </p:stCondLst>
                                        </p:cTn>
                                        <p:tgtEl>
                                          <p:spTgt spid="25"/>
                                        </p:tgtEl>
                                        <p:attrNameLst>
                                          <p:attrName>style.visibility</p:attrName>
                                        </p:attrNameLst>
                                      </p:cBhvr>
                                      <p:to>
                                        <p:strVal val="visible"/>
                                      </p:to>
                                    </p:set>
                                    <p:animEffect transition="in" filter="fade">
                                      <p:cBhvr>
                                        <p:cTn id="173"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5" grpId="0" build="p"/>
      <p:bldP spid="17" grpId="0" build="p"/>
      <p:bldP spid="21" grpId="0" build="p"/>
      <p:bldP spid="2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Refracción y reflexión: métodos de superficie con condiciones</a:t>
            </a:r>
            <a:endParaRPr lang="en-US" sz="2200" dirty="0"/>
          </a:p>
        </p:txBody>
      </p:sp>
      <p:sp>
        <p:nvSpPr>
          <p:cNvPr id="3" name="Obj [o18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a cierta distancia, la onda refractada llega antes que la directa</a:t>
            </a:r>
            <a:endParaRPr lang="en-US" sz="1400" dirty="0"/>
          </a:p>
        </p:txBody>
      </p:sp>
      <p:pic>
        <p:nvPicPr>
          <p:cNvPr id="4" name="Obj [o182]" descr="Refracción sísmica en dos capas: energía directa, reflejada y refractada (onda de cabeza), con ángulo crítico">    </p:cNvPr>
          <p:cNvPicPr>
            <a:picLocks noChangeAspect="1"/>
          </p:cNvPicPr>
          <p:nvPr/>
        </p:nvPicPr>
        <p:blipFill>
          <a:blip r:embed="rId1"/>
          <a:stretch>
            <a:fillRect/>
          </a:stretch>
        </p:blipFill>
        <p:spPr>
          <a:xfrm>
            <a:off x="966136" y="1601523"/>
            <a:ext cx="4487298" cy="2680584"/>
          </a:xfrm>
          <a:prstGeom prst="rect">
            <a:avLst/>
          </a:prstGeom>
        </p:spPr>
      </p:pic>
      <p:sp>
        <p:nvSpPr>
          <p:cNvPr id="5" name="Obj [o183]"/>
          <p:cNvSpPr txBox="1"/>
          <p:nvPr/>
        </p:nvSpPr>
        <p:spPr>
          <a:xfrm>
            <a:off x="5613694" y="1721719"/>
            <a:ext cx="2564170" cy="2644300"/>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440" dirty="0"/>
          </a:p>
        </p:txBody>
      </p:sp>
      <p:sp>
        <p:nvSpPr>
          <p:cNvPr id="6" name="Obj [o18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USGS (1987), Open-File Report 87-0103-A, recreada y traducida (fuente exacta por confirmar).</a:t>
            </a:r>
            <a:endParaRPr lang="en-US" sz="800" dirty="0"/>
          </a:p>
        </p:txBody>
      </p:sp>
      <p:sp>
        <p:nvSpPr>
          <p:cNvPr id="7" name="Obj [o18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del gráfico de tiempos salen las velocidades y el espesor de la capa</a:t>
            </a:r>
            <a:endParaRPr lang="en-US" sz="1400" dirty="0"/>
          </a:p>
        </p:txBody>
      </p:sp>
      <p:pic>
        <p:nvPicPr>
          <p:cNvPr id="8" name="Obj [o186]" descr="Dromocrónica: rectas de onda directa y refractada con tiempo de intercepto y distancia de cruce">    </p:cNvPr>
          <p:cNvPicPr>
            <a:picLocks noChangeAspect="1"/>
          </p:cNvPicPr>
          <p:nvPr/>
        </p:nvPicPr>
        <p:blipFill>
          <a:blip r:embed="rId2"/>
          <a:stretch>
            <a:fillRect/>
          </a:stretch>
        </p:blipFill>
        <p:spPr>
          <a:xfrm>
            <a:off x="441794" y="1557362"/>
            <a:ext cx="6843091" cy="2603916"/>
          </a:xfrm>
          <a:prstGeom prst="rect">
            <a:avLst/>
          </a:prstGeom>
        </p:spPr>
      </p:pic>
      <p:sp>
        <p:nvSpPr>
          <p:cNvPr id="9" name="Obj [o18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recreación a partir de Wikimedia Commons, «Refraction dia.jpg» (L. Antiga, 2010); fidelidad por confirmar.</a:t>
            </a:r>
            <a:endParaRPr lang="en-US" sz="800" dirty="0"/>
          </a:p>
        </p:txBody>
      </p:sp>
      <p:sp>
        <p:nvSpPr>
          <p:cNvPr id="10" name="Obj [o18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simple y rápida, pero exige que la velocidad crezca con la profundidad</a:t>
            </a:r>
            <a:endParaRPr lang="en-US" sz="1400" dirty="0"/>
          </a:p>
        </p:txBody>
      </p:sp>
      <p:sp>
        <p:nvSpPr>
          <p:cNvPr id="11" name="Obj [o189]"/>
          <p:cNvSpPr/>
          <p:nvPr/>
        </p:nvSpPr>
        <p:spPr>
          <a:xfrm>
            <a:off x="441794" y="1633397"/>
            <a:ext cx="3269477" cy="418189"/>
          </a:xfrm>
          <a:prstGeom prst="rect">
            <a:avLst/>
          </a:prstGeom>
          <a:solidFill>
            <a:srgbClr val="1F4E79"/>
          </a:solidFill>
          <a:ln w="6350">
            <a:solidFill>
              <a:srgbClr val="1F4E79"/>
            </a:solidFill>
            <a:prstDash val="solid"/>
          </a:ln>
        </p:spPr>
      </p:sp>
      <p:sp>
        <p:nvSpPr>
          <p:cNvPr id="12" name="Obj [o190]"/>
          <p:cNvSpPr txBox="1"/>
          <p:nvPr/>
        </p:nvSpPr>
        <p:spPr>
          <a:xfrm>
            <a:off x="441794"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Ventajas</a:t>
            </a:r>
            <a:endParaRPr lang="en-US" sz="1726" dirty="0"/>
          </a:p>
        </p:txBody>
      </p:sp>
      <p:sp>
        <p:nvSpPr>
          <p:cNvPr id="13" name="Obj [o191]"/>
          <p:cNvSpPr/>
          <p:nvPr/>
        </p:nvSpPr>
        <p:spPr>
          <a:xfrm>
            <a:off x="441794" y="2051586"/>
            <a:ext cx="3269477" cy="2090945"/>
          </a:xfrm>
          <a:prstGeom prst="rect">
            <a:avLst/>
          </a:prstGeom>
          <a:solidFill>
            <a:srgbClr val="FFFFFF"/>
          </a:solidFill>
          <a:ln w="15840">
            <a:solidFill>
              <a:srgbClr val="1F4E79"/>
            </a:solidFill>
            <a:prstDash val="solid"/>
          </a:ln>
        </p:spPr>
      </p:sp>
      <p:sp>
        <p:nvSpPr>
          <p:cNvPr id="14" name="Obj [o192]"/>
          <p:cNvSpPr txBox="1"/>
          <p:nvPr/>
        </p:nvSpPr>
        <p:spPr>
          <a:xfrm>
            <a:off x="593863"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Equipo y procesamiento simples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Rápida de ejecutar en campo</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Da velocidades y espesores de capa</a:t>
            </a:r>
            <a:endParaRPr lang="en-US" sz="1553" dirty="0"/>
          </a:p>
        </p:txBody>
      </p:sp>
      <p:sp>
        <p:nvSpPr>
          <p:cNvPr id="15" name="Obj [o193]"/>
          <p:cNvSpPr/>
          <p:nvPr/>
        </p:nvSpPr>
        <p:spPr>
          <a:xfrm>
            <a:off x="4015409" y="1633397"/>
            <a:ext cx="3269477" cy="418189"/>
          </a:xfrm>
          <a:prstGeom prst="rect">
            <a:avLst/>
          </a:prstGeom>
          <a:solidFill>
            <a:srgbClr val="C55A11"/>
          </a:solidFill>
          <a:ln w="6350">
            <a:solidFill>
              <a:srgbClr val="C55A11"/>
            </a:solidFill>
            <a:prstDash val="solid"/>
          </a:ln>
        </p:spPr>
      </p:sp>
      <p:sp>
        <p:nvSpPr>
          <p:cNvPr id="16" name="Obj [o194]"/>
          <p:cNvSpPr txBox="1"/>
          <p:nvPr/>
        </p:nvSpPr>
        <p:spPr>
          <a:xfrm>
            <a:off x="4015409"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Limitaciones</a:t>
            </a:r>
            <a:endParaRPr lang="en-US" sz="1726" dirty="0"/>
          </a:p>
        </p:txBody>
      </p:sp>
      <p:sp>
        <p:nvSpPr>
          <p:cNvPr id="17" name="Obj [o195]"/>
          <p:cNvSpPr/>
          <p:nvPr/>
        </p:nvSpPr>
        <p:spPr>
          <a:xfrm>
            <a:off x="4015409" y="2051586"/>
            <a:ext cx="3269477" cy="2090945"/>
          </a:xfrm>
          <a:prstGeom prst="rect">
            <a:avLst/>
          </a:prstGeom>
          <a:solidFill>
            <a:srgbClr val="FFFFFF"/>
          </a:solidFill>
          <a:ln w="15840">
            <a:solidFill>
              <a:srgbClr val="C55A11"/>
            </a:solidFill>
            <a:prstDash val="solid"/>
          </a:ln>
        </p:spPr>
      </p:sp>
      <p:sp>
        <p:nvSpPr>
          <p:cNvPr id="18" name="Obj [o196]"/>
          <p:cNvSpPr txBox="1"/>
          <p:nvPr/>
        </p:nvSpPr>
        <p:spPr>
          <a:xfrm>
            <a:off x="4167477"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La velocidad debe aumentar con la profundidad</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Una capa blanda bajo otra rápida queda oculta</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Capas delgadas pueden no verse</a:t>
            </a:r>
            <a:endParaRPr lang="en-US" sz="1553" dirty="0"/>
          </a:p>
        </p:txBody>
      </p:sp>
      <p:sp>
        <p:nvSpPr>
          <p:cNvPr id="19" name="Obj [o19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1 (a confirmar).</a:t>
            </a:r>
            <a:endParaRPr lang="en-US" sz="800" dirty="0"/>
          </a:p>
        </p:txBody>
      </p:sp>
      <p:sp>
        <p:nvSpPr>
          <p:cNvPr id="20" name="Obj [o19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Reflexión: se registra el tiempo de ida y vuelta de la energía reflejada</a:t>
            </a:r>
            <a:endParaRPr lang="en-US" sz="1400" dirty="0"/>
          </a:p>
        </p:txBody>
      </p:sp>
      <p:pic>
        <p:nvPicPr>
          <p:cNvPr id="21" name="Obj [o199]" descr="Reflexión sísmica: rayos desde la fuente hasta cada interfaz y de vuelta al geófono, con la traza registrada">    </p:cNvPr>
          <p:cNvPicPr>
            <a:picLocks noChangeAspect="1"/>
          </p:cNvPicPr>
          <p:nvPr/>
        </p:nvPicPr>
        <p:blipFill>
          <a:blip r:embed="rId3"/>
          <a:stretch>
            <a:fillRect/>
          </a:stretch>
        </p:blipFill>
        <p:spPr>
          <a:xfrm>
            <a:off x="441794" y="1557362"/>
            <a:ext cx="3801717" cy="2664133"/>
          </a:xfrm>
          <a:prstGeom prst="rect">
            <a:avLst/>
          </a:prstGeom>
        </p:spPr>
      </p:pic>
      <p:sp>
        <p:nvSpPr>
          <p:cNvPr id="22" name="Obj [o200]"/>
          <p:cNvSpPr txBox="1"/>
          <p:nvPr/>
        </p:nvSpPr>
        <p:spPr>
          <a:xfrm>
            <a:off x="4471615" y="1633397"/>
            <a:ext cx="2813271" cy="2585168"/>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La energía se refleja en cada interfaz</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Cada geófono registra una traza</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El tiempo depende de la profundidad y de la velocidad</a:t>
            </a:r>
            <a:endParaRPr lang="en-US" sz="1553" dirty="0"/>
          </a:p>
        </p:txBody>
      </p:sp>
      <p:sp>
        <p:nvSpPr>
          <p:cNvPr id="23" name="Obj [o20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«Basics of Seismic Reflection» (CC BY-SA 4.0), traducida.</a:t>
            </a:r>
            <a:endParaRPr lang="en-US" sz="800" dirty="0"/>
          </a:p>
        </p:txBody>
      </p:sp>
      <p:sp>
        <p:nvSpPr>
          <p:cNvPr id="24" name="Obj [o20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Reflexión: alcanza más profundidad, pero rinde poco en los primeros metros</a:t>
            </a:r>
            <a:endParaRPr lang="en-US" sz="1400" dirty="0"/>
          </a:p>
        </p:txBody>
      </p:sp>
      <p:sp>
        <p:nvSpPr>
          <p:cNvPr id="25" name="Obj [o203]"/>
          <p:cNvSpPr/>
          <p:nvPr/>
        </p:nvSpPr>
        <p:spPr>
          <a:xfrm>
            <a:off x="441794" y="1633397"/>
            <a:ext cx="3269477" cy="418189"/>
          </a:xfrm>
          <a:prstGeom prst="rect">
            <a:avLst/>
          </a:prstGeom>
          <a:solidFill>
            <a:srgbClr val="1F4E79"/>
          </a:solidFill>
          <a:ln w="6350">
            <a:solidFill>
              <a:srgbClr val="1F4E79"/>
            </a:solidFill>
            <a:prstDash val="solid"/>
          </a:ln>
        </p:spPr>
      </p:sp>
      <p:sp>
        <p:nvSpPr>
          <p:cNvPr id="26" name="Obj [o204]"/>
          <p:cNvSpPr txBox="1"/>
          <p:nvPr/>
        </p:nvSpPr>
        <p:spPr>
          <a:xfrm>
            <a:off x="441794"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Ventajas</a:t>
            </a:r>
            <a:endParaRPr lang="en-US" sz="1726" dirty="0"/>
          </a:p>
        </p:txBody>
      </p:sp>
      <p:sp>
        <p:nvSpPr>
          <p:cNvPr id="27" name="Obj [o205]"/>
          <p:cNvSpPr/>
          <p:nvPr/>
        </p:nvSpPr>
        <p:spPr>
          <a:xfrm>
            <a:off x="441794" y="2051586"/>
            <a:ext cx="3269477" cy="2090945"/>
          </a:xfrm>
          <a:prstGeom prst="rect">
            <a:avLst/>
          </a:prstGeom>
          <a:solidFill>
            <a:srgbClr val="FFFFFF"/>
          </a:solidFill>
          <a:ln w="15840">
            <a:solidFill>
              <a:srgbClr val="1F4E79"/>
            </a:solidFill>
            <a:prstDash val="solid"/>
          </a:ln>
        </p:spPr>
      </p:sp>
      <p:sp>
        <p:nvSpPr>
          <p:cNvPr id="28" name="Obj [o206]"/>
          <p:cNvSpPr txBox="1"/>
          <p:nvPr/>
        </p:nvSpPr>
        <p:spPr>
          <a:xfrm>
            <a:off x="593863"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Alcanza mayores profundidades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Buena imagen de la estructura</a:t>
            </a:r>
            <a:endParaRPr lang="en-US" sz="1553" dirty="0"/>
          </a:p>
        </p:txBody>
      </p:sp>
      <p:sp>
        <p:nvSpPr>
          <p:cNvPr id="29" name="Obj [o207]"/>
          <p:cNvSpPr/>
          <p:nvPr/>
        </p:nvSpPr>
        <p:spPr>
          <a:xfrm>
            <a:off x="4015409" y="1633397"/>
            <a:ext cx="3269477" cy="418189"/>
          </a:xfrm>
          <a:prstGeom prst="rect">
            <a:avLst/>
          </a:prstGeom>
          <a:solidFill>
            <a:srgbClr val="C55A11"/>
          </a:solidFill>
          <a:ln w="6350">
            <a:solidFill>
              <a:srgbClr val="C55A11"/>
            </a:solidFill>
            <a:prstDash val="solid"/>
          </a:ln>
        </p:spPr>
      </p:sp>
      <p:sp>
        <p:nvSpPr>
          <p:cNvPr id="30" name="Obj [o208]"/>
          <p:cNvSpPr txBox="1"/>
          <p:nvPr/>
        </p:nvSpPr>
        <p:spPr>
          <a:xfrm>
            <a:off x="4015409"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Limitaciones</a:t>
            </a:r>
            <a:endParaRPr lang="en-US" sz="1726" dirty="0"/>
          </a:p>
        </p:txBody>
      </p:sp>
      <p:sp>
        <p:nvSpPr>
          <p:cNvPr id="31" name="Obj [o209]"/>
          <p:cNvSpPr/>
          <p:nvPr/>
        </p:nvSpPr>
        <p:spPr>
          <a:xfrm>
            <a:off x="4015409" y="2051586"/>
            <a:ext cx="3269477" cy="2090945"/>
          </a:xfrm>
          <a:prstGeom prst="rect">
            <a:avLst/>
          </a:prstGeom>
          <a:solidFill>
            <a:srgbClr val="FFFFFF"/>
          </a:solidFill>
          <a:ln w="15840">
            <a:solidFill>
              <a:srgbClr val="C55A11"/>
            </a:solidFill>
            <a:prstDash val="solid"/>
          </a:ln>
        </p:spPr>
      </p:sp>
      <p:sp>
        <p:nvSpPr>
          <p:cNvPr id="32" name="Obj [o210]"/>
          <p:cNvSpPr txBox="1"/>
          <p:nvPr/>
        </p:nvSpPr>
        <p:spPr>
          <a:xfrm>
            <a:off x="4167477"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Poca resolución en los primeros metros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Exige fuentes de alta frecuencia y más procesamiento</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Interfieren las ondas directas y superficiales</a:t>
            </a:r>
            <a:endParaRPr lang="en-US" sz="1553" dirty="0"/>
          </a:p>
        </p:txBody>
      </p:sp>
      <p:sp>
        <p:nvSpPr>
          <p:cNvPr id="33" name="Obj [o21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1 (a confirmar).</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fill="hold" nodeType="withEffect">
                                  <p:stCondLst>
                                    <p:cond delay="4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5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350"/>
                                        <p:tgtEl>
                                          <p:spTgt spid="3"/>
                                        </p:tgtEl>
                                      </p:cBhvr>
                                    </p:animEffect>
                                    <p:set>
                                      <p:cBhvr>
                                        <p:cTn id="26" dur="1" fill="hold">
                                          <p:stCondLst>
                                            <p:cond delay="349"/>
                                          </p:stCondLst>
                                        </p:cTn>
                                        <p:tgtEl>
                                          <p:spTgt spid="3"/>
                                        </p:tgtEl>
                                        <p:attrNameLst>
                                          <p:attrName>style.visibility</p:attrName>
                                        </p:attrNameLst>
                                      </p:cBhvr>
                                      <p:to>
                                        <p:strVal val="hidden"/>
                                      </p:to>
                                    </p:set>
                                  </p:childTnLst>
                                </p:cTn>
                              </p:par>
                              <p:par>
                                <p:cTn id="27" presetID="10" presetClass="exit" presetSubtype="0" grpId="0" fill="hold" nodeType="withEffect">
                                  <p:stCondLst>
                                    <p:cond delay="0"/>
                                  </p:stCondLst>
                                  <p:childTnLst>
                                    <p:animEffect transition="out" filter="fade">
                                      <p:cBhvr>
                                        <p:cTn id="28" dur="350"/>
                                        <p:tgtEl>
                                          <p:spTgt spid="5">
                                            <p:txEl>
                                              <p:pRg st="0" end="0"/>
                                            </p:txEl>
                                          </p:spTgt>
                                        </p:tgtEl>
                                      </p:cBhvr>
                                    </p:animEffect>
                                    <p:set>
                                      <p:cBhvr>
                                        <p:cTn id="29" dur="1" fill="hold">
                                          <p:stCondLst>
                                            <p:cond delay="349"/>
                                          </p:stCondLst>
                                        </p:cTn>
                                        <p:tgtEl>
                                          <p:spTgt spid="5">
                                            <p:txEl>
                                              <p:pRg st="0" end="0"/>
                                            </p:txEl>
                                          </p:spTgt>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5">
                                            <p:txEl>
                                              <p:pRg st="1" end="1"/>
                                            </p:txEl>
                                          </p:spTgt>
                                        </p:tgtEl>
                                      </p:cBhvr>
                                    </p:animEffect>
                                    <p:set>
                                      <p:cBhvr>
                                        <p:cTn id="32" dur="1" fill="hold">
                                          <p:stCondLst>
                                            <p:cond delay="349"/>
                                          </p:stCondLst>
                                        </p:cTn>
                                        <p:tgtEl>
                                          <p:spTgt spid="5">
                                            <p:txEl>
                                              <p:pRg st="1" end="1"/>
                                            </p:txEl>
                                          </p:spTgt>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350"/>
                                        <p:tgtEl>
                                          <p:spTgt spid="6"/>
                                        </p:tgtEl>
                                      </p:cBhvr>
                                    </p:animEffect>
                                    <p:set>
                                      <p:cBhvr>
                                        <p:cTn id="35" dur="1" fill="hold">
                                          <p:stCondLst>
                                            <p:cond delay="349"/>
                                          </p:stCondLst>
                                        </p:cTn>
                                        <p:tgtEl>
                                          <p:spTgt spid="6"/>
                                        </p:tgtEl>
                                        <p:attrNameLst>
                                          <p:attrName>style.visibility</p:attrName>
                                        </p:attrNameLst>
                                      </p:cBhvr>
                                      <p:to>
                                        <p:strVal val="hidden"/>
                                      </p:to>
                                    </p:set>
                                  </p:childTnLst>
                                </p:cTn>
                              </p:par>
                              <p:par>
                                <p:cTn id="36" presetID="0" presetClass="path" presetSubtype="0" accel="50000" decel="50000" fill="hold" nodeType="withEffect">
                                  <p:stCondLst>
                                    <p:cond delay="0"/>
                                  </p:stCondLst>
                                  <p:childTnLst>
                                    <p:animMotion origin="layout" path="M 0 0 L 0.54147 -0.20395 E" pathEditMode="relative" rAng="0" ptsTypes="AA">
                                      <p:cBhvr>
                                        <p:cTn id="37" dur="750" fill="hold"/>
                                        <p:tgtEl>
                                          <p:spTgt spid="4"/>
                                        </p:tgtEl>
                                        <p:attrNameLst>
                                          <p:attrName>ppt_x</p:attrName>
                                          <p:attrName>ppt_y</p:attrName>
                                        </p:attrNameLst>
                                      </p:cBhvr>
                                      <p:rCtr x="27073" y="-10197"/>
                                    </p:animMotion>
                                  </p:childTnLst>
                                </p:cTn>
                              </p:par>
                              <p:par>
                                <p:cTn id="38" presetID="6" presetClass="emph" presetSubtype="0" accel="50000" decel="50000" fill="hold" nodeType="withEffect">
                                  <p:stCondLst>
                                    <p:cond delay="0"/>
                                  </p:stCondLst>
                                  <p:childTnLst>
                                    <p:animScale>
                                      <p:cBhvr>
                                        <p:cTn id="39" dur="750" fill="hold"/>
                                        <p:tgtEl>
                                          <p:spTgt spid="4"/>
                                        </p:tgtEl>
                                      </p:cBhvr>
                                      <p:by x="27510" y="27510"/>
                                    </p:animScale>
                                  </p:childTnLst>
                                </p:cTn>
                              </p:par>
                              <p:par>
                                <p:cTn id="40" presetID="10" presetClass="entr" presetSubtype="0" fill="hold" nodeType="withEffect">
                                  <p:stCondLst>
                                    <p:cond delay="4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450"/>
                                        <p:tgtEl>
                                          <p:spTgt spid="7"/>
                                        </p:tgtEl>
                                      </p:cBhvr>
                                    </p:animEffect>
                                  </p:childTnLst>
                                </p:cTn>
                              </p:par>
                              <p:par>
                                <p:cTn id="43" presetID="53" presetClass="entr" presetSubtype="16" fill="hold" nodeType="withEffect">
                                  <p:stCondLst>
                                    <p:cond delay="520"/>
                                  </p:stCondLst>
                                  <p:childTnLst>
                                    <p:set>
                                      <p:cBhvr>
                                        <p:cTn id="44" dur="1" fill="hold">
                                          <p:stCondLst>
                                            <p:cond delay="0"/>
                                          </p:stCondLst>
                                        </p:cTn>
                                        <p:tgtEl>
                                          <p:spTgt spid="8"/>
                                        </p:tgtEl>
                                        <p:attrNameLst>
                                          <p:attrName>style.visibility</p:attrName>
                                        </p:attrNameLst>
                                      </p:cBhvr>
                                      <p:to>
                                        <p:strVal val="visible"/>
                                      </p:to>
                                    </p:set>
                                    <p:anim calcmode="lin" valueType="num">
                                      <p:cBhvr>
                                        <p:cTn id="45" dur="600" fill="hold"/>
                                        <p:tgtEl>
                                          <p:spTgt spid="8"/>
                                        </p:tgtEl>
                                        <p:attrNameLst>
                                          <p:attrName>ppt_w</p:attrName>
                                        </p:attrNameLst>
                                      </p:cBhvr>
                                      <p:tavLst>
                                        <p:tav tm="0">
                                          <p:val>
                                            <p:fltVal val="0"/>
                                          </p:val>
                                        </p:tav>
                                        <p:tav tm="100000">
                                          <p:val>
                                            <p:strVal val="#ppt_w"/>
                                          </p:val>
                                        </p:tav>
                                      </p:tavLst>
                                    </p:anim>
                                    <p:anim calcmode="lin" valueType="num">
                                      <p:cBhvr>
                                        <p:cTn id="46" dur="600" fill="hold"/>
                                        <p:tgtEl>
                                          <p:spTgt spid="8"/>
                                        </p:tgtEl>
                                        <p:attrNameLst>
                                          <p:attrName>ppt_h</p:attrName>
                                        </p:attrNameLst>
                                      </p:cBhvr>
                                      <p:tavLst>
                                        <p:tav tm="0">
                                          <p:val>
                                            <p:fltVal val="0"/>
                                          </p:val>
                                        </p:tav>
                                        <p:tav tm="100000">
                                          <p:val>
                                            <p:strVal val="#ppt_h"/>
                                          </p:val>
                                        </p:tav>
                                      </p:tavLst>
                                    </p:anim>
                                    <p:animEffect transition="in" filter="fade">
                                      <p:cBhvr>
                                        <p:cTn id="47" dur="600"/>
                                        <p:tgtEl>
                                          <p:spTgt spid="8"/>
                                        </p:tgtEl>
                                      </p:cBhvr>
                                    </p:animEffect>
                                  </p:childTnLst>
                                </p:cTn>
                              </p:par>
                              <p:par>
                                <p:cTn id="48" presetID="10" presetClass="entr" presetSubtype="0" fill="hold" nodeType="withEffect">
                                  <p:stCondLst>
                                    <p:cond delay="58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45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nodeType="clickEffect">
                                  <p:stCondLst>
                                    <p:cond delay="0"/>
                                  </p:stCondLst>
                                  <p:childTnLst>
                                    <p:animEffect transition="out" filter="fade">
                                      <p:cBhvr>
                                        <p:cTn id="54" dur="350"/>
                                        <p:tgtEl>
                                          <p:spTgt spid="7"/>
                                        </p:tgtEl>
                                      </p:cBhvr>
                                    </p:animEffect>
                                    <p:set>
                                      <p:cBhvr>
                                        <p:cTn id="55" dur="1" fill="hold">
                                          <p:stCondLst>
                                            <p:cond delay="349"/>
                                          </p:stCondLst>
                                        </p:cTn>
                                        <p:tgtEl>
                                          <p:spTgt spid="7"/>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350"/>
                                        <p:tgtEl>
                                          <p:spTgt spid="9"/>
                                        </p:tgtEl>
                                      </p:cBhvr>
                                    </p:animEffect>
                                    <p:set>
                                      <p:cBhvr>
                                        <p:cTn id="58" dur="1" fill="hold">
                                          <p:stCondLst>
                                            <p:cond delay="349"/>
                                          </p:stCondLst>
                                        </p:cTn>
                                        <p:tgtEl>
                                          <p:spTgt spid="9"/>
                                        </p:tgtEl>
                                        <p:attrNameLst>
                                          <p:attrName>style.visibility</p:attrName>
                                        </p:attrNameLst>
                                      </p:cBhvr>
                                      <p:to>
                                        <p:strVal val="hidden"/>
                                      </p:to>
                                    </p:set>
                                  </p:childTnLst>
                                </p:cTn>
                              </p:par>
                              <p:par>
                                <p:cTn id="59" presetID="0" presetClass="path" presetSubtype="0" accel="50000" decel="50000" fill="hold" nodeType="withEffect">
                                  <p:stCondLst>
                                    <p:cond delay="0"/>
                                  </p:stCondLst>
                                  <p:childTnLst>
                                    <p:animMotion origin="layout" path="M 0 0 L 0.47000 0.00765 E" pathEditMode="relative" rAng="0" ptsTypes="AA">
                                      <p:cBhvr>
                                        <p:cTn id="60" dur="750" fill="hold"/>
                                        <p:tgtEl>
                                          <p:spTgt spid="8"/>
                                        </p:tgtEl>
                                        <p:attrNameLst>
                                          <p:attrName>ppt_x</p:attrName>
                                          <p:attrName>ppt_y</p:attrName>
                                        </p:attrNameLst>
                                      </p:cBhvr>
                                      <p:rCtr x="23500" y="382"/>
                                    </p:animMotion>
                                  </p:childTnLst>
                                </p:cTn>
                              </p:par>
                              <p:par>
                                <p:cTn id="61" presetID="6" presetClass="emph" presetSubtype="0" accel="50000" decel="50000" fill="hold" nodeType="withEffect">
                                  <p:stCondLst>
                                    <p:cond delay="0"/>
                                  </p:stCondLst>
                                  <p:childTnLst>
                                    <p:animScale>
                                      <p:cBhvr>
                                        <p:cTn id="62" dur="750" fill="hold"/>
                                        <p:tgtEl>
                                          <p:spTgt spid="8"/>
                                        </p:tgtEl>
                                      </p:cBhvr>
                                      <p:by x="18039" y="18039"/>
                                    </p:animScale>
                                  </p:childTnLst>
                                </p:cTn>
                              </p:par>
                              <p:par>
                                <p:cTn id="63" presetID="10" presetClass="entr" presetSubtype="0" fill="hold" nodeType="withEffect">
                                  <p:stCondLst>
                                    <p:cond delay="45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450"/>
                                        <p:tgtEl>
                                          <p:spTgt spid="10"/>
                                        </p:tgtEl>
                                      </p:cBhvr>
                                    </p:animEffect>
                                  </p:childTnLst>
                                </p:cTn>
                              </p:par>
                              <p:par>
                                <p:cTn id="66" presetID="10" presetClass="entr" presetSubtype="0" fill="hold" nodeType="withEffect">
                                  <p:stCondLst>
                                    <p:cond delay="52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450"/>
                                        <p:tgtEl>
                                          <p:spTgt spid="11"/>
                                        </p:tgtEl>
                                      </p:cBhvr>
                                    </p:animEffect>
                                  </p:childTnLst>
                                </p:cTn>
                              </p:par>
                              <p:par>
                                <p:cTn id="69" presetID="22" presetClass="entr" presetSubtype="8" fill="hold" nodeType="withEffect">
                                  <p:stCondLst>
                                    <p:cond delay="520"/>
                                  </p:stCondLst>
                                  <p:childTnLst>
                                    <p:set>
                                      <p:cBhvr>
                                        <p:cTn id="70" dur="1" fill="hold">
                                          <p:stCondLst>
                                            <p:cond delay="0"/>
                                          </p:stCondLst>
                                        </p:cTn>
                                        <p:tgtEl>
                                          <p:spTgt spid="12"/>
                                        </p:tgtEl>
                                        <p:attrNameLst>
                                          <p:attrName>style.visibility</p:attrName>
                                        </p:attrNameLst>
                                      </p:cBhvr>
                                      <p:to>
                                        <p:strVal val="visible"/>
                                      </p:to>
                                    </p:set>
                                    <p:animEffect transition="in" filter="wipe(left)">
                                      <p:cBhvr>
                                        <p:cTn id="71" dur="500"/>
                                        <p:tgtEl>
                                          <p:spTgt spid="12"/>
                                        </p:tgtEl>
                                      </p:cBhvr>
                                    </p:animEffect>
                                  </p:childTnLst>
                                </p:cTn>
                              </p:par>
                              <p:par>
                                <p:cTn id="72" presetID="10" presetClass="entr" presetSubtype="0" fill="hold" nodeType="withEffect">
                                  <p:stCondLst>
                                    <p:cond delay="590"/>
                                  </p:stCondLst>
                                  <p:childTnLst>
                                    <p:set>
                                      <p:cBhvr>
                                        <p:cTn id="73" dur="1" fill="hold">
                                          <p:stCondLst>
                                            <p:cond delay="0"/>
                                          </p:stCondLst>
                                        </p:cTn>
                                        <p:tgtEl>
                                          <p:spTgt spid="13"/>
                                        </p:tgtEl>
                                        <p:attrNameLst>
                                          <p:attrName>style.visibility</p:attrName>
                                        </p:attrNameLst>
                                      </p:cBhvr>
                                      <p:to>
                                        <p:strVal val="visible"/>
                                      </p:to>
                                    </p:set>
                                    <p:animEffect transition="in" filter="fade">
                                      <p:cBhvr>
                                        <p:cTn id="74" dur="450"/>
                                        <p:tgtEl>
                                          <p:spTgt spid="13"/>
                                        </p:tgtEl>
                                      </p:cBhvr>
                                    </p:animEffect>
                                  </p:childTnLst>
                                </p:cTn>
                              </p:par>
                              <p:par>
                                <p:cTn id="75" presetID="10" presetClass="entr" presetSubtype="0" grpId="0" fill="hold" nodeType="withEffect">
                                  <p:stCondLst>
                                    <p:cond delay="660"/>
                                  </p:stCondLst>
                                  <p:childTnLst>
                                    <p:set>
                                      <p:cBhvr>
                                        <p:cTn id="76" dur="1" fill="hold">
                                          <p:stCondLst>
                                            <p:cond delay="0"/>
                                          </p:stCondLst>
                                        </p:cTn>
                                        <p:tgtEl>
                                          <p:spTgt spid="14">
                                            <p:txEl>
                                              <p:pRg st="0" end="0"/>
                                            </p:txEl>
                                          </p:spTgt>
                                        </p:tgtEl>
                                        <p:attrNameLst>
                                          <p:attrName>style.visibility</p:attrName>
                                        </p:attrNameLst>
                                      </p:cBhvr>
                                      <p:to>
                                        <p:strVal val="visible"/>
                                      </p:to>
                                    </p:set>
                                    <p:animEffect transition="in" filter="fade">
                                      <p:cBhvr>
                                        <p:cTn id="77" dur="450"/>
                                        <p:tgtEl>
                                          <p:spTgt spid="14">
                                            <p:txEl>
                                              <p:pRg st="0" end="0"/>
                                            </p:txEl>
                                          </p:spTgt>
                                        </p:tgtEl>
                                      </p:cBhvr>
                                    </p:animEffect>
                                  </p:childTnLst>
                                </p:cTn>
                              </p:par>
                              <p:par>
                                <p:cTn id="78" presetID="10" presetClass="entr" presetSubtype="0" grpId="0" fill="hold" nodeType="withEffect">
                                  <p:stCondLst>
                                    <p:cond delay="1040"/>
                                  </p:stCondLst>
                                  <p:childTnLst>
                                    <p:set>
                                      <p:cBhvr>
                                        <p:cTn id="79" dur="1" fill="hold">
                                          <p:stCondLst>
                                            <p:cond delay="0"/>
                                          </p:stCondLst>
                                        </p:cTn>
                                        <p:tgtEl>
                                          <p:spTgt spid="14">
                                            <p:txEl>
                                              <p:pRg st="1" end="1"/>
                                            </p:txEl>
                                          </p:spTgt>
                                        </p:tgtEl>
                                        <p:attrNameLst>
                                          <p:attrName>style.visibility</p:attrName>
                                        </p:attrNameLst>
                                      </p:cBhvr>
                                      <p:to>
                                        <p:strVal val="visible"/>
                                      </p:to>
                                    </p:set>
                                    <p:animEffect transition="in" filter="fade">
                                      <p:cBhvr>
                                        <p:cTn id="80" dur="450"/>
                                        <p:tgtEl>
                                          <p:spTgt spid="14">
                                            <p:txEl>
                                              <p:pRg st="1" end="1"/>
                                            </p:txEl>
                                          </p:spTgt>
                                        </p:tgtEl>
                                      </p:cBhvr>
                                    </p:animEffect>
                                  </p:childTnLst>
                                </p:cTn>
                              </p:par>
                              <p:par>
                                <p:cTn id="81" presetID="10" presetClass="entr" presetSubtype="0" grpId="0" fill="hold" nodeType="withEffect">
                                  <p:stCondLst>
                                    <p:cond delay="1420"/>
                                  </p:stCondLst>
                                  <p:childTnLst>
                                    <p:set>
                                      <p:cBhvr>
                                        <p:cTn id="82" dur="1" fill="hold">
                                          <p:stCondLst>
                                            <p:cond delay="0"/>
                                          </p:stCondLst>
                                        </p:cTn>
                                        <p:tgtEl>
                                          <p:spTgt spid="14">
                                            <p:txEl>
                                              <p:pRg st="2" end="2"/>
                                            </p:txEl>
                                          </p:spTgt>
                                        </p:tgtEl>
                                        <p:attrNameLst>
                                          <p:attrName>style.visibility</p:attrName>
                                        </p:attrNameLst>
                                      </p:cBhvr>
                                      <p:to>
                                        <p:strVal val="visible"/>
                                      </p:to>
                                    </p:set>
                                    <p:animEffect transition="in" filter="fade">
                                      <p:cBhvr>
                                        <p:cTn id="83" dur="450"/>
                                        <p:tgtEl>
                                          <p:spTgt spid="14">
                                            <p:txEl>
                                              <p:pRg st="2" end="2"/>
                                            </p:txEl>
                                          </p:spTgt>
                                        </p:tgtEl>
                                      </p:cBhvr>
                                    </p:animEffect>
                                  </p:childTnLst>
                                </p:cTn>
                              </p:par>
                              <p:par>
                                <p:cTn id="84" presetID="10" presetClass="entr" presetSubtype="0" fill="hold" nodeType="withEffect">
                                  <p:stCondLst>
                                    <p:cond delay="73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450"/>
                                        <p:tgtEl>
                                          <p:spTgt spid="15"/>
                                        </p:tgtEl>
                                      </p:cBhvr>
                                    </p:animEffect>
                                  </p:childTnLst>
                                </p:cTn>
                              </p:par>
                              <p:par>
                                <p:cTn id="87" presetID="22" presetClass="entr" presetSubtype="8" fill="hold" nodeType="withEffect">
                                  <p:stCondLst>
                                    <p:cond delay="730"/>
                                  </p:stCondLst>
                                  <p:childTnLst>
                                    <p:set>
                                      <p:cBhvr>
                                        <p:cTn id="88" dur="1" fill="hold">
                                          <p:stCondLst>
                                            <p:cond delay="0"/>
                                          </p:stCondLst>
                                        </p:cTn>
                                        <p:tgtEl>
                                          <p:spTgt spid="16"/>
                                        </p:tgtEl>
                                        <p:attrNameLst>
                                          <p:attrName>style.visibility</p:attrName>
                                        </p:attrNameLst>
                                      </p:cBhvr>
                                      <p:to>
                                        <p:strVal val="visible"/>
                                      </p:to>
                                    </p:set>
                                    <p:animEffect transition="in" filter="wipe(left)">
                                      <p:cBhvr>
                                        <p:cTn id="89" dur="500"/>
                                        <p:tgtEl>
                                          <p:spTgt spid="16"/>
                                        </p:tgtEl>
                                      </p:cBhvr>
                                    </p:animEffect>
                                  </p:childTnLst>
                                </p:cTn>
                              </p:par>
                              <p:par>
                                <p:cTn id="90" presetID="10" presetClass="entr" presetSubtype="0" fill="hold" nodeType="withEffect">
                                  <p:stCondLst>
                                    <p:cond delay="80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450"/>
                                        <p:tgtEl>
                                          <p:spTgt spid="17"/>
                                        </p:tgtEl>
                                      </p:cBhvr>
                                    </p:animEffect>
                                  </p:childTnLst>
                                </p:cTn>
                              </p:par>
                              <p:par>
                                <p:cTn id="93" presetID="10" presetClass="entr" presetSubtype="0" grpId="0" fill="hold" nodeType="withEffect">
                                  <p:stCondLst>
                                    <p:cond delay="870"/>
                                  </p:stCondLst>
                                  <p:childTnLst>
                                    <p:set>
                                      <p:cBhvr>
                                        <p:cTn id="94" dur="1" fill="hold">
                                          <p:stCondLst>
                                            <p:cond delay="0"/>
                                          </p:stCondLst>
                                        </p:cTn>
                                        <p:tgtEl>
                                          <p:spTgt spid="18">
                                            <p:txEl>
                                              <p:pRg st="0" end="0"/>
                                            </p:txEl>
                                          </p:spTgt>
                                        </p:tgtEl>
                                        <p:attrNameLst>
                                          <p:attrName>style.visibility</p:attrName>
                                        </p:attrNameLst>
                                      </p:cBhvr>
                                      <p:to>
                                        <p:strVal val="visible"/>
                                      </p:to>
                                    </p:set>
                                    <p:animEffect transition="in" filter="fade">
                                      <p:cBhvr>
                                        <p:cTn id="95" dur="450"/>
                                        <p:tgtEl>
                                          <p:spTgt spid="18">
                                            <p:txEl>
                                              <p:pRg st="0" end="0"/>
                                            </p:txEl>
                                          </p:spTgt>
                                        </p:tgtEl>
                                      </p:cBhvr>
                                    </p:animEffect>
                                  </p:childTnLst>
                                </p:cTn>
                              </p:par>
                              <p:par>
                                <p:cTn id="96" presetID="10" presetClass="entr" presetSubtype="0" grpId="0" fill="hold" nodeType="withEffect">
                                  <p:stCondLst>
                                    <p:cond delay="1250"/>
                                  </p:stCondLst>
                                  <p:childTnLst>
                                    <p:set>
                                      <p:cBhvr>
                                        <p:cTn id="97" dur="1" fill="hold">
                                          <p:stCondLst>
                                            <p:cond delay="0"/>
                                          </p:stCondLst>
                                        </p:cTn>
                                        <p:tgtEl>
                                          <p:spTgt spid="18">
                                            <p:txEl>
                                              <p:pRg st="1" end="1"/>
                                            </p:txEl>
                                          </p:spTgt>
                                        </p:tgtEl>
                                        <p:attrNameLst>
                                          <p:attrName>style.visibility</p:attrName>
                                        </p:attrNameLst>
                                      </p:cBhvr>
                                      <p:to>
                                        <p:strVal val="visible"/>
                                      </p:to>
                                    </p:set>
                                    <p:animEffect transition="in" filter="fade">
                                      <p:cBhvr>
                                        <p:cTn id="98" dur="450"/>
                                        <p:tgtEl>
                                          <p:spTgt spid="18">
                                            <p:txEl>
                                              <p:pRg st="1" end="1"/>
                                            </p:txEl>
                                          </p:spTgt>
                                        </p:tgtEl>
                                      </p:cBhvr>
                                    </p:animEffect>
                                  </p:childTnLst>
                                </p:cTn>
                              </p:par>
                              <p:par>
                                <p:cTn id="99" presetID="10" presetClass="entr" presetSubtype="0" grpId="0" fill="hold" nodeType="withEffect">
                                  <p:stCondLst>
                                    <p:cond delay="1630"/>
                                  </p:stCondLst>
                                  <p:childTnLst>
                                    <p:set>
                                      <p:cBhvr>
                                        <p:cTn id="100" dur="1" fill="hold">
                                          <p:stCondLst>
                                            <p:cond delay="0"/>
                                          </p:stCondLst>
                                        </p:cTn>
                                        <p:tgtEl>
                                          <p:spTgt spid="18">
                                            <p:txEl>
                                              <p:pRg st="2" end="2"/>
                                            </p:txEl>
                                          </p:spTgt>
                                        </p:tgtEl>
                                        <p:attrNameLst>
                                          <p:attrName>style.visibility</p:attrName>
                                        </p:attrNameLst>
                                      </p:cBhvr>
                                      <p:to>
                                        <p:strVal val="visible"/>
                                      </p:to>
                                    </p:set>
                                    <p:animEffect transition="in" filter="fade">
                                      <p:cBhvr>
                                        <p:cTn id="101" dur="450"/>
                                        <p:tgtEl>
                                          <p:spTgt spid="18">
                                            <p:txEl>
                                              <p:pRg st="2" end="2"/>
                                            </p:txEl>
                                          </p:spTgt>
                                        </p:tgtEl>
                                      </p:cBhvr>
                                    </p:animEffect>
                                  </p:childTnLst>
                                </p:cTn>
                              </p:par>
                              <p:par>
                                <p:cTn id="102" presetID="10" presetClass="entr" presetSubtype="0" fill="hold" nodeType="withEffect">
                                  <p:stCondLst>
                                    <p:cond delay="580"/>
                                  </p:stCondLst>
                                  <p:childTnLst>
                                    <p:set>
                                      <p:cBhvr>
                                        <p:cTn id="103" dur="1" fill="hold">
                                          <p:stCondLst>
                                            <p:cond delay="0"/>
                                          </p:stCondLst>
                                        </p:cTn>
                                        <p:tgtEl>
                                          <p:spTgt spid="19"/>
                                        </p:tgtEl>
                                        <p:attrNameLst>
                                          <p:attrName>style.visibility</p:attrName>
                                        </p:attrNameLst>
                                      </p:cBhvr>
                                      <p:to>
                                        <p:strVal val="visible"/>
                                      </p:to>
                                    </p:set>
                                    <p:animEffect transition="in" filter="fade">
                                      <p:cBhvr>
                                        <p:cTn id="104" dur="450"/>
                                        <p:tgtEl>
                                          <p:spTgt spid="19"/>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350"/>
                                        <p:tgtEl>
                                          <p:spTgt spid="10"/>
                                        </p:tgtEl>
                                      </p:cBhvr>
                                    </p:animEffect>
                                    <p:set>
                                      <p:cBhvr>
                                        <p:cTn id="109" dur="1" fill="hold">
                                          <p:stCondLst>
                                            <p:cond delay="349"/>
                                          </p:stCondLst>
                                        </p:cTn>
                                        <p:tgtEl>
                                          <p:spTgt spid="10"/>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350"/>
                                        <p:tgtEl>
                                          <p:spTgt spid="11"/>
                                        </p:tgtEl>
                                      </p:cBhvr>
                                    </p:animEffect>
                                    <p:set>
                                      <p:cBhvr>
                                        <p:cTn id="112" dur="1" fill="hold">
                                          <p:stCondLst>
                                            <p:cond delay="349"/>
                                          </p:stCondLst>
                                        </p:cTn>
                                        <p:tgtEl>
                                          <p:spTgt spid="11"/>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2"/>
                                        </p:tgtEl>
                                      </p:cBhvr>
                                    </p:animEffect>
                                    <p:set>
                                      <p:cBhvr>
                                        <p:cTn id="115" dur="1" fill="hold">
                                          <p:stCondLst>
                                            <p:cond delay="349"/>
                                          </p:stCondLst>
                                        </p:cTn>
                                        <p:tgtEl>
                                          <p:spTgt spid="12"/>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3"/>
                                        </p:tgtEl>
                                      </p:cBhvr>
                                    </p:animEffect>
                                    <p:set>
                                      <p:cBhvr>
                                        <p:cTn id="118" dur="1" fill="hold">
                                          <p:stCondLst>
                                            <p:cond delay="349"/>
                                          </p:stCondLst>
                                        </p:cTn>
                                        <p:tgtEl>
                                          <p:spTgt spid="13"/>
                                        </p:tgtEl>
                                        <p:attrNameLst>
                                          <p:attrName>style.visibility</p:attrName>
                                        </p:attrNameLst>
                                      </p:cBhvr>
                                      <p:to>
                                        <p:strVal val="hidden"/>
                                      </p:to>
                                    </p:set>
                                  </p:childTnLst>
                                </p:cTn>
                              </p:par>
                              <p:par>
                                <p:cTn id="119" presetID="10" presetClass="exit" presetSubtype="0" grpId="0" fill="hold" nodeType="withEffect">
                                  <p:stCondLst>
                                    <p:cond delay="0"/>
                                  </p:stCondLst>
                                  <p:childTnLst>
                                    <p:animEffect transition="out" filter="fade">
                                      <p:cBhvr>
                                        <p:cTn id="120" dur="350"/>
                                        <p:tgtEl>
                                          <p:spTgt spid="14">
                                            <p:txEl>
                                              <p:pRg st="0" end="0"/>
                                            </p:txEl>
                                          </p:spTgt>
                                        </p:tgtEl>
                                      </p:cBhvr>
                                    </p:animEffect>
                                    <p:set>
                                      <p:cBhvr>
                                        <p:cTn id="121" dur="1" fill="hold">
                                          <p:stCondLst>
                                            <p:cond delay="349"/>
                                          </p:stCondLst>
                                        </p:cTn>
                                        <p:tgtEl>
                                          <p:spTgt spid="14">
                                            <p:txEl>
                                              <p:pRg st="0" end="0"/>
                                            </p:txEl>
                                          </p:spTgt>
                                        </p:tgtEl>
                                        <p:attrNameLst>
                                          <p:attrName>style.visibility</p:attrName>
                                        </p:attrNameLst>
                                      </p:cBhvr>
                                      <p:to>
                                        <p:strVal val="hidden"/>
                                      </p:to>
                                    </p:set>
                                  </p:childTnLst>
                                </p:cTn>
                              </p:par>
                              <p:par>
                                <p:cTn id="122" presetID="10" presetClass="exit" presetSubtype="0" grpId="0" fill="hold" nodeType="withEffect">
                                  <p:stCondLst>
                                    <p:cond delay="0"/>
                                  </p:stCondLst>
                                  <p:childTnLst>
                                    <p:animEffect transition="out" filter="fade">
                                      <p:cBhvr>
                                        <p:cTn id="123" dur="350"/>
                                        <p:tgtEl>
                                          <p:spTgt spid="14">
                                            <p:txEl>
                                              <p:pRg st="1" end="1"/>
                                            </p:txEl>
                                          </p:spTgt>
                                        </p:tgtEl>
                                      </p:cBhvr>
                                    </p:animEffect>
                                    <p:set>
                                      <p:cBhvr>
                                        <p:cTn id="124" dur="1" fill="hold">
                                          <p:stCondLst>
                                            <p:cond delay="349"/>
                                          </p:stCondLst>
                                        </p:cTn>
                                        <p:tgtEl>
                                          <p:spTgt spid="14">
                                            <p:txEl>
                                              <p:pRg st="1" end="1"/>
                                            </p:txEl>
                                          </p:spTgt>
                                        </p:tgtEl>
                                        <p:attrNameLst>
                                          <p:attrName>style.visibility</p:attrName>
                                        </p:attrNameLst>
                                      </p:cBhvr>
                                      <p:to>
                                        <p:strVal val="hidden"/>
                                      </p:to>
                                    </p:set>
                                  </p:childTnLst>
                                </p:cTn>
                              </p:par>
                              <p:par>
                                <p:cTn id="125" presetID="10" presetClass="exit" presetSubtype="0" grpId="0" fill="hold" nodeType="withEffect">
                                  <p:stCondLst>
                                    <p:cond delay="0"/>
                                  </p:stCondLst>
                                  <p:childTnLst>
                                    <p:animEffect transition="out" filter="fade">
                                      <p:cBhvr>
                                        <p:cTn id="126" dur="350"/>
                                        <p:tgtEl>
                                          <p:spTgt spid="14">
                                            <p:txEl>
                                              <p:pRg st="2" end="2"/>
                                            </p:txEl>
                                          </p:spTgt>
                                        </p:tgtEl>
                                      </p:cBhvr>
                                    </p:animEffect>
                                    <p:set>
                                      <p:cBhvr>
                                        <p:cTn id="127" dur="1" fill="hold">
                                          <p:stCondLst>
                                            <p:cond delay="349"/>
                                          </p:stCondLst>
                                        </p:cTn>
                                        <p:tgtEl>
                                          <p:spTgt spid="14">
                                            <p:txEl>
                                              <p:pRg st="2" end="2"/>
                                            </p:txEl>
                                          </p:spTgt>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350"/>
                                        <p:tgtEl>
                                          <p:spTgt spid="15"/>
                                        </p:tgtEl>
                                      </p:cBhvr>
                                    </p:animEffect>
                                    <p:set>
                                      <p:cBhvr>
                                        <p:cTn id="130" dur="1" fill="hold">
                                          <p:stCondLst>
                                            <p:cond delay="349"/>
                                          </p:stCondLst>
                                        </p:cTn>
                                        <p:tgtEl>
                                          <p:spTgt spid="15"/>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350"/>
                                        <p:tgtEl>
                                          <p:spTgt spid="16"/>
                                        </p:tgtEl>
                                      </p:cBhvr>
                                    </p:animEffect>
                                    <p:set>
                                      <p:cBhvr>
                                        <p:cTn id="133" dur="1" fill="hold">
                                          <p:stCondLst>
                                            <p:cond delay="349"/>
                                          </p:stCondLst>
                                        </p:cTn>
                                        <p:tgtEl>
                                          <p:spTgt spid="16"/>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17"/>
                                        </p:tgtEl>
                                      </p:cBhvr>
                                    </p:animEffect>
                                    <p:set>
                                      <p:cBhvr>
                                        <p:cTn id="136" dur="1" fill="hold">
                                          <p:stCondLst>
                                            <p:cond delay="349"/>
                                          </p:stCondLst>
                                        </p:cTn>
                                        <p:tgtEl>
                                          <p:spTgt spid="17"/>
                                        </p:tgtEl>
                                        <p:attrNameLst>
                                          <p:attrName>style.visibility</p:attrName>
                                        </p:attrNameLst>
                                      </p:cBhvr>
                                      <p:to>
                                        <p:strVal val="hidden"/>
                                      </p:to>
                                    </p:set>
                                  </p:childTnLst>
                                </p:cTn>
                              </p:par>
                              <p:par>
                                <p:cTn id="137" presetID="10" presetClass="exit" presetSubtype="0" grpId="0" fill="hold" nodeType="withEffect">
                                  <p:stCondLst>
                                    <p:cond delay="0"/>
                                  </p:stCondLst>
                                  <p:childTnLst>
                                    <p:animEffect transition="out" filter="fade">
                                      <p:cBhvr>
                                        <p:cTn id="138" dur="350"/>
                                        <p:tgtEl>
                                          <p:spTgt spid="18">
                                            <p:txEl>
                                              <p:pRg st="0" end="0"/>
                                            </p:txEl>
                                          </p:spTgt>
                                        </p:tgtEl>
                                      </p:cBhvr>
                                    </p:animEffect>
                                    <p:set>
                                      <p:cBhvr>
                                        <p:cTn id="139" dur="1" fill="hold">
                                          <p:stCondLst>
                                            <p:cond delay="349"/>
                                          </p:stCondLst>
                                        </p:cTn>
                                        <p:tgtEl>
                                          <p:spTgt spid="18">
                                            <p:txEl>
                                              <p:pRg st="0" end="0"/>
                                            </p:txEl>
                                          </p:spTgt>
                                        </p:tgtEl>
                                        <p:attrNameLst>
                                          <p:attrName>style.visibility</p:attrName>
                                        </p:attrNameLst>
                                      </p:cBhvr>
                                      <p:to>
                                        <p:strVal val="hidden"/>
                                      </p:to>
                                    </p:set>
                                  </p:childTnLst>
                                </p:cTn>
                              </p:par>
                              <p:par>
                                <p:cTn id="140" presetID="10" presetClass="exit" presetSubtype="0" grpId="0" fill="hold" nodeType="withEffect">
                                  <p:stCondLst>
                                    <p:cond delay="0"/>
                                  </p:stCondLst>
                                  <p:childTnLst>
                                    <p:animEffect transition="out" filter="fade">
                                      <p:cBhvr>
                                        <p:cTn id="141" dur="350"/>
                                        <p:tgtEl>
                                          <p:spTgt spid="18">
                                            <p:txEl>
                                              <p:pRg st="1" end="1"/>
                                            </p:txEl>
                                          </p:spTgt>
                                        </p:tgtEl>
                                      </p:cBhvr>
                                    </p:animEffect>
                                    <p:set>
                                      <p:cBhvr>
                                        <p:cTn id="142" dur="1" fill="hold">
                                          <p:stCondLst>
                                            <p:cond delay="349"/>
                                          </p:stCondLst>
                                        </p:cTn>
                                        <p:tgtEl>
                                          <p:spTgt spid="18">
                                            <p:txEl>
                                              <p:pRg st="1" end="1"/>
                                            </p:txEl>
                                          </p:spTgt>
                                        </p:tgtEl>
                                        <p:attrNameLst>
                                          <p:attrName>style.visibility</p:attrName>
                                        </p:attrNameLst>
                                      </p:cBhvr>
                                      <p:to>
                                        <p:strVal val="hidden"/>
                                      </p:to>
                                    </p:set>
                                  </p:childTnLst>
                                </p:cTn>
                              </p:par>
                              <p:par>
                                <p:cTn id="143" presetID="10" presetClass="exit" presetSubtype="0" grpId="0" fill="hold" nodeType="withEffect">
                                  <p:stCondLst>
                                    <p:cond delay="0"/>
                                  </p:stCondLst>
                                  <p:childTnLst>
                                    <p:animEffect transition="out" filter="fade">
                                      <p:cBhvr>
                                        <p:cTn id="144" dur="350"/>
                                        <p:tgtEl>
                                          <p:spTgt spid="18">
                                            <p:txEl>
                                              <p:pRg st="2" end="2"/>
                                            </p:txEl>
                                          </p:spTgt>
                                        </p:tgtEl>
                                      </p:cBhvr>
                                    </p:animEffect>
                                    <p:set>
                                      <p:cBhvr>
                                        <p:cTn id="145" dur="1" fill="hold">
                                          <p:stCondLst>
                                            <p:cond delay="349"/>
                                          </p:stCondLst>
                                        </p:cTn>
                                        <p:tgtEl>
                                          <p:spTgt spid="18">
                                            <p:txEl>
                                              <p:pRg st="2" end="2"/>
                                            </p:txEl>
                                          </p:spTgt>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19"/>
                                        </p:tgtEl>
                                      </p:cBhvr>
                                    </p:animEffect>
                                    <p:set>
                                      <p:cBhvr>
                                        <p:cTn id="148" dur="1" fill="hold">
                                          <p:stCondLst>
                                            <p:cond delay="349"/>
                                          </p:stCondLst>
                                        </p:cTn>
                                        <p:tgtEl>
                                          <p:spTgt spid="19"/>
                                        </p:tgtEl>
                                        <p:attrNameLst>
                                          <p:attrName>style.visibility</p:attrName>
                                        </p:attrNameLst>
                                      </p:cBhvr>
                                      <p:to>
                                        <p:strVal val="hidden"/>
                                      </p:to>
                                    </p:set>
                                  </p:childTnLst>
                                </p:cTn>
                              </p:par>
                              <p:par>
                                <p:cTn id="149" presetID="10" presetClass="entr" presetSubtype="0" fill="hold" nodeType="withEffect">
                                  <p:stCondLst>
                                    <p:cond delay="450"/>
                                  </p:stCondLst>
                                  <p:childTnLst>
                                    <p:set>
                                      <p:cBhvr>
                                        <p:cTn id="150" dur="1" fill="hold">
                                          <p:stCondLst>
                                            <p:cond delay="0"/>
                                          </p:stCondLst>
                                        </p:cTn>
                                        <p:tgtEl>
                                          <p:spTgt spid="20"/>
                                        </p:tgtEl>
                                        <p:attrNameLst>
                                          <p:attrName>style.visibility</p:attrName>
                                        </p:attrNameLst>
                                      </p:cBhvr>
                                      <p:to>
                                        <p:strVal val="visible"/>
                                      </p:to>
                                    </p:set>
                                    <p:animEffect transition="in" filter="fade">
                                      <p:cBhvr>
                                        <p:cTn id="151" dur="450"/>
                                        <p:tgtEl>
                                          <p:spTgt spid="20"/>
                                        </p:tgtEl>
                                      </p:cBhvr>
                                    </p:animEffect>
                                  </p:childTnLst>
                                </p:cTn>
                              </p:par>
                              <p:par>
                                <p:cTn id="152" presetID="53" presetClass="entr" presetSubtype="16" fill="hold" nodeType="withEffect">
                                  <p:stCondLst>
                                    <p:cond delay="520"/>
                                  </p:stCondLst>
                                  <p:childTnLst>
                                    <p:set>
                                      <p:cBhvr>
                                        <p:cTn id="153" dur="1" fill="hold">
                                          <p:stCondLst>
                                            <p:cond delay="0"/>
                                          </p:stCondLst>
                                        </p:cTn>
                                        <p:tgtEl>
                                          <p:spTgt spid="21"/>
                                        </p:tgtEl>
                                        <p:attrNameLst>
                                          <p:attrName>style.visibility</p:attrName>
                                        </p:attrNameLst>
                                      </p:cBhvr>
                                      <p:to>
                                        <p:strVal val="visible"/>
                                      </p:to>
                                    </p:set>
                                    <p:anim calcmode="lin" valueType="num">
                                      <p:cBhvr>
                                        <p:cTn id="154" dur="600" fill="hold"/>
                                        <p:tgtEl>
                                          <p:spTgt spid="21"/>
                                        </p:tgtEl>
                                        <p:attrNameLst>
                                          <p:attrName>ppt_w</p:attrName>
                                        </p:attrNameLst>
                                      </p:cBhvr>
                                      <p:tavLst>
                                        <p:tav tm="0">
                                          <p:val>
                                            <p:fltVal val="0"/>
                                          </p:val>
                                        </p:tav>
                                        <p:tav tm="100000">
                                          <p:val>
                                            <p:strVal val="#ppt_w"/>
                                          </p:val>
                                        </p:tav>
                                      </p:tavLst>
                                    </p:anim>
                                    <p:anim calcmode="lin" valueType="num">
                                      <p:cBhvr>
                                        <p:cTn id="155" dur="600" fill="hold"/>
                                        <p:tgtEl>
                                          <p:spTgt spid="21"/>
                                        </p:tgtEl>
                                        <p:attrNameLst>
                                          <p:attrName>ppt_h</p:attrName>
                                        </p:attrNameLst>
                                      </p:cBhvr>
                                      <p:tavLst>
                                        <p:tav tm="0">
                                          <p:val>
                                            <p:fltVal val="0"/>
                                          </p:val>
                                        </p:tav>
                                        <p:tav tm="100000">
                                          <p:val>
                                            <p:strVal val="#ppt_h"/>
                                          </p:val>
                                        </p:tav>
                                      </p:tavLst>
                                    </p:anim>
                                    <p:animEffect transition="in" filter="fade">
                                      <p:cBhvr>
                                        <p:cTn id="156" dur="600"/>
                                        <p:tgtEl>
                                          <p:spTgt spid="21"/>
                                        </p:tgtEl>
                                      </p:cBhvr>
                                    </p:animEffect>
                                  </p:childTnLst>
                                </p:cTn>
                              </p:par>
                              <p:par>
                                <p:cTn id="157" presetID="10" presetClass="entr" presetSubtype="0" grpId="0" fill="hold" nodeType="withEffect">
                                  <p:stCondLst>
                                    <p:cond delay="590"/>
                                  </p:stCondLst>
                                  <p:childTnLst>
                                    <p:set>
                                      <p:cBhvr>
                                        <p:cTn id="158" dur="1" fill="hold">
                                          <p:stCondLst>
                                            <p:cond delay="0"/>
                                          </p:stCondLst>
                                        </p:cTn>
                                        <p:tgtEl>
                                          <p:spTgt spid="22">
                                            <p:txEl>
                                              <p:pRg st="0" end="0"/>
                                            </p:txEl>
                                          </p:spTgt>
                                        </p:tgtEl>
                                        <p:attrNameLst>
                                          <p:attrName>style.visibility</p:attrName>
                                        </p:attrNameLst>
                                      </p:cBhvr>
                                      <p:to>
                                        <p:strVal val="visible"/>
                                      </p:to>
                                    </p:set>
                                    <p:animEffect transition="in" filter="fade">
                                      <p:cBhvr>
                                        <p:cTn id="159" dur="450"/>
                                        <p:tgtEl>
                                          <p:spTgt spid="22">
                                            <p:txEl>
                                              <p:pRg st="0" end="0"/>
                                            </p:txEl>
                                          </p:spTgt>
                                        </p:tgtEl>
                                      </p:cBhvr>
                                    </p:animEffect>
                                  </p:childTnLst>
                                </p:cTn>
                              </p:par>
                              <p:par>
                                <p:cTn id="160" presetID="10" presetClass="entr" presetSubtype="0" grpId="0" fill="hold" nodeType="withEffect">
                                  <p:stCondLst>
                                    <p:cond delay="970"/>
                                  </p:stCondLst>
                                  <p:childTnLst>
                                    <p:set>
                                      <p:cBhvr>
                                        <p:cTn id="161" dur="1" fill="hold">
                                          <p:stCondLst>
                                            <p:cond delay="0"/>
                                          </p:stCondLst>
                                        </p:cTn>
                                        <p:tgtEl>
                                          <p:spTgt spid="22">
                                            <p:txEl>
                                              <p:pRg st="1" end="1"/>
                                            </p:txEl>
                                          </p:spTgt>
                                        </p:tgtEl>
                                        <p:attrNameLst>
                                          <p:attrName>style.visibility</p:attrName>
                                        </p:attrNameLst>
                                      </p:cBhvr>
                                      <p:to>
                                        <p:strVal val="visible"/>
                                      </p:to>
                                    </p:set>
                                    <p:animEffect transition="in" filter="fade">
                                      <p:cBhvr>
                                        <p:cTn id="162" dur="450"/>
                                        <p:tgtEl>
                                          <p:spTgt spid="22">
                                            <p:txEl>
                                              <p:pRg st="1" end="1"/>
                                            </p:txEl>
                                          </p:spTgt>
                                        </p:tgtEl>
                                      </p:cBhvr>
                                    </p:animEffect>
                                  </p:childTnLst>
                                </p:cTn>
                              </p:par>
                              <p:par>
                                <p:cTn id="163" presetID="10" presetClass="entr" presetSubtype="0" grpId="0" fill="hold" nodeType="withEffect">
                                  <p:stCondLst>
                                    <p:cond delay="1350"/>
                                  </p:stCondLst>
                                  <p:childTnLst>
                                    <p:set>
                                      <p:cBhvr>
                                        <p:cTn id="164" dur="1" fill="hold">
                                          <p:stCondLst>
                                            <p:cond delay="0"/>
                                          </p:stCondLst>
                                        </p:cTn>
                                        <p:tgtEl>
                                          <p:spTgt spid="22">
                                            <p:txEl>
                                              <p:pRg st="2" end="2"/>
                                            </p:txEl>
                                          </p:spTgt>
                                        </p:tgtEl>
                                        <p:attrNameLst>
                                          <p:attrName>style.visibility</p:attrName>
                                        </p:attrNameLst>
                                      </p:cBhvr>
                                      <p:to>
                                        <p:strVal val="visible"/>
                                      </p:to>
                                    </p:set>
                                    <p:animEffect transition="in" filter="fade">
                                      <p:cBhvr>
                                        <p:cTn id="165" dur="450"/>
                                        <p:tgtEl>
                                          <p:spTgt spid="22">
                                            <p:txEl>
                                              <p:pRg st="2" end="2"/>
                                            </p:txEl>
                                          </p:spTgt>
                                        </p:tgtEl>
                                      </p:cBhvr>
                                    </p:animEffect>
                                  </p:childTnLst>
                                </p:cTn>
                              </p:par>
                              <p:par>
                                <p:cTn id="166" presetID="10" presetClass="entr" presetSubtype="0" fill="hold" nodeType="withEffect">
                                  <p:stCondLst>
                                    <p:cond delay="580"/>
                                  </p:stCondLst>
                                  <p:childTnLst>
                                    <p:set>
                                      <p:cBhvr>
                                        <p:cTn id="167" dur="1" fill="hold">
                                          <p:stCondLst>
                                            <p:cond delay="0"/>
                                          </p:stCondLst>
                                        </p:cTn>
                                        <p:tgtEl>
                                          <p:spTgt spid="23"/>
                                        </p:tgtEl>
                                        <p:attrNameLst>
                                          <p:attrName>style.visibility</p:attrName>
                                        </p:attrNameLst>
                                      </p:cBhvr>
                                      <p:to>
                                        <p:strVal val="visible"/>
                                      </p:to>
                                    </p:set>
                                    <p:animEffect transition="in" filter="fade">
                                      <p:cBhvr>
                                        <p:cTn id="168" dur="450"/>
                                        <p:tgtEl>
                                          <p:spTgt spid="23"/>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xit" presetSubtype="0" fill="hold" nodeType="clickEffect">
                                  <p:stCondLst>
                                    <p:cond delay="0"/>
                                  </p:stCondLst>
                                  <p:childTnLst>
                                    <p:animEffect transition="out" filter="fade">
                                      <p:cBhvr>
                                        <p:cTn id="172" dur="350"/>
                                        <p:tgtEl>
                                          <p:spTgt spid="20"/>
                                        </p:tgtEl>
                                      </p:cBhvr>
                                    </p:animEffect>
                                    <p:set>
                                      <p:cBhvr>
                                        <p:cTn id="173" dur="1" fill="hold">
                                          <p:stCondLst>
                                            <p:cond delay="349"/>
                                          </p:stCondLst>
                                        </p:cTn>
                                        <p:tgtEl>
                                          <p:spTgt spid="20"/>
                                        </p:tgtEl>
                                        <p:attrNameLst>
                                          <p:attrName>style.visibility</p:attrName>
                                        </p:attrNameLst>
                                      </p:cBhvr>
                                      <p:to>
                                        <p:strVal val="hidden"/>
                                      </p:to>
                                    </p:set>
                                  </p:childTnLst>
                                </p:cTn>
                              </p:par>
                              <p:par>
                                <p:cTn id="174" presetID="10" presetClass="exit" presetSubtype="0" grpId="0" fill="hold" nodeType="withEffect">
                                  <p:stCondLst>
                                    <p:cond delay="0"/>
                                  </p:stCondLst>
                                  <p:childTnLst>
                                    <p:animEffect transition="out" filter="fade">
                                      <p:cBhvr>
                                        <p:cTn id="175" dur="350"/>
                                        <p:tgtEl>
                                          <p:spTgt spid="22">
                                            <p:txEl>
                                              <p:pRg st="0" end="0"/>
                                            </p:txEl>
                                          </p:spTgt>
                                        </p:tgtEl>
                                      </p:cBhvr>
                                    </p:animEffect>
                                    <p:set>
                                      <p:cBhvr>
                                        <p:cTn id="176" dur="1" fill="hold">
                                          <p:stCondLst>
                                            <p:cond delay="349"/>
                                          </p:stCondLst>
                                        </p:cTn>
                                        <p:tgtEl>
                                          <p:spTgt spid="22">
                                            <p:txEl>
                                              <p:pRg st="0" end="0"/>
                                            </p:txEl>
                                          </p:spTgt>
                                        </p:tgtEl>
                                        <p:attrNameLst>
                                          <p:attrName>style.visibility</p:attrName>
                                        </p:attrNameLst>
                                      </p:cBhvr>
                                      <p:to>
                                        <p:strVal val="hidden"/>
                                      </p:to>
                                    </p:set>
                                  </p:childTnLst>
                                </p:cTn>
                              </p:par>
                              <p:par>
                                <p:cTn id="177" presetID="10" presetClass="exit" presetSubtype="0" grpId="0" fill="hold" nodeType="withEffect">
                                  <p:stCondLst>
                                    <p:cond delay="0"/>
                                  </p:stCondLst>
                                  <p:childTnLst>
                                    <p:animEffect transition="out" filter="fade">
                                      <p:cBhvr>
                                        <p:cTn id="178" dur="350"/>
                                        <p:tgtEl>
                                          <p:spTgt spid="22">
                                            <p:txEl>
                                              <p:pRg st="1" end="1"/>
                                            </p:txEl>
                                          </p:spTgt>
                                        </p:tgtEl>
                                      </p:cBhvr>
                                    </p:animEffect>
                                    <p:set>
                                      <p:cBhvr>
                                        <p:cTn id="179" dur="1" fill="hold">
                                          <p:stCondLst>
                                            <p:cond delay="349"/>
                                          </p:stCondLst>
                                        </p:cTn>
                                        <p:tgtEl>
                                          <p:spTgt spid="22">
                                            <p:txEl>
                                              <p:pRg st="1" end="1"/>
                                            </p:txEl>
                                          </p:spTgt>
                                        </p:tgtEl>
                                        <p:attrNameLst>
                                          <p:attrName>style.visibility</p:attrName>
                                        </p:attrNameLst>
                                      </p:cBhvr>
                                      <p:to>
                                        <p:strVal val="hidden"/>
                                      </p:to>
                                    </p:set>
                                  </p:childTnLst>
                                </p:cTn>
                              </p:par>
                              <p:par>
                                <p:cTn id="180" presetID="10" presetClass="exit" presetSubtype="0" grpId="0" fill="hold" nodeType="withEffect">
                                  <p:stCondLst>
                                    <p:cond delay="0"/>
                                  </p:stCondLst>
                                  <p:childTnLst>
                                    <p:animEffect transition="out" filter="fade">
                                      <p:cBhvr>
                                        <p:cTn id="181" dur="350"/>
                                        <p:tgtEl>
                                          <p:spTgt spid="22">
                                            <p:txEl>
                                              <p:pRg st="2" end="2"/>
                                            </p:txEl>
                                          </p:spTgt>
                                        </p:tgtEl>
                                      </p:cBhvr>
                                    </p:animEffect>
                                    <p:set>
                                      <p:cBhvr>
                                        <p:cTn id="182" dur="1" fill="hold">
                                          <p:stCondLst>
                                            <p:cond delay="349"/>
                                          </p:stCondLst>
                                        </p:cTn>
                                        <p:tgtEl>
                                          <p:spTgt spid="22">
                                            <p:txEl>
                                              <p:pRg st="2" end="2"/>
                                            </p:txEl>
                                          </p:spTgt>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184" dur="350"/>
                                        <p:tgtEl>
                                          <p:spTgt spid="23"/>
                                        </p:tgtEl>
                                      </p:cBhvr>
                                    </p:animEffect>
                                    <p:set>
                                      <p:cBhvr>
                                        <p:cTn id="185" dur="1" fill="hold">
                                          <p:stCondLst>
                                            <p:cond delay="349"/>
                                          </p:stCondLst>
                                        </p:cTn>
                                        <p:tgtEl>
                                          <p:spTgt spid="23"/>
                                        </p:tgtEl>
                                        <p:attrNameLst>
                                          <p:attrName>style.visibility</p:attrName>
                                        </p:attrNameLst>
                                      </p:cBhvr>
                                      <p:to>
                                        <p:strVal val="hidden"/>
                                      </p:to>
                                    </p:set>
                                  </p:childTnLst>
                                </p:cTn>
                              </p:par>
                              <p:par>
                                <p:cTn id="186" presetID="0" presetClass="path" presetSubtype="0" accel="50000" decel="50000" fill="hold" nodeType="withEffect">
                                  <p:stCondLst>
                                    <p:cond delay="0"/>
                                  </p:stCondLst>
                                  <p:childTnLst>
                                    <p:animMotion origin="layout" path="M 0 0 L 0.63630 0.19735 E" pathEditMode="relative" rAng="0" ptsTypes="AA">
                                      <p:cBhvr>
                                        <p:cTn id="187" dur="750" fill="hold"/>
                                        <p:tgtEl>
                                          <p:spTgt spid="21"/>
                                        </p:tgtEl>
                                        <p:attrNameLst>
                                          <p:attrName>ppt_x</p:attrName>
                                          <p:attrName>ppt_y</p:attrName>
                                        </p:attrNameLst>
                                      </p:cBhvr>
                                      <p:rCtr x="31815" y="9867"/>
                                    </p:animMotion>
                                  </p:childTnLst>
                                </p:cTn>
                              </p:par>
                              <p:par>
                                <p:cTn id="188" presetID="6" presetClass="emph" presetSubtype="0" accel="50000" decel="50000" fill="hold" nodeType="withEffect">
                                  <p:stCondLst>
                                    <p:cond delay="0"/>
                                  </p:stCondLst>
                                  <p:childTnLst>
                                    <p:animScale>
                                      <p:cBhvr>
                                        <p:cTn id="189" dur="750" fill="hold"/>
                                        <p:tgtEl>
                                          <p:spTgt spid="21"/>
                                        </p:tgtEl>
                                      </p:cBhvr>
                                      <p:by x="30890" y="30890"/>
                                    </p:animScale>
                                  </p:childTnLst>
                                </p:cTn>
                              </p:par>
                              <p:par>
                                <p:cTn id="190" presetID="10" presetClass="entr" presetSubtype="0" fill="hold" nodeType="withEffect">
                                  <p:stCondLst>
                                    <p:cond delay="450"/>
                                  </p:stCondLst>
                                  <p:childTnLst>
                                    <p:set>
                                      <p:cBhvr>
                                        <p:cTn id="191" dur="1" fill="hold">
                                          <p:stCondLst>
                                            <p:cond delay="0"/>
                                          </p:stCondLst>
                                        </p:cTn>
                                        <p:tgtEl>
                                          <p:spTgt spid="24"/>
                                        </p:tgtEl>
                                        <p:attrNameLst>
                                          <p:attrName>style.visibility</p:attrName>
                                        </p:attrNameLst>
                                      </p:cBhvr>
                                      <p:to>
                                        <p:strVal val="visible"/>
                                      </p:to>
                                    </p:set>
                                    <p:animEffect transition="in" filter="fade">
                                      <p:cBhvr>
                                        <p:cTn id="192" dur="450"/>
                                        <p:tgtEl>
                                          <p:spTgt spid="24"/>
                                        </p:tgtEl>
                                      </p:cBhvr>
                                    </p:animEffect>
                                  </p:childTnLst>
                                </p:cTn>
                              </p:par>
                              <p:par>
                                <p:cTn id="193" presetID="10" presetClass="entr" presetSubtype="0" fill="hold" nodeType="withEffect">
                                  <p:stCondLst>
                                    <p:cond delay="520"/>
                                  </p:stCondLst>
                                  <p:childTnLst>
                                    <p:set>
                                      <p:cBhvr>
                                        <p:cTn id="194" dur="1" fill="hold">
                                          <p:stCondLst>
                                            <p:cond delay="0"/>
                                          </p:stCondLst>
                                        </p:cTn>
                                        <p:tgtEl>
                                          <p:spTgt spid="25"/>
                                        </p:tgtEl>
                                        <p:attrNameLst>
                                          <p:attrName>style.visibility</p:attrName>
                                        </p:attrNameLst>
                                      </p:cBhvr>
                                      <p:to>
                                        <p:strVal val="visible"/>
                                      </p:to>
                                    </p:set>
                                    <p:animEffect transition="in" filter="fade">
                                      <p:cBhvr>
                                        <p:cTn id="195" dur="450"/>
                                        <p:tgtEl>
                                          <p:spTgt spid="25"/>
                                        </p:tgtEl>
                                      </p:cBhvr>
                                    </p:animEffect>
                                  </p:childTnLst>
                                </p:cTn>
                              </p:par>
                              <p:par>
                                <p:cTn id="196" presetID="22" presetClass="entr" presetSubtype="8" fill="hold" nodeType="withEffect">
                                  <p:stCondLst>
                                    <p:cond delay="520"/>
                                  </p:stCondLst>
                                  <p:childTnLst>
                                    <p:set>
                                      <p:cBhvr>
                                        <p:cTn id="197" dur="1" fill="hold">
                                          <p:stCondLst>
                                            <p:cond delay="0"/>
                                          </p:stCondLst>
                                        </p:cTn>
                                        <p:tgtEl>
                                          <p:spTgt spid="26"/>
                                        </p:tgtEl>
                                        <p:attrNameLst>
                                          <p:attrName>style.visibility</p:attrName>
                                        </p:attrNameLst>
                                      </p:cBhvr>
                                      <p:to>
                                        <p:strVal val="visible"/>
                                      </p:to>
                                    </p:set>
                                    <p:animEffect transition="in" filter="wipe(left)">
                                      <p:cBhvr>
                                        <p:cTn id="198" dur="500"/>
                                        <p:tgtEl>
                                          <p:spTgt spid="26"/>
                                        </p:tgtEl>
                                      </p:cBhvr>
                                    </p:animEffect>
                                  </p:childTnLst>
                                </p:cTn>
                              </p:par>
                              <p:par>
                                <p:cTn id="199" presetID="10" presetClass="entr" presetSubtype="0" fill="hold" nodeType="withEffect">
                                  <p:stCondLst>
                                    <p:cond delay="590"/>
                                  </p:stCondLst>
                                  <p:childTnLst>
                                    <p:set>
                                      <p:cBhvr>
                                        <p:cTn id="200" dur="1" fill="hold">
                                          <p:stCondLst>
                                            <p:cond delay="0"/>
                                          </p:stCondLst>
                                        </p:cTn>
                                        <p:tgtEl>
                                          <p:spTgt spid="27"/>
                                        </p:tgtEl>
                                        <p:attrNameLst>
                                          <p:attrName>style.visibility</p:attrName>
                                        </p:attrNameLst>
                                      </p:cBhvr>
                                      <p:to>
                                        <p:strVal val="visible"/>
                                      </p:to>
                                    </p:set>
                                    <p:animEffect transition="in" filter="fade">
                                      <p:cBhvr>
                                        <p:cTn id="201" dur="450"/>
                                        <p:tgtEl>
                                          <p:spTgt spid="27"/>
                                        </p:tgtEl>
                                      </p:cBhvr>
                                    </p:animEffect>
                                  </p:childTnLst>
                                </p:cTn>
                              </p:par>
                              <p:par>
                                <p:cTn id="202" presetID="10" presetClass="entr" presetSubtype="0" grpId="0" fill="hold" nodeType="withEffect">
                                  <p:stCondLst>
                                    <p:cond delay="660"/>
                                  </p:stCondLst>
                                  <p:childTnLst>
                                    <p:set>
                                      <p:cBhvr>
                                        <p:cTn id="203" dur="1" fill="hold">
                                          <p:stCondLst>
                                            <p:cond delay="0"/>
                                          </p:stCondLst>
                                        </p:cTn>
                                        <p:tgtEl>
                                          <p:spTgt spid="28">
                                            <p:txEl>
                                              <p:pRg st="0" end="0"/>
                                            </p:txEl>
                                          </p:spTgt>
                                        </p:tgtEl>
                                        <p:attrNameLst>
                                          <p:attrName>style.visibility</p:attrName>
                                        </p:attrNameLst>
                                      </p:cBhvr>
                                      <p:to>
                                        <p:strVal val="visible"/>
                                      </p:to>
                                    </p:set>
                                    <p:animEffect transition="in" filter="fade">
                                      <p:cBhvr>
                                        <p:cTn id="204" dur="450"/>
                                        <p:tgtEl>
                                          <p:spTgt spid="28">
                                            <p:txEl>
                                              <p:pRg st="0" end="0"/>
                                            </p:txEl>
                                          </p:spTgt>
                                        </p:tgtEl>
                                      </p:cBhvr>
                                    </p:animEffect>
                                  </p:childTnLst>
                                </p:cTn>
                              </p:par>
                              <p:par>
                                <p:cTn id="205" presetID="10" presetClass="entr" presetSubtype="0" grpId="0" fill="hold" nodeType="withEffect">
                                  <p:stCondLst>
                                    <p:cond delay="1040"/>
                                  </p:stCondLst>
                                  <p:childTnLst>
                                    <p:set>
                                      <p:cBhvr>
                                        <p:cTn id="206" dur="1" fill="hold">
                                          <p:stCondLst>
                                            <p:cond delay="0"/>
                                          </p:stCondLst>
                                        </p:cTn>
                                        <p:tgtEl>
                                          <p:spTgt spid="28">
                                            <p:txEl>
                                              <p:pRg st="1" end="1"/>
                                            </p:txEl>
                                          </p:spTgt>
                                        </p:tgtEl>
                                        <p:attrNameLst>
                                          <p:attrName>style.visibility</p:attrName>
                                        </p:attrNameLst>
                                      </p:cBhvr>
                                      <p:to>
                                        <p:strVal val="visible"/>
                                      </p:to>
                                    </p:set>
                                    <p:animEffect transition="in" filter="fade">
                                      <p:cBhvr>
                                        <p:cTn id="207" dur="450"/>
                                        <p:tgtEl>
                                          <p:spTgt spid="28">
                                            <p:txEl>
                                              <p:pRg st="1" end="1"/>
                                            </p:txEl>
                                          </p:spTgt>
                                        </p:tgtEl>
                                      </p:cBhvr>
                                    </p:animEffect>
                                  </p:childTnLst>
                                </p:cTn>
                              </p:par>
                              <p:par>
                                <p:cTn id="208" presetID="10" presetClass="entr" presetSubtype="0" fill="hold" nodeType="withEffect">
                                  <p:stCondLst>
                                    <p:cond delay="730"/>
                                  </p:stCondLst>
                                  <p:childTnLst>
                                    <p:set>
                                      <p:cBhvr>
                                        <p:cTn id="209" dur="1" fill="hold">
                                          <p:stCondLst>
                                            <p:cond delay="0"/>
                                          </p:stCondLst>
                                        </p:cTn>
                                        <p:tgtEl>
                                          <p:spTgt spid="29"/>
                                        </p:tgtEl>
                                        <p:attrNameLst>
                                          <p:attrName>style.visibility</p:attrName>
                                        </p:attrNameLst>
                                      </p:cBhvr>
                                      <p:to>
                                        <p:strVal val="visible"/>
                                      </p:to>
                                    </p:set>
                                    <p:animEffect transition="in" filter="fade">
                                      <p:cBhvr>
                                        <p:cTn id="210" dur="450"/>
                                        <p:tgtEl>
                                          <p:spTgt spid="29"/>
                                        </p:tgtEl>
                                      </p:cBhvr>
                                    </p:animEffect>
                                  </p:childTnLst>
                                </p:cTn>
                              </p:par>
                              <p:par>
                                <p:cTn id="211" presetID="22" presetClass="entr" presetSubtype="8" fill="hold" nodeType="withEffect">
                                  <p:stCondLst>
                                    <p:cond delay="730"/>
                                  </p:stCondLst>
                                  <p:childTnLst>
                                    <p:set>
                                      <p:cBhvr>
                                        <p:cTn id="212" dur="1" fill="hold">
                                          <p:stCondLst>
                                            <p:cond delay="0"/>
                                          </p:stCondLst>
                                        </p:cTn>
                                        <p:tgtEl>
                                          <p:spTgt spid="30"/>
                                        </p:tgtEl>
                                        <p:attrNameLst>
                                          <p:attrName>style.visibility</p:attrName>
                                        </p:attrNameLst>
                                      </p:cBhvr>
                                      <p:to>
                                        <p:strVal val="visible"/>
                                      </p:to>
                                    </p:set>
                                    <p:animEffect transition="in" filter="wipe(left)">
                                      <p:cBhvr>
                                        <p:cTn id="213" dur="500"/>
                                        <p:tgtEl>
                                          <p:spTgt spid="30"/>
                                        </p:tgtEl>
                                      </p:cBhvr>
                                    </p:animEffect>
                                  </p:childTnLst>
                                </p:cTn>
                              </p:par>
                              <p:par>
                                <p:cTn id="214" presetID="10" presetClass="entr" presetSubtype="0" fill="hold" nodeType="withEffect">
                                  <p:stCondLst>
                                    <p:cond delay="800"/>
                                  </p:stCondLst>
                                  <p:childTnLst>
                                    <p:set>
                                      <p:cBhvr>
                                        <p:cTn id="215" dur="1" fill="hold">
                                          <p:stCondLst>
                                            <p:cond delay="0"/>
                                          </p:stCondLst>
                                        </p:cTn>
                                        <p:tgtEl>
                                          <p:spTgt spid="31"/>
                                        </p:tgtEl>
                                        <p:attrNameLst>
                                          <p:attrName>style.visibility</p:attrName>
                                        </p:attrNameLst>
                                      </p:cBhvr>
                                      <p:to>
                                        <p:strVal val="visible"/>
                                      </p:to>
                                    </p:set>
                                    <p:animEffect transition="in" filter="fade">
                                      <p:cBhvr>
                                        <p:cTn id="216" dur="450"/>
                                        <p:tgtEl>
                                          <p:spTgt spid="31"/>
                                        </p:tgtEl>
                                      </p:cBhvr>
                                    </p:animEffect>
                                  </p:childTnLst>
                                </p:cTn>
                              </p:par>
                              <p:par>
                                <p:cTn id="217" presetID="10" presetClass="entr" presetSubtype="0" grpId="0" fill="hold" nodeType="withEffect">
                                  <p:stCondLst>
                                    <p:cond delay="870"/>
                                  </p:stCondLst>
                                  <p:childTnLst>
                                    <p:set>
                                      <p:cBhvr>
                                        <p:cTn id="218" dur="1" fill="hold">
                                          <p:stCondLst>
                                            <p:cond delay="0"/>
                                          </p:stCondLst>
                                        </p:cTn>
                                        <p:tgtEl>
                                          <p:spTgt spid="32">
                                            <p:txEl>
                                              <p:pRg st="0" end="0"/>
                                            </p:txEl>
                                          </p:spTgt>
                                        </p:tgtEl>
                                        <p:attrNameLst>
                                          <p:attrName>style.visibility</p:attrName>
                                        </p:attrNameLst>
                                      </p:cBhvr>
                                      <p:to>
                                        <p:strVal val="visible"/>
                                      </p:to>
                                    </p:set>
                                    <p:animEffect transition="in" filter="fade">
                                      <p:cBhvr>
                                        <p:cTn id="219" dur="450"/>
                                        <p:tgtEl>
                                          <p:spTgt spid="32">
                                            <p:txEl>
                                              <p:pRg st="0" end="0"/>
                                            </p:txEl>
                                          </p:spTgt>
                                        </p:tgtEl>
                                      </p:cBhvr>
                                    </p:animEffect>
                                  </p:childTnLst>
                                </p:cTn>
                              </p:par>
                              <p:par>
                                <p:cTn id="220" presetID="10" presetClass="entr" presetSubtype="0" grpId="0" fill="hold" nodeType="withEffect">
                                  <p:stCondLst>
                                    <p:cond delay="1250"/>
                                  </p:stCondLst>
                                  <p:childTnLst>
                                    <p:set>
                                      <p:cBhvr>
                                        <p:cTn id="221" dur="1" fill="hold">
                                          <p:stCondLst>
                                            <p:cond delay="0"/>
                                          </p:stCondLst>
                                        </p:cTn>
                                        <p:tgtEl>
                                          <p:spTgt spid="32">
                                            <p:txEl>
                                              <p:pRg st="1" end="1"/>
                                            </p:txEl>
                                          </p:spTgt>
                                        </p:tgtEl>
                                        <p:attrNameLst>
                                          <p:attrName>style.visibility</p:attrName>
                                        </p:attrNameLst>
                                      </p:cBhvr>
                                      <p:to>
                                        <p:strVal val="visible"/>
                                      </p:to>
                                    </p:set>
                                    <p:animEffect transition="in" filter="fade">
                                      <p:cBhvr>
                                        <p:cTn id="222" dur="450"/>
                                        <p:tgtEl>
                                          <p:spTgt spid="32">
                                            <p:txEl>
                                              <p:pRg st="1" end="1"/>
                                            </p:txEl>
                                          </p:spTgt>
                                        </p:tgtEl>
                                      </p:cBhvr>
                                    </p:animEffect>
                                  </p:childTnLst>
                                </p:cTn>
                              </p:par>
                              <p:par>
                                <p:cTn id="223" presetID="10" presetClass="entr" presetSubtype="0" grpId="0" fill="hold" nodeType="withEffect">
                                  <p:stCondLst>
                                    <p:cond delay="1630"/>
                                  </p:stCondLst>
                                  <p:childTnLst>
                                    <p:set>
                                      <p:cBhvr>
                                        <p:cTn id="224" dur="1" fill="hold">
                                          <p:stCondLst>
                                            <p:cond delay="0"/>
                                          </p:stCondLst>
                                        </p:cTn>
                                        <p:tgtEl>
                                          <p:spTgt spid="32">
                                            <p:txEl>
                                              <p:pRg st="2" end="2"/>
                                            </p:txEl>
                                          </p:spTgt>
                                        </p:tgtEl>
                                        <p:attrNameLst>
                                          <p:attrName>style.visibility</p:attrName>
                                        </p:attrNameLst>
                                      </p:cBhvr>
                                      <p:to>
                                        <p:strVal val="visible"/>
                                      </p:to>
                                    </p:set>
                                    <p:animEffect transition="in" filter="fade">
                                      <p:cBhvr>
                                        <p:cTn id="225" dur="450"/>
                                        <p:tgtEl>
                                          <p:spTgt spid="32">
                                            <p:txEl>
                                              <p:pRg st="2" end="2"/>
                                            </p:txEl>
                                          </p:spTgt>
                                        </p:tgtEl>
                                      </p:cBhvr>
                                    </p:animEffect>
                                  </p:childTnLst>
                                </p:cTn>
                              </p:par>
                              <p:par>
                                <p:cTn id="226" presetID="10" presetClass="entr" presetSubtype="0" fill="hold" nodeType="withEffect">
                                  <p:stCondLst>
                                    <p:cond delay="580"/>
                                  </p:stCondLst>
                                  <p:childTnLst>
                                    <p:set>
                                      <p:cBhvr>
                                        <p:cTn id="227" dur="1" fill="hold">
                                          <p:stCondLst>
                                            <p:cond delay="0"/>
                                          </p:stCondLst>
                                        </p:cTn>
                                        <p:tgtEl>
                                          <p:spTgt spid="33"/>
                                        </p:tgtEl>
                                        <p:attrNameLst>
                                          <p:attrName>style.visibility</p:attrName>
                                        </p:attrNameLst>
                                      </p:cBhvr>
                                      <p:to>
                                        <p:strVal val="visible"/>
                                      </p:to>
                                    </p:set>
                                    <p:animEffect transition="in" filter="fade">
                                      <p:cBhvr>
                                        <p:cTn id="228"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4" grpId="0" build="p"/>
      <p:bldP spid="18" grpId="0" build="p"/>
      <p:bldP spid="22" grpId="0" build="p"/>
      <p:bldP spid="28" grpId="0" build="p"/>
      <p:bldP spid="3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En las interfaces las ondas se reflejan, se transmiten y se convierten</a:t>
            </a:r>
            <a:endParaRPr lang="en-US" sz="2200" dirty="0"/>
          </a:p>
        </p:txBody>
      </p:sp>
      <p:sp>
        <p:nvSpPr>
          <p:cNvPr id="3" name="Obj [o21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ondas de cuerpo, al llegar a una interfaz, se reflejan y se transmiten</a:t>
            </a:r>
            <a:endParaRPr lang="en-US" sz="1400" dirty="0"/>
          </a:p>
        </p:txBody>
      </p:sp>
      <p:pic>
        <p:nvPicPr>
          <p:cNvPr id="4" name="Obj [o213]" descr="Interfaz entre dos medios con onda incidente, reflejada y transmitida">    </p:cNvPr>
          <p:cNvPicPr>
            <a:picLocks noChangeAspect="1"/>
          </p:cNvPicPr>
          <p:nvPr/>
        </p:nvPicPr>
        <p:blipFill>
          <a:blip r:embed="rId1"/>
          <a:stretch>
            <a:fillRect/>
          </a:stretch>
        </p:blipFill>
        <p:spPr>
          <a:xfrm>
            <a:off x="966136" y="1641589"/>
            <a:ext cx="4327037" cy="2724431"/>
          </a:xfrm>
          <a:prstGeom prst="rect">
            <a:avLst/>
          </a:prstGeom>
        </p:spPr>
      </p:pic>
      <p:sp>
        <p:nvSpPr>
          <p:cNvPr id="5" name="Obj [o214]"/>
          <p:cNvSpPr txBox="1"/>
          <p:nvPr/>
        </p:nvSpPr>
        <p:spPr>
          <a:xfrm>
            <a:off x="5453433" y="1641589"/>
            <a:ext cx="2724431" cy="2804561"/>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Las ondas de cuerpo (P y S) viajan por el interior del terreno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Un modelo en capas es más realista: en cada interfaz cambian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ρ</m:t>
                    </m:r>
                  </m:oMath>
                </a14:m>
              </mc:Choice>
              <mc:Fallback>
                <a:r>
                  <a:rPr lang="en-US" sz="1440" dirty="0">
                    <a:solidFill>
                      <a:srgbClr val="2D2D2D"/>
                    </a:solidFill>
                    <a:latin typeface="Arial" pitchFamily="34" charset="0"/>
                    <a:ea typeface="Arial" pitchFamily="34" charset="-122"/>
                    <a:cs typeface="Arial" pitchFamily="34" charset="-120"/>
                  </a:rPr>
                  <a:t>ρ</a:t>
                </a:r>
              </mc:Fallback>
            </mc:AlternateContent>
            <a:r>
              <a:rPr lang="en-US" sz="144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p</m:t>
                        </m:r>
                      </m:sub>
                    </m:sSub>
                  </m:oMath>
                </a14:m>
              </mc:Choice>
              <mc:Fallback>
                <a:r>
                  <a:rPr lang="en-US" sz="1440" dirty="0">
                    <a:solidFill>
                      <a:srgbClr val="2D2D2D"/>
                    </a:solidFill>
                    <a:latin typeface="Arial" pitchFamily="34" charset="0"/>
                    <a:ea typeface="Arial" pitchFamily="34" charset="-122"/>
                    <a:cs typeface="Arial" pitchFamily="34" charset="-120"/>
                  </a:rPr>
                  <a:t>Vp</a:t>
                </a:r>
              </mc:Fallback>
            </mc:AlternateContent>
            <a:r>
              <a:rPr lang="en-US" sz="1440" dirty="0">
                <a:solidFill>
                  <a:srgbClr val="2D2D2D"/>
                </a:solidFill>
                <a:latin typeface="Arial" pitchFamily="34" charset="0"/>
                <a:ea typeface="Arial" pitchFamily="34" charset="-122"/>
                <a:cs typeface="Arial" pitchFamily="34" charset="-120"/>
              </a:rPr>
              <a:t> y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Parte de la energía se refleja y parte se transmite</a:t>
            </a:r>
            <a:endParaRPr lang="en-US" sz="1440" dirty="0"/>
          </a:p>
        </p:txBody>
      </p:sp>
      <p:sp>
        <p:nvSpPr>
          <p:cNvPr id="6" name="Obj [o21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7" name="Obj [o21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el caso de una superficie libre, la energía vuelve al terreno</a:t>
            </a:r>
            <a:endParaRPr lang="en-US" sz="1400" dirty="0"/>
          </a:p>
        </p:txBody>
      </p:sp>
      <p:pic>
        <p:nvPicPr>
          <p:cNvPr id="8" name="Obj [o217]" descr="Superficie libre: la onda incidente se refleja de vuelta al terreno">    </p:cNvPr>
          <p:cNvPicPr>
            <a:picLocks noChangeAspect="1"/>
          </p:cNvPicPr>
          <p:nvPr/>
        </p:nvPicPr>
        <p:blipFill>
          <a:blip r:embed="rId2"/>
          <a:stretch>
            <a:fillRect/>
          </a:stretch>
        </p:blipFill>
        <p:spPr>
          <a:xfrm>
            <a:off x="441794" y="1633397"/>
            <a:ext cx="4105855" cy="2585168"/>
          </a:xfrm>
          <a:prstGeom prst="rect">
            <a:avLst/>
          </a:prstGeom>
        </p:spPr>
      </p:pic>
      <p:sp>
        <p:nvSpPr>
          <p:cNvPr id="9" name="Obj [o218]"/>
          <p:cNvSpPr txBox="1"/>
          <p:nvPr/>
        </p:nvSpPr>
        <p:spPr>
          <a:xfrm>
            <a:off x="4775752" y="1709431"/>
            <a:ext cx="2509133" cy="2509133"/>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La superficie libre es el contacto entre el terreno y el aire</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Prácticamente toda la energía se refleja hacia el terreno</a:t>
            </a:r>
            <a:endParaRPr lang="en-US" sz="1553" dirty="0"/>
          </a:p>
        </p:txBody>
      </p:sp>
      <p:sp>
        <p:nvSpPr>
          <p:cNvPr id="10" name="Obj [o21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11" name="Obj [o22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Respecto a la superficie libre, la onda S se clasifica en SV y SH</a:t>
            </a:r>
            <a:endParaRPr lang="en-US" sz="1400" dirty="0"/>
          </a:p>
        </p:txBody>
      </p:sp>
      <p:pic>
        <p:nvPicPr>
          <p:cNvPr id="12" name="Obj [o221]" descr="Onda SV con movimiento en el plano de incidencia y onda SH con movimiento perpendicular a ese plano">    </p:cNvPr>
          <p:cNvPicPr>
            <a:picLocks noChangeAspect="1"/>
          </p:cNvPicPr>
          <p:nvPr/>
        </p:nvPicPr>
        <p:blipFill>
          <a:blip r:embed="rId3"/>
          <a:stretch>
            <a:fillRect/>
          </a:stretch>
        </p:blipFill>
        <p:spPr>
          <a:xfrm>
            <a:off x="441794" y="1595380"/>
            <a:ext cx="4562061" cy="2585168"/>
          </a:xfrm>
          <a:prstGeom prst="rect">
            <a:avLst/>
          </a:prstGeom>
        </p:spPr>
      </p:pic>
      <p:sp>
        <p:nvSpPr>
          <p:cNvPr id="13" name="Obj [o222]"/>
          <p:cNvSpPr txBox="1"/>
          <p:nvPr/>
        </p:nvSpPr>
        <p:spPr>
          <a:xfrm>
            <a:off x="5155924" y="1633397"/>
            <a:ext cx="2128962" cy="2661202"/>
          </a:xfrm>
          <a:prstGeom prst="rect">
            <a:avLst/>
          </a:prstGeom>
          <a:noFill/>
          <a:ln/>
        </p:spPr>
        <p:txBody>
          <a:bodyPr wrap="square" lIns="0" tIns="0" rIns="0" bIns="0" rtlCol="0" anchor="t"/>
          <a:lstStyle/>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Referencia: el plano de la superficie libre</a:t>
            </a:r>
            <a:endParaRPr lang="en-US" sz="1380" dirty="0"/>
          </a:p>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La onda S puede moverse de dos formas respecto a él</a:t>
            </a:r>
            <a:endParaRPr lang="en-US" sz="1380" dirty="0"/>
          </a:p>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SV: oscila en el plano vertical que contiene el rayo</a:t>
            </a:r>
            <a:endParaRPr lang="en-US" sz="1380" dirty="0"/>
          </a:p>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SH: oscila en horizontal, perpendicular a ese plano</a:t>
            </a:r>
            <a:endParaRPr lang="en-US" sz="1380" dirty="0"/>
          </a:p>
        </p:txBody>
      </p:sp>
      <p:sp>
        <p:nvSpPr>
          <p:cNvPr id="14" name="Obj [o22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la polarización de la onda S.</a:t>
            </a:r>
            <a:endParaRPr lang="en-US" sz="800" dirty="0"/>
          </a:p>
        </p:txBody>
      </p:sp>
      <p:sp>
        <p:nvSpPr>
          <p:cNvPr id="15" name="Obj [o22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Los ángulos de las ondas generadas se relacionan con la ley de Snell</a:t>
            </a:r>
            <a:endParaRPr lang="en-US" sz="1400" dirty="0"/>
          </a:p>
        </p:txBody>
      </p:sp>
      <p:pic>
        <p:nvPicPr>
          <p:cNvPr id="16" name="Obj [o225]" descr="Onda P incidente en una interfaz: ondas P y S reflejadas y transmitidas con sus ángulos">    </p:cNvPr>
          <p:cNvPicPr>
            <a:picLocks noChangeAspect="1"/>
          </p:cNvPicPr>
          <p:nvPr/>
        </p:nvPicPr>
        <p:blipFill>
          <a:blip r:embed="rId4"/>
          <a:stretch>
            <a:fillRect/>
          </a:stretch>
        </p:blipFill>
        <p:spPr>
          <a:xfrm>
            <a:off x="441794" y="1595380"/>
            <a:ext cx="2395082" cy="2661202"/>
          </a:xfrm>
          <a:prstGeom prst="rect">
            <a:avLst/>
          </a:prstGeom>
        </p:spPr>
      </p:pic>
      <p:sp>
        <p:nvSpPr>
          <p:cNvPr id="17" name="Obj [o226]"/>
          <p:cNvSpPr/>
          <p:nvPr/>
        </p:nvSpPr>
        <p:spPr>
          <a:xfrm>
            <a:off x="3331100" y="1633397"/>
            <a:ext cx="3953786"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227]"/>
              <p:cNvSpPr txBox="1"/>
              <p:nvPr/>
            </p:nvSpPr>
            <p:spPr>
              <a:xfrm>
                <a:off x="3331100" y="1633397"/>
                <a:ext cx="3953786"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r>
                            <m:rPr>
                              <m:sty m:val="p"/>
                            </m:rPr>
                            <a:rPr lang="es-ES" sz="2100">
                              <a:solidFill>
                                <a:srgbClr val="1F4E79"/>
                              </a:solidFill>
                              <a:latin typeface="Cambria Math" panose="02040503050406030204" pitchFamily="18" charset="0"/>
                            </a:rPr>
                            <m:t xml:space="preserve">sin</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θ</m:t>
                              </m:r>
                            </m:e>
                            <m:sub>
                              <m:r>
                                <a:rPr lang="es-ES" sz="2100" i="1">
                                  <a:solidFill>
                                    <a:srgbClr val="1F4E79"/>
                                  </a:solidFill>
                                  <a:latin typeface="Cambria Math" panose="02040503050406030204" pitchFamily="18" charset="0"/>
                                </a:rPr>
                                <m:t xml:space="preserve">1</m:t>
                              </m:r>
                            </m:sub>
                          </m:sSub>
                        </m:num>
                        <m:den>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1</m:t>
                              </m:r>
                            </m:sub>
                          </m:sSub>
                        </m:den>
                      </m:f>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m:rPr>
                              <m:sty m:val="p"/>
                            </m:rPr>
                            <a:rPr lang="es-ES" sz="2100">
                              <a:solidFill>
                                <a:srgbClr val="1F4E79"/>
                              </a:solidFill>
                              <a:latin typeface="Cambria Math" panose="02040503050406030204" pitchFamily="18" charset="0"/>
                            </a:rPr>
                            <m:t xml:space="preserve">sin</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θ</m:t>
                              </m:r>
                            </m:e>
                            <m:sub>
                              <m:r>
                                <a:rPr lang="es-ES" sz="2100" i="1">
                                  <a:solidFill>
                                    <a:srgbClr val="1F4E79"/>
                                  </a:solidFill>
                                  <a:latin typeface="Cambria Math" panose="02040503050406030204" pitchFamily="18" charset="0"/>
                                </a:rPr>
                                <m:t xml:space="preserve">2</m:t>
                              </m:r>
                            </m:sub>
                          </m:sSub>
                        </m:num>
                        <m:den>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2</m:t>
                              </m:r>
                            </m:sub>
                          </m:sSub>
                        </m:den>
                      </m:f>
                      <m:r>
                        <a:rPr lang="es-ES" sz="2100" i="1">
                          <a:solidFill>
                            <a:srgbClr val="1F4E79"/>
                          </a:solidFill>
                          <a:latin typeface="Cambria Math" panose="02040503050406030204" pitchFamily="18" charset="0"/>
                        </a:rPr>
                        <m:t xml:space="preserve">=p</m:t>
                      </m:r>
                    </m:oMath>
                  </m:oMathPara>
                </a14:m>
                <a:endParaRPr lang="es-ES"/>
              </a:p>
            </p:txBody>
          </p:sp>
        </mc:Choice>
        <mc:Fallback>
          <p:sp>
            <p:nvSpPr>
              <p:cNvPr id="18" name="Obj [o227]"/>
              <p:cNvSpPr txBox="1"/>
              <p:nvPr/>
            </p:nvSpPr>
            <p:spPr>
              <a:xfrm>
                <a:off x="3331100" y="1633397"/>
                <a:ext cx="3953786"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sin θ₁ / V₁ = sin θ₂ / V₂ = p</a:t>
                </a:r>
                <a:endParaRPr lang="en-US" sz="2071" dirty="0"/>
              </a:p>
            </p:txBody>
          </p:sp>
        </mc:Fallback>
      </mc:AlternateContent>
      <p:sp>
        <p:nvSpPr>
          <p:cNvPr id="19" name="Obj [o228]"/>
          <p:cNvSpPr txBox="1"/>
          <p:nvPr/>
        </p:nvSpPr>
        <p:spPr>
          <a:xfrm>
            <a:off x="3331100" y="2545809"/>
            <a:ext cx="3953786" cy="1748790"/>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Vale para P, SV y SH: V es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p</m:t>
                        </m:r>
                      </m:sub>
                    </m:sSub>
                  </m:oMath>
                </a14:m>
              </mc:Choice>
              <mc:Fallback>
                <a:r>
                  <a:rPr lang="en-US" sz="1380" dirty="0">
                    <a:solidFill>
                      <a:srgbClr val="2D2D2D"/>
                    </a:solidFill>
                    <a:latin typeface="Arial" pitchFamily="34" charset="0"/>
                    <a:ea typeface="Arial" pitchFamily="34" charset="-122"/>
                    <a:cs typeface="Arial" pitchFamily="34" charset="-120"/>
                  </a:rPr>
                  <a:t>Vp</a:t>
                </a:r>
              </mc:Fallback>
            </mc:AlternateContent>
            <a:r>
              <a:rPr lang="en-US" sz="1380" dirty="0">
                <a:solidFill>
                  <a:srgbClr val="2D2D2D"/>
                </a:solidFill>
                <a:latin typeface="Arial" pitchFamily="34" charset="0"/>
                <a:ea typeface="Arial" pitchFamily="34" charset="-122"/>
                <a:cs typeface="Arial" pitchFamily="34" charset="-120"/>
              </a:rPr>
              <a:t> para P y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s</m:t>
                        </m:r>
                      </m:sub>
                    </m:sSub>
                  </m:oMath>
                </a14:m>
              </mc:Choice>
              <mc:Fallback>
                <a:r>
                  <a:rPr lang="en-US" sz="1380" dirty="0">
                    <a:solidFill>
                      <a:srgbClr val="2D2D2D"/>
                    </a:solidFill>
                    <a:latin typeface="Arial" pitchFamily="34" charset="0"/>
                    <a:ea typeface="Arial" pitchFamily="34" charset="-122"/>
                    <a:cs typeface="Arial" pitchFamily="34" charset="-120"/>
                  </a:rPr>
                  <a:t>Vs</a:t>
                </a:r>
              </mc:Fallback>
            </mc:AlternateContent>
            <a:r>
              <a:rPr lang="en-US" sz="1380" dirty="0">
                <a:solidFill>
                  <a:srgbClr val="2D2D2D"/>
                </a:solidFill>
                <a:latin typeface="Arial" pitchFamily="34" charset="0"/>
                <a:ea typeface="Arial" pitchFamily="34" charset="-122"/>
                <a:cs typeface="Arial" pitchFamily="34" charset="-120"/>
              </a:rPr>
              <a:t> para SV y SH</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Como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s</m:t>
                        </m:r>
                      </m:sub>
                    </m:sSub>
                    <m:r>
                      <m:rPr>
                        <m:sty m:val="p"/>
                      </m:rPr>
                      <a:rPr lang="es-ES" sz="1380">
                        <a:solidFill>
                          <a:srgbClr val="2D2D2D"/>
                        </a:solidFill>
                        <a:latin typeface="Cambria Math" panose="02040503050406030204" pitchFamily="18" charset="0"/>
                      </a:rPr>
                      <m:t xml:space="preserve">&lt;</m:t>
                    </m:r>
                    <m:sSub>
                      <m:sSubPr>
                        <m:ctrlPr>
                          <a:rPr lang="es-ES" sz="1380" i="1">
                            <a:latin typeface="Cambria Math" panose="02040503050406030204" pitchFamily="18" charset="0"/>
                          </a:rPr>
                        </m:ctrlPr>
                      </m:sSubPr>
                      <m:e>
                        <m:r>
                          <a:rPr lang="es-ES" sz="1380" i="1">
                            <a:solidFill>
                              <a:srgbClr val="2D2D2D"/>
                            </a:solidFill>
                            <a:latin typeface="Cambria Math" panose="02040503050406030204" pitchFamily="18" charset="0"/>
                          </a:rPr>
                          <m:t xml:space="preserve">V</m:t>
                        </m:r>
                      </m:e>
                      <m:sub>
                        <m:r>
                          <a:rPr lang="es-ES" sz="1380" i="1">
                            <a:solidFill>
                              <a:srgbClr val="2D2D2D"/>
                            </a:solidFill>
                            <a:latin typeface="Cambria Math" panose="02040503050406030204" pitchFamily="18" charset="0"/>
                          </a:rPr>
                          <m:t xml:space="preserve">p</m:t>
                        </m:r>
                      </m:sub>
                    </m:sSub>
                  </m:oMath>
                </a14:m>
              </mc:Choice>
              <mc:Fallback>
                <a:r>
                  <a:rPr lang="en-US" sz="1380" dirty="0">
                    <a:solidFill>
                      <a:srgbClr val="2D2D2D"/>
                    </a:solidFill>
                    <a:latin typeface="Arial" pitchFamily="34" charset="0"/>
                    <a:ea typeface="Arial" pitchFamily="34" charset="-122"/>
                    <a:cs typeface="Arial" pitchFamily="34" charset="-120"/>
                  </a:rPr>
                  <a:t>Vs &lt; Vp</a:t>
                </a:r>
              </mc:Fallback>
            </mc:AlternateContent>
            <a:r>
              <a:rPr lang="en-US" sz="1380" dirty="0">
                <a:solidFill>
                  <a:srgbClr val="2D2D2D"/>
                </a:solidFill>
                <a:latin typeface="Arial" pitchFamily="34" charset="0"/>
                <a:ea typeface="Arial" pitchFamily="34" charset="-122"/>
                <a:cs typeface="Arial" pitchFamily="34" charset="-120"/>
              </a:rPr>
              <a:t>, la S sale con un ángulo menor que la P</a:t>
            </a:r>
            <a:endParaRPr lang="en-US" sz="1380" dirty="0"/>
          </a:p>
        </p:txBody>
      </p:sp>
      <p:sp>
        <p:nvSpPr>
          <p:cNvPr id="20" name="Obj [o22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SLB (s. f.), The Defining Series: Beginner's Guide to Seismic Surveying, traducida.</a:t>
            </a:r>
            <a:endParaRPr lang="en-US" sz="800" dirty="0"/>
          </a:p>
        </p:txBody>
      </p:sp>
      <p:sp>
        <p:nvSpPr>
          <p:cNvPr id="21" name="Obj [o23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la superficie libre, P y SV se convierten entre sí; SH queda aparte</a:t>
            </a:r>
            <a:endParaRPr lang="en-US" sz="1400" dirty="0"/>
          </a:p>
        </p:txBody>
      </p:sp>
      <p:sp>
        <p:nvSpPr>
          <p:cNvPr id="22" name="Obj [o231]"/>
          <p:cNvSpPr/>
          <p:nvPr/>
        </p:nvSpPr>
        <p:spPr>
          <a:xfrm>
            <a:off x="441794" y="1709431"/>
            <a:ext cx="1140515" cy="646292"/>
          </a:xfrm>
          <a:prstGeom prst="roundRect">
            <a:avLst>
              <a:gd name="adj" fmla="val 11319"/>
            </a:avLst>
          </a:prstGeom>
          <a:solidFill>
            <a:srgbClr val="2E75B6"/>
          </a:solidFill>
          <a:ln w="6350">
            <a:solidFill>
              <a:srgbClr val="2E75B6"/>
            </a:solidFill>
            <a:prstDash val="solid"/>
          </a:ln>
        </p:spPr>
      </p:sp>
      <p:sp>
        <p:nvSpPr>
          <p:cNvPr id="23" name="Obj [o232]"/>
          <p:cNvSpPr txBox="1"/>
          <p:nvPr/>
        </p:nvSpPr>
        <p:spPr>
          <a:xfrm>
            <a:off x="441794" y="1709431"/>
            <a:ext cx="1140515" cy="64629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P</a:t>
            </a:r>
            <a:endParaRPr lang="en-US" sz="1726" dirty="0"/>
          </a:p>
        </p:txBody>
      </p:sp>
      <p:sp>
        <p:nvSpPr>
          <p:cNvPr id="24" name="Obj [o233]"/>
          <p:cNvSpPr/>
          <p:nvPr/>
        </p:nvSpPr>
        <p:spPr>
          <a:xfrm>
            <a:off x="2570756" y="1709431"/>
            <a:ext cx="1140515" cy="646292"/>
          </a:xfrm>
          <a:prstGeom prst="roundRect">
            <a:avLst>
              <a:gd name="adj" fmla="val 11319"/>
            </a:avLst>
          </a:prstGeom>
          <a:solidFill>
            <a:srgbClr val="2E75B6"/>
          </a:solidFill>
          <a:ln w="6350">
            <a:solidFill>
              <a:srgbClr val="2E75B6"/>
            </a:solidFill>
            <a:prstDash val="solid"/>
          </a:ln>
        </p:spPr>
      </p:sp>
      <p:sp>
        <p:nvSpPr>
          <p:cNvPr id="25" name="Obj [o234]"/>
          <p:cNvSpPr txBox="1"/>
          <p:nvPr/>
        </p:nvSpPr>
        <p:spPr>
          <a:xfrm>
            <a:off x="2570756" y="1709431"/>
            <a:ext cx="1140515" cy="64629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SV</a:t>
            </a:r>
            <a:endParaRPr lang="en-US" sz="1726" dirty="0"/>
          </a:p>
        </p:txBody>
      </p:sp>
      <p:sp>
        <p:nvSpPr>
          <p:cNvPr id="26" name="Obj [o235]"/>
          <p:cNvSpPr/>
          <p:nvPr/>
        </p:nvSpPr>
        <p:spPr>
          <a:xfrm>
            <a:off x="1620327" y="2032577"/>
            <a:ext cx="912412" cy="0"/>
          </a:xfrm>
          <a:prstGeom prst="line">
            <a:avLst/>
          </a:prstGeom>
          <a:noFill/>
          <a:ln w="31681">
            <a:solidFill>
              <a:srgbClr val="1F4E79"/>
            </a:solidFill>
            <a:prstDash val="solid"/>
            <a:headEnd type="triangle"/>
            <a:tailEnd type="triangle"/>
          </a:ln>
        </p:spPr>
      </p:sp>
      <p:sp>
        <p:nvSpPr>
          <p:cNvPr id="27" name="Obj [o236]"/>
          <p:cNvSpPr txBox="1"/>
          <p:nvPr/>
        </p:nvSpPr>
        <p:spPr>
          <a:xfrm>
            <a:off x="1544292" y="2089603"/>
            <a:ext cx="1064481" cy="304137"/>
          </a:xfrm>
          <a:prstGeom prst="rect">
            <a:avLst/>
          </a:prstGeom>
          <a:noFill/>
          <a:ln/>
        </p:spPr>
        <p:txBody>
          <a:bodyPr wrap="square" lIns="0" tIns="0" rIns="0" bIns="0" rtlCol="0" anchor="t"/>
          <a:lstStyle/>
          <a:p>
            <a:pPr algn="ctr" indent="0" marL="0">
              <a:buNone/>
            </a:pPr>
            <a:r>
              <a:rPr lang="en-US" sz="1380" dirty="0">
                <a:solidFill>
                  <a:srgbClr val="1F4E79"/>
                </a:solidFill>
                <a:latin typeface="Arial" pitchFamily="34" charset="0"/>
                <a:ea typeface="Arial" pitchFamily="34" charset="-122"/>
                <a:cs typeface="Arial" pitchFamily="34" charset="-120"/>
              </a:rPr>
              <a:t>se acoplan</a:t>
            </a:r>
            <a:endParaRPr lang="en-US" sz="1380" dirty="0"/>
          </a:p>
        </p:txBody>
      </p:sp>
      <p:sp>
        <p:nvSpPr>
          <p:cNvPr id="28" name="Obj [o237]"/>
          <p:cNvSpPr/>
          <p:nvPr/>
        </p:nvSpPr>
        <p:spPr>
          <a:xfrm>
            <a:off x="4851787" y="1709431"/>
            <a:ext cx="1520687" cy="646292"/>
          </a:xfrm>
          <a:prstGeom prst="roundRect">
            <a:avLst>
              <a:gd name="adj" fmla="val 11319"/>
            </a:avLst>
          </a:prstGeom>
          <a:solidFill>
            <a:srgbClr val="C55A11"/>
          </a:solidFill>
          <a:ln w="6350">
            <a:solidFill>
              <a:srgbClr val="C55A11"/>
            </a:solidFill>
            <a:prstDash val="solid"/>
          </a:ln>
        </p:spPr>
      </p:sp>
      <p:sp>
        <p:nvSpPr>
          <p:cNvPr id="29" name="Obj [o238]"/>
          <p:cNvSpPr txBox="1"/>
          <p:nvPr/>
        </p:nvSpPr>
        <p:spPr>
          <a:xfrm>
            <a:off x="4851787" y="1709431"/>
            <a:ext cx="1520687" cy="64629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SH</a:t>
            </a:r>
            <a:endParaRPr lang="en-US" sz="1726" dirty="0"/>
          </a:p>
        </p:txBody>
      </p:sp>
      <p:sp>
        <p:nvSpPr>
          <p:cNvPr id="30" name="Obj [o239]"/>
          <p:cNvSpPr txBox="1"/>
          <p:nvPr/>
        </p:nvSpPr>
        <p:spPr>
          <a:xfrm>
            <a:off x="4623683" y="2393740"/>
            <a:ext cx="1976893" cy="304137"/>
          </a:xfrm>
          <a:prstGeom prst="rect">
            <a:avLst/>
          </a:prstGeom>
          <a:noFill/>
          <a:ln/>
        </p:spPr>
        <p:txBody>
          <a:bodyPr wrap="square" lIns="0" tIns="0" rIns="0" bIns="0" rtlCol="0" anchor="t"/>
          <a:lstStyle/>
          <a:p>
            <a:pPr algn="ctr" indent="0" marL="0">
              <a:buNone/>
            </a:pPr>
            <a:r>
              <a:rPr lang="en-US" sz="1380" dirty="0">
                <a:solidFill>
                  <a:srgbClr val="C55A11"/>
                </a:solidFill>
                <a:latin typeface="Arial" pitchFamily="34" charset="0"/>
                <a:ea typeface="Arial" pitchFamily="34" charset="-122"/>
                <a:cs typeface="Arial" pitchFamily="34" charset="-120"/>
              </a:rPr>
              <a:t>solo genera SH</a:t>
            </a:r>
            <a:endParaRPr lang="en-US" sz="1380" dirty="0"/>
          </a:p>
        </p:txBody>
      </p:sp>
      <p:sp>
        <p:nvSpPr>
          <p:cNvPr id="31" name="Obj [o240]"/>
          <p:cNvSpPr/>
          <p:nvPr/>
        </p:nvSpPr>
        <p:spPr>
          <a:xfrm>
            <a:off x="2076533" y="2469775"/>
            <a:ext cx="0" cy="570258"/>
          </a:xfrm>
          <a:prstGeom prst="line">
            <a:avLst/>
          </a:prstGeom>
          <a:noFill/>
          <a:ln w="31681">
            <a:solidFill>
              <a:srgbClr val="1F4E79"/>
            </a:solidFill>
            <a:prstDash val="solid"/>
            <a:tailEnd type="triangle"/>
          </a:ln>
        </p:spPr>
      </p:sp>
      <p:sp>
        <p:nvSpPr>
          <p:cNvPr id="32" name="Obj [o241]"/>
          <p:cNvSpPr/>
          <p:nvPr/>
        </p:nvSpPr>
        <p:spPr>
          <a:xfrm>
            <a:off x="5612130" y="2735895"/>
            <a:ext cx="0" cy="304137"/>
          </a:xfrm>
          <a:prstGeom prst="line">
            <a:avLst/>
          </a:prstGeom>
          <a:noFill/>
          <a:ln w="31681">
            <a:solidFill>
              <a:srgbClr val="C55A11"/>
            </a:solidFill>
            <a:prstDash val="solid"/>
            <a:tailEnd type="triangle"/>
          </a:ln>
        </p:spPr>
      </p:sp>
      <p:sp>
        <p:nvSpPr>
          <p:cNvPr id="33" name="Obj [o242]"/>
          <p:cNvSpPr/>
          <p:nvPr/>
        </p:nvSpPr>
        <p:spPr>
          <a:xfrm>
            <a:off x="441794" y="3078049"/>
            <a:ext cx="3269477" cy="684309"/>
          </a:xfrm>
          <a:prstGeom prst="roundRect">
            <a:avLst>
              <a:gd name="adj" fmla="val 10690"/>
            </a:avLst>
          </a:prstGeom>
          <a:solidFill>
            <a:srgbClr val="1F4E79"/>
          </a:solidFill>
          <a:ln w="6350">
            <a:solidFill>
              <a:srgbClr val="1F4E79"/>
            </a:solidFill>
            <a:prstDash val="solid"/>
          </a:ln>
        </p:spPr>
      </p:sp>
      <p:sp>
        <p:nvSpPr>
          <p:cNvPr id="34" name="Obj [o243]"/>
          <p:cNvSpPr txBox="1"/>
          <p:nvPr/>
        </p:nvSpPr>
        <p:spPr>
          <a:xfrm>
            <a:off x="441794" y="3078049"/>
            <a:ext cx="3269477" cy="68430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Ondas Rayleigh</a:t>
            </a:r>
            <a:endParaRPr lang="en-US" sz="1726" dirty="0"/>
          </a:p>
        </p:txBody>
      </p:sp>
      <p:sp>
        <p:nvSpPr>
          <p:cNvPr id="35" name="Obj [o244]"/>
          <p:cNvSpPr/>
          <p:nvPr/>
        </p:nvSpPr>
        <p:spPr>
          <a:xfrm>
            <a:off x="4319546" y="3078049"/>
            <a:ext cx="2737237" cy="684309"/>
          </a:xfrm>
          <a:prstGeom prst="roundRect">
            <a:avLst>
              <a:gd name="adj" fmla="val 10690"/>
            </a:avLst>
          </a:prstGeom>
          <a:solidFill>
            <a:srgbClr val="C55A11"/>
          </a:solidFill>
          <a:ln w="6350">
            <a:solidFill>
              <a:srgbClr val="C55A11"/>
            </a:solidFill>
            <a:prstDash val="solid"/>
          </a:ln>
        </p:spPr>
      </p:sp>
      <p:sp>
        <p:nvSpPr>
          <p:cNvPr id="36" name="Obj [o245]"/>
          <p:cNvSpPr txBox="1"/>
          <p:nvPr/>
        </p:nvSpPr>
        <p:spPr>
          <a:xfrm>
            <a:off x="4319546" y="3078049"/>
            <a:ext cx="2737237" cy="68430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Ondas Love</a:t>
            </a:r>
            <a:endParaRPr lang="en-US" sz="1726" dirty="0"/>
          </a:p>
        </p:txBody>
      </p:sp>
      <p:sp>
        <p:nvSpPr>
          <p:cNvPr id="37" name="Obj [o246]"/>
          <p:cNvSpPr txBox="1"/>
          <p:nvPr/>
        </p:nvSpPr>
        <p:spPr>
          <a:xfrm>
            <a:off x="441794" y="3838393"/>
            <a:ext cx="3269477" cy="304137"/>
          </a:xfrm>
          <a:prstGeom prst="rect">
            <a:avLst/>
          </a:prstGeom>
          <a:noFill/>
          <a:ln/>
        </p:spPr>
        <p:txBody>
          <a:bodyPr wrap="square" lIns="0" tIns="0" rIns="0" bIns="0" rtlCol="0" anchor="t"/>
          <a:lstStyle/>
          <a:p>
            <a:pPr algn="ctr" indent="0" marL="0">
              <a:buNone/>
            </a:pPr>
            <a:r>
              <a:rPr lang="en-US" sz="1380" dirty="0">
                <a:solidFill>
                  <a:srgbClr val="6B6B6B"/>
                </a:solidFill>
                <a:latin typeface="Arial" pitchFamily="34" charset="0"/>
                <a:ea typeface="Arial" pitchFamily="34" charset="-122"/>
                <a:cs typeface="Arial" pitchFamily="34" charset="-120"/>
              </a:rPr>
              <a:t>Movimiento en el plano vertical</a:t>
            </a:r>
            <a:endParaRPr lang="en-US" sz="1380" dirty="0"/>
          </a:p>
        </p:txBody>
      </p:sp>
      <p:sp>
        <p:nvSpPr>
          <p:cNvPr id="38" name="Obj [o247]"/>
          <p:cNvSpPr txBox="1"/>
          <p:nvPr/>
        </p:nvSpPr>
        <p:spPr>
          <a:xfrm>
            <a:off x="4167477" y="3838393"/>
            <a:ext cx="3041374" cy="304137"/>
          </a:xfrm>
          <a:prstGeom prst="rect">
            <a:avLst/>
          </a:prstGeom>
          <a:noFill/>
          <a:ln/>
        </p:spPr>
        <p:txBody>
          <a:bodyPr wrap="square" lIns="0" tIns="0" rIns="0" bIns="0" rtlCol="0" anchor="t"/>
          <a:lstStyle/>
          <a:p>
            <a:pPr algn="ctr" indent="0" marL="0">
              <a:buNone/>
            </a:pPr>
            <a:r>
              <a:rPr lang="en-US" sz="1380" dirty="0">
                <a:solidFill>
                  <a:srgbClr val="6B6B6B"/>
                </a:solidFill>
                <a:latin typeface="Arial" pitchFamily="34" charset="0"/>
                <a:ea typeface="Arial" pitchFamily="34" charset="-122"/>
                <a:cs typeface="Arial" pitchFamily="34" charset="-120"/>
              </a:rPr>
              <a:t>Solo con capa blanda sobre medio rápido</a:t>
            </a:r>
            <a:endParaRPr lang="en-US" sz="1380" dirty="0"/>
          </a:p>
        </p:txBody>
      </p:sp>
      <p:sp>
        <p:nvSpPr>
          <p:cNvPr id="39" name="Obj [o24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35"/>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06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grpId="0" fill="hold" nodeType="withEffect">
                                  <p:stCondLst>
                                    <p:cond delay="1385"/>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450"/>
                                        <p:tgtEl>
                                          <p:spTgt spid="5">
                                            <p:txEl>
                                              <p:pRg st="3" end="3"/>
                                            </p:txEl>
                                          </p:spTgt>
                                        </p:tgtEl>
                                      </p:cBhvr>
                                    </p:animEffect>
                                  </p:childTnLst>
                                </p:cTn>
                              </p:par>
                              <p:par>
                                <p:cTn id="25" presetID="10" presetClass="entr" presetSubtype="0" fill="hold" nodeType="withEffect">
                                  <p:stCondLst>
                                    <p:cond delay="40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5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350"/>
                                        <p:tgtEl>
                                          <p:spTgt spid="3"/>
                                        </p:tgtEl>
                                      </p:cBhvr>
                                    </p:animEffect>
                                    <p:set>
                                      <p:cBhvr>
                                        <p:cTn id="32" dur="1" fill="hold">
                                          <p:stCondLst>
                                            <p:cond delay="349"/>
                                          </p:stCondLst>
                                        </p:cTn>
                                        <p:tgtEl>
                                          <p:spTgt spid="3"/>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5">
                                            <p:txEl>
                                              <p:pRg st="0" end="0"/>
                                            </p:txEl>
                                          </p:spTgt>
                                        </p:tgtEl>
                                      </p:cBhvr>
                                    </p:animEffect>
                                    <p:set>
                                      <p:cBhvr>
                                        <p:cTn id="35" dur="1" fill="hold">
                                          <p:stCondLst>
                                            <p:cond delay="349"/>
                                          </p:stCondLst>
                                        </p:cTn>
                                        <p:tgtEl>
                                          <p:spTgt spid="5">
                                            <p:txEl>
                                              <p:pRg st="0" end="0"/>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1" end="1"/>
                                            </p:txEl>
                                          </p:spTgt>
                                        </p:tgtEl>
                                      </p:cBhvr>
                                    </p:animEffect>
                                    <p:set>
                                      <p:cBhvr>
                                        <p:cTn id="38" dur="1" fill="hold">
                                          <p:stCondLst>
                                            <p:cond delay="349"/>
                                          </p:stCondLst>
                                        </p:cTn>
                                        <p:tgtEl>
                                          <p:spTgt spid="5">
                                            <p:txEl>
                                              <p:pRg st="1" end="1"/>
                                            </p:txEl>
                                          </p:spTgt>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350"/>
                                        <p:tgtEl>
                                          <p:spTgt spid="5">
                                            <p:txEl>
                                              <p:pRg st="2" end="2"/>
                                            </p:txEl>
                                          </p:spTgt>
                                        </p:tgtEl>
                                      </p:cBhvr>
                                    </p:animEffect>
                                    <p:set>
                                      <p:cBhvr>
                                        <p:cTn id="41" dur="1" fill="hold">
                                          <p:stCondLst>
                                            <p:cond delay="349"/>
                                          </p:stCondLst>
                                        </p:cTn>
                                        <p:tgtEl>
                                          <p:spTgt spid="5">
                                            <p:txEl>
                                              <p:pRg st="2" end="2"/>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5">
                                            <p:txEl>
                                              <p:pRg st="3" end="3"/>
                                            </p:txEl>
                                          </p:spTgt>
                                        </p:tgtEl>
                                      </p:cBhvr>
                                    </p:animEffect>
                                    <p:set>
                                      <p:cBhvr>
                                        <p:cTn id="44" dur="1" fill="hold">
                                          <p:stCondLst>
                                            <p:cond delay="349"/>
                                          </p:stCondLst>
                                        </p:cTn>
                                        <p:tgtEl>
                                          <p:spTgt spid="5">
                                            <p:txEl>
                                              <p:pRg st="3" end="3"/>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6"/>
                                        </p:tgtEl>
                                      </p:cBhvr>
                                    </p:animEffect>
                                    <p:set>
                                      <p:cBhvr>
                                        <p:cTn id="47" dur="1" fill="hold">
                                          <p:stCondLst>
                                            <p:cond delay="349"/>
                                          </p:stCondLst>
                                        </p:cTn>
                                        <p:tgtEl>
                                          <p:spTgt spid="6"/>
                                        </p:tgtEl>
                                        <p:attrNameLst>
                                          <p:attrName>style.visibility</p:attrName>
                                        </p:attrNameLst>
                                      </p:cBhvr>
                                      <p:to>
                                        <p:strVal val="hidden"/>
                                      </p:to>
                                    </p:set>
                                  </p:childTnLst>
                                </p:cTn>
                              </p:par>
                              <p:par>
                                <p:cTn id="48" presetID="0" presetClass="path" presetSubtype="0" accel="50000" decel="50000" fill="hold" nodeType="withEffect">
                                  <p:stCondLst>
                                    <p:cond delay="0"/>
                                  </p:stCondLst>
                                  <p:childTnLst>
                                    <p:animMotion origin="layout" path="M 0 0 L 0.55024 -0.21600 E" pathEditMode="relative" rAng="0" ptsTypes="AA">
                                      <p:cBhvr>
                                        <p:cTn id="49" dur="750" fill="hold"/>
                                        <p:tgtEl>
                                          <p:spTgt spid="4"/>
                                        </p:tgtEl>
                                        <p:attrNameLst>
                                          <p:attrName>ppt_x</p:attrName>
                                          <p:attrName>ppt_y</p:attrName>
                                        </p:attrNameLst>
                                      </p:cBhvr>
                                      <p:rCtr x="27511" y="-10800"/>
                                    </p:animMotion>
                                  </p:childTnLst>
                                </p:cTn>
                              </p:par>
                              <p:par>
                                <p:cTn id="50" presetID="6" presetClass="emph" presetSubtype="0" accel="50000" decel="50000" fill="hold" nodeType="withEffect">
                                  <p:stCondLst>
                                    <p:cond delay="0"/>
                                  </p:stCondLst>
                                  <p:childTnLst>
                                    <p:animScale>
                                      <p:cBhvr>
                                        <p:cTn id="51" dur="750" fill="hold"/>
                                        <p:tgtEl>
                                          <p:spTgt spid="4"/>
                                        </p:tgtEl>
                                      </p:cBhvr>
                                      <p:by x="28529" y="28529"/>
                                    </p:animScale>
                                  </p:childTnLst>
                                </p:cTn>
                              </p:par>
                              <p:par>
                                <p:cTn id="52" presetID="10" presetClass="entr" presetSubtype="0" fill="hold" nodeType="withEffect">
                                  <p:stCondLst>
                                    <p:cond delay="45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450"/>
                                        <p:tgtEl>
                                          <p:spTgt spid="7"/>
                                        </p:tgtEl>
                                      </p:cBhvr>
                                    </p:animEffect>
                                  </p:childTnLst>
                                </p:cTn>
                              </p:par>
                              <p:par>
                                <p:cTn id="55" presetID="53" presetClass="entr" presetSubtype="16" fill="hold" nodeType="withEffect">
                                  <p:stCondLst>
                                    <p:cond delay="520"/>
                                  </p:stCondLst>
                                  <p:childTnLst>
                                    <p:set>
                                      <p:cBhvr>
                                        <p:cTn id="56" dur="1" fill="hold">
                                          <p:stCondLst>
                                            <p:cond delay="0"/>
                                          </p:stCondLst>
                                        </p:cTn>
                                        <p:tgtEl>
                                          <p:spTgt spid="8"/>
                                        </p:tgtEl>
                                        <p:attrNameLst>
                                          <p:attrName>style.visibility</p:attrName>
                                        </p:attrNameLst>
                                      </p:cBhvr>
                                      <p:to>
                                        <p:strVal val="visible"/>
                                      </p:to>
                                    </p:set>
                                    <p:anim calcmode="lin" valueType="num">
                                      <p:cBhvr>
                                        <p:cTn id="57" dur="600" fill="hold"/>
                                        <p:tgtEl>
                                          <p:spTgt spid="8"/>
                                        </p:tgtEl>
                                        <p:attrNameLst>
                                          <p:attrName>ppt_w</p:attrName>
                                        </p:attrNameLst>
                                      </p:cBhvr>
                                      <p:tavLst>
                                        <p:tav tm="0">
                                          <p:val>
                                            <p:fltVal val="0"/>
                                          </p:val>
                                        </p:tav>
                                        <p:tav tm="100000">
                                          <p:val>
                                            <p:strVal val="#ppt_w"/>
                                          </p:val>
                                        </p:tav>
                                      </p:tavLst>
                                    </p:anim>
                                    <p:anim calcmode="lin" valueType="num">
                                      <p:cBhvr>
                                        <p:cTn id="58" dur="600" fill="hold"/>
                                        <p:tgtEl>
                                          <p:spTgt spid="8"/>
                                        </p:tgtEl>
                                        <p:attrNameLst>
                                          <p:attrName>ppt_h</p:attrName>
                                        </p:attrNameLst>
                                      </p:cBhvr>
                                      <p:tavLst>
                                        <p:tav tm="0">
                                          <p:val>
                                            <p:fltVal val="0"/>
                                          </p:val>
                                        </p:tav>
                                        <p:tav tm="100000">
                                          <p:val>
                                            <p:strVal val="#ppt_h"/>
                                          </p:val>
                                        </p:tav>
                                      </p:tavLst>
                                    </p:anim>
                                    <p:animEffect transition="in" filter="fade">
                                      <p:cBhvr>
                                        <p:cTn id="59" dur="600"/>
                                        <p:tgtEl>
                                          <p:spTgt spid="8"/>
                                        </p:tgtEl>
                                      </p:cBhvr>
                                    </p:animEffect>
                                  </p:childTnLst>
                                </p:cTn>
                              </p:par>
                              <p:par>
                                <p:cTn id="60" presetID="10" presetClass="entr" presetSubtype="0" grpId="0" fill="hold" nodeType="withEffect">
                                  <p:stCondLst>
                                    <p:cond delay="590"/>
                                  </p:stCondLst>
                                  <p:childTnLst>
                                    <p:set>
                                      <p:cBhvr>
                                        <p:cTn id="61" dur="1" fill="hold">
                                          <p:stCondLst>
                                            <p:cond delay="0"/>
                                          </p:stCondLst>
                                        </p:cTn>
                                        <p:tgtEl>
                                          <p:spTgt spid="9">
                                            <p:txEl>
                                              <p:pRg st="0" end="0"/>
                                            </p:txEl>
                                          </p:spTgt>
                                        </p:tgtEl>
                                        <p:attrNameLst>
                                          <p:attrName>style.visibility</p:attrName>
                                        </p:attrNameLst>
                                      </p:cBhvr>
                                      <p:to>
                                        <p:strVal val="visible"/>
                                      </p:to>
                                    </p:set>
                                    <p:animEffect transition="in" filter="fade">
                                      <p:cBhvr>
                                        <p:cTn id="62" dur="450"/>
                                        <p:tgtEl>
                                          <p:spTgt spid="9">
                                            <p:txEl>
                                              <p:pRg st="0" end="0"/>
                                            </p:txEl>
                                          </p:spTgt>
                                        </p:tgtEl>
                                      </p:cBhvr>
                                    </p:animEffect>
                                  </p:childTnLst>
                                </p:cTn>
                              </p:par>
                              <p:par>
                                <p:cTn id="63" presetID="10" presetClass="entr" presetSubtype="0" grpId="0" fill="hold" nodeType="withEffect">
                                  <p:stCondLst>
                                    <p:cond delay="970"/>
                                  </p:stCondLst>
                                  <p:childTnLst>
                                    <p:set>
                                      <p:cBhvr>
                                        <p:cTn id="64" dur="1" fill="hold">
                                          <p:stCondLst>
                                            <p:cond delay="0"/>
                                          </p:stCondLst>
                                        </p:cTn>
                                        <p:tgtEl>
                                          <p:spTgt spid="9">
                                            <p:txEl>
                                              <p:pRg st="1" end="1"/>
                                            </p:txEl>
                                          </p:spTgt>
                                        </p:tgtEl>
                                        <p:attrNameLst>
                                          <p:attrName>style.visibility</p:attrName>
                                        </p:attrNameLst>
                                      </p:cBhvr>
                                      <p:to>
                                        <p:strVal val="visible"/>
                                      </p:to>
                                    </p:set>
                                    <p:animEffect transition="in" filter="fade">
                                      <p:cBhvr>
                                        <p:cTn id="65" dur="450"/>
                                        <p:tgtEl>
                                          <p:spTgt spid="9">
                                            <p:txEl>
                                              <p:pRg st="1" end="1"/>
                                            </p:txEl>
                                          </p:spTgt>
                                        </p:tgtEl>
                                      </p:cBhvr>
                                    </p:animEffect>
                                  </p:childTnLst>
                                </p:cTn>
                              </p:par>
                              <p:par>
                                <p:cTn id="66" presetID="10" presetClass="entr" presetSubtype="0" grpId="0" fill="hold" nodeType="withEffect">
                                  <p:stCondLst>
                                    <p:cond delay="1350"/>
                                  </p:stCondLst>
                                  <p:childTnLst>
                                    <p:set>
                                      <p:cBhvr>
                                        <p:cTn id="67" dur="1" fill="hold">
                                          <p:stCondLst>
                                            <p:cond delay="0"/>
                                          </p:stCondLst>
                                        </p:cTn>
                                        <p:tgtEl>
                                          <p:spTgt spid="9">
                                            <p:txEl>
                                              <p:pRg st="2" end="2"/>
                                            </p:txEl>
                                          </p:spTgt>
                                        </p:tgtEl>
                                        <p:attrNameLst>
                                          <p:attrName>style.visibility</p:attrName>
                                        </p:attrNameLst>
                                      </p:cBhvr>
                                      <p:to>
                                        <p:strVal val="visible"/>
                                      </p:to>
                                    </p:set>
                                    <p:animEffect transition="in" filter="fade">
                                      <p:cBhvr>
                                        <p:cTn id="68" dur="450"/>
                                        <p:tgtEl>
                                          <p:spTgt spid="9">
                                            <p:txEl>
                                              <p:pRg st="2" end="2"/>
                                            </p:txEl>
                                          </p:spTgt>
                                        </p:tgtEl>
                                      </p:cBhvr>
                                    </p:animEffect>
                                  </p:childTnLst>
                                </p:cTn>
                              </p:par>
                              <p:par>
                                <p:cTn id="69" presetID="10" presetClass="entr" presetSubtype="0" fill="hold" nodeType="withEffect">
                                  <p:stCondLst>
                                    <p:cond delay="58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450"/>
                                        <p:tgtEl>
                                          <p:spTgt spid="1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nodeType="clickEffect">
                                  <p:stCondLst>
                                    <p:cond delay="0"/>
                                  </p:stCondLst>
                                  <p:childTnLst>
                                    <p:animEffect transition="out" filter="fade">
                                      <p:cBhvr>
                                        <p:cTn id="75" dur="350"/>
                                        <p:tgtEl>
                                          <p:spTgt spid="7"/>
                                        </p:tgtEl>
                                      </p:cBhvr>
                                    </p:animEffect>
                                    <p:set>
                                      <p:cBhvr>
                                        <p:cTn id="76" dur="1" fill="hold">
                                          <p:stCondLst>
                                            <p:cond delay="349"/>
                                          </p:stCondLst>
                                        </p:cTn>
                                        <p:tgtEl>
                                          <p:spTgt spid="7"/>
                                        </p:tgtEl>
                                        <p:attrNameLst>
                                          <p:attrName>style.visibility</p:attrName>
                                        </p:attrNameLst>
                                      </p:cBhvr>
                                      <p:to>
                                        <p:strVal val="hidden"/>
                                      </p:to>
                                    </p:set>
                                  </p:childTnLst>
                                </p:cTn>
                              </p:par>
                              <p:par>
                                <p:cTn id="77" presetID="10" presetClass="exit" presetSubtype="0" grpId="0" fill="hold" nodeType="withEffect">
                                  <p:stCondLst>
                                    <p:cond delay="0"/>
                                  </p:stCondLst>
                                  <p:childTnLst>
                                    <p:animEffect transition="out" filter="fade">
                                      <p:cBhvr>
                                        <p:cTn id="78" dur="350"/>
                                        <p:tgtEl>
                                          <p:spTgt spid="9">
                                            <p:txEl>
                                              <p:pRg st="0" end="0"/>
                                            </p:txEl>
                                          </p:spTgt>
                                        </p:tgtEl>
                                      </p:cBhvr>
                                    </p:animEffect>
                                    <p:set>
                                      <p:cBhvr>
                                        <p:cTn id="79" dur="1" fill="hold">
                                          <p:stCondLst>
                                            <p:cond delay="349"/>
                                          </p:stCondLst>
                                        </p:cTn>
                                        <p:tgtEl>
                                          <p:spTgt spid="9">
                                            <p:txEl>
                                              <p:pRg st="0" end="0"/>
                                            </p:txEl>
                                          </p:spTgt>
                                        </p:tgtEl>
                                        <p:attrNameLst>
                                          <p:attrName>style.visibility</p:attrName>
                                        </p:attrNameLst>
                                      </p:cBhvr>
                                      <p:to>
                                        <p:strVal val="hidden"/>
                                      </p:to>
                                    </p:set>
                                  </p:childTnLst>
                                </p:cTn>
                              </p:par>
                              <p:par>
                                <p:cTn id="80" presetID="10" presetClass="exit" presetSubtype="0" grpId="0" fill="hold" nodeType="withEffect">
                                  <p:stCondLst>
                                    <p:cond delay="0"/>
                                  </p:stCondLst>
                                  <p:childTnLst>
                                    <p:animEffect transition="out" filter="fade">
                                      <p:cBhvr>
                                        <p:cTn id="81" dur="350"/>
                                        <p:tgtEl>
                                          <p:spTgt spid="9">
                                            <p:txEl>
                                              <p:pRg st="1" end="1"/>
                                            </p:txEl>
                                          </p:spTgt>
                                        </p:tgtEl>
                                      </p:cBhvr>
                                    </p:animEffect>
                                    <p:set>
                                      <p:cBhvr>
                                        <p:cTn id="82" dur="1" fill="hold">
                                          <p:stCondLst>
                                            <p:cond delay="349"/>
                                          </p:stCondLst>
                                        </p:cTn>
                                        <p:tgtEl>
                                          <p:spTgt spid="9">
                                            <p:txEl>
                                              <p:pRg st="1" end="1"/>
                                            </p:txEl>
                                          </p:spTgt>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350"/>
                                        <p:tgtEl>
                                          <p:spTgt spid="9">
                                            <p:txEl>
                                              <p:pRg st="2" end="2"/>
                                            </p:txEl>
                                          </p:spTgt>
                                        </p:tgtEl>
                                      </p:cBhvr>
                                    </p:animEffect>
                                    <p:set>
                                      <p:cBhvr>
                                        <p:cTn id="85" dur="1" fill="hold">
                                          <p:stCondLst>
                                            <p:cond delay="349"/>
                                          </p:stCondLst>
                                        </p:cTn>
                                        <p:tgtEl>
                                          <p:spTgt spid="9">
                                            <p:txEl>
                                              <p:pRg st="2" end="2"/>
                                            </p:txEl>
                                          </p:spTgt>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350"/>
                                        <p:tgtEl>
                                          <p:spTgt spid="10"/>
                                        </p:tgtEl>
                                      </p:cBhvr>
                                    </p:animEffect>
                                    <p:set>
                                      <p:cBhvr>
                                        <p:cTn id="88" dur="1" fill="hold">
                                          <p:stCondLst>
                                            <p:cond delay="349"/>
                                          </p:stCondLst>
                                        </p:cTn>
                                        <p:tgtEl>
                                          <p:spTgt spid="10"/>
                                        </p:tgtEl>
                                        <p:attrNameLst>
                                          <p:attrName>style.visibility</p:attrName>
                                        </p:attrNameLst>
                                      </p:cBhvr>
                                      <p:to>
                                        <p:strVal val="hidden"/>
                                      </p:to>
                                    </p:set>
                                  </p:childTnLst>
                                </p:cTn>
                              </p:par>
                              <p:par>
                                <p:cTn id="89" presetID="0" presetClass="path" presetSubtype="0" accel="50000" decel="50000" fill="hold" nodeType="withEffect">
                                  <p:stCondLst>
                                    <p:cond delay="0"/>
                                  </p:stCondLst>
                                  <p:childTnLst>
                                    <p:animMotion origin="layout" path="M 0 0 L 0.61967 -0.00531 E" pathEditMode="relative" rAng="0" ptsTypes="AA">
                                      <p:cBhvr>
                                        <p:cTn id="90" dur="750" fill="hold"/>
                                        <p:tgtEl>
                                          <p:spTgt spid="8"/>
                                        </p:tgtEl>
                                        <p:attrNameLst>
                                          <p:attrName>ppt_x</p:attrName>
                                          <p:attrName>ppt_y</p:attrName>
                                        </p:attrNameLst>
                                      </p:cBhvr>
                                      <p:rCtr x="30983" y="-265"/>
                                    </p:animMotion>
                                  </p:childTnLst>
                                </p:cTn>
                              </p:par>
                              <p:par>
                                <p:cTn id="91" presetID="6" presetClass="emph" presetSubtype="0" accel="50000" decel="50000" fill="hold" nodeType="withEffect">
                                  <p:stCondLst>
                                    <p:cond delay="0"/>
                                  </p:stCondLst>
                                  <p:childTnLst>
                                    <p:animScale>
                                      <p:cBhvr>
                                        <p:cTn id="92" dur="750" fill="hold"/>
                                        <p:tgtEl>
                                          <p:spTgt spid="8"/>
                                        </p:tgtEl>
                                      </p:cBhvr>
                                      <p:by x="30065" y="30065"/>
                                    </p:animScale>
                                  </p:childTnLst>
                                </p:cTn>
                              </p:par>
                              <p:par>
                                <p:cTn id="93" presetID="10" presetClass="entr" presetSubtype="0" fill="hold" nodeType="withEffect">
                                  <p:stCondLst>
                                    <p:cond delay="450"/>
                                  </p:stCondLst>
                                  <p:childTnLst>
                                    <p:set>
                                      <p:cBhvr>
                                        <p:cTn id="94" dur="1" fill="hold">
                                          <p:stCondLst>
                                            <p:cond delay="0"/>
                                          </p:stCondLst>
                                        </p:cTn>
                                        <p:tgtEl>
                                          <p:spTgt spid="11"/>
                                        </p:tgtEl>
                                        <p:attrNameLst>
                                          <p:attrName>style.visibility</p:attrName>
                                        </p:attrNameLst>
                                      </p:cBhvr>
                                      <p:to>
                                        <p:strVal val="visible"/>
                                      </p:to>
                                    </p:set>
                                    <p:animEffect transition="in" filter="fade">
                                      <p:cBhvr>
                                        <p:cTn id="95" dur="450"/>
                                        <p:tgtEl>
                                          <p:spTgt spid="11"/>
                                        </p:tgtEl>
                                      </p:cBhvr>
                                    </p:animEffect>
                                  </p:childTnLst>
                                </p:cTn>
                              </p:par>
                              <p:par>
                                <p:cTn id="96" presetID="53" presetClass="entr" presetSubtype="16" fill="hold" nodeType="withEffect">
                                  <p:stCondLst>
                                    <p:cond delay="520"/>
                                  </p:stCondLst>
                                  <p:childTnLst>
                                    <p:set>
                                      <p:cBhvr>
                                        <p:cTn id="97" dur="1" fill="hold">
                                          <p:stCondLst>
                                            <p:cond delay="0"/>
                                          </p:stCondLst>
                                        </p:cTn>
                                        <p:tgtEl>
                                          <p:spTgt spid="12"/>
                                        </p:tgtEl>
                                        <p:attrNameLst>
                                          <p:attrName>style.visibility</p:attrName>
                                        </p:attrNameLst>
                                      </p:cBhvr>
                                      <p:to>
                                        <p:strVal val="visible"/>
                                      </p:to>
                                    </p:set>
                                    <p:anim calcmode="lin" valueType="num">
                                      <p:cBhvr>
                                        <p:cTn id="98" dur="600" fill="hold"/>
                                        <p:tgtEl>
                                          <p:spTgt spid="12"/>
                                        </p:tgtEl>
                                        <p:attrNameLst>
                                          <p:attrName>ppt_w</p:attrName>
                                        </p:attrNameLst>
                                      </p:cBhvr>
                                      <p:tavLst>
                                        <p:tav tm="0">
                                          <p:val>
                                            <p:fltVal val="0"/>
                                          </p:val>
                                        </p:tav>
                                        <p:tav tm="100000">
                                          <p:val>
                                            <p:strVal val="#ppt_w"/>
                                          </p:val>
                                        </p:tav>
                                      </p:tavLst>
                                    </p:anim>
                                    <p:anim calcmode="lin" valueType="num">
                                      <p:cBhvr>
                                        <p:cTn id="99" dur="600" fill="hold"/>
                                        <p:tgtEl>
                                          <p:spTgt spid="12"/>
                                        </p:tgtEl>
                                        <p:attrNameLst>
                                          <p:attrName>ppt_h</p:attrName>
                                        </p:attrNameLst>
                                      </p:cBhvr>
                                      <p:tavLst>
                                        <p:tav tm="0">
                                          <p:val>
                                            <p:fltVal val="0"/>
                                          </p:val>
                                        </p:tav>
                                        <p:tav tm="100000">
                                          <p:val>
                                            <p:strVal val="#ppt_h"/>
                                          </p:val>
                                        </p:tav>
                                      </p:tavLst>
                                    </p:anim>
                                    <p:animEffect transition="in" filter="fade">
                                      <p:cBhvr>
                                        <p:cTn id="100" dur="600"/>
                                        <p:tgtEl>
                                          <p:spTgt spid="12"/>
                                        </p:tgtEl>
                                      </p:cBhvr>
                                    </p:animEffect>
                                  </p:childTnLst>
                                </p:cTn>
                              </p:par>
                              <p:par>
                                <p:cTn id="101" presetID="10" presetClass="entr" presetSubtype="0" grpId="0" fill="hold" nodeType="withEffect">
                                  <p:stCondLst>
                                    <p:cond delay="590"/>
                                  </p:stCondLst>
                                  <p:childTnLst>
                                    <p:set>
                                      <p:cBhvr>
                                        <p:cTn id="102" dur="1" fill="hold">
                                          <p:stCondLst>
                                            <p:cond delay="0"/>
                                          </p:stCondLst>
                                        </p:cTn>
                                        <p:tgtEl>
                                          <p:spTgt spid="13">
                                            <p:txEl>
                                              <p:pRg st="0" end="0"/>
                                            </p:txEl>
                                          </p:spTgt>
                                        </p:tgtEl>
                                        <p:attrNameLst>
                                          <p:attrName>style.visibility</p:attrName>
                                        </p:attrNameLst>
                                      </p:cBhvr>
                                      <p:to>
                                        <p:strVal val="visible"/>
                                      </p:to>
                                    </p:set>
                                    <p:animEffect transition="in" filter="fade">
                                      <p:cBhvr>
                                        <p:cTn id="103" dur="450"/>
                                        <p:tgtEl>
                                          <p:spTgt spid="13">
                                            <p:txEl>
                                              <p:pRg st="0" end="0"/>
                                            </p:txEl>
                                          </p:spTgt>
                                        </p:tgtEl>
                                      </p:cBhvr>
                                    </p:animEffect>
                                  </p:childTnLst>
                                </p:cTn>
                              </p:par>
                              <p:par>
                                <p:cTn id="104" presetID="10" presetClass="entr" presetSubtype="0" grpId="0" fill="hold" nodeType="withEffect">
                                  <p:stCondLst>
                                    <p:cond delay="915"/>
                                  </p:stCondLst>
                                  <p:childTnLst>
                                    <p:set>
                                      <p:cBhvr>
                                        <p:cTn id="105" dur="1" fill="hold">
                                          <p:stCondLst>
                                            <p:cond delay="0"/>
                                          </p:stCondLst>
                                        </p:cTn>
                                        <p:tgtEl>
                                          <p:spTgt spid="13">
                                            <p:txEl>
                                              <p:pRg st="1" end="1"/>
                                            </p:txEl>
                                          </p:spTgt>
                                        </p:tgtEl>
                                        <p:attrNameLst>
                                          <p:attrName>style.visibility</p:attrName>
                                        </p:attrNameLst>
                                      </p:cBhvr>
                                      <p:to>
                                        <p:strVal val="visible"/>
                                      </p:to>
                                    </p:set>
                                    <p:animEffect transition="in" filter="fade">
                                      <p:cBhvr>
                                        <p:cTn id="106" dur="450"/>
                                        <p:tgtEl>
                                          <p:spTgt spid="13">
                                            <p:txEl>
                                              <p:pRg st="1" end="1"/>
                                            </p:txEl>
                                          </p:spTgt>
                                        </p:tgtEl>
                                      </p:cBhvr>
                                    </p:animEffect>
                                  </p:childTnLst>
                                </p:cTn>
                              </p:par>
                              <p:par>
                                <p:cTn id="107" presetID="10" presetClass="entr" presetSubtype="0" grpId="0" fill="hold" nodeType="withEffect">
                                  <p:stCondLst>
                                    <p:cond delay="1240"/>
                                  </p:stCondLst>
                                  <p:childTnLst>
                                    <p:set>
                                      <p:cBhvr>
                                        <p:cTn id="108" dur="1" fill="hold">
                                          <p:stCondLst>
                                            <p:cond delay="0"/>
                                          </p:stCondLst>
                                        </p:cTn>
                                        <p:tgtEl>
                                          <p:spTgt spid="13">
                                            <p:txEl>
                                              <p:pRg st="2" end="2"/>
                                            </p:txEl>
                                          </p:spTgt>
                                        </p:tgtEl>
                                        <p:attrNameLst>
                                          <p:attrName>style.visibility</p:attrName>
                                        </p:attrNameLst>
                                      </p:cBhvr>
                                      <p:to>
                                        <p:strVal val="visible"/>
                                      </p:to>
                                    </p:set>
                                    <p:animEffect transition="in" filter="fade">
                                      <p:cBhvr>
                                        <p:cTn id="109" dur="450"/>
                                        <p:tgtEl>
                                          <p:spTgt spid="13">
                                            <p:txEl>
                                              <p:pRg st="2" end="2"/>
                                            </p:txEl>
                                          </p:spTgt>
                                        </p:tgtEl>
                                      </p:cBhvr>
                                    </p:animEffect>
                                  </p:childTnLst>
                                </p:cTn>
                              </p:par>
                              <p:par>
                                <p:cTn id="110" presetID="10" presetClass="entr" presetSubtype="0" grpId="0" fill="hold" nodeType="withEffect">
                                  <p:stCondLst>
                                    <p:cond delay="1565"/>
                                  </p:stCondLst>
                                  <p:childTnLst>
                                    <p:set>
                                      <p:cBhvr>
                                        <p:cTn id="111" dur="1" fill="hold">
                                          <p:stCondLst>
                                            <p:cond delay="0"/>
                                          </p:stCondLst>
                                        </p:cTn>
                                        <p:tgtEl>
                                          <p:spTgt spid="13">
                                            <p:txEl>
                                              <p:pRg st="3" end="3"/>
                                            </p:txEl>
                                          </p:spTgt>
                                        </p:tgtEl>
                                        <p:attrNameLst>
                                          <p:attrName>style.visibility</p:attrName>
                                        </p:attrNameLst>
                                      </p:cBhvr>
                                      <p:to>
                                        <p:strVal val="visible"/>
                                      </p:to>
                                    </p:set>
                                    <p:animEffect transition="in" filter="fade">
                                      <p:cBhvr>
                                        <p:cTn id="112" dur="450"/>
                                        <p:tgtEl>
                                          <p:spTgt spid="13">
                                            <p:txEl>
                                              <p:pRg st="3" end="3"/>
                                            </p:txEl>
                                          </p:spTgt>
                                        </p:tgtEl>
                                      </p:cBhvr>
                                    </p:animEffect>
                                  </p:childTnLst>
                                </p:cTn>
                              </p:par>
                              <p:par>
                                <p:cTn id="113" presetID="10" presetClass="entr" presetSubtype="0" fill="hold" nodeType="withEffect">
                                  <p:stCondLst>
                                    <p:cond delay="580"/>
                                  </p:stCondLst>
                                  <p:childTnLst>
                                    <p:set>
                                      <p:cBhvr>
                                        <p:cTn id="114" dur="1" fill="hold">
                                          <p:stCondLst>
                                            <p:cond delay="0"/>
                                          </p:stCondLst>
                                        </p:cTn>
                                        <p:tgtEl>
                                          <p:spTgt spid="14"/>
                                        </p:tgtEl>
                                        <p:attrNameLst>
                                          <p:attrName>style.visibility</p:attrName>
                                        </p:attrNameLst>
                                      </p:cBhvr>
                                      <p:to>
                                        <p:strVal val="visible"/>
                                      </p:to>
                                    </p:set>
                                    <p:animEffect transition="in" filter="fade">
                                      <p:cBhvr>
                                        <p:cTn id="115" dur="450"/>
                                        <p:tgtEl>
                                          <p:spTgt spid="14"/>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xit" presetSubtype="0" fill="hold" nodeType="clickEffect">
                                  <p:stCondLst>
                                    <p:cond delay="0"/>
                                  </p:stCondLst>
                                  <p:childTnLst>
                                    <p:animEffect transition="out" filter="fade">
                                      <p:cBhvr>
                                        <p:cTn id="119" dur="350"/>
                                        <p:tgtEl>
                                          <p:spTgt spid="11"/>
                                        </p:tgtEl>
                                      </p:cBhvr>
                                    </p:animEffect>
                                    <p:set>
                                      <p:cBhvr>
                                        <p:cTn id="120" dur="1" fill="hold">
                                          <p:stCondLst>
                                            <p:cond delay="349"/>
                                          </p:stCondLst>
                                        </p:cTn>
                                        <p:tgtEl>
                                          <p:spTgt spid="11"/>
                                        </p:tgtEl>
                                        <p:attrNameLst>
                                          <p:attrName>style.visibility</p:attrName>
                                        </p:attrNameLst>
                                      </p:cBhvr>
                                      <p:to>
                                        <p:strVal val="hidden"/>
                                      </p:to>
                                    </p:set>
                                  </p:childTnLst>
                                </p:cTn>
                              </p:par>
                              <p:par>
                                <p:cTn id="121" presetID="10" presetClass="exit" presetSubtype="0" grpId="0" fill="hold" nodeType="withEffect">
                                  <p:stCondLst>
                                    <p:cond delay="0"/>
                                  </p:stCondLst>
                                  <p:childTnLst>
                                    <p:animEffect transition="out" filter="fade">
                                      <p:cBhvr>
                                        <p:cTn id="122" dur="350"/>
                                        <p:tgtEl>
                                          <p:spTgt spid="13">
                                            <p:txEl>
                                              <p:pRg st="0" end="0"/>
                                            </p:txEl>
                                          </p:spTgt>
                                        </p:tgtEl>
                                      </p:cBhvr>
                                    </p:animEffect>
                                    <p:set>
                                      <p:cBhvr>
                                        <p:cTn id="123" dur="1" fill="hold">
                                          <p:stCondLst>
                                            <p:cond delay="349"/>
                                          </p:stCondLst>
                                        </p:cTn>
                                        <p:tgtEl>
                                          <p:spTgt spid="13">
                                            <p:txEl>
                                              <p:pRg st="0" end="0"/>
                                            </p:txEl>
                                          </p:spTgt>
                                        </p:tgtEl>
                                        <p:attrNameLst>
                                          <p:attrName>style.visibility</p:attrName>
                                        </p:attrNameLst>
                                      </p:cBhvr>
                                      <p:to>
                                        <p:strVal val="hidden"/>
                                      </p:to>
                                    </p:set>
                                  </p:childTnLst>
                                </p:cTn>
                              </p:par>
                              <p:par>
                                <p:cTn id="124" presetID="10" presetClass="exit" presetSubtype="0" grpId="0" fill="hold" nodeType="withEffect">
                                  <p:stCondLst>
                                    <p:cond delay="0"/>
                                  </p:stCondLst>
                                  <p:childTnLst>
                                    <p:animEffect transition="out" filter="fade">
                                      <p:cBhvr>
                                        <p:cTn id="125" dur="350"/>
                                        <p:tgtEl>
                                          <p:spTgt spid="13">
                                            <p:txEl>
                                              <p:pRg st="1" end="1"/>
                                            </p:txEl>
                                          </p:spTgt>
                                        </p:tgtEl>
                                      </p:cBhvr>
                                    </p:animEffect>
                                    <p:set>
                                      <p:cBhvr>
                                        <p:cTn id="126" dur="1" fill="hold">
                                          <p:stCondLst>
                                            <p:cond delay="349"/>
                                          </p:stCondLst>
                                        </p:cTn>
                                        <p:tgtEl>
                                          <p:spTgt spid="13">
                                            <p:txEl>
                                              <p:pRg st="1" end="1"/>
                                            </p:txEl>
                                          </p:spTgt>
                                        </p:tgtEl>
                                        <p:attrNameLst>
                                          <p:attrName>style.visibility</p:attrName>
                                        </p:attrNameLst>
                                      </p:cBhvr>
                                      <p:to>
                                        <p:strVal val="hidden"/>
                                      </p:to>
                                    </p:set>
                                  </p:childTnLst>
                                </p:cTn>
                              </p:par>
                              <p:par>
                                <p:cTn id="127" presetID="10" presetClass="exit" presetSubtype="0" grpId="0" fill="hold" nodeType="withEffect">
                                  <p:stCondLst>
                                    <p:cond delay="0"/>
                                  </p:stCondLst>
                                  <p:childTnLst>
                                    <p:animEffect transition="out" filter="fade">
                                      <p:cBhvr>
                                        <p:cTn id="128" dur="350"/>
                                        <p:tgtEl>
                                          <p:spTgt spid="13">
                                            <p:txEl>
                                              <p:pRg st="2" end="2"/>
                                            </p:txEl>
                                          </p:spTgt>
                                        </p:tgtEl>
                                      </p:cBhvr>
                                    </p:animEffect>
                                    <p:set>
                                      <p:cBhvr>
                                        <p:cTn id="129" dur="1" fill="hold">
                                          <p:stCondLst>
                                            <p:cond delay="349"/>
                                          </p:stCondLst>
                                        </p:cTn>
                                        <p:tgtEl>
                                          <p:spTgt spid="13">
                                            <p:txEl>
                                              <p:pRg st="2" end="2"/>
                                            </p:txEl>
                                          </p:spTgt>
                                        </p:tgtEl>
                                        <p:attrNameLst>
                                          <p:attrName>style.visibility</p:attrName>
                                        </p:attrNameLst>
                                      </p:cBhvr>
                                      <p:to>
                                        <p:strVal val="hidden"/>
                                      </p:to>
                                    </p:set>
                                  </p:childTnLst>
                                </p:cTn>
                              </p:par>
                              <p:par>
                                <p:cTn id="130" presetID="10" presetClass="exit" presetSubtype="0" grpId="0" fill="hold" nodeType="withEffect">
                                  <p:stCondLst>
                                    <p:cond delay="0"/>
                                  </p:stCondLst>
                                  <p:childTnLst>
                                    <p:animEffect transition="out" filter="fade">
                                      <p:cBhvr>
                                        <p:cTn id="131" dur="350"/>
                                        <p:tgtEl>
                                          <p:spTgt spid="13">
                                            <p:txEl>
                                              <p:pRg st="3" end="3"/>
                                            </p:txEl>
                                          </p:spTgt>
                                        </p:tgtEl>
                                      </p:cBhvr>
                                    </p:animEffect>
                                    <p:set>
                                      <p:cBhvr>
                                        <p:cTn id="132" dur="1" fill="hold">
                                          <p:stCondLst>
                                            <p:cond delay="349"/>
                                          </p:stCondLst>
                                        </p:cTn>
                                        <p:tgtEl>
                                          <p:spTgt spid="13">
                                            <p:txEl>
                                              <p:pRg st="3" end="3"/>
                                            </p:txEl>
                                          </p:spTgt>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350"/>
                                        <p:tgtEl>
                                          <p:spTgt spid="14"/>
                                        </p:tgtEl>
                                      </p:cBhvr>
                                    </p:animEffect>
                                    <p:set>
                                      <p:cBhvr>
                                        <p:cTn id="135" dur="1" fill="hold">
                                          <p:stCondLst>
                                            <p:cond delay="349"/>
                                          </p:stCondLst>
                                        </p:cTn>
                                        <p:tgtEl>
                                          <p:spTgt spid="14"/>
                                        </p:tgtEl>
                                        <p:attrNameLst>
                                          <p:attrName>style.visibility</p:attrName>
                                        </p:attrNameLst>
                                      </p:cBhvr>
                                      <p:to>
                                        <p:strVal val="hidden"/>
                                      </p:to>
                                    </p:set>
                                  </p:childTnLst>
                                </p:cTn>
                              </p:par>
                              <p:par>
                                <p:cTn id="136" presetID="0" presetClass="path" presetSubtype="0" accel="50000" decel="50000" fill="hold" nodeType="withEffect">
                                  <p:stCondLst>
                                    <p:cond delay="0"/>
                                  </p:stCondLst>
                                  <p:childTnLst>
                                    <p:animMotion origin="layout" path="M 0 0 L 0.59473 0.19763 E" pathEditMode="relative" rAng="0" ptsTypes="AA">
                                      <p:cBhvr>
                                        <p:cTn id="137" dur="750" fill="hold"/>
                                        <p:tgtEl>
                                          <p:spTgt spid="12"/>
                                        </p:tgtEl>
                                        <p:attrNameLst>
                                          <p:attrName>ppt_x</p:attrName>
                                          <p:attrName>ppt_y</p:attrName>
                                        </p:attrNameLst>
                                      </p:cBhvr>
                                      <p:rCtr x="29736" y="9881"/>
                                    </p:animMotion>
                                  </p:childTnLst>
                                </p:cTn>
                              </p:par>
                              <p:par>
                                <p:cTn id="138" presetID="6" presetClass="emph" presetSubtype="0" accel="50000" decel="50000" fill="hold" nodeType="withEffect">
                                  <p:stCondLst>
                                    <p:cond delay="0"/>
                                  </p:stCondLst>
                                  <p:childTnLst>
                                    <p:animScale>
                                      <p:cBhvr>
                                        <p:cTn id="139" dur="750" fill="hold"/>
                                        <p:tgtEl>
                                          <p:spTgt spid="12"/>
                                        </p:tgtEl>
                                      </p:cBhvr>
                                      <p:by x="27059" y="27059"/>
                                    </p:animScale>
                                  </p:childTnLst>
                                </p:cTn>
                              </p:par>
                              <p:par>
                                <p:cTn id="140" presetID="10" presetClass="entr" presetSubtype="0" fill="hold" nodeType="withEffect">
                                  <p:stCondLst>
                                    <p:cond delay="450"/>
                                  </p:stCondLst>
                                  <p:childTnLst>
                                    <p:set>
                                      <p:cBhvr>
                                        <p:cTn id="141" dur="1" fill="hold">
                                          <p:stCondLst>
                                            <p:cond delay="0"/>
                                          </p:stCondLst>
                                        </p:cTn>
                                        <p:tgtEl>
                                          <p:spTgt spid="15"/>
                                        </p:tgtEl>
                                        <p:attrNameLst>
                                          <p:attrName>style.visibility</p:attrName>
                                        </p:attrNameLst>
                                      </p:cBhvr>
                                      <p:to>
                                        <p:strVal val="visible"/>
                                      </p:to>
                                    </p:set>
                                    <p:animEffect transition="in" filter="fade">
                                      <p:cBhvr>
                                        <p:cTn id="142" dur="450"/>
                                        <p:tgtEl>
                                          <p:spTgt spid="15"/>
                                        </p:tgtEl>
                                      </p:cBhvr>
                                    </p:animEffect>
                                  </p:childTnLst>
                                </p:cTn>
                              </p:par>
                              <p:par>
                                <p:cTn id="143" presetID="53" presetClass="entr" presetSubtype="16" fill="hold" nodeType="withEffect">
                                  <p:stCondLst>
                                    <p:cond delay="520"/>
                                  </p:stCondLst>
                                  <p:childTnLst>
                                    <p:set>
                                      <p:cBhvr>
                                        <p:cTn id="144" dur="1" fill="hold">
                                          <p:stCondLst>
                                            <p:cond delay="0"/>
                                          </p:stCondLst>
                                        </p:cTn>
                                        <p:tgtEl>
                                          <p:spTgt spid="16"/>
                                        </p:tgtEl>
                                        <p:attrNameLst>
                                          <p:attrName>style.visibility</p:attrName>
                                        </p:attrNameLst>
                                      </p:cBhvr>
                                      <p:to>
                                        <p:strVal val="visible"/>
                                      </p:to>
                                    </p:set>
                                    <p:anim calcmode="lin" valueType="num">
                                      <p:cBhvr>
                                        <p:cTn id="145" dur="600" fill="hold"/>
                                        <p:tgtEl>
                                          <p:spTgt spid="16"/>
                                        </p:tgtEl>
                                        <p:attrNameLst>
                                          <p:attrName>ppt_w</p:attrName>
                                        </p:attrNameLst>
                                      </p:cBhvr>
                                      <p:tavLst>
                                        <p:tav tm="0">
                                          <p:val>
                                            <p:fltVal val="0"/>
                                          </p:val>
                                        </p:tav>
                                        <p:tav tm="100000">
                                          <p:val>
                                            <p:strVal val="#ppt_w"/>
                                          </p:val>
                                        </p:tav>
                                      </p:tavLst>
                                    </p:anim>
                                    <p:anim calcmode="lin" valueType="num">
                                      <p:cBhvr>
                                        <p:cTn id="146" dur="600" fill="hold"/>
                                        <p:tgtEl>
                                          <p:spTgt spid="16"/>
                                        </p:tgtEl>
                                        <p:attrNameLst>
                                          <p:attrName>ppt_h</p:attrName>
                                        </p:attrNameLst>
                                      </p:cBhvr>
                                      <p:tavLst>
                                        <p:tav tm="0">
                                          <p:val>
                                            <p:fltVal val="0"/>
                                          </p:val>
                                        </p:tav>
                                        <p:tav tm="100000">
                                          <p:val>
                                            <p:strVal val="#ppt_h"/>
                                          </p:val>
                                        </p:tav>
                                      </p:tavLst>
                                    </p:anim>
                                    <p:animEffect transition="in" filter="fade">
                                      <p:cBhvr>
                                        <p:cTn id="147" dur="600"/>
                                        <p:tgtEl>
                                          <p:spTgt spid="16"/>
                                        </p:tgtEl>
                                      </p:cBhvr>
                                    </p:animEffect>
                                  </p:childTnLst>
                                </p:cTn>
                              </p:par>
                              <p:par>
                                <p:cTn id="148" presetID="10" presetClass="entr" presetSubtype="0" fill="hold" nodeType="withEffect">
                                  <p:stCondLst>
                                    <p:cond delay="590"/>
                                  </p:stCondLst>
                                  <p:childTnLst>
                                    <p:set>
                                      <p:cBhvr>
                                        <p:cTn id="149" dur="1" fill="hold">
                                          <p:stCondLst>
                                            <p:cond delay="0"/>
                                          </p:stCondLst>
                                        </p:cTn>
                                        <p:tgtEl>
                                          <p:spTgt spid="17"/>
                                        </p:tgtEl>
                                        <p:attrNameLst>
                                          <p:attrName>style.visibility</p:attrName>
                                        </p:attrNameLst>
                                      </p:cBhvr>
                                      <p:to>
                                        <p:strVal val="visible"/>
                                      </p:to>
                                    </p:set>
                                    <p:animEffect transition="in" filter="fade">
                                      <p:cBhvr>
                                        <p:cTn id="150" dur="450"/>
                                        <p:tgtEl>
                                          <p:spTgt spid="17"/>
                                        </p:tgtEl>
                                      </p:cBhvr>
                                    </p:animEffect>
                                  </p:childTnLst>
                                </p:cTn>
                              </p:par>
                              <p:par>
                                <p:cTn id="151" presetID="22" presetClass="entr" presetSubtype="4" fill="hold" nodeType="withEffect">
                                  <p:stCondLst>
                                    <p:cond delay="590"/>
                                  </p:stCondLst>
                                  <p:childTnLst>
                                    <p:set>
                                      <p:cBhvr>
                                        <p:cTn id="152" dur="1" fill="hold">
                                          <p:stCondLst>
                                            <p:cond delay="0"/>
                                          </p:stCondLst>
                                        </p:cTn>
                                        <p:tgtEl>
                                          <p:spTgt spid="18"/>
                                        </p:tgtEl>
                                        <p:attrNameLst>
                                          <p:attrName>style.visibility</p:attrName>
                                        </p:attrNameLst>
                                      </p:cBhvr>
                                      <p:to>
                                        <p:strVal val="visible"/>
                                      </p:to>
                                    </p:set>
                                    <p:animEffect transition="in" filter="wipe(down)">
                                      <p:cBhvr>
                                        <p:cTn id="153" dur="500"/>
                                        <p:tgtEl>
                                          <p:spTgt spid="18"/>
                                        </p:tgtEl>
                                      </p:cBhvr>
                                    </p:animEffect>
                                  </p:childTnLst>
                                </p:cTn>
                              </p:par>
                              <p:par>
                                <p:cTn id="154" presetID="10" presetClass="entr" presetSubtype="0" grpId="0" fill="hold" nodeType="withEffect">
                                  <p:stCondLst>
                                    <p:cond delay="660"/>
                                  </p:stCondLst>
                                  <p:childTnLst>
                                    <p:set>
                                      <p:cBhvr>
                                        <p:cTn id="155" dur="1" fill="hold">
                                          <p:stCondLst>
                                            <p:cond delay="0"/>
                                          </p:stCondLst>
                                        </p:cTn>
                                        <p:tgtEl>
                                          <p:spTgt spid="19">
                                            <p:txEl>
                                              <p:pRg st="0" end="0"/>
                                            </p:txEl>
                                          </p:spTgt>
                                        </p:tgtEl>
                                        <p:attrNameLst>
                                          <p:attrName>style.visibility</p:attrName>
                                        </p:attrNameLst>
                                      </p:cBhvr>
                                      <p:to>
                                        <p:strVal val="visible"/>
                                      </p:to>
                                    </p:set>
                                    <p:animEffect transition="in" filter="fade">
                                      <p:cBhvr>
                                        <p:cTn id="156" dur="450"/>
                                        <p:tgtEl>
                                          <p:spTgt spid="19">
                                            <p:txEl>
                                              <p:pRg st="0" end="0"/>
                                            </p:txEl>
                                          </p:spTgt>
                                        </p:tgtEl>
                                      </p:cBhvr>
                                    </p:animEffect>
                                  </p:childTnLst>
                                </p:cTn>
                              </p:par>
                              <p:par>
                                <p:cTn id="157" presetID="10" presetClass="entr" presetSubtype="0" grpId="0" fill="hold" nodeType="withEffect">
                                  <p:stCondLst>
                                    <p:cond delay="1040"/>
                                  </p:stCondLst>
                                  <p:childTnLst>
                                    <p:set>
                                      <p:cBhvr>
                                        <p:cTn id="158" dur="1" fill="hold">
                                          <p:stCondLst>
                                            <p:cond delay="0"/>
                                          </p:stCondLst>
                                        </p:cTn>
                                        <p:tgtEl>
                                          <p:spTgt spid="19">
                                            <p:txEl>
                                              <p:pRg st="1" end="1"/>
                                            </p:txEl>
                                          </p:spTgt>
                                        </p:tgtEl>
                                        <p:attrNameLst>
                                          <p:attrName>style.visibility</p:attrName>
                                        </p:attrNameLst>
                                      </p:cBhvr>
                                      <p:to>
                                        <p:strVal val="visible"/>
                                      </p:to>
                                    </p:set>
                                    <p:animEffect transition="in" filter="fade">
                                      <p:cBhvr>
                                        <p:cTn id="159" dur="450"/>
                                        <p:tgtEl>
                                          <p:spTgt spid="19">
                                            <p:txEl>
                                              <p:pRg st="1" end="1"/>
                                            </p:txEl>
                                          </p:spTgt>
                                        </p:tgtEl>
                                      </p:cBhvr>
                                    </p:animEffect>
                                  </p:childTnLst>
                                </p:cTn>
                              </p:par>
                              <p:par>
                                <p:cTn id="160" presetID="10" presetClass="entr" presetSubtype="0" grpId="0" fill="hold" nodeType="withEffect">
                                  <p:stCondLst>
                                    <p:cond delay="1420"/>
                                  </p:stCondLst>
                                  <p:childTnLst>
                                    <p:set>
                                      <p:cBhvr>
                                        <p:cTn id="161" dur="1" fill="hold">
                                          <p:stCondLst>
                                            <p:cond delay="0"/>
                                          </p:stCondLst>
                                        </p:cTn>
                                        <p:tgtEl>
                                          <p:spTgt spid="19">
                                            <p:txEl>
                                              <p:pRg st="2" end="2"/>
                                            </p:txEl>
                                          </p:spTgt>
                                        </p:tgtEl>
                                        <p:attrNameLst>
                                          <p:attrName>style.visibility</p:attrName>
                                        </p:attrNameLst>
                                      </p:cBhvr>
                                      <p:to>
                                        <p:strVal val="visible"/>
                                      </p:to>
                                    </p:set>
                                    <p:animEffect transition="in" filter="fade">
                                      <p:cBhvr>
                                        <p:cTn id="162" dur="450"/>
                                        <p:tgtEl>
                                          <p:spTgt spid="19">
                                            <p:txEl>
                                              <p:pRg st="2" end="2"/>
                                            </p:txEl>
                                          </p:spTgt>
                                        </p:tgtEl>
                                      </p:cBhvr>
                                    </p:animEffect>
                                  </p:childTnLst>
                                </p:cTn>
                              </p:par>
                              <p:par>
                                <p:cTn id="163" presetID="10" presetClass="entr" presetSubtype="0" fill="hold" nodeType="withEffect">
                                  <p:stCondLst>
                                    <p:cond delay="580"/>
                                  </p:stCondLst>
                                  <p:childTnLst>
                                    <p:set>
                                      <p:cBhvr>
                                        <p:cTn id="164" dur="1" fill="hold">
                                          <p:stCondLst>
                                            <p:cond delay="0"/>
                                          </p:stCondLst>
                                        </p:cTn>
                                        <p:tgtEl>
                                          <p:spTgt spid="20"/>
                                        </p:tgtEl>
                                        <p:attrNameLst>
                                          <p:attrName>style.visibility</p:attrName>
                                        </p:attrNameLst>
                                      </p:cBhvr>
                                      <p:to>
                                        <p:strVal val="visible"/>
                                      </p:to>
                                    </p:set>
                                    <p:animEffect transition="in" filter="fade">
                                      <p:cBhvr>
                                        <p:cTn id="165" dur="450"/>
                                        <p:tgtEl>
                                          <p:spTgt spid="20"/>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xit" presetSubtype="0" fill="hold" nodeType="clickEffect">
                                  <p:stCondLst>
                                    <p:cond delay="0"/>
                                  </p:stCondLst>
                                  <p:childTnLst>
                                    <p:animEffect transition="out" filter="fade">
                                      <p:cBhvr>
                                        <p:cTn id="169" dur="350"/>
                                        <p:tgtEl>
                                          <p:spTgt spid="4"/>
                                        </p:tgtEl>
                                      </p:cBhvr>
                                    </p:animEffect>
                                    <p:set>
                                      <p:cBhvr>
                                        <p:cTn id="170" dur="1" fill="hold">
                                          <p:stCondLst>
                                            <p:cond delay="349"/>
                                          </p:stCondLst>
                                        </p:cTn>
                                        <p:tgtEl>
                                          <p:spTgt spid="4"/>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172" dur="350"/>
                                        <p:tgtEl>
                                          <p:spTgt spid="15"/>
                                        </p:tgtEl>
                                      </p:cBhvr>
                                    </p:animEffect>
                                    <p:set>
                                      <p:cBhvr>
                                        <p:cTn id="173" dur="1" fill="hold">
                                          <p:stCondLst>
                                            <p:cond delay="349"/>
                                          </p:stCondLst>
                                        </p:cTn>
                                        <p:tgtEl>
                                          <p:spTgt spid="15"/>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17"/>
                                        </p:tgtEl>
                                      </p:cBhvr>
                                    </p:animEffect>
                                    <p:set>
                                      <p:cBhvr>
                                        <p:cTn id="176" dur="1" fill="hold">
                                          <p:stCondLst>
                                            <p:cond delay="349"/>
                                          </p:stCondLst>
                                        </p:cTn>
                                        <p:tgtEl>
                                          <p:spTgt spid="17"/>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350"/>
                                        <p:tgtEl>
                                          <p:spTgt spid="18"/>
                                        </p:tgtEl>
                                      </p:cBhvr>
                                    </p:animEffect>
                                    <p:set>
                                      <p:cBhvr>
                                        <p:cTn id="179" dur="1" fill="hold">
                                          <p:stCondLst>
                                            <p:cond delay="349"/>
                                          </p:stCondLst>
                                        </p:cTn>
                                        <p:tgtEl>
                                          <p:spTgt spid="18"/>
                                        </p:tgtEl>
                                        <p:attrNameLst>
                                          <p:attrName>style.visibility</p:attrName>
                                        </p:attrNameLst>
                                      </p:cBhvr>
                                      <p:to>
                                        <p:strVal val="hidden"/>
                                      </p:to>
                                    </p:set>
                                  </p:childTnLst>
                                </p:cTn>
                              </p:par>
                              <p:par>
                                <p:cTn id="180" presetID="10" presetClass="exit" presetSubtype="0" grpId="0" fill="hold" nodeType="withEffect">
                                  <p:stCondLst>
                                    <p:cond delay="0"/>
                                  </p:stCondLst>
                                  <p:childTnLst>
                                    <p:animEffect transition="out" filter="fade">
                                      <p:cBhvr>
                                        <p:cTn id="181" dur="350"/>
                                        <p:tgtEl>
                                          <p:spTgt spid="19">
                                            <p:txEl>
                                              <p:pRg st="0" end="0"/>
                                            </p:txEl>
                                          </p:spTgt>
                                        </p:tgtEl>
                                      </p:cBhvr>
                                    </p:animEffect>
                                    <p:set>
                                      <p:cBhvr>
                                        <p:cTn id="182" dur="1" fill="hold">
                                          <p:stCondLst>
                                            <p:cond delay="349"/>
                                          </p:stCondLst>
                                        </p:cTn>
                                        <p:tgtEl>
                                          <p:spTgt spid="19">
                                            <p:txEl>
                                              <p:pRg st="0" end="0"/>
                                            </p:txEl>
                                          </p:spTgt>
                                        </p:tgtEl>
                                        <p:attrNameLst>
                                          <p:attrName>style.visibility</p:attrName>
                                        </p:attrNameLst>
                                      </p:cBhvr>
                                      <p:to>
                                        <p:strVal val="hidden"/>
                                      </p:to>
                                    </p:set>
                                  </p:childTnLst>
                                </p:cTn>
                              </p:par>
                              <p:par>
                                <p:cTn id="183" presetID="10" presetClass="exit" presetSubtype="0" grpId="0" fill="hold" nodeType="withEffect">
                                  <p:stCondLst>
                                    <p:cond delay="0"/>
                                  </p:stCondLst>
                                  <p:childTnLst>
                                    <p:animEffect transition="out" filter="fade">
                                      <p:cBhvr>
                                        <p:cTn id="184" dur="350"/>
                                        <p:tgtEl>
                                          <p:spTgt spid="19">
                                            <p:txEl>
                                              <p:pRg st="1" end="1"/>
                                            </p:txEl>
                                          </p:spTgt>
                                        </p:tgtEl>
                                      </p:cBhvr>
                                    </p:animEffect>
                                    <p:set>
                                      <p:cBhvr>
                                        <p:cTn id="185" dur="1" fill="hold">
                                          <p:stCondLst>
                                            <p:cond delay="349"/>
                                          </p:stCondLst>
                                        </p:cTn>
                                        <p:tgtEl>
                                          <p:spTgt spid="19">
                                            <p:txEl>
                                              <p:pRg st="1" end="1"/>
                                            </p:txEl>
                                          </p:spTgt>
                                        </p:tgtEl>
                                        <p:attrNameLst>
                                          <p:attrName>style.visibility</p:attrName>
                                        </p:attrNameLst>
                                      </p:cBhvr>
                                      <p:to>
                                        <p:strVal val="hidden"/>
                                      </p:to>
                                    </p:set>
                                  </p:childTnLst>
                                </p:cTn>
                              </p:par>
                              <p:par>
                                <p:cTn id="186" presetID="10" presetClass="exit" presetSubtype="0" grpId="0" fill="hold" nodeType="withEffect">
                                  <p:stCondLst>
                                    <p:cond delay="0"/>
                                  </p:stCondLst>
                                  <p:childTnLst>
                                    <p:animEffect transition="out" filter="fade">
                                      <p:cBhvr>
                                        <p:cTn id="187" dur="350"/>
                                        <p:tgtEl>
                                          <p:spTgt spid="19">
                                            <p:txEl>
                                              <p:pRg st="2" end="2"/>
                                            </p:txEl>
                                          </p:spTgt>
                                        </p:tgtEl>
                                      </p:cBhvr>
                                    </p:animEffect>
                                    <p:set>
                                      <p:cBhvr>
                                        <p:cTn id="188" dur="1" fill="hold">
                                          <p:stCondLst>
                                            <p:cond delay="349"/>
                                          </p:stCondLst>
                                        </p:cTn>
                                        <p:tgtEl>
                                          <p:spTgt spid="19">
                                            <p:txEl>
                                              <p:pRg st="2" end="2"/>
                                            </p:txEl>
                                          </p:spTgt>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350"/>
                                        <p:tgtEl>
                                          <p:spTgt spid="20"/>
                                        </p:tgtEl>
                                      </p:cBhvr>
                                    </p:animEffect>
                                    <p:set>
                                      <p:cBhvr>
                                        <p:cTn id="191" dur="1" fill="hold">
                                          <p:stCondLst>
                                            <p:cond delay="349"/>
                                          </p:stCondLst>
                                        </p:cTn>
                                        <p:tgtEl>
                                          <p:spTgt spid="20"/>
                                        </p:tgtEl>
                                        <p:attrNameLst>
                                          <p:attrName>style.visibility</p:attrName>
                                        </p:attrNameLst>
                                      </p:cBhvr>
                                      <p:to>
                                        <p:strVal val="hidden"/>
                                      </p:to>
                                    </p:set>
                                  </p:childTnLst>
                                </p:cTn>
                              </p:par>
                              <p:par>
                                <p:cTn id="192" presetID="0" presetClass="path" presetSubtype="0" accel="50000" decel="50000" fill="hold" nodeType="withEffect">
                                  <p:stCondLst>
                                    <p:cond delay="0"/>
                                  </p:stCondLst>
                                  <p:childTnLst>
                                    <p:animMotion origin="layout" path="M 0 0 L 0.00000 -0.19556 E" pathEditMode="relative" rAng="0" ptsTypes="AA">
                                      <p:cBhvr>
                                        <p:cTn id="193" dur="750" fill="hold"/>
                                        <p:tgtEl>
                                          <p:spTgt spid="8"/>
                                        </p:tgtEl>
                                        <p:attrNameLst>
                                          <p:attrName>ppt_x</p:attrName>
                                          <p:attrName>ppt_y</p:attrName>
                                        </p:attrNameLst>
                                      </p:cBhvr>
                                      <p:rCtr x="0" y="-9777"/>
                                    </p:animMotion>
                                  </p:childTnLst>
                                </p:cTn>
                              </p:par>
                              <p:par>
                                <p:cTn id="194" presetID="6" presetClass="emph" presetSubtype="0" accel="50000" decel="50000" fill="hold" nodeType="withEffect">
                                  <p:stCondLst>
                                    <p:cond delay="0"/>
                                  </p:stCondLst>
                                  <p:childTnLst>
                                    <p:animScale>
                                      <p:cBhvr>
                                        <p:cTn id="195" dur="750" fill="hold"/>
                                        <p:tgtEl>
                                          <p:spTgt spid="8"/>
                                        </p:tgtEl>
                                      </p:cBhvr>
                                      <p:by x="100000" y="100000"/>
                                    </p:animScale>
                                  </p:childTnLst>
                                </p:cTn>
                              </p:par>
                              <p:par>
                                <p:cTn id="196" presetID="0" presetClass="path" presetSubtype="0" accel="50000" decel="50000" fill="hold" nodeType="withEffect">
                                  <p:stCondLst>
                                    <p:cond delay="0"/>
                                  </p:stCondLst>
                                  <p:childTnLst>
                                    <p:animMotion origin="layout" path="M 0 0 L 0.00000 -0.19556 E" pathEditMode="relative" rAng="0" ptsTypes="AA">
                                      <p:cBhvr>
                                        <p:cTn id="197" dur="750" fill="hold"/>
                                        <p:tgtEl>
                                          <p:spTgt spid="12"/>
                                        </p:tgtEl>
                                        <p:attrNameLst>
                                          <p:attrName>ppt_x</p:attrName>
                                          <p:attrName>ppt_y</p:attrName>
                                        </p:attrNameLst>
                                      </p:cBhvr>
                                      <p:rCtr x="0" y="-9777"/>
                                    </p:animMotion>
                                  </p:childTnLst>
                                </p:cTn>
                              </p:par>
                              <p:par>
                                <p:cTn id="198" presetID="6" presetClass="emph" presetSubtype="0" accel="50000" decel="50000" fill="hold" nodeType="withEffect">
                                  <p:stCondLst>
                                    <p:cond delay="0"/>
                                  </p:stCondLst>
                                  <p:childTnLst>
                                    <p:animScale>
                                      <p:cBhvr>
                                        <p:cTn id="199" dur="750" fill="hold"/>
                                        <p:tgtEl>
                                          <p:spTgt spid="12"/>
                                        </p:tgtEl>
                                      </p:cBhvr>
                                      <p:by x="100000" y="100000"/>
                                    </p:animScale>
                                  </p:childTnLst>
                                </p:cTn>
                              </p:par>
                              <p:par>
                                <p:cTn id="200" presetID="0" presetClass="path" presetSubtype="0" accel="50000" decel="50000" fill="hold" nodeType="withEffect">
                                  <p:stCondLst>
                                    <p:cond delay="0"/>
                                  </p:stCondLst>
                                  <p:childTnLst>
                                    <p:animMotion origin="layout" path="M 0 0 L 0.71322 0.19024 E" pathEditMode="relative" rAng="0" ptsTypes="AA">
                                      <p:cBhvr>
                                        <p:cTn id="201" dur="750" fill="hold"/>
                                        <p:tgtEl>
                                          <p:spTgt spid="16"/>
                                        </p:tgtEl>
                                        <p:attrNameLst>
                                          <p:attrName>ppt_x</p:attrName>
                                          <p:attrName>ppt_y</p:attrName>
                                        </p:attrNameLst>
                                      </p:cBhvr>
                                      <p:rCtr x="35661" y="9512"/>
                                    </p:animMotion>
                                  </p:childTnLst>
                                </p:cTn>
                              </p:par>
                              <p:par>
                                <p:cTn id="202" presetID="6" presetClass="emph" presetSubtype="0" accel="50000" decel="50000" fill="hold" nodeType="withEffect">
                                  <p:stCondLst>
                                    <p:cond delay="0"/>
                                  </p:stCondLst>
                                  <p:childTnLst>
                                    <p:animScale>
                                      <p:cBhvr>
                                        <p:cTn id="203" dur="750" fill="hold"/>
                                        <p:tgtEl>
                                          <p:spTgt spid="16"/>
                                        </p:tgtEl>
                                      </p:cBhvr>
                                      <p:by x="30924" y="30924"/>
                                    </p:animScale>
                                  </p:childTnLst>
                                </p:cTn>
                              </p:par>
                              <p:par>
                                <p:cTn id="204" presetID="10" presetClass="entr" presetSubtype="0" fill="hold" nodeType="withEffect">
                                  <p:stCondLst>
                                    <p:cond delay="450"/>
                                  </p:stCondLst>
                                  <p:childTnLst>
                                    <p:set>
                                      <p:cBhvr>
                                        <p:cTn id="205" dur="1" fill="hold">
                                          <p:stCondLst>
                                            <p:cond delay="0"/>
                                          </p:stCondLst>
                                        </p:cTn>
                                        <p:tgtEl>
                                          <p:spTgt spid="21"/>
                                        </p:tgtEl>
                                        <p:attrNameLst>
                                          <p:attrName>style.visibility</p:attrName>
                                        </p:attrNameLst>
                                      </p:cBhvr>
                                      <p:to>
                                        <p:strVal val="visible"/>
                                      </p:to>
                                    </p:set>
                                    <p:animEffect transition="in" filter="fade">
                                      <p:cBhvr>
                                        <p:cTn id="206" dur="450"/>
                                        <p:tgtEl>
                                          <p:spTgt spid="21"/>
                                        </p:tgtEl>
                                      </p:cBhvr>
                                    </p:animEffect>
                                  </p:childTnLst>
                                </p:cTn>
                              </p:par>
                              <p:par>
                                <p:cTn id="207" presetID="10" presetClass="entr" presetSubtype="0" fill="hold" nodeType="withEffect">
                                  <p:stCondLst>
                                    <p:cond delay="520"/>
                                  </p:stCondLst>
                                  <p:childTnLst>
                                    <p:set>
                                      <p:cBhvr>
                                        <p:cTn id="208" dur="1" fill="hold">
                                          <p:stCondLst>
                                            <p:cond delay="0"/>
                                          </p:stCondLst>
                                        </p:cTn>
                                        <p:tgtEl>
                                          <p:spTgt spid="22"/>
                                        </p:tgtEl>
                                        <p:attrNameLst>
                                          <p:attrName>style.visibility</p:attrName>
                                        </p:attrNameLst>
                                      </p:cBhvr>
                                      <p:to>
                                        <p:strVal val="visible"/>
                                      </p:to>
                                    </p:set>
                                    <p:animEffect transition="in" filter="fade">
                                      <p:cBhvr>
                                        <p:cTn id="209" dur="450"/>
                                        <p:tgtEl>
                                          <p:spTgt spid="22"/>
                                        </p:tgtEl>
                                      </p:cBhvr>
                                    </p:animEffect>
                                  </p:childTnLst>
                                </p:cTn>
                              </p:par>
                              <p:par>
                                <p:cTn id="210" presetID="22" presetClass="entr" presetSubtype="8" fill="hold" nodeType="withEffect">
                                  <p:stCondLst>
                                    <p:cond delay="520"/>
                                  </p:stCondLst>
                                  <p:childTnLst>
                                    <p:set>
                                      <p:cBhvr>
                                        <p:cTn id="211" dur="1" fill="hold">
                                          <p:stCondLst>
                                            <p:cond delay="0"/>
                                          </p:stCondLst>
                                        </p:cTn>
                                        <p:tgtEl>
                                          <p:spTgt spid="23"/>
                                        </p:tgtEl>
                                        <p:attrNameLst>
                                          <p:attrName>style.visibility</p:attrName>
                                        </p:attrNameLst>
                                      </p:cBhvr>
                                      <p:to>
                                        <p:strVal val="visible"/>
                                      </p:to>
                                    </p:set>
                                    <p:animEffect transition="in" filter="wipe(left)">
                                      <p:cBhvr>
                                        <p:cTn id="212" dur="500"/>
                                        <p:tgtEl>
                                          <p:spTgt spid="23"/>
                                        </p:tgtEl>
                                      </p:cBhvr>
                                    </p:animEffect>
                                  </p:childTnLst>
                                </p:cTn>
                              </p:par>
                              <p:par>
                                <p:cTn id="213" presetID="10" presetClass="entr" presetSubtype="0" fill="hold" nodeType="withEffect">
                                  <p:stCondLst>
                                    <p:cond delay="590"/>
                                  </p:stCondLst>
                                  <p:childTnLst>
                                    <p:set>
                                      <p:cBhvr>
                                        <p:cTn id="214" dur="1" fill="hold">
                                          <p:stCondLst>
                                            <p:cond delay="0"/>
                                          </p:stCondLst>
                                        </p:cTn>
                                        <p:tgtEl>
                                          <p:spTgt spid="24"/>
                                        </p:tgtEl>
                                        <p:attrNameLst>
                                          <p:attrName>style.visibility</p:attrName>
                                        </p:attrNameLst>
                                      </p:cBhvr>
                                      <p:to>
                                        <p:strVal val="visible"/>
                                      </p:to>
                                    </p:set>
                                    <p:animEffect transition="in" filter="fade">
                                      <p:cBhvr>
                                        <p:cTn id="215" dur="450"/>
                                        <p:tgtEl>
                                          <p:spTgt spid="24"/>
                                        </p:tgtEl>
                                      </p:cBhvr>
                                    </p:animEffect>
                                  </p:childTnLst>
                                </p:cTn>
                              </p:par>
                              <p:par>
                                <p:cTn id="216" presetID="22" presetClass="entr" presetSubtype="8" fill="hold" nodeType="withEffect">
                                  <p:stCondLst>
                                    <p:cond delay="590"/>
                                  </p:stCondLst>
                                  <p:childTnLst>
                                    <p:set>
                                      <p:cBhvr>
                                        <p:cTn id="217" dur="1" fill="hold">
                                          <p:stCondLst>
                                            <p:cond delay="0"/>
                                          </p:stCondLst>
                                        </p:cTn>
                                        <p:tgtEl>
                                          <p:spTgt spid="25"/>
                                        </p:tgtEl>
                                        <p:attrNameLst>
                                          <p:attrName>style.visibility</p:attrName>
                                        </p:attrNameLst>
                                      </p:cBhvr>
                                      <p:to>
                                        <p:strVal val="visible"/>
                                      </p:to>
                                    </p:set>
                                    <p:animEffect transition="in" filter="wipe(left)">
                                      <p:cBhvr>
                                        <p:cTn id="218" dur="500"/>
                                        <p:tgtEl>
                                          <p:spTgt spid="25"/>
                                        </p:tgtEl>
                                      </p:cBhvr>
                                    </p:animEffect>
                                  </p:childTnLst>
                                </p:cTn>
                              </p:par>
                              <p:par>
                                <p:cTn id="219" presetID="10" presetClass="entr" presetSubtype="0" fill="hold" nodeType="withEffect">
                                  <p:stCondLst>
                                    <p:cond delay="660"/>
                                  </p:stCondLst>
                                  <p:childTnLst>
                                    <p:set>
                                      <p:cBhvr>
                                        <p:cTn id="220" dur="1" fill="hold">
                                          <p:stCondLst>
                                            <p:cond delay="0"/>
                                          </p:stCondLst>
                                        </p:cTn>
                                        <p:tgtEl>
                                          <p:spTgt spid="26"/>
                                        </p:tgtEl>
                                        <p:attrNameLst>
                                          <p:attrName>style.visibility</p:attrName>
                                        </p:attrNameLst>
                                      </p:cBhvr>
                                      <p:to>
                                        <p:strVal val="visible"/>
                                      </p:to>
                                    </p:set>
                                    <p:animEffect transition="in" filter="fade">
                                      <p:cBhvr>
                                        <p:cTn id="221" dur="450"/>
                                        <p:tgtEl>
                                          <p:spTgt spid="26"/>
                                        </p:tgtEl>
                                      </p:cBhvr>
                                    </p:animEffect>
                                  </p:childTnLst>
                                </p:cTn>
                              </p:par>
                              <p:par>
                                <p:cTn id="222" presetID="22" presetClass="entr" presetSubtype="8" fill="hold" nodeType="withEffect">
                                  <p:stCondLst>
                                    <p:cond delay="730"/>
                                  </p:stCondLst>
                                  <p:childTnLst>
                                    <p:set>
                                      <p:cBhvr>
                                        <p:cTn id="223" dur="1" fill="hold">
                                          <p:stCondLst>
                                            <p:cond delay="0"/>
                                          </p:stCondLst>
                                        </p:cTn>
                                        <p:tgtEl>
                                          <p:spTgt spid="27"/>
                                        </p:tgtEl>
                                        <p:attrNameLst>
                                          <p:attrName>style.visibility</p:attrName>
                                        </p:attrNameLst>
                                      </p:cBhvr>
                                      <p:to>
                                        <p:strVal val="visible"/>
                                      </p:to>
                                    </p:set>
                                    <p:animEffect transition="in" filter="wipe(left)">
                                      <p:cBhvr>
                                        <p:cTn id="224" dur="500"/>
                                        <p:tgtEl>
                                          <p:spTgt spid="27"/>
                                        </p:tgtEl>
                                      </p:cBhvr>
                                    </p:animEffect>
                                  </p:childTnLst>
                                </p:cTn>
                              </p:par>
                              <p:par>
                                <p:cTn id="225" presetID="10" presetClass="entr" presetSubtype="0" fill="hold" nodeType="withEffect">
                                  <p:stCondLst>
                                    <p:cond delay="800"/>
                                  </p:stCondLst>
                                  <p:childTnLst>
                                    <p:set>
                                      <p:cBhvr>
                                        <p:cTn id="226" dur="1" fill="hold">
                                          <p:stCondLst>
                                            <p:cond delay="0"/>
                                          </p:stCondLst>
                                        </p:cTn>
                                        <p:tgtEl>
                                          <p:spTgt spid="28"/>
                                        </p:tgtEl>
                                        <p:attrNameLst>
                                          <p:attrName>style.visibility</p:attrName>
                                        </p:attrNameLst>
                                      </p:cBhvr>
                                      <p:to>
                                        <p:strVal val="visible"/>
                                      </p:to>
                                    </p:set>
                                    <p:animEffect transition="in" filter="fade">
                                      <p:cBhvr>
                                        <p:cTn id="227" dur="450"/>
                                        <p:tgtEl>
                                          <p:spTgt spid="28"/>
                                        </p:tgtEl>
                                      </p:cBhvr>
                                    </p:animEffect>
                                  </p:childTnLst>
                                </p:cTn>
                              </p:par>
                              <p:par>
                                <p:cTn id="228" presetID="22" presetClass="entr" presetSubtype="8" fill="hold" nodeType="withEffect">
                                  <p:stCondLst>
                                    <p:cond delay="800"/>
                                  </p:stCondLst>
                                  <p:childTnLst>
                                    <p:set>
                                      <p:cBhvr>
                                        <p:cTn id="229" dur="1" fill="hold">
                                          <p:stCondLst>
                                            <p:cond delay="0"/>
                                          </p:stCondLst>
                                        </p:cTn>
                                        <p:tgtEl>
                                          <p:spTgt spid="29"/>
                                        </p:tgtEl>
                                        <p:attrNameLst>
                                          <p:attrName>style.visibility</p:attrName>
                                        </p:attrNameLst>
                                      </p:cBhvr>
                                      <p:to>
                                        <p:strVal val="visible"/>
                                      </p:to>
                                    </p:set>
                                    <p:animEffect transition="in" filter="wipe(left)">
                                      <p:cBhvr>
                                        <p:cTn id="230" dur="500"/>
                                        <p:tgtEl>
                                          <p:spTgt spid="29"/>
                                        </p:tgtEl>
                                      </p:cBhvr>
                                    </p:animEffect>
                                  </p:childTnLst>
                                </p:cTn>
                              </p:par>
                              <p:par>
                                <p:cTn id="231" presetID="22" presetClass="entr" presetSubtype="8" fill="hold" nodeType="withEffect">
                                  <p:stCondLst>
                                    <p:cond delay="870"/>
                                  </p:stCondLst>
                                  <p:childTnLst>
                                    <p:set>
                                      <p:cBhvr>
                                        <p:cTn id="232" dur="1" fill="hold">
                                          <p:stCondLst>
                                            <p:cond delay="0"/>
                                          </p:stCondLst>
                                        </p:cTn>
                                        <p:tgtEl>
                                          <p:spTgt spid="30"/>
                                        </p:tgtEl>
                                        <p:attrNameLst>
                                          <p:attrName>style.visibility</p:attrName>
                                        </p:attrNameLst>
                                      </p:cBhvr>
                                      <p:to>
                                        <p:strVal val="visible"/>
                                      </p:to>
                                    </p:set>
                                    <p:animEffect transition="in" filter="wipe(left)">
                                      <p:cBhvr>
                                        <p:cTn id="233" dur="500"/>
                                        <p:tgtEl>
                                          <p:spTgt spid="30"/>
                                        </p:tgtEl>
                                      </p:cBhvr>
                                    </p:animEffect>
                                  </p:childTnLst>
                                </p:cTn>
                              </p:par>
                              <p:par>
                                <p:cTn id="234" presetID="10" presetClass="entr" presetSubtype="0" fill="hold" nodeType="withEffect">
                                  <p:stCondLst>
                                    <p:cond delay="940"/>
                                  </p:stCondLst>
                                  <p:childTnLst>
                                    <p:set>
                                      <p:cBhvr>
                                        <p:cTn id="235" dur="1" fill="hold">
                                          <p:stCondLst>
                                            <p:cond delay="0"/>
                                          </p:stCondLst>
                                        </p:cTn>
                                        <p:tgtEl>
                                          <p:spTgt spid="31"/>
                                        </p:tgtEl>
                                        <p:attrNameLst>
                                          <p:attrName>style.visibility</p:attrName>
                                        </p:attrNameLst>
                                      </p:cBhvr>
                                      <p:to>
                                        <p:strVal val="visible"/>
                                      </p:to>
                                    </p:set>
                                    <p:animEffect transition="in" filter="fade">
                                      <p:cBhvr>
                                        <p:cTn id="236" dur="450"/>
                                        <p:tgtEl>
                                          <p:spTgt spid="31"/>
                                        </p:tgtEl>
                                      </p:cBhvr>
                                    </p:animEffect>
                                  </p:childTnLst>
                                </p:cTn>
                              </p:par>
                              <p:par>
                                <p:cTn id="237" presetID="10" presetClass="entr" presetSubtype="0" fill="hold" nodeType="withEffect">
                                  <p:stCondLst>
                                    <p:cond delay="1010"/>
                                  </p:stCondLst>
                                  <p:childTnLst>
                                    <p:set>
                                      <p:cBhvr>
                                        <p:cTn id="238" dur="1" fill="hold">
                                          <p:stCondLst>
                                            <p:cond delay="0"/>
                                          </p:stCondLst>
                                        </p:cTn>
                                        <p:tgtEl>
                                          <p:spTgt spid="32"/>
                                        </p:tgtEl>
                                        <p:attrNameLst>
                                          <p:attrName>style.visibility</p:attrName>
                                        </p:attrNameLst>
                                      </p:cBhvr>
                                      <p:to>
                                        <p:strVal val="visible"/>
                                      </p:to>
                                    </p:set>
                                    <p:animEffect transition="in" filter="fade">
                                      <p:cBhvr>
                                        <p:cTn id="239" dur="450"/>
                                        <p:tgtEl>
                                          <p:spTgt spid="32"/>
                                        </p:tgtEl>
                                      </p:cBhvr>
                                    </p:animEffect>
                                  </p:childTnLst>
                                </p:cTn>
                              </p:par>
                              <p:par>
                                <p:cTn id="240" presetID="10" presetClass="entr" presetSubtype="0" fill="hold" nodeType="withEffect">
                                  <p:stCondLst>
                                    <p:cond delay="1080"/>
                                  </p:stCondLst>
                                  <p:childTnLst>
                                    <p:set>
                                      <p:cBhvr>
                                        <p:cTn id="241" dur="1" fill="hold">
                                          <p:stCondLst>
                                            <p:cond delay="0"/>
                                          </p:stCondLst>
                                        </p:cTn>
                                        <p:tgtEl>
                                          <p:spTgt spid="33"/>
                                        </p:tgtEl>
                                        <p:attrNameLst>
                                          <p:attrName>style.visibility</p:attrName>
                                        </p:attrNameLst>
                                      </p:cBhvr>
                                      <p:to>
                                        <p:strVal val="visible"/>
                                      </p:to>
                                    </p:set>
                                    <p:animEffect transition="in" filter="fade">
                                      <p:cBhvr>
                                        <p:cTn id="242" dur="450"/>
                                        <p:tgtEl>
                                          <p:spTgt spid="33"/>
                                        </p:tgtEl>
                                      </p:cBhvr>
                                    </p:animEffect>
                                  </p:childTnLst>
                                </p:cTn>
                              </p:par>
                              <p:par>
                                <p:cTn id="243" presetID="22" presetClass="entr" presetSubtype="8" fill="hold" nodeType="withEffect">
                                  <p:stCondLst>
                                    <p:cond delay="1080"/>
                                  </p:stCondLst>
                                  <p:childTnLst>
                                    <p:set>
                                      <p:cBhvr>
                                        <p:cTn id="244" dur="1" fill="hold">
                                          <p:stCondLst>
                                            <p:cond delay="0"/>
                                          </p:stCondLst>
                                        </p:cTn>
                                        <p:tgtEl>
                                          <p:spTgt spid="34"/>
                                        </p:tgtEl>
                                        <p:attrNameLst>
                                          <p:attrName>style.visibility</p:attrName>
                                        </p:attrNameLst>
                                      </p:cBhvr>
                                      <p:to>
                                        <p:strVal val="visible"/>
                                      </p:to>
                                    </p:set>
                                    <p:animEffect transition="in" filter="wipe(left)">
                                      <p:cBhvr>
                                        <p:cTn id="245" dur="500"/>
                                        <p:tgtEl>
                                          <p:spTgt spid="34"/>
                                        </p:tgtEl>
                                      </p:cBhvr>
                                    </p:animEffect>
                                  </p:childTnLst>
                                </p:cTn>
                              </p:par>
                              <p:par>
                                <p:cTn id="246" presetID="10" presetClass="entr" presetSubtype="0" fill="hold" nodeType="withEffect">
                                  <p:stCondLst>
                                    <p:cond delay="1150"/>
                                  </p:stCondLst>
                                  <p:childTnLst>
                                    <p:set>
                                      <p:cBhvr>
                                        <p:cTn id="247" dur="1" fill="hold">
                                          <p:stCondLst>
                                            <p:cond delay="0"/>
                                          </p:stCondLst>
                                        </p:cTn>
                                        <p:tgtEl>
                                          <p:spTgt spid="35"/>
                                        </p:tgtEl>
                                        <p:attrNameLst>
                                          <p:attrName>style.visibility</p:attrName>
                                        </p:attrNameLst>
                                      </p:cBhvr>
                                      <p:to>
                                        <p:strVal val="visible"/>
                                      </p:to>
                                    </p:set>
                                    <p:animEffect transition="in" filter="fade">
                                      <p:cBhvr>
                                        <p:cTn id="248" dur="450"/>
                                        <p:tgtEl>
                                          <p:spTgt spid="35"/>
                                        </p:tgtEl>
                                      </p:cBhvr>
                                    </p:animEffect>
                                  </p:childTnLst>
                                </p:cTn>
                              </p:par>
                              <p:par>
                                <p:cTn id="249" presetID="22" presetClass="entr" presetSubtype="8" fill="hold" nodeType="withEffect">
                                  <p:stCondLst>
                                    <p:cond delay="1150"/>
                                  </p:stCondLst>
                                  <p:childTnLst>
                                    <p:set>
                                      <p:cBhvr>
                                        <p:cTn id="250" dur="1" fill="hold">
                                          <p:stCondLst>
                                            <p:cond delay="0"/>
                                          </p:stCondLst>
                                        </p:cTn>
                                        <p:tgtEl>
                                          <p:spTgt spid="36"/>
                                        </p:tgtEl>
                                        <p:attrNameLst>
                                          <p:attrName>style.visibility</p:attrName>
                                        </p:attrNameLst>
                                      </p:cBhvr>
                                      <p:to>
                                        <p:strVal val="visible"/>
                                      </p:to>
                                    </p:set>
                                    <p:animEffect transition="in" filter="wipe(left)">
                                      <p:cBhvr>
                                        <p:cTn id="251" dur="500"/>
                                        <p:tgtEl>
                                          <p:spTgt spid="36"/>
                                        </p:tgtEl>
                                      </p:cBhvr>
                                    </p:animEffect>
                                  </p:childTnLst>
                                </p:cTn>
                              </p:par>
                              <p:par>
                                <p:cTn id="252" presetID="22" presetClass="entr" presetSubtype="8" fill="hold" nodeType="withEffect">
                                  <p:stCondLst>
                                    <p:cond delay="1220"/>
                                  </p:stCondLst>
                                  <p:childTnLst>
                                    <p:set>
                                      <p:cBhvr>
                                        <p:cTn id="253" dur="1" fill="hold">
                                          <p:stCondLst>
                                            <p:cond delay="0"/>
                                          </p:stCondLst>
                                        </p:cTn>
                                        <p:tgtEl>
                                          <p:spTgt spid="37"/>
                                        </p:tgtEl>
                                        <p:attrNameLst>
                                          <p:attrName>style.visibility</p:attrName>
                                        </p:attrNameLst>
                                      </p:cBhvr>
                                      <p:to>
                                        <p:strVal val="visible"/>
                                      </p:to>
                                    </p:set>
                                    <p:animEffect transition="in" filter="wipe(left)">
                                      <p:cBhvr>
                                        <p:cTn id="254" dur="500"/>
                                        <p:tgtEl>
                                          <p:spTgt spid="37"/>
                                        </p:tgtEl>
                                      </p:cBhvr>
                                    </p:animEffect>
                                  </p:childTnLst>
                                </p:cTn>
                              </p:par>
                              <p:par>
                                <p:cTn id="255" presetID="22" presetClass="entr" presetSubtype="8" fill="hold" nodeType="withEffect">
                                  <p:stCondLst>
                                    <p:cond delay="1290"/>
                                  </p:stCondLst>
                                  <p:childTnLst>
                                    <p:set>
                                      <p:cBhvr>
                                        <p:cTn id="256" dur="1" fill="hold">
                                          <p:stCondLst>
                                            <p:cond delay="0"/>
                                          </p:stCondLst>
                                        </p:cTn>
                                        <p:tgtEl>
                                          <p:spTgt spid="38"/>
                                        </p:tgtEl>
                                        <p:attrNameLst>
                                          <p:attrName>style.visibility</p:attrName>
                                        </p:attrNameLst>
                                      </p:cBhvr>
                                      <p:to>
                                        <p:strVal val="visible"/>
                                      </p:to>
                                    </p:set>
                                    <p:animEffect transition="in" filter="wipe(left)">
                                      <p:cBhvr>
                                        <p:cTn id="257" dur="500"/>
                                        <p:tgtEl>
                                          <p:spTgt spid="38"/>
                                        </p:tgtEl>
                                      </p:cBhvr>
                                    </p:animEffect>
                                  </p:childTnLst>
                                </p:cTn>
                              </p:par>
                              <p:par>
                                <p:cTn id="258" presetID="10" presetClass="entr" presetSubtype="0" fill="hold" nodeType="withEffect">
                                  <p:stCondLst>
                                    <p:cond delay="580"/>
                                  </p:stCondLst>
                                  <p:childTnLst>
                                    <p:set>
                                      <p:cBhvr>
                                        <p:cTn id="259" dur="1" fill="hold">
                                          <p:stCondLst>
                                            <p:cond delay="0"/>
                                          </p:stCondLst>
                                        </p:cTn>
                                        <p:tgtEl>
                                          <p:spTgt spid="39"/>
                                        </p:tgtEl>
                                        <p:attrNameLst>
                                          <p:attrName>style.visibility</p:attrName>
                                        </p:attrNameLst>
                                      </p:cBhvr>
                                      <p:to>
                                        <p:strVal val="visible"/>
                                      </p:to>
                                    </p:set>
                                    <p:animEffect transition="in" filter="fade">
                                      <p:cBhvr>
                                        <p:cTn id="260"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3" grpId="0" build="p"/>
      <p:bldP spid="1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Love y Rayleigh: las ondas de superficie que usa el método</a:t>
            </a:r>
            <a:endParaRPr lang="en-US" sz="2200" dirty="0"/>
          </a:p>
        </p:txBody>
      </p:sp>
      <p:sp>
        <p:nvSpPr>
          <p:cNvPr id="3" name="Obj [o24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ondas Love solo existen si una capa blanda cubre un medio más rápido</a:t>
            </a:r>
            <a:endParaRPr lang="en-US" sz="1400" dirty="0"/>
          </a:p>
        </p:txBody>
      </p:sp>
      <p:pic>
        <p:nvPicPr>
          <p:cNvPr id="4" name="Obj [o250]" descr="Onda SH atrapada en una capa blanda por reflexión total en la interfaz y reflexión en la superficie libre">    </p:cNvPr>
          <p:cNvPicPr>
            <a:picLocks noChangeAspect="1"/>
          </p:cNvPicPr>
          <p:nvPr/>
        </p:nvPicPr>
        <p:blipFill>
          <a:blip r:embed="rId1"/>
          <a:stretch>
            <a:fillRect/>
          </a:stretch>
        </p:blipFill>
        <p:spPr>
          <a:xfrm>
            <a:off x="966136" y="1601523"/>
            <a:ext cx="4487298" cy="2724431"/>
          </a:xfrm>
          <a:prstGeom prst="rect">
            <a:avLst/>
          </a:prstGeom>
        </p:spPr>
      </p:pic>
      <p:sp>
        <p:nvSpPr>
          <p:cNvPr id="5" name="Obj [o251]"/>
          <p:cNvSpPr/>
          <p:nvPr/>
        </p:nvSpPr>
        <p:spPr>
          <a:xfrm>
            <a:off x="5613694" y="1641589"/>
            <a:ext cx="2564170" cy="72117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 name="Obj [o252]"/>
              <p:cNvSpPr txBox="1"/>
              <p:nvPr/>
            </p:nvSpPr>
            <p:spPr>
              <a:xfrm>
                <a:off x="5613694" y="1641589"/>
                <a:ext cx="2564170" cy="72117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θ</m:t>
                          </m:r>
                        </m:e>
                        <m:sub>
                          <m:r>
                            <m:rPr>
                              <m:sty m:val="p"/>
                            </m:rPr>
                            <a:rPr lang="es-ES" sz="1800">
                              <a:solidFill>
                                <a:srgbClr val="1F4E79"/>
                              </a:solidFill>
                              <a:latin typeface="Cambria Math" panose="02040503050406030204" pitchFamily="18" charset="0"/>
                            </a:rPr>
                            <m:t xml:space="preserve">c</m:t>
                          </m:r>
                        </m:sub>
                      </m:sSub>
                      <m:r>
                        <a:rPr lang="es-ES" sz="1800" i="1">
                          <a:solidFill>
                            <a:srgbClr val="1F4E79"/>
                          </a:solidFill>
                          <a:latin typeface="Cambria Math" panose="02040503050406030204" pitchFamily="18" charset="0"/>
                        </a:rPr>
                        <m:t xml:space="preserve">=arcsin</m:t>
                      </m:r>
                      <m:r>
                        <a:rPr lang="es-ES" sz="1800" i="1">
                          <a:solidFill>
                            <a:srgbClr val="1F4E79"/>
                          </a:solidFill>
                          <a:latin typeface="Cambria Math" panose="02040503050406030204" pitchFamily="18" charset="0"/>
                        </a:rPr>
                        <m:t xml:space="preserve">(</m:t>
                      </m:r>
                      <m:f>
                        <m:fPr>
                          <m:ctrlPr>
                            <a:rPr lang="es-ES" sz="1800" i="1">
                              <a:latin typeface="Cambria Math" panose="02040503050406030204" pitchFamily="18" charset="0"/>
                            </a:rPr>
                          </m:ctrlPr>
                        </m:fPr>
                        <m:num>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V</m:t>
                              </m:r>
                            </m:e>
                            <m:sub>
                              <m:r>
                                <a:rPr lang="es-ES" sz="1800" i="1">
                                  <a:solidFill>
                                    <a:srgbClr val="1F4E79"/>
                                  </a:solidFill>
                                  <a:latin typeface="Cambria Math" panose="02040503050406030204" pitchFamily="18" charset="0"/>
                                </a:rPr>
                                <m:t xml:space="preserve">s1</m:t>
                              </m:r>
                            </m:sub>
                          </m:sSub>
                        </m:num>
                        <m:den>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V</m:t>
                              </m:r>
                            </m:e>
                            <m:sub>
                              <m:r>
                                <a:rPr lang="es-ES" sz="1800" i="1">
                                  <a:solidFill>
                                    <a:srgbClr val="1F4E79"/>
                                  </a:solidFill>
                                  <a:latin typeface="Cambria Math" panose="02040503050406030204" pitchFamily="18" charset="0"/>
                                </a:rPr>
                                <m:t xml:space="preserve">s2</m:t>
                              </m:r>
                            </m:sub>
                          </m:sSub>
                        </m:den>
                      </m:f>
                      <m:r>
                        <a:rPr lang="es-ES" sz="1800" i="1">
                          <a:solidFill>
                            <a:srgbClr val="1F4E79"/>
                          </a:solidFill>
                          <a:latin typeface="Cambria Math" panose="02040503050406030204" pitchFamily="18" charset="0"/>
                        </a:rPr>
                        <m:t xml:space="preserve">)</m:t>
                      </m:r>
                    </m:oMath>
                  </m:oMathPara>
                </a14:m>
                <a:endParaRPr lang="es-ES"/>
              </a:p>
            </p:txBody>
          </p:sp>
        </mc:Choice>
        <mc:Fallback>
          <p:sp>
            <p:nvSpPr>
              <p:cNvPr id="6" name="Obj [o252]"/>
              <p:cNvSpPr txBox="1"/>
              <p:nvPr/>
            </p:nvSpPr>
            <p:spPr>
              <a:xfrm>
                <a:off x="5613694" y="1641589"/>
                <a:ext cx="2564170" cy="72117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θc = arcsin(Vs1 / Vs2)</a:t>
                </a:r>
                <a:endParaRPr lang="en-US" sz="2159" dirty="0"/>
              </a:p>
            </p:txBody>
          </p:sp>
        </mc:Fallback>
      </mc:AlternateContent>
      <p:sp>
        <p:nvSpPr>
          <p:cNvPr id="7" name="Obj [o253]"/>
          <p:cNvSpPr txBox="1"/>
          <p:nvPr/>
        </p:nvSpPr>
        <p:spPr>
          <a:xfrm>
            <a:off x="5613694" y="2523022"/>
            <a:ext cx="2564170" cy="1923128"/>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Queda atrapada entre la superficie libre y la interfaz</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Exige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m:rPr>
                            <m:sty m:val="p"/>
                          </m:rPr>
                          <a:rPr lang="es-ES" sz="1440">
                            <a:solidFill>
                              <a:srgbClr val="2D2D2D"/>
                            </a:solidFill>
                            <a:latin typeface="Cambria Math" panose="02040503050406030204" pitchFamily="18" charset="0"/>
                          </a:rPr>
                          <m:t xml:space="preserve">s1</m:t>
                        </m:r>
                      </m:sub>
                    </m:sSub>
                    <m:r>
                      <m:rPr>
                        <m:sty m:val="p"/>
                      </m:rPr>
                      <a:rPr lang="es-ES" sz="1440">
                        <a:solidFill>
                          <a:srgbClr val="2D2D2D"/>
                        </a:solidFill>
                        <a:latin typeface="Cambria Math" panose="02040503050406030204" pitchFamily="18" charset="0"/>
                      </a:rPr>
                      <m:t xml:space="preserve">&lt;</m:t>
                    </m:r>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m:rPr>
                            <m:sty m:val="p"/>
                          </m:rPr>
                          <a:rPr lang="es-ES" sz="1440">
                            <a:solidFill>
                              <a:srgbClr val="2D2D2D"/>
                            </a:solidFill>
                            <a:latin typeface="Cambria Math" panose="02040503050406030204" pitchFamily="18" charset="0"/>
                          </a:rPr>
                          <m:t xml:space="preserve">s2</m:t>
                        </m:r>
                      </m:sub>
                    </m:sSub>
                  </m:oMath>
                </a14:m>
              </mc:Choice>
              <mc:Fallback>
                <a:r>
                  <a:rPr lang="en-US" sz="1440" dirty="0">
                    <a:solidFill>
                      <a:srgbClr val="2D2D2D"/>
                    </a:solidFill>
                    <a:latin typeface="Arial" pitchFamily="34" charset="0"/>
                    <a:ea typeface="Arial" pitchFamily="34" charset="-122"/>
                    <a:cs typeface="Arial" pitchFamily="34" charset="-120"/>
                  </a:rPr>
                  <a:t>Vs1 &lt; Vs2</a:t>
                </a:r>
              </mc:Fallback>
            </mc:AlternateContent>
            <a:endParaRPr lang="en-US" sz="1440" dirty="0"/>
          </a:p>
        </p:txBody>
      </p:sp>
      <p:sp>
        <p:nvSpPr>
          <p:cNvPr id="8" name="Obj [o25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ver Foti et al. (2014), cap. 2 (a confirmar).</a:t>
            </a:r>
            <a:endParaRPr lang="en-US" sz="800" dirty="0"/>
          </a:p>
        </p:txBody>
      </p:sp>
      <p:sp>
        <p:nvSpPr>
          <p:cNvPr id="9" name="Obj [o25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Love: movimiento horizontal, perpendicular a la propagación</a:t>
            </a:r>
            <a:endParaRPr lang="en-US" sz="1400" dirty="0"/>
          </a:p>
        </p:txBody>
      </p:sp>
      <p:pic>
        <p:nvPicPr>
          <p:cNvPr id="10" name="Obj [o256]" descr="Onda Love: movimiento horizontal transversal a la propagación">    </p:cNvPr>
          <p:cNvPicPr>
            <a:picLocks noChangeAspect="1"/>
          </p:cNvPicPr>
          <p:nvPr/>
        </p:nvPicPr>
        <p:blipFill>
          <a:blip r:embed="rId2"/>
          <a:stretch>
            <a:fillRect/>
          </a:stretch>
        </p:blipFill>
        <p:spPr>
          <a:xfrm>
            <a:off x="441794" y="1633397"/>
            <a:ext cx="4257923" cy="2128962"/>
          </a:xfrm>
          <a:prstGeom prst="rect">
            <a:avLst/>
          </a:prstGeom>
        </p:spPr>
      </p:pic>
      <p:sp>
        <p:nvSpPr>
          <p:cNvPr id="11" name="Obj [o257]"/>
          <p:cNvSpPr txBox="1"/>
          <p:nvPr/>
        </p:nvSpPr>
        <p:spPr>
          <a:xfrm>
            <a:off x="4927821" y="1671414"/>
            <a:ext cx="2357065" cy="2585168"/>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Resulta de la interferencia constructiva de las SH atrapadas</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Sin componente vertical: un geófono vertical no la registra</a:t>
            </a:r>
            <a:endParaRPr lang="en-US" sz="1380" dirty="0"/>
          </a:p>
        </p:txBody>
      </p:sp>
      <p:sp>
        <p:nvSpPr>
          <p:cNvPr id="12" name="Obj [o25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3" name="Obj [o25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Rayleigh: P y SV acopladas en la superficie libre, con órbita elíptica</a:t>
            </a:r>
            <a:endParaRPr lang="en-US" sz="1400" dirty="0"/>
          </a:p>
        </p:txBody>
      </p:sp>
      <p:pic>
        <p:nvPicPr>
          <p:cNvPr id="14" name="Obj [o260]" descr="Onda Rayleigh: movimiento elíptico retrógrado en el plano vertical">    </p:cNvPr>
          <p:cNvPicPr>
            <a:picLocks noChangeAspect="1"/>
          </p:cNvPicPr>
          <p:nvPr/>
        </p:nvPicPr>
        <p:blipFill>
          <a:blip r:embed="rId3"/>
          <a:stretch>
            <a:fillRect/>
          </a:stretch>
        </p:blipFill>
        <p:spPr>
          <a:xfrm>
            <a:off x="441794" y="1633397"/>
            <a:ext cx="4257923" cy="2128962"/>
          </a:xfrm>
          <a:prstGeom prst="rect">
            <a:avLst/>
          </a:prstGeom>
        </p:spPr>
      </p:pic>
      <p:sp>
        <p:nvSpPr>
          <p:cNvPr id="15" name="Obj [o261]"/>
          <p:cNvSpPr txBox="1"/>
          <p:nvPr/>
        </p:nvSpPr>
        <p:spPr>
          <a:xfrm>
            <a:off x="4927821" y="1671414"/>
            <a:ext cx="2357065" cy="2585168"/>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Acopla P y SV en la superficie libre</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Movimiento elíptico retrógrado en el plano vertical</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Existe incluso en un semiespacio homogéneo</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Tiene componente vertical: la registra el geófono vertical</a:t>
            </a:r>
            <a:endParaRPr lang="en-US" sz="1380" dirty="0"/>
          </a:p>
        </p:txBody>
      </p:sp>
      <p:sp>
        <p:nvSpPr>
          <p:cNvPr id="16" name="Obj [o26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7" name="Obj [o26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fuente en superficie envía dos tercios de su energía en ondas Rayleigh</a:t>
            </a:r>
            <a:endParaRPr lang="en-US" sz="1400" dirty="0"/>
          </a:p>
        </p:txBody>
      </p:sp>
      <p:graphicFrame>
        <p:nvGraphicFramePr>
          <p:cNvPr id="18" name="Obj [o264]" descr=""/>
          <p:cNvGraphicFramePr/>
          <p:nvPr/>
        </p:nvGraphicFramePr>
        <p:xfrm>
          <a:off x="441794" y="1557362"/>
          <a:ext cx="3801717" cy="2737237"/>
        </p:xfrm>
        <a:graphic xmlns:a="http://schemas.openxmlformats.org/drawingml/2006/main">
          <a:graphicData uri="http://schemas.openxmlformats.org/drawingml/2006/chart">
            <c:chart xmlns:c="http://schemas.openxmlformats.org/drawingml/2006/chart" r:id="rId4"/>
          </a:graphicData>
        </a:graphic>
      </p:graphicFrame>
      <p:sp>
        <p:nvSpPr>
          <p:cNvPr id="19" name="Obj [o265]"/>
          <p:cNvSpPr txBox="1"/>
          <p:nvPr/>
        </p:nvSpPr>
        <p:spPr>
          <a:xfrm>
            <a:off x="4471615" y="1709431"/>
            <a:ext cx="2813271" cy="1292584"/>
          </a:xfrm>
          <a:prstGeom prst="rect">
            <a:avLst/>
          </a:prstGeom>
          <a:noFill/>
          <a:ln/>
        </p:spPr>
        <p:txBody>
          <a:bodyPr wrap="square" lIns="0" tIns="0" rIns="0" bIns="0" rtlCol="0" anchor="t"/>
          <a:lstStyle/>
          <a:p>
            <a:pPr marL="342900" indent="-342900">
              <a:spcAft>
                <a:spcPts val="1035"/>
              </a:spcAft>
              <a:buSzPct val="100000"/>
              <a:buChar char="•"/>
            </a:pPr>
            <a:r>
              <a:rPr lang="en-US" sz="1726" dirty="0">
                <a:solidFill>
                  <a:srgbClr val="2D2D2D"/>
                </a:solidFill>
                <a:latin typeface="Arial" pitchFamily="34" charset="0"/>
                <a:ea typeface="Arial" pitchFamily="34" charset="-122"/>
                <a:cs typeface="Arial" pitchFamily="34" charset="-120"/>
              </a:rPr>
              <a:t>Rayleigh 67 %, S 26 %, P 7 %</a:t>
            </a:r>
            <a:endParaRPr lang="en-US" sz="1726" dirty="0"/>
          </a:p>
          <a:p>
            <a:pPr marL="342900" indent="-342900">
              <a:spcAft>
                <a:spcPts val="1035"/>
              </a:spcAft>
              <a:buSzPct val="100000"/>
              <a:buChar char="•"/>
            </a:pPr>
            <a:r>
              <a:rPr lang="en-US" sz="1726" dirty="0">
                <a:solidFill>
                  <a:srgbClr val="2D2D2D"/>
                </a:solidFill>
                <a:latin typeface="Arial" pitchFamily="34" charset="0"/>
                <a:ea typeface="Arial" pitchFamily="34" charset="-122"/>
                <a:cs typeface="Arial" pitchFamily="34" charset="-120"/>
              </a:rPr>
              <a:t>Las Rayleigh dominan el registro en superficie</a:t>
            </a:r>
            <a:endParaRPr lang="en-US" sz="1726" dirty="0"/>
          </a:p>
        </p:txBody>
      </p:sp>
      <p:sp>
        <p:nvSpPr>
          <p:cNvPr id="20" name="Obj [o266]"/>
          <p:cNvSpPr txBox="1"/>
          <p:nvPr/>
        </p:nvSpPr>
        <p:spPr>
          <a:xfrm>
            <a:off x="4471615" y="3154084"/>
            <a:ext cx="2813271" cy="760343"/>
          </a:xfrm>
          <a:prstGeom prst="rect">
            <a:avLst/>
          </a:prstGeom>
          <a:noFill/>
          <a:ln/>
        </p:spPr>
        <p:txBody>
          <a:bodyPr wrap="square" lIns="0" tIns="0" rIns="0" bIns="0" rtlCol="0" anchor="t"/>
          <a:lstStyle/>
          <a:p>
            <a:pPr indent="0" marL="0">
              <a:buNone/>
            </a:pPr>
            <a:r>
              <a:rPr lang="en-US" sz="1380" dirty="0">
                <a:solidFill>
                  <a:srgbClr val="6B6B6B"/>
                </a:solidFill>
                <a:latin typeface="Arial" pitchFamily="34" charset="0"/>
                <a:ea typeface="Arial" pitchFamily="34" charset="-122"/>
                <a:cs typeface="Arial" pitchFamily="34" charset="-120"/>
              </a:rPr>
              <a:t>Supone </a:t>
            </a:r>
            <mc:AlternateContent xmlns:mc="http://schemas.openxmlformats.org/markup-compatibility/2006">
              <mc:Choice xmlns:a14="http://schemas.microsoft.com/office/drawing/2010/main" Requires="a14">
                <a14:m>
                  <m:oMath xmlns:m="http://schemas.openxmlformats.org/officeDocument/2006/math">
                    <m:r>
                      <a:rPr lang="es-ES" sz="1380" i="1">
                        <a:solidFill>
                          <a:srgbClr val="6B6B6B"/>
                        </a:solidFill>
                        <a:latin typeface="Cambria Math" panose="02040503050406030204" pitchFamily="18" charset="0"/>
                      </a:rPr>
                      <m:t xml:space="preserve">ν</m:t>
                    </m:r>
                    <m:r>
                      <m:rPr>
                        <m:sty m:val="p"/>
                      </m:rPr>
                      <a:rPr lang="es-ES" sz="1380">
                        <a:solidFill>
                          <a:srgbClr val="6B6B6B"/>
                        </a:solidFill>
                        <a:latin typeface="Cambria Math" panose="02040503050406030204" pitchFamily="18" charset="0"/>
                      </a:rPr>
                      <m:t xml:space="preserve">=</m:t>
                    </m:r>
                    <m:r>
                      <m:rPr>
                        <m:sty m:val="p"/>
                      </m:rPr>
                      <a:rPr lang="es-ES" sz="1380">
                        <a:solidFill>
                          <a:srgbClr val="6B6B6B"/>
                        </a:solidFill>
                        <a:latin typeface="Cambria Math" panose="02040503050406030204" pitchFamily="18" charset="0"/>
                      </a:rPr>
                      <m:t xml:space="preserve">0,25</m:t>
                    </m:r>
                  </m:oMath>
                </a14:m>
              </mc:Choice>
              <mc:Fallback>
                <a:r>
                  <a:rPr lang="en-US" sz="1380" dirty="0">
                    <a:solidFill>
                      <a:srgbClr val="6B6B6B"/>
                    </a:solidFill>
                    <a:latin typeface="Arial" pitchFamily="34" charset="0"/>
                    <a:ea typeface="Arial" pitchFamily="34" charset="-122"/>
                    <a:cs typeface="Arial" pitchFamily="34" charset="-120"/>
                  </a:rPr>
                  <a:t>ν = 0,25</a:t>
                </a:r>
              </mc:Fallback>
            </mc:AlternateContent>
            <a:r>
              <a:rPr lang="en-US" sz="1380" dirty="0">
                <a:solidFill>
                  <a:srgbClr val="6B6B6B"/>
                </a:solidFill>
                <a:latin typeface="Arial" pitchFamily="34" charset="0"/>
                <a:ea typeface="Arial" pitchFamily="34" charset="-122"/>
                <a:cs typeface="Arial" pitchFamily="34" charset="-120"/>
              </a:rPr>
              <a:t>, fuente vertical circular y semiespacio homogéneo e isótropo</a:t>
            </a:r>
            <a:endParaRPr lang="en-US" sz="1380" dirty="0"/>
          </a:p>
        </p:txBody>
      </p:sp>
      <p:sp>
        <p:nvSpPr>
          <p:cNvPr id="21" name="Obj [o2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Miller y Pursey (1955); reproducido en Foti et al. (2014), cap. 2 (a confirmar).</a:t>
            </a:r>
            <a:endParaRPr lang="en-US" sz="800" dirty="0"/>
          </a:p>
        </p:txBody>
      </p:sp>
      <p:sp>
        <p:nvSpPr>
          <p:cNvPr id="22" name="Obj [o26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Además, las Rayleigh se atenúan menos con la distancia que las de cuerpo</a:t>
            </a:r>
            <a:endParaRPr lang="en-US" sz="1400" dirty="0"/>
          </a:p>
        </p:txBody>
      </p:sp>
      <p:graphicFrame>
        <p:nvGraphicFramePr>
          <p:cNvPr id="23" name="Obj [o269]" descr=""/>
          <p:cNvGraphicFramePr/>
          <p:nvPr/>
        </p:nvGraphicFramePr>
        <p:xfrm>
          <a:off x="441794" y="1557362"/>
          <a:ext cx="4257923" cy="2737237"/>
        </p:xfrm>
        <a:graphic xmlns:a="http://schemas.openxmlformats.org/drawingml/2006/main">
          <a:graphicData uri="http://schemas.openxmlformats.org/drawingml/2006/chart">
            <c:chart xmlns:c="http://schemas.openxmlformats.org/drawingml/2006/chart" r:id="rId5"/>
          </a:graphicData>
        </a:graphic>
      </p:graphicFrame>
      <p:sp>
        <p:nvSpPr>
          <p:cNvPr id="24" name="Obj [o270]"/>
          <p:cNvSpPr txBox="1"/>
          <p:nvPr/>
        </p:nvSpPr>
        <p:spPr>
          <a:xfrm>
            <a:off x="4927821" y="1709431"/>
            <a:ext cx="2357065" cy="2509133"/>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Rayleigh: amplitud ∝ 1/√r</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Cuerpo: 1/r en el interior, 1/r² a lo largo de la superficie</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Lejos de la fuente, domina la Rayleigh</a:t>
            </a:r>
            <a:endParaRPr lang="en-US" sz="1380" dirty="0"/>
          </a:p>
        </p:txBody>
      </p:sp>
      <p:sp>
        <p:nvSpPr>
          <p:cNvPr id="25" name="Obj [o27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Richart, Hall y Woods (1970); Foti et al. (2014), cap. 2 (a confirmar).</a:t>
            </a:r>
            <a:endParaRPr lang="en-US" sz="800" dirty="0"/>
          </a:p>
        </p:txBody>
      </p:sp>
      <p:sp>
        <p:nvSpPr>
          <p:cNvPr id="26" name="Obj [o27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un semiespacio homogéneo, Rayleigh viaja a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c</m:t>
                        </m:r>
                      </m:e>
                      <m:sub>
                        <m:r>
                          <a:rPr lang="es-ES" sz="1400" i="1">
                            <a:solidFill>
                              <a:srgbClr val="2E75B6"/>
                            </a:solidFill>
                            <a:latin typeface="Cambria Math" panose="02040503050406030204" pitchFamily="18" charset="0"/>
                          </a:rPr>
                          <m:t xml:space="preserve">R</m:t>
                        </m:r>
                      </m:sub>
                    </m:sSub>
                    <m:r>
                      <m:rPr>
                        <m:sty m:val="p"/>
                      </m:rPr>
                      <a:rPr lang="es-ES" sz="1400">
                        <a:solidFill>
                          <a:srgbClr val="2E75B6"/>
                        </a:solidFill>
                        <a:latin typeface="Cambria Math" panose="02040503050406030204" pitchFamily="18" charset="0"/>
                      </a:rPr>
                      <m:t xml:space="preserve">≈</m:t>
                    </m:r>
                    <m:r>
                      <m:rPr>
                        <m:sty m:val="p"/>
                      </m:rPr>
                      <a:rPr lang="es-ES" sz="1400">
                        <a:solidFill>
                          <a:srgbClr val="2E75B6"/>
                        </a:solidFill>
                        <a:latin typeface="Cambria Math" panose="02040503050406030204" pitchFamily="18" charset="0"/>
                      </a:rPr>
                      <m:t xml:space="preserve">0,9</m:t>
                    </m:r>
                    <m:r>
                      <m:rPr>
                        <m:sty m:val="p"/>
                      </m:rPr>
                      <a:rPr lang="es-ES" sz="1400">
                        <a:solidFill>
                          <a:srgbClr val="2E75B6"/>
                        </a:solidFill>
                        <a:latin typeface="Cambria Math" panose="02040503050406030204" pitchFamily="18" charset="0"/>
                      </a:rPr>
                      <m:t xml:space="preserve">·</m:t>
                    </m:r>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cR ≈ 0,9·Vs</a:t>
                </a:r>
              </mc:Fallback>
            </mc:AlternateContent>
            <a:r>
              <a:rPr lang="en-US" sz="1400" b="1" dirty="0">
                <a:solidFill>
                  <a:srgbClr val="2E75B6"/>
                </a:solidFill>
                <a:latin typeface="Arial" pitchFamily="34" charset="0"/>
                <a:ea typeface="Arial" pitchFamily="34" charset="-122"/>
                <a:cs typeface="Arial" pitchFamily="34" charset="-120"/>
              </a:rPr>
              <a:t> y no depende de la frecuencia</a:t>
            </a:r>
            <a:endParaRPr lang="en-US" sz="1400" dirty="0"/>
          </a:p>
        </p:txBody>
      </p:sp>
      <p:graphicFrame>
        <p:nvGraphicFramePr>
          <p:cNvPr id="27" name="Obj [o273]" descr=""/>
          <p:cNvGraphicFramePr/>
          <p:nvPr/>
        </p:nvGraphicFramePr>
        <p:xfrm>
          <a:off x="441794" y="1557362"/>
          <a:ext cx="3497580" cy="2281030"/>
        </p:xfrm>
        <a:graphic xmlns:a="http://schemas.openxmlformats.org/drawingml/2006/main">
          <a:graphicData uri="http://schemas.openxmlformats.org/drawingml/2006/chart">
            <c:chart xmlns:c="http://schemas.openxmlformats.org/drawingml/2006/chart" r:id="rId6"/>
          </a:graphicData>
        </a:graphic>
      </p:graphicFrame>
      <p:sp>
        <p:nvSpPr>
          <p:cNvPr id="28" name="Obj [o274]"/>
          <p:cNvSpPr/>
          <p:nvPr/>
        </p:nvSpPr>
        <p:spPr>
          <a:xfrm>
            <a:off x="4167477" y="1595380"/>
            <a:ext cx="3117408" cy="532240"/>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9" name="Obj [o275]"/>
              <p:cNvSpPr txBox="1"/>
              <p:nvPr/>
            </p:nvSpPr>
            <p:spPr>
              <a:xfrm>
                <a:off x="4167477" y="1595380"/>
                <a:ext cx="3117408" cy="532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≈0,9·</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29" name="Obj [o275]"/>
              <p:cNvSpPr txBox="1"/>
              <p:nvPr/>
            </p:nvSpPr>
            <p:spPr>
              <a:xfrm>
                <a:off x="4167477" y="1595380"/>
                <a:ext cx="3117408" cy="532240"/>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cR ≈ 0,9 · Vs</a:t>
                </a:r>
                <a:endParaRPr lang="en-US" sz="2071" dirty="0"/>
              </a:p>
            </p:txBody>
          </p:sp>
        </mc:Fallback>
      </mc:AlternateContent>
      <p:sp>
        <p:nvSpPr>
          <p:cNvPr id="30" name="Obj [o276]"/>
          <p:cNvSpPr/>
          <p:nvPr/>
        </p:nvSpPr>
        <p:spPr>
          <a:xfrm>
            <a:off x="4167477" y="2203654"/>
            <a:ext cx="3117408" cy="68430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1" name="Obj [o277]"/>
              <p:cNvSpPr txBox="1"/>
              <p:nvPr/>
            </p:nvSpPr>
            <p:spPr>
              <a:xfrm>
                <a:off x="4167477" y="2203654"/>
                <a:ext cx="3117408" cy="68430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c</m:t>
                          </m:r>
                        </m:e>
                        <m:sub>
                          <m:r>
                            <a:rPr lang="es-ES" sz="2100" i="1">
                              <a:solidFill>
                                <a:srgbClr val="1F4E79"/>
                              </a:solidFill>
                              <a:latin typeface="Cambria Math" panose="02040503050406030204" pitchFamily="18" charset="0"/>
                            </a:rPr>
                            <m:t xml:space="preserve">R</m:t>
                          </m:r>
                        </m:sub>
                      </m:sSub>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0,862+1,14ν</m:t>
                          </m:r>
                        </m:num>
                        <m:den>
                          <m:r>
                            <a:rPr lang="es-ES" sz="2100" i="1">
                              <a:solidFill>
                                <a:srgbClr val="1F4E79"/>
                              </a:solidFill>
                              <a:latin typeface="Cambria Math" panose="02040503050406030204" pitchFamily="18" charset="0"/>
                            </a:rPr>
                            <m:t xml:space="preserve">1+ν</m:t>
                          </m:r>
                        </m:den>
                      </m:f>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oMath>
                  </m:oMathPara>
                </a14:m>
                <a:endParaRPr lang="es-ES"/>
              </a:p>
            </p:txBody>
          </p:sp>
        </mc:Choice>
        <mc:Fallback>
          <p:sp>
            <p:nvSpPr>
              <p:cNvPr id="31" name="Obj [o277]"/>
              <p:cNvSpPr txBox="1"/>
              <p:nvPr/>
            </p:nvSpPr>
            <p:spPr>
              <a:xfrm>
                <a:off x="4167477" y="2203654"/>
                <a:ext cx="3117408" cy="68430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cR ≈ (0,862 + 1,14ν)/(1 + ν) · Vs</a:t>
                </a:r>
                <a:endParaRPr lang="en-US" sz="2071" dirty="0"/>
              </a:p>
            </p:txBody>
          </p:sp>
        </mc:Fallback>
      </mc:AlternateContent>
      <p:sp>
        <p:nvSpPr>
          <p:cNvPr id="32" name="Obj [o278]"/>
          <p:cNvSpPr txBox="1"/>
          <p:nvPr/>
        </p:nvSpPr>
        <p:spPr>
          <a:xfrm>
            <a:off x="4167477" y="2963998"/>
            <a:ext cx="3117408" cy="760343"/>
          </a:xfrm>
          <a:prstGeom prst="rect">
            <a:avLst/>
          </a:prstGeom>
          <a:noFill/>
          <a:ln/>
        </p:spPr>
        <p:txBody>
          <a:bodyPr wrap="square" lIns="0" tIns="0" rIns="0" bIns="0" rtlCol="0" anchor="t"/>
          <a:lstStyle/>
          <a:p>
            <a:pPr marL="342900" indent="-342900">
              <a:spcAft>
                <a:spcPts val="518"/>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c</m:t>
                        </m:r>
                      </m:e>
                      <m:sub>
                        <m:r>
                          <a:rPr lang="es-ES" sz="1208" i="1">
                            <a:solidFill>
                              <a:srgbClr val="2D2D2D"/>
                            </a:solidFill>
                            <a:latin typeface="Cambria Math" panose="02040503050406030204" pitchFamily="18" charset="0"/>
                          </a:rPr>
                          <m:t xml:space="preserve">R</m:t>
                        </m:r>
                      </m:sub>
                    </m:sSub>
                    <m:r>
                      <m:rPr>
                        <m:sty m:val="p"/>
                      </m:rPr>
                      <a:rPr lang="es-ES" sz="1208">
                        <a:solidFill>
                          <a:srgbClr val="2D2D2D"/>
                        </a:solidFill>
                        <a:latin typeface="Cambria Math" panose="02040503050406030204" pitchFamily="18" charset="0"/>
                      </a:rPr>
                      <m:t xml:space="preserve">/</m:t>
                    </m:r>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V</m:t>
                        </m:r>
                      </m:e>
                      <m:sub>
                        <m:r>
                          <a:rPr lang="es-ES" sz="1208" i="1">
                            <a:solidFill>
                              <a:srgbClr val="2D2D2D"/>
                            </a:solidFill>
                            <a:latin typeface="Cambria Math" panose="02040503050406030204" pitchFamily="18" charset="0"/>
                          </a:rPr>
                          <m:t xml:space="preserve">s</m:t>
                        </m:r>
                      </m:sub>
                    </m:sSub>
                  </m:oMath>
                </a14:m>
              </mc:Choice>
              <mc:Fallback>
                <a:r>
                  <a:rPr lang="en-US" sz="1208" dirty="0">
                    <a:solidFill>
                      <a:srgbClr val="2D2D2D"/>
                    </a:solidFill>
                    <a:latin typeface="Arial" pitchFamily="34" charset="0"/>
                    <a:ea typeface="Arial" pitchFamily="34" charset="-122"/>
                    <a:cs typeface="Arial" pitchFamily="34" charset="-120"/>
                  </a:rPr>
                  <a:t>cR / Vs</a:t>
                </a:r>
              </mc:Fallback>
            </mc:AlternateContent>
            <a:r>
              <a:rPr lang="en-US" sz="1208" dirty="0">
                <a:solidFill>
                  <a:srgbClr val="2D2D2D"/>
                </a:solidFill>
                <a:latin typeface="Arial" pitchFamily="34" charset="0"/>
                <a:ea typeface="Arial" pitchFamily="34" charset="-122"/>
                <a:cs typeface="Arial" pitchFamily="34" charset="-120"/>
              </a:rPr>
              <a:t> va de 0,86 a 0,95 según </a:t>
            </a:r>
            <mc:AlternateContent xmlns:mc="http://schemas.openxmlformats.org/markup-compatibility/2006">
              <mc:Choice xmlns:a14="http://schemas.microsoft.com/office/drawing/2010/main" Requires="a14">
                <a14:m>
                  <m:oMath xmlns:m="http://schemas.openxmlformats.org/officeDocument/2006/math">
                    <m:r>
                      <a:rPr lang="es-ES" sz="1208" i="1">
                        <a:solidFill>
                          <a:srgbClr val="2D2D2D"/>
                        </a:solidFill>
                        <a:latin typeface="Cambria Math" panose="02040503050406030204" pitchFamily="18" charset="0"/>
                      </a:rPr>
                      <m:t xml:space="preserve">ν</m:t>
                    </m:r>
                  </m:oMath>
                </a14:m>
              </mc:Choice>
              <mc:Fallback>
                <a:r>
                  <a:rPr lang="en-US" sz="1208" dirty="0">
                    <a:solidFill>
                      <a:srgbClr val="2D2D2D"/>
                    </a:solidFill>
                    <a:latin typeface="Arial" pitchFamily="34" charset="0"/>
                    <a:ea typeface="Arial" pitchFamily="34" charset="-122"/>
                    <a:cs typeface="Arial" pitchFamily="34" charset="-120"/>
                  </a:rPr>
                  <a:t>ν</a:t>
                </a:r>
              </mc:Fallback>
            </mc:AlternateContent>
            <a:endParaRPr lang="en-US" sz="1208" dirty="0"/>
          </a:p>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No hay dispersión: todas las frecuencias van a la misma </a:t>
            </a:r>
            <mc:AlternateContent xmlns:mc="http://schemas.openxmlformats.org/markup-compatibility/2006">
              <mc:Choice xmlns:a14="http://schemas.microsoft.com/office/drawing/2010/main" Requires="a14">
                <a14:m>
                  <m:oMath xmlns:m="http://schemas.openxmlformats.org/officeDocument/2006/math">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c</m:t>
                        </m:r>
                      </m:e>
                      <m:sub>
                        <m:r>
                          <a:rPr lang="es-ES" sz="1208" i="1">
                            <a:solidFill>
                              <a:srgbClr val="2D2D2D"/>
                            </a:solidFill>
                            <a:latin typeface="Cambria Math" panose="02040503050406030204" pitchFamily="18" charset="0"/>
                          </a:rPr>
                          <m:t xml:space="preserve">R</m:t>
                        </m:r>
                      </m:sub>
                    </m:sSub>
                  </m:oMath>
                </a14:m>
              </mc:Choice>
              <mc:Fallback>
                <a:r>
                  <a:rPr lang="en-US" sz="1208" dirty="0">
                    <a:solidFill>
                      <a:srgbClr val="2D2D2D"/>
                    </a:solidFill>
                    <a:latin typeface="Arial" pitchFamily="34" charset="0"/>
                    <a:ea typeface="Arial" pitchFamily="34" charset="-122"/>
                    <a:cs typeface="Arial" pitchFamily="34" charset="-120"/>
                  </a:rPr>
                  <a:t>cR</a:t>
                </a:r>
              </mc:Fallback>
            </mc:AlternateContent>
            <a:endParaRPr lang="en-US" sz="1208" dirty="0"/>
          </a:p>
        </p:txBody>
      </p:sp>
      <p:sp>
        <p:nvSpPr>
          <p:cNvPr id="33" name="Obj [o279]"/>
          <p:cNvSpPr/>
          <p:nvPr/>
        </p:nvSpPr>
        <p:spPr>
          <a:xfrm>
            <a:off x="4167477" y="3762358"/>
            <a:ext cx="3117408" cy="532240"/>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4" name="Obj [o280]"/>
              <p:cNvSpPr txBox="1"/>
              <p:nvPr/>
            </p:nvSpPr>
            <p:spPr>
              <a:xfrm>
                <a:off x="4167477" y="3762358"/>
                <a:ext cx="3117408" cy="532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num>
                        <m:den>
                          <m:r>
                            <a:rPr lang="es-ES" sz="2400" i="1">
                              <a:solidFill>
                                <a:srgbClr val="1F4E79"/>
                              </a:solidFill>
                              <a:latin typeface="Cambria Math" panose="02040503050406030204" pitchFamily="18" charset="0"/>
                            </a:rPr>
                            <m:t xml:space="preserve">0,9</m:t>
                          </m:r>
                        </m:den>
                      </m:f>
                    </m:oMath>
                  </m:oMathPara>
                </a14:m>
                <a:endParaRPr lang="es-ES"/>
              </a:p>
            </p:txBody>
          </p:sp>
        </mc:Choice>
        <mc:Fallback>
          <p:sp>
            <p:nvSpPr>
              <p:cNvPr id="34" name="Obj [o280]"/>
              <p:cNvSpPr txBox="1"/>
              <p:nvPr/>
            </p:nvSpPr>
            <p:spPr>
              <a:xfrm>
                <a:off x="4167477" y="3762358"/>
                <a:ext cx="3117408" cy="532240"/>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cR / 0,9</a:t>
                </a:r>
                <a:endParaRPr lang="en-US" sz="2071" dirty="0"/>
              </a:p>
            </p:txBody>
          </p:sp>
        </mc:Fallback>
      </mc:AlternateContent>
      <p:sp>
        <p:nvSpPr>
          <p:cNvPr id="35" name="Obj [o28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Aproximación de Viktorov (1967), en Foti et al. (2014), cap. 2 (a confirmar).</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22" presetClass="entr" presetSubtype="8" fill="hold" nodeType="withEffect">
                                  <p:stCondLst>
                                    <p:cond delay="41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10" presetClass="entr" presetSubtype="0" grpId="0" fill="hold" nodeType="withEffect">
                                  <p:stCondLst>
                                    <p:cond delay="48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450"/>
                                        <p:tgtEl>
                                          <p:spTgt spid="7">
                                            <p:txEl>
                                              <p:pRg st="0" end="0"/>
                                            </p:txEl>
                                          </p:spTgt>
                                        </p:tgtEl>
                                      </p:cBhvr>
                                    </p:animEffect>
                                  </p:childTnLst>
                                </p:cTn>
                              </p:par>
                              <p:par>
                                <p:cTn id="22" presetID="10" presetClass="entr" presetSubtype="0" grpId="0" fill="hold" nodeType="withEffect">
                                  <p:stCondLst>
                                    <p:cond delay="86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450"/>
                                        <p:tgtEl>
                                          <p:spTgt spid="7">
                                            <p:txEl>
                                              <p:pRg st="1" end="1"/>
                                            </p:txEl>
                                          </p:spTgt>
                                        </p:tgtEl>
                                      </p:cBhvr>
                                    </p:animEffect>
                                  </p:childTnLst>
                                </p:cTn>
                              </p:par>
                              <p:par>
                                <p:cTn id="25" presetID="10" presetClass="entr" presetSubtype="0" grpId="0" fill="hold" nodeType="withEffect">
                                  <p:stCondLst>
                                    <p:cond delay="124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450"/>
                                        <p:tgtEl>
                                          <p:spTgt spid="7">
                                            <p:txEl>
                                              <p:pRg st="2" end="2"/>
                                            </p:txEl>
                                          </p:spTgt>
                                        </p:tgtEl>
                                      </p:cBhvr>
                                    </p:animEffect>
                                  </p:childTnLst>
                                </p:cTn>
                              </p:par>
                              <p:par>
                                <p:cTn id="28" presetID="10" presetClass="entr" presetSubtype="0" fill="hold" nodeType="withEffect">
                                  <p:stCondLst>
                                    <p:cond delay="4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5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350"/>
                                        <p:tgtEl>
                                          <p:spTgt spid="3"/>
                                        </p:tgtEl>
                                      </p:cBhvr>
                                    </p:animEffect>
                                    <p:set>
                                      <p:cBhvr>
                                        <p:cTn id="35" dur="1" fill="hold">
                                          <p:stCondLst>
                                            <p:cond delay="349"/>
                                          </p:stCondLst>
                                        </p:cTn>
                                        <p:tgtEl>
                                          <p:spTgt spid="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350"/>
                                        <p:tgtEl>
                                          <p:spTgt spid="5"/>
                                        </p:tgtEl>
                                      </p:cBhvr>
                                    </p:animEffect>
                                    <p:set>
                                      <p:cBhvr>
                                        <p:cTn id="38" dur="1" fill="hold">
                                          <p:stCondLst>
                                            <p:cond delay="349"/>
                                          </p:stCondLst>
                                        </p:cTn>
                                        <p:tgtEl>
                                          <p:spTgt spid="5"/>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7">
                                            <p:txEl>
                                              <p:pRg st="0" end="0"/>
                                            </p:txEl>
                                          </p:spTgt>
                                        </p:tgtEl>
                                      </p:cBhvr>
                                    </p:animEffect>
                                    <p:set>
                                      <p:cBhvr>
                                        <p:cTn id="44" dur="1" fill="hold">
                                          <p:stCondLst>
                                            <p:cond delay="349"/>
                                          </p:stCondLst>
                                        </p:cTn>
                                        <p:tgtEl>
                                          <p:spTgt spid="7">
                                            <p:txEl>
                                              <p:pRg st="0" end="0"/>
                                            </p:txEl>
                                          </p:spTgt>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350"/>
                                        <p:tgtEl>
                                          <p:spTgt spid="7">
                                            <p:txEl>
                                              <p:pRg st="1" end="1"/>
                                            </p:txEl>
                                          </p:spTgt>
                                        </p:tgtEl>
                                      </p:cBhvr>
                                    </p:animEffect>
                                    <p:set>
                                      <p:cBhvr>
                                        <p:cTn id="47" dur="1" fill="hold">
                                          <p:stCondLst>
                                            <p:cond delay="349"/>
                                          </p:stCondLst>
                                        </p:cTn>
                                        <p:tgtEl>
                                          <p:spTgt spid="7">
                                            <p:txEl>
                                              <p:pRg st="1" end="1"/>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350"/>
                                        <p:tgtEl>
                                          <p:spTgt spid="7">
                                            <p:txEl>
                                              <p:pRg st="2" end="2"/>
                                            </p:txEl>
                                          </p:spTgt>
                                        </p:tgtEl>
                                      </p:cBhvr>
                                    </p:animEffect>
                                    <p:set>
                                      <p:cBhvr>
                                        <p:cTn id="50" dur="1" fill="hold">
                                          <p:stCondLst>
                                            <p:cond delay="349"/>
                                          </p:stCondLst>
                                        </p:cTn>
                                        <p:tgtEl>
                                          <p:spTgt spid="7">
                                            <p:txEl>
                                              <p:pRg st="2" end="2"/>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8"/>
                                        </p:tgtEl>
                                      </p:cBhvr>
                                    </p:animEffect>
                                    <p:set>
                                      <p:cBhvr>
                                        <p:cTn id="53" dur="1" fill="hold">
                                          <p:stCondLst>
                                            <p:cond delay="349"/>
                                          </p:stCondLst>
                                        </p:cTn>
                                        <p:tgtEl>
                                          <p:spTgt spid="8"/>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54147 -0.20821 E" pathEditMode="relative" rAng="0" ptsTypes="AA">
                                      <p:cBhvr>
                                        <p:cTn id="55" dur="750" fill="hold"/>
                                        <p:tgtEl>
                                          <p:spTgt spid="4"/>
                                        </p:tgtEl>
                                        <p:attrNameLst>
                                          <p:attrName>ppt_x</p:attrName>
                                          <p:attrName>ppt_y</p:attrName>
                                        </p:attrNameLst>
                                      </p:cBhvr>
                                      <p:rCtr x="27073" y="-10410"/>
                                    </p:animMotion>
                                  </p:childTnLst>
                                </p:cTn>
                              </p:par>
                              <p:par>
                                <p:cTn id="56" presetID="6" presetClass="emph" presetSubtype="0" accel="50000" decel="50000" fill="hold" nodeType="withEffect">
                                  <p:stCondLst>
                                    <p:cond delay="0"/>
                                  </p:stCondLst>
                                  <p:childTnLst>
                                    <p:animScale>
                                      <p:cBhvr>
                                        <p:cTn id="57" dur="750" fill="hold"/>
                                        <p:tgtEl>
                                          <p:spTgt spid="4"/>
                                        </p:tgtEl>
                                      </p:cBhvr>
                                      <p:by x="27510" y="27510"/>
                                    </p:animScale>
                                  </p:childTnLst>
                                </p:cTn>
                              </p:par>
                              <p:par>
                                <p:cTn id="58" presetID="10" presetClass="entr" presetSubtype="0" fill="hold" nodeType="withEffect">
                                  <p:stCondLst>
                                    <p:cond delay="45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450"/>
                                        <p:tgtEl>
                                          <p:spTgt spid="9"/>
                                        </p:tgtEl>
                                      </p:cBhvr>
                                    </p:animEffect>
                                  </p:childTnLst>
                                </p:cTn>
                              </p:par>
                              <p:par>
                                <p:cTn id="61" presetID="53" presetClass="entr" presetSubtype="16" fill="hold" nodeType="withEffect">
                                  <p:stCondLst>
                                    <p:cond delay="520"/>
                                  </p:stCondLst>
                                  <p:childTnLst>
                                    <p:set>
                                      <p:cBhvr>
                                        <p:cTn id="62" dur="1" fill="hold">
                                          <p:stCondLst>
                                            <p:cond delay="0"/>
                                          </p:stCondLst>
                                        </p:cTn>
                                        <p:tgtEl>
                                          <p:spTgt spid="10"/>
                                        </p:tgtEl>
                                        <p:attrNameLst>
                                          <p:attrName>style.visibility</p:attrName>
                                        </p:attrNameLst>
                                      </p:cBhvr>
                                      <p:to>
                                        <p:strVal val="visible"/>
                                      </p:to>
                                    </p:set>
                                    <p:anim calcmode="lin" valueType="num">
                                      <p:cBhvr>
                                        <p:cTn id="63" dur="600" fill="hold"/>
                                        <p:tgtEl>
                                          <p:spTgt spid="10"/>
                                        </p:tgtEl>
                                        <p:attrNameLst>
                                          <p:attrName>ppt_w</p:attrName>
                                        </p:attrNameLst>
                                      </p:cBhvr>
                                      <p:tavLst>
                                        <p:tav tm="0">
                                          <p:val>
                                            <p:fltVal val="0"/>
                                          </p:val>
                                        </p:tav>
                                        <p:tav tm="100000">
                                          <p:val>
                                            <p:strVal val="#ppt_w"/>
                                          </p:val>
                                        </p:tav>
                                      </p:tavLst>
                                    </p:anim>
                                    <p:anim calcmode="lin" valueType="num">
                                      <p:cBhvr>
                                        <p:cTn id="64" dur="600" fill="hold"/>
                                        <p:tgtEl>
                                          <p:spTgt spid="10"/>
                                        </p:tgtEl>
                                        <p:attrNameLst>
                                          <p:attrName>ppt_h</p:attrName>
                                        </p:attrNameLst>
                                      </p:cBhvr>
                                      <p:tavLst>
                                        <p:tav tm="0">
                                          <p:val>
                                            <p:fltVal val="0"/>
                                          </p:val>
                                        </p:tav>
                                        <p:tav tm="100000">
                                          <p:val>
                                            <p:strVal val="#ppt_h"/>
                                          </p:val>
                                        </p:tav>
                                      </p:tavLst>
                                    </p:anim>
                                    <p:animEffect transition="in" filter="fade">
                                      <p:cBhvr>
                                        <p:cTn id="65" dur="600"/>
                                        <p:tgtEl>
                                          <p:spTgt spid="10"/>
                                        </p:tgtEl>
                                      </p:cBhvr>
                                    </p:animEffect>
                                  </p:childTnLst>
                                </p:cTn>
                              </p:par>
                              <p:par>
                                <p:cTn id="66" presetID="10" presetClass="entr" presetSubtype="0" grpId="0" fill="hold" nodeType="withEffect">
                                  <p:stCondLst>
                                    <p:cond delay="590"/>
                                  </p:stCondLst>
                                  <p:childTnLst>
                                    <p:set>
                                      <p:cBhvr>
                                        <p:cTn id="67" dur="1" fill="hold">
                                          <p:stCondLst>
                                            <p:cond delay="0"/>
                                          </p:stCondLst>
                                        </p:cTn>
                                        <p:tgtEl>
                                          <p:spTgt spid="11">
                                            <p:txEl>
                                              <p:pRg st="0" end="0"/>
                                            </p:txEl>
                                          </p:spTgt>
                                        </p:tgtEl>
                                        <p:attrNameLst>
                                          <p:attrName>style.visibility</p:attrName>
                                        </p:attrNameLst>
                                      </p:cBhvr>
                                      <p:to>
                                        <p:strVal val="visible"/>
                                      </p:to>
                                    </p:set>
                                    <p:animEffect transition="in" filter="fade">
                                      <p:cBhvr>
                                        <p:cTn id="68" dur="450"/>
                                        <p:tgtEl>
                                          <p:spTgt spid="11">
                                            <p:txEl>
                                              <p:pRg st="0" end="0"/>
                                            </p:txEl>
                                          </p:spTgt>
                                        </p:tgtEl>
                                      </p:cBhvr>
                                    </p:animEffect>
                                  </p:childTnLst>
                                </p:cTn>
                              </p:par>
                              <p:par>
                                <p:cTn id="69" presetID="10" presetClass="entr" presetSubtype="0" grpId="0" fill="hold" nodeType="withEffect">
                                  <p:stCondLst>
                                    <p:cond delay="970"/>
                                  </p:stCondLst>
                                  <p:childTnLst>
                                    <p:set>
                                      <p:cBhvr>
                                        <p:cTn id="70" dur="1" fill="hold">
                                          <p:stCondLst>
                                            <p:cond delay="0"/>
                                          </p:stCondLst>
                                        </p:cTn>
                                        <p:tgtEl>
                                          <p:spTgt spid="11">
                                            <p:txEl>
                                              <p:pRg st="1" end="1"/>
                                            </p:txEl>
                                          </p:spTgt>
                                        </p:tgtEl>
                                        <p:attrNameLst>
                                          <p:attrName>style.visibility</p:attrName>
                                        </p:attrNameLst>
                                      </p:cBhvr>
                                      <p:to>
                                        <p:strVal val="visible"/>
                                      </p:to>
                                    </p:set>
                                    <p:animEffect transition="in" filter="fade">
                                      <p:cBhvr>
                                        <p:cTn id="71" dur="450"/>
                                        <p:tgtEl>
                                          <p:spTgt spid="11">
                                            <p:txEl>
                                              <p:pRg st="1" end="1"/>
                                            </p:txEl>
                                          </p:spTgt>
                                        </p:tgtEl>
                                      </p:cBhvr>
                                    </p:animEffect>
                                  </p:childTnLst>
                                </p:cTn>
                              </p:par>
                              <p:par>
                                <p:cTn id="72" presetID="10" presetClass="entr" presetSubtype="0" grpId="0" fill="hold" nodeType="withEffect">
                                  <p:stCondLst>
                                    <p:cond delay="1350"/>
                                  </p:stCondLst>
                                  <p:childTnLst>
                                    <p:set>
                                      <p:cBhvr>
                                        <p:cTn id="73" dur="1" fill="hold">
                                          <p:stCondLst>
                                            <p:cond delay="0"/>
                                          </p:stCondLst>
                                        </p:cTn>
                                        <p:tgtEl>
                                          <p:spTgt spid="11">
                                            <p:txEl>
                                              <p:pRg st="2" end="2"/>
                                            </p:txEl>
                                          </p:spTgt>
                                        </p:tgtEl>
                                        <p:attrNameLst>
                                          <p:attrName>style.visibility</p:attrName>
                                        </p:attrNameLst>
                                      </p:cBhvr>
                                      <p:to>
                                        <p:strVal val="visible"/>
                                      </p:to>
                                    </p:set>
                                    <p:animEffect transition="in" filter="fade">
                                      <p:cBhvr>
                                        <p:cTn id="74" dur="450"/>
                                        <p:tgtEl>
                                          <p:spTgt spid="11">
                                            <p:txEl>
                                              <p:pRg st="2" end="2"/>
                                            </p:txEl>
                                          </p:spTgt>
                                        </p:tgtEl>
                                      </p:cBhvr>
                                    </p:animEffect>
                                  </p:childTnLst>
                                </p:cTn>
                              </p:par>
                              <p:par>
                                <p:cTn id="75" presetID="10" presetClass="entr" presetSubtype="0" fill="hold" nodeType="withEffect">
                                  <p:stCondLst>
                                    <p:cond delay="58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450"/>
                                        <p:tgtEl>
                                          <p:spTgt spid="1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350"/>
                                        <p:tgtEl>
                                          <p:spTgt spid="9"/>
                                        </p:tgtEl>
                                      </p:cBhvr>
                                    </p:animEffect>
                                    <p:set>
                                      <p:cBhvr>
                                        <p:cTn id="82" dur="1" fill="hold">
                                          <p:stCondLst>
                                            <p:cond delay="349"/>
                                          </p:stCondLst>
                                        </p:cTn>
                                        <p:tgtEl>
                                          <p:spTgt spid="9"/>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350"/>
                                        <p:tgtEl>
                                          <p:spTgt spid="11">
                                            <p:txEl>
                                              <p:pRg st="0" end="0"/>
                                            </p:txEl>
                                          </p:spTgt>
                                        </p:tgtEl>
                                      </p:cBhvr>
                                    </p:animEffect>
                                    <p:set>
                                      <p:cBhvr>
                                        <p:cTn id="85" dur="1" fill="hold">
                                          <p:stCondLst>
                                            <p:cond delay="349"/>
                                          </p:stCondLst>
                                        </p:cTn>
                                        <p:tgtEl>
                                          <p:spTgt spid="11">
                                            <p:txEl>
                                              <p:pRg st="0" end="0"/>
                                            </p:txEl>
                                          </p:spTgt>
                                        </p:tgtEl>
                                        <p:attrNameLst>
                                          <p:attrName>style.visibility</p:attrName>
                                        </p:attrNameLst>
                                      </p:cBhvr>
                                      <p:to>
                                        <p:strVal val="hidden"/>
                                      </p:to>
                                    </p:set>
                                  </p:childTnLst>
                                </p:cTn>
                              </p:par>
                              <p:par>
                                <p:cTn id="86" presetID="10" presetClass="exit" presetSubtype="0" grpId="0" fill="hold" nodeType="withEffect">
                                  <p:stCondLst>
                                    <p:cond delay="0"/>
                                  </p:stCondLst>
                                  <p:childTnLst>
                                    <p:animEffect transition="out" filter="fade">
                                      <p:cBhvr>
                                        <p:cTn id="87" dur="350"/>
                                        <p:tgtEl>
                                          <p:spTgt spid="11">
                                            <p:txEl>
                                              <p:pRg st="1" end="1"/>
                                            </p:txEl>
                                          </p:spTgt>
                                        </p:tgtEl>
                                      </p:cBhvr>
                                    </p:animEffect>
                                    <p:set>
                                      <p:cBhvr>
                                        <p:cTn id="88" dur="1" fill="hold">
                                          <p:stCondLst>
                                            <p:cond delay="349"/>
                                          </p:stCondLst>
                                        </p:cTn>
                                        <p:tgtEl>
                                          <p:spTgt spid="11">
                                            <p:txEl>
                                              <p:pRg st="1" end="1"/>
                                            </p:txEl>
                                          </p:spTgt>
                                        </p:tgtEl>
                                        <p:attrNameLst>
                                          <p:attrName>style.visibility</p:attrName>
                                        </p:attrNameLst>
                                      </p:cBhvr>
                                      <p:to>
                                        <p:strVal val="hidden"/>
                                      </p:to>
                                    </p:set>
                                  </p:childTnLst>
                                </p:cTn>
                              </p:par>
                              <p:par>
                                <p:cTn id="89" presetID="10" presetClass="exit" presetSubtype="0" grpId="0" fill="hold" nodeType="withEffect">
                                  <p:stCondLst>
                                    <p:cond delay="0"/>
                                  </p:stCondLst>
                                  <p:childTnLst>
                                    <p:animEffect transition="out" filter="fade">
                                      <p:cBhvr>
                                        <p:cTn id="90" dur="350"/>
                                        <p:tgtEl>
                                          <p:spTgt spid="11">
                                            <p:txEl>
                                              <p:pRg st="2" end="2"/>
                                            </p:txEl>
                                          </p:spTgt>
                                        </p:tgtEl>
                                      </p:cBhvr>
                                    </p:animEffect>
                                    <p:set>
                                      <p:cBhvr>
                                        <p:cTn id="91" dur="1" fill="hold">
                                          <p:stCondLst>
                                            <p:cond delay="349"/>
                                          </p:stCondLst>
                                        </p:cTn>
                                        <p:tgtEl>
                                          <p:spTgt spid="11">
                                            <p:txEl>
                                              <p:pRg st="2" end="2"/>
                                            </p:txEl>
                                          </p:spTgt>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350"/>
                                        <p:tgtEl>
                                          <p:spTgt spid="12"/>
                                        </p:tgtEl>
                                      </p:cBhvr>
                                    </p:animEffect>
                                    <p:set>
                                      <p:cBhvr>
                                        <p:cTn id="94" dur="1" fill="hold">
                                          <p:stCondLst>
                                            <p:cond delay="349"/>
                                          </p:stCondLst>
                                        </p:cTn>
                                        <p:tgtEl>
                                          <p:spTgt spid="12"/>
                                        </p:tgtEl>
                                        <p:attrNameLst>
                                          <p:attrName>style.visibility</p:attrName>
                                        </p:attrNameLst>
                                      </p:cBhvr>
                                      <p:to>
                                        <p:strVal val="hidden"/>
                                      </p:to>
                                    </p:set>
                                  </p:childTnLst>
                                </p:cTn>
                              </p:par>
                              <p:par>
                                <p:cTn id="95" presetID="0" presetClass="path" presetSubtype="0" accel="50000" decel="50000" fill="hold" nodeType="withEffect">
                                  <p:stCondLst>
                                    <p:cond delay="0"/>
                                  </p:stCondLst>
                                  <p:childTnLst>
                                    <p:animMotion origin="layout" path="M 0 0 L 0.61136 0.03903 E" pathEditMode="relative" rAng="0" ptsTypes="AA">
                                      <p:cBhvr>
                                        <p:cTn id="96" dur="750" fill="hold"/>
                                        <p:tgtEl>
                                          <p:spTgt spid="10"/>
                                        </p:tgtEl>
                                        <p:attrNameLst>
                                          <p:attrName>ppt_x</p:attrName>
                                          <p:attrName>ppt_y</p:attrName>
                                        </p:attrNameLst>
                                      </p:cBhvr>
                                      <p:rCtr x="30567" y="1951"/>
                                    </p:animMotion>
                                  </p:childTnLst>
                                </p:cTn>
                              </p:par>
                              <p:par>
                                <p:cTn id="97" presetID="6" presetClass="emph" presetSubtype="0" accel="50000" decel="50000" fill="hold" nodeType="withEffect">
                                  <p:stCondLst>
                                    <p:cond delay="0"/>
                                  </p:stCondLst>
                                  <p:childTnLst>
                                    <p:animScale>
                                      <p:cBhvr>
                                        <p:cTn id="98" dur="750" fill="hold"/>
                                        <p:tgtEl>
                                          <p:spTgt spid="10"/>
                                        </p:tgtEl>
                                      </p:cBhvr>
                                      <p:by x="28992" y="28992"/>
                                    </p:animScale>
                                  </p:childTnLst>
                                </p:cTn>
                              </p:par>
                              <p:par>
                                <p:cTn id="99" presetID="10" presetClass="entr" presetSubtype="0" fill="hold" nodeType="withEffect">
                                  <p:stCondLst>
                                    <p:cond delay="450"/>
                                  </p:stCondLst>
                                  <p:childTnLst>
                                    <p:set>
                                      <p:cBhvr>
                                        <p:cTn id="100" dur="1" fill="hold">
                                          <p:stCondLst>
                                            <p:cond delay="0"/>
                                          </p:stCondLst>
                                        </p:cTn>
                                        <p:tgtEl>
                                          <p:spTgt spid="13"/>
                                        </p:tgtEl>
                                        <p:attrNameLst>
                                          <p:attrName>style.visibility</p:attrName>
                                        </p:attrNameLst>
                                      </p:cBhvr>
                                      <p:to>
                                        <p:strVal val="visible"/>
                                      </p:to>
                                    </p:set>
                                    <p:animEffect transition="in" filter="fade">
                                      <p:cBhvr>
                                        <p:cTn id="101" dur="450"/>
                                        <p:tgtEl>
                                          <p:spTgt spid="13"/>
                                        </p:tgtEl>
                                      </p:cBhvr>
                                    </p:animEffect>
                                  </p:childTnLst>
                                </p:cTn>
                              </p:par>
                              <p:par>
                                <p:cTn id="102" presetID="53" presetClass="entr" presetSubtype="16" fill="hold" nodeType="withEffect">
                                  <p:stCondLst>
                                    <p:cond delay="520"/>
                                  </p:stCondLst>
                                  <p:childTnLst>
                                    <p:set>
                                      <p:cBhvr>
                                        <p:cTn id="103" dur="1" fill="hold">
                                          <p:stCondLst>
                                            <p:cond delay="0"/>
                                          </p:stCondLst>
                                        </p:cTn>
                                        <p:tgtEl>
                                          <p:spTgt spid="14"/>
                                        </p:tgtEl>
                                        <p:attrNameLst>
                                          <p:attrName>style.visibility</p:attrName>
                                        </p:attrNameLst>
                                      </p:cBhvr>
                                      <p:to>
                                        <p:strVal val="visible"/>
                                      </p:to>
                                    </p:set>
                                    <p:anim calcmode="lin" valueType="num">
                                      <p:cBhvr>
                                        <p:cTn id="104" dur="600" fill="hold"/>
                                        <p:tgtEl>
                                          <p:spTgt spid="14"/>
                                        </p:tgtEl>
                                        <p:attrNameLst>
                                          <p:attrName>ppt_w</p:attrName>
                                        </p:attrNameLst>
                                      </p:cBhvr>
                                      <p:tavLst>
                                        <p:tav tm="0">
                                          <p:val>
                                            <p:fltVal val="0"/>
                                          </p:val>
                                        </p:tav>
                                        <p:tav tm="100000">
                                          <p:val>
                                            <p:strVal val="#ppt_w"/>
                                          </p:val>
                                        </p:tav>
                                      </p:tavLst>
                                    </p:anim>
                                    <p:anim calcmode="lin" valueType="num">
                                      <p:cBhvr>
                                        <p:cTn id="105" dur="600" fill="hold"/>
                                        <p:tgtEl>
                                          <p:spTgt spid="14"/>
                                        </p:tgtEl>
                                        <p:attrNameLst>
                                          <p:attrName>ppt_h</p:attrName>
                                        </p:attrNameLst>
                                      </p:cBhvr>
                                      <p:tavLst>
                                        <p:tav tm="0">
                                          <p:val>
                                            <p:fltVal val="0"/>
                                          </p:val>
                                        </p:tav>
                                        <p:tav tm="100000">
                                          <p:val>
                                            <p:strVal val="#ppt_h"/>
                                          </p:val>
                                        </p:tav>
                                      </p:tavLst>
                                    </p:anim>
                                    <p:animEffect transition="in" filter="fade">
                                      <p:cBhvr>
                                        <p:cTn id="106" dur="600"/>
                                        <p:tgtEl>
                                          <p:spTgt spid="14"/>
                                        </p:tgtEl>
                                      </p:cBhvr>
                                    </p:animEffect>
                                  </p:childTnLst>
                                </p:cTn>
                              </p:par>
                              <p:par>
                                <p:cTn id="107" presetID="10" presetClass="entr" presetSubtype="0" grpId="0" fill="hold" nodeType="withEffect">
                                  <p:stCondLst>
                                    <p:cond delay="590"/>
                                  </p:stCondLst>
                                  <p:childTnLst>
                                    <p:set>
                                      <p:cBhvr>
                                        <p:cTn id="108" dur="1" fill="hold">
                                          <p:stCondLst>
                                            <p:cond delay="0"/>
                                          </p:stCondLst>
                                        </p:cTn>
                                        <p:tgtEl>
                                          <p:spTgt spid="15">
                                            <p:txEl>
                                              <p:pRg st="0" end="0"/>
                                            </p:txEl>
                                          </p:spTgt>
                                        </p:tgtEl>
                                        <p:attrNameLst>
                                          <p:attrName>style.visibility</p:attrName>
                                        </p:attrNameLst>
                                      </p:cBhvr>
                                      <p:to>
                                        <p:strVal val="visible"/>
                                      </p:to>
                                    </p:set>
                                    <p:animEffect transition="in" filter="fade">
                                      <p:cBhvr>
                                        <p:cTn id="109" dur="450"/>
                                        <p:tgtEl>
                                          <p:spTgt spid="15">
                                            <p:txEl>
                                              <p:pRg st="0" end="0"/>
                                            </p:txEl>
                                          </p:spTgt>
                                        </p:tgtEl>
                                      </p:cBhvr>
                                    </p:animEffect>
                                  </p:childTnLst>
                                </p:cTn>
                              </p:par>
                              <p:par>
                                <p:cTn id="110" presetID="10" presetClass="entr" presetSubtype="0" grpId="0" fill="hold" nodeType="withEffect">
                                  <p:stCondLst>
                                    <p:cond delay="915"/>
                                  </p:stCondLst>
                                  <p:childTnLst>
                                    <p:set>
                                      <p:cBhvr>
                                        <p:cTn id="111" dur="1" fill="hold">
                                          <p:stCondLst>
                                            <p:cond delay="0"/>
                                          </p:stCondLst>
                                        </p:cTn>
                                        <p:tgtEl>
                                          <p:spTgt spid="15">
                                            <p:txEl>
                                              <p:pRg st="1" end="1"/>
                                            </p:txEl>
                                          </p:spTgt>
                                        </p:tgtEl>
                                        <p:attrNameLst>
                                          <p:attrName>style.visibility</p:attrName>
                                        </p:attrNameLst>
                                      </p:cBhvr>
                                      <p:to>
                                        <p:strVal val="visible"/>
                                      </p:to>
                                    </p:set>
                                    <p:animEffect transition="in" filter="fade">
                                      <p:cBhvr>
                                        <p:cTn id="112" dur="450"/>
                                        <p:tgtEl>
                                          <p:spTgt spid="15">
                                            <p:txEl>
                                              <p:pRg st="1" end="1"/>
                                            </p:txEl>
                                          </p:spTgt>
                                        </p:tgtEl>
                                      </p:cBhvr>
                                    </p:animEffect>
                                  </p:childTnLst>
                                </p:cTn>
                              </p:par>
                              <p:par>
                                <p:cTn id="113" presetID="10" presetClass="entr" presetSubtype="0" grpId="0" fill="hold" nodeType="withEffect">
                                  <p:stCondLst>
                                    <p:cond delay="1240"/>
                                  </p:stCondLst>
                                  <p:childTnLst>
                                    <p:set>
                                      <p:cBhvr>
                                        <p:cTn id="114" dur="1" fill="hold">
                                          <p:stCondLst>
                                            <p:cond delay="0"/>
                                          </p:stCondLst>
                                        </p:cTn>
                                        <p:tgtEl>
                                          <p:spTgt spid="15">
                                            <p:txEl>
                                              <p:pRg st="2" end="2"/>
                                            </p:txEl>
                                          </p:spTgt>
                                        </p:tgtEl>
                                        <p:attrNameLst>
                                          <p:attrName>style.visibility</p:attrName>
                                        </p:attrNameLst>
                                      </p:cBhvr>
                                      <p:to>
                                        <p:strVal val="visible"/>
                                      </p:to>
                                    </p:set>
                                    <p:animEffect transition="in" filter="fade">
                                      <p:cBhvr>
                                        <p:cTn id="115" dur="450"/>
                                        <p:tgtEl>
                                          <p:spTgt spid="15">
                                            <p:txEl>
                                              <p:pRg st="2" end="2"/>
                                            </p:txEl>
                                          </p:spTgt>
                                        </p:tgtEl>
                                      </p:cBhvr>
                                    </p:animEffect>
                                  </p:childTnLst>
                                </p:cTn>
                              </p:par>
                              <p:par>
                                <p:cTn id="116" presetID="10" presetClass="entr" presetSubtype="0" grpId="0" fill="hold" nodeType="withEffect">
                                  <p:stCondLst>
                                    <p:cond delay="1565"/>
                                  </p:stCondLst>
                                  <p:childTnLst>
                                    <p:set>
                                      <p:cBhvr>
                                        <p:cTn id="117" dur="1" fill="hold">
                                          <p:stCondLst>
                                            <p:cond delay="0"/>
                                          </p:stCondLst>
                                        </p:cTn>
                                        <p:tgtEl>
                                          <p:spTgt spid="15">
                                            <p:txEl>
                                              <p:pRg st="3" end="3"/>
                                            </p:txEl>
                                          </p:spTgt>
                                        </p:tgtEl>
                                        <p:attrNameLst>
                                          <p:attrName>style.visibility</p:attrName>
                                        </p:attrNameLst>
                                      </p:cBhvr>
                                      <p:to>
                                        <p:strVal val="visible"/>
                                      </p:to>
                                    </p:set>
                                    <p:animEffect transition="in" filter="fade">
                                      <p:cBhvr>
                                        <p:cTn id="118" dur="450"/>
                                        <p:tgtEl>
                                          <p:spTgt spid="15">
                                            <p:txEl>
                                              <p:pRg st="3" end="3"/>
                                            </p:txEl>
                                          </p:spTgt>
                                        </p:tgtEl>
                                      </p:cBhvr>
                                    </p:animEffect>
                                  </p:childTnLst>
                                </p:cTn>
                              </p:par>
                              <p:par>
                                <p:cTn id="119" presetID="10" presetClass="entr" presetSubtype="0" fill="hold" nodeType="withEffect">
                                  <p:stCondLst>
                                    <p:cond delay="580"/>
                                  </p:stCondLst>
                                  <p:childTnLst>
                                    <p:set>
                                      <p:cBhvr>
                                        <p:cTn id="120" dur="1" fill="hold">
                                          <p:stCondLst>
                                            <p:cond delay="0"/>
                                          </p:stCondLst>
                                        </p:cTn>
                                        <p:tgtEl>
                                          <p:spTgt spid="16"/>
                                        </p:tgtEl>
                                        <p:attrNameLst>
                                          <p:attrName>style.visibility</p:attrName>
                                        </p:attrNameLst>
                                      </p:cBhvr>
                                      <p:to>
                                        <p:strVal val="visible"/>
                                      </p:to>
                                    </p:set>
                                    <p:animEffect transition="in" filter="fade">
                                      <p:cBhvr>
                                        <p:cTn id="121" dur="450"/>
                                        <p:tgtEl>
                                          <p:spTgt spid="16"/>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xit" presetSubtype="0" fill="hold" nodeType="clickEffect">
                                  <p:stCondLst>
                                    <p:cond delay="0"/>
                                  </p:stCondLst>
                                  <p:childTnLst>
                                    <p:animEffect transition="out" filter="fade">
                                      <p:cBhvr>
                                        <p:cTn id="125" dur="350"/>
                                        <p:tgtEl>
                                          <p:spTgt spid="13"/>
                                        </p:tgtEl>
                                      </p:cBhvr>
                                    </p:animEffect>
                                    <p:set>
                                      <p:cBhvr>
                                        <p:cTn id="126" dur="1" fill="hold">
                                          <p:stCondLst>
                                            <p:cond delay="349"/>
                                          </p:stCondLst>
                                        </p:cTn>
                                        <p:tgtEl>
                                          <p:spTgt spid="13"/>
                                        </p:tgtEl>
                                        <p:attrNameLst>
                                          <p:attrName>style.visibility</p:attrName>
                                        </p:attrNameLst>
                                      </p:cBhvr>
                                      <p:to>
                                        <p:strVal val="hidden"/>
                                      </p:to>
                                    </p:set>
                                  </p:childTnLst>
                                </p:cTn>
                              </p:par>
                              <p:par>
                                <p:cTn id="127" presetID="10" presetClass="exit" presetSubtype="0" grpId="0" fill="hold" nodeType="withEffect">
                                  <p:stCondLst>
                                    <p:cond delay="0"/>
                                  </p:stCondLst>
                                  <p:childTnLst>
                                    <p:animEffect transition="out" filter="fade">
                                      <p:cBhvr>
                                        <p:cTn id="128" dur="350"/>
                                        <p:tgtEl>
                                          <p:spTgt spid="15">
                                            <p:txEl>
                                              <p:pRg st="0" end="0"/>
                                            </p:txEl>
                                          </p:spTgt>
                                        </p:tgtEl>
                                      </p:cBhvr>
                                    </p:animEffect>
                                    <p:set>
                                      <p:cBhvr>
                                        <p:cTn id="129" dur="1" fill="hold">
                                          <p:stCondLst>
                                            <p:cond delay="349"/>
                                          </p:stCondLst>
                                        </p:cTn>
                                        <p:tgtEl>
                                          <p:spTgt spid="15">
                                            <p:txEl>
                                              <p:pRg st="0" end="0"/>
                                            </p:txEl>
                                          </p:spTgt>
                                        </p:tgtEl>
                                        <p:attrNameLst>
                                          <p:attrName>style.visibility</p:attrName>
                                        </p:attrNameLst>
                                      </p:cBhvr>
                                      <p:to>
                                        <p:strVal val="hidden"/>
                                      </p:to>
                                    </p:set>
                                  </p:childTnLst>
                                </p:cTn>
                              </p:par>
                              <p:par>
                                <p:cTn id="130" presetID="10" presetClass="exit" presetSubtype="0" grpId="0" fill="hold" nodeType="withEffect">
                                  <p:stCondLst>
                                    <p:cond delay="0"/>
                                  </p:stCondLst>
                                  <p:childTnLst>
                                    <p:animEffect transition="out" filter="fade">
                                      <p:cBhvr>
                                        <p:cTn id="131" dur="350"/>
                                        <p:tgtEl>
                                          <p:spTgt spid="15">
                                            <p:txEl>
                                              <p:pRg st="1" end="1"/>
                                            </p:txEl>
                                          </p:spTgt>
                                        </p:tgtEl>
                                      </p:cBhvr>
                                    </p:animEffect>
                                    <p:set>
                                      <p:cBhvr>
                                        <p:cTn id="132" dur="1" fill="hold">
                                          <p:stCondLst>
                                            <p:cond delay="349"/>
                                          </p:stCondLst>
                                        </p:cTn>
                                        <p:tgtEl>
                                          <p:spTgt spid="15">
                                            <p:txEl>
                                              <p:pRg st="1" end="1"/>
                                            </p:txEl>
                                          </p:spTgt>
                                        </p:tgtEl>
                                        <p:attrNameLst>
                                          <p:attrName>style.visibility</p:attrName>
                                        </p:attrNameLst>
                                      </p:cBhvr>
                                      <p:to>
                                        <p:strVal val="hidden"/>
                                      </p:to>
                                    </p:set>
                                  </p:childTnLst>
                                </p:cTn>
                              </p:par>
                              <p:par>
                                <p:cTn id="133" presetID="10" presetClass="exit" presetSubtype="0" grpId="0" fill="hold" nodeType="withEffect">
                                  <p:stCondLst>
                                    <p:cond delay="0"/>
                                  </p:stCondLst>
                                  <p:childTnLst>
                                    <p:animEffect transition="out" filter="fade">
                                      <p:cBhvr>
                                        <p:cTn id="134" dur="350"/>
                                        <p:tgtEl>
                                          <p:spTgt spid="15">
                                            <p:txEl>
                                              <p:pRg st="2" end="2"/>
                                            </p:txEl>
                                          </p:spTgt>
                                        </p:tgtEl>
                                      </p:cBhvr>
                                    </p:animEffect>
                                    <p:set>
                                      <p:cBhvr>
                                        <p:cTn id="135" dur="1" fill="hold">
                                          <p:stCondLst>
                                            <p:cond delay="349"/>
                                          </p:stCondLst>
                                        </p:cTn>
                                        <p:tgtEl>
                                          <p:spTgt spid="15">
                                            <p:txEl>
                                              <p:pRg st="2" end="2"/>
                                            </p:txEl>
                                          </p:spTgt>
                                        </p:tgtEl>
                                        <p:attrNameLst>
                                          <p:attrName>style.visibility</p:attrName>
                                        </p:attrNameLst>
                                      </p:cBhvr>
                                      <p:to>
                                        <p:strVal val="hidden"/>
                                      </p:to>
                                    </p:set>
                                  </p:childTnLst>
                                </p:cTn>
                              </p:par>
                              <p:par>
                                <p:cTn id="136" presetID="10" presetClass="exit" presetSubtype="0" grpId="0" fill="hold" nodeType="withEffect">
                                  <p:stCondLst>
                                    <p:cond delay="0"/>
                                  </p:stCondLst>
                                  <p:childTnLst>
                                    <p:animEffect transition="out" filter="fade">
                                      <p:cBhvr>
                                        <p:cTn id="137" dur="350"/>
                                        <p:tgtEl>
                                          <p:spTgt spid="15">
                                            <p:txEl>
                                              <p:pRg st="3" end="3"/>
                                            </p:txEl>
                                          </p:spTgt>
                                        </p:tgtEl>
                                      </p:cBhvr>
                                    </p:animEffect>
                                    <p:set>
                                      <p:cBhvr>
                                        <p:cTn id="138" dur="1" fill="hold">
                                          <p:stCondLst>
                                            <p:cond delay="349"/>
                                          </p:stCondLst>
                                        </p:cTn>
                                        <p:tgtEl>
                                          <p:spTgt spid="15">
                                            <p:txEl>
                                              <p:pRg st="3" end="3"/>
                                            </p:txEl>
                                          </p:spTgt>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350"/>
                                        <p:tgtEl>
                                          <p:spTgt spid="16"/>
                                        </p:tgtEl>
                                      </p:cBhvr>
                                    </p:animEffect>
                                    <p:set>
                                      <p:cBhvr>
                                        <p:cTn id="141" dur="1" fill="hold">
                                          <p:stCondLst>
                                            <p:cond delay="349"/>
                                          </p:stCondLst>
                                        </p:cTn>
                                        <p:tgtEl>
                                          <p:spTgt spid="16"/>
                                        </p:tgtEl>
                                        <p:attrNameLst>
                                          <p:attrName>style.visibility</p:attrName>
                                        </p:attrNameLst>
                                      </p:cBhvr>
                                      <p:to>
                                        <p:strVal val="hidden"/>
                                      </p:to>
                                    </p:set>
                                  </p:childTnLst>
                                </p:cTn>
                              </p:par>
                              <p:par>
                                <p:cTn id="142" presetID="0" presetClass="path" presetSubtype="0" accel="50000" decel="50000" fill="hold" nodeType="withEffect">
                                  <p:stCondLst>
                                    <p:cond delay="0"/>
                                  </p:stCondLst>
                                  <p:childTnLst>
                                    <p:animMotion origin="layout" path="M 0 0 L 0.61136 0.23459 E" pathEditMode="relative" rAng="0" ptsTypes="AA">
                                      <p:cBhvr>
                                        <p:cTn id="143" dur="750" fill="hold"/>
                                        <p:tgtEl>
                                          <p:spTgt spid="14"/>
                                        </p:tgtEl>
                                        <p:attrNameLst>
                                          <p:attrName>ppt_x</p:attrName>
                                          <p:attrName>ppt_y</p:attrName>
                                        </p:attrNameLst>
                                      </p:cBhvr>
                                      <p:rCtr x="30567" y="11729"/>
                                    </p:animMotion>
                                  </p:childTnLst>
                                </p:cTn>
                              </p:par>
                              <p:par>
                                <p:cTn id="144" presetID="6" presetClass="emph" presetSubtype="0" accel="50000" decel="50000" fill="hold" nodeType="withEffect">
                                  <p:stCondLst>
                                    <p:cond delay="0"/>
                                  </p:stCondLst>
                                  <p:childTnLst>
                                    <p:animScale>
                                      <p:cBhvr>
                                        <p:cTn id="145" dur="750" fill="hold"/>
                                        <p:tgtEl>
                                          <p:spTgt spid="14"/>
                                        </p:tgtEl>
                                      </p:cBhvr>
                                      <p:by x="28992" y="28992"/>
                                    </p:animScale>
                                  </p:childTnLst>
                                </p:cTn>
                              </p:par>
                              <p:par>
                                <p:cTn id="146" presetID="10" presetClass="entr" presetSubtype="0" fill="hold" nodeType="withEffect">
                                  <p:stCondLst>
                                    <p:cond delay="450"/>
                                  </p:stCondLst>
                                  <p:childTnLst>
                                    <p:set>
                                      <p:cBhvr>
                                        <p:cTn id="147" dur="1" fill="hold">
                                          <p:stCondLst>
                                            <p:cond delay="0"/>
                                          </p:stCondLst>
                                        </p:cTn>
                                        <p:tgtEl>
                                          <p:spTgt spid="17"/>
                                        </p:tgtEl>
                                        <p:attrNameLst>
                                          <p:attrName>style.visibility</p:attrName>
                                        </p:attrNameLst>
                                      </p:cBhvr>
                                      <p:to>
                                        <p:strVal val="visible"/>
                                      </p:to>
                                    </p:set>
                                    <p:animEffect transition="in" filter="fade">
                                      <p:cBhvr>
                                        <p:cTn id="148" dur="450"/>
                                        <p:tgtEl>
                                          <p:spTgt spid="17"/>
                                        </p:tgtEl>
                                      </p:cBhvr>
                                    </p:animEffect>
                                  </p:childTnLst>
                                </p:cTn>
                              </p:par>
                              <p:par>
                                <p:cTn id="149" presetID="10" presetClass="entr" presetSubtype="0" grpId="0" fill="hold" nodeType="withEffect">
                                  <p:stCondLst>
                                    <p:cond delay="520"/>
                                  </p:stCondLst>
                                  <p:childTnLst>
                                    <p:set>
                                      <p:cBhvr>
                                        <p:cTn id="150" dur="1" fill="hold">
                                          <p:stCondLst>
                                            <p:cond delay="0"/>
                                          </p:stCondLst>
                                        </p:cTn>
                                        <p:tgtEl>
                                          <p:spTgt spid="19">
                                            <p:txEl>
                                              <p:pRg st="0" end="0"/>
                                            </p:txEl>
                                          </p:spTgt>
                                        </p:tgtEl>
                                        <p:attrNameLst>
                                          <p:attrName>style.visibility</p:attrName>
                                        </p:attrNameLst>
                                      </p:cBhvr>
                                      <p:to>
                                        <p:strVal val="visible"/>
                                      </p:to>
                                    </p:set>
                                    <p:animEffect transition="in" filter="fade">
                                      <p:cBhvr>
                                        <p:cTn id="151" dur="450"/>
                                        <p:tgtEl>
                                          <p:spTgt spid="19">
                                            <p:txEl>
                                              <p:pRg st="0" end="0"/>
                                            </p:txEl>
                                          </p:spTgt>
                                        </p:tgtEl>
                                      </p:cBhvr>
                                    </p:animEffect>
                                  </p:childTnLst>
                                </p:cTn>
                              </p:par>
                              <p:par>
                                <p:cTn id="152" presetID="10" presetClass="entr" presetSubtype="0" grpId="0" fill="hold" nodeType="withEffect">
                                  <p:stCondLst>
                                    <p:cond delay="900"/>
                                  </p:stCondLst>
                                  <p:childTnLst>
                                    <p:set>
                                      <p:cBhvr>
                                        <p:cTn id="153" dur="1" fill="hold">
                                          <p:stCondLst>
                                            <p:cond delay="0"/>
                                          </p:stCondLst>
                                        </p:cTn>
                                        <p:tgtEl>
                                          <p:spTgt spid="19">
                                            <p:txEl>
                                              <p:pRg st="1" end="1"/>
                                            </p:txEl>
                                          </p:spTgt>
                                        </p:tgtEl>
                                        <p:attrNameLst>
                                          <p:attrName>style.visibility</p:attrName>
                                        </p:attrNameLst>
                                      </p:cBhvr>
                                      <p:to>
                                        <p:strVal val="visible"/>
                                      </p:to>
                                    </p:set>
                                    <p:animEffect transition="in" filter="fade">
                                      <p:cBhvr>
                                        <p:cTn id="154" dur="450"/>
                                        <p:tgtEl>
                                          <p:spTgt spid="19">
                                            <p:txEl>
                                              <p:pRg st="1" end="1"/>
                                            </p:txEl>
                                          </p:spTgt>
                                        </p:tgtEl>
                                      </p:cBhvr>
                                    </p:animEffect>
                                  </p:childTnLst>
                                </p:cTn>
                              </p:par>
                              <p:par>
                                <p:cTn id="155" presetID="22" presetClass="entr" presetSubtype="4" fill="hold" nodeType="withEffect">
                                  <p:stCondLst>
                                    <p:cond delay="590"/>
                                  </p:stCondLst>
                                  <p:childTnLst>
                                    <p:set>
                                      <p:cBhvr>
                                        <p:cTn id="156" dur="1" fill="hold">
                                          <p:stCondLst>
                                            <p:cond delay="0"/>
                                          </p:stCondLst>
                                        </p:cTn>
                                        <p:tgtEl>
                                          <p:spTgt spid="20"/>
                                        </p:tgtEl>
                                        <p:attrNameLst>
                                          <p:attrName>style.visibility</p:attrName>
                                        </p:attrNameLst>
                                      </p:cBhvr>
                                      <p:to>
                                        <p:strVal val="visible"/>
                                      </p:to>
                                    </p:set>
                                    <p:animEffect transition="in" filter="wipe(down)">
                                      <p:cBhvr>
                                        <p:cTn id="157" dur="500"/>
                                        <p:tgtEl>
                                          <p:spTgt spid="20"/>
                                        </p:tgtEl>
                                      </p:cBhvr>
                                    </p:animEffect>
                                  </p:childTnLst>
                                </p:cTn>
                              </p:par>
                              <p:par>
                                <p:cTn id="158" presetID="22" presetClass="entr" presetSubtype="8" fill="hold" nodeType="withEffect">
                                  <p:stCondLst>
                                    <p:cond delay="660"/>
                                  </p:stCondLst>
                                  <p:childTnLst>
                                    <p:set>
                                      <p:cBhvr>
                                        <p:cTn id="159" dur="1" fill="hold">
                                          <p:stCondLst>
                                            <p:cond delay="0"/>
                                          </p:stCondLst>
                                        </p:cTn>
                                        <p:tgtEl>
                                          <p:spTgt spid="18"/>
                                        </p:tgtEl>
                                        <p:attrNameLst>
                                          <p:attrName>style.visibility</p:attrName>
                                        </p:attrNameLst>
                                      </p:cBhvr>
                                      <p:to>
                                        <p:strVal val="visible"/>
                                      </p:to>
                                    </p:set>
                                    <p:animEffect transition="in" filter="wipe(left)">
                                      <p:cBhvr>
                                        <p:cTn id="160" dur="500"/>
                                        <p:tgtEl>
                                          <p:spTgt spid="18"/>
                                        </p:tgtEl>
                                      </p:cBhvr>
                                    </p:animEffect>
                                  </p:childTnLst>
                                </p:cTn>
                              </p:par>
                              <p:par>
                                <p:cTn id="161" presetID="10" presetClass="entr" presetSubtype="0" fill="hold" nodeType="withEffect">
                                  <p:stCondLst>
                                    <p:cond delay="580"/>
                                  </p:stCondLst>
                                  <p:childTnLst>
                                    <p:set>
                                      <p:cBhvr>
                                        <p:cTn id="162" dur="1" fill="hold">
                                          <p:stCondLst>
                                            <p:cond delay="0"/>
                                          </p:stCondLst>
                                        </p:cTn>
                                        <p:tgtEl>
                                          <p:spTgt spid="21"/>
                                        </p:tgtEl>
                                        <p:attrNameLst>
                                          <p:attrName>style.visibility</p:attrName>
                                        </p:attrNameLst>
                                      </p:cBhvr>
                                      <p:to>
                                        <p:strVal val="visible"/>
                                      </p:to>
                                    </p:set>
                                    <p:animEffect transition="in" filter="fade">
                                      <p:cBhvr>
                                        <p:cTn id="163" dur="450"/>
                                        <p:tgtEl>
                                          <p:spTgt spid="21"/>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xit" presetSubtype="0" fill="hold" nodeType="clickEffect">
                                  <p:stCondLst>
                                    <p:cond delay="0"/>
                                  </p:stCondLst>
                                  <p:childTnLst>
                                    <p:animEffect transition="out" filter="fade">
                                      <p:cBhvr>
                                        <p:cTn id="167" dur="350"/>
                                        <p:tgtEl>
                                          <p:spTgt spid="17"/>
                                        </p:tgtEl>
                                      </p:cBhvr>
                                    </p:animEffect>
                                    <p:set>
                                      <p:cBhvr>
                                        <p:cTn id="168" dur="1" fill="hold">
                                          <p:stCondLst>
                                            <p:cond delay="349"/>
                                          </p:stCondLst>
                                        </p:cTn>
                                        <p:tgtEl>
                                          <p:spTgt spid="17"/>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350"/>
                                        <p:tgtEl>
                                          <p:spTgt spid="18"/>
                                        </p:tgtEl>
                                      </p:cBhvr>
                                    </p:animEffect>
                                    <p:set>
                                      <p:cBhvr>
                                        <p:cTn id="171" dur="1" fill="hold">
                                          <p:stCondLst>
                                            <p:cond delay="349"/>
                                          </p:stCondLst>
                                        </p:cTn>
                                        <p:tgtEl>
                                          <p:spTgt spid="18"/>
                                        </p:tgtEl>
                                        <p:attrNameLst>
                                          <p:attrName>style.visibility</p:attrName>
                                        </p:attrNameLst>
                                      </p:cBhvr>
                                      <p:to>
                                        <p:strVal val="hidden"/>
                                      </p:to>
                                    </p:set>
                                  </p:childTnLst>
                                </p:cTn>
                              </p:par>
                              <p:par>
                                <p:cTn id="172" presetID="10" presetClass="exit" presetSubtype="0" grpId="0" fill="hold" nodeType="withEffect">
                                  <p:stCondLst>
                                    <p:cond delay="0"/>
                                  </p:stCondLst>
                                  <p:childTnLst>
                                    <p:animEffect transition="out" filter="fade">
                                      <p:cBhvr>
                                        <p:cTn id="173" dur="350"/>
                                        <p:tgtEl>
                                          <p:spTgt spid="19">
                                            <p:txEl>
                                              <p:pRg st="0" end="0"/>
                                            </p:txEl>
                                          </p:spTgt>
                                        </p:tgtEl>
                                      </p:cBhvr>
                                    </p:animEffect>
                                    <p:set>
                                      <p:cBhvr>
                                        <p:cTn id="174" dur="1" fill="hold">
                                          <p:stCondLst>
                                            <p:cond delay="349"/>
                                          </p:stCondLst>
                                        </p:cTn>
                                        <p:tgtEl>
                                          <p:spTgt spid="19">
                                            <p:txEl>
                                              <p:pRg st="0" end="0"/>
                                            </p:txEl>
                                          </p:spTgt>
                                        </p:tgtEl>
                                        <p:attrNameLst>
                                          <p:attrName>style.visibility</p:attrName>
                                        </p:attrNameLst>
                                      </p:cBhvr>
                                      <p:to>
                                        <p:strVal val="hidden"/>
                                      </p:to>
                                    </p:set>
                                  </p:childTnLst>
                                </p:cTn>
                              </p:par>
                              <p:par>
                                <p:cTn id="175" presetID="10" presetClass="exit" presetSubtype="0" grpId="0" fill="hold" nodeType="withEffect">
                                  <p:stCondLst>
                                    <p:cond delay="0"/>
                                  </p:stCondLst>
                                  <p:childTnLst>
                                    <p:animEffect transition="out" filter="fade">
                                      <p:cBhvr>
                                        <p:cTn id="176" dur="350"/>
                                        <p:tgtEl>
                                          <p:spTgt spid="19">
                                            <p:txEl>
                                              <p:pRg st="1" end="1"/>
                                            </p:txEl>
                                          </p:spTgt>
                                        </p:tgtEl>
                                      </p:cBhvr>
                                    </p:animEffect>
                                    <p:set>
                                      <p:cBhvr>
                                        <p:cTn id="177" dur="1" fill="hold">
                                          <p:stCondLst>
                                            <p:cond delay="349"/>
                                          </p:stCondLst>
                                        </p:cTn>
                                        <p:tgtEl>
                                          <p:spTgt spid="19">
                                            <p:txEl>
                                              <p:pRg st="1" end="1"/>
                                            </p:txEl>
                                          </p:spTgt>
                                        </p:tgtEl>
                                        <p:attrNameLst>
                                          <p:attrName>style.visibility</p:attrName>
                                        </p:attrNameLst>
                                      </p:cBhvr>
                                      <p:to>
                                        <p:strVal val="hidden"/>
                                      </p:to>
                                    </p:set>
                                  </p:childTnLst>
                                </p:cTn>
                              </p:par>
                              <p:par>
                                <p:cTn id="178" presetID="10" presetClass="exit" presetSubtype="0" fill="hold" nodeType="withEffect">
                                  <p:stCondLst>
                                    <p:cond delay="0"/>
                                  </p:stCondLst>
                                  <p:childTnLst>
                                    <p:animEffect transition="out" filter="fade">
                                      <p:cBhvr>
                                        <p:cTn id="179" dur="350"/>
                                        <p:tgtEl>
                                          <p:spTgt spid="20"/>
                                        </p:tgtEl>
                                      </p:cBhvr>
                                    </p:animEffect>
                                    <p:set>
                                      <p:cBhvr>
                                        <p:cTn id="180" dur="1" fill="hold">
                                          <p:stCondLst>
                                            <p:cond delay="349"/>
                                          </p:stCondLst>
                                        </p:cTn>
                                        <p:tgtEl>
                                          <p:spTgt spid="20"/>
                                        </p:tgtEl>
                                        <p:attrNameLst>
                                          <p:attrName>style.visibility</p:attrName>
                                        </p:attrNameLst>
                                      </p:cBhvr>
                                      <p:to>
                                        <p:strVal val="hidden"/>
                                      </p:to>
                                    </p:set>
                                  </p:childTnLst>
                                </p:cTn>
                              </p:par>
                              <p:par>
                                <p:cTn id="181" presetID="10" presetClass="exit" presetSubtype="0" fill="hold" nodeType="withEffect">
                                  <p:stCondLst>
                                    <p:cond delay="0"/>
                                  </p:stCondLst>
                                  <p:childTnLst>
                                    <p:animEffect transition="out" filter="fade">
                                      <p:cBhvr>
                                        <p:cTn id="182" dur="350"/>
                                        <p:tgtEl>
                                          <p:spTgt spid="21"/>
                                        </p:tgtEl>
                                      </p:cBhvr>
                                    </p:animEffect>
                                    <p:set>
                                      <p:cBhvr>
                                        <p:cTn id="183" dur="1" fill="hold">
                                          <p:stCondLst>
                                            <p:cond delay="349"/>
                                          </p:stCondLst>
                                        </p:cTn>
                                        <p:tgtEl>
                                          <p:spTgt spid="21"/>
                                        </p:tgtEl>
                                        <p:attrNameLst>
                                          <p:attrName>style.visibility</p:attrName>
                                        </p:attrNameLst>
                                      </p:cBhvr>
                                      <p:to>
                                        <p:strVal val="hidden"/>
                                      </p:to>
                                    </p:set>
                                  </p:childTnLst>
                                </p:cTn>
                              </p:par>
                              <p:par>
                                <p:cTn id="184" presetID="10" presetClass="entr" presetSubtype="0" fill="hold" nodeType="withEffect">
                                  <p:stCondLst>
                                    <p:cond delay="450"/>
                                  </p:stCondLst>
                                  <p:childTnLst>
                                    <p:set>
                                      <p:cBhvr>
                                        <p:cTn id="185" dur="1" fill="hold">
                                          <p:stCondLst>
                                            <p:cond delay="0"/>
                                          </p:stCondLst>
                                        </p:cTn>
                                        <p:tgtEl>
                                          <p:spTgt spid="22"/>
                                        </p:tgtEl>
                                        <p:attrNameLst>
                                          <p:attrName>style.visibility</p:attrName>
                                        </p:attrNameLst>
                                      </p:cBhvr>
                                      <p:to>
                                        <p:strVal val="visible"/>
                                      </p:to>
                                    </p:set>
                                    <p:animEffect transition="in" filter="fade">
                                      <p:cBhvr>
                                        <p:cTn id="186" dur="450"/>
                                        <p:tgtEl>
                                          <p:spTgt spid="22"/>
                                        </p:tgtEl>
                                      </p:cBhvr>
                                    </p:animEffect>
                                  </p:childTnLst>
                                </p:cTn>
                              </p:par>
                              <p:par>
                                <p:cTn id="187" presetID="10" presetClass="entr" presetSubtype="0" grpId="0" fill="hold" nodeType="withEffect">
                                  <p:stCondLst>
                                    <p:cond delay="520"/>
                                  </p:stCondLst>
                                  <p:childTnLst>
                                    <p:set>
                                      <p:cBhvr>
                                        <p:cTn id="188" dur="1" fill="hold">
                                          <p:stCondLst>
                                            <p:cond delay="0"/>
                                          </p:stCondLst>
                                        </p:cTn>
                                        <p:tgtEl>
                                          <p:spTgt spid="24">
                                            <p:txEl>
                                              <p:pRg st="0" end="0"/>
                                            </p:txEl>
                                          </p:spTgt>
                                        </p:tgtEl>
                                        <p:attrNameLst>
                                          <p:attrName>style.visibility</p:attrName>
                                        </p:attrNameLst>
                                      </p:cBhvr>
                                      <p:to>
                                        <p:strVal val="visible"/>
                                      </p:to>
                                    </p:set>
                                    <p:animEffect transition="in" filter="fade">
                                      <p:cBhvr>
                                        <p:cTn id="189" dur="450"/>
                                        <p:tgtEl>
                                          <p:spTgt spid="24">
                                            <p:txEl>
                                              <p:pRg st="0" end="0"/>
                                            </p:txEl>
                                          </p:spTgt>
                                        </p:tgtEl>
                                      </p:cBhvr>
                                    </p:animEffect>
                                  </p:childTnLst>
                                </p:cTn>
                              </p:par>
                              <p:par>
                                <p:cTn id="190" presetID="10" presetClass="entr" presetSubtype="0" grpId="0" fill="hold" nodeType="withEffect">
                                  <p:stCondLst>
                                    <p:cond delay="900"/>
                                  </p:stCondLst>
                                  <p:childTnLst>
                                    <p:set>
                                      <p:cBhvr>
                                        <p:cTn id="191" dur="1" fill="hold">
                                          <p:stCondLst>
                                            <p:cond delay="0"/>
                                          </p:stCondLst>
                                        </p:cTn>
                                        <p:tgtEl>
                                          <p:spTgt spid="24">
                                            <p:txEl>
                                              <p:pRg st="1" end="1"/>
                                            </p:txEl>
                                          </p:spTgt>
                                        </p:tgtEl>
                                        <p:attrNameLst>
                                          <p:attrName>style.visibility</p:attrName>
                                        </p:attrNameLst>
                                      </p:cBhvr>
                                      <p:to>
                                        <p:strVal val="visible"/>
                                      </p:to>
                                    </p:set>
                                    <p:animEffect transition="in" filter="fade">
                                      <p:cBhvr>
                                        <p:cTn id="192" dur="450"/>
                                        <p:tgtEl>
                                          <p:spTgt spid="24">
                                            <p:txEl>
                                              <p:pRg st="1" end="1"/>
                                            </p:txEl>
                                          </p:spTgt>
                                        </p:tgtEl>
                                      </p:cBhvr>
                                    </p:animEffect>
                                  </p:childTnLst>
                                </p:cTn>
                              </p:par>
                              <p:par>
                                <p:cTn id="193" presetID="10" presetClass="entr" presetSubtype="0" grpId="0" fill="hold" nodeType="withEffect">
                                  <p:stCondLst>
                                    <p:cond delay="1280"/>
                                  </p:stCondLst>
                                  <p:childTnLst>
                                    <p:set>
                                      <p:cBhvr>
                                        <p:cTn id="194" dur="1" fill="hold">
                                          <p:stCondLst>
                                            <p:cond delay="0"/>
                                          </p:stCondLst>
                                        </p:cTn>
                                        <p:tgtEl>
                                          <p:spTgt spid="24">
                                            <p:txEl>
                                              <p:pRg st="2" end="2"/>
                                            </p:txEl>
                                          </p:spTgt>
                                        </p:tgtEl>
                                        <p:attrNameLst>
                                          <p:attrName>style.visibility</p:attrName>
                                        </p:attrNameLst>
                                      </p:cBhvr>
                                      <p:to>
                                        <p:strVal val="visible"/>
                                      </p:to>
                                    </p:set>
                                    <p:animEffect transition="in" filter="fade">
                                      <p:cBhvr>
                                        <p:cTn id="195" dur="450"/>
                                        <p:tgtEl>
                                          <p:spTgt spid="24">
                                            <p:txEl>
                                              <p:pRg st="2" end="2"/>
                                            </p:txEl>
                                          </p:spTgt>
                                        </p:tgtEl>
                                      </p:cBhvr>
                                    </p:animEffect>
                                  </p:childTnLst>
                                </p:cTn>
                              </p:par>
                              <p:par>
                                <p:cTn id="196" presetID="22" presetClass="entr" presetSubtype="8" fill="hold" nodeType="withEffect">
                                  <p:stCondLst>
                                    <p:cond delay="590"/>
                                  </p:stCondLst>
                                  <p:childTnLst>
                                    <p:set>
                                      <p:cBhvr>
                                        <p:cTn id="197" dur="1" fill="hold">
                                          <p:stCondLst>
                                            <p:cond delay="0"/>
                                          </p:stCondLst>
                                        </p:cTn>
                                        <p:tgtEl>
                                          <p:spTgt spid="23"/>
                                        </p:tgtEl>
                                        <p:attrNameLst>
                                          <p:attrName>style.visibility</p:attrName>
                                        </p:attrNameLst>
                                      </p:cBhvr>
                                      <p:to>
                                        <p:strVal val="visible"/>
                                      </p:to>
                                    </p:set>
                                    <p:animEffect transition="in" filter="wipe(left)">
                                      <p:cBhvr>
                                        <p:cTn id="198" dur="500"/>
                                        <p:tgtEl>
                                          <p:spTgt spid="23"/>
                                        </p:tgtEl>
                                      </p:cBhvr>
                                    </p:animEffect>
                                  </p:childTnLst>
                                </p:cTn>
                              </p:par>
                              <p:par>
                                <p:cTn id="199" presetID="10" presetClass="entr" presetSubtype="0" fill="hold" nodeType="withEffect">
                                  <p:stCondLst>
                                    <p:cond delay="580"/>
                                  </p:stCondLst>
                                  <p:childTnLst>
                                    <p:set>
                                      <p:cBhvr>
                                        <p:cTn id="200" dur="1" fill="hold">
                                          <p:stCondLst>
                                            <p:cond delay="0"/>
                                          </p:stCondLst>
                                        </p:cTn>
                                        <p:tgtEl>
                                          <p:spTgt spid="25"/>
                                        </p:tgtEl>
                                        <p:attrNameLst>
                                          <p:attrName>style.visibility</p:attrName>
                                        </p:attrNameLst>
                                      </p:cBhvr>
                                      <p:to>
                                        <p:strVal val="visible"/>
                                      </p:to>
                                    </p:set>
                                    <p:animEffect transition="in" filter="fade">
                                      <p:cBhvr>
                                        <p:cTn id="201" dur="450"/>
                                        <p:tgtEl>
                                          <p:spTgt spid="25"/>
                                        </p:tgtEl>
                                      </p:cBhvr>
                                    </p:animEffect>
                                  </p:childTnLst>
                                </p:cTn>
                              </p:par>
                            </p:childTnLst>
                          </p:cTn>
                        </p:par>
                      </p:childTnLst>
                    </p:cTn>
                  </p:par>
                  <p:par>
                    <p:cTn id="202" fill="hold">
                      <p:stCondLst>
                        <p:cond delay="indefinite"/>
                      </p:stCondLst>
                      <p:childTnLst>
                        <p:par>
                          <p:cTn id="203" fill="hold">
                            <p:stCondLst>
                              <p:cond delay="0"/>
                            </p:stCondLst>
                            <p:childTnLst>
                              <p:par>
                                <p:cTn id="204" presetID="10" presetClass="exit" presetSubtype="0" fill="hold" nodeType="clickEffect">
                                  <p:stCondLst>
                                    <p:cond delay="0"/>
                                  </p:stCondLst>
                                  <p:childTnLst>
                                    <p:animEffect transition="out" filter="fade">
                                      <p:cBhvr>
                                        <p:cTn id="205" dur="350"/>
                                        <p:tgtEl>
                                          <p:spTgt spid="22"/>
                                        </p:tgtEl>
                                      </p:cBhvr>
                                    </p:animEffect>
                                    <p:set>
                                      <p:cBhvr>
                                        <p:cTn id="206" dur="1" fill="hold">
                                          <p:stCondLst>
                                            <p:cond delay="349"/>
                                          </p:stCondLst>
                                        </p:cTn>
                                        <p:tgtEl>
                                          <p:spTgt spid="22"/>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350"/>
                                        <p:tgtEl>
                                          <p:spTgt spid="23"/>
                                        </p:tgtEl>
                                      </p:cBhvr>
                                    </p:animEffect>
                                    <p:set>
                                      <p:cBhvr>
                                        <p:cTn id="209" dur="1" fill="hold">
                                          <p:stCondLst>
                                            <p:cond delay="349"/>
                                          </p:stCondLst>
                                        </p:cTn>
                                        <p:tgtEl>
                                          <p:spTgt spid="23"/>
                                        </p:tgtEl>
                                        <p:attrNameLst>
                                          <p:attrName>style.visibility</p:attrName>
                                        </p:attrNameLst>
                                      </p:cBhvr>
                                      <p:to>
                                        <p:strVal val="hidden"/>
                                      </p:to>
                                    </p:set>
                                  </p:childTnLst>
                                </p:cTn>
                              </p:par>
                              <p:par>
                                <p:cTn id="210" presetID="10" presetClass="exit" presetSubtype="0" grpId="0" fill="hold" nodeType="withEffect">
                                  <p:stCondLst>
                                    <p:cond delay="0"/>
                                  </p:stCondLst>
                                  <p:childTnLst>
                                    <p:animEffect transition="out" filter="fade">
                                      <p:cBhvr>
                                        <p:cTn id="211" dur="350"/>
                                        <p:tgtEl>
                                          <p:spTgt spid="24">
                                            <p:txEl>
                                              <p:pRg st="0" end="0"/>
                                            </p:txEl>
                                          </p:spTgt>
                                        </p:tgtEl>
                                      </p:cBhvr>
                                    </p:animEffect>
                                    <p:set>
                                      <p:cBhvr>
                                        <p:cTn id="212" dur="1" fill="hold">
                                          <p:stCondLst>
                                            <p:cond delay="349"/>
                                          </p:stCondLst>
                                        </p:cTn>
                                        <p:tgtEl>
                                          <p:spTgt spid="24">
                                            <p:txEl>
                                              <p:pRg st="0" end="0"/>
                                            </p:txEl>
                                          </p:spTgt>
                                        </p:tgtEl>
                                        <p:attrNameLst>
                                          <p:attrName>style.visibility</p:attrName>
                                        </p:attrNameLst>
                                      </p:cBhvr>
                                      <p:to>
                                        <p:strVal val="hidden"/>
                                      </p:to>
                                    </p:set>
                                  </p:childTnLst>
                                </p:cTn>
                              </p:par>
                              <p:par>
                                <p:cTn id="213" presetID="10" presetClass="exit" presetSubtype="0" grpId="0" fill="hold" nodeType="withEffect">
                                  <p:stCondLst>
                                    <p:cond delay="0"/>
                                  </p:stCondLst>
                                  <p:childTnLst>
                                    <p:animEffect transition="out" filter="fade">
                                      <p:cBhvr>
                                        <p:cTn id="214" dur="350"/>
                                        <p:tgtEl>
                                          <p:spTgt spid="24">
                                            <p:txEl>
                                              <p:pRg st="1" end="1"/>
                                            </p:txEl>
                                          </p:spTgt>
                                        </p:tgtEl>
                                      </p:cBhvr>
                                    </p:animEffect>
                                    <p:set>
                                      <p:cBhvr>
                                        <p:cTn id="215" dur="1" fill="hold">
                                          <p:stCondLst>
                                            <p:cond delay="349"/>
                                          </p:stCondLst>
                                        </p:cTn>
                                        <p:tgtEl>
                                          <p:spTgt spid="24">
                                            <p:txEl>
                                              <p:pRg st="1" end="1"/>
                                            </p:txEl>
                                          </p:spTgt>
                                        </p:tgtEl>
                                        <p:attrNameLst>
                                          <p:attrName>style.visibility</p:attrName>
                                        </p:attrNameLst>
                                      </p:cBhvr>
                                      <p:to>
                                        <p:strVal val="hidden"/>
                                      </p:to>
                                    </p:set>
                                  </p:childTnLst>
                                </p:cTn>
                              </p:par>
                              <p:par>
                                <p:cTn id="216" presetID="10" presetClass="exit" presetSubtype="0" grpId="0" fill="hold" nodeType="withEffect">
                                  <p:stCondLst>
                                    <p:cond delay="0"/>
                                  </p:stCondLst>
                                  <p:childTnLst>
                                    <p:animEffect transition="out" filter="fade">
                                      <p:cBhvr>
                                        <p:cTn id="217" dur="350"/>
                                        <p:tgtEl>
                                          <p:spTgt spid="24">
                                            <p:txEl>
                                              <p:pRg st="2" end="2"/>
                                            </p:txEl>
                                          </p:spTgt>
                                        </p:tgtEl>
                                      </p:cBhvr>
                                    </p:animEffect>
                                    <p:set>
                                      <p:cBhvr>
                                        <p:cTn id="218" dur="1" fill="hold">
                                          <p:stCondLst>
                                            <p:cond delay="349"/>
                                          </p:stCondLst>
                                        </p:cTn>
                                        <p:tgtEl>
                                          <p:spTgt spid="24">
                                            <p:txEl>
                                              <p:pRg st="2" end="2"/>
                                            </p:txEl>
                                          </p:spTgt>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350"/>
                                        <p:tgtEl>
                                          <p:spTgt spid="25"/>
                                        </p:tgtEl>
                                      </p:cBhvr>
                                    </p:animEffect>
                                    <p:set>
                                      <p:cBhvr>
                                        <p:cTn id="221" dur="1" fill="hold">
                                          <p:stCondLst>
                                            <p:cond delay="349"/>
                                          </p:stCondLst>
                                        </p:cTn>
                                        <p:tgtEl>
                                          <p:spTgt spid="25"/>
                                        </p:tgtEl>
                                        <p:attrNameLst>
                                          <p:attrName>style.visibility</p:attrName>
                                        </p:attrNameLst>
                                      </p:cBhvr>
                                      <p:to>
                                        <p:strVal val="hidden"/>
                                      </p:to>
                                    </p:set>
                                  </p:childTnLst>
                                </p:cTn>
                              </p:par>
                              <p:par>
                                <p:cTn id="222" presetID="10" presetClass="entr" presetSubtype="0" fill="hold" nodeType="withEffect">
                                  <p:stCondLst>
                                    <p:cond delay="450"/>
                                  </p:stCondLst>
                                  <p:childTnLst>
                                    <p:set>
                                      <p:cBhvr>
                                        <p:cTn id="223" dur="1" fill="hold">
                                          <p:stCondLst>
                                            <p:cond delay="0"/>
                                          </p:stCondLst>
                                        </p:cTn>
                                        <p:tgtEl>
                                          <p:spTgt spid="26"/>
                                        </p:tgtEl>
                                        <p:attrNameLst>
                                          <p:attrName>style.visibility</p:attrName>
                                        </p:attrNameLst>
                                      </p:cBhvr>
                                      <p:to>
                                        <p:strVal val="visible"/>
                                      </p:to>
                                    </p:set>
                                    <p:animEffect transition="in" filter="fade">
                                      <p:cBhvr>
                                        <p:cTn id="224" dur="450"/>
                                        <p:tgtEl>
                                          <p:spTgt spid="26"/>
                                        </p:tgtEl>
                                      </p:cBhvr>
                                    </p:animEffect>
                                  </p:childTnLst>
                                </p:cTn>
                              </p:par>
                              <p:par>
                                <p:cTn id="225" presetID="10" presetClass="entr" presetSubtype="0" fill="hold" nodeType="withEffect">
                                  <p:stCondLst>
                                    <p:cond delay="520"/>
                                  </p:stCondLst>
                                  <p:childTnLst>
                                    <p:set>
                                      <p:cBhvr>
                                        <p:cTn id="226" dur="1" fill="hold">
                                          <p:stCondLst>
                                            <p:cond delay="0"/>
                                          </p:stCondLst>
                                        </p:cTn>
                                        <p:tgtEl>
                                          <p:spTgt spid="28"/>
                                        </p:tgtEl>
                                        <p:attrNameLst>
                                          <p:attrName>style.visibility</p:attrName>
                                        </p:attrNameLst>
                                      </p:cBhvr>
                                      <p:to>
                                        <p:strVal val="visible"/>
                                      </p:to>
                                    </p:set>
                                    <p:animEffect transition="in" filter="fade">
                                      <p:cBhvr>
                                        <p:cTn id="227" dur="450"/>
                                        <p:tgtEl>
                                          <p:spTgt spid="28"/>
                                        </p:tgtEl>
                                      </p:cBhvr>
                                    </p:animEffect>
                                  </p:childTnLst>
                                </p:cTn>
                              </p:par>
                              <p:par>
                                <p:cTn id="228" presetID="22" presetClass="entr" presetSubtype="4" fill="hold" nodeType="withEffect">
                                  <p:stCondLst>
                                    <p:cond delay="520"/>
                                  </p:stCondLst>
                                  <p:childTnLst>
                                    <p:set>
                                      <p:cBhvr>
                                        <p:cTn id="229" dur="1" fill="hold">
                                          <p:stCondLst>
                                            <p:cond delay="0"/>
                                          </p:stCondLst>
                                        </p:cTn>
                                        <p:tgtEl>
                                          <p:spTgt spid="29"/>
                                        </p:tgtEl>
                                        <p:attrNameLst>
                                          <p:attrName>style.visibility</p:attrName>
                                        </p:attrNameLst>
                                      </p:cBhvr>
                                      <p:to>
                                        <p:strVal val="visible"/>
                                      </p:to>
                                    </p:set>
                                    <p:animEffect transition="in" filter="wipe(down)">
                                      <p:cBhvr>
                                        <p:cTn id="230" dur="500"/>
                                        <p:tgtEl>
                                          <p:spTgt spid="29"/>
                                        </p:tgtEl>
                                      </p:cBhvr>
                                    </p:animEffect>
                                  </p:childTnLst>
                                </p:cTn>
                              </p:par>
                              <p:par>
                                <p:cTn id="231" presetID="10" presetClass="entr" presetSubtype="0" fill="hold" nodeType="withEffect">
                                  <p:stCondLst>
                                    <p:cond delay="590"/>
                                  </p:stCondLst>
                                  <p:childTnLst>
                                    <p:set>
                                      <p:cBhvr>
                                        <p:cTn id="232" dur="1" fill="hold">
                                          <p:stCondLst>
                                            <p:cond delay="0"/>
                                          </p:stCondLst>
                                        </p:cTn>
                                        <p:tgtEl>
                                          <p:spTgt spid="30"/>
                                        </p:tgtEl>
                                        <p:attrNameLst>
                                          <p:attrName>style.visibility</p:attrName>
                                        </p:attrNameLst>
                                      </p:cBhvr>
                                      <p:to>
                                        <p:strVal val="visible"/>
                                      </p:to>
                                    </p:set>
                                    <p:animEffect transition="in" filter="fade">
                                      <p:cBhvr>
                                        <p:cTn id="233" dur="450"/>
                                        <p:tgtEl>
                                          <p:spTgt spid="30"/>
                                        </p:tgtEl>
                                      </p:cBhvr>
                                    </p:animEffect>
                                  </p:childTnLst>
                                </p:cTn>
                              </p:par>
                              <p:par>
                                <p:cTn id="234" presetID="22" presetClass="entr" presetSubtype="4" fill="hold" nodeType="withEffect">
                                  <p:stCondLst>
                                    <p:cond delay="590"/>
                                  </p:stCondLst>
                                  <p:childTnLst>
                                    <p:set>
                                      <p:cBhvr>
                                        <p:cTn id="235" dur="1" fill="hold">
                                          <p:stCondLst>
                                            <p:cond delay="0"/>
                                          </p:stCondLst>
                                        </p:cTn>
                                        <p:tgtEl>
                                          <p:spTgt spid="31"/>
                                        </p:tgtEl>
                                        <p:attrNameLst>
                                          <p:attrName>style.visibility</p:attrName>
                                        </p:attrNameLst>
                                      </p:cBhvr>
                                      <p:to>
                                        <p:strVal val="visible"/>
                                      </p:to>
                                    </p:set>
                                    <p:animEffect transition="in" filter="wipe(down)">
                                      <p:cBhvr>
                                        <p:cTn id="236" dur="500"/>
                                        <p:tgtEl>
                                          <p:spTgt spid="31"/>
                                        </p:tgtEl>
                                      </p:cBhvr>
                                    </p:animEffect>
                                  </p:childTnLst>
                                </p:cTn>
                              </p:par>
                              <p:par>
                                <p:cTn id="237" presetID="10" presetClass="entr" presetSubtype="0" grpId="0" fill="hold" nodeType="withEffect">
                                  <p:stCondLst>
                                    <p:cond delay="660"/>
                                  </p:stCondLst>
                                  <p:childTnLst>
                                    <p:set>
                                      <p:cBhvr>
                                        <p:cTn id="238" dur="1" fill="hold">
                                          <p:stCondLst>
                                            <p:cond delay="0"/>
                                          </p:stCondLst>
                                        </p:cTn>
                                        <p:tgtEl>
                                          <p:spTgt spid="32">
                                            <p:txEl>
                                              <p:pRg st="0" end="0"/>
                                            </p:txEl>
                                          </p:spTgt>
                                        </p:tgtEl>
                                        <p:attrNameLst>
                                          <p:attrName>style.visibility</p:attrName>
                                        </p:attrNameLst>
                                      </p:cBhvr>
                                      <p:to>
                                        <p:strVal val="visible"/>
                                      </p:to>
                                    </p:set>
                                    <p:animEffect transition="in" filter="fade">
                                      <p:cBhvr>
                                        <p:cTn id="239" dur="450"/>
                                        <p:tgtEl>
                                          <p:spTgt spid="32">
                                            <p:txEl>
                                              <p:pRg st="0" end="0"/>
                                            </p:txEl>
                                          </p:spTgt>
                                        </p:tgtEl>
                                      </p:cBhvr>
                                    </p:animEffect>
                                  </p:childTnLst>
                                </p:cTn>
                              </p:par>
                              <p:par>
                                <p:cTn id="240" presetID="10" presetClass="entr" presetSubtype="0" grpId="0" fill="hold" nodeType="withEffect">
                                  <p:stCondLst>
                                    <p:cond delay="1040"/>
                                  </p:stCondLst>
                                  <p:childTnLst>
                                    <p:set>
                                      <p:cBhvr>
                                        <p:cTn id="241" dur="1" fill="hold">
                                          <p:stCondLst>
                                            <p:cond delay="0"/>
                                          </p:stCondLst>
                                        </p:cTn>
                                        <p:tgtEl>
                                          <p:spTgt spid="32">
                                            <p:txEl>
                                              <p:pRg st="1" end="1"/>
                                            </p:txEl>
                                          </p:spTgt>
                                        </p:tgtEl>
                                        <p:attrNameLst>
                                          <p:attrName>style.visibility</p:attrName>
                                        </p:attrNameLst>
                                      </p:cBhvr>
                                      <p:to>
                                        <p:strVal val="visible"/>
                                      </p:to>
                                    </p:set>
                                    <p:animEffect transition="in" filter="fade">
                                      <p:cBhvr>
                                        <p:cTn id="242" dur="450"/>
                                        <p:tgtEl>
                                          <p:spTgt spid="32">
                                            <p:txEl>
                                              <p:pRg st="1" end="1"/>
                                            </p:txEl>
                                          </p:spTgt>
                                        </p:tgtEl>
                                      </p:cBhvr>
                                    </p:animEffect>
                                  </p:childTnLst>
                                </p:cTn>
                              </p:par>
                              <p:par>
                                <p:cTn id="243" presetID="10" presetClass="entr" presetSubtype="0" fill="hold" nodeType="withEffect">
                                  <p:stCondLst>
                                    <p:cond delay="730"/>
                                  </p:stCondLst>
                                  <p:childTnLst>
                                    <p:set>
                                      <p:cBhvr>
                                        <p:cTn id="244" dur="1" fill="hold">
                                          <p:stCondLst>
                                            <p:cond delay="0"/>
                                          </p:stCondLst>
                                        </p:cTn>
                                        <p:tgtEl>
                                          <p:spTgt spid="33"/>
                                        </p:tgtEl>
                                        <p:attrNameLst>
                                          <p:attrName>style.visibility</p:attrName>
                                        </p:attrNameLst>
                                      </p:cBhvr>
                                      <p:to>
                                        <p:strVal val="visible"/>
                                      </p:to>
                                    </p:set>
                                    <p:animEffect transition="in" filter="fade">
                                      <p:cBhvr>
                                        <p:cTn id="245" dur="450"/>
                                        <p:tgtEl>
                                          <p:spTgt spid="33"/>
                                        </p:tgtEl>
                                      </p:cBhvr>
                                    </p:animEffect>
                                  </p:childTnLst>
                                </p:cTn>
                              </p:par>
                              <p:par>
                                <p:cTn id="246" presetID="22" presetClass="entr" presetSubtype="4" fill="hold" nodeType="withEffect">
                                  <p:stCondLst>
                                    <p:cond delay="730"/>
                                  </p:stCondLst>
                                  <p:childTnLst>
                                    <p:set>
                                      <p:cBhvr>
                                        <p:cTn id="247" dur="1" fill="hold">
                                          <p:stCondLst>
                                            <p:cond delay="0"/>
                                          </p:stCondLst>
                                        </p:cTn>
                                        <p:tgtEl>
                                          <p:spTgt spid="34"/>
                                        </p:tgtEl>
                                        <p:attrNameLst>
                                          <p:attrName>style.visibility</p:attrName>
                                        </p:attrNameLst>
                                      </p:cBhvr>
                                      <p:to>
                                        <p:strVal val="visible"/>
                                      </p:to>
                                    </p:set>
                                    <p:animEffect transition="in" filter="wipe(down)">
                                      <p:cBhvr>
                                        <p:cTn id="248" dur="500"/>
                                        <p:tgtEl>
                                          <p:spTgt spid="34"/>
                                        </p:tgtEl>
                                      </p:cBhvr>
                                    </p:animEffect>
                                  </p:childTnLst>
                                </p:cTn>
                              </p:par>
                              <p:par>
                                <p:cTn id="249" presetID="22" presetClass="entr" presetSubtype="8" fill="hold" nodeType="withEffect">
                                  <p:stCondLst>
                                    <p:cond delay="800"/>
                                  </p:stCondLst>
                                  <p:childTnLst>
                                    <p:set>
                                      <p:cBhvr>
                                        <p:cTn id="250" dur="1" fill="hold">
                                          <p:stCondLst>
                                            <p:cond delay="0"/>
                                          </p:stCondLst>
                                        </p:cTn>
                                        <p:tgtEl>
                                          <p:spTgt spid="27"/>
                                        </p:tgtEl>
                                        <p:attrNameLst>
                                          <p:attrName>style.visibility</p:attrName>
                                        </p:attrNameLst>
                                      </p:cBhvr>
                                      <p:to>
                                        <p:strVal val="visible"/>
                                      </p:to>
                                    </p:set>
                                    <p:animEffect transition="in" filter="wipe(left)">
                                      <p:cBhvr>
                                        <p:cTn id="251" dur="500"/>
                                        <p:tgtEl>
                                          <p:spTgt spid="27"/>
                                        </p:tgtEl>
                                      </p:cBhvr>
                                    </p:animEffect>
                                  </p:childTnLst>
                                </p:cTn>
                              </p:par>
                              <p:par>
                                <p:cTn id="252" presetID="10" presetClass="entr" presetSubtype="0" fill="hold" nodeType="withEffect">
                                  <p:stCondLst>
                                    <p:cond delay="580"/>
                                  </p:stCondLst>
                                  <p:childTnLst>
                                    <p:set>
                                      <p:cBhvr>
                                        <p:cTn id="253" dur="1" fill="hold">
                                          <p:stCondLst>
                                            <p:cond delay="0"/>
                                          </p:stCondLst>
                                        </p:cTn>
                                        <p:tgtEl>
                                          <p:spTgt spid="35"/>
                                        </p:tgtEl>
                                        <p:attrNameLst>
                                          <p:attrName>style.visibility</p:attrName>
                                        </p:attrNameLst>
                                      </p:cBhvr>
                                      <p:to>
                                        <p:strVal val="visible"/>
                                      </p:to>
                                    </p:set>
                                    <p:animEffect transition="in" filter="fade">
                                      <p:cBhvr>
                                        <p:cTn id="254"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build="p"/>
      <p:bldP spid="15" grpId="0" build="p"/>
      <p:bldP spid="19" grpId="0" build="p"/>
      <p:bldP spid="24" grpId="0" build="p"/>
      <p:bldP spid="3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En un terreno estratificado, cada frecuencia ve una profundidad distinta</a:t>
            </a:r>
            <a:endParaRPr lang="en-US" sz="2200" dirty="0"/>
          </a:p>
        </p:txBody>
      </p:sp>
      <p:sp>
        <p:nvSpPr>
          <p:cNvPr id="3" name="Obj [o28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un terreno estratificado, la rigidez y la velocidad de corte cambian con la profundidad</a:t>
            </a:r>
            <a:endParaRPr lang="en-US" sz="1400" dirty="0"/>
          </a:p>
        </p:txBody>
      </p:sp>
      <p:pic>
        <p:nvPicPr>
          <p:cNvPr id="4" name="Obj [o283]" descr="Perfil de Vs en escalones: 150, 250 y 450 m/s con la profundidad">    </p:cNvPr>
          <p:cNvPicPr>
            <a:picLocks noChangeAspect="1"/>
          </p:cNvPicPr>
          <p:nvPr/>
        </p:nvPicPr>
        <p:blipFill>
          <a:blip r:embed="rId1"/>
          <a:stretch>
            <a:fillRect/>
          </a:stretch>
        </p:blipFill>
        <p:spPr>
          <a:xfrm>
            <a:off x="966136" y="1641589"/>
            <a:ext cx="3525734" cy="2724431"/>
          </a:xfrm>
          <a:prstGeom prst="rect">
            <a:avLst/>
          </a:prstGeom>
        </p:spPr>
      </p:pic>
      <p:sp>
        <p:nvSpPr>
          <p:cNvPr id="5" name="Obj [o284]"/>
          <p:cNvSpPr txBox="1"/>
          <p:nvPr/>
        </p:nvSpPr>
        <p:spPr>
          <a:xfrm>
            <a:off x="4732261" y="1601523"/>
            <a:ext cx="3445604" cy="2243649"/>
          </a:xfrm>
          <a:prstGeom prst="rect">
            <a:avLst/>
          </a:prstGeom>
          <a:noFill/>
          <a:ln/>
        </p:spPr>
        <p:txBody>
          <a:bodyPr wrap="square" lIns="0" tIns="0" rIns="0" bIns="0" rtlCol="0" anchor="t"/>
          <a:lstStyle/>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La rigidez cambia con la profundidad, y con ella la velocidad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Es común que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 aumente (terreno más rocoso), pero no siempre ocurre</a:t>
            </a:r>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La densidad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ρ</m:t>
                    </m:r>
                  </m:oMath>
                </a14:m>
              </mc:Choice>
              <mc:Fallback>
                <a:r>
                  <a:rPr lang="en-US" sz="1440" dirty="0">
                    <a:solidFill>
                      <a:srgbClr val="2D2D2D"/>
                    </a:solidFill>
                    <a:latin typeface="Arial" pitchFamily="34" charset="0"/>
                    <a:ea typeface="Arial" pitchFamily="34" charset="-122"/>
                    <a:cs typeface="Arial" pitchFamily="34" charset="-120"/>
                  </a:rPr>
                  <a:t>ρ</a:t>
                </a:r>
              </mc:Fallback>
            </mc:AlternateContent>
            <a:r>
              <a:rPr lang="en-US" sz="1440" dirty="0">
                <a:solidFill>
                  <a:srgbClr val="2D2D2D"/>
                </a:solidFill>
                <a:latin typeface="Arial" pitchFamily="34" charset="0"/>
                <a:ea typeface="Arial" pitchFamily="34" charset="-122"/>
                <a:cs typeface="Arial" pitchFamily="34" charset="-120"/>
              </a:rPr>
              <a:t> suele variar poco en comparación con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(z), estimamos el módulo de corte máximo:</a:t>
            </a:r>
            <a:endParaRPr lang="en-US" sz="1440" dirty="0"/>
          </a:p>
        </p:txBody>
      </p:sp>
      <p:sp>
        <p:nvSpPr>
          <p:cNvPr id="6" name="Obj [o285]"/>
          <p:cNvSpPr/>
          <p:nvPr/>
        </p:nvSpPr>
        <p:spPr>
          <a:xfrm>
            <a:off x="4732261" y="3885237"/>
            <a:ext cx="3445604" cy="60097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7" name="Obj [o286]"/>
              <p:cNvSpPr txBox="1"/>
              <p:nvPr/>
            </p:nvSpPr>
            <p:spPr>
              <a:xfrm>
                <a:off x="4732261" y="3885237"/>
                <a:ext cx="3445604" cy="60097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m:rPr>
                              <m:sty m:val="p"/>
                            </m:rPr>
                            <a:rPr lang="es-ES" sz="2200">
                              <a:solidFill>
                                <a:srgbClr val="1F4E79"/>
                              </a:solidFill>
                              <a:latin typeface="Cambria Math" panose="02040503050406030204" pitchFamily="18" charset="0"/>
                            </a:rPr>
                            <m:t xml:space="preserve">max</m:t>
                          </m:r>
                        </m:sub>
                      </m:sSub>
                      <m:r>
                        <a:rPr lang="es-ES" sz="2200" i="1">
                          <a:solidFill>
                            <a:srgbClr val="1F4E79"/>
                          </a:solidFill>
                          <a:latin typeface="Cambria Math" panose="02040503050406030204" pitchFamily="18" charset="0"/>
                        </a:rPr>
                        <m:t xml:space="preserve">(z)=ρ(z)·</m:t>
                      </m:r>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e>
                        <m:sup>
                          <m:r>
                            <a:rPr lang="es-ES" sz="2200" i="1">
                              <a:solidFill>
                                <a:srgbClr val="1F4E79"/>
                              </a:solidFill>
                              <a:latin typeface="Cambria Math" panose="02040503050406030204" pitchFamily="18" charset="0"/>
                            </a:rPr>
                            <m:t xml:space="preserve">2</m:t>
                          </m:r>
                        </m:sup>
                      </m:sSup>
                      <m:r>
                        <a:rPr lang="es-ES" sz="2200" i="1">
                          <a:solidFill>
                            <a:srgbClr val="1F4E79"/>
                          </a:solidFill>
                          <a:latin typeface="Cambria Math" panose="02040503050406030204" pitchFamily="18" charset="0"/>
                        </a:rPr>
                        <m:t xml:space="preserve">(z)</m:t>
                      </m:r>
                    </m:oMath>
                  </m:oMathPara>
                </a14:m>
                <a:endParaRPr lang="es-ES"/>
              </a:p>
            </p:txBody>
          </p:sp>
        </mc:Choice>
        <mc:Fallback>
          <p:sp>
            <p:nvSpPr>
              <p:cNvPr id="7" name="Obj [o286]"/>
              <p:cNvSpPr txBox="1"/>
              <p:nvPr/>
            </p:nvSpPr>
            <p:spPr>
              <a:xfrm>
                <a:off x="4732261" y="3885237"/>
                <a:ext cx="3445604" cy="600977"/>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Gmax(z) = ρ(z) · Vs²(z)</a:t>
                </a:r>
                <a:endParaRPr lang="en-US" sz="2159" dirty="0"/>
              </a:p>
            </p:txBody>
          </p:sp>
        </mc:Fallback>
      </mc:AlternateContent>
      <p:sp>
        <p:nvSpPr>
          <p:cNvPr id="8" name="Obj [o28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Modelo de ejemplo propio (ilustrativo): 3 capas,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ν</m:t>
                    </m:r>
                    <m:r>
                      <m:rPr>
                        <m:sty m:val="p"/>
                      </m:rPr>
                      <a:rPr lang="es-ES" sz="800">
                        <a:solidFill>
                          <a:srgbClr val="6B6B6B"/>
                        </a:solidFill>
                        <a:latin typeface="Cambria Math" panose="02040503050406030204" pitchFamily="18" charset="0"/>
                      </a:rPr>
                      <m:t xml:space="preserve">=</m:t>
                    </m:r>
                    <m:r>
                      <m:rPr>
                        <m:sty m:val="p"/>
                      </m:rPr>
                      <a:rPr lang="es-ES" sz="800">
                        <a:solidFill>
                          <a:srgbClr val="6B6B6B"/>
                        </a:solidFill>
                        <a:latin typeface="Cambria Math" panose="02040503050406030204" pitchFamily="18" charset="0"/>
                      </a:rPr>
                      <m:t xml:space="preserve">0,3</m:t>
                    </m:r>
                  </m:oMath>
                </a14:m>
              </mc:Choice>
              <mc:Fallback>
                <a:r>
                  <a:rPr lang="en-US" sz="800" dirty="0">
                    <a:solidFill>
                      <a:srgbClr val="6B6B6B"/>
                    </a:solidFill>
                    <a:latin typeface="Arial" pitchFamily="34" charset="0"/>
                    <a:ea typeface="Arial" pitchFamily="34" charset="-122"/>
                    <a:cs typeface="Arial" pitchFamily="34" charset="-120"/>
                  </a:rPr>
                  <a:t>ν = 0,3</a:t>
                </a:r>
              </mc:Fallback>
            </mc:AlternateContent>
            <a:r>
              <a:rPr lang="en-US" sz="800" dirty="0">
                <a:solidFill>
                  <a:srgbClr val="6B6B6B"/>
                </a:solidFill>
                <a:latin typeface="Arial" pitchFamily="34" charset="0"/>
                <a:ea typeface="Arial" pitchFamily="34" charset="-122"/>
                <a:cs typeface="Arial" pitchFamily="34" charset="-120"/>
              </a:rPr>
              <a:t>. Variación de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ρ</m:t>
                    </m:r>
                  </m:oMath>
                </a14:m>
              </mc:Choice>
              <mc:Fallback>
                <a:r>
                  <a:rPr lang="en-US" sz="800" dirty="0">
                    <a:solidFill>
                      <a:srgbClr val="6B6B6B"/>
                    </a:solidFill>
                    <a:latin typeface="Arial" pitchFamily="34" charset="0"/>
                    <a:ea typeface="Arial" pitchFamily="34" charset="-122"/>
                    <a:cs typeface="Arial" pitchFamily="34" charset="-120"/>
                  </a:rPr>
                  <a:t>ρ</a:t>
                </a:r>
              </mc:Fallback>
            </mc:AlternateContent>
            <a:r>
              <a:rPr lang="en-US" sz="800" dirty="0">
                <a:solidFill>
                  <a:srgbClr val="6B6B6B"/>
                </a:solidFill>
                <a:latin typeface="Arial" pitchFamily="34" charset="0"/>
                <a:ea typeface="Arial" pitchFamily="34" charset="-122"/>
                <a:cs typeface="Arial" pitchFamily="34" charset="-120"/>
              </a:rPr>
              <a:t>: Kramer (1996), por confirmar página.</a:t>
            </a:r>
            <a:endParaRPr lang="en-US" sz="800" dirty="0"/>
          </a:p>
        </p:txBody>
      </p:sp>
      <p:sp>
        <p:nvSpPr>
          <p:cNvPr id="9" name="Obj [o28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longitud de onda «ve» una profundidad distinta del terreno</a:t>
            </a:r>
            <a:endParaRPr lang="en-US" sz="1400" dirty="0"/>
          </a:p>
        </p:txBody>
      </p:sp>
      <p:pic>
        <p:nvPicPr>
          <p:cNvPr id="10" name="Obj [o289]" descr="Desplazamiento vertical de la onda Rayleigh en función de la profundidad: a 15 Hz queda en la capa superior; a 9,5 Hz llega hasta unos 25 m">    </p:cNvPr>
          <p:cNvPicPr>
            <a:picLocks noChangeAspect="1"/>
          </p:cNvPicPr>
          <p:nvPr/>
        </p:nvPicPr>
        <p:blipFill>
          <a:blip r:embed="rId2"/>
          <a:stretch>
            <a:fillRect/>
          </a:stretch>
        </p:blipFill>
        <p:spPr>
          <a:xfrm>
            <a:off x="365760" y="1595380"/>
            <a:ext cx="4257923" cy="2760047"/>
          </a:xfrm>
          <a:prstGeom prst="rect">
            <a:avLst/>
          </a:prstGeom>
        </p:spPr>
      </p:pic>
      <p:sp>
        <p:nvSpPr>
          <p:cNvPr id="11" name="Obj [o290]"/>
          <p:cNvSpPr/>
          <p:nvPr/>
        </p:nvSpPr>
        <p:spPr>
          <a:xfrm>
            <a:off x="4775752" y="1671414"/>
            <a:ext cx="2509133"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2" name="Obj [o291]"/>
              <p:cNvSpPr txBox="1"/>
              <p:nvPr/>
            </p:nvSpPr>
            <p:spPr>
              <a:xfrm>
                <a:off x="4775752" y="1671414"/>
                <a:ext cx="2509133"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λ=</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c</m:t>
                          </m:r>
                        </m:num>
                        <m:den>
                          <m:r>
                            <a:rPr lang="es-ES" sz="2400" i="1">
                              <a:solidFill>
                                <a:srgbClr val="1F4E79"/>
                              </a:solidFill>
                              <a:latin typeface="Cambria Math" panose="02040503050406030204" pitchFamily="18" charset="0"/>
                            </a:rPr>
                            <m:t xml:space="preserve">f</m:t>
                          </m:r>
                        </m:den>
                      </m:f>
                    </m:oMath>
                  </m:oMathPara>
                </a14:m>
                <a:endParaRPr lang="es-ES"/>
              </a:p>
            </p:txBody>
          </p:sp>
        </mc:Choice>
        <mc:Fallback>
          <p:sp>
            <p:nvSpPr>
              <p:cNvPr id="12" name="Obj [o291]"/>
              <p:cNvSpPr txBox="1"/>
              <p:nvPr/>
            </p:nvSpPr>
            <p:spPr>
              <a:xfrm>
                <a:off x="4775752" y="1671414"/>
                <a:ext cx="2509133"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λ = c / f</a:t>
                </a:r>
                <a:endParaRPr lang="en-US" sz="2071" dirty="0"/>
              </a:p>
            </p:txBody>
          </p:sp>
        </mc:Fallback>
      </mc:AlternateContent>
      <p:sp>
        <p:nvSpPr>
          <p:cNvPr id="13" name="Obj [o292]"/>
          <p:cNvSpPr txBox="1"/>
          <p:nvPr/>
        </p:nvSpPr>
        <p:spPr>
          <a:xfrm>
            <a:off x="4775752" y="2469775"/>
            <a:ext cx="2509133" cy="1824824"/>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Alta frecuencia: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λ</m:t>
                    </m:r>
                  </m:oMath>
                </a14:m>
              </mc:Choice>
              <mc:Fallback>
                <a:r>
                  <a:rPr lang="en-US" sz="1380" dirty="0">
                    <a:solidFill>
                      <a:srgbClr val="2D2D2D"/>
                    </a:solidFill>
                    <a:latin typeface="Arial" pitchFamily="34" charset="0"/>
                    <a:ea typeface="Arial" pitchFamily="34" charset="-122"/>
                    <a:cs typeface="Arial" pitchFamily="34" charset="-120"/>
                  </a:rPr>
                  <a:t>λ</a:t>
                </a:r>
              </mc:Fallback>
            </mc:AlternateContent>
            <a:r>
              <a:rPr lang="en-US" sz="1380" dirty="0">
                <a:solidFill>
                  <a:srgbClr val="2D2D2D"/>
                </a:solidFill>
                <a:latin typeface="Arial" pitchFamily="34" charset="0"/>
                <a:ea typeface="Arial" pitchFamily="34" charset="-122"/>
                <a:cs typeface="Arial" pitchFamily="34" charset="-120"/>
              </a:rPr>
              <a:t> corta, el movimiento queda en las capas superiores</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Baja frecuencia: </a:t>
            </a:r>
            <mc:AlternateContent xmlns:mc="http://schemas.openxmlformats.org/markup-compatibility/2006">
              <mc:Choice xmlns:a14="http://schemas.microsoft.com/office/drawing/2010/main" Requires="a14">
                <a14:m>
                  <m:oMath xmlns:m="http://schemas.openxmlformats.org/officeDocument/2006/math">
                    <m:r>
                      <a:rPr lang="es-ES" sz="1380" i="1">
                        <a:solidFill>
                          <a:srgbClr val="2D2D2D"/>
                        </a:solidFill>
                        <a:latin typeface="Cambria Math" panose="02040503050406030204" pitchFamily="18" charset="0"/>
                      </a:rPr>
                      <m:t xml:space="preserve">λ</m:t>
                    </m:r>
                  </m:oMath>
                </a14:m>
              </mc:Choice>
              <mc:Fallback>
                <a:r>
                  <a:rPr lang="en-US" sz="1380" dirty="0">
                    <a:solidFill>
                      <a:srgbClr val="2D2D2D"/>
                    </a:solidFill>
                    <a:latin typeface="Arial" pitchFamily="34" charset="0"/>
                    <a:ea typeface="Arial" pitchFamily="34" charset="-122"/>
                    <a:cs typeface="Arial" pitchFamily="34" charset="-120"/>
                  </a:rPr>
                  <a:t>λ</a:t>
                </a:r>
              </mc:Fallback>
            </mc:AlternateContent>
            <a:r>
              <a:rPr lang="en-US" sz="1380" dirty="0">
                <a:solidFill>
                  <a:srgbClr val="2D2D2D"/>
                </a:solidFill>
                <a:latin typeface="Arial" pitchFamily="34" charset="0"/>
                <a:ea typeface="Arial" pitchFamily="34" charset="-122"/>
                <a:cs typeface="Arial" pitchFamily="34" charset="-120"/>
              </a:rPr>
              <a:t> larga, el movimiento llega a capas más profundas</a:t>
            </a:r>
            <a:endParaRPr lang="en-US" sz="1380" dirty="0"/>
          </a:p>
        </p:txBody>
      </p:sp>
      <p:sp>
        <p:nvSpPr>
          <p:cNvPr id="14" name="Obj [o29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disba (Luu, 2021), modelo de la slide 39. Idea: Foti et al. (2014), fig. 2.13 (por confirmar).</a:t>
            </a:r>
            <a:endParaRPr lang="en-US" sz="800" dirty="0"/>
          </a:p>
        </p:txBody>
      </p:sp>
      <p:sp>
        <p:nvSpPr>
          <p:cNvPr id="15" name="Obj [o29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1400" dirty="0"/>
          </a:p>
        </p:txBody>
      </p:sp>
      <p:graphicFrame>
        <p:nvGraphicFramePr>
          <p:cNvPr id="16" name="Obj [o295]" descr=""/>
          <p:cNvGraphicFramePr/>
          <p:nvPr/>
        </p:nvGraphicFramePr>
        <p:xfrm>
          <a:off x="441794" y="1633397"/>
          <a:ext cx="4333958" cy="2661202"/>
        </p:xfrm>
        <a:graphic xmlns:a="http://schemas.openxmlformats.org/drawingml/2006/main">
          <a:graphicData uri="http://schemas.openxmlformats.org/drawingml/2006/chart">
            <c:chart xmlns:c="http://schemas.openxmlformats.org/drawingml/2006/chart" r:id="rId3"/>
          </a:graphicData>
        </a:graphic>
      </p:graphicFrame>
      <p:sp>
        <p:nvSpPr>
          <p:cNvPr id="17" name="Obj [o296]"/>
          <p:cNvSpPr txBox="1"/>
          <p:nvPr/>
        </p:nvSpPr>
        <p:spPr>
          <a:xfrm>
            <a:off x="4927821" y="1709431"/>
            <a:ext cx="2357065" cy="2585168"/>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Este fenómeno se llama dispersión</a:t>
            </a:r>
            <a:endParaRPr lang="en-US" sz="1380" dirty="0"/>
          </a:p>
        </p:txBody>
      </p:sp>
      <p:sp>
        <p:nvSpPr>
          <p:cNvPr id="18" name="Obj [o29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disba (Luu, 2021), modelo de la slide 39.</a:t>
            </a:r>
            <a:endParaRPr lang="en-US" sz="800" dirty="0"/>
          </a:p>
        </p:txBody>
      </p:sp>
      <p:sp>
        <p:nvSpPr>
          <p:cNvPr id="19" name="Obj [o29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dispersión permite reconstruir un modelo estratificado compatible con las mediciones de campo</a:t>
            </a:r>
            <a:endParaRPr lang="en-US" sz="1400" dirty="0"/>
          </a:p>
        </p:txBody>
      </p:sp>
      <p:sp>
        <p:nvSpPr>
          <p:cNvPr id="20" name="Obj [o299]"/>
          <p:cNvSpPr/>
          <p:nvPr/>
        </p:nvSpPr>
        <p:spPr>
          <a:xfrm>
            <a:off x="441794" y="1709431"/>
            <a:ext cx="1520687" cy="722326"/>
          </a:xfrm>
          <a:prstGeom prst="roundRect">
            <a:avLst>
              <a:gd name="adj" fmla="val 10127"/>
            </a:avLst>
          </a:prstGeom>
          <a:solidFill>
            <a:srgbClr val="2E75B6"/>
          </a:solidFill>
          <a:ln w="6350">
            <a:solidFill>
              <a:srgbClr val="2E75B6"/>
            </a:solidFill>
            <a:prstDash val="solid"/>
          </a:ln>
        </p:spPr>
      </p:sp>
      <p:sp>
        <p:nvSpPr>
          <p:cNvPr id="21" name="Obj [o300]"/>
          <p:cNvSpPr txBox="1"/>
          <p:nvPr/>
        </p:nvSpPr>
        <p:spPr>
          <a:xfrm>
            <a:off x="441794" y="1709431"/>
            <a:ext cx="1520687"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Registros de campo</a:t>
            </a:r>
            <a:endParaRPr lang="en-US" sz="1380" dirty="0"/>
          </a:p>
        </p:txBody>
      </p:sp>
      <p:sp>
        <p:nvSpPr>
          <p:cNvPr id="22" name="Obj [o301]"/>
          <p:cNvSpPr/>
          <p:nvPr/>
        </p:nvSpPr>
        <p:spPr>
          <a:xfrm>
            <a:off x="2342653" y="1709431"/>
            <a:ext cx="1824824" cy="722326"/>
          </a:xfrm>
          <a:prstGeom prst="roundRect">
            <a:avLst>
              <a:gd name="adj" fmla="val 10127"/>
            </a:avLst>
          </a:prstGeom>
          <a:solidFill>
            <a:srgbClr val="2E75B6"/>
          </a:solidFill>
          <a:ln w="6350">
            <a:solidFill>
              <a:srgbClr val="2E75B6"/>
            </a:solidFill>
            <a:prstDash val="solid"/>
          </a:ln>
        </p:spPr>
      </p:sp>
      <p:sp>
        <p:nvSpPr>
          <p:cNvPr id="23" name="Obj [o302]"/>
          <p:cNvSpPr txBox="1"/>
          <p:nvPr/>
        </p:nvSpPr>
        <p:spPr>
          <a:xfrm>
            <a:off x="2342653" y="1709431"/>
            <a:ext cx="1824824"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Curva de dispersión experimental</a:t>
            </a:r>
            <a:endParaRPr lang="en-US" sz="1380" dirty="0"/>
          </a:p>
        </p:txBody>
      </p:sp>
      <p:sp>
        <p:nvSpPr>
          <p:cNvPr id="24" name="Obj [o303]"/>
          <p:cNvSpPr/>
          <p:nvPr/>
        </p:nvSpPr>
        <p:spPr>
          <a:xfrm>
            <a:off x="4547649" y="1709431"/>
            <a:ext cx="1292584" cy="722326"/>
          </a:xfrm>
          <a:prstGeom prst="roundRect">
            <a:avLst>
              <a:gd name="adj" fmla="val 10127"/>
            </a:avLst>
          </a:prstGeom>
          <a:solidFill>
            <a:srgbClr val="1F4E79"/>
          </a:solidFill>
          <a:ln w="6350">
            <a:solidFill>
              <a:srgbClr val="1F4E79"/>
            </a:solidFill>
            <a:prstDash val="solid"/>
          </a:ln>
        </p:spPr>
      </p:sp>
      <p:sp>
        <p:nvSpPr>
          <p:cNvPr id="25" name="Obj [o304]"/>
          <p:cNvSpPr txBox="1"/>
          <p:nvPr/>
        </p:nvSpPr>
        <p:spPr>
          <a:xfrm>
            <a:off x="4547649" y="1709431"/>
            <a:ext cx="1292584"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Comparar</a:t>
            </a:r>
            <a:endParaRPr lang="en-US" sz="1380" dirty="0"/>
          </a:p>
        </p:txBody>
      </p:sp>
      <p:sp>
        <p:nvSpPr>
          <p:cNvPr id="26" name="Obj [o305]"/>
          <p:cNvSpPr/>
          <p:nvPr/>
        </p:nvSpPr>
        <p:spPr>
          <a:xfrm>
            <a:off x="6144370" y="1709431"/>
            <a:ext cx="1140515" cy="722326"/>
          </a:xfrm>
          <a:prstGeom prst="roundRect">
            <a:avLst>
              <a:gd name="adj" fmla="val 10127"/>
            </a:avLst>
          </a:prstGeom>
          <a:solidFill>
            <a:srgbClr val="C55A11"/>
          </a:solidFill>
          <a:ln w="6350">
            <a:solidFill>
              <a:srgbClr val="C55A11"/>
            </a:solidFill>
            <a:prstDash val="solid"/>
          </a:ln>
        </p:spPr>
      </p:sp>
      <p:sp>
        <p:nvSpPr>
          <p:cNvPr id="27" name="Obj [o306]"/>
          <p:cNvSpPr txBox="1"/>
          <p:nvPr/>
        </p:nvSpPr>
        <p:spPr>
          <a:xfrm>
            <a:off x="6144370" y="1709431"/>
            <a:ext cx="1140515"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Perfil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FFFFFF"/>
                            </a:solidFill>
                            <a:latin typeface="Cambria Math" panose="02040503050406030204" pitchFamily="18" charset="0"/>
                          </a:rPr>
                          <m:t xml:space="preserve">V</m:t>
                        </m:r>
                      </m:e>
                      <m:sub>
                        <m:r>
                          <a:rPr lang="es-ES" sz="1380" i="1">
                            <a:solidFill>
                              <a:srgbClr val="FFFFFF"/>
                            </a:solidFill>
                            <a:latin typeface="Cambria Math" panose="02040503050406030204" pitchFamily="18" charset="0"/>
                          </a:rPr>
                          <m:t xml:space="preserve">s</m:t>
                        </m:r>
                      </m:sub>
                    </m:sSub>
                  </m:oMath>
                </a14:m>
              </mc:Choice>
              <mc:Fallback>
                <a:r>
                  <a:rPr lang="en-US" sz="1380" b="1" dirty="0">
                    <a:solidFill>
                      <a:srgbClr val="FFFFFF"/>
                    </a:solidFill>
                    <a:latin typeface="Arial" pitchFamily="34" charset="0"/>
                    <a:ea typeface="Arial" pitchFamily="34" charset="-122"/>
                    <a:cs typeface="Arial" pitchFamily="34" charset="-120"/>
                  </a:rPr>
                  <a:t>Vs</a:t>
                </a:r>
              </mc:Fallback>
            </mc:AlternateContent>
            <a:r>
              <a:rPr lang="en-US" sz="1380" b="1" dirty="0">
                <a:solidFill>
                  <a:srgbClr val="FFFFFF"/>
                </a:solidFill>
                <a:latin typeface="Arial" pitchFamily="34" charset="0"/>
                <a:ea typeface="Arial" pitchFamily="34" charset="-122"/>
                <a:cs typeface="Arial" pitchFamily="34" charset="-120"/>
              </a:rPr>
              <a:t>(z)</a:t>
            </a:r>
            <a:endParaRPr lang="en-US" sz="1380" dirty="0"/>
          </a:p>
        </p:txBody>
      </p:sp>
      <p:sp>
        <p:nvSpPr>
          <p:cNvPr id="28" name="Obj [o307]"/>
          <p:cNvSpPr/>
          <p:nvPr/>
        </p:nvSpPr>
        <p:spPr>
          <a:xfrm>
            <a:off x="1962481" y="2070594"/>
            <a:ext cx="380172" cy="0"/>
          </a:xfrm>
          <a:prstGeom prst="line">
            <a:avLst/>
          </a:prstGeom>
          <a:noFill/>
          <a:ln w="26401">
            <a:solidFill>
              <a:srgbClr val="1F4E79"/>
            </a:solidFill>
            <a:prstDash val="solid"/>
            <a:tailEnd type="triangle"/>
          </a:ln>
        </p:spPr>
      </p:sp>
      <p:sp>
        <p:nvSpPr>
          <p:cNvPr id="29" name="Obj [o308]"/>
          <p:cNvSpPr/>
          <p:nvPr/>
        </p:nvSpPr>
        <p:spPr>
          <a:xfrm>
            <a:off x="4167477" y="2070594"/>
            <a:ext cx="380172" cy="0"/>
          </a:xfrm>
          <a:prstGeom prst="line">
            <a:avLst/>
          </a:prstGeom>
          <a:noFill/>
          <a:ln w="26401">
            <a:solidFill>
              <a:srgbClr val="1F4E79"/>
            </a:solidFill>
            <a:prstDash val="solid"/>
            <a:tailEnd type="triangle"/>
          </a:ln>
        </p:spPr>
      </p:sp>
      <p:sp>
        <p:nvSpPr>
          <p:cNvPr id="30" name="Obj [o309]"/>
          <p:cNvSpPr/>
          <p:nvPr/>
        </p:nvSpPr>
        <p:spPr>
          <a:xfrm>
            <a:off x="5840233" y="2070594"/>
            <a:ext cx="304137" cy="0"/>
          </a:xfrm>
          <a:prstGeom prst="line">
            <a:avLst/>
          </a:prstGeom>
          <a:noFill/>
          <a:ln w="26401">
            <a:solidFill>
              <a:srgbClr val="C55A11"/>
            </a:solidFill>
            <a:prstDash val="solid"/>
            <a:tailEnd type="triangle"/>
          </a:ln>
        </p:spPr>
      </p:sp>
      <p:sp>
        <p:nvSpPr>
          <p:cNvPr id="31" name="Obj [o310]"/>
          <p:cNvSpPr txBox="1"/>
          <p:nvPr/>
        </p:nvSpPr>
        <p:spPr>
          <a:xfrm>
            <a:off x="5726182" y="1443311"/>
            <a:ext cx="912412" cy="228103"/>
          </a:xfrm>
          <a:prstGeom prst="rect">
            <a:avLst/>
          </a:prstGeom>
          <a:noFill/>
          <a:ln/>
        </p:spPr>
        <p:txBody>
          <a:bodyPr wrap="square" lIns="0" tIns="0" rIns="0" bIns="0" rtlCol="0" anchor="t"/>
          <a:lstStyle/>
          <a:p>
            <a:pPr algn="ctr" indent="0" marL="0">
              <a:buNone/>
            </a:pPr>
            <a:r>
              <a:rPr lang="en-US" sz="1208" dirty="0">
                <a:solidFill>
                  <a:srgbClr val="C55A11"/>
                </a:solidFill>
                <a:latin typeface="Arial" pitchFamily="34" charset="0"/>
                <a:ea typeface="Arial" pitchFamily="34" charset="-122"/>
                <a:cs typeface="Arial" pitchFamily="34" charset="-120"/>
              </a:rPr>
              <a:t>coinciden</a:t>
            </a:r>
            <a:endParaRPr lang="en-US" sz="1208" dirty="0"/>
          </a:p>
        </p:txBody>
      </p:sp>
      <p:sp>
        <p:nvSpPr>
          <p:cNvPr id="32" name="Obj [o311]"/>
          <p:cNvSpPr/>
          <p:nvPr/>
        </p:nvSpPr>
        <p:spPr>
          <a:xfrm>
            <a:off x="441794" y="3040032"/>
            <a:ext cx="1520687" cy="722326"/>
          </a:xfrm>
          <a:prstGeom prst="roundRect">
            <a:avLst>
              <a:gd name="adj" fmla="val 10127"/>
            </a:avLst>
          </a:prstGeom>
          <a:solidFill>
            <a:srgbClr val="6B6B6B"/>
          </a:solidFill>
          <a:ln w="6350">
            <a:solidFill>
              <a:srgbClr val="6B6B6B"/>
            </a:solidFill>
            <a:prstDash val="solid"/>
          </a:ln>
        </p:spPr>
      </p:sp>
      <p:sp>
        <p:nvSpPr>
          <p:cNvPr id="33" name="Obj [o312]"/>
          <p:cNvSpPr txBox="1"/>
          <p:nvPr/>
        </p:nvSpPr>
        <p:spPr>
          <a:xfrm>
            <a:off x="441794" y="3040032"/>
            <a:ext cx="1520687"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Modelo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FFFFFF"/>
                            </a:solidFill>
                            <a:latin typeface="Cambria Math" panose="02040503050406030204" pitchFamily="18" charset="0"/>
                          </a:rPr>
                          <m:t xml:space="preserve">V</m:t>
                        </m:r>
                      </m:e>
                      <m:sub>
                        <m:r>
                          <a:rPr lang="es-ES" sz="1380" i="1">
                            <a:solidFill>
                              <a:srgbClr val="FFFFFF"/>
                            </a:solidFill>
                            <a:latin typeface="Cambria Math" panose="02040503050406030204" pitchFamily="18" charset="0"/>
                          </a:rPr>
                          <m:t xml:space="preserve">s</m:t>
                        </m:r>
                      </m:sub>
                    </m:sSub>
                  </m:oMath>
                </a14:m>
              </mc:Choice>
              <mc:Fallback>
                <a:r>
                  <a:rPr lang="en-US" sz="1380" b="1" dirty="0">
                    <a:solidFill>
                      <a:srgbClr val="FFFFFF"/>
                    </a:solidFill>
                    <a:latin typeface="Arial" pitchFamily="34" charset="0"/>
                    <a:ea typeface="Arial" pitchFamily="34" charset="-122"/>
                    <a:cs typeface="Arial" pitchFamily="34" charset="-120"/>
                  </a:rPr>
                  <a:t>Vs</a:t>
                </a:r>
              </mc:Fallback>
            </mc:AlternateContent>
            <a:r>
              <a:rPr lang="en-US" sz="1380" b="1" dirty="0">
                <a:solidFill>
                  <a:srgbClr val="FFFFFF"/>
                </a:solidFill>
                <a:latin typeface="Arial" pitchFamily="34" charset="0"/>
                <a:ea typeface="Arial" pitchFamily="34" charset="-122"/>
                <a:cs typeface="Arial" pitchFamily="34" charset="-120"/>
              </a:rPr>
              <a:t>(z) propuesto</a:t>
            </a:r>
            <a:endParaRPr lang="en-US" sz="1380" dirty="0"/>
          </a:p>
        </p:txBody>
      </p:sp>
      <p:sp>
        <p:nvSpPr>
          <p:cNvPr id="34" name="Obj [o313]"/>
          <p:cNvSpPr/>
          <p:nvPr/>
        </p:nvSpPr>
        <p:spPr>
          <a:xfrm>
            <a:off x="2342653" y="3040032"/>
            <a:ext cx="1824824" cy="722326"/>
          </a:xfrm>
          <a:prstGeom prst="roundRect">
            <a:avLst>
              <a:gd name="adj" fmla="val 10127"/>
            </a:avLst>
          </a:prstGeom>
          <a:solidFill>
            <a:srgbClr val="6B6B6B"/>
          </a:solidFill>
          <a:ln w="6350">
            <a:solidFill>
              <a:srgbClr val="6B6B6B"/>
            </a:solidFill>
            <a:prstDash val="solid"/>
          </a:ln>
        </p:spPr>
      </p:sp>
      <p:sp>
        <p:nvSpPr>
          <p:cNvPr id="35" name="Obj [o314]"/>
          <p:cNvSpPr txBox="1"/>
          <p:nvPr/>
        </p:nvSpPr>
        <p:spPr>
          <a:xfrm>
            <a:off x="2342653" y="3040032"/>
            <a:ext cx="1824824"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Curva teórica del modelo</a:t>
            </a:r>
            <a:endParaRPr lang="en-US" sz="1380" dirty="0"/>
          </a:p>
        </p:txBody>
      </p:sp>
      <p:sp>
        <p:nvSpPr>
          <p:cNvPr id="36" name="Obj [o315]"/>
          <p:cNvSpPr/>
          <p:nvPr/>
        </p:nvSpPr>
        <p:spPr>
          <a:xfrm>
            <a:off x="1962481" y="3401195"/>
            <a:ext cx="380172" cy="0"/>
          </a:xfrm>
          <a:prstGeom prst="line">
            <a:avLst/>
          </a:prstGeom>
          <a:noFill/>
          <a:ln w="26401">
            <a:solidFill>
              <a:srgbClr val="6B6B6B"/>
            </a:solidFill>
            <a:prstDash val="solid"/>
            <a:tailEnd type="triangle"/>
          </a:ln>
        </p:spPr>
      </p:sp>
      <p:sp>
        <p:nvSpPr>
          <p:cNvPr id="37" name="Obj [o316]"/>
          <p:cNvSpPr/>
          <p:nvPr/>
        </p:nvSpPr>
        <p:spPr>
          <a:xfrm>
            <a:off x="4167477" y="3401195"/>
            <a:ext cx="532240" cy="0"/>
          </a:xfrm>
          <a:prstGeom prst="line">
            <a:avLst/>
          </a:prstGeom>
          <a:noFill/>
          <a:ln w="26401">
            <a:solidFill>
              <a:srgbClr val="6B6B6B"/>
            </a:solidFill>
            <a:prstDash val="solid"/>
          </a:ln>
        </p:spPr>
      </p:sp>
      <p:sp>
        <p:nvSpPr>
          <p:cNvPr id="38" name="Obj [o317]"/>
          <p:cNvSpPr/>
          <p:nvPr/>
        </p:nvSpPr>
        <p:spPr>
          <a:xfrm flipV="1">
            <a:off x="4699718" y="2431757"/>
            <a:ext cx="0" cy="969438"/>
          </a:xfrm>
          <a:prstGeom prst="line">
            <a:avLst/>
          </a:prstGeom>
          <a:noFill/>
          <a:ln w="26401">
            <a:solidFill>
              <a:srgbClr val="6B6B6B"/>
            </a:solidFill>
            <a:prstDash val="solid"/>
            <a:tailEnd type="triangle"/>
          </a:ln>
        </p:spPr>
      </p:sp>
      <p:sp>
        <p:nvSpPr>
          <p:cNvPr id="39" name="Obj [o318]"/>
          <p:cNvSpPr txBox="1"/>
          <p:nvPr/>
        </p:nvSpPr>
        <p:spPr>
          <a:xfrm>
            <a:off x="1202138" y="4142530"/>
            <a:ext cx="4409992" cy="228103"/>
          </a:xfrm>
          <a:prstGeom prst="rect">
            <a:avLst/>
          </a:prstGeom>
          <a:noFill/>
          <a:ln/>
        </p:spPr>
        <p:txBody>
          <a:bodyPr wrap="square" lIns="0" tIns="0" rIns="0" bIns="0" rtlCol="0" anchor="t"/>
          <a:lstStyle/>
          <a:p>
            <a:pPr algn="ctr" indent="0" marL="0">
              <a:buNone/>
            </a:pPr>
            <a:r>
              <a:rPr lang="en-US" sz="1380" b="1" dirty="0">
                <a:solidFill>
                  <a:srgbClr val="C55A11"/>
                </a:solidFill>
                <a:latin typeface="Arial" pitchFamily="34" charset="0"/>
                <a:ea typeface="Arial" pitchFamily="34" charset="-122"/>
                <a:cs typeface="Arial" pitchFamily="34" charset="-120"/>
              </a:rPr>
              <a:t>No coinciden: se modifica </a:t>
            </a:r>
            <mc:AlternateContent xmlns:mc="http://schemas.openxmlformats.org/markup-compatibility/2006">
              <mc:Choice xmlns:a14="http://schemas.microsoft.com/office/drawing/2010/main" Requires="a14">
                <a14:m>
                  <m:oMath xmlns:m="http://schemas.openxmlformats.org/officeDocument/2006/math">
                    <m:sSub>
                      <m:sSubPr>
                        <m:ctrlPr>
                          <a:rPr lang="es-ES" sz="1380" i="1">
                            <a:latin typeface="Cambria Math" panose="02040503050406030204" pitchFamily="18" charset="0"/>
                          </a:rPr>
                        </m:ctrlPr>
                      </m:sSubPr>
                      <m:e>
                        <m:r>
                          <a:rPr lang="es-ES" sz="1380" i="1">
                            <a:solidFill>
                              <a:srgbClr val="C55A11"/>
                            </a:solidFill>
                            <a:latin typeface="Cambria Math" panose="02040503050406030204" pitchFamily="18" charset="0"/>
                          </a:rPr>
                          <m:t xml:space="preserve">V</m:t>
                        </m:r>
                      </m:e>
                      <m:sub>
                        <m:r>
                          <a:rPr lang="es-ES" sz="1380" i="1">
                            <a:solidFill>
                              <a:srgbClr val="C55A11"/>
                            </a:solidFill>
                            <a:latin typeface="Cambria Math" panose="02040503050406030204" pitchFamily="18" charset="0"/>
                          </a:rPr>
                          <m:t xml:space="preserve">s</m:t>
                        </m:r>
                      </m:sub>
                    </m:sSub>
                  </m:oMath>
                </a14:m>
              </mc:Choice>
              <mc:Fallback>
                <a:r>
                  <a:rPr lang="en-US" sz="1380" b="1" dirty="0">
                    <a:solidFill>
                      <a:srgbClr val="C55A11"/>
                    </a:solidFill>
                    <a:latin typeface="Arial" pitchFamily="34" charset="0"/>
                    <a:ea typeface="Arial" pitchFamily="34" charset="-122"/>
                    <a:cs typeface="Arial" pitchFamily="34" charset="-120"/>
                  </a:rPr>
                  <a:t>Vs</a:t>
                </a:r>
              </mc:Fallback>
            </mc:AlternateContent>
            <a:r>
              <a:rPr lang="en-US" sz="1380" b="1" dirty="0">
                <a:solidFill>
                  <a:srgbClr val="C55A11"/>
                </a:solidFill>
                <a:latin typeface="Arial" pitchFamily="34" charset="0"/>
                <a:ea typeface="Arial" pitchFamily="34" charset="-122"/>
                <a:cs typeface="Arial" pitchFamily="34" charset="-120"/>
              </a:rPr>
              <a:t>(z)</a:t>
            </a:r>
            <a:endParaRPr lang="en-US" sz="1380" dirty="0"/>
          </a:p>
        </p:txBody>
      </p:sp>
      <p:sp>
        <p:nvSpPr>
          <p:cNvPr id="40" name="Obj [o319]"/>
          <p:cNvSpPr/>
          <p:nvPr/>
        </p:nvSpPr>
        <p:spPr>
          <a:xfrm>
            <a:off x="5612130" y="2431757"/>
            <a:ext cx="0" cy="1672756"/>
          </a:xfrm>
          <a:prstGeom prst="line">
            <a:avLst/>
          </a:prstGeom>
          <a:noFill/>
          <a:ln w="26401">
            <a:solidFill>
              <a:srgbClr val="C55A11"/>
            </a:solidFill>
            <a:prstDash val="solid"/>
          </a:ln>
        </p:spPr>
      </p:sp>
      <p:sp>
        <p:nvSpPr>
          <p:cNvPr id="41" name="Obj [o320]"/>
          <p:cNvSpPr/>
          <p:nvPr/>
        </p:nvSpPr>
        <p:spPr>
          <a:xfrm>
            <a:off x="1202138" y="4104513"/>
            <a:ext cx="4409992" cy="0"/>
          </a:xfrm>
          <a:prstGeom prst="line">
            <a:avLst/>
          </a:prstGeom>
          <a:noFill/>
          <a:ln w="26401">
            <a:solidFill>
              <a:srgbClr val="C55A11"/>
            </a:solidFill>
            <a:prstDash val="solid"/>
          </a:ln>
        </p:spPr>
      </p:sp>
      <p:sp>
        <p:nvSpPr>
          <p:cNvPr id="42" name="Obj [o321]"/>
          <p:cNvSpPr/>
          <p:nvPr/>
        </p:nvSpPr>
        <p:spPr>
          <a:xfrm>
            <a:off x="1202138" y="3762358"/>
            <a:ext cx="0" cy="342155"/>
          </a:xfrm>
          <a:prstGeom prst="line">
            <a:avLst/>
          </a:prstGeom>
          <a:noFill/>
          <a:ln w="26401">
            <a:solidFill>
              <a:srgbClr val="C55A11"/>
            </a:solidFill>
            <a:prstDash val="solid"/>
            <a:headEnd type="triangle"/>
          </a:ln>
        </p:spPr>
      </p:sp>
      <p:sp>
        <p:nvSpPr>
          <p:cNvPr id="43" name="Obj [o32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el procedimiento general de inversión (Foti et al., 2014, a confirmar).</a:t>
            </a:r>
            <a:endParaRPr lang="en-US" sz="800" dirty="0"/>
          </a:p>
        </p:txBody>
      </p:sp>
      <p:sp>
        <p:nvSpPr>
          <p:cNvPr id="44" name="Obj [o32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inversión tiene límites: depende de supuestos y se apoya en otras mediciones</a:t>
            </a:r>
            <a:endParaRPr lang="en-US" sz="1400" dirty="0"/>
          </a:p>
        </p:txBody>
      </p:sp>
      <p:sp>
        <p:nvSpPr>
          <p:cNvPr id="45" name="Obj [o324]"/>
          <p:cNvSpPr/>
          <p:nvPr/>
        </p:nvSpPr>
        <p:spPr>
          <a:xfrm>
            <a:off x="441794" y="1671414"/>
            <a:ext cx="3345511" cy="380172"/>
          </a:xfrm>
          <a:prstGeom prst="rect">
            <a:avLst/>
          </a:prstGeom>
          <a:solidFill>
            <a:srgbClr val="1F4E79"/>
          </a:solidFill>
          <a:ln w="6350">
            <a:solidFill>
              <a:srgbClr val="1F4E79"/>
            </a:solidFill>
            <a:prstDash val="solid"/>
          </a:ln>
        </p:spPr>
      </p:sp>
      <p:sp>
        <p:nvSpPr>
          <p:cNvPr id="46" name="Obj [o325]"/>
          <p:cNvSpPr txBox="1"/>
          <p:nvPr/>
        </p:nvSpPr>
        <p:spPr>
          <a:xfrm>
            <a:off x="441794" y="1671414"/>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Capas profundas</a:t>
            </a:r>
            <a:endParaRPr lang="en-US" sz="1726" dirty="0"/>
          </a:p>
        </p:txBody>
      </p:sp>
      <p:sp>
        <p:nvSpPr>
          <p:cNvPr id="47" name="Obj [o326]"/>
          <p:cNvSpPr/>
          <p:nvPr/>
        </p:nvSpPr>
        <p:spPr>
          <a:xfrm>
            <a:off x="441794" y="2051586"/>
            <a:ext cx="3345511" cy="760343"/>
          </a:xfrm>
          <a:prstGeom prst="rect">
            <a:avLst/>
          </a:prstGeom>
          <a:solidFill>
            <a:srgbClr val="FFFFFF"/>
          </a:solidFill>
          <a:ln w="15840">
            <a:solidFill>
              <a:srgbClr val="1F4E79"/>
            </a:solidFill>
            <a:prstDash val="solid"/>
          </a:ln>
        </p:spPr>
      </p:sp>
      <p:sp>
        <p:nvSpPr>
          <p:cNvPr id="48" name="Obj [o327]"/>
          <p:cNvSpPr txBox="1"/>
          <p:nvPr/>
        </p:nvSpPr>
        <p:spPr>
          <a:xfrm>
            <a:off x="555846" y="2089603"/>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Dependen de las bajas frecuencias y se resuelven peor</a:t>
            </a:r>
            <a:endParaRPr lang="en-US" sz="1553" dirty="0"/>
          </a:p>
        </p:txBody>
      </p:sp>
      <p:sp>
        <p:nvSpPr>
          <p:cNvPr id="49" name="Obj [o328]"/>
          <p:cNvSpPr/>
          <p:nvPr/>
        </p:nvSpPr>
        <p:spPr>
          <a:xfrm>
            <a:off x="3939374" y="1671414"/>
            <a:ext cx="3345511" cy="380172"/>
          </a:xfrm>
          <a:prstGeom prst="rect">
            <a:avLst/>
          </a:prstGeom>
          <a:solidFill>
            <a:srgbClr val="1F4E79"/>
          </a:solidFill>
          <a:ln w="6350">
            <a:solidFill>
              <a:srgbClr val="1F4E79"/>
            </a:solidFill>
            <a:prstDash val="solid"/>
          </a:ln>
        </p:spPr>
      </p:sp>
      <p:sp>
        <p:nvSpPr>
          <p:cNvPr id="50" name="Obj [o329]"/>
          <p:cNvSpPr txBox="1"/>
          <p:nvPr/>
        </p:nvSpPr>
        <p:spPr>
          <a:xfrm>
            <a:off x="3939374" y="1671414"/>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Supuestos</a:t>
            </a:r>
            <a:endParaRPr lang="en-US" sz="1726" dirty="0"/>
          </a:p>
        </p:txBody>
      </p:sp>
      <p:sp>
        <p:nvSpPr>
          <p:cNvPr id="51" name="Obj [o330]"/>
          <p:cNvSpPr/>
          <p:nvPr/>
        </p:nvSpPr>
        <p:spPr>
          <a:xfrm>
            <a:off x="3939374" y="2051586"/>
            <a:ext cx="3345511" cy="760343"/>
          </a:xfrm>
          <a:prstGeom prst="rect">
            <a:avLst/>
          </a:prstGeom>
          <a:solidFill>
            <a:srgbClr val="FFFFFF"/>
          </a:solidFill>
          <a:ln w="15840">
            <a:solidFill>
              <a:srgbClr val="1F4E79"/>
            </a:solidFill>
            <a:prstDash val="solid"/>
          </a:ln>
        </p:spPr>
      </p:sp>
      <p:sp>
        <p:nvSpPr>
          <p:cNvPr id="52" name="Obj [o331]"/>
          <p:cNvSpPr txBox="1"/>
          <p:nvPr/>
        </p:nvSpPr>
        <p:spPr>
          <a:xfrm>
            <a:off x="4053426" y="2089603"/>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Densidad </a:t>
            </a: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ρ</m:t>
                    </m:r>
                  </m:oMath>
                </a14:m>
              </mc:Choice>
              <mc:Fallback>
                <a:r>
                  <a:rPr lang="en-US" sz="1553" dirty="0">
                    <a:solidFill>
                      <a:srgbClr val="2D2D2D"/>
                    </a:solidFill>
                    <a:latin typeface="Arial" pitchFamily="34" charset="0"/>
                    <a:ea typeface="Arial" pitchFamily="34" charset="-122"/>
                    <a:cs typeface="Arial" pitchFamily="34" charset="-120"/>
                  </a:rPr>
                  <a:t>ρ</a:t>
                </a:r>
              </mc:Fallback>
            </mc:AlternateContent>
            <a:r>
              <a:rPr lang="en-US" sz="1553" dirty="0">
                <a:solidFill>
                  <a:srgbClr val="2D2D2D"/>
                </a:solidFill>
                <a:latin typeface="Arial" pitchFamily="34" charset="0"/>
                <a:ea typeface="Arial" pitchFamily="34" charset="-122"/>
                <a:cs typeface="Arial" pitchFamily="34" charset="-120"/>
              </a:rPr>
              <a:t>, número de capas y modelo inicial se suponen</a:t>
            </a:r>
            <a:endParaRPr lang="en-US" sz="1553" dirty="0"/>
          </a:p>
        </p:txBody>
      </p:sp>
      <p:sp>
        <p:nvSpPr>
          <p:cNvPr id="53" name="Obj [o332]"/>
          <p:cNvSpPr/>
          <p:nvPr/>
        </p:nvSpPr>
        <p:spPr>
          <a:xfrm>
            <a:off x="441794" y="2963998"/>
            <a:ext cx="3345511" cy="380172"/>
          </a:xfrm>
          <a:prstGeom prst="rect">
            <a:avLst/>
          </a:prstGeom>
          <a:solidFill>
            <a:srgbClr val="1F4E79"/>
          </a:solidFill>
          <a:ln w="6350">
            <a:solidFill>
              <a:srgbClr val="1F4E79"/>
            </a:solidFill>
            <a:prstDash val="solid"/>
          </a:ln>
        </p:spPr>
      </p:sp>
      <p:sp>
        <p:nvSpPr>
          <p:cNvPr id="54" name="Obj [o333]"/>
          <p:cNvSpPr txBox="1"/>
          <p:nvPr/>
        </p:nvSpPr>
        <p:spPr>
          <a:xfrm>
            <a:off x="441794" y="2963998"/>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No unicidad</a:t>
            </a:r>
            <a:endParaRPr lang="en-US" sz="1726" dirty="0"/>
          </a:p>
        </p:txBody>
      </p:sp>
      <p:sp>
        <p:nvSpPr>
          <p:cNvPr id="55" name="Obj [o334]"/>
          <p:cNvSpPr/>
          <p:nvPr/>
        </p:nvSpPr>
        <p:spPr>
          <a:xfrm>
            <a:off x="441794" y="3344170"/>
            <a:ext cx="3345511" cy="760343"/>
          </a:xfrm>
          <a:prstGeom prst="rect">
            <a:avLst/>
          </a:prstGeom>
          <a:solidFill>
            <a:srgbClr val="FFFFFF"/>
          </a:solidFill>
          <a:ln w="15840">
            <a:solidFill>
              <a:srgbClr val="1F4E79"/>
            </a:solidFill>
            <a:prstDash val="solid"/>
          </a:ln>
        </p:spPr>
      </p:sp>
      <p:sp>
        <p:nvSpPr>
          <p:cNvPr id="56" name="Obj [o335]"/>
          <p:cNvSpPr txBox="1"/>
          <p:nvPr/>
        </p:nvSpPr>
        <p:spPr>
          <a:xfrm>
            <a:off x="555846" y="3382187"/>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Perfiles distintos pueden dar curvas casi iguales</a:t>
            </a:r>
            <a:endParaRPr lang="en-US" sz="1553" dirty="0"/>
          </a:p>
        </p:txBody>
      </p:sp>
      <p:sp>
        <p:nvSpPr>
          <p:cNvPr id="57" name="Obj [o336]"/>
          <p:cNvSpPr/>
          <p:nvPr/>
        </p:nvSpPr>
        <p:spPr>
          <a:xfrm>
            <a:off x="3939374" y="2963998"/>
            <a:ext cx="3345511" cy="380172"/>
          </a:xfrm>
          <a:prstGeom prst="rect">
            <a:avLst/>
          </a:prstGeom>
          <a:solidFill>
            <a:srgbClr val="C55A11"/>
          </a:solidFill>
          <a:ln w="6350">
            <a:solidFill>
              <a:srgbClr val="C55A11"/>
            </a:solidFill>
            <a:prstDash val="solid"/>
          </a:ln>
        </p:spPr>
      </p:sp>
      <p:sp>
        <p:nvSpPr>
          <p:cNvPr id="58" name="Obj [o337]"/>
          <p:cNvSpPr txBox="1"/>
          <p:nvPr/>
        </p:nvSpPr>
        <p:spPr>
          <a:xfrm>
            <a:off x="3939374" y="2963998"/>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Otras mediciones</a:t>
            </a:r>
            <a:endParaRPr lang="en-US" sz="1726" dirty="0"/>
          </a:p>
        </p:txBody>
      </p:sp>
      <p:sp>
        <p:nvSpPr>
          <p:cNvPr id="59" name="Obj [o338]"/>
          <p:cNvSpPr/>
          <p:nvPr/>
        </p:nvSpPr>
        <p:spPr>
          <a:xfrm>
            <a:off x="3939374" y="3344170"/>
            <a:ext cx="3345511" cy="760343"/>
          </a:xfrm>
          <a:prstGeom prst="rect">
            <a:avLst/>
          </a:prstGeom>
          <a:solidFill>
            <a:srgbClr val="FFFFFF"/>
          </a:solidFill>
          <a:ln w="15840">
            <a:solidFill>
              <a:srgbClr val="C55A11"/>
            </a:solidFill>
            <a:prstDash val="solid"/>
          </a:ln>
        </p:spPr>
      </p:sp>
      <p:sp>
        <p:nvSpPr>
          <p:cNvPr id="60" name="Obj [o339]"/>
          <p:cNvSpPr txBox="1"/>
          <p:nvPr/>
        </p:nvSpPr>
        <p:spPr>
          <a:xfrm>
            <a:off x="4053426" y="3382187"/>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553" dirty="0"/>
          </a:p>
        </p:txBody>
      </p:sp>
      <p:sp>
        <p:nvSpPr>
          <p:cNvPr id="61" name="Obj [o34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capítulo de inversión (a confirmar); Socco y Strobbia (2004); Xia et al. (1999), p. 694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ρ</m:t>
                    </m:r>
                  </m:oMath>
                </a14:m>
              </mc:Choice>
              <mc:Fallback>
                <a:r>
                  <a:rPr lang="en-US" sz="800" dirty="0">
                    <a:solidFill>
                      <a:srgbClr val="6B6B6B"/>
                    </a:solidFill>
                    <a:latin typeface="Arial" pitchFamily="34" charset="0"/>
                    <a:ea typeface="Arial" pitchFamily="34" charset="-122"/>
                    <a:cs typeface="Arial" pitchFamily="34" charset="-120"/>
                  </a:rPr>
                  <a:t>ρ</a:t>
                </a:r>
              </mc:Fallback>
            </mc:AlternateContent>
            <a:r>
              <a:rPr lang="en-US" sz="800" dirty="0">
                <a:solidFill>
                  <a:srgbClr val="6B6B6B"/>
                </a:solidFill>
                <a:latin typeface="Arial" pitchFamily="34" charset="0"/>
                <a:ea typeface="Arial" pitchFamily="34" charset="-122"/>
                <a:cs typeface="Arial" pitchFamily="34" charset="-120"/>
              </a:rPr>
              <a:t> supuesta conocida).</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35"/>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06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grpId="0" fill="hold" nodeType="withEffect">
                                  <p:stCondLst>
                                    <p:cond delay="1385"/>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450"/>
                                        <p:tgtEl>
                                          <p:spTgt spid="5">
                                            <p:txEl>
                                              <p:pRg st="3" end="3"/>
                                            </p:txEl>
                                          </p:spTgt>
                                        </p:tgtEl>
                                      </p:cBhvr>
                                    </p:animEffect>
                                  </p:childTnLst>
                                </p:cTn>
                              </p:par>
                              <p:par>
                                <p:cTn id="25" presetID="10" presetClass="entr" presetSubtype="0" fill="hold" nodeType="withEffect">
                                  <p:stCondLst>
                                    <p:cond delay="48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50"/>
                                        <p:tgtEl>
                                          <p:spTgt spid="6"/>
                                        </p:tgtEl>
                                      </p:cBhvr>
                                    </p:animEffect>
                                  </p:childTnLst>
                                </p:cTn>
                              </p:par>
                              <p:par>
                                <p:cTn id="28" presetID="22" presetClass="entr" presetSubtype="8" fill="hold" nodeType="withEffect">
                                  <p:stCondLst>
                                    <p:cond delay="48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par>
                                <p:cTn id="31" presetID="10" presetClass="entr" presetSubtype="0" fill="hold"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5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350"/>
                                        <p:tgtEl>
                                          <p:spTgt spid="3"/>
                                        </p:tgtEl>
                                      </p:cBhvr>
                                    </p:animEffect>
                                    <p:set>
                                      <p:cBhvr>
                                        <p:cTn id="38" dur="1" fill="hold">
                                          <p:stCondLst>
                                            <p:cond delay="349"/>
                                          </p:stCondLst>
                                        </p:cTn>
                                        <p:tgtEl>
                                          <p:spTgt spid="3"/>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350"/>
                                        <p:tgtEl>
                                          <p:spTgt spid="5">
                                            <p:txEl>
                                              <p:pRg st="0" end="0"/>
                                            </p:txEl>
                                          </p:spTgt>
                                        </p:tgtEl>
                                      </p:cBhvr>
                                    </p:animEffect>
                                    <p:set>
                                      <p:cBhvr>
                                        <p:cTn id="41" dur="1" fill="hold">
                                          <p:stCondLst>
                                            <p:cond delay="349"/>
                                          </p:stCondLst>
                                        </p:cTn>
                                        <p:tgtEl>
                                          <p:spTgt spid="5">
                                            <p:txEl>
                                              <p:pRg st="0" end="0"/>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5">
                                            <p:txEl>
                                              <p:pRg st="1" end="1"/>
                                            </p:txEl>
                                          </p:spTgt>
                                        </p:tgtEl>
                                      </p:cBhvr>
                                    </p:animEffect>
                                    <p:set>
                                      <p:cBhvr>
                                        <p:cTn id="44" dur="1" fill="hold">
                                          <p:stCondLst>
                                            <p:cond delay="349"/>
                                          </p:stCondLst>
                                        </p:cTn>
                                        <p:tgtEl>
                                          <p:spTgt spid="5">
                                            <p:txEl>
                                              <p:pRg st="1" end="1"/>
                                            </p:txEl>
                                          </p:spTgt>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350"/>
                                        <p:tgtEl>
                                          <p:spTgt spid="5">
                                            <p:txEl>
                                              <p:pRg st="2" end="2"/>
                                            </p:txEl>
                                          </p:spTgt>
                                        </p:tgtEl>
                                      </p:cBhvr>
                                    </p:animEffect>
                                    <p:set>
                                      <p:cBhvr>
                                        <p:cTn id="47" dur="1" fill="hold">
                                          <p:stCondLst>
                                            <p:cond delay="349"/>
                                          </p:stCondLst>
                                        </p:cTn>
                                        <p:tgtEl>
                                          <p:spTgt spid="5">
                                            <p:txEl>
                                              <p:pRg st="2" end="2"/>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350"/>
                                        <p:tgtEl>
                                          <p:spTgt spid="5">
                                            <p:txEl>
                                              <p:pRg st="3" end="3"/>
                                            </p:txEl>
                                          </p:spTgt>
                                        </p:tgtEl>
                                      </p:cBhvr>
                                    </p:animEffect>
                                    <p:set>
                                      <p:cBhvr>
                                        <p:cTn id="50" dur="1" fill="hold">
                                          <p:stCondLst>
                                            <p:cond delay="349"/>
                                          </p:stCondLst>
                                        </p:cTn>
                                        <p:tgtEl>
                                          <p:spTgt spid="5">
                                            <p:txEl>
                                              <p:pRg st="3" end="3"/>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6"/>
                                        </p:tgtEl>
                                      </p:cBhvr>
                                    </p:animEffect>
                                    <p:set>
                                      <p:cBhvr>
                                        <p:cTn id="53" dur="1" fill="hold">
                                          <p:stCondLst>
                                            <p:cond delay="349"/>
                                          </p:stCondLst>
                                        </p:cTn>
                                        <p:tgtEl>
                                          <p:spTgt spid="6"/>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350"/>
                                        <p:tgtEl>
                                          <p:spTgt spid="7"/>
                                        </p:tgtEl>
                                      </p:cBhvr>
                                    </p:animEffect>
                                    <p:set>
                                      <p:cBhvr>
                                        <p:cTn id="56" dur="1" fill="hold">
                                          <p:stCondLst>
                                            <p:cond delay="349"/>
                                          </p:stCondLst>
                                        </p:cTn>
                                        <p:tgtEl>
                                          <p:spTgt spid="7"/>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350"/>
                                        <p:tgtEl>
                                          <p:spTgt spid="8"/>
                                        </p:tgtEl>
                                      </p:cBhvr>
                                    </p:animEffect>
                                    <p:set>
                                      <p:cBhvr>
                                        <p:cTn id="59" dur="1" fill="hold">
                                          <p:stCondLst>
                                            <p:cond delay="349"/>
                                          </p:stCondLst>
                                        </p:cTn>
                                        <p:tgtEl>
                                          <p:spTgt spid="8"/>
                                        </p:tgtEl>
                                        <p:attrNameLst>
                                          <p:attrName>style.visibility</p:attrName>
                                        </p:attrNameLst>
                                      </p:cBhvr>
                                      <p:to>
                                        <p:strVal val="hidden"/>
                                      </p:to>
                                    </p:set>
                                  </p:childTnLst>
                                </p:cTn>
                              </p:par>
                              <p:par>
                                <p:cTn id="60" presetID="0" presetClass="path" presetSubtype="0" accel="50000" decel="50000" fill="hold" nodeType="withEffect">
                                  <p:stCondLst>
                                    <p:cond delay="0"/>
                                  </p:stCondLst>
                                  <p:childTnLst>
                                    <p:animMotion origin="layout" path="M 0 0 L 0.59405 -0.21600 E" pathEditMode="relative" rAng="0" ptsTypes="AA">
                                      <p:cBhvr>
                                        <p:cTn id="61" dur="750" fill="hold"/>
                                        <p:tgtEl>
                                          <p:spTgt spid="4"/>
                                        </p:tgtEl>
                                        <p:attrNameLst>
                                          <p:attrName>ppt_x</p:attrName>
                                          <p:attrName>ppt_y</p:attrName>
                                        </p:attrNameLst>
                                      </p:cBhvr>
                                      <p:rCtr x="29702" y="-10799"/>
                                    </p:animMotion>
                                  </p:childTnLst>
                                </p:cTn>
                              </p:par>
                              <p:par>
                                <p:cTn id="62" presetID="6" presetClass="emph" presetSubtype="0" accel="50000" decel="50000" fill="hold" nodeType="withEffect">
                                  <p:stCondLst>
                                    <p:cond delay="0"/>
                                  </p:stCondLst>
                                  <p:childTnLst>
                                    <p:animScale>
                                      <p:cBhvr>
                                        <p:cTn id="63" dur="750" fill="hold"/>
                                        <p:tgtEl>
                                          <p:spTgt spid="4"/>
                                        </p:tgtEl>
                                      </p:cBhvr>
                                      <p:by x="30207" y="30207"/>
                                    </p:animScale>
                                  </p:childTnLst>
                                </p:cTn>
                              </p:par>
                              <p:par>
                                <p:cTn id="64" presetID="10" presetClass="entr" presetSubtype="0" fill="hold" nodeType="withEffect">
                                  <p:stCondLst>
                                    <p:cond delay="45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450"/>
                                        <p:tgtEl>
                                          <p:spTgt spid="9"/>
                                        </p:tgtEl>
                                      </p:cBhvr>
                                    </p:animEffect>
                                  </p:childTnLst>
                                </p:cTn>
                              </p:par>
                              <p:par>
                                <p:cTn id="67" presetID="53" presetClass="entr" presetSubtype="16" fill="hold" nodeType="withEffect">
                                  <p:stCondLst>
                                    <p:cond delay="520"/>
                                  </p:stCondLst>
                                  <p:childTnLst>
                                    <p:set>
                                      <p:cBhvr>
                                        <p:cTn id="68" dur="1" fill="hold">
                                          <p:stCondLst>
                                            <p:cond delay="0"/>
                                          </p:stCondLst>
                                        </p:cTn>
                                        <p:tgtEl>
                                          <p:spTgt spid="10"/>
                                        </p:tgtEl>
                                        <p:attrNameLst>
                                          <p:attrName>style.visibility</p:attrName>
                                        </p:attrNameLst>
                                      </p:cBhvr>
                                      <p:to>
                                        <p:strVal val="visible"/>
                                      </p:to>
                                    </p:set>
                                    <p:anim calcmode="lin" valueType="num">
                                      <p:cBhvr>
                                        <p:cTn id="69" dur="600" fill="hold"/>
                                        <p:tgtEl>
                                          <p:spTgt spid="10"/>
                                        </p:tgtEl>
                                        <p:attrNameLst>
                                          <p:attrName>ppt_w</p:attrName>
                                        </p:attrNameLst>
                                      </p:cBhvr>
                                      <p:tavLst>
                                        <p:tav tm="0">
                                          <p:val>
                                            <p:fltVal val="0"/>
                                          </p:val>
                                        </p:tav>
                                        <p:tav tm="100000">
                                          <p:val>
                                            <p:strVal val="#ppt_w"/>
                                          </p:val>
                                        </p:tav>
                                      </p:tavLst>
                                    </p:anim>
                                    <p:anim calcmode="lin" valueType="num">
                                      <p:cBhvr>
                                        <p:cTn id="70" dur="600" fill="hold"/>
                                        <p:tgtEl>
                                          <p:spTgt spid="10"/>
                                        </p:tgtEl>
                                        <p:attrNameLst>
                                          <p:attrName>ppt_h</p:attrName>
                                        </p:attrNameLst>
                                      </p:cBhvr>
                                      <p:tavLst>
                                        <p:tav tm="0">
                                          <p:val>
                                            <p:fltVal val="0"/>
                                          </p:val>
                                        </p:tav>
                                        <p:tav tm="100000">
                                          <p:val>
                                            <p:strVal val="#ppt_h"/>
                                          </p:val>
                                        </p:tav>
                                      </p:tavLst>
                                    </p:anim>
                                    <p:animEffect transition="in" filter="fade">
                                      <p:cBhvr>
                                        <p:cTn id="71" dur="600"/>
                                        <p:tgtEl>
                                          <p:spTgt spid="10"/>
                                        </p:tgtEl>
                                      </p:cBhvr>
                                    </p:animEffect>
                                  </p:childTnLst>
                                </p:cTn>
                              </p:par>
                              <p:par>
                                <p:cTn id="72" presetID="10" presetClass="entr" presetSubtype="0" fill="hold" nodeType="withEffect">
                                  <p:stCondLst>
                                    <p:cond delay="59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450"/>
                                        <p:tgtEl>
                                          <p:spTgt spid="11"/>
                                        </p:tgtEl>
                                      </p:cBhvr>
                                    </p:animEffect>
                                  </p:childTnLst>
                                </p:cTn>
                              </p:par>
                              <p:par>
                                <p:cTn id="75" presetID="22" presetClass="entr" presetSubtype="4" fill="hold" nodeType="withEffect">
                                  <p:stCondLst>
                                    <p:cond delay="590"/>
                                  </p:stCondLst>
                                  <p:childTnLst>
                                    <p:set>
                                      <p:cBhvr>
                                        <p:cTn id="76" dur="1" fill="hold">
                                          <p:stCondLst>
                                            <p:cond delay="0"/>
                                          </p:stCondLst>
                                        </p:cTn>
                                        <p:tgtEl>
                                          <p:spTgt spid="12"/>
                                        </p:tgtEl>
                                        <p:attrNameLst>
                                          <p:attrName>style.visibility</p:attrName>
                                        </p:attrNameLst>
                                      </p:cBhvr>
                                      <p:to>
                                        <p:strVal val="visible"/>
                                      </p:to>
                                    </p:set>
                                    <p:animEffect transition="in" filter="wipe(down)">
                                      <p:cBhvr>
                                        <p:cTn id="77" dur="500"/>
                                        <p:tgtEl>
                                          <p:spTgt spid="12"/>
                                        </p:tgtEl>
                                      </p:cBhvr>
                                    </p:animEffect>
                                  </p:childTnLst>
                                </p:cTn>
                              </p:par>
                              <p:par>
                                <p:cTn id="78" presetID="10" presetClass="entr" presetSubtype="0" grpId="0" fill="hold" nodeType="withEffect">
                                  <p:stCondLst>
                                    <p:cond delay="660"/>
                                  </p:stCondLst>
                                  <p:childTnLst>
                                    <p:set>
                                      <p:cBhvr>
                                        <p:cTn id="79" dur="1" fill="hold">
                                          <p:stCondLst>
                                            <p:cond delay="0"/>
                                          </p:stCondLst>
                                        </p:cTn>
                                        <p:tgtEl>
                                          <p:spTgt spid="13">
                                            <p:txEl>
                                              <p:pRg st="0" end="0"/>
                                            </p:txEl>
                                          </p:spTgt>
                                        </p:tgtEl>
                                        <p:attrNameLst>
                                          <p:attrName>style.visibility</p:attrName>
                                        </p:attrNameLst>
                                      </p:cBhvr>
                                      <p:to>
                                        <p:strVal val="visible"/>
                                      </p:to>
                                    </p:set>
                                    <p:animEffect transition="in" filter="fade">
                                      <p:cBhvr>
                                        <p:cTn id="80" dur="450"/>
                                        <p:tgtEl>
                                          <p:spTgt spid="13">
                                            <p:txEl>
                                              <p:pRg st="0" end="0"/>
                                            </p:txEl>
                                          </p:spTgt>
                                        </p:tgtEl>
                                      </p:cBhvr>
                                    </p:animEffect>
                                  </p:childTnLst>
                                </p:cTn>
                              </p:par>
                              <p:par>
                                <p:cTn id="81" presetID="10" presetClass="entr" presetSubtype="0" grpId="0" fill="hold" nodeType="withEffect">
                                  <p:stCondLst>
                                    <p:cond delay="1040"/>
                                  </p:stCondLst>
                                  <p:childTnLst>
                                    <p:set>
                                      <p:cBhvr>
                                        <p:cTn id="82" dur="1" fill="hold">
                                          <p:stCondLst>
                                            <p:cond delay="0"/>
                                          </p:stCondLst>
                                        </p:cTn>
                                        <p:tgtEl>
                                          <p:spTgt spid="13">
                                            <p:txEl>
                                              <p:pRg st="1" end="1"/>
                                            </p:txEl>
                                          </p:spTgt>
                                        </p:tgtEl>
                                        <p:attrNameLst>
                                          <p:attrName>style.visibility</p:attrName>
                                        </p:attrNameLst>
                                      </p:cBhvr>
                                      <p:to>
                                        <p:strVal val="visible"/>
                                      </p:to>
                                    </p:set>
                                    <p:animEffect transition="in" filter="fade">
                                      <p:cBhvr>
                                        <p:cTn id="83" dur="450"/>
                                        <p:tgtEl>
                                          <p:spTgt spid="13">
                                            <p:txEl>
                                              <p:pRg st="1" end="1"/>
                                            </p:txEl>
                                          </p:spTgt>
                                        </p:tgtEl>
                                      </p:cBhvr>
                                    </p:animEffect>
                                  </p:childTnLst>
                                </p:cTn>
                              </p:par>
                              <p:par>
                                <p:cTn id="84" presetID="10" presetClass="entr" presetSubtype="0" fill="hold" nodeType="withEffect">
                                  <p:stCondLst>
                                    <p:cond delay="58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450"/>
                                        <p:tgtEl>
                                          <p:spTgt spid="1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nodeType="clickEffect">
                                  <p:stCondLst>
                                    <p:cond delay="0"/>
                                  </p:stCondLst>
                                  <p:childTnLst>
                                    <p:animEffect transition="out" filter="fade">
                                      <p:cBhvr>
                                        <p:cTn id="90" dur="350"/>
                                        <p:tgtEl>
                                          <p:spTgt spid="9"/>
                                        </p:tgtEl>
                                      </p:cBhvr>
                                    </p:animEffect>
                                    <p:set>
                                      <p:cBhvr>
                                        <p:cTn id="91" dur="1" fill="hold">
                                          <p:stCondLst>
                                            <p:cond delay="349"/>
                                          </p:stCondLst>
                                        </p:cTn>
                                        <p:tgtEl>
                                          <p:spTgt spid="9"/>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350"/>
                                        <p:tgtEl>
                                          <p:spTgt spid="11"/>
                                        </p:tgtEl>
                                      </p:cBhvr>
                                    </p:animEffect>
                                    <p:set>
                                      <p:cBhvr>
                                        <p:cTn id="94" dur="1" fill="hold">
                                          <p:stCondLst>
                                            <p:cond delay="349"/>
                                          </p:stCondLst>
                                        </p:cTn>
                                        <p:tgtEl>
                                          <p:spTgt spid="11"/>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350"/>
                                        <p:tgtEl>
                                          <p:spTgt spid="12"/>
                                        </p:tgtEl>
                                      </p:cBhvr>
                                    </p:animEffect>
                                    <p:set>
                                      <p:cBhvr>
                                        <p:cTn id="97" dur="1" fill="hold">
                                          <p:stCondLst>
                                            <p:cond delay="349"/>
                                          </p:stCondLst>
                                        </p:cTn>
                                        <p:tgtEl>
                                          <p:spTgt spid="12"/>
                                        </p:tgtEl>
                                        <p:attrNameLst>
                                          <p:attrName>style.visibility</p:attrName>
                                        </p:attrNameLst>
                                      </p:cBhvr>
                                      <p:to>
                                        <p:strVal val="hidden"/>
                                      </p:to>
                                    </p:set>
                                  </p:childTnLst>
                                </p:cTn>
                              </p:par>
                              <p:par>
                                <p:cTn id="98" presetID="10" presetClass="exit" presetSubtype="0" grpId="0" fill="hold" nodeType="withEffect">
                                  <p:stCondLst>
                                    <p:cond delay="0"/>
                                  </p:stCondLst>
                                  <p:childTnLst>
                                    <p:animEffect transition="out" filter="fade">
                                      <p:cBhvr>
                                        <p:cTn id="99" dur="350"/>
                                        <p:tgtEl>
                                          <p:spTgt spid="13">
                                            <p:txEl>
                                              <p:pRg st="0" end="0"/>
                                            </p:txEl>
                                          </p:spTgt>
                                        </p:tgtEl>
                                      </p:cBhvr>
                                    </p:animEffect>
                                    <p:set>
                                      <p:cBhvr>
                                        <p:cTn id="100" dur="1" fill="hold">
                                          <p:stCondLst>
                                            <p:cond delay="349"/>
                                          </p:stCondLst>
                                        </p:cTn>
                                        <p:tgtEl>
                                          <p:spTgt spid="13">
                                            <p:txEl>
                                              <p:pRg st="0" end="0"/>
                                            </p:txEl>
                                          </p:spTgt>
                                        </p:tgtEl>
                                        <p:attrNameLst>
                                          <p:attrName>style.visibility</p:attrName>
                                        </p:attrNameLst>
                                      </p:cBhvr>
                                      <p:to>
                                        <p:strVal val="hidden"/>
                                      </p:to>
                                    </p:set>
                                  </p:childTnLst>
                                </p:cTn>
                              </p:par>
                              <p:par>
                                <p:cTn id="101" presetID="10" presetClass="exit" presetSubtype="0" grpId="0" fill="hold" nodeType="withEffect">
                                  <p:stCondLst>
                                    <p:cond delay="0"/>
                                  </p:stCondLst>
                                  <p:childTnLst>
                                    <p:animEffect transition="out" filter="fade">
                                      <p:cBhvr>
                                        <p:cTn id="102" dur="350"/>
                                        <p:tgtEl>
                                          <p:spTgt spid="13">
                                            <p:txEl>
                                              <p:pRg st="1" end="1"/>
                                            </p:txEl>
                                          </p:spTgt>
                                        </p:tgtEl>
                                      </p:cBhvr>
                                    </p:animEffect>
                                    <p:set>
                                      <p:cBhvr>
                                        <p:cTn id="103" dur="1" fill="hold">
                                          <p:stCondLst>
                                            <p:cond delay="349"/>
                                          </p:stCondLst>
                                        </p:cTn>
                                        <p:tgtEl>
                                          <p:spTgt spid="13">
                                            <p:txEl>
                                              <p:pRg st="1" end="1"/>
                                            </p:txEl>
                                          </p:spTgt>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350"/>
                                        <p:tgtEl>
                                          <p:spTgt spid="14"/>
                                        </p:tgtEl>
                                      </p:cBhvr>
                                    </p:animEffect>
                                    <p:set>
                                      <p:cBhvr>
                                        <p:cTn id="106" dur="1" fill="hold">
                                          <p:stCondLst>
                                            <p:cond delay="349"/>
                                          </p:stCondLst>
                                        </p:cTn>
                                        <p:tgtEl>
                                          <p:spTgt spid="14"/>
                                        </p:tgtEl>
                                        <p:attrNameLst>
                                          <p:attrName>style.visibility</p:attrName>
                                        </p:attrNameLst>
                                      </p:cBhvr>
                                      <p:to>
                                        <p:strVal val="hidden"/>
                                      </p:to>
                                    </p:set>
                                  </p:childTnLst>
                                </p:cTn>
                              </p:par>
                              <p:par>
                                <p:cTn id="107" presetID="0" presetClass="path" presetSubtype="0" accel="50000" decel="50000" fill="hold" nodeType="withEffect">
                                  <p:stCondLst>
                                    <p:cond delay="0"/>
                                  </p:stCondLst>
                                  <p:childTnLst>
                                    <p:animMotion origin="layout" path="M 0 0 L 0.61967 -0.01492 E" pathEditMode="relative" rAng="0" ptsTypes="AA">
                                      <p:cBhvr>
                                        <p:cTn id="108" dur="750" fill="hold"/>
                                        <p:tgtEl>
                                          <p:spTgt spid="10"/>
                                        </p:tgtEl>
                                        <p:attrNameLst>
                                          <p:attrName>ppt_x</p:attrName>
                                          <p:attrName>ppt_y</p:attrName>
                                        </p:attrNameLst>
                                      </p:cBhvr>
                                      <p:rCtr x="30983" y="-746"/>
                                    </p:animMotion>
                                  </p:childTnLst>
                                </p:cTn>
                              </p:par>
                              <p:par>
                                <p:cTn id="109" presetID="6" presetClass="emph" presetSubtype="0" accel="50000" decel="50000" fill="hold" nodeType="withEffect">
                                  <p:stCondLst>
                                    <p:cond delay="0"/>
                                  </p:stCondLst>
                                  <p:childTnLst>
                                    <p:animScale>
                                      <p:cBhvr>
                                        <p:cTn id="110" dur="750" fill="hold"/>
                                        <p:tgtEl>
                                          <p:spTgt spid="10"/>
                                        </p:tgtEl>
                                      </p:cBhvr>
                                      <p:by x="28992" y="28992"/>
                                    </p:animScale>
                                  </p:childTnLst>
                                </p:cTn>
                              </p:par>
                              <p:par>
                                <p:cTn id="111" presetID="10" presetClass="entr" presetSubtype="0" fill="hold" nodeType="withEffect">
                                  <p:stCondLst>
                                    <p:cond delay="450"/>
                                  </p:stCondLst>
                                  <p:childTnLst>
                                    <p:set>
                                      <p:cBhvr>
                                        <p:cTn id="112" dur="1" fill="hold">
                                          <p:stCondLst>
                                            <p:cond delay="0"/>
                                          </p:stCondLst>
                                        </p:cTn>
                                        <p:tgtEl>
                                          <p:spTgt spid="15"/>
                                        </p:tgtEl>
                                        <p:attrNameLst>
                                          <p:attrName>style.visibility</p:attrName>
                                        </p:attrNameLst>
                                      </p:cBhvr>
                                      <p:to>
                                        <p:strVal val="visible"/>
                                      </p:to>
                                    </p:set>
                                    <p:animEffect transition="in" filter="fade">
                                      <p:cBhvr>
                                        <p:cTn id="113" dur="450"/>
                                        <p:tgtEl>
                                          <p:spTgt spid="15"/>
                                        </p:tgtEl>
                                      </p:cBhvr>
                                    </p:animEffect>
                                  </p:childTnLst>
                                </p:cTn>
                              </p:par>
                              <p:par>
                                <p:cTn id="114" presetID="10" presetClass="entr" presetSubtype="0" grpId="0" fill="hold" nodeType="withEffect">
                                  <p:stCondLst>
                                    <p:cond delay="520"/>
                                  </p:stCondLst>
                                  <p:childTnLst>
                                    <p:set>
                                      <p:cBhvr>
                                        <p:cTn id="115" dur="1" fill="hold">
                                          <p:stCondLst>
                                            <p:cond delay="0"/>
                                          </p:stCondLst>
                                        </p:cTn>
                                        <p:tgtEl>
                                          <p:spTgt spid="17">
                                            <p:txEl>
                                              <p:pRg st="0" end="0"/>
                                            </p:txEl>
                                          </p:spTgt>
                                        </p:tgtEl>
                                        <p:attrNameLst>
                                          <p:attrName>style.visibility</p:attrName>
                                        </p:attrNameLst>
                                      </p:cBhvr>
                                      <p:to>
                                        <p:strVal val="visible"/>
                                      </p:to>
                                    </p:set>
                                    <p:animEffect transition="in" filter="fade">
                                      <p:cBhvr>
                                        <p:cTn id="116" dur="450"/>
                                        <p:tgtEl>
                                          <p:spTgt spid="17">
                                            <p:txEl>
                                              <p:pRg st="0" end="0"/>
                                            </p:txEl>
                                          </p:spTgt>
                                        </p:tgtEl>
                                      </p:cBhvr>
                                    </p:animEffect>
                                  </p:childTnLst>
                                </p:cTn>
                              </p:par>
                              <p:par>
                                <p:cTn id="117" presetID="10" presetClass="entr" presetSubtype="0" grpId="0" fill="hold" nodeType="withEffect">
                                  <p:stCondLst>
                                    <p:cond delay="900"/>
                                  </p:stCondLst>
                                  <p:childTnLst>
                                    <p:set>
                                      <p:cBhvr>
                                        <p:cTn id="118" dur="1" fill="hold">
                                          <p:stCondLst>
                                            <p:cond delay="0"/>
                                          </p:stCondLst>
                                        </p:cTn>
                                        <p:tgtEl>
                                          <p:spTgt spid="17">
                                            <p:txEl>
                                              <p:pRg st="1" end="1"/>
                                            </p:txEl>
                                          </p:spTgt>
                                        </p:tgtEl>
                                        <p:attrNameLst>
                                          <p:attrName>style.visibility</p:attrName>
                                        </p:attrNameLst>
                                      </p:cBhvr>
                                      <p:to>
                                        <p:strVal val="visible"/>
                                      </p:to>
                                    </p:set>
                                    <p:animEffect transition="in" filter="fade">
                                      <p:cBhvr>
                                        <p:cTn id="119" dur="450"/>
                                        <p:tgtEl>
                                          <p:spTgt spid="17">
                                            <p:txEl>
                                              <p:pRg st="1" end="1"/>
                                            </p:txEl>
                                          </p:spTgt>
                                        </p:tgtEl>
                                      </p:cBhvr>
                                    </p:animEffect>
                                  </p:childTnLst>
                                </p:cTn>
                              </p:par>
                              <p:par>
                                <p:cTn id="120" presetID="10" presetClass="entr" presetSubtype="0" grpId="0" fill="hold" nodeType="withEffect">
                                  <p:stCondLst>
                                    <p:cond delay="1280"/>
                                  </p:stCondLst>
                                  <p:childTnLst>
                                    <p:set>
                                      <p:cBhvr>
                                        <p:cTn id="121" dur="1" fill="hold">
                                          <p:stCondLst>
                                            <p:cond delay="0"/>
                                          </p:stCondLst>
                                        </p:cTn>
                                        <p:tgtEl>
                                          <p:spTgt spid="17">
                                            <p:txEl>
                                              <p:pRg st="2" end="2"/>
                                            </p:txEl>
                                          </p:spTgt>
                                        </p:tgtEl>
                                        <p:attrNameLst>
                                          <p:attrName>style.visibility</p:attrName>
                                        </p:attrNameLst>
                                      </p:cBhvr>
                                      <p:to>
                                        <p:strVal val="visible"/>
                                      </p:to>
                                    </p:set>
                                    <p:animEffect transition="in" filter="fade">
                                      <p:cBhvr>
                                        <p:cTn id="122" dur="450"/>
                                        <p:tgtEl>
                                          <p:spTgt spid="17">
                                            <p:txEl>
                                              <p:pRg st="2" end="2"/>
                                            </p:txEl>
                                          </p:spTgt>
                                        </p:tgtEl>
                                      </p:cBhvr>
                                    </p:animEffect>
                                  </p:childTnLst>
                                </p:cTn>
                              </p:par>
                              <p:par>
                                <p:cTn id="123" presetID="22" presetClass="entr" presetSubtype="8" fill="hold" nodeType="withEffect">
                                  <p:stCondLst>
                                    <p:cond delay="590"/>
                                  </p:stCondLst>
                                  <p:childTnLst>
                                    <p:set>
                                      <p:cBhvr>
                                        <p:cTn id="124" dur="1" fill="hold">
                                          <p:stCondLst>
                                            <p:cond delay="0"/>
                                          </p:stCondLst>
                                        </p:cTn>
                                        <p:tgtEl>
                                          <p:spTgt spid="16"/>
                                        </p:tgtEl>
                                        <p:attrNameLst>
                                          <p:attrName>style.visibility</p:attrName>
                                        </p:attrNameLst>
                                      </p:cBhvr>
                                      <p:to>
                                        <p:strVal val="visible"/>
                                      </p:to>
                                    </p:set>
                                    <p:animEffect transition="in" filter="wipe(left)">
                                      <p:cBhvr>
                                        <p:cTn id="125" dur="500"/>
                                        <p:tgtEl>
                                          <p:spTgt spid="16"/>
                                        </p:tgtEl>
                                      </p:cBhvr>
                                    </p:animEffect>
                                  </p:childTnLst>
                                </p:cTn>
                              </p:par>
                              <p:par>
                                <p:cTn id="126" presetID="10" presetClass="entr" presetSubtype="0" fill="hold" nodeType="withEffect">
                                  <p:stCondLst>
                                    <p:cond delay="580"/>
                                  </p:stCondLst>
                                  <p:childTnLst>
                                    <p:set>
                                      <p:cBhvr>
                                        <p:cTn id="127" dur="1" fill="hold">
                                          <p:stCondLst>
                                            <p:cond delay="0"/>
                                          </p:stCondLst>
                                        </p:cTn>
                                        <p:tgtEl>
                                          <p:spTgt spid="18"/>
                                        </p:tgtEl>
                                        <p:attrNameLst>
                                          <p:attrName>style.visibility</p:attrName>
                                        </p:attrNameLst>
                                      </p:cBhvr>
                                      <p:to>
                                        <p:strVal val="visible"/>
                                      </p:to>
                                    </p:set>
                                    <p:animEffect transition="in" filter="fade">
                                      <p:cBhvr>
                                        <p:cTn id="128" dur="450"/>
                                        <p:tgtEl>
                                          <p:spTgt spid="18"/>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xit" presetSubtype="0" fill="hold" nodeType="clickEffect">
                                  <p:stCondLst>
                                    <p:cond delay="0"/>
                                  </p:stCondLst>
                                  <p:childTnLst>
                                    <p:animEffect transition="out" filter="fade">
                                      <p:cBhvr>
                                        <p:cTn id="132" dur="350"/>
                                        <p:tgtEl>
                                          <p:spTgt spid="15"/>
                                        </p:tgtEl>
                                      </p:cBhvr>
                                    </p:animEffect>
                                    <p:set>
                                      <p:cBhvr>
                                        <p:cTn id="133" dur="1" fill="hold">
                                          <p:stCondLst>
                                            <p:cond delay="349"/>
                                          </p:stCondLst>
                                        </p:cTn>
                                        <p:tgtEl>
                                          <p:spTgt spid="15"/>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16"/>
                                        </p:tgtEl>
                                      </p:cBhvr>
                                    </p:animEffect>
                                    <p:set>
                                      <p:cBhvr>
                                        <p:cTn id="136" dur="1" fill="hold">
                                          <p:stCondLst>
                                            <p:cond delay="349"/>
                                          </p:stCondLst>
                                        </p:cTn>
                                        <p:tgtEl>
                                          <p:spTgt spid="16"/>
                                        </p:tgtEl>
                                        <p:attrNameLst>
                                          <p:attrName>style.visibility</p:attrName>
                                        </p:attrNameLst>
                                      </p:cBhvr>
                                      <p:to>
                                        <p:strVal val="hidden"/>
                                      </p:to>
                                    </p:set>
                                  </p:childTnLst>
                                </p:cTn>
                              </p:par>
                              <p:par>
                                <p:cTn id="137" presetID="10" presetClass="exit" presetSubtype="0" grpId="0" fill="hold" nodeType="withEffect">
                                  <p:stCondLst>
                                    <p:cond delay="0"/>
                                  </p:stCondLst>
                                  <p:childTnLst>
                                    <p:animEffect transition="out" filter="fade">
                                      <p:cBhvr>
                                        <p:cTn id="138" dur="350"/>
                                        <p:tgtEl>
                                          <p:spTgt spid="17">
                                            <p:txEl>
                                              <p:pRg st="0" end="0"/>
                                            </p:txEl>
                                          </p:spTgt>
                                        </p:tgtEl>
                                      </p:cBhvr>
                                    </p:animEffect>
                                    <p:set>
                                      <p:cBhvr>
                                        <p:cTn id="139" dur="1" fill="hold">
                                          <p:stCondLst>
                                            <p:cond delay="349"/>
                                          </p:stCondLst>
                                        </p:cTn>
                                        <p:tgtEl>
                                          <p:spTgt spid="17">
                                            <p:txEl>
                                              <p:pRg st="0" end="0"/>
                                            </p:txEl>
                                          </p:spTgt>
                                        </p:tgtEl>
                                        <p:attrNameLst>
                                          <p:attrName>style.visibility</p:attrName>
                                        </p:attrNameLst>
                                      </p:cBhvr>
                                      <p:to>
                                        <p:strVal val="hidden"/>
                                      </p:to>
                                    </p:set>
                                  </p:childTnLst>
                                </p:cTn>
                              </p:par>
                              <p:par>
                                <p:cTn id="140" presetID="10" presetClass="exit" presetSubtype="0" grpId="0" fill="hold" nodeType="withEffect">
                                  <p:stCondLst>
                                    <p:cond delay="0"/>
                                  </p:stCondLst>
                                  <p:childTnLst>
                                    <p:animEffect transition="out" filter="fade">
                                      <p:cBhvr>
                                        <p:cTn id="141" dur="350"/>
                                        <p:tgtEl>
                                          <p:spTgt spid="17">
                                            <p:txEl>
                                              <p:pRg st="1" end="1"/>
                                            </p:txEl>
                                          </p:spTgt>
                                        </p:tgtEl>
                                      </p:cBhvr>
                                    </p:animEffect>
                                    <p:set>
                                      <p:cBhvr>
                                        <p:cTn id="142" dur="1" fill="hold">
                                          <p:stCondLst>
                                            <p:cond delay="349"/>
                                          </p:stCondLst>
                                        </p:cTn>
                                        <p:tgtEl>
                                          <p:spTgt spid="17">
                                            <p:txEl>
                                              <p:pRg st="1" end="1"/>
                                            </p:txEl>
                                          </p:spTgt>
                                        </p:tgtEl>
                                        <p:attrNameLst>
                                          <p:attrName>style.visibility</p:attrName>
                                        </p:attrNameLst>
                                      </p:cBhvr>
                                      <p:to>
                                        <p:strVal val="hidden"/>
                                      </p:to>
                                    </p:set>
                                  </p:childTnLst>
                                </p:cTn>
                              </p:par>
                              <p:par>
                                <p:cTn id="143" presetID="10" presetClass="exit" presetSubtype="0" grpId="0" fill="hold" nodeType="withEffect">
                                  <p:stCondLst>
                                    <p:cond delay="0"/>
                                  </p:stCondLst>
                                  <p:childTnLst>
                                    <p:animEffect transition="out" filter="fade">
                                      <p:cBhvr>
                                        <p:cTn id="144" dur="350"/>
                                        <p:tgtEl>
                                          <p:spTgt spid="17">
                                            <p:txEl>
                                              <p:pRg st="2" end="2"/>
                                            </p:txEl>
                                          </p:spTgt>
                                        </p:tgtEl>
                                      </p:cBhvr>
                                    </p:animEffect>
                                    <p:set>
                                      <p:cBhvr>
                                        <p:cTn id="145" dur="1" fill="hold">
                                          <p:stCondLst>
                                            <p:cond delay="349"/>
                                          </p:stCondLst>
                                        </p:cTn>
                                        <p:tgtEl>
                                          <p:spTgt spid="17">
                                            <p:txEl>
                                              <p:pRg st="2" end="2"/>
                                            </p:txEl>
                                          </p:spTgt>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18"/>
                                        </p:tgtEl>
                                      </p:cBhvr>
                                    </p:animEffect>
                                    <p:set>
                                      <p:cBhvr>
                                        <p:cTn id="148" dur="1" fill="hold">
                                          <p:stCondLst>
                                            <p:cond delay="349"/>
                                          </p:stCondLst>
                                        </p:cTn>
                                        <p:tgtEl>
                                          <p:spTgt spid="18"/>
                                        </p:tgtEl>
                                        <p:attrNameLst>
                                          <p:attrName>style.visibility</p:attrName>
                                        </p:attrNameLst>
                                      </p:cBhvr>
                                      <p:to>
                                        <p:strVal val="hidden"/>
                                      </p:to>
                                    </p:set>
                                  </p:childTnLst>
                                </p:cTn>
                              </p:par>
                              <p:par>
                                <p:cTn id="149" presetID="10" presetClass="entr" presetSubtype="0" fill="hold" nodeType="withEffect">
                                  <p:stCondLst>
                                    <p:cond delay="450"/>
                                  </p:stCondLst>
                                  <p:childTnLst>
                                    <p:set>
                                      <p:cBhvr>
                                        <p:cTn id="150" dur="1" fill="hold">
                                          <p:stCondLst>
                                            <p:cond delay="0"/>
                                          </p:stCondLst>
                                        </p:cTn>
                                        <p:tgtEl>
                                          <p:spTgt spid="19"/>
                                        </p:tgtEl>
                                        <p:attrNameLst>
                                          <p:attrName>style.visibility</p:attrName>
                                        </p:attrNameLst>
                                      </p:cBhvr>
                                      <p:to>
                                        <p:strVal val="visible"/>
                                      </p:to>
                                    </p:set>
                                    <p:animEffect transition="in" filter="fade">
                                      <p:cBhvr>
                                        <p:cTn id="151" dur="450"/>
                                        <p:tgtEl>
                                          <p:spTgt spid="19"/>
                                        </p:tgtEl>
                                      </p:cBhvr>
                                    </p:animEffect>
                                  </p:childTnLst>
                                </p:cTn>
                              </p:par>
                              <p:par>
                                <p:cTn id="152" presetID="10" presetClass="entr" presetSubtype="0" fill="hold" nodeType="withEffect">
                                  <p:stCondLst>
                                    <p:cond delay="520"/>
                                  </p:stCondLst>
                                  <p:childTnLst>
                                    <p:set>
                                      <p:cBhvr>
                                        <p:cTn id="153" dur="1" fill="hold">
                                          <p:stCondLst>
                                            <p:cond delay="0"/>
                                          </p:stCondLst>
                                        </p:cTn>
                                        <p:tgtEl>
                                          <p:spTgt spid="20"/>
                                        </p:tgtEl>
                                        <p:attrNameLst>
                                          <p:attrName>style.visibility</p:attrName>
                                        </p:attrNameLst>
                                      </p:cBhvr>
                                      <p:to>
                                        <p:strVal val="visible"/>
                                      </p:to>
                                    </p:set>
                                    <p:animEffect transition="in" filter="fade">
                                      <p:cBhvr>
                                        <p:cTn id="154" dur="450"/>
                                        <p:tgtEl>
                                          <p:spTgt spid="20"/>
                                        </p:tgtEl>
                                      </p:cBhvr>
                                    </p:animEffect>
                                  </p:childTnLst>
                                </p:cTn>
                              </p:par>
                              <p:par>
                                <p:cTn id="155" presetID="22" presetClass="entr" presetSubtype="4" fill="hold" nodeType="withEffect">
                                  <p:stCondLst>
                                    <p:cond delay="520"/>
                                  </p:stCondLst>
                                  <p:childTnLst>
                                    <p:set>
                                      <p:cBhvr>
                                        <p:cTn id="156" dur="1" fill="hold">
                                          <p:stCondLst>
                                            <p:cond delay="0"/>
                                          </p:stCondLst>
                                        </p:cTn>
                                        <p:tgtEl>
                                          <p:spTgt spid="21"/>
                                        </p:tgtEl>
                                        <p:attrNameLst>
                                          <p:attrName>style.visibility</p:attrName>
                                        </p:attrNameLst>
                                      </p:cBhvr>
                                      <p:to>
                                        <p:strVal val="visible"/>
                                      </p:to>
                                    </p:set>
                                    <p:animEffect transition="in" filter="wipe(down)">
                                      <p:cBhvr>
                                        <p:cTn id="157" dur="500"/>
                                        <p:tgtEl>
                                          <p:spTgt spid="21"/>
                                        </p:tgtEl>
                                      </p:cBhvr>
                                    </p:animEffect>
                                  </p:childTnLst>
                                </p:cTn>
                              </p:par>
                              <p:par>
                                <p:cTn id="158" presetID="10" presetClass="entr" presetSubtype="0" fill="hold" nodeType="withEffect">
                                  <p:stCondLst>
                                    <p:cond delay="590"/>
                                  </p:stCondLst>
                                  <p:childTnLst>
                                    <p:set>
                                      <p:cBhvr>
                                        <p:cTn id="159" dur="1" fill="hold">
                                          <p:stCondLst>
                                            <p:cond delay="0"/>
                                          </p:stCondLst>
                                        </p:cTn>
                                        <p:tgtEl>
                                          <p:spTgt spid="22"/>
                                        </p:tgtEl>
                                        <p:attrNameLst>
                                          <p:attrName>style.visibility</p:attrName>
                                        </p:attrNameLst>
                                      </p:cBhvr>
                                      <p:to>
                                        <p:strVal val="visible"/>
                                      </p:to>
                                    </p:set>
                                    <p:animEffect transition="in" filter="fade">
                                      <p:cBhvr>
                                        <p:cTn id="160" dur="450"/>
                                        <p:tgtEl>
                                          <p:spTgt spid="22"/>
                                        </p:tgtEl>
                                      </p:cBhvr>
                                    </p:animEffect>
                                  </p:childTnLst>
                                </p:cTn>
                              </p:par>
                              <p:par>
                                <p:cTn id="161" presetID="22" presetClass="entr" presetSubtype="4" fill="hold" nodeType="withEffect">
                                  <p:stCondLst>
                                    <p:cond delay="590"/>
                                  </p:stCondLst>
                                  <p:childTnLst>
                                    <p:set>
                                      <p:cBhvr>
                                        <p:cTn id="162" dur="1" fill="hold">
                                          <p:stCondLst>
                                            <p:cond delay="0"/>
                                          </p:stCondLst>
                                        </p:cTn>
                                        <p:tgtEl>
                                          <p:spTgt spid="23"/>
                                        </p:tgtEl>
                                        <p:attrNameLst>
                                          <p:attrName>style.visibility</p:attrName>
                                        </p:attrNameLst>
                                      </p:cBhvr>
                                      <p:to>
                                        <p:strVal val="visible"/>
                                      </p:to>
                                    </p:set>
                                    <p:animEffect transition="in" filter="wipe(down)">
                                      <p:cBhvr>
                                        <p:cTn id="163" dur="500"/>
                                        <p:tgtEl>
                                          <p:spTgt spid="23"/>
                                        </p:tgtEl>
                                      </p:cBhvr>
                                    </p:animEffect>
                                  </p:childTnLst>
                                </p:cTn>
                              </p:par>
                              <p:par>
                                <p:cTn id="164" presetID="10" presetClass="entr" presetSubtype="0" fill="hold" nodeType="withEffect">
                                  <p:stCondLst>
                                    <p:cond delay="660"/>
                                  </p:stCondLst>
                                  <p:childTnLst>
                                    <p:set>
                                      <p:cBhvr>
                                        <p:cTn id="165" dur="1" fill="hold">
                                          <p:stCondLst>
                                            <p:cond delay="0"/>
                                          </p:stCondLst>
                                        </p:cTn>
                                        <p:tgtEl>
                                          <p:spTgt spid="24"/>
                                        </p:tgtEl>
                                        <p:attrNameLst>
                                          <p:attrName>style.visibility</p:attrName>
                                        </p:attrNameLst>
                                      </p:cBhvr>
                                      <p:to>
                                        <p:strVal val="visible"/>
                                      </p:to>
                                    </p:set>
                                    <p:animEffect transition="in" filter="fade">
                                      <p:cBhvr>
                                        <p:cTn id="166" dur="450"/>
                                        <p:tgtEl>
                                          <p:spTgt spid="24"/>
                                        </p:tgtEl>
                                      </p:cBhvr>
                                    </p:animEffect>
                                  </p:childTnLst>
                                </p:cTn>
                              </p:par>
                              <p:par>
                                <p:cTn id="167" presetID="22" presetClass="entr" presetSubtype="4" fill="hold" nodeType="withEffect">
                                  <p:stCondLst>
                                    <p:cond delay="660"/>
                                  </p:stCondLst>
                                  <p:childTnLst>
                                    <p:set>
                                      <p:cBhvr>
                                        <p:cTn id="168" dur="1" fill="hold">
                                          <p:stCondLst>
                                            <p:cond delay="0"/>
                                          </p:stCondLst>
                                        </p:cTn>
                                        <p:tgtEl>
                                          <p:spTgt spid="25"/>
                                        </p:tgtEl>
                                        <p:attrNameLst>
                                          <p:attrName>style.visibility</p:attrName>
                                        </p:attrNameLst>
                                      </p:cBhvr>
                                      <p:to>
                                        <p:strVal val="visible"/>
                                      </p:to>
                                    </p:set>
                                    <p:animEffect transition="in" filter="wipe(down)">
                                      <p:cBhvr>
                                        <p:cTn id="169" dur="500"/>
                                        <p:tgtEl>
                                          <p:spTgt spid="25"/>
                                        </p:tgtEl>
                                      </p:cBhvr>
                                    </p:animEffect>
                                  </p:childTnLst>
                                </p:cTn>
                              </p:par>
                              <p:par>
                                <p:cTn id="170" presetID="10" presetClass="entr" presetSubtype="0" fill="hold" nodeType="withEffect">
                                  <p:stCondLst>
                                    <p:cond delay="730"/>
                                  </p:stCondLst>
                                  <p:childTnLst>
                                    <p:set>
                                      <p:cBhvr>
                                        <p:cTn id="171" dur="1" fill="hold">
                                          <p:stCondLst>
                                            <p:cond delay="0"/>
                                          </p:stCondLst>
                                        </p:cTn>
                                        <p:tgtEl>
                                          <p:spTgt spid="26"/>
                                        </p:tgtEl>
                                        <p:attrNameLst>
                                          <p:attrName>style.visibility</p:attrName>
                                        </p:attrNameLst>
                                      </p:cBhvr>
                                      <p:to>
                                        <p:strVal val="visible"/>
                                      </p:to>
                                    </p:set>
                                    <p:animEffect transition="in" filter="fade">
                                      <p:cBhvr>
                                        <p:cTn id="172" dur="450"/>
                                        <p:tgtEl>
                                          <p:spTgt spid="26"/>
                                        </p:tgtEl>
                                      </p:cBhvr>
                                    </p:animEffect>
                                  </p:childTnLst>
                                </p:cTn>
                              </p:par>
                              <p:par>
                                <p:cTn id="173" presetID="22" presetClass="entr" presetSubtype="4" fill="hold" nodeType="withEffect">
                                  <p:stCondLst>
                                    <p:cond delay="730"/>
                                  </p:stCondLst>
                                  <p:childTnLst>
                                    <p:set>
                                      <p:cBhvr>
                                        <p:cTn id="174" dur="1" fill="hold">
                                          <p:stCondLst>
                                            <p:cond delay="0"/>
                                          </p:stCondLst>
                                        </p:cTn>
                                        <p:tgtEl>
                                          <p:spTgt spid="27"/>
                                        </p:tgtEl>
                                        <p:attrNameLst>
                                          <p:attrName>style.visibility</p:attrName>
                                        </p:attrNameLst>
                                      </p:cBhvr>
                                      <p:to>
                                        <p:strVal val="visible"/>
                                      </p:to>
                                    </p:set>
                                    <p:animEffect transition="in" filter="wipe(down)">
                                      <p:cBhvr>
                                        <p:cTn id="175" dur="500"/>
                                        <p:tgtEl>
                                          <p:spTgt spid="27"/>
                                        </p:tgtEl>
                                      </p:cBhvr>
                                    </p:animEffect>
                                  </p:childTnLst>
                                </p:cTn>
                              </p:par>
                              <p:par>
                                <p:cTn id="176" presetID="10" presetClass="entr" presetSubtype="0" fill="hold" nodeType="withEffect">
                                  <p:stCondLst>
                                    <p:cond delay="800"/>
                                  </p:stCondLst>
                                  <p:childTnLst>
                                    <p:set>
                                      <p:cBhvr>
                                        <p:cTn id="177" dur="1" fill="hold">
                                          <p:stCondLst>
                                            <p:cond delay="0"/>
                                          </p:stCondLst>
                                        </p:cTn>
                                        <p:tgtEl>
                                          <p:spTgt spid="28"/>
                                        </p:tgtEl>
                                        <p:attrNameLst>
                                          <p:attrName>style.visibility</p:attrName>
                                        </p:attrNameLst>
                                      </p:cBhvr>
                                      <p:to>
                                        <p:strVal val="visible"/>
                                      </p:to>
                                    </p:set>
                                    <p:animEffect transition="in" filter="fade">
                                      <p:cBhvr>
                                        <p:cTn id="178" dur="450"/>
                                        <p:tgtEl>
                                          <p:spTgt spid="28"/>
                                        </p:tgtEl>
                                      </p:cBhvr>
                                    </p:animEffect>
                                  </p:childTnLst>
                                </p:cTn>
                              </p:par>
                              <p:par>
                                <p:cTn id="179" presetID="10" presetClass="entr" presetSubtype="0" fill="hold" nodeType="withEffect">
                                  <p:stCondLst>
                                    <p:cond delay="870"/>
                                  </p:stCondLst>
                                  <p:childTnLst>
                                    <p:set>
                                      <p:cBhvr>
                                        <p:cTn id="180" dur="1" fill="hold">
                                          <p:stCondLst>
                                            <p:cond delay="0"/>
                                          </p:stCondLst>
                                        </p:cTn>
                                        <p:tgtEl>
                                          <p:spTgt spid="29"/>
                                        </p:tgtEl>
                                        <p:attrNameLst>
                                          <p:attrName>style.visibility</p:attrName>
                                        </p:attrNameLst>
                                      </p:cBhvr>
                                      <p:to>
                                        <p:strVal val="visible"/>
                                      </p:to>
                                    </p:set>
                                    <p:animEffect transition="in" filter="fade">
                                      <p:cBhvr>
                                        <p:cTn id="181" dur="450"/>
                                        <p:tgtEl>
                                          <p:spTgt spid="29"/>
                                        </p:tgtEl>
                                      </p:cBhvr>
                                    </p:animEffect>
                                  </p:childTnLst>
                                </p:cTn>
                              </p:par>
                              <p:par>
                                <p:cTn id="182" presetID="10" presetClass="entr" presetSubtype="0" fill="hold" nodeType="withEffect">
                                  <p:stCondLst>
                                    <p:cond delay="940"/>
                                  </p:stCondLst>
                                  <p:childTnLst>
                                    <p:set>
                                      <p:cBhvr>
                                        <p:cTn id="183" dur="1" fill="hold">
                                          <p:stCondLst>
                                            <p:cond delay="0"/>
                                          </p:stCondLst>
                                        </p:cTn>
                                        <p:tgtEl>
                                          <p:spTgt spid="30"/>
                                        </p:tgtEl>
                                        <p:attrNameLst>
                                          <p:attrName>style.visibility</p:attrName>
                                        </p:attrNameLst>
                                      </p:cBhvr>
                                      <p:to>
                                        <p:strVal val="visible"/>
                                      </p:to>
                                    </p:set>
                                    <p:animEffect transition="in" filter="fade">
                                      <p:cBhvr>
                                        <p:cTn id="184" dur="450"/>
                                        <p:tgtEl>
                                          <p:spTgt spid="30"/>
                                        </p:tgtEl>
                                      </p:cBhvr>
                                    </p:animEffect>
                                  </p:childTnLst>
                                </p:cTn>
                              </p:par>
                              <p:par>
                                <p:cTn id="185" presetID="22" presetClass="entr" presetSubtype="4" fill="hold" nodeType="withEffect">
                                  <p:stCondLst>
                                    <p:cond delay="1010"/>
                                  </p:stCondLst>
                                  <p:childTnLst>
                                    <p:set>
                                      <p:cBhvr>
                                        <p:cTn id="186" dur="1" fill="hold">
                                          <p:stCondLst>
                                            <p:cond delay="0"/>
                                          </p:stCondLst>
                                        </p:cTn>
                                        <p:tgtEl>
                                          <p:spTgt spid="31"/>
                                        </p:tgtEl>
                                        <p:attrNameLst>
                                          <p:attrName>style.visibility</p:attrName>
                                        </p:attrNameLst>
                                      </p:cBhvr>
                                      <p:to>
                                        <p:strVal val="visible"/>
                                      </p:to>
                                    </p:set>
                                    <p:animEffect transition="in" filter="wipe(down)">
                                      <p:cBhvr>
                                        <p:cTn id="187" dur="500"/>
                                        <p:tgtEl>
                                          <p:spTgt spid="31"/>
                                        </p:tgtEl>
                                      </p:cBhvr>
                                    </p:animEffect>
                                  </p:childTnLst>
                                </p:cTn>
                              </p:par>
                              <p:par>
                                <p:cTn id="188" presetID="10" presetClass="entr" presetSubtype="0" fill="hold" nodeType="withEffect">
                                  <p:stCondLst>
                                    <p:cond delay="1080"/>
                                  </p:stCondLst>
                                  <p:childTnLst>
                                    <p:set>
                                      <p:cBhvr>
                                        <p:cTn id="189" dur="1" fill="hold">
                                          <p:stCondLst>
                                            <p:cond delay="0"/>
                                          </p:stCondLst>
                                        </p:cTn>
                                        <p:tgtEl>
                                          <p:spTgt spid="32"/>
                                        </p:tgtEl>
                                        <p:attrNameLst>
                                          <p:attrName>style.visibility</p:attrName>
                                        </p:attrNameLst>
                                      </p:cBhvr>
                                      <p:to>
                                        <p:strVal val="visible"/>
                                      </p:to>
                                    </p:set>
                                    <p:animEffect transition="in" filter="fade">
                                      <p:cBhvr>
                                        <p:cTn id="190" dur="450"/>
                                        <p:tgtEl>
                                          <p:spTgt spid="32"/>
                                        </p:tgtEl>
                                      </p:cBhvr>
                                    </p:animEffect>
                                  </p:childTnLst>
                                </p:cTn>
                              </p:par>
                              <p:par>
                                <p:cTn id="191" presetID="22" presetClass="entr" presetSubtype="4" fill="hold" nodeType="withEffect">
                                  <p:stCondLst>
                                    <p:cond delay="1080"/>
                                  </p:stCondLst>
                                  <p:childTnLst>
                                    <p:set>
                                      <p:cBhvr>
                                        <p:cTn id="192" dur="1" fill="hold">
                                          <p:stCondLst>
                                            <p:cond delay="0"/>
                                          </p:stCondLst>
                                        </p:cTn>
                                        <p:tgtEl>
                                          <p:spTgt spid="33"/>
                                        </p:tgtEl>
                                        <p:attrNameLst>
                                          <p:attrName>style.visibility</p:attrName>
                                        </p:attrNameLst>
                                      </p:cBhvr>
                                      <p:to>
                                        <p:strVal val="visible"/>
                                      </p:to>
                                    </p:set>
                                    <p:animEffect transition="in" filter="wipe(down)">
                                      <p:cBhvr>
                                        <p:cTn id="193" dur="500"/>
                                        <p:tgtEl>
                                          <p:spTgt spid="33"/>
                                        </p:tgtEl>
                                      </p:cBhvr>
                                    </p:animEffect>
                                  </p:childTnLst>
                                </p:cTn>
                              </p:par>
                              <p:par>
                                <p:cTn id="194" presetID="10" presetClass="entr" presetSubtype="0" fill="hold" nodeType="withEffect">
                                  <p:stCondLst>
                                    <p:cond delay="1150"/>
                                  </p:stCondLst>
                                  <p:childTnLst>
                                    <p:set>
                                      <p:cBhvr>
                                        <p:cTn id="195" dur="1" fill="hold">
                                          <p:stCondLst>
                                            <p:cond delay="0"/>
                                          </p:stCondLst>
                                        </p:cTn>
                                        <p:tgtEl>
                                          <p:spTgt spid="34"/>
                                        </p:tgtEl>
                                        <p:attrNameLst>
                                          <p:attrName>style.visibility</p:attrName>
                                        </p:attrNameLst>
                                      </p:cBhvr>
                                      <p:to>
                                        <p:strVal val="visible"/>
                                      </p:to>
                                    </p:set>
                                    <p:animEffect transition="in" filter="fade">
                                      <p:cBhvr>
                                        <p:cTn id="196" dur="450"/>
                                        <p:tgtEl>
                                          <p:spTgt spid="34"/>
                                        </p:tgtEl>
                                      </p:cBhvr>
                                    </p:animEffect>
                                  </p:childTnLst>
                                </p:cTn>
                              </p:par>
                              <p:par>
                                <p:cTn id="197" presetID="22" presetClass="entr" presetSubtype="4" fill="hold" nodeType="withEffect">
                                  <p:stCondLst>
                                    <p:cond delay="1150"/>
                                  </p:stCondLst>
                                  <p:childTnLst>
                                    <p:set>
                                      <p:cBhvr>
                                        <p:cTn id="198" dur="1" fill="hold">
                                          <p:stCondLst>
                                            <p:cond delay="0"/>
                                          </p:stCondLst>
                                        </p:cTn>
                                        <p:tgtEl>
                                          <p:spTgt spid="35"/>
                                        </p:tgtEl>
                                        <p:attrNameLst>
                                          <p:attrName>style.visibility</p:attrName>
                                        </p:attrNameLst>
                                      </p:cBhvr>
                                      <p:to>
                                        <p:strVal val="visible"/>
                                      </p:to>
                                    </p:set>
                                    <p:animEffect transition="in" filter="wipe(down)">
                                      <p:cBhvr>
                                        <p:cTn id="199" dur="500"/>
                                        <p:tgtEl>
                                          <p:spTgt spid="35"/>
                                        </p:tgtEl>
                                      </p:cBhvr>
                                    </p:animEffect>
                                  </p:childTnLst>
                                </p:cTn>
                              </p:par>
                              <p:par>
                                <p:cTn id="200" presetID="10" presetClass="entr" presetSubtype="0" fill="hold" nodeType="withEffect">
                                  <p:stCondLst>
                                    <p:cond delay="1220"/>
                                  </p:stCondLst>
                                  <p:childTnLst>
                                    <p:set>
                                      <p:cBhvr>
                                        <p:cTn id="201" dur="1" fill="hold">
                                          <p:stCondLst>
                                            <p:cond delay="0"/>
                                          </p:stCondLst>
                                        </p:cTn>
                                        <p:tgtEl>
                                          <p:spTgt spid="36"/>
                                        </p:tgtEl>
                                        <p:attrNameLst>
                                          <p:attrName>style.visibility</p:attrName>
                                        </p:attrNameLst>
                                      </p:cBhvr>
                                      <p:to>
                                        <p:strVal val="visible"/>
                                      </p:to>
                                    </p:set>
                                    <p:animEffect transition="in" filter="fade">
                                      <p:cBhvr>
                                        <p:cTn id="202" dur="450"/>
                                        <p:tgtEl>
                                          <p:spTgt spid="36"/>
                                        </p:tgtEl>
                                      </p:cBhvr>
                                    </p:animEffect>
                                  </p:childTnLst>
                                </p:cTn>
                              </p:par>
                              <p:par>
                                <p:cTn id="203" presetID="10" presetClass="entr" presetSubtype="0" fill="hold" nodeType="withEffect">
                                  <p:stCondLst>
                                    <p:cond delay="1290"/>
                                  </p:stCondLst>
                                  <p:childTnLst>
                                    <p:set>
                                      <p:cBhvr>
                                        <p:cTn id="204" dur="1" fill="hold">
                                          <p:stCondLst>
                                            <p:cond delay="0"/>
                                          </p:stCondLst>
                                        </p:cTn>
                                        <p:tgtEl>
                                          <p:spTgt spid="37"/>
                                        </p:tgtEl>
                                        <p:attrNameLst>
                                          <p:attrName>style.visibility</p:attrName>
                                        </p:attrNameLst>
                                      </p:cBhvr>
                                      <p:to>
                                        <p:strVal val="visible"/>
                                      </p:to>
                                    </p:set>
                                    <p:animEffect transition="in" filter="fade">
                                      <p:cBhvr>
                                        <p:cTn id="205" dur="450"/>
                                        <p:tgtEl>
                                          <p:spTgt spid="37"/>
                                        </p:tgtEl>
                                      </p:cBhvr>
                                    </p:animEffect>
                                  </p:childTnLst>
                                </p:cTn>
                              </p:par>
                              <p:par>
                                <p:cTn id="206" presetID="10" presetClass="entr" presetSubtype="0" fill="hold" nodeType="withEffect">
                                  <p:stCondLst>
                                    <p:cond delay="1360"/>
                                  </p:stCondLst>
                                  <p:childTnLst>
                                    <p:set>
                                      <p:cBhvr>
                                        <p:cTn id="207" dur="1" fill="hold">
                                          <p:stCondLst>
                                            <p:cond delay="0"/>
                                          </p:stCondLst>
                                        </p:cTn>
                                        <p:tgtEl>
                                          <p:spTgt spid="38"/>
                                        </p:tgtEl>
                                        <p:attrNameLst>
                                          <p:attrName>style.visibility</p:attrName>
                                        </p:attrNameLst>
                                      </p:cBhvr>
                                      <p:to>
                                        <p:strVal val="visible"/>
                                      </p:to>
                                    </p:set>
                                    <p:animEffect transition="in" filter="fade">
                                      <p:cBhvr>
                                        <p:cTn id="208" dur="450"/>
                                        <p:tgtEl>
                                          <p:spTgt spid="38"/>
                                        </p:tgtEl>
                                      </p:cBhvr>
                                    </p:animEffect>
                                  </p:childTnLst>
                                </p:cTn>
                              </p:par>
                              <p:par>
                                <p:cTn id="209" presetID="22" presetClass="entr" presetSubtype="4" fill="hold" nodeType="withEffect">
                                  <p:stCondLst>
                                    <p:cond delay="1430"/>
                                  </p:stCondLst>
                                  <p:childTnLst>
                                    <p:set>
                                      <p:cBhvr>
                                        <p:cTn id="210" dur="1" fill="hold">
                                          <p:stCondLst>
                                            <p:cond delay="0"/>
                                          </p:stCondLst>
                                        </p:cTn>
                                        <p:tgtEl>
                                          <p:spTgt spid="39"/>
                                        </p:tgtEl>
                                        <p:attrNameLst>
                                          <p:attrName>style.visibility</p:attrName>
                                        </p:attrNameLst>
                                      </p:cBhvr>
                                      <p:to>
                                        <p:strVal val="visible"/>
                                      </p:to>
                                    </p:set>
                                    <p:animEffect transition="in" filter="wipe(down)">
                                      <p:cBhvr>
                                        <p:cTn id="211" dur="500"/>
                                        <p:tgtEl>
                                          <p:spTgt spid="39"/>
                                        </p:tgtEl>
                                      </p:cBhvr>
                                    </p:animEffect>
                                  </p:childTnLst>
                                </p:cTn>
                              </p:par>
                              <p:par>
                                <p:cTn id="212" presetID="10" presetClass="entr" presetSubtype="0" fill="hold" nodeType="withEffect">
                                  <p:stCondLst>
                                    <p:cond delay="1480"/>
                                  </p:stCondLst>
                                  <p:childTnLst>
                                    <p:set>
                                      <p:cBhvr>
                                        <p:cTn id="213" dur="1" fill="hold">
                                          <p:stCondLst>
                                            <p:cond delay="0"/>
                                          </p:stCondLst>
                                        </p:cTn>
                                        <p:tgtEl>
                                          <p:spTgt spid="40"/>
                                        </p:tgtEl>
                                        <p:attrNameLst>
                                          <p:attrName>style.visibility</p:attrName>
                                        </p:attrNameLst>
                                      </p:cBhvr>
                                      <p:to>
                                        <p:strVal val="visible"/>
                                      </p:to>
                                    </p:set>
                                    <p:animEffect transition="in" filter="fade">
                                      <p:cBhvr>
                                        <p:cTn id="214" dur="450"/>
                                        <p:tgtEl>
                                          <p:spTgt spid="40"/>
                                        </p:tgtEl>
                                      </p:cBhvr>
                                    </p:animEffect>
                                  </p:childTnLst>
                                </p:cTn>
                              </p:par>
                              <p:par>
                                <p:cTn id="215" presetID="10" presetClass="entr" presetSubtype="0" fill="hold" nodeType="withEffect">
                                  <p:stCondLst>
                                    <p:cond delay="1480"/>
                                  </p:stCondLst>
                                  <p:childTnLst>
                                    <p:set>
                                      <p:cBhvr>
                                        <p:cTn id="216" dur="1" fill="hold">
                                          <p:stCondLst>
                                            <p:cond delay="0"/>
                                          </p:stCondLst>
                                        </p:cTn>
                                        <p:tgtEl>
                                          <p:spTgt spid="41"/>
                                        </p:tgtEl>
                                        <p:attrNameLst>
                                          <p:attrName>style.visibility</p:attrName>
                                        </p:attrNameLst>
                                      </p:cBhvr>
                                      <p:to>
                                        <p:strVal val="visible"/>
                                      </p:to>
                                    </p:set>
                                    <p:animEffect transition="in" filter="fade">
                                      <p:cBhvr>
                                        <p:cTn id="217" dur="450"/>
                                        <p:tgtEl>
                                          <p:spTgt spid="41"/>
                                        </p:tgtEl>
                                      </p:cBhvr>
                                    </p:animEffect>
                                  </p:childTnLst>
                                </p:cTn>
                              </p:par>
                              <p:par>
                                <p:cTn id="218" presetID="10" presetClass="entr" presetSubtype="0" fill="hold" nodeType="withEffect">
                                  <p:stCondLst>
                                    <p:cond delay="1480"/>
                                  </p:stCondLst>
                                  <p:childTnLst>
                                    <p:set>
                                      <p:cBhvr>
                                        <p:cTn id="219" dur="1" fill="hold">
                                          <p:stCondLst>
                                            <p:cond delay="0"/>
                                          </p:stCondLst>
                                        </p:cTn>
                                        <p:tgtEl>
                                          <p:spTgt spid="42"/>
                                        </p:tgtEl>
                                        <p:attrNameLst>
                                          <p:attrName>style.visibility</p:attrName>
                                        </p:attrNameLst>
                                      </p:cBhvr>
                                      <p:to>
                                        <p:strVal val="visible"/>
                                      </p:to>
                                    </p:set>
                                    <p:animEffect transition="in" filter="fade">
                                      <p:cBhvr>
                                        <p:cTn id="220" dur="450"/>
                                        <p:tgtEl>
                                          <p:spTgt spid="42"/>
                                        </p:tgtEl>
                                      </p:cBhvr>
                                    </p:animEffect>
                                  </p:childTnLst>
                                </p:cTn>
                              </p:par>
                              <p:par>
                                <p:cTn id="221" presetID="10" presetClass="entr" presetSubtype="0" fill="hold" nodeType="withEffect">
                                  <p:stCondLst>
                                    <p:cond delay="580"/>
                                  </p:stCondLst>
                                  <p:childTnLst>
                                    <p:set>
                                      <p:cBhvr>
                                        <p:cTn id="222" dur="1" fill="hold">
                                          <p:stCondLst>
                                            <p:cond delay="0"/>
                                          </p:stCondLst>
                                        </p:cTn>
                                        <p:tgtEl>
                                          <p:spTgt spid="43"/>
                                        </p:tgtEl>
                                        <p:attrNameLst>
                                          <p:attrName>style.visibility</p:attrName>
                                        </p:attrNameLst>
                                      </p:cBhvr>
                                      <p:to>
                                        <p:strVal val="visible"/>
                                      </p:to>
                                    </p:set>
                                    <p:animEffect transition="in" filter="fade">
                                      <p:cBhvr>
                                        <p:cTn id="223" dur="450"/>
                                        <p:tgtEl>
                                          <p:spTgt spid="43"/>
                                        </p:tgtEl>
                                      </p:cBhvr>
                                    </p:animEffect>
                                  </p:childTnLst>
                                </p:cTn>
                              </p:par>
                            </p:childTnLst>
                          </p:cTn>
                        </p:par>
                      </p:childTnLst>
                    </p:cTn>
                  </p:par>
                  <p:par>
                    <p:cTn id="224" fill="hold">
                      <p:stCondLst>
                        <p:cond delay="indefinite"/>
                      </p:stCondLst>
                      <p:childTnLst>
                        <p:par>
                          <p:cTn id="225" fill="hold">
                            <p:stCondLst>
                              <p:cond delay="0"/>
                            </p:stCondLst>
                            <p:childTnLst>
                              <p:par>
                                <p:cTn id="226" presetID="10" presetClass="exit" presetSubtype="0" fill="hold" nodeType="clickEffect">
                                  <p:stCondLst>
                                    <p:cond delay="0"/>
                                  </p:stCondLst>
                                  <p:childTnLst>
                                    <p:animEffect transition="out" filter="fade">
                                      <p:cBhvr>
                                        <p:cTn id="227" dur="350"/>
                                        <p:tgtEl>
                                          <p:spTgt spid="19"/>
                                        </p:tgtEl>
                                      </p:cBhvr>
                                    </p:animEffect>
                                    <p:set>
                                      <p:cBhvr>
                                        <p:cTn id="228" dur="1" fill="hold">
                                          <p:stCondLst>
                                            <p:cond delay="349"/>
                                          </p:stCondLst>
                                        </p:cTn>
                                        <p:tgtEl>
                                          <p:spTgt spid="19"/>
                                        </p:tgtEl>
                                        <p:attrNameLst>
                                          <p:attrName>style.visibility</p:attrName>
                                        </p:attrNameLst>
                                      </p:cBhvr>
                                      <p:to>
                                        <p:strVal val="hidden"/>
                                      </p:to>
                                    </p:set>
                                  </p:childTnLst>
                                </p:cTn>
                              </p:par>
                              <p:par>
                                <p:cTn id="229" presetID="10" presetClass="exit" presetSubtype="0" fill="hold" nodeType="withEffect">
                                  <p:stCondLst>
                                    <p:cond delay="0"/>
                                  </p:stCondLst>
                                  <p:childTnLst>
                                    <p:animEffect transition="out" filter="fade">
                                      <p:cBhvr>
                                        <p:cTn id="230" dur="350"/>
                                        <p:tgtEl>
                                          <p:spTgt spid="20"/>
                                        </p:tgtEl>
                                      </p:cBhvr>
                                    </p:animEffect>
                                    <p:set>
                                      <p:cBhvr>
                                        <p:cTn id="231" dur="1" fill="hold">
                                          <p:stCondLst>
                                            <p:cond delay="349"/>
                                          </p:stCondLst>
                                        </p:cTn>
                                        <p:tgtEl>
                                          <p:spTgt spid="20"/>
                                        </p:tgtEl>
                                        <p:attrNameLst>
                                          <p:attrName>style.visibility</p:attrName>
                                        </p:attrNameLst>
                                      </p:cBhvr>
                                      <p:to>
                                        <p:strVal val="hidden"/>
                                      </p:to>
                                    </p:set>
                                  </p:childTnLst>
                                </p:cTn>
                              </p:par>
                              <p:par>
                                <p:cTn id="232" presetID="10" presetClass="exit" presetSubtype="0" fill="hold" nodeType="withEffect">
                                  <p:stCondLst>
                                    <p:cond delay="0"/>
                                  </p:stCondLst>
                                  <p:childTnLst>
                                    <p:animEffect transition="out" filter="fade">
                                      <p:cBhvr>
                                        <p:cTn id="233" dur="350"/>
                                        <p:tgtEl>
                                          <p:spTgt spid="21"/>
                                        </p:tgtEl>
                                      </p:cBhvr>
                                    </p:animEffect>
                                    <p:set>
                                      <p:cBhvr>
                                        <p:cTn id="234" dur="1" fill="hold">
                                          <p:stCondLst>
                                            <p:cond delay="349"/>
                                          </p:stCondLst>
                                        </p:cTn>
                                        <p:tgtEl>
                                          <p:spTgt spid="21"/>
                                        </p:tgtEl>
                                        <p:attrNameLst>
                                          <p:attrName>style.visibility</p:attrName>
                                        </p:attrNameLst>
                                      </p:cBhvr>
                                      <p:to>
                                        <p:strVal val="hidden"/>
                                      </p:to>
                                    </p:set>
                                  </p:childTnLst>
                                </p:cTn>
                              </p:par>
                              <p:par>
                                <p:cTn id="235" presetID="10" presetClass="exit" presetSubtype="0" fill="hold" nodeType="withEffect">
                                  <p:stCondLst>
                                    <p:cond delay="0"/>
                                  </p:stCondLst>
                                  <p:childTnLst>
                                    <p:animEffect transition="out" filter="fade">
                                      <p:cBhvr>
                                        <p:cTn id="236" dur="350"/>
                                        <p:tgtEl>
                                          <p:spTgt spid="22"/>
                                        </p:tgtEl>
                                      </p:cBhvr>
                                    </p:animEffect>
                                    <p:set>
                                      <p:cBhvr>
                                        <p:cTn id="237" dur="1" fill="hold">
                                          <p:stCondLst>
                                            <p:cond delay="349"/>
                                          </p:stCondLst>
                                        </p:cTn>
                                        <p:tgtEl>
                                          <p:spTgt spid="22"/>
                                        </p:tgtEl>
                                        <p:attrNameLst>
                                          <p:attrName>style.visibility</p:attrName>
                                        </p:attrNameLst>
                                      </p:cBhvr>
                                      <p:to>
                                        <p:strVal val="hidden"/>
                                      </p:to>
                                    </p:set>
                                  </p:childTnLst>
                                </p:cTn>
                              </p:par>
                              <p:par>
                                <p:cTn id="238" presetID="10" presetClass="exit" presetSubtype="0" fill="hold" nodeType="withEffect">
                                  <p:stCondLst>
                                    <p:cond delay="0"/>
                                  </p:stCondLst>
                                  <p:childTnLst>
                                    <p:animEffect transition="out" filter="fade">
                                      <p:cBhvr>
                                        <p:cTn id="239" dur="350"/>
                                        <p:tgtEl>
                                          <p:spTgt spid="23"/>
                                        </p:tgtEl>
                                      </p:cBhvr>
                                    </p:animEffect>
                                    <p:set>
                                      <p:cBhvr>
                                        <p:cTn id="240" dur="1" fill="hold">
                                          <p:stCondLst>
                                            <p:cond delay="349"/>
                                          </p:stCondLst>
                                        </p:cTn>
                                        <p:tgtEl>
                                          <p:spTgt spid="23"/>
                                        </p:tgtEl>
                                        <p:attrNameLst>
                                          <p:attrName>style.visibility</p:attrName>
                                        </p:attrNameLst>
                                      </p:cBhvr>
                                      <p:to>
                                        <p:strVal val="hidden"/>
                                      </p:to>
                                    </p:set>
                                  </p:childTnLst>
                                </p:cTn>
                              </p:par>
                              <p:par>
                                <p:cTn id="241" presetID="10" presetClass="exit" presetSubtype="0" fill="hold" nodeType="withEffect">
                                  <p:stCondLst>
                                    <p:cond delay="0"/>
                                  </p:stCondLst>
                                  <p:childTnLst>
                                    <p:animEffect transition="out" filter="fade">
                                      <p:cBhvr>
                                        <p:cTn id="242" dur="350"/>
                                        <p:tgtEl>
                                          <p:spTgt spid="24"/>
                                        </p:tgtEl>
                                      </p:cBhvr>
                                    </p:animEffect>
                                    <p:set>
                                      <p:cBhvr>
                                        <p:cTn id="243" dur="1" fill="hold">
                                          <p:stCondLst>
                                            <p:cond delay="349"/>
                                          </p:stCondLst>
                                        </p:cTn>
                                        <p:tgtEl>
                                          <p:spTgt spid="24"/>
                                        </p:tgtEl>
                                        <p:attrNameLst>
                                          <p:attrName>style.visibility</p:attrName>
                                        </p:attrNameLst>
                                      </p:cBhvr>
                                      <p:to>
                                        <p:strVal val="hidden"/>
                                      </p:to>
                                    </p:set>
                                  </p:childTnLst>
                                </p:cTn>
                              </p:par>
                              <p:par>
                                <p:cTn id="244" presetID="10" presetClass="exit" presetSubtype="0" fill="hold" nodeType="withEffect">
                                  <p:stCondLst>
                                    <p:cond delay="0"/>
                                  </p:stCondLst>
                                  <p:childTnLst>
                                    <p:animEffect transition="out" filter="fade">
                                      <p:cBhvr>
                                        <p:cTn id="245" dur="350"/>
                                        <p:tgtEl>
                                          <p:spTgt spid="25"/>
                                        </p:tgtEl>
                                      </p:cBhvr>
                                    </p:animEffect>
                                    <p:set>
                                      <p:cBhvr>
                                        <p:cTn id="246" dur="1" fill="hold">
                                          <p:stCondLst>
                                            <p:cond delay="349"/>
                                          </p:stCondLst>
                                        </p:cTn>
                                        <p:tgtEl>
                                          <p:spTgt spid="25"/>
                                        </p:tgtEl>
                                        <p:attrNameLst>
                                          <p:attrName>style.visibility</p:attrName>
                                        </p:attrNameLst>
                                      </p:cBhvr>
                                      <p:to>
                                        <p:strVal val="hidden"/>
                                      </p:to>
                                    </p:set>
                                  </p:childTnLst>
                                </p:cTn>
                              </p:par>
                              <p:par>
                                <p:cTn id="247" presetID="10" presetClass="exit" presetSubtype="0" fill="hold" nodeType="withEffect">
                                  <p:stCondLst>
                                    <p:cond delay="0"/>
                                  </p:stCondLst>
                                  <p:childTnLst>
                                    <p:animEffect transition="out" filter="fade">
                                      <p:cBhvr>
                                        <p:cTn id="248" dur="350"/>
                                        <p:tgtEl>
                                          <p:spTgt spid="26"/>
                                        </p:tgtEl>
                                      </p:cBhvr>
                                    </p:animEffect>
                                    <p:set>
                                      <p:cBhvr>
                                        <p:cTn id="249" dur="1" fill="hold">
                                          <p:stCondLst>
                                            <p:cond delay="349"/>
                                          </p:stCondLst>
                                        </p:cTn>
                                        <p:tgtEl>
                                          <p:spTgt spid="26"/>
                                        </p:tgtEl>
                                        <p:attrNameLst>
                                          <p:attrName>style.visibility</p:attrName>
                                        </p:attrNameLst>
                                      </p:cBhvr>
                                      <p:to>
                                        <p:strVal val="hidden"/>
                                      </p:to>
                                    </p:set>
                                  </p:childTnLst>
                                </p:cTn>
                              </p:par>
                              <p:par>
                                <p:cTn id="250" presetID="10" presetClass="exit" presetSubtype="0" fill="hold" nodeType="withEffect">
                                  <p:stCondLst>
                                    <p:cond delay="0"/>
                                  </p:stCondLst>
                                  <p:childTnLst>
                                    <p:animEffect transition="out" filter="fade">
                                      <p:cBhvr>
                                        <p:cTn id="251" dur="350"/>
                                        <p:tgtEl>
                                          <p:spTgt spid="27"/>
                                        </p:tgtEl>
                                      </p:cBhvr>
                                    </p:animEffect>
                                    <p:set>
                                      <p:cBhvr>
                                        <p:cTn id="252" dur="1" fill="hold">
                                          <p:stCondLst>
                                            <p:cond delay="349"/>
                                          </p:stCondLst>
                                        </p:cTn>
                                        <p:tgtEl>
                                          <p:spTgt spid="27"/>
                                        </p:tgtEl>
                                        <p:attrNameLst>
                                          <p:attrName>style.visibility</p:attrName>
                                        </p:attrNameLst>
                                      </p:cBhvr>
                                      <p:to>
                                        <p:strVal val="hidden"/>
                                      </p:to>
                                    </p:set>
                                  </p:childTnLst>
                                </p:cTn>
                              </p:par>
                              <p:par>
                                <p:cTn id="253" presetID="10" presetClass="exit" presetSubtype="0" fill="hold" nodeType="withEffect">
                                  <p:stCondLst>
                                    <p:cond delay="0"/>
                                  </p:stCondLst>
                                  <p:childTnLst>
                                    <p:animEffect transition="out" filter="fade">
                                      <p:cBhvr>
                                        <p:cTn id="254" dur="350"/>
                                        <p:tgtEl>
                                          <p:spTgt spid="28"/>
                                        </p:tgtEl>
                                      </p:cBhvr>
                                    </p:animEffect>
                                    <p:set>
                                      <p:cBhvr>
                                        <p:cTn id="255" dur="1" fill="hold">
                                          <p:stCondLst>
                                            <p:cond delay="349"/>
                                          </p:stCondLst>
                                        </p:cTn>
                                        <p:tgtEl>
                                          <p:spTgt spid="28"/>
                                        </p:tgtEl>
                                        <p:attrNameLst>
                                          <p:attrName>style.visibility</p:attrName>
                                        </p:attrNameLst>
                                      </p:cBhvr>
                                      <p:to>
                                        <p:strVal val="hidden"/>
                                      </p:to>
                                    </p:set>
                                  </p:childTnLst>
                                </p:cTn>
                              </p:par>
                              <p:par>
                                <p:cTn id="256" presetID="10" presetClass="exit" presetSubtype="0" fill="hold" nodeType="withEffect">
                                  <p:stCondLst>
                                    <p:cond delay="0"/>
                                  </p:stCondLst>
                                  <p:childTnLst>
                                    <p:animEffect transition="out" filter="fade">
                                      <p:cBhvr>
                                        <p:cTn id="257" dur="350"/>
                                        <p:tgtEl>
                                          <p:spTgt spid="29"/>
                                        </p:tgtEl>
                                      </p:cBhvr>
                                    </p:animEffect>
                                    <p:set>
                                      <p:cBhvr>
                                        <p:cTn id="258" dur="1" fill="hold">
                                          <p:stCondLst>
                                            <p:cond delay="349"/>
                                          </p:stCondLst>
                                        </p:cTn>
                                        <p:tgtEl>
                                          <p:spTgt spid="29"/>
                                        </p:tgtEl>
                                        <p:attrNameLst>
                                          <p:attrName>style.visibility</p:attrName>
                                        </p:attrNameLst>
                                      </p:cBhvr>
                                      <p:to>
                                        <p:strVal val="hidden"/>
                                      </p:to>
                                    </p:set>
                                  </p:childTnLst>
                                </p:cTn>
                              </p:par>
                              <p:par>
                                <p:cTn id="259" presetID="10" presetClass="exit" presetSubtype="0" fill="hold" nodeType="withEffect">
                                  <p:stCondLst>
                                    <p:cond delay="0"/>
                                  </p:stCondLst>
                                  <p:childTnLst>
                                    <p:animEffect transition="out" filter="fade">
                                      <p:cBhvr>
                                        <p:cTn id="260" dur="350"/>
                                        <p:tgtEl>
                                          <p:spTgt spid="30"/>
                                        </p:tgtEl>
                                      </p:cBhvr>
                                    </p:animEffect>
                                    <p:set>
                                      <p:cBhvr>
                                        <p:cTn id="261" dur="1" fill="hold">
                                          <p:stCondLst>
                                            <p:cond delay="349"/>
                                          </p:stCondLst>
                                        </p:cTn>
                                        <p:tgtEl>
                                          <p:spTgt spid="30"/>
                                        </p:tgtEl>
                                        <p:attrNameLst>
                                          <p:attrName>style.visibility</p:attrName>
                                        </p:attrNameLst>
                                      </p:cBhvr>
                                      <p:to>
                                        <p:strVal val="hidden"/>
                                      </p:to>
                                    </p:set>
                                  </p:childTnLst>
                                </p:cTn>
                              </p:par>
                              <p:par>
                                <p:cTn id="262" presetID="10" presetClass="exit" presetSubtype="0" fill="hold" nodeType="withEffect">
                                  <p:stCondLst>
                                    <p:cond delay="0"/>
                                  </p:stCondLst>
                                  <p:childTnLst>
                                    <p:animEffect transition="out" filter="fade">
                                      <p:cBhvr>
                                        <p:cTn id="263" dur="350"/>
                                        <p:tgtEl>
                                          <p:spTgt spid="31"/>
                                        </p:tgtEl>
                                      </p:cBhvr>
                                    </p:animEffect>
                                    <p:set>
                                      <p:cBhvr>
                                        <p:cTn id="264" dur="1" fill="hold">
                                          <p:stCondLst>
                                            <p:cond delay="349"/>
                                          </p:stCondLst>
                                        </p:cTn>
                                        <p:tgtEl>
                                          <p:spTgt spid="31"/>
                                        </p:tgtEl>
                                        <p:attrNameLst>
                                          <p:attrName>style.visibility</p:attrName>
                                        </p:attrNameLst>
                                      </p:cBhvr>
                                      <p:to>
                                        <p:strVal val="hidden"/>
                                      </p:to>
                                    </p:set>
                                  </p:childTnLst>
                                </p:cTn>
                              </p:par>
                              <p:par>
                                <p:cTn id="265" presetID="10" presetClass="exit" presetSubtype="0" fill="hold" nodeType="withEffect">
                                  <p:stCondLst>
                                    <p:cond delay="0"/>
                                  </p:stCondLst>
                                  <p:childTnLst>
                                    <p:animEffect transition="out" filter="fade">
                                      <p:cBhvr>
                                        <p:cTn id="266" dur="350"/>
                                        <p:tgtEl>
                                          <p:spTgt spid="32"/>
                                        </p:tgtEl>
                                      </p:cBhvr>
                                    </p:animEffect>
                                    <p:set>
                                      <p:cBhvr>
                                        <p:cTn id="267" dur="1" fill="hold">
                                          <p:stCondLst>
                                            <p:cond delay="349"/>
                                          </p:stCondLst>
                                        </p:cTn>
                                        <p:tgtEl>
                                          <p:spTgt spid="32"/>
                                        </p:tgtEl>
                                        <p:attrNameLst>
                                          <p:attrName>style.visibility</p:attrName>
                                        </p:attrNameLst>
                                      </p:cBhvr>
                                      <p:to>
                                        <p:strVal val="hidden"/>
                                      </p:to>
                                    </p:set>
                                  </p:childTnLst>
                                </p:cTn>
                              </p:par>
                              <p:par>
                                <p:cTn id="268" presetID="10" presetClass="exit" presetSubtype="0" fill="hold" nodeType="withEffect">
                                  <p:stCondLst>
                                    <p:cond delay="0"/>
                                  </p:stCondLst>
                                  <p:childTnLst>
                                    <p:animEffect transition="out" filter="fade">
                                      <p:cBhvr>
                                        <p:cTn id="269" dur="350"/>
                                        <p:tgtEl>
                                          <p:spTgt spid="33"/>
                                        </p:tgtEl>
                                      </p:cBhvr>
                                    </p:animEffect>
                                    <p:set>
                                      <p:cBhvr>
                                        <p:cTn id="270" dur="1" fill="hold">
                                          <p:stCondLst>
                                            <p:cond delay="349"/>
                                          </p:stCondLst>
                                        </p:cTn>
                                        <p:tgtEl>
                                          <p:spTgt spid="33"/>
                                        </p:tgtEl>
                                        <p:attrNameLst>
                                          <p:attrName>style.visibility</p:attrName>
                                        </p:attrNameLst>
                                      </p:cBhvr>
                                      <p:to>
                                        <p:strVal val="hidden"/>
                                      </p:to>
                                    </p:set>
                                  </p:childTnLst>
                                </p:cTn>
                              </p:par>
                              <p:par>
                                <p:cTn id="271" presetID="10" presetClass="exit" presetSubtype="0" fill="hold" nodeType="withEffect">
                                  <p:stCondLst>
                                    <p:cond delay="0"/>
                                  </p:stCondLst>
                                  <p:childTnLst>
                                    <p:animEffect transition="out" filter="fade">
                                      <p:cBhvr>
                                        <p:cTn id="272" dur="350"/>
                                        <p:tgtEl>
                                          <p:spTgt spid="34"/>
                                        </p:tgtEl>
                                      </p:cBhvr>
                                    </p:animEffect>
                                    <p:set>
                                      <p:cBhvr>
                                        <p:cTn id="273" dur="1" fill="hold">
                                          <p:stCondLst>
                                            <p:cond delay="349"/>
                                          </p:stCondLst>
                                        </p:cTn>
                                        <p:tgtEl>
                                          <p:spTgt spid="34"/>
                                        </p:tgtEl>
                                        <p:attrNameLst>
                                          <p:attrName>style.visibility</p:attrName>
                                        </p:attrNameLst>
                                      </p:cBhvr>
                                      <p:to>
                                        <p:strVal val="hidden"/>
                                      </p:to>
                                    </p:set>
                                  </p:childTnLst>
                                </p:cTn>
                              </p:par>
                              <p:par>
                                <p:cTn id="274" presetID="10" presetClass="exit" presetSubtype="0" fill="hold" nodeType="withEffect">
                                  <p:stCondLst>
                                    <p:cond delay="0"/>
                                  </p:stCondLst>
                                  <p:childTnLst>
                                    <p:animEffect transition="out" filter="fade">
                                      <p:cBhvr>
                                        <p:cTn id="275" dur="350"/>
                                        <p:tgtEl>
                                          <p:spTgt spid="35"/>
                                        </p:tgtEl>
                                      </p:cBhvr>
                                    </p:animEffect>
                                    <p:set>
                                      <p:cBhvr>
                                        <p:cTn id="276" dur="1" fill="hold">
                                          <p:stCondLst>
                                            <p:cond delay="349"/>
                                          </p:stCondLst>
                                        </p:cTn>
                                        <p:tgtEl>
                                          <p:spTgt spid="35"/>
                                        </p:tgtEl>
                                        <p:attrNameLst>
                                          <p:attrName>style.visibility</p:attrName>
                                        </p:attrNameLst>
                                      </p:cBhvr>
                                      <p:to>
                                        <p:strVal val="hidden"/>
                                      </p:to>
                                    </p:set>
                                  </p:childTnLst>
                                </p:cTn>
                              </p:par>
                              <p:par>
                                <p:cTn id="277" presetID="10" presetClass="exit" presetSubtype="0" fill="hold" nodeType="withEffect">
                                  <p:stCondLst>
                                    <p:cond delay="0"/>
                                  </p:stCondLst>
                                  <p:childTnLst>
                                    <p:animEffect transition="out" filter="fade">
                                      <p:cBhvr>
                                        <p:cTn id="278" dur="350"/>
                                        <p:tgtEl>
                                          <p:spTgt spid="36"/>
                                        </p:tgtEl>
                                      </p:cBhvr>
                                    </p:animEffect>
                                    <p:set>
                                      <p:cBhvr>
                                        <p:cTn id="279" dur="1" fill="hold">
                                          <p:stCondLst>
                                            <p:cond delay="349"/>
                                          </p:stCondLst>
                                        </p:cTn>
                                        <p:tgtEl>
                                          <p:spTgt spid="36"/>
                                        </p:tgtEl>
                                        <p:attrNameLst>
                                          <p:attrName>style.visibility</p:attrName>
                                        </p:attrNameLst>
                                      </p:cBhvr>
                                      <p:to>
                                        <p:strVal val="hidden"/>
                                      </p:to>
                                    </p:set>
                                  </p:childTnLst>
                                </p:cTn>
                              </p:par>
                              <p:par>
                                <p:cTn id="280" presetID="10" presetClass="exit" presetSubtype="0" fill="hold" nodeType="withEffect">
                                  <p:stCondLst>
                                    <p:cond delay="0"/>
                                  </p:stCondLst>
                                  <p:childTnLst>
                                    <p:animEffect transition="out" filter="fade">
                                      <p:cBhvr>
                                        <p:cTn id="281" dur="350"/>
                                        <p:tgtEl>
                                          <p:spTgt spid="37"/>
                                        </p:tgtEl>
                                      </p:cBhvr>
                                    </p:animEffect>
                                    <p:set>
                                      <p:cBhvr>
                                        <p:cTn id="282" dur="1" fill="hold">
                                          <p:stCondLst>
                                            <p:cond delay="349"/>
                                          </p:stCondLst>
                                        </p:cTn>
                                        <p:tgtEl>
                                          <p:spTgt spid="37"/>
                                        </p:tgtEl>
                                        <p:attrNameLst>
                                          <p:attrName>style.visibility</p:attrName>
                                        </p:attrNameLst>
                                      </p:cBhvr>
                                      <p:to>
                                        <p:strVal val="hidden"/>
                                      </p:to>
                                    </p:set>
                                  </p:childTnLst>
                                </p:cTn>
                              </p:par>
                              <p:par>
                                <p:cTn id="283" presetID="10" presetClass="exit" presetSubtype="0" fill="hold" nodeType="withEffect">
                                  <p:stCondLst>
                                    <p:cond delay="0"/>
                                  </p:stCondLst>
                                  <p:childTnLst>
                                    <p:animEffect transition="out" filter="fade">
                                      <p:cBhvr>
                                        <p:cTn id="284" dur="350"/>
                                        <p:tgtEl>
                                          <p:spTgt spid="38"/>
                                        </p:tgtEl>
                                      </p:cBhvr>
                                    </p:animEffect>
                                    <p:set>
                                      <p:cBhvr>
                                        <p:cTn id="285" dur="1" fill="hold">
                                          <p:stCondLst>
                                            <p:cond delay="349"/>
                                          </p:stCondLst>
                                        </p:cTn>
                                        <p:tgtEl>
                                          <p:spTgt spid="38"/>
                                        </p:tgtEl>
                                        <p:attrNameLst>
                                          <p:attrName>style.visibility</p:attrName>
                                        </p:attrNameLst>
                                      </p:cBhvr>
                                      <p:to>
                                        <p:strVal val="hidden"/>
                                      </p:to>
                                    </p:set>
                                  </p:childTnLst>
                                </p:cTn>
                              </p:par>
                              <p:par>
                                <p:cTn id="286" presetID="10" presetClass="exit" presetSubtype="0" fill="hold" nodeType="withEffect">
                                  <p:stCondLst>
                                    <p:cond delay="0"/>
                                  </p:stCondLst>
                                  <p:childTnLst>
                                    <p:animEffect transition="out" filter="fade">
                                      <p:cBhvr>
                                        <p:cTn id="287" dur="350"/>
                                        <p:tgtEl>
                                          <p:spTgt spid="39"/>
                                        </p:tgtEl>
                                      </p:cBhvr>
                                    </p:animEffect>
                                    <p:set>
                                      <p:cBhvr>
                                        <p:cTn id="288" dur="1" fill="hold">
                                          <p:stCondLst>
                                            <p:cond delay="349"/>
                                          </p:stCondLst>
                                        </p:cTn>
                                        <p:tgtEl>
                                          <p:spTgt spid="39"/>
                                        </p:tgtEl>
                                        <p:attrNameLst>
                                          <p:attrName>style.visibility</p:attrName>
                                        </p:attrNameLst>
                                      </p:cBhvr>
                                      <p:to>
                                        <p:strVal val="hidden"/>
                                      </p:to>
                                    </p:set>
                                  </p:childTnLst>
                                </p:cTn>
                              </p:par>
                              <p:par>
                                <p:cTn id="289" presetID="10" presetClass="exit" presetSubtype="0" fill="hold" nodeType="withEffect">
                                  <p:stCondLst>
                                    <p:cond delay="0"/>
                                  </p:stCondLst>
                                  <p:childTnLst>
                                    <p:animEffect transition="out" filter="fade">
                                      <p:cBhvr>
                                        <p:cTn id="290" dur="350"/>
                                        <p:tgtEl>
                                          <p:spTgt spid="40"/>
                                        </p:tgtEl>
                                      </p:cBhvr>
                                    </p:animEffect>
                                    <p:set>
                                      <p:cBhvr>
                                        <p:cTn id="291" dur="1" fill="hold">
                                          <p:stCondLst>
                                            <p:cond delay="349"/>
                                          </p:stCondLst>
                                        </p:cTn>
                                        <p:tgtEl>
                                          <p:spTgt spid="40"/>
                                        </p:tgtEl>
                                        <p:attrNameLst>
                                          <p:attrName>style.visibility</p:attrName>
                                        </p:attrNameLst>
                                      </p:cBhvr>
                                      <p:to>
                                        <p:strVal val="hidden"/>
                                      </p:to>
                                    </p:set>
                                  </p:childTnLst>
                                </p:cTn>
                              </p:par>
                              <p:par>
                                <p:cTn id="292" presetID="10" presetClass="exit" presetSubtype="0" fill="hold" nodeType="withEffect">
                                  <p:stCondLst>
                                    <p:cond delay="0"/>
                                  </p:stCondLst>
                                  <p:childTnLst>
                                    <p:animEffect transition="out" filter="fade">
                                      <p:cBhvr>
                                        <p:cTn id="293" dur="350"/>
                                        <p:tgtEl>
                                          <p:spTgt spid="41"/>
                                        </p:tgtEl>
                                      </p:cBhvr>
                                    </p:animEffect>
                                    <p:set>
                                      <p:cBhvr>
                                        <p:cTn id="294" dur="1" fill="hold">
                                          <p:stCondLst>
                                            <p:cond delay="349"/>
                                          </p:stCondLst>
                                        </p:cTn>
                                        <p:tgtEl>
                                          <p:spTgt spid="41"/>
                                        </p:tgtEl>
                                        <p:attrNameLst>
                                          <p:attrName>style.visibility</p:attrName>
                                        </p:attrNameLst>
                                      </p:cBhvr>
                                      <p:to>
                                        <p:strVal val="hidden"/>
                                      </p:to>
                                    </p:set>
                                  </p:childTnLst>
                                </p:cTn>
                              </p:par>
                              <p:par>
                                <p:cTn id="295" presetID="10" presetClass="exit" presetSubtype="0" fill="hold" nodeType="withEffect">
                                  <p:stCondLst>
                                    <p:cond delay="0"/>
                                  </p:stCondLst>
                                  <p:childTnLst>
                                    <p:animEffect transition="out" filter="fade">
                                      <p:cBhvr>
                                        <p:cTn id="296" dur="350"/>
                                        <p:tgtEl>
                                          <p:spTgt spid="42"/>
                                        </p:tgtEl>
                                      </p:cBhvr>
                                    </p:animEffect>
                                    <p:set>
                                      <p:cBhvr>
                                        <p:cTn id="297" dur="1" fill="hold">
                                          <p:stCondLst>
                                            <p:cond delay="349"/>
                                          </p:stCondLst>
                                        </p:cTn>
                                        <p:tgtEl>
                                          <p:spTgt spid="42"/>
                                        </p:tgtEl>
                                        <p:attrNameLst>
                                          <p:attrName>style.visibility</p:attrName>
                                        </p:attrNameLst>
                                      </p:cBhvr>
                                      <p:to>
                                        <p:strVal val="hidden"/>
                                      </p:to>
                                    </p:set>
                                  </p:childTnLst>
                                </p:cTn>
                              </p:par>
                              <p:par>
                                <p:cTn id="298" presetID="10" presetClass="exit" presetSubtype="0" fill="hold" nodeType="withEffect">
                                  <p:stCondLst>
                                    <p:cond delay="0"/>
                                  </p:stCondLst>
                                  <p:childTnLst>
                                    <p:animEffect transition="out" filter="fade">
                                      <p:cBhvr>
                                        <p:cTn id="299" dur="350"/>
                                        <p:tgtEl>
                                          <p:spTgt spid="43"/>
                                        </p:tgtEl>
                                      </p:cBhvr>
                                    </p:animEffect>
                                    <p:set>
                                      <p:cBhvr>
                                        <p:cTn id="300" dur="1" fill="hold">
                                          <p:stCondLst>
                                            <p:cond delay="349"/>
                                          </p:stCondLst>
                                        </p:cTn>
                                        <p:tgtEl>
                                          <p:spTgt spid="43"/>
                                        </p:tgtEl>
                                        <p:attrNameLst>
                                          <p:attrName>style.visibility</p:attrName>
                                        </p:attrNameLst>
                                      </p:cBhvr>
                                      <p:to>
                                        <p:strVal val="hidden"/>
                                      </p:to>
                                    </p:set>
                                  </p:childTnLst>
                                </p:cTn>
                              </p:par>
                              <p:par>
                                <p:cTn id="301" presetID="10" presetClass="entr" presetSubtype="0" fill="hold" nodeType="withEffect">
                                  <p:stCondLst>
                                    <p:cond delay="450"/>
                                  </p:stCondLst>
                                  <p:childTnLst>
                                    <p:set>
                                      <p:cBhvr>
                                        <p:cTn id="302" dur="1" fill="hold">
                                          <p:stCondLst>
                                            <p:cond delay="0"/>
                                          </p:stCondLst>
                                        </p:cTn>
                                        <p:tgtEl>
                                          <p:spTgt spid="44"/>
                                        </p:tgtEl>
                                        <p:attrNameLst>
                                          <p:attrName>style.visibility</p:attrName>
                                        </p:attrNameLst>
                                      </p:cBhvr>
                                      <p:to>
                                        <p:strVal val="visible"/>
                                      </p:to>
                                    </p:set>
                                    <p:animEffect transition="in" filter="fade">
                                      <p:cBhvr>
                                        <p:cTn id="303" dur="450"/>
                                        <p:tgtEl>
                                          <p:spTgt spid="44"/>
                                        </p:tgtEl>
                                      </p:cBhvr>
                                    </p:animEffect>
                                  </p:childTnLst>
                                </p:cTn>
                              </p:par>
                              <p:par>
                                <p:cTn id="304" presetID="10" presetClass="entr" presetSubtype="0" fill="hold" nodeType="withEffect">
                                  <p:stCondLst>
                                    <p:cond delay="520"/>
                                  </p:stCondLst>
                                  <p:childTnLst>
                                    <p:set>
                                      <p:cBhvr>
                                        <p:cTn id="305" dur="1" fill="hold">
                                          <p:stCondLst>
                                            <p:cond delay="0"/>
                                          </p:stCondLst>
                                        </p:cTn>
                                        <p:tgtEl>
                                          <p:spTgt spid="45"/>
                                        </p:tgtEl>
                                        <p:attrNameLst>
                                          <p:attrName>style.visibility</p:attrName>
                                        </p:attrNameLst>
                                      </p:cBhvr>
                                      <p:to>
                                        <p:strVal val="visible"/>
                                      </p:to>
                                    </p:set>
                                    <p:animEffect transition="in" filter="fade">
                                      <p:cBhvr>
                                        <p:cTn id="306" dur="450"/>
                                        <p:tgtEl>
                                          <p:spTgt spid="45"/>
                                        </p:tgtEl>
                                      </p:cBhvr>
                                    </p:animEffect>
                                  </p:childTnLst>
                                </p:cTn>
                              </p:par>
                              <p:par>
                                <p:cTn id="307" presetID="22" presetClass="entr" presetSubtype="8" fill="hold" nodeType="withEffect">
                                  <p:stCondLst>
                                    <p:cond delay="520"/>
                                  </p:stCondLst>
                                  <p:childTnLst>
                                    <p:set>
                                      <p:cBhvr>
                                        <p:cTn id="308" dur="1" fill="hold">
                                          <p:stCondLst>
                                            <p:cond delay="0"/>
                                          </p:stCondLst>
                                        </p:cTn>
                                        <p:tgtEl>
                                          <p:spTgt spid="46"/>
                                        </p:tgtEl>
                                        <p:attrNameLst>
                                          <p:attrName>style.visibility</p:attrName>
                                        </p:attrNameLst>
                                      </p:cBhvr>
                                      <p:to>
                                        <p:strVal val="visible"/>
                                      </p:to>
                                    </p:set>
                                    <p:animEffect transition="in" filter="wipe(left)">
                                      <p:cBhvr>
                                        <p:cTn id="309" dur="500"/>
                                        <p:tgtEl>
                                          <p:spTgt spid="46"/>
                                        </p:tgtEl>
                                      </p:cBhvr>
                                    </p:animEffect>
                                  </p:childTnLst>
                                </p:cTn>
                              </p:par>
                              <p:par>
                                <p:cTn id="310" presetID="10" presetClass="entr" presetSubtype="0" fill="hold" nodeType="withEffect">
                                  <p:stCondLst>
                                    <p:cond delay="590"/>
                                  </p:stCondLst>
                                  <p:childTnLst>
                                    <p:set>
                                      <p:cBhvr>
                                        <p:cTn id="311" dur="1" fill="hold">
                                          <p:stCondLst>
                                            <p:cond delay="0"/>
                                          </p:stCondLst>
                                        </p:cTn>
                                        <p:tgtEl>
                                          <p:spTgt spid="47"/>
                                        </p:tgtEl>
                                        <p:attrNameLst>
                                          <p:attrName>style.visibility</p:attrName>
                                        </p:attrNameLst>
                                      </p:cBhvr>
                                      <p:to>
                                        <p:strVal val="visible"/>
                                      </p:to>
                                    </p:set>
                                    <p:animEffect transition="in" filter="fade">
                                      <p:cBhvr>
                                        <p:cTn id="312" dur="450"/>
                                        <p:tgtEl>
                                          <p:spTgt spid="47"/>
                                        </p:tgtEl>
                                      </p:cBhvr>
                                    </p:animEffect>
                                  </p:childTnLst>
                                </p:cTn>
                              </p:par>
                              <p:par>
                                <p:cTn id="313" presetID="22" presetClass="entr" presetSubtype="8" fill="hold" nodeType="withEffect">
                                  <p:stCondLst>
                                    <p:cond delay="660"/>
                                  </p:stCondLst>
                                  <p:childTnLst>
                                    <p:set>
                                      <p:cBhvr>
                                        <p:cTn id="314" dur="1" fill="hold">
                                          <p:stCondLst>
                                            <p:cond delay="0"/>
                                          </p:stCondLst>
                                        </p:cTn>
                                        <p:tgtEl>
                                          <p:spTgt spid="48"/>
                                        </p:tgtEl>
                                        <p:attrNameLst>
                                          <p:attrName>style.visibility</p:attrName>
                                        </p:attrNameLst>
                                      </p:cBhvr>
                                      <p:to>
                                        <p:strVal val="visible"/>
                                      </p:to>
                                    </p:set>
                                    <p:animEffect transition="in" filter="wipe(left)">
                                      <p:cBhvr>
                                        <p:cTn id="315" dur="500"/>
                                        <p:tgtEl>
                                          <p:spTgt spid="48"/>
                                        </p:tgtEl>
                                      </p:cBhvr>
                                    </p:animEffect>
                                  </p:childTnLst>
                                </p:cTn>
                              </p:par>
                              <p:par>
                                <p:cTn id="316" presetID="10" presetClass="entr" presetSubtype="0" fill="hold" nodeType="withEffect">
                                  <p:stCondLst>
                                    <p:cond delay="730"/>
                                  </p:stCondLst>
                                  <p:childTnLst>
                                    <p:set>
                                      <p:cBhvr>
                                        <p:cTn id="317" dur="1" fill="hold">
                                          <p:stCondLst>
                                            <p:cond delay="0"/>
                                          </p:stCondLst>
                                        </p:cTn>
                                        <p:tgtEl>
                                          <p:spTgt spid="49"/>
                                        </p:tgtEl>
                                        <p:attrNameLst>
                                          <p:attrName>style.visibility</p:attrName>
                                        </p:attrNameLst>
                                      </p:cBhvr>
                                      <p:to>
                                        <p:strVal val="visible"/>
                                      </p:to>
                                    </p:set>
                                    <p:animEffect transition="in" filter="fade">
                                      <p:cBhvr>
                                        <p:cTn id="318" dur="450"/>
                                        <p:tgtEl>
                                          <p:spTgt spid="49"/>
                                        </p:tgtEl>
                                      </p:cBhvr>
                                    </p:animEffect>
                                  </p:childTnLst>
                                </p:cTn>
                              </p:par>
                              <p:par>
                                <p:cTn id="319" presetID="22" presetClass="entr" presetSubtype="8" fill="hold" nodeType="withEffect">
                                  <p:stCondLst>
                                    <p:cond delay="730"/>
                                  </p:stCondLst>
                                  <p:childTnLst>
                                    <p:set>
                                      <p:cBhvr>
                                        <p:cTn id="320" dur="1" fill="hold">
                                          <p:stCondLst>
                                            <p:cond delay="0"/>
                                          </p:stCondLst>
                                        </p:cTn>
                                        <p:tgtEl>
                                          <p:spTgt spid="50"/>
                                        </p:tgtEl>
                                        <p:attrNameLst>
                                          <p:attrName>style.visibility</p:attrName>
                                        </p:attrNameLst>
                                      </p:cBhvr>
                                      <p:to>
                                        <p:strVal val="visible"/>
                                      </p:to>
                                    </p:set>
                                    <p:animEffect transition="in" filter="wipe(left)">
                                      <p:cBhvr>
                                        <p:cTn id="321" dur="500"/>
                                        <p:tgtEl>
                                          <p:spTgt spid="50"/>
                                        </p:tgtEl>
                                      </p:cBhvr>
                                    </p:animEffect>
                                  </p:childTnLst>
                                </p:cTn>
                              </p:par>
                              <p:par>
                                <p:cTn id="322" presetID="10" presetClass="entr" presetSubtype="0" fill="hold" nodeType="withEffect">
                                  <p:stCondLst>
                                    <p:cond delay="800"/>
                                  </p:stCondLst>
                                  <p:childTnLst>
                                    <p:set>
                                      <p:cBhvr>
                                        <p:cTn id="323" dur="1" fill="hold">
                                          <p:stCondLst>
                                            <p:cond delay="0"/>
                                          </p:stCondLst>
                                        </p:cTn>
                                        <p:tgtEl>
                                          <p:spTgt spid="51"/>
                                        </p:tgtEl>
                                        <p:attrNameLst>
                                          <p:attrName>style.visibility</p:attrName>
                                        </p:attrNameLst>
                                      </p:cBhvr>
                                      <p:to>
                                        <p:strVal val="visible"/>
                                      </p:to>
                                    </p:set>
                                    <p:animEffect transition="in" filter="fade">
                                      <p:cBhvr>
                                        <p:cTn id="324" dur="450"/>
                                        <p:tgtEl>
                                          <p:spTgt spid="51"/>
                                        </p:tgtEl>
                                      </p:cBhvr>
                                    </p:animEffect>
                                  </p:childTnLst>
                                </p:cTn>
                              </p:par>
                              <p:par>
                                <p:cTn id="325" presetID="22" presetClass="entr" presetSubtype="8" fill="hold" nodeType="withEffect">
                                  <p:stCondLst>
                                    <p:cond delay="870"/>
                                  </p:stCondLst>
                                  <p:childTnLst>
                                    <p:set>
                                      <p:cBhvr>
                                        <p:cTn id="326" dur="1" fill="hold">
                                          <p:stCondLst>
                                            <p:cond delay="0"/>
                                          </p:stCondLst>
                                        </p:cTn>
                                        <p:tgtEl>
                                          <p:spTgt spid="52"/>
                                        </p:tgtEl>
                                        <p:attrNameLst>
                                          <p:attrName>style.visibility</p:attrName>
                                        </p:attrNameLst>
                                      </p:cBhvr>
                                      <p:to>
                                        <p:strVal val="visible"/>
                                      </p:to>
                                    </p:set>
                                    <p:animEffect transition="in" filter="wipe(left)">
                                      <p:cBhvr>
                                        <p:cTn id="327" dur="500"/>
                                        <p:tgtEl>
                                          <p:spTgt spid="52"/>
                                        </p:tgtEl>
                                      </p:cBhvr>
                                    </p:animEffect>
                                  </p:childTnLst>
                                </p:cTn>
                              </p:par>
                              <p:par>
                                <p:cTn id="328" presetID="10" presetClass="entr" presetSubtype="0" fill="hold" nodeType="withEffect">
                                  <p:stCondLst>
                                    <p:cond delay="940"/>
                                  </p:stCondLst>
                                  <p:childTnLst>
                                    <p:set>
                                      <p:cBhvr>
                                        <p:cTn id="329" dur="1" fill="hold">
                                          <p:stCondLst>
                                            <p:cond delay="0"/>
                                          </p:stCondLst>
                                        </p:cTn>
                                        <p:tgtEl>
                                          <p:spTgt spid="53"/>
                                        </p:tgtEl>
                                        <p:attrNameLst>
                                          <p:attrName>style.visibility</p:attrName>
                                        </p:attrNameLst>
                                      </p:cBhvr>
                                      <p:to>
                                        <p:strVal val="visible"/>
                                      </p:to>
                                    </p:set>
                                    <p:animEffect transition="in" filter="fade">
                                      <p:cBhvr>
                                        <p:cTn id="330" dur="450"/>
                                        <p:tgtEl>
                                          <p:spTgt spid="53"/>
                                        </p:tgtEl>
                                      </p:cBhvr>
                                    </p:animEffect>
                                  </p:childTnLst>
                                </p:cTn>
                              </p:par>
                              <p:par>
                                <p:cTn id="331" presetID="22" presetClass="entr" presetSubtype="8" fill="hold" nodeType="withEffect">
                                  <p:stCondLst>
                                    <p:cond delay="940"/>
                                  </p:stCondLst>
                                  <p:childTnLst>
                                    <p:set>
                                      <p:cBhvr>
                                        <p:cTn id="332" dur="1" fill="hold">
                                          <p:stCondLst>
                                            <p:cond delay="0"/>
                                          </p:stCondLst>
                                        </p:cTn>
                                        <p:tgtEl>
                                          <p:spTgt spid="54"/>
                                        </p:tgtEl>
                                        <p:attrNameLst>
                                          <p:attrName>style.visibility</p:attrName>
                                        </p:attrNameLst>
                                      </p:cBhvr>
                                      <p:to>
                                        <p:strVal val="visible"/>
                                      </p:to>
                                    </p:set>
                                    <p:animEffect transition="in" filter="wipe(left)">
                                      <p:cBhvr>
                                        <p:cTn id="333" dur="500"/>
                                        <p:tgtEl>
                                          <p:spTgt spid="54"/>
                                        </p:tgtEl>
                                      </p:cBhvr>
                                    </p:animEffect>
                                  </p:childTnLst>
                                </p:cTn>
                              </p:par>
                              <p:par>
                                <p:cTn id="334" presetID="10" presetClass="entr" presetSubtype="0" fill="hold" nodeType="withEffect">
                                  <p:stCondLst>
                                    <p:cond delay="1010"/>
                                  </p:stCondLst>
                                  <p:childTnLst>
                                    <p:set>
                                      <p:cBhvr>
                                        <p:cTn id="335" dur="1" fill="hold">
                                          <p:stCondLst>
                                            <p:cond delay="0"/>
                                          </p:stCondLst>
                                        </p:cTn>
                                        <p:tgtEl>
                                          <p:spTgt spid="55"/>
                                        </p:tgtEl>
                                        <p:attrNameLst>
                                          <p:attrName>style.visibility</p:attrName>
                                        </p:attrNameLst>
                                      </p:cBhvr>
                                      <p:to>
                                        <p:strVal val="visible"/>
                                      </p:to>
                                    </p:set>
                                    <p:animEffect transition="in" filter="fade">
                                      <p:cBhvr>
                                        <p:cTn id="336" dur="450"/>
                                        <p:tgtEl>
                                          <p:spTgt spid="55"/>
                                        </p:tgtEl>
                                      </p:cBhvr>
                                    </p:animEffect>
                                  </p:childTnLst>
                                </p:cTn>
                              </p:par>
                              <p:par>
                                <p:cTn id="337" presetID="22" presetClass="entr" presetSubtype="8" fill="hold" nodeType="withEffect">
                                  <p:stCondLst>
                                    <p:cond delay="1080"/>
                                  </p:stCondLst>
                                  <p:childTnLst>
                                    <p:set>
                                      <p:cBhvr>
                                        <p:cTn id="338" dur="1" fill="hold">
                                          <p:stCondLst>
                                            <p:cond delay="0"/>
                                          </p:stCondLst>
                                        </p:cTn>
                                        <p:tgtEl>
                                          <p:spTgt spid="56"/>
                                        </p:tgtEl>
                                        <p:attrNameLst>
                                          <p:attrName>style.visibility</p:attrName>
                                        </p:attrNameLst>
                                      </p:cBhvr>
                                      <p:to>
                                        <p:strVal val="visible"/>
                                      </p:to>
                                    </p:set>
                                    <p:animEffect transition="in" filter="wipe(left)">
                                      <p:cBhvr>
                                        <p:cTn id="339" dur="500"/>
                                        <p:tgtEl>
                                          <p:spTgt spid="56"/>
                                        </p:tgtEl>
                                      </p:cBhvr>
                                    </p:animEffect>
                                  </p:childTnLst>
                                </p:cTn>
                              </p:par>
                              <p:par>
                                <p:cTn id="340" presetID="10" presetClass="entr" presetSubtype="0" fill="hold" nodeType="withEffect">
                                  <p:stCondLst>
                                    <p:cond delay="1150"/>
                                  </p:stCondLst>
                                  <p:childTnLst>
                                    <p:set>
                                      <p:cBhvr>
                                        <p:cTn id="341" dur="1" fill="hold">
                                          <p:stCondLst>
                                            <p:cond delay="0"/>
                                          </p:stCondLst>
                                        </p:cTn>
                                        <p:tgtEl>
                                          <p:spTgt spid="57"/>
                                        </p:tgtEl>
                                        <p:attrNameLst>
                                          <p:attrName>style.visibility</p:attrName>
                                        </p:attrNameLst>
                                      </p:cBhvr>
                                      <p:to>
                                        <p:strVal val="visible"/>
                                      </p:to>
                                    </p:set>
                                    <p:animEffect transition="in" filter="fade">
                                      <p:cBhvr>
                                        <p:cTn id="342" dur="450"/>
                                        <p:tgtEl>
                                          <p:spTgt spid="57"/>
                                        </p:tgtEl>
                                      </p:cBhvr>
                                    </p:animEffect>
                                  </p:childTnLst>
                                </p:cTn>
                              </p:par>
                              <p:par>
                                <p:cTn id="343" presetID="22" presetClass="entr" presetSubtype="8" fill="hold" nodeType="withEffect">
                                  <p:stCondLst>
                                    <p:cond delay="1150"/>
                                  </p:stCondLst>
                                  <p:childTnLst>
                                    <p:set>
                                      <p:cBhvr>
                                        <p:cTn id="344" dur="1" fill="hold">
                                          <p:stCondLst>
                                            <p:cond delay="0"/>
                                          </p:stCondLst>
                                        </p:cTn>
                                        <p:tgtEl>
                                          <p:spTgt spid="58"/>
                                        </p:tgtEl>
                                        <p:attrNameLst>
                                          <p:attrName>style.visibility</p:attrName>
                                        </p:attrNameLst>
                                      </p:cBhvr>
                                      <p:to>
                                        <p:strVal val="visible"/>
                                      </p:to>
                                    </p:set>
                                    <p:animEffect transition="in" filter="wipe(left)">
                                      <p:cBhvr>
                                        <p:cTn id="345" dur="500"/>
                                        <p:tgtEl>
                                          <p:spTgt spid="58"/>
                                        </p:tgtEl>
                                      </p:cBhvr>
                                    </p:animEffect>
                                  </p:childTnLst>
                                </p:cTn>
                              </p:par>
                              <p:par>
                                <p:cTn id="346" presetID="10" presetClass="entr" presetSubtype="0" fill="hold" nodeType="withEffect">
                                  <p:stCondLst>
                                    <p:cond delay="1220"/>
                                  </p:stCondLst>
                                  <p:childTnLst>
                                    <p:set>
                                      <p:cBhvr>
                                        <p:cTn id="347" dur="1" fill="hold">
                                          <p:stCondLst>
                                            <p:cond delay="0"/>
                                          </p:stCondLst>
                                        </p:cTn>
                                        <p:tgtEl>
                                          <p:spTgt spid="59"/>
                                        </p:tgtEl>
                                        <p:attrNameLst>
                                          <p:attrName>style.visibility</p:attrName>
                                        </p:attrNameLst>
                                      </p:cBhvr>
                                      <p:to>
                                        <p:strVal val="visible"/>
                                      </p:to>
                                    </p:set>
                                    <p:animEffect transition="in" filter="fade">
                                      <p:cBhvr>
                                        <p:cTn id="348" dur="450"/>
                                        <p:tgtEl>
                                          <p:spTgt spid="59"/>
                                        </p:tgtEl>
                                      </p:cBhvr>
                                    </p:animEffect>
                                  </p:childTnLst>
                                </p:cTn>
                              </p:par>
                              <p:par>
                                <p:cTn id="349" presetID="22" presetClass="entr" presetSubtype="8" fill="hold" nodeType="withEffect">
                                  <p:stCondLst>
                                    <p:cond delay="1290"/>
                                  </p:stCondLst>
                                  <p:childTnLst>
                                    <p:set>
                                      <p:cBhvr>
                                        <p:cTn id="350" dur="1" fill="hold">
                                          <p:stCondLst>
                                            <p:cond delay="0"/>
                                          </p:stCondLst>
                                        </p:cTn>
                                        <p:tgtEl>
                                          <p:spTgt spid="60"/>
                                        </p:tgtEl>
                                        <p:attrNameLst>
                                          <p:attrName>style.visibility</p:attrName>
                                        </p:attrNameLst>
                                      </p:cBhvr>
                                      <p:to>
                                        <p:strVal val="visible"/>
                                      </p:to>
                                    </p:set>
                                    <p:animEffect transition="in" filter="wipe(left)">
                                      <p:cBhvr>
                                        <p:cTn id="351" dur="500"/>
                                        <p:tgtEl>
                                          <p:spTgt spid="60"/>
                                        </p:tgtEl>
                                      </p:cBhvr>
                                    </p:animEffect>
                                  </p:childTnLst>
                                </p:cTn>
                              </p:par>
                              <p:par>
                                <p:cTn id="352" presetID="10" presetClass="entr" presetSubtype="0" fill="hold" nodeType="withEffect">
                                  <p:stCondLst>
                                    <p:cond delay="580"/>
                                  </p:stCondLst>
                                  <p:childTnLst>
                                    <p:set>
                                      <p:cBhvr>
                                        <p:cTn id="353" dur="1" fill="hold">
                                          <p:stCondLst>
                                            <p:cond delay="0"/>
                                          </p:stCondLst>
                                        </p:cTn>
                                        <p:tgtEl>
                                          <p:spTgt spid="61"/>
                                        </p:tgtEl>
                                        <p:attrNameLst>
                                          <p:attrName>style.visibility</p:attrName>
                                        </p:attrNameLst>
                                      </p:cBhvr>
                                      <p:to>
                                        <p:strVal val="visible"/>
                                      </p:to>
                                    </p:set>
                                    <p:animEffect transition="in" filter="fade">
                                      <p:cBhvr>
                                        <p:cTn id="354" dur="4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3" grpId="0" build="p"/>
      <p:bldP spid="1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SASW y MASW: de dos receptores a un registro espacio–tiempo</a:t>
            </a:r>
            <a:endParaRPr lang="en-US" sz="2200" dirty="0"/>
          </a:p>
        </p:txBody>
      </p:sp>
      <p:sp>
        <p:nvSpPr>
          <p:cNvPr id="3" name="Obj [o34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SASW: la diferencia de fase entre dos receptores da la velocidad de fase</a:t>
            </a:r>
            <a:endParaRPr lang="en-US" sz="1400" dirty="0"/>
          </a:p>
        </p:txBody>
      </p:sp>
      <p:pic>
        <p:nvPicPr>
          <p:cNvPr id="4" name="Obj [o342]" descr="Arreglo SASW: fuente vertical y dos receptores separados una distancia d">    </p:cNvPr>
          <p:cNvPicPr>
            <a:picLocks noChangeAspect="1"/>
          </p:cNvPicPr>
          <p:nvPr/>
        </p:nvPicPr>
        <p:blipFill>
          <a:blip r:embed="rId1"/>
          <a:stretch>
            <a:fillRect/>
          </a:stretch>
        </p:blipFill>
        <p:spPr>
          <a:xfrm>
            <a:off x="966136" y="1601523"/>
            <a:ext cx="4487298" cy="1976224"/>
          </a:xfrm>
          <a:prstGeom prst="rect">
            <a:avLst/>
          </a:prstGeom>
        </p:spPr>
      </p:pic>
      <p:sp>
        <p:nvSpPr>
          <p:cNvPr id="5" name="Obj [o343]"/>
          <p:cNvSpPr/>
          <p:nvPr/>
        </p:nvSpPr>
        <p:spPr>
          <a:xfrm>
            <a:off x="966136" y="3724977"/>
            <a:ext cx="448729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 name="Obj [o344]"/>
              <p:cNvSpPr txBox="1"/>
              <p:nvPr/>
            </p:nvSpPr>
            <p:spPr>
              <a:xfrm>
                <a:off x="966136" y="3724977"/>
                <a:ext cx="448729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c</m:t>
                          </m:r>
                        </m:e>
                        <m:sub>
                          <m:r>
                            <a:rPr lang="es-ES" sz="2200" i="1">
                              <a:solidFill>
                                <a:srgbClr val="1F4E79"/>
                              </a:solidFill>
                              <a:latin typeface="Cambria Math" panose="02040503050406030204" pitchFamily="18" charset="0"/>
                            </a:rPr>
                            <m:t xml:space="preserve">R</m:t>
                          </m:r>
                        </m:sub>
                      </m:sSub>
                      <m:r>
                        <a:rPr lang="es-ES" sz="2200" i="1">
                          <a:solidFill>
                            <a:srgbClr val="1F4E79"/>
                          </a:solidFill>
                          <a:latin typeface="Cambria Math" panose="02040503050406030204" pitchFamily="18" charset="0"/>
                        </a:rPr>
                        <m:t xml:space="preserve">(f)=</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2πf·d</m:t>
                          </m:r>
                        </m:num>
                        <m:den>
                          <m:r>
                            <a:rPr lang="es-ES" sz="2200" i="1">
                              <a:solidFill>
                                <a:srgbClr val="1F4E79"/>
                              </a:solidFill>
                              <a:latin typeface="Cambria Math" panose="02040503050406030204" pitchFamily="18" charset="0"/>
                            </a:rPr>
                            <m:t xml:space="preserve">Δφ(f)</m:t>
                          </m:r>
                        </m:den>
                      </m:f>
                    </m:oMath>
                  </m:oMathPara>
                </a14:m>
                <a:endParaRPr lang="es-ES"/>
              </a:p>
            </p:txBody>
          </p:sp>
        </mc:Choice>
        <mc:Fallback>
          <p:sp>
            <p:nvSpPr>
              <p:cNvPr id="6" name="Obj [o344]"/>
              <p:cNvSpPr txBox="1"/>
              <p:nvPr/>
            </p:nvSpPr>
            <p:spPr>
              <a:xfrm>
                <a:off x="966136" y="3724977"/>
                <a:ext cx="448729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cR(f) = 2π·f·d / Δφ(f)</a:t>
                </a:r>
                <a:endParaRPr lang="en-US" sz="2159" dirty="0"/>
              </a:p>
            </p:txBody>
          </p:sp>
        </mc:Fallback>
      </mc:AlternateContent>
      <p:sp>
        <p:nvSpPr>
          <p:cNvPr id="7" name="Obj [o345]"/>
          <p:cNvSpPr txBox="1"/>
          <p:nvPr/>
        </p:nvSpPr>
        <p:spPr>
          <a:xfrm>
            <a:off x="5693824" y="1721719"/>
            <a:ext cx="2484040" cy="2724431"/>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Fuente vertical y dos receptores separados una distancia d</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Se mide la diferencia de fase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Δ</m:t>
                    </m:r>
                    <m:r>
                      <a:rPr lang="es-ES" sz="1440" i="1">
                        <a:solidFill>
                          <a:srgbClr val="2D2D2D"/>
                        </a:solidFill>
                        <a:latin typeface="Cambria Math" panose="02040503050406030204" pitchFamily="18" charset="0"/>
                      </a:rPr>
                      <m:t xml:space="preserve">φ</m:t>
                    </m:r>
                  </m:oMath>
                </a14:m>
              </mc:Choice>
              <mc:Fallback>
                <a:r>
                  <a:rPr lang="en-US" sz="1440" dirty="0">
                    <a:solidFill>
                      <a:srgbClr val="2D2D2D"/>
                    </a:solidFill>
                    <a:latin typeface="Arial" pitchFamily="34" charset="0"/>
                    <a:ea typeface="Arial" pitchFamily="34" charset="-122"/>
                    <a:cs typeface="Arial" pitchFamily="34" charset="-120"/>
                  </a:rPr>
                  <a:t>Δφ</a:t>
                </a:r>
              </mc:Fallback>
            </mc:AlternateContent>
            <a:r>
              <a:rPr lang="en-US" sz="1440" dirty="0">
                <a:solidFill>
                  <a:srgbClr val="2D2D2D"/>
                </a:solidFill>
                <a:latin typeface="Arial" pitchFamily="34" charset="0"/>
                <a:ea typeface="Arial" pitchFamily="34" charset="-122"/>
                <a:cs typeface="Arial" pitchFamily="34" charset="-120"/>
              </a:rPr>
              <a:t> entre ambos, para cada frecuencia</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De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Δ</m:t>
                    </m:r>
                    <m:r>
                      <a:rPr lang="es-ES" sz="1440" i="1">
                        <a:solidFill>
                          <a:srgbClr val="2D2D2D"/>
                        </a:solidFill>
                        <a:latin typeface="Cambria Math" panose="02040503050406030204" pitchFamily="18" charset="0"/>
                      </a:rPr>
                      <m:t xml:space="preserve">φ</m:t>
                    </m:r>
                  </m:oMath>
                </a14:m>
              </mc:Choice>
              <mc:Fallback>
                <a:r>
                  <a:rPr lang="en-US" sz="1440" dirty="0">
                    <a:solidFill>
                      <a:srgbClr val="2D2D2D"/>
                    </a:solidFill>
                    <a:latin typeface="Arial" pitchFamily="34" charset="0"/>
                    <a:ea typeface="Arial" pitchFamily="34" charset="-122"/>
                    <a:cs typeface="Arial" pitchFamily="34" charset="-120"/>
                  </a:rPr>
                  <a:t>Δφ</a:t>
                </a:r>
              </mc:Fallback>
            </mc:AlternateContent>
            <a:r>
              <a:rPr lang="en-US" sz="1440" dirty="0">
                <a:solidFill>
                  <a:srgbClr val="2D2D2D"/>
                </a:solidFill>
                <a:latin typeface="Arial" pitchFamily="34" charset="0"/>
                <a:ea typeface="Arial" pitchFamily="34" charset="-122"/>
                <a:cs typeface="Arial" pitchFamily="34" charset="-120"/>
              </a:rPr>
              <a:t>(f) sale la velocidad de fase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c</m:t>
                        </m:r>
                      </m:e>
                      <m:sub>
                        <m:r>
                          <a:rPr lang="es-ES" sz="1440" i="1">
                            <a:solidFill>
                              <a:srgbClr val="2D2D2D"/>
                            </a:solidFill>
                            <a:latin typeface="Cambria Math" panose="02040503050406030204" pitchFamily="18" charset="0"/>
                          </a:rPr>
                          <m:t xml:space="preserve">R</m:t>
                        </m:r>
                      </m:sub>
                    </m:sSub>
                  </m:oMath>
                </a14:m>
              </mc:Choice>
              <mc:Fallback>
                <a:r>
                  <a:rPr lang="en-US" sz="1440" dirty="0">
                    <a:solidFill>
                      <a:srgbClr val="2D2D2D"/>
                    </a:solidFill>
                    <a:latin typeface="Arial" pitchFamily="34" charset="0"/>
                    <a:ea typeface="Arial" pitchFamily="34" charset="-122"/>
                    <a:cs typeface="Arial" pitchFamily="34" charset="-120"/>
                  </a:rPr>
                  <a:t>cR</a:t>
                </a:r>
              </mc:Fallback>
            </mc:AlternateContent>
            <a:r>
              <a:rPr lang="en-US" sz="1440" dirty="0">
                <a:solidFill>
                  <a:srgbClr val="2D2D2D"/>
                </a:solidFill>
                <a:latin typeface="Arial" pitchFamily="34" charset="0"/>
                <a:ea typeface="Arial" pitchFamily="34" charset="-122"/>
                <a:cs typeface="Arial" pitchFamily="34" charset="-120"/>
              </a:rPr>
              <a:t>(f)</a:t>
            </a:r>
            <a:endParaRPr lang="en-US" sz="1440" dirty="0"/>
          </a:p>
        </p:txBody>
      </p:sp>
      <p:sp>
        <p:nvSpPr>
          <p:cNvPr id="8" name="Obj [o34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esquema SASW/MASW (fuente original por confirmar), traducido. Resumen firmado, sec. 4; Foti et al. (2014).</a:t>
            </a:r>
            <a:endParaRPr lang="en-US" sz="800" dirty="0"/>
          </a:p>
        </p:txBody>
      </p:sp>
      <p:sp>
        <p:nvSpPr>
          <p:cNvPr id="9" name="Obj [o34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SASW es simple, pero deja ambigüedades y poca redundancia espacial</a:t>
            </a:r>
            <a:endParaRPr lang="en-US" sz="1400" dirty="0"/>
          </a:p>
        </p:txBody>
      </p:sp>
      <p:sp>
        <p:nvSpPr>
          <p:cNvPr id="10" name="Obj [o348]"/>
          <p:cNvSpPr/>
          <p:nvPr/>
        </p:nvSpPr>
        <p:spPr>
          <a:xfrm>
            <a:off x="441794" y="1671414"/>
            <a:ext cx="3269477" cy="418189"/>
          </a:xfrm>
          <a:prstGeom prst="rect">
            <a:avLst/>
          </a:prstGeom>
          <a:solidFill>
            <a:srgbClr val="1F4E79"/>
          </a:solidFill>
          <a:ln w="6350">
            <a:solidFill>
              <a:srgbClr val="1F4E79"/>
            </a:solidFill>
            <a:prstDash val="solid"/>
          </a:ln>
        </p:spPr>
      </p:sp>
      <p:sp>
        <p:nvSpPr>
          <p:cNvPr id="11" name="Obj [o349]"/>
          <p:cNvSpPr txBox="1"/>
          <p:nvPr/>
        </p:nvSpPr>
        <p:spPr>
          <a:xfrm>
            <a:off x="441794" y="1671414"/>
            <a:ext cx="3269477" cy="418189"/>
          </a:xfrm>
          <a:prstGeom prst="rect">
            <a:avLst/>
          </a:prstGeom>
          <a:noFill/>
          <a:ln/>
        </p:spPr>
        <p:txBody>
          <a:bodyPr wrap="square" lIns="50800" tIns="50800" rIns="50800" bIns="5080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Ventaja</a:t>
            </a:r>
            <a:endParaRPr lang="en-US" sz="1726" dirty="0"/>
          </a:p>
        </p:txBody>
      </p:sp>
      <p:sp>
        <p:nvSpPr>
          <p:cNvPr id="12" name="Obj [o350]"/>
          <p:cNvSpPr/>
          <p:nvPr/>
        </p:nvSpPr>
        <p:spPr>
          <a:xfrm>
            <a:off x="441794" y="2089603"/>
            <a:ext cx="3269477" cy="2281030"/>
          </a:xfrm>
          <a:prstGeom prst="rect">
            <a:avLst/>
          </a:prstGeom>
          <a:solidFill>
            <a:srgbClr val="FFFFFF"/>
          </a:solidFill>
          <a:ln w="15840">
            <a:solidFill>
              <a:srgbClr val="1F4E79"/>
            </a:solidFill>
            <a:prstDash val="solid"/>
          </a:ln>
        </p:spPr>
      </p:sp>
      <p:sp>
        <p:nvSpPr>
          <p:cNvPr id="13" name="Obj [o351]"/>
          <p:cNvSpPr txBox="1"/>
          <p:nvPr/>
        </p:nvSpPr>
        <p:spPr>
          <a:xfrm>
            <a:off x="555846" y="2127620"/>
            <a:ext cx="3041374" cy="2204996"/>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Instrumentación sencilla: solo dos receptores</a:t>
            </a:r>
            <a:endParaRPr lang="en-US" sz="1553" dirty="0"/>
          </a:p>
        </p:txBody>
      </p:sp>
      <p:sp>
        <p:nvSpPr>
          <p:cNvPr id="14" name="Obj [o352]"/>
          <p:cNvSpPr/>
          <p:nvPr/>
        </p:nvSpPr>
        <p:spPr>
          <a:xfrm>
            <a:off x="4015409" y="1671414"/>
            <a:ext cx="3269477" cy="418189"/>
          </a:xfrm>
          <a:prstGeom prst="rect">
            <a:avLst/>
          </a:prstGeom>
          <a:solidFill>
            <a:srgbClr val="C55A11"/>
          </a:solidFill>
          <a:ln w="6350">
            <a:solidFill>
              <a:srgbClr val="C55A11"/>
            </a:solidFill>
            <a:prstDash val="solid"/>
          </a:ln>
        </p:spPr>
      </p:sp>
      <p:sp>
        <p:nvSpPr>
          <p:cNvPr id="15" name="Obj [o353]"/>
          <p:cNvSpPr txBox="1"/>
          <p:nvPr/>
        </p:nvSpPr>
        <p:spPr>
          <a:xfrm>
            <a:off x="4015409" y="1671414"/>
            <a:ext cx="3269477" cy="418189"/>
          </a:xfrm>
          <a:prstGeom prst="rect">
            <a:avLst/>
          </a:prstGeom>
          <a:noFill/>
          <a:ln/>
        </p:spPr>
        <p:txBody>
          <a:bodyPr wrap="square" lIns="50800" tIns="50800" rIns="50800" bIns="5080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Limitaciones</a:t>
            </a:r>
            <a:endParaRPr lang="en-US" sz="1726" dirty="0"/>
          </a:p>
        </p:txBody>
      </p:sp>
      <p:sp>
        <p:nvSpPr>
          <p:cNvPr id="16" name="Obj [o354]"/>
          <p:cNvSpPr/>
          <p:nvPr/>
        </p:nvSpPr>
        <p:spPr>
          <a:xfrm>
            <a:off x="4015409" y="2089603"/>
            <a:ext cx="3269477" cy="2281030"/>
          </a:xfrm>
          <a:prstGeom prst="rect">
            <a:avLst/>
          </a:prstGeom>
          <a:solidFill>
            <a:srgbClr val="FFFFFF"/>
          </a:solidFill>
          <a:ln w="15840">
            <a:solidFill>
              <a:srgbClr val="C55A11"/>
            </a:solidFill>
            <a:prstDash val="solid"/>
          </a:ln>
        </p:spPr>
      </p:sp>
      <p:sp>
        <p:nvSpPr>
          <p:cNvPr id="17" name="Obj [o355]"/>
          <p:cNvSpPr txBox="1"/>
          <p:nvPr/>
        </p:nvSpPr>
        <p:spPr>
          <a:xfrm>
            <a:off x="4129460" y="2127620"/>
            <a:ext cx="3041374" cy="2204996"/>
          </a:xfrm>
          <a:prstGeom prst="rect">
            <a:avLst/>
          </a:prstGeom>
          <a:noFill/>
          <a:ln/>
        </p:spPr>
        <p:txBody>
          <a:bodyPr wrap="square" lIns="0" tIns="0" rIns="0" bIns="0" rtlCol="0" anchor="ctr"/>
          <a:lstStyle/>
          <a:p>
            <a:pPr indent="0" marL="0">
              <a:buNone/>
            </a:pPr>
            <a:endParaRPr lang="en-US" sz="1553" dirty="0"/>
          </a:p>
        </p:txBody>
      </p:sp>
      <p:sp>
        <p:nvSpPr>
          <p:cNvPr id="18" name="Obj [o356]"/>
          <p:cNvSpPr txBox="1"/>
          <p:nvPr/>
        </p:nvSpPr>
        <p:spPr>
          <a:xfrm>
            <a:off x="4167477" y="2165637"/>
            <a:ext cx="2965340" cy="2128962"/>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La fase se conoce salvo ciclos enteros: </a:t>
            </a:r>
            <mc:AlternateContent xmlns:mc="http://schemas.openxmlformats.org/markup-compatibility/2006">
              <mc:Choice xmlns:a14="http://schemas.microsoft.com/office/drawing/2010/main" Requires="a14">
                <a14:m>
                  <m:oMath xmlns:m="http://schemas.openxmlformats.org/officeDocument/2006/math">
                    <m:r>
                      <a:rPr lang="es-ES" sz="1553" i="1">
                        <a:solidFill>
                          <a:srgbClr val="2D2D2D"/>
                        </a:solidFill>
                        <a:latin typeface="Cambria Math" panose="02040503050406030204" pitchFamily="18" charset="0"/>
                      </a:rPr>
                      <m:t xml:space="preserve">Δ</m:t>
                    </m:r>
                    <m:r>
                      <a:rPr lang="es-ES" sz="1553" i="1">
                        <a:solidFill>
                          <a:srgbClr val="2D2D2D"/>
                        </a:solidFill>
                        <a:latin typeface="Cambria Math" panose="02040503050406030204" pitchFamily="18" charset="0"/>
                      </a:rPr>
                      <m:t xml:space="preserve">φ</m:t>
                    </m:r>
                  </m:oMath>
                </a14:m>
              </mc:Choice>
              <mc:Fallback>
                <a:r>
                  <a:rPr lang="en-US" sz="1553" dirty="0">
                    <a:solidFill>
                      <a:srgbClr val="2D2D2D"/>
                    </a:solidFill>
                    <a:latin typeface="Arial" pitchFamily="34" charset="0"/>
                    <a:ea typeface="Arial" pitchFamily="34" charset="-122"/>
                    <a:cs typeface="Arial" pitchFamily="34" charset="-120"/>
                  </a:rPr>
                  <a:t>Δφ</a:t>
                </a:r>
              </mc:Fallback>
            </mc:AlternateContent>
            <a:r>
              <a:rPr lang="en-US" sz="1553" dirty="0">
                <a:solidFill>
                  <a:srgbClr val="2D2D2D"/>
                </a:solidFill>
                <a:latin typeface="Arial" pitchFamily="34" charset="0"/>
                <a:ea typeface="Arial" pitchFamily="34" charset="-122"/>
                <a:cs typeface="Arial" pitchFamily="34" charset="-120"/>
              </a:rPr>
              <a:t> + 2πN</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Poca redundancia para separar contribuciones superpuestas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Se repite con distintas separaciones</a:t>
            </a:r>
            <a:endParaRPr lang="en-US" sz="1553" dirty="0"/>
          </a:p>
        </p:txBody>
      </p:sp>
      <p:sp>
        <p:nvSpPr>
          <p:cNvPr id="19" name="Obj [o35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 Foti et al. (2014) (a confirmar).</a:t>
            </a:r>
            <a:endParaRPr lang="en-US" sz="800" dirty="0"/>
          </a:p>
        </p:txBody>
      </p:sp>
      <p:sp>
        <p:nvSpPr>
          <p:cNvPr id="20" name="Obj [o35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MASW extiende el principio a múltiples posiciones a lo largo del terreno</a:t>
            </a:r>
            <a:endParaRPr lang="en-US" sz="1400" dirty="0"/>
          </a:p>
        </p:txBody>
      </p:sp>
      <p:pic>
        <p:nvPicPr>
          <p:cNvPr id="21" name="Obj [o359]" descr="Arreglo MASW: fuente y una línea de geófonos con espaciamiento dx">    </p:cNvPr>
          <p:cNvPicPr>
            <a:picLocks noChangeAspect="1"/>
          </p:cNvPicPr>
          <p:nvPr/>
        </p:nvPicPr>
        <p:blipFill>
          <a:blip r:embed="rId2"/>
          <a:stretch>
            <a:fillRect/>
          </a:stretch>
        </p:blipFill>
        <p:spPr>
          <a:xfrm>
            <a:off x="441794" y="1595380"/>
            <a:ext cx="4257923" cy="1995649"/>
          </a:xfrm>
          <a:prstGeom prst="rect">
            <a:avLst/>
          </a:prstGeom>
        </p:spPr>
      </p:pic>
      <p:sp>
        <p:nvSpPr>
          <p:cNvPr id="22" name="Obj [o360]"/>
          <p:cNvSpPr txBox="1"/>
          <p:nvPr/>
        </p:nvSpPr>
        <p:spPr>
          <a:xfrm>
            <a:off x="4927821" y="1709431"/>
            <a:ext cx="2357065" cy="2585168"/>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Un transductor y un canal por posición</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La redundancia espacial permite reconocer patrones coherentes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Se distinguen contribuciones superpuestas</a:t>
            </a:r>
            <a:endParaRPr lang="en-US" sz="1380" dirty="0"/>
          </a:p>
        </p:txBody>
      </p:sp>
      <p:sp>
        <p:nvSpPr>
          <p:cNvPr id="23" name="Obj [o36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esquema SASW/MASW (fuente original por confirmar), traducido. Park et al. (1998, 1999); Foti et al. (2018).</a:t>
            </a:r>
            <a:endParaRPr lang="en-US" sz="800" dirty="0"/>
          </a:p>
        </p:txBody>
      </p:sp>
      <p:sp>
        <p:nvSpPr>
          <p:cNvPr id="24" name="Obj [o36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registro MASW es una matriz espacio–tiempo: una traza por posición</a:t>
            </a:r>
            <a:endParaRPr lang="en-US" sz="1400" dirty="0"/>
          </a:p>
        </p:txBody>
      </p:sp>
      <p:pic>
        <p:nvPicPr>
          <p:cNvPr id="25" name="Obj [o363]" descr="Registro sintético: trazas por posición, con el tiempo de llegada creciendo con la distancia">    </p:cNvPr>
          <p:cNvPicPr>
            <a:picLocks noChangeAspect="1"/>
          </p:cNvPicPr>
          <p:nvPr/>
        </p:nvPicPr>
        <p:blipFill>
          <a:blip r:embed="rId3"/>
          <a:stretch>
            <a:fillRect/>
          </a:stretch>
        </p:blipFill>
        <p:spPr>
          <a:xfrm>
            <a:off x="441794" y="1633397"/>
            <a:ext cx="4105855" cy="2585168"/>
          </a:xfrm>
          <a:prstGeom prst="rect">
            <a:avLst/>
          </a:prstGeom>
        </p:spPr>
      </p:pic>
      <p:sp>
        <p:nvSpPr>
          <p:cNvPr id="26" name="Obj [o364]"/>
          <p:cNvSpPr/>
          <p:nvPr/>
        </p:nvSpPr>
        <p:spPr>
          <a:xfrm>
            <a:off x="4775752" y="1671414"/>
            <a:ext cx="2509133"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7" name="Obj [o365]"/>
              <p:cNvSpPr txBox="1"/>
              <p:nvPr/>
            </p:nvSpPr>
            <p:spPr>
              <a:xfrm>
                <a:off x="4775752" y="1671414"/>
                <a:ext cx="2509133"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U[m,n]=</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u</m:t>
                          </m:r>
                        </m:e>
                        <m:sub>
                          <m:r>
                            <a:rPr lang="es-ES" sz="2100" i="1">
                              <a:solidFill>
                                <a:srgbClr val="1F4E79"/>
                              </a:solidFill>
                              <a:latin typeface="Cambria Math" panose="02040503050406030204" pitchFamily="18" charset="0"/>
                            </a:rPr>
                            <m:t xml:space="preserve">z</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x</m:t>
                          </m:r>
                        </m:e>
                        <m:sub>
                          <m:r>
                            <a:rPr lang="es-ES" sz="2100" i="1">
                              <a:solidFill>
                                <a:srgbClr val="1F4E79"/>
                              </a:solidFill>
                              <a:latin typeface="Cambria Math" panose="02040503050406030204" pitchFamily="18" charset="0"/>
                            </a:rPr>
                            <m:t xml:space="preserve">m</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t</m:t>
                          </m:r>
                        </m:e>
                        <m:sub>
                          <m:r>
                            <a:rPr lang="es-ES" sz="2100" i="1">
                              <a:solidFill>
                                <a:srgbClr val="1F4E79"/>
                              </a:solidFill>
                              <a:latin typeface="Cambria Math" panose="02040503050406030204" pitchFamily="18" charset="0"/>
                            </a:rPr>
                            <m:t xml:space="preserve">n</m:t>
                          </m:r>
                        </m:sub>
                      </m:sSub>
                      <m:r>
                        <a:rPr lang="es-ES" sz="2100" i="1">
                          <a:solidFill>
                            <a:srgbClr val="1F4E79"/>
                          </a:solidFill>
                          <a:latin typeface="Cambria Math" panose="02040503050406030204" pitchFamily="18" charset="0"/>
                        </a:rPr>
                        <m:t xml:space="preserve">)</m:t>
                      </m:r>
                    </m:oMath>
                  </m:oMathPara>
                </a14:m>
                <a:endParaRPr lang="es-ES"/>
              </a:p>
            </p:txBody>
          </p:sp>
        </mc:Choice>
        <mc:Fallback>
          <p:sp>
            <p:nvSpPr>
              <p:cNvPr id="27" name="Obj [o365]"/>
              <p:cNvSpPr txBox="1"/>
              <p:nvPr/>
            </p:nvSpPr>
            <p:spPr>
              <a:xfrm>
                <a:off x="4775752" y="1671414"/>
                <a:ext cx="2509133"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U[m, n] = uz(xm, tn)</a:t>
                </a:r>
                <a:endParaRPr lang="en-US" sz="2071" dirty="0"/>
              </a:p>
            </p:txBody>
          </p:sp>
        </mc:Fallback>
      </mc:AlternateContent>
      <p:sp>
        <p:nvSpPr>
          <p:cNvPr id="28" name="Obj [o366]"/>
          <p:cNvSpPr txBox="1"/>
          <p:nvPr/>
        </p:nvSpPr>
        <p:spPr>
          <a:xfrm>
            <a:off x="4775752" y="2469775"/>
            <a:ext cx="2509133" cy="1824824"/>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Cada fila es la traza de una posición</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El conjunto es un registro espacio–tiempo</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380" dirty="0"/>
          </a:p>
        </p:txBody>
      </p:sp>
      <p:sp>
        <p:nvSpPr>
          <p:cNvPr id="29" name="Obj [o3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Registro sintético propio (ilustrativo), con la curva de la slide 41. Resumen firmado, ec. (6).</a:t>
            </a:r>
            <a:endParaRPr lang="en-US" sz="800" dirty="0"/>
          </a:p>
        </p:txBody>
      </p:sp>
      <p:sp>
        <p:nvSpPr>
          <p:cNvPr id="30" name="Obj [o36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dimensión espacial puede sintetizarse con adquisiciones sucesivas</a:t>
            </a:r>
            <a:endParaRPr lang="en-US" sz="1400" dirty="0"/>
          </a:p>
        </p:txBody>
      </p:sp>
      <p:pic>
        <p:nvPicPr>
          <p:cNvPr id="31" name="Obj [o369]" descr="Arreglo convencional con un receptor por posición y arreglo sintetizado con un receptor fijo y la fuente en posiciones sucesivas">    </p:cNvPr>
          <p:cNvPicPr>
            <a:picLocks noChangeAspect="1"/>
          </p:cNvPicPr>
          <p:nvPr/>
        </p:nvPicPr>
        <p:blipFill>
          <a:blip r:embed="rId4"/>
          <a:stretch>
            <a:fillRect/>
          </a:stretch>
        </p:blipFill>
        <p:spPr>
          <a:xfrm>
            <a:off x="441794" y="1633397"/>
            <a:ext cx="4562061" cy="2423595"/>
          </a:xfrm>
          <a:prstGeom prst="rect">
            <a:avLst/>
          </a:prstGeom>
        </p:spPr>
      </p:pic>
      <p:sp>
        <p:nvSpPr>
          <p:cNvPr id="32" name="Obj [o370]"/>
          <p:cNvSpPr txBox="1"/>
          <p:nvPr/>
        </p:nvSpPr>
        <p:spPr>
          <a:xfrm>
            <a:off x="5155924" y="1709431"/>
            <a:ext cx="2128962" cy="2585168"/>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Reduce el costo instrumental: menos canales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Es la configuración recíproca de mover el receptor</a:t>
            </a:r>
            <a:endParaRPr lang="en-US" sz="1380" dirty="0"/>
          </a:p>
        </p:txBody>
      </p:sp>
      <p:sp>
        <p:nvSpPr>
          <p:cNvPr id="33" name="Obj [o37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Lin y Ashlock (2016), según el resumen firmado (a confirmar en el artículo).</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22" presetClass="entr" presetSubtype="8" fill="hold" nodeType="withEffect">
                                  <p:stCondLst>
                                    <p:cond delay="41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10" presetClass="entr" presetSubtype="0" grpId="0" fill="hold" nodeType="withEffect">
                                  <p:stCondLst>
                                    <p:cond delay="48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450"/>
                                        <p:tgtEl>
                                          <p:spTgt spid="7">
                                            <p:txEl>
                                              <p:pRg st="0" end="0"/>
                                            </p:txEl>
                                          </p:spTgt>
                                        </p:tgtEl>
                                      </p:cBhvr>
                                    </p:animEffect>
                                  </p:childTnLst>
                                </p:cTn>
                              </p:par>
                              <p:par>
                                <p:cTn id="22" presetID="10" presetClass="entr" presetSubtype="0" grpId="0" fill="hold" nodeType="withEffect">
                                  <p:stCondLst>
                                    <p:cond delay="86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450"/>
                                        <p:tgtEl>
                                          <p:spTgt spid="7">
                                            <p:txEl>
                                              <p:pRg st="1" end="1"/>
                                            </p:txEl>
                                          </p:spTgt>
                                        </p:tgtEl>
                                      </p:cBhvr>
                                    </p:animEffect>
                                  </p:childTnLst>
                                </p:cTn>
                              </p:par>
                              <p:par>
                                <p:cTn id="25" presetID="10" presetClass="entr" presetSubtype="0" grpId="0" fill="hold" nodeType="withEffect">
                                  <p:stCondLst>
                                    <p:cond delay="124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450"/>
                                        <p:tgtEl>
                                          <p:spTgt spid="7">
                                            <p:txEl>
                                              <p:pRg st="2" end="2"/>
                                            </p:txEl>
                                          </p:spTgt>
                                        </p:tgtEl>
                                      </p:cBhvr>
                                    </p:animEffect>
                                  </p:childTnLst>
                                </p:cTn>
                              </p:par>
                              <p:par>
                                <p:cTn id="28" presetID="10" presetClass="entr" presetSubtype="0" fill="hold" nodeType="withEffect">
                                  <p:stCondLst>
                                    <p:cond delay="4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5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350"/>
                                        <p:tgtEl>
                                          <p:spTgt spid="3"/>
                                        </p:tgtEl>
                                      </p:cBhvr>
                                    </p:animEffect>
                                    <p:set>
                                      <p:cBhvr>
                                        <p:cTn id="35" dur="1" fill="hold">
                                          <p:stCondLst>
                                            <p:cond delay="349"/>
                                          </p:stCondLst>
                                        </p:cTn>
                                        <p:tgtEl>
                                          <p:spTgt spid="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350"/>
                                        <p:tgtEl>
                                          <p:spTgt spid="5"/>
                                        </p:tgtEl>
                                      </p:cBhvr>
                                    </p:animEffect>
                                    <p:set>
                                      <p:cBhvr>
                                        <p:cTn id="38" dur="1" fill="hold">
                                          <p:stCondLst>
                                            <p:cond delay="349"/>
                                          </p:stCondLst>
                                        </p:cTn>
                                        <p:tgtEl>
                                          <p:spTgt spid="5"/>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7">
                                            <p:txEl>
                                              <p:pRg st="0" end="0"/>
                                            </p:txEl>
                                          </p:spTgt>
                                        </p:tgtEl>
                                      </p:cBhvr>
                                    </p:animEffect>
                                    <p:set>
                                      <p:cBhvr>
                                        <p:cTn id="44" dur="1" fill="hold">
                                          <p:stCondLst>
                                            <p:cond delay="349"/>
                                          </p:stCondLst>
                                        </p:cTn>
                                        <p:tgtEl>
                                          <p:spTgt spid="7">
                                            <p:txEl>
                                              <p:pRg st="0" end="0"/>
                                            </p:txEl>
                                          </p:spTgt>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350"/>
                                        <p:tgtEl>
                                          <p:spTgt spid="7">
                                            <p:txEl>
                                              <p:pRg st="1" end="1"/>
                                            </p:txEl>
                                          </p:spTgt>
                                        </p:tgtEl>
                                      </p:cBhvr>
                                    </p:animEffect>
                                    <p:set>
                                      <p:cBhvr>
                                        <p:cTn id="47" dur="1" fill="hold">
                                          <p:stCondLst>
                                            <p:cond delay="349"/>
                                          </p:stCondLst>
                                        </p:cTn>
                                        <p:tgtEl>
                                          <p:spTgt spid="7">
                                            <p:txEl>
                                              <p:pRg st="1" end="1"/>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350"/>
                                        <p:tgtEl>
                                          <p:spTgt spid="7">
                                            <p:txEl>
                                              <p:pRg st="2" end="2"/>
                                            </p:txEl>
                                          </p:spTgt>
                                        </p:tgtEl>
                                      </p:cBhvr>
                                    </p:animEffect>
                                    <p:set>
                                      <p:cBhvr>
                                        <p:cTn id="50" dur="1" fill="hold">
                                          <p:stCondLst>
                                            <p:cond delay="349"/>
                                          </p:stCondLst>
                                        </p:cTn>
                                        <p:tgtEl>
                                          <p:spTgt spid="7">
                                            <p:txEl>
                                              <p:pRg st="2" end="2"/>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8"/>
                                        </p:tgtEl>
                                      </p:cBhvr>
                                    </p:animEffect>
                                    <p:set>
                                      <p:cBhvr>
                                        <p:cTn id="53" dur="1" fill="hold">
                                          <p:stCondLst>
                                            <p:cond delay="349"/>
                                          </p:stCondLst>
                                        </p:cTn>
                                        <p:tgtEl>
                                          <p:spTgt spid="8"/>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54147 -0.13548 E" pathEditMode="relative" rAng="0" ptsTypes="AA">
                                      <p:cBhvr>
                                        <p:cTn id="55" dur="750" fill="hold"/>
                                        <p:tgtEl>
                                          <p:spTgt spid="4"/>
                                        </p:tgtEl>
                                        <p:attrNameLst>
                                          <p:attrName>ppt_x</p:attrName>
                                          <p:attrName>ppt_y</p:attrName>
                                        </p:attrNameLst>
                                      </p:cBhvr>
                                      <p:rCtr x="27073" y="-6773"/>
                                    </p:animMotion>
                                  </p:childTnLst>
                                </p:cTn>
                              </p:par>
                              <p:par>
                                <p:cTn id="56" presetID="6" presetClass="emph" presetSubtype="0" accel="50000" decel="50000" fill="hold" nodeType="withEffect">
                                  <p:stCondLst>
                                    <p:cond delay="0"/>
                                  </p:stCondLst>
                                  <p:childTnLst>
                                    <p:animScale>
                                      <p:cBhvr>
                                        <p:cTn id="57" dur="750" fill="hold"/>
                                        <p:tgtEl>
                                          <p:spTgt spid="4"/>
                                        </p:tgtEl>
                                      </p:cBhvr>
                                      <p:by x="27510" y="27510"/>
                                    </p:animScale>
                                  </p:childTnLst>
                                </p:cTn>
                              </p:par>
                              <p:par>
                                <p:cTn id="58" presetID="10" presetClass="entr" presetSubtype="0" fill="hold" nodeType="withEffect">
                                  <p:stCondLst>
                                    <p:cond delay="45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450"/>
                                        <p:tgtEl>
                                          <p:spTgt spid="9"/>
                                        </p:tgtEl>
                                      </p:cBhvr>
                                    </p:animEffect>
                                  </p:childTnLst>
                                </p:cTn>
                              </p:par>
                              <p:par>
                                <p:cTn id="61" presetID="10" presetClass="entr" presetSubtype="0" fill="hold" nodeType="withEffect">
                                  <p:stCondLst>
                                    <p:cond delay="52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450"/>
                                        <p:tgtEl>
                                          <p:spTgt spid="10"/>
                                        </p:tgtEl>
                                      </p:cBhvr>
                                    </p:animEffect>
                                  </p:childTnLst>
                                </p:cTn>
                              </p:par>
                              <p:par>
                                <p:cTn id="64" presetID="22" presetClass="entr" presetSubtype="4" fill="hold" nodeType="withEffect">
                                  <p:stCondLst>
                                    <p:cond delay="520"/>
                                  </p:stCondLst>
                                  <p:childTnLst>
                                    <p:set>
                                      <p:cBhvr>
                                        <p:cTn id="65" dur="1" fill="hold">
                                          <p:stCondLst>
                                            <p:cond delay="0"/>
                                          </p:stCondLst>
                                        </p:cTn>
                                        <p:tgtEl>
                                          <p:spTgt spid="11"/>
                                        </p:tgtEl>
                                        <p:attrNameLst>
                                          <p:attrName>style.visibility</p:attrName>
                                        </p:attrNameLst>
                                      </p:cBhvr>
                                      <p:to>
                                        <p:strVal val="visible"/>
                                      </p:to>
                                    </p:set>
                                    <p:animEffect transition="in" filter="wipe(down)">
                                      <p:cBhvr>
                                        <p:cTn id="66" dur="500"/>
                                        <p:tgtEl>
                                          <p:spTgt spid="11"/>
                                        </p:tgtEl>
                                      </p:cBhvr>
                                    </p:animEffect>
                                  </p:childTnLst>
                                </p:cTn>
                              </p:par>
                              <p:par>
                                <p:cTn id="67" presetID="10" presetClass="entr" presetSubtype="0" fill="hold" nodeType="withEffect">
                                  <p:stCondLst>
                                    <p:cond delay="59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450"/>
                                        <p:tgtEl>
                                          <p:spTgt spid="12"/>
                                        </p:tgtEl>
                                      </p:cBhvr>
                                    </p:animEffect>
                                  </p:childTnLst>
                                </p:cTn>
                              </p:par>
                              <p:par>
                                <p:cTn id="70" presetID="22" presetClass="entr" presetSubtype="4" fill="hold" nodeType="withEffect">
                                  <p:stCondLst>
                                    <p:cond delay="660"/>
                                  </p:stCondLst>
                                  <p:childTnLst>
                                    <p:set>
                                      <p:cBhvr>
                                        <p:cTn id="71" dur="1" fill="hold">
                                          <p:stCondLst>
                                            <p:cond delay="0"/>
                                          </p:stCondLst>
                                        </p:cTn>
                                        <p:tgtEl>
                                          <p:spTgt spid="13"/>
                                        </p:tgtEl>
                                        <p:attrNameLst>
                                          <p:attrName>style.visibility</p:attrName>
                                        </p:attrNameLst>
                                      </p:cBhvr>
                                      <p:to>
                                        <p:strVal val="visible"/>
                                      </p:to>
                                    </p:set>
                                    <p:animEffect transition="in" filter="wipe(down)">
                                      <p:cBhvr>
                                        <p:cTn id="72" dur="500"/>
                                        <p:tgtEl>
                                          <p:spTgt spid="13"/>
                                        </p:tgtEl>
                                      </p:cBhvr>
                                    </p:animEffect>
                                  </p:childTnLst>
                                </p:cTn>
                              </p:par>
                              <p:par>
                                <p:cTn id="73" presetID="10" presetClass="entr" presetSubtype="0" fill="hold" nodeType="withEffect">
                                  <p:stCondLst>
                                    <p:cond delay="73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450"/>
                                        <p:tgtEl>
                                          <p:spTgt spid="14"/>
                                        </p:tgtEl>
                                      </p:cBhvr>
                                    </p:animEffect>
                                  </p:childTnLst>
                                </p:cTn>
                              </p:par>
                              <p:par>
                                <p:cTn id="76" presetID="22" presetClass="entr" presetSubtype="4" fill="hold" nodeType="withEffect">
                                  <p:stCondLst>
                                    <p:cond delay="730"/>
                                  </p:stCondLst>
                                  <p:childTnLst>
                                    <p:set>
                                      <p:cBhvr>
                                        <p:cTn id="77" dur="1" fill="hold">
                                          <p:stCondLst>
                                            <p:cond delay="0"/>
                                          </p:stCondLst>
                                        </p:cTn>
                                        <p:tgtEl>
                                          <p:spTgt spid="15"/>
                                        </p:tgtEl>
                                        <p:attrNameLst>
                                          <p:attrName>style.visibility</p:attrName>
                                        </p:attrNameLst>
                                      </p:cBhvr>
                                      <p:to>
                                        <p:strVal val="visible"/>
                                      </p:to>
                                    </p:set>
                                    <p:animEffect transition="in" filter="wipe(down)">
                                      <p:cBhvr>
                                        <p:cTn id="78" dur="500"/>
                                        <p:tgtEl>
                                          <p:spTgt spid="15"/>
                                        </p:tgtEl>
                                      </p:cBhvr>
                                    </p:animEffect>
                                  </p:childTnLst>
                                </p:cTn>
                              </p:par>
                              <p:par>
                                <p:cTn id="79" presetID="10" presetClass="entr" presetSubtype="0" fill="hold" nodeType="withEffect">
                                  <p:stCondLst>
                                    <p:cond delay="80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450"/>
                                        <p:tgtEl>
                                          <p:spTgt spid="16"/>
                                        </p:tgtEl>
                                      </p:cBhvr>
                                    </p:animEffect>
                                  </p:childTnLst>
                                </p:cTn>
                              </p:par>
                              <p:par>
                                <p:cTn id="82" presetID="22" presetClass="entr" presetSubtype="4" fill="hold" nodeType="withEffect">
                                  <p:stCondLst>
                                    <p:cond delay="870"/>
                                  </p:stCondLst>
                                  <p:childTnLst>
                                    <p:set>
                                      <p:cBhvr>
                                        <p:cTn id="83" dur="1" fill="hold">
                                          <p:stCondLst>
                                            <p:cond delay="0"/>
                                          </p:stCondLst>
                                        </p:cTn>
                                        <p:tgtEl>
                                          <p:spTgt spid="17"/>
                                        </p:tgtEl>
                                        <p:attrNameLst>
                                          <p:attrName>style.visibility</p:attrName>
                                        </p:attrNameLst>
                                      </p:cBhvr>
                                      <p:to>
                                        <p:strVal val="visible"/>
                                      </p:to>
                                    </p:set>
                                    <p:animEffect transition="in" filter="wipe(down)">
                                      <p:cBhvr>
                                        <p:cTn id="84" dur="500"/>
                                        <p:tgtEl>
                                          <p:spTgt spid="17"/>
                                        </p:tgtEl>
                                      </p:cBhvr>
                                    </p:animEffect>
                                  </p:childTnLst>
                                </p:cTn>
                              </p:par>
                              <p:par>
                                <p:cTn id="85" presetID="10" presetClass="entr" presetSubtype="0" grpId="0" fill="hold" nodeType="withEffect">
                                  <p:stCondLst>
                                    <p:cond delay="940"/>
                                  </p:stCondLst>
                                  <p:childTnLst>
                                    <p:set>
                                      <p:cBhvr>
                                        <p:cTn id="86" dur="1" fill="hold">
                                          <p:stCondLst>
                                            <p:cond delay="0"/>
                                          </p:stCondLst>
                                        </p:cTn>
                                        <p:tgtEl>
                                          <p:spTgt spid="18">
                                            <p:txEl>
                                              <p:pRg st="0" end="0"/>
                                            </p:txEl>
                                          </p:spTgt>
                                        </p:tgtEl>
                                        <p:attrNameLst>
                                          <p:attrName>style.visibility</p:attrName>
                                        </p:attrNameLst>
                                      </p:cBhvr>
                                      <p:to>
                                        <p:strVal val="visible"/>
                                      </p:to>
                                    </p:set>
                                    <p:animEffect transition="in" filter="fade">
                                      <p:cBhvr>
                                        <p:cTn id="87" dur="450"/>
                                        <p:tgtEl>
                                          <p:spTgt spid="18">
                                            <p:txEl>
                                              <p:pRg st="0" end="0"/>
                                            </p:txEl>
                                          </p:spTgt>
                                        </p:tgtEl>
                                      </p:cBhvr>
                                    </p:animEffect>
                                  </p:childTnLst>
                                </p:cTn>
                              </p:par>
                              <p:par>
                                <p:cTn id="88" presetID="10" presetClass="entr" presetSubtype="0" grpId="0" fill="hold" nodeType="withEffect">
                                  <p:stCondLst>
                                    <p:cond delay="1320"/>
                                  </p:stCondLst>
                                  <p:childTnLst>
                                    <p:set>
                                      <p:cBhvr>
                                        <p:cTn id="89" dur="1" fill="hold">
                                          <p:stCondLst>
                                            <p:cond delay="0"/>
                                          </p:stCondLst>
                                        </p:cTn>
                                        <p:tgtEl>
                                          <p:spTgt spid="18">
                                            <p:txEl>
                                              <p:pRg st="1" end="1"/>
                                            </p:txEl>
                                          </p:spTgt>
                                        </p:tgtEl>
                                        <p:attrNameLst>
                                          <p:attrName>style.visibility</p:attrName>
                                        </p:attrNameLst>
                                      </p:cBhvr>
                                      <p:to>
                                        <p:strVal val="visible"/>
                                      </p:to>
                                    </p:set>
                                    <p:animEffect transition="in" filter="fade">
                                      <p:cBhvr>
                                        <p:cTn id="90" dur="450"/>
                                        <p:tgtEl>
                                          <p:spTgt spid="18">
                                            <p:txEl>
                                              <p:pRg st="1" end="1"/>
                                            </p:txEl>
                                          </p:spTgt>
                                        </p:tgtEl>
                                      </p:cBhvr>
                                    </p:animEffect>
                                  </p:childTnLst>
                                </p:cTn>
                              </p:par>
                              <p:par>
                                <p:cTn id="91" presetID="10" presetClass="entr" presetSubtype="0" grpId="0" fill="hold" nodeType="withEffect">
                                  <p:stCondLst>
                                    <p:cond delay="1700"/>
                                  </p:stCondLst>
                                  <p:childTnLst>
                                    <p:set>
                                      <p:cBhvr>
                                        <p:cTn id="92" dur="1" fill="hold">
                                          <p:stCondLst>
                                            <p:cond delay="0"/>
                                          </p:stCondLst>
                                        </p:cTn>
                                        <p:tgtEl>
                                          <p:spTgt spid="18">
                                            <p:txEl>
                                              <p:pRg st="2" end="2"/>
                                            </p:txEl>
                                          </p:spTgt>
                                        </p:tgtEl>
                                        <p:attrNameLst>
                                          <p:attrName>style.visibility</p:attrName>
                                        </p:attrNameLst>
                                      </p:cBhvr>
                                      <p:to>
                                        <p:strVal val="visible"/>
                                      </p:to>
                                    </p:set>
                                    <p:animEffect transition="in" filter="fade">
                                      <p:cBhvr>
                                        <p:cTn id="93" dur="450"/>
                                        <p:tgtEl>
                                          <p:spTgt spid="18">
                                            <p:txEl>
                                              <p:pRg st="2" end="2"/>
                                            </p:txEl>
                                          </p:spTgt>
                                        </p:tgtEl>
                                      </p:cBhvr>
                                    </p:animEffect>
                                  </p:childTnLst>
                                </p:cTn>
                              </p:par>
                              <p:par>
                                <p:cTn id="94" presetID="10" presetClass="entr" presetSubtype="0" fill="hold" nodeType="withEffect">
                                  <p:stCondLst>
                                    <p:cond delay="58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450"/>
                                        <p:tgtEl>
                                          <p:spTgt spid="19"/>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xit" presetSubtype="0" fill="hold" nodeType="clickEffect">
                                  <p:stCondLst>
                                    <p:cond delay="0"/>
                                  </p:stCondLst>
                                  <p:childTnLst>
                                    <p:animEffect transition="out" filter="fade">
                                      <p:cBhvr>
                                        <p:cTn id="100" dur="350"/>
                                        <p:tgtEl>
                                          <p:spTgt spid="9"/>
                                        </p:tgtEl>
                                      </p:cBhvr>
                                    </p:animEffect>
                                    <p:set>
                                      <p:cBhvr>
                                        <p:cTn id="101" dur="1" fill="hold">
                                          <p:stCondLst>
                                            <p:cond delay="349"/>
                                          </p:stCondLst>
                                        </p:cTn>
                                        <p:tgtEl>
                                          <p:spTgt spid="9"/>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0"/>
                                        </p:tgtEl>
                                      </p:cBhvr>
                                    </p:animEffect>
                                    <p:set>
                                      <p:cBhvr>
                                        <p:cTn id="104" dur="1" fill="hold">
                                          <p:stCondLst>
                                            <p:cond delay="349"/>
                                          </p:stCondLst>
                                        </p:cTn>
                                        <p:tgtEl>
                                          <p:spTgt spid="10"/>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1"/>
                                        </p:tgtEl>
                                      </p:cBhvr>
                                    </p:animEffect>
                                    <p:set>
                                      <p:cBhvr>
                                        <p:cTn id="107" dur="1" fill="hold">
                                          <p:stCondLst>
                                            <p:cond delay="349"/>
                                          </p:stCondLst>
                                        </p:cTn>
                                        <p:tgtEl>
                                          <p:spTgt spid="11"/>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2"/>
                                        </p:tgtEl>
                                      </p:cBhvr>
                                    </p:animEffect>
                                    <p:set>
                                      <p:cBhvr>
                                        <p:cTn id="110" dur="1" fill="hold">
                                          <p:stCondLst>
                                            <p:cond delay="349"/>
                                          </p:stCondLst>
                                        </p:cTn>
                                        <p:tgtEl>
                                          <p:spTgt spid="12"/>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13"/>
                                        </p:tgtEl>
                                      </p:cBhvr>
                                    </p:animEffect>
                                    <p:set>
                                      <p:cBhvr>
                                        <p:cTn id="113" dur="1" fill="hold">
                                          <p:stCondLst>
                                            <p:cond delay="349"/>
                                          </p:stCondLst>
                                        </p:cTn>
                                        <p:tgtEl>
                                          <p:spTgt spid="13"/>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350"/>
                                        <p:tgtEl>
                                          <p:spTgt spid="14"/>
                                        </p:tgtEl>
                                      </p:cBhvr>
                                    </p:animEffect>
                                    <p:set>
                                      <p:cBhvr>
                                        <p:cTn id="116" dur="1" fill="hold">
                                          <p:stCondLst>
                                            <p:cond delay="349"/>
                                          </p:stCondLst>
                                        </p:cTn>
                                        <p:tgtEl>
                                          <p:spTgt spid="14"/>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350"/>
                                        <p:tgtEl>
                                          <p:spTgt spid="15"/>
                                        </p:tgtEl>
                                      </p:cBhvr>
                                    </p:animEffect>
                                    <p:set>
                                      <p:cBhvr>
                                        <p:cTn id="119" dur="1" fill="hold">
                                          <p:stCondLst>
                                            <p:cond delay="349"/>
                                          </p:stCondLst>
                                        </p:cTn>
                                        <p:tgtEl>
                                          <p:spTgt spid="15"/>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16"/>
                                        </p:tgtEl>
                                      </p:cBhvr>
                                    </p:animEffect>
                                    <p:set>
                                      <p:cBhvr>
                                        <p:cTn id="122" dur="1" fill="hold">
                                          <p:stCondLst>
                                            <p:cond delay="349"/>
                                          </p:stCondLst>
                                        </p:cTn>
                                        <p:tgtEl>
                                          <p:spTgt spid="16"/>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350"/>
                                        <p:tgtEl>
                                          <p:spTgt spid="17"/>
                                        </p:tgtEl>
                                      </p:cBhvr>
                                    </p:animEffect>
                                    <p:set>
                                      <p:cBhvr>
                                        <p:cTn id="125" dur="1" fill="hold">
                                          <p:stCondLst>
                                            <p:cond delay="349"/>
                                          </p:stCondLst>
                                        </p:cTn>
                                        <p:tgtEl>
                                          <p:spTgt spid="17"/>
                                        </p:tgtEl>
                                        <p:attrNameLst>
                                          <p:attrName>style.visibility</p:attrName>
                                        </p:attrNameLst>
                                      </p:cBhvr>
                                      <p:to>
                                        <p:strVal val="hidden"/>
                                      </p:to>
                                    </p:set>
                                  </p:childTnLst>
                                </p:cTn>
                              </p:par>
                              <p:par>
                                <p:cTn id="126" presetID="10" presetClass="exit" presetSubtype="0" grpId="0" fill="hold" nodeType="withEffect">
                                  <p:stCondLst>
                                    <p:cond delay="0"/>
                                  </p:stCondLst>
                                  <p:childTnLst>
                                    <p:animEffect transition="out" filter="fade">
                                      <p:cBhvr>
                                        <p:cTn id="127" dur="350"/>
                                        <p:tgtEl>
                                          <p:spTgt spid="18">
                                            <p:txEl>
                                              <p:pRg st="0" end="0"/>
                                            </p:txEl>
                                          </p:spTgt>
                                        </p:tgtEl>
                                      </p:cBhvr>
                                    </p:animEffect>
                                    <p:set>
                                      <p:cBhvr>
                                        <p:cTn id="128" dur="1" fill="hold">
                                          <p:stCondLst>
                                            <p:cond delay="349"/>
                                          </p:stCondLst>
                                        </p:cTn>
                                        <p:tgtEl>
                                          <p:spTgt spid="18">
                                            <p:txEl>
                                              <p:pRg st="0" end="0"/>
                                            </p:txEl>
                                          </p:spTgt>
                                        </p:tgtEl>
                                        <p:attrNameLst>
                                          <p:attrName>style.visibility</p:attrName>
                                        </p:attrNameLst>
                                      </p:cBhvr>
                                      <p:to>
                                        <p:strVal val="hidden"/>
                                      </p:to>
                                    </p:set>
                                  </p:childTnLst>
                                </p:cTn>
                              </p:par>
                              <p:par>
                                <p:cTn id="129" presetID="10" presetClass="exit" presetSubtype="0" grpId="0" fill="hold" nodeType="withEffect">
                                  <p:stCondLst>
                                    <p:cond delay="0"/>
                                  </p:stCondLst>
                                  <p:childTnLst>
                                    <p:animEffect transition="out" filter="fade">
                                      <p:cBhvr>
                                        <p:cTn id="130" dur="350"/>
                                        <p:tgtEl>
                                          <p:spTgt spid="18">
                                            <p:txEl>
                                              <p:pRg st="1" end="1"/>
                                            </p:txEl>
                                          </p:spTgt>
                                        </p:tgtEl>
                                      </p:cBhvr>
                                    </p:animEffect>
                                    <p:set>
                                      <p:cBhvr>
                                        <p:cTn id="131" dur="1" fill="hold">
                                          <p:stCondLst>
                                            <p:cond delay="349"/>
                                          </p:stCondLst>
                                        </p:cTn>
                                        <p:tgtEl>
                                          <p:spTgt spid="18">
                                            <p:txEl>
                                              <p:pRg st="1" end="1"/>
                                            </p:txEl>
                                          </p:spTgt>
                                        </p:tgtEl>
                                        <p:attrNameLst>
                                          <p:attrName>style.visibility</p:attrName>
                                        </p:attrNameLst>
                                      </p:cBhvr>
                                      <p:to>
                                        <p:strVal val="hidden"/>
                                      </p:to>
                                    </p:set>
                                  </p:childTnLst>
                                </p:cTn>
                              </p:par>
                              <p:par>
                                <p:cTn id="132" presetID="10" presetClass="exit" presetSubtype="0" grpId="0" fill="hold" nodeType="withEffect">
                                  <p:stCondLst>
                                    <p:cond delay="0"/>
                                  </p:stCondLst>
                                  <p:childTnLst>
                                    <p:animEffect transition="out" filter="fade">
                                      <p:cBhvr>
                                        <p:cTn id="133" dur="350"/>
                                        <p:tgtEl>
                                          <p:spTgt spid="18">
                                            <p:txEl>
                                              <p:pRg st="2" end="2"/>
                                            </p:txEl>
                                          </p:spTgt>
                                        </p:tgtEl>
                                      </p:cBhvr>
                                    </p:animEffect>
                                    <p:set>
                                      <p:cBhvr>
                                        <p:cTn id="134" dur="1" fill="hold">
                                          <p:stCondLst>
                                            <p:cond delay="349"/>
                                          </p:stCondLst>
                                        </p:cTn>
                                        <p:tgtEl>
                                          <p:spTgt spid="18">
                                            <p:txEl>
                                              <p:pRg st="2" end="2"/>
                                            </p:txEl>
                                          </p:spTgt>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350"/>
                                        <p:tgtEl>
                                          <p:spTgt spid="19"/>
                                        </p:tgtEl>
                                      </p:cBhvr>
                                    </p:animEffect>
                                    <p:set>
                                      <p:cBhvr>
                                        <p:cTn id="137" dur="1" fill="hold">
                                          <p:stCondLst>
                                            <p:cond delay="349"/>
                                          </p:stCondLst>
                                        </p:cTn>
                                        <p:tgtEl>
                                          <p:spTgt spid="19"/>
                                        </p:tgtEl>
                                        <p:attrNameLst>
                                          <p:attrName>style.visibility</p:attrName>
                                        </p:attrNameLst>
                                      </p:cBhvr>
                                      <p:to>
                                        <p:strVal val="hidden"/>
                                      </p:to>
                                    </p:set>
                                  </p:childTnLst>
                                </p:cTn>
                              </p:par>
                              <p:par>
                                <p:cTn id="138" presetID="10" presetClass="entr" presetSubtype="0" fill="hold" nodeType="withEffect">
                                  <p:stCondLst>
                                    <p:cond delay="450"/>
                                  </p:stCondLst>
                                  <p:childTnLst>
                                    <p:set>
                                      <p:cBhvr>
                                        <p:cTn id="139" dur="1" fill="hold">
                                          <p:stCondLst>
                                            <p:cond delay="0"/>
                                          </p:stCondLst>
                                        </p:cTn>
                                        <p:tgtEl>
                                          <p:spTgt spid="20"/>
                                        </p:tgtEl>
                                        <p:attrNameLst>
                                          <p:attrName>style.visibility</p:attrName>
                                        </p:attrNameLst>
                                      </p:cBhvr>
                                      <p:to>
                                        <p:strVal val="visible"/>
                                      </p:to>
                                    </p:set>
                                    <p:animEffect transition="in" filter="fade">
                                      <p:cBhvr>
                                        <p:cTn id="140" dur="450"/>
                                        <p:tgtEl>
                                          <p:spTgt spid="20"/>
                                        </p:tgtEl>
                                      </p:cBhvr>
                                    </p:animEffect>
                                  </p:childTnLst>
                                </p:cTn>
                              </p:par>
                              <p:par>
                                <p:cTn id="141" presetID="53" presetClass="entr" presetSubtype="16" fill="hold" nodeType="withEffect">
                                  <p:stCondLst>
                                    <p:cond delay="520"/>
                                  </p:stCondLst>
                                  <p:childTnLst>
                                    <p:set>
                                      <p:cBhvr>
                                        <p:cTn id="142" dur="1" fill="hold">
                                          <p:stCondLst>
                                            <p:cond delay="0"/>
                                          </p:stCondLst>
                                        </p:cTn>
                                        <p:tgtEl>
                                          <p:spTgt spid="21"/>
                                        </p:tgtEl>
                                        <p:attrNameLst>
                                          <p:attrName>style.visibility</p:attrName>
                                        </p:attrNameLst>
                                      </p:cBhvr>
                                      <p:to>
                                        <p:strVal val="visible"/>
                                      </p:to>
                                    </p:set>
                                    <p:anim calcmode="lin" valueType="num">
                                      <p:cBhvr>
                                        <p:cTn id="143" dur="600" fill="hold"/>
                                        <p:tgtEl>
                                          <p:spTgt spid="21"/>
                                        </p:tgtEl>
                                        <p:attrNameLst>
                                          <p:attrName>ppt_w</p:attrName>
                                        </p:attrNameLst>
                                      </p:cBhvr>
                                      <p:tavLst>
                                        <p:tav tm="0">
                                          <p:val>
                                            <p:fltVal val="0"/>
                                          </p:val>
                                        </p:tav>
                                        <p:tav tm="100000">
                                          <p:val>
                                            <p:strVal val="#ppt_w"/>
                                          </p:val>
                                        </p:tav>
                                      </p:tavLst>
                                    </p:anim>
                                    <p:anim calcmode="lin" valueType="num">
                                      <p:cBhvr>
                                        <p:cTn id="144" dur="600" fill="hold"/>
                                        <p:tgtEl>
                                          <p:spTgt spid="21"/>
                                        </p:tgtEl>
                                        <p:attrNameLst>
                                          <p:attrName>ppt_h</p:attrName>
                                        </p:attrNameLst>
                                      </p:cBhvr>
                                      <p:tavLst>
                                        <p:tav tm="0">
                                          <p:val>
                                            <p:fltVal val="0"/>
                                          </p:val>
                                        </p:tav>
                                        <p:tav tm="100000">
                                          <p:val>
                                            <p:strVal val="#ppt_h"/>
                                          </p:val>
                                        </p:tav>
                                      </p:tavLst>
                                    </p:anim>
                                    <p:animEffect transition="in" filter="fade">
                                      <p:cBhvr>
                                        <p:cTn id="145" dur="600"/>
                                        <p:tgtEl>
                                          <p:spTgt spid="21"/>
                                        </p:tgtEl>
                                      </p:cBhvr>
                                    </p:animEffect>
                                  </p:childTnLst>
                                </p:cTn>
                              </p:par>
                              <p:par>
                                <p:cTn id="146" presetID="10" presetClass="entr" presetSubtype="0" grpId="0" fill="hold" nodeType="withEffect">
                                  <p:stCondLst>
                                    <p:cond delay="590"/>
                                  </p:stCondLst>
                                  <p:childTnLst>
                                    <p:set>
                                      <p:cBhvr>
                                        <p:cTn id="147" dur="1" fill="hold">
                                          <p:stCondLst>
                                            <p:cond delay="0"/>
                                          </p:stCondLst>
                                        </p:cTn>
                                        <p:tgtEl>
                                          <p:spTgt spid="22">
                                            <p:txEl>
                                              <p:pRg st="0" end="0"/>
                                            </p:txEl>
                                          </p:spTgt>
                                        </p:tgtEl>
                                        <p:attrNameLst>
                                          <p:attrName>style.visibility</p:attrName>
                                        </p:attrNameLst>
                                      </p:cBhvr>
                                      <p:to>
                                        <p:strVal val="visible"/>
                                      </p:to>
                                    </p:set>
                                    <p:animEffect transition="in" filter="fade">
                                      <p:cBhvr>
                                        <p:cTn id="148" dur="450"/>
                                        <p:tgtEl>
                                          <p:spTgt spid="22">
                                            <p:txEl>
                                              <p:pRg st="0" end="0"/>
                                            </p:txEl>
                                          </p:spTgt>
                                        </p:tgtEl>
                                      </p:cBhvr>
                                    </p:animEffect>
                                  </p:childTnLst>
                                </p:cTn>
                              </p:par>
                              <p:par>
                                <p:cTn id="149" presetID="10" presetClass="entr" presetSubtype="0" grpId="0" fill="hold" nodeType="withEffect">
                                  <p:stCondLst>
                                    <p:cond delay="970"/>
                                  </p:stCondLst>
                                  <p:childTnLst>
                                    <p:set>
                                      <p:cBhvr>
                                        <p:cTn id="150" dur="1" fill="hold">
                                          <p:stCondLst>
                                            <p:cond delay="0"/>
                                          </p:stCondLst>
                                        </p:cTn>
                                        <p:tgtEl>
                                          <p:spTgt spid="22">
                                            <p:txEl>
                                              <p:pRg st="1" end="1"/>
                                            </p:txEl>
                                          </p:spTgt>
                                        </p:tgtEl>
                                        <p:attrNameLst>
                                          <p:attrName>style.visibility</p:attrName>
                                        </p:attrNameLst>
                                      </p:cBhvr>
                                      <p:to>
                                        <p:strVal val="visible"/>
                                      </p:to>
                                    </p:set>
                                    <p:animEffect transition="in" filter="fade">
                                      <p:cBhvr>
                                        <p:cTn id="151" dur="450"/>
                                        <p:tgtEl>
                                          <p:spTgt spid="22">
                                            <p:txEl>
                                              <p:pRg st="1" end="1"/>
                                            </p:txEl>
                                          </p:spTgt>
                                        </p:tgtEl>
                                      </p:cBhvr>
                                    </p:animEffect>
                                  </p:childTnLst>
                                </p:cTn>
                              </p:par>
                              <p:par>
                                <p:cTn id="152" presetID="10" presetClass="entr" presetSubtype="0" grpId="0" fill="hold" nodeType="withEffect">
                                  <p:stCondLst>
                                    <p:cond delay="1350"/>
                                  </p:stCondLst>
                                  <p:childTnLst>
                                    <p:set>
                                      <p:cBhvr>
                                        <p:cTn id="153" dur="1" fill="hold">
                                          <p:stCondLst>
                                            <p:cond delay="0"/>
                                          </p:stCondLst>
                                        </p:cTn>
                                        <p:tgtEl>
                                          <p:spTgt spid="22">
                                            <p:txEl>
                                              <p:pRg st="2" end="2"/>
                                            </p:txEl>
                                          </p:spTgt>
                                        </p:tgtEl>
                                        <p:attrNameLst>
                                          <p:attrName>style.visibility</p:attrName>
                                        </p:attrNameLst>
                                      </p:cBhvr>
                                      <p:to>
                                        <p:strVal val="visible"/>
                                      </p:to>
                                    </p:set>
                                    <p:animEffect transition="in" filter="fade">
                                      <p:cBhvr>
                                        <p:cTn id="154" dur="450"/>
                                        <p:tgtEl>
                                          <p:spTgt spid="22">
                                            <p:txEl>
                                              <p:pRg st="2" end="2"/>
                                            </p:txEl>
                                          </p:spTgt>
                                        </p:tgtEl>
                                      </p:cBhvr>
                                    </p:animEffect>
                                  </p:childTnLst>
                                </p:cTn>
                              </p:par>
                              <p:par>
                                <p:cTn id="155" presetID="10" presetClass="entr" presetSubtype="0" fill="hold" nodeType="withEffect">
                                  <p:stCondLst>
                                    <p:cond delay="580"/>
                                  </p:stCondLst>
                                  <p:childTnLst>
                                    <p:set>
                                      <p:cBhvr>
                                        <p:cTn id="156" dur="1" fill="hold">
                                          <p:stCondLst>
                                            <p:cond delay="0"/>
                                          </p:stCondLst>
                                        </p:cTn>
                                        <p:tgtEl>
                                          <p:spTgt spid="23"/>
                                        </p:tgtEl>
                                        <p:attrNameLst>
                                          <p:attrName>style.visibility</p:attrName>
                                        </p:attrNameLst>
                                      </p:cBhvr>
                                      <p:to>
                                        <p:strVal val="visible"/>
                                      </p:to>
                                    </p:set>
                                    <p:animEffect transition="in" filter="fade">
                                      <p:cBhvr>
                                        <p:cTn id="157" dur="450"/>
                                        <p:tgtEl>
                                          <p:spTgt spid="23"/>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xit" presetSubtype="0" fill="hold" nodeType="clickEffect">
                                  <p:stCondLst>
                                    <p:cond delay="0"/>
                                  </p:stCondLst>
                                  <p:childTnLst>
                                    <p:animEffect transition="out" filter="fade">
                                      <p:cBhvr>
                                        <p:cTn id="161" dur="350"/>
                                        <p:tgtEl>
                                          <p:spTgt spid="20"/>
                                        </p:tgtEl>
                                      </p:cBhvr>
                                    </p:animEffect>
                                    <p:set>
                                      <p:cBhvr>
                                        <p:cTn id="162" dur="1" fill="hold">
                                          <p:stCondLst>
                                            <p:cond delay="349"/>
                                          </p:stCondLst>
                                        </p:cTn>
                                        <p:tgtEl>
                                          <p:spTgt spid="20"/>
                                        </p:tgtEl>
                                        <p:attrNameLst>
                                          <p:attrName>style.visibility</p:attrName>
                                        </p:attrNameLst>
                                      </p:cBhvr>
                                      <p:to>
                                        <p:strVal val="hidden"/>
                                      </p:to>
                                    </p:set>
                                  </p:childTnLst>
                                </p:cTn>
                              </p:par>
                              <p:par>
                                <p:cTn id="163" presetID="10" presetClass="exit" presetSubtype="0" grpId="0" fill="hold" nodeType="withEffect">
                                  <p:stCondLst>
                                    <p:cond delay="0"/>
                                  </p:stCondLst>
                                  <p:childTnLst>
                                    <p:animEffect transition="out" filter="fade">
                                      <p:cBhvr>
                                        <p:cTn id="164" dur="350"/>
                                        <p:tgtEl>
                                          <p:spTgt spid="22">
                                            <p:txEl>
                                              <p:pRg st="0" end="0"/>
                                            </p:txEl>
                                          </p:spTgt>
                                        </p:tgtEl>
                                      </p:cBhvr>
                                    </p:animEffect>
                                    <p:set>
                                      <p:cBhvr>
                                        <p:cTn id="165" dur="1" fill="hold">
                                          <p:stCondLst>
                                            <p:cond delay="349"/>
                                          </p:stCondLst>
                                        </p:cTn>
                                        <p:tgtEl>
                                          <p:spTgt spid="22">
                                            <p:txEl>
                                              <p:pRg st="0" end="0"/>
                                            </p:txEl>
                                          </p:spTgt>
                                        </p:tgtEl>
                                        <p:attrNameLst>
                                          <p:attrName>style.visibility</p:attrName>
                                        </p:attrNameLst>
                                      </p:cBhvr>
                                      <p:to>
                                        <p:strVal val="hidden"/>
                                      </p:to>
                                    </p:set>
                                  </p:childTnLst>
                                </p:cTn>
                              </p:par>
                              <p:par>
                                <p:cTn id="166" presetID="10" presetClass="exit" presetSubtype="0" grpId="0" fill="hold" nodeType="withEffect">
                                  <p:stCondLst>
                                    <p:cond delay="0"/>
                                  </p:stCondLst>
                                  <p:childTnLst>
                                    <p:animEffect transition="out" filter="fade">
                                      <p:cBhvr>
                                        <p:cTn id="167" dur="350"/>
                                        <p:tgtEl>
                                          <p:spTgt spid="22">
                                            <p:txEl>
                                              <p:pRg st="1" end="1"/>
                                            </p:txEl>
                                          </p:spTgt>
                                        </p:tgtEl>
                                      </p:cBhvr>
                                    </p:animEffect>
                                    <p:set>
                                      <p:cBhvr>
                                        <p:cTn id="168" dur="1" fill="hold">
                                          <p:stCondLst>
                                            <p:cond delay="349"/>
                                          </p:stCondLst>
                                        </p:cTn>
                                        <p:tgtEl>
                                          <p:spTgt spid="22">
                                            <p:txEl>
                                              <p:pRg st="1" end="1"/>
                                            </p:txEl>
                                          </p:spTgt>
                                        </p:tgtEl>
                                        <p:attrNameLst>
                                          <p:attrName>style.visibility</p:attrName>
                                        </p:attrNameLst>
                                      </p:cBhvr>
                                      <p:to>
                                        <p:strVal val="hidden"/>
                                      </p:to>
                                    </p:set>
                                  </p:childTnLst>
                                </p:cTn>
                              </p:par>
                              <p:par>
                                <p:cTn id="169" presetID="10" presetClass="exit" presetSubtype="0" grpId="0" fill="hold" nodeType="withEffect">
                                  <p:stCondLst>
                                    <p:cond delay="0"/>
                                  </p:stCondLst>
                                  <p:childTnLst>
                                    <p:animEffect transition="out" filter="fade">
                                      <p:cBhvr>
                                        <p:cTn id="170" dur="350"/>
                                        <p:tgtEl>
                                          <p:spTgt spid="22">
                                            <p:txEl>
                                              <p:pRg st="2" end="2"/>
                                            </p:txEl>
                                          </p:spTgt>
                                        </p:tgtEl>
                                      </p:cBhvr>
                                    </p:animEffect>
                                    <p:set>
                                      <p:cBhvr>
                                        <p:cTn id="171" dur="1" fill="hold">
                                          <p:stCondLst>
                                            <p:cond delay="349"/>
                                          </p:stCondLst>
                                        </p:cTn>
                                        <p:tgtEl>
                                          <p:spTgt spid="22">
                                            <p:txEl>
                                              <p:pRg st="2" end="2"/>
                                            </p:txEl>
                                          </p:spTgt>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350"/>
                                        <p:tgtEl>
                                          <p:spTgt spid="23"/>
                                        </p:tgtEl>
                                      </p:cBhvr>
                                    </p:animEffect>
                                    <p:set>
                                      <p:cBhvr>
                                        <p:cTn id="174" dur="1" fill="hold">
                                          <p:stCondLst>
                                            <p:cond delay="349"/>
                                          </p:stCondLst>
                                        </p:cTn>
                                        <p:tgtEl>
                                          <p:spTgt spid="23"/>
                                        </p:tgtEl>
                                        <p:attrNameLst>
                                          <p:attrName>style.visibility</p:attrName>
                                        </p:attrNameLst>
                                      </p:cBhvr>
                                      <p:to>
                                        <p:strVal val="hidden"/>
                                      </p:to>
                                    </p:set>
                                  </p:childTnLst>
                                </p:cTn>
                              </p:par>
                              <p:par>
                                <p:cTn id="175" presetID="0" presetClass="path" presetSubtype="0" accel="50000" decel="50000" fill="hold" nodeType="withEffect">
                                  <p:stCondLst>
                                    <p:cond delay="0"/>
                                  </p:stCondLst>
                                  <p:childTnLst>
                                    <p:animMotion origin="layout" path="M 0 0 L 0.61136 0.05938 E" pathEditMode="relative" rAng="0" ptsTypes="AA">
                                      <p:cBhvr>
                                        <p:cTn id="176" dur="750" fill="hold"/>
                                        <p:tgtEl>
                                          <p:spTgt spid="21"/>
                                        </p:tgtEl>
                                        <p:attrNameLst>
                                          <p:attrName>ppt_x</p:attrName>
                                          <p:attrName>ppt_y</p:attrName>
                                        </p:attrNameLst>
                                      </p:cBhvr>
                                      <p:rCtr x="30567" y="2969"/>
                                    </p:animMotion>
                                  </p:childTnLst>
                                </p:cTn>
                              </p:par>
                              <p:par>
                                <p:cTn id="177" presetID="6" presetClass="emph" presetSubtype="0" accel="50000" decel="50000" fill="hold" nodeType="withEffect">
                                  <p:stCondLst>
                                    <p:cond delay="0"/>
                                  </p:stCondLst>
                                  <p:childTnLst>
                                    <p:animScale>
                                      <p:cBhvr>
                                        <p:cTn id="178" dur="750" fill="hold"/>
                                        <p:tgtEl>
                                          <p:spTgt spid="21"/>
                                        </p:tgtEl>
                                      </p:cBhvr>
                                      <p:by x="28992" y="28992"/>
                                    </p:animScale>
                                  </p:childTnLst>
                                </p:cTn>
                              </p:par>
                              <p:par>
                                <p:cTn id="179" presetID="10" presetClass="entr" presetSubtype="0" fill="hold" nodeType="withEffect">
                                  <p:stCondLst>
                                    <p:cond delay="450"/>
                                  </p:stCondLst>
                                  <p:childTnLst>
                                    <p:set>
                                      <p:cBhvr>
                                        <p:cTn id="180" dur="1" fill="hold">
                                          <p:stCondLst>
                                            <p:cond delay="0"/>
                                          </p:stCondLst>
                                        </p:cTn>
                                        <p:tgtEl>
                                          <p:spTgt spid="24"/>
                                        </p:tgtEl>
                                        <p:attrNameLst>
                                          <p:attrName>style.visibility</p:attrName>
                                        </p:attrNameLst>
                                      </p:cBhvr>
                                      <p:to>
                                        <p:strVal val="visible"/>
                                      </p:to>
                                    </p:set>
                                    <p:animEffect transition="in" filter="fade">
                                      <p:cBhvr>
                                        <p:cTn id="181" dur="450"/>
                                        <p:tgtEl>
                                          <p:spTgt spid="24"/>
                                        </p:tgtEl>
                                      </p:cBhvr>
                                    </p:animEffect>
                                  </p:childTnLst>
                                </p:cTn>
                              </p:par>
                              <p:par>
                                <p:cTn id="182" presetID="53" presetClass="entr" presetSubtype="16" fill="hold" nodeType="withEffect">
                                  <p:stCondLst>
                                    <p:cond delay="520"/>
                                  </p:stCondLst>
                                  <p:childTnLst>
                                    <p:set>
                                      <p:cBhvr>
                                        <p:cTn id="183" dur="1" fill="hold">
                                          <p:stCondLst>
                                            <p:cond delay="0"/>
                                          </p:stCondLst>
                                        </p:cTn>
                                        <p:tgtEl>
                                          <p:spTgt spid="25"/>
                                        </p:tgtEl>
                                        <p:attrNameLst>
                                          <p:attrName>style.visibility</p:attrName>
                                        </p:attrNameLst>
                                      </p:cBhvr>
                                      <p:to>
                                        <p:strVal val="visible"/>
                                      </p:to>
                                    </p:set>
                                    <p:anim calcmode="lin" valueType="num">
                                      <p:cBhvr>
                                        <p:cTn id="184" dur="600" fill="hold"/>
                                        <p:tgtEl>
                                          <p:spTgt spid="25"/>
                                        </p:tgtEl>
                                        <p:attrNameLst>
                                          <p:attrName>ppt_w</p:attrName>
                                        </p:attrNameLst>
                                      </p:cBhvr>
                                      <p:tavLst>
                                        <p:tav tm="0">
                                          <p:val>
                                            <p:fltVal val="0"/>
                                          </p:val>
                                        </p:tav>
                                        <p:tav tm="100000">
                                          <p:val>
                                            <p:strVal val="#ppt_w"/>
                                          </p:val>
                                        </p:tav>
                                      </p:tavLst>
                                    </p:anim>
                                    <p:anim calcmode="lin" valueType="num">
                                      <p:cBhvr>
                                        <p:cTn id="185" dur="600" fill="hold"/>
                                        <p:tgtEl>
                                          <p:spTgt spid="25"/>
                                        </p:tgtEl>
                                        <p:attrNameLst>
                                          <p:attrName>ppt_h</p:attrName>
                                        </p:attrNameLst>
                                      </p:cBhvr>
                                      <p:tavLst>
                                        <p:tav tm="0">
                                          <p:val>
                                            <p:fltVal val="0"/>
                                          </p:val>
                                        </p:tav>
                                        <p:tav tm="100000">
                                          <p:val>
                                            <p:strVal val="#ppt_h"/>
                                          </p:val>
                                        </p:tav>
                                      </p:tavLst>
                                    </p:anim>
                                    <p:animEffect transition="in" filter="fade">
                                      <p:cBhvr>
                                        <p:cTn id="186" dur="600"/>
                                        <p:tgtEl>
                                          <p:spTgt spid="25"/>
                                        </p:tgtEl>
                                      </p:cBhvr>
                                    </p:animEffect>
                                  </p:childTnLst>
                                </p:cTn>
                              </p:par>
                              <p:par>
                                <p:cTn id="187" presetID="10" presetClass="entr" presetSubtype="0" fill="hold" nodeType="withEffect">
                                  <p:stCondLst>
                                    <p:cond delay="590"/>
                                  </p:stCondLst>
                                  <p:childTnLst>
                                    <p:set>
                                      <p:cBhvr>
                                        <p:cTn id="188" dur="1" fill="hold">
                                          <p:stCondLst>
                                            <p:cond delay="0"/>
                                          </p:stCondLst>
                                        </p:cTn>
                                        <p:tgtEl>
                                          <p:spTgt spid="26"/>
                                        </p:tgtEl>
                                        <p:attrNameLst>
                                          <p:attrName>style.visibility</p:attrName>
                                        </p:attrNameLst>
                                      </p:cBhvr>
                                      <p:to>
                                        <p:strVal val="visible"/>
                                      </p:to>
                                    </p:set>
                                    <p:animEffect transition="in" filter="fade">
                                      <p:cBhvr>
                                        <p:cTn id="189" dur="450"/>
                                        <p:tgtEl>
                                          <p:spTgt spid="26"/>
                                        </p:tgtEl>
                                      </p:cBhvr>
                                    </p:animEffect>
                                  </p:childTnLst>
                                </p:cTn>
                              </p:par>
                              <p:par>
                                <p:cTn id="190" presetID="22" presetClass="entr" presetSubtype="4" fill="hold" nodeType="withEffect">
                                  <p:stCondLst>
                                    <p:cond delay="590"/>
                                  </p:stCondLst>
                                  <p:childTnLst>
                                    <p:set>
                                      <p:cBhvr>
                                        <p:cTn id="191" dur="1" fill="hold">
                                          <p:stCondLst>
                                            <p:cond delay="0"/>
                                          </p:stCondLst>
                                        </p:cTn>
                                        <p:tgtEl>
                                          <p:spTgt spid="27"/>
                                        </p:tgtEl>
                                        <p:attrNameLst>
                                          <p:attrName>style.visibility</p:attrName>
                                        </p:attrNameLst>
                                      </p:cBhvr>
                                      <p:to>
                                        <p:strVal val="visible"/>
                                      </p:to>
                                    </p:set>
                                    <p:animEffect transition="in" filter="wipe(down)">
                                      <p:cBhvr>
                                        <p:cTn id="192" dur="500"/>
                                        <p:tgtEl>
                                          <p:spTgt spid="27"/>
                                        </p:tgtEl>
                                      </p:cBhvr>
                                    </p:animEffect>
                                  </p:childTnLst>
                                </p:cTn>
                              </p:par>
                              <p:par>
                                <p:cTn id="193" presetID="10" presetClass="entr" presetSubtype="0" grpId="0" fill="hold" nodeType="withEffect">
                                  <p:stCondLst>
                                    <p:cond delay="660"/>
                                  </p:stCondLst>
                                  <p:childTnLst>
                                    <p:set>
                                      <p:cBhvr>
                                        <p:cTn id="194" dur="1" fill="hold">
                                          <p:stCondLst>
                                            <p:cond delay="0"/>
                                          </p:stCondLst>
                                        </p:cTn>
                                        <p:tgtEl>
                                          <p:spTgt spid="28">
                                            <p:txEl>
                                              <p:pRg st="0" end="0"/>
                                            </p:txEl>
                                          </p:spTgt>
                                        </p:tgtEl>
                                        <p:attrNameLst>
                                          <p:attrName>style.visibility</p:attrName>
                                        </p:attrNameLst>
                                      </p:cBhvr>
                                      <p:to>
                                        <p:strVal val="visible"/>
                                      </p:to>
                                    </p:set>
                                    <p:animEffect transition="in" filter="fade">
                                      <p:cBhvr>
                                        <p:cTn id="195" dur="450"/>
                                        <p:tgtEl>
                                          <p:spTgt spid="28">
                                            <p:txEl>
                                              <p:pRg st="0" end="0"/>
                                            </p:txEl>
                                          </p:spTgt>
                                        </p:tgtEl>
                                      </p:cBhvr>
                                    </p:animEffect>
                                  </p:childTnLst>
                                </p:cTn>
                              </p:par>
                              <p:par>
                                <p:cTn id="196" presetID="10" presetClass="entr" presetSubtype="0" grpId="0" fill="hold" nodeType="withEffect">
                                  <p:stCondLst>
                                    <p:cond delay="1040"/>
                                  </p:stCondLst>
                                  <p:childTnLst>
                                    <p:set>
                                      <p:cBhvr>
                                        <p:cTn id="197" dur="1" fill="hold">
                                          <p:stCondLst>
                                            <p:cond delay="0"/>
                                          </p:stCondLst>
                                        </p:cTn>
                                        <p:tgtEl>
                                          <p:spTgt spid="28">
                                            <p:txEl>
                                              <p:pRg st="1" end="1"/>
                                            </p:txEl>
                                          </p:spTgt>
                                        </p:tgtEl>
                                        <p:attrNameLst>
                                          <p:attrName>style.visibility</p:attrName>
                                        </p:attrNameLst>
                                      </p:cBhvr>
                                      <p:to>
                                        <p:strVal val="visible"/>
                                      </p:to>
                                    </p:set>
                                    <p:animEffect transition="in" filter="fade">
                                      <p:cBhvr>
                                        <p:cTn id="198" dur="450"/>
                                        <p:tgtEl>
                                          <p:spTgt spid="28">
                                            <p:txEl>
                                              <p:pRg st="1" end="1"/>
                                            </p:txEl>
                                          </p:spTgt>
                                        </p:tgtEl>
                                      </p:cBhvr>
                                    </p:animEffect>
                                  </p:childTnLst>
                                </p:cTn>
                              </p:par>
                              <p:par>
                                <p:cTn id="199" presetID="10" presetClass="entr" presetSubtype="0" grpId="0" fill="hold" nodeType="withEffect">
                                  <p:stCondLst>
                                    <p:cond delay="1420"/>
                                  </p:stCondLst>
                                  <p:childTnLst>
                                    <p:set>
                                      <p:cBhvr>
                                        <p:cTn id="200" dur="1" fill="hold">
                                          <p:stCondLst>
                                            <p:cond delay="0"/>
                                          </p:stCondLst>
                                        </p:cTn>
                                        <p:tgtEl>
                                          <p:spTgt spid="28">
                                            <p:txEl>
                                              <p:pRg st="2" end="2"/>
                                            </p:txEl>
                                          </p:spTgt>
                                        </p:tgtEl>
                                        <p:attrNameLst>
                                          <p:attrName>style.visibility</p:attrName>
                                        </p:attrNameLst>
                                      </p:cBhvr>
                                      <p:to>
                                        <p:strVal val="visible"/>
                                      </p:to>
                                    </p:set>
                                    <p:animEffect transition="in" filter="fade">
                                      <p:cBhvr>
                                        <p:cTn id="201" dur="450"/>
                                        <p:tgtEl>
                                          <p:spTgt spid="28">
                                            <p:txEl>
                                              <p:pRg st="2" end="2"/>
                                            </p:txEl>
                                          </p:spTgt>
                                        </p:tgtEl>
                                      </p:cBhvr>
                                    </p:animEffect>
                                  </p:childTnLst>
                                </p:cTn>
                              </p:par>
                              <p:par>
                                <p:cTn id="202" presetID="10" presetClass="entr" presetSubtype="0" fill="hold" nodeType="withEffect">
                                  <p:stCondLst>
                                    <p:cond delay="580"/>
                                  </p:stCondLst>
                                  <p:childTnLst>
                                    <p:set>
                                      <p:cBhvr>
                                        <p:cTn id="203" dur="1" fill="hold">
                                          <p:stCondLst>
                                            <p:cond delay="0"/>
                                          </p:stCondLst>
                                        </p:cTn>
                                        <p:tgtEl>
                                          <p:spTgt spid="29"/>
                                        </p:tgtEl>
                                        <p:attrNameLst>
                                          <p:attrName>style.visibility</p:attrName>
                                        </p:attrNameLst>
                                      </p:cBhvr>
                                      <p:to>
                                        <p:strVal val="visible"/>
                                      </p:to>
                                    </p:set>
                                    <p:animEffect transition="in" filter="fade">
                                      <p:cBhvr>
                                        <p:cTn id="204" dur="450"/>
                                        <p:tgtEl>
                                          <p:spTgt spid="29"/>
                                        </p:tgtEl>
                                      </p:cBhvr>
                                    </p:animEffect>
                                  </p:childTnLst>
                                </p:cTn>
                              </p:par>
                            </p:childTnLst>
                          </p:cTn>
                        </p:par>
                      </p:childTnLst>
                    </p:cTn>
                  </p:par>
                  <p:par>
                    <p:cTn id="205" fill="hold">
                      <p:stCondLst>
                        <p:cond delay="indefinite"/>
                      </p:stCondLst>
                      <p:childTnLst>
                        <p:par>
                          <p:cTn id="206" fill="hold">
                            <p:stCondLst>
                              <p:cond delay="0"/>
                            </p:stCondLst>
                            <p:childTnLst>
                              <p:par>
                                <p:cTn id="207" presetID="10" presetClass="exit" presetSubtype="0" fill="hold" nodeType="clickEffect">
                                  <p:stCondLst>
                                    <p:cond delay="0"/>
                                  </p:stCondLst>
                                  <p:childTnLst>
                                    <p:animEffect transition="out" filter="fade">
                                      <p:cBhvr>
                                        <p:cTn id="208" dur="350"/>
                                        <p:tgtEl>
                                          <p:spTgt spid="24"/>
                                        </p:tgtEl>
                                      </p:cBhvr>
                                    </p:animEffect>
                                    <p:set>
                                      <p:cBhvr>
                                        <p:cTn id="209" dur="1" fill="hold">
                                          <p:stCondLst>
                                            <p:cond delay="349"/>
                                          </p:stCondLst>
                                        </p:cTn>
                                        <p:tgtEl>
                                          <p:spTgt spid="24"/>
                                        </p:tgtEl>
                                        <p:attrNameLst>
                                          <p:attrName>style.visibility</p:attrName>
                                        </p:attrNameLst>
                                      </p:cBhvr>
                                      <p:to>
                                        <p:strVal val="hidden"/>
                                      </p:to>
                                    </p:set>
                                  </p:childTnLst>
                                </p:cTn>
                              </p:par>
                              <p:par>
                                <p:cTn id="210" presetID="10" presetClass="exit" presetSubtype="0" fill="hold" nodeType="withEffect">
                                  <p:stCondLst>
                                    <p:cond delay="0"/>
                                  </p:stCondLst>
                                  <p:childTnLst>
                                    <p:animEffect transition="out" filter="fade">
                                      <p:cBhvr>
                                        <p:cTn id="211" dur="350"/>
                                        <p:tgtEl>
                                          <p:spTgt spid="26"/>
                                        </p:tgtEl>
                                      </p:cBhvr>
                                    </p:animEffect>
                                    <p:set>
                                      <p:cBhvr>
                                        <p:cTn id="212" dur="1" fill="hold">
                                          <p:stCondLst>
                                            <p:cond delay="349"/>
                                          </p:stCondLst>
                                        </p:cTn>
                                        <p:tgtEl>
                                          <p:spTgt spid="26"/>
                                        </p:tgtEl>
                                        <p:attrNameLst>
                                          <p:attrName>style.visibility</p:attrName>
                                        </p:attrNameLst>
                                      </p:cBhvr>
                                      <p:to>
                                        <p:strVal val="hidden"/>
                                      </p:to>
                                    </p:set>
                                  </p:childTnLst>
                                </p:cTn>
                              </p:par>
                              <p:par>
                                <p:cTn id="213" presetID="10" presetClass="exit" presetSubtype="0" fill="hold" nodeType="withEffect">
                                  <p:stCondLst>
                                    <p:cond delay="0"/>
                                  </p:stCondLst>
                                  <p:childTnLst>
                                    <p:animEffect transition="out" filter="fade">
                                      <p:cBhvr>
                                        <p:cTn id="214" dur="350"/>
                                        <p:tgtEl>
                                          <p:spTgt spid="27"/>
                                        </p:tgtEl>
                                      </p:cBhvr>
                                    </p:animEffect>
                                    <p:set>
                                      <p:cBhvr>
                                        <p:cTn id="215" dur="1" fill="hold">
                                          <p:stCondLst>
                                            <p:cond delay="349"/>
                                          </p:stCondLst>
                                        </p:cTn>
                                        <p:tgtEl>
                                          <p:spTgt spid="27"/>
                                        </p:tgtEl>
                                        <p:attrNameLst>
                                          <p:attrName>style.visibility</p:attrName>
                                        </p:attrNameLst>
                                      </p:cBhvr>
                                      <p:to>
                                        <p:strVal val="hidden"/>
                                      </p:to>
                                    </p:set>
                                  </p:childTnLst>
                                </p:cTn>
                              </p:par>
                              <p:par>
                                <p:cTn id="216" presetID="10" presetClass="exit" presetSubtype="0" grpId="0" fill="hold" nodeType="withEffect">
                                  <p:stCondLst>
                                    <p:cond delay="0"/>
                                  </p:stCondLst>
                                  <p:childTnLst>
                                    <p:animEffect transition="out" filter="fade">
                                      <p:cBhvr>
                                        <p:cTn id="217" dur="350"/>
                                        <p:tgtEl>
                                          <p:spTgt spid="28">
                                            <p:txEl>
                                              <p:pRg st="0" end="0"/>
                                            </p:txEl>
                                          </p:spTgt>
                                        </p:tgtEl>
                                      </p:cBhvr>
                                    </p:animEffect>
                                    <p:set>
                                      <p:cBhvr>
                                        <p:cTn id="218" dur="1" fill="hold">
                                          <p:stCondLst>
                                            <p:cond delay="349"/>
                                          </p:stCondLst>
                                        </p:cTn>
                                        <p:tgtEl>
                                          <p:spTgt spid="28">
                                            <p:txEl>
                                              <p:pRg st="0" end="0"/>
                                            </p:txEl>
                                          </p:spTgt>
                                        </p:tgtEl>
                                        <p:attrNameLst>
                                          <p:attrName>style.visibility</p:attrName>
                                        </p:attrNameLst>
                                      </p:cBhvr>
                                      <p:to>
                                        <p:strVal val="hidden"/>
                                      </p:to>
                                    </p:set>
                                  </p:childTnLst>
                                </p:cTn>
                              </p:par>
                              <p:par>
                                <p:cTn id="219" presetID="10" presetClass="exit" presetSubtype="0" grpId="0" fill="hold" nodeType="withEffect">
                                  <p:stCondLst>
                                    <p:cond delay="0"/>
                                  </p:stCondLst>
                                  <p:childTnLst>
                                    <p:animEffect transition="out" filter="fade">
                                      <p:cBhvr>
                                        <p:cTn id="220" dur="350"/>
                                        <p:tgtEl>
                                          <p:spTgt spid="28">
                                            <p:txEl>
                                              <p:pRg st="1" end="1"/>
                                            </p:txEl>
                                          </p:spTgt>
                                        </p:tgtEl>
                                      </p:cBhvr>
                                    </p:animEffect>
                                    <p:set>
                                      <p:cBhvr>
                                        <p:cTn id="221" dur="1" fill="hold">
                                          <p:stCondLst>
                                            <p:cond delay="349"/>
                                          </p:stCondLst>
                                        </p:cTn>
                                        <p:tgtEl>
                                          <p:spTgt spid="28">
                                            <p:txEl>
                                              <p:pRg st="1" end="1"/>
                                            </p:txEl>
                                          </p:spTgt>
                                        </p:tgtEl>
                                        <p:attrNameLst>
                                          <p:attrName>style.visibility</p:attrName>
                                        </p:attrNameLst>
                                      </p:cBhvr>
                                      <p:to>
                                        <p:strVal val="hidden"/>
                                      </p:to>
                                    </p:set>
                                  </p:childTnLst>
                                </p:cTn>
                              </p:par>
                              <p:par>
                                <p:cTn id="222" presetID="10" presetClass="exit" presetSubtype="0" grpId="0" fill="hold" nodeType="withEffect">
                                  <p:stCondLst>
                                    <p:cond delay="0"/>
                                  </p:stCondLst>
                                  <p:childTnLst>
                                    <p:animEffect transition="out" filter="fade">
                                      <p:cBhvr>
                                        <p:cTn id="223" dur="350"/>
                                        <p:tgtEl>
                                          <p:spTgt spid="28">
                                            <p:txEl>
                                              <p:pRg st="2" end="2"/>
                                            </p:txEl>
                                          </p:spTgt>
                                        </p:tgtEl>
                                      </p:cBhvr>
                                    </p:animEffect>
                                    <p:set>
                                      <p:cBhvr>
                                        <p:cTn id="224" dur="1" fill="hold">
                                          <p:stCondLst>
                                            <p:cond delay="349"/>
                                          </p:stCondLst>
                                        </p:cTn>
                                        <p:tgtEl>
                                          <p:spTgt spid="28">
                                            <p:txEl>
                                              <p:pRg st="2" end="2"/>
                                            </p:txEl>
                                          </p:spTgt>
                                        </p:tgtEl>
                                        <p:attrNameLst>
                                          <p:attrName>style.visibility</p:attrName>
                                        </p:attrNameLst>
                                      </p:cBhvr>
                                      <p:to>
                                        <p:strVal val="hidden"/>
                                      </p:to>
                                    </p:set>
                                  </p:childTnLst>
                                </p:cTn>
                              </p:par>
                              <p:par>
                                <p:cTn id="225" presetID="10" presetClass="exit" presetSubtype="0" fill="hold" nodeType="withEffect">
                                  <p:stCondLst>
                                    <p:cond delay="0"/>
                                  </p:stCondLst>
                                  <p:childTnLst>
                                    <p:animEffect transition="out" filter="fade">
                                      <p:cBhvr>
                                        <p:cTn id="226" dur="350"/>
                                        <p:tgtEl>
                                          <p:spTgt spid="29"/>
                                        </p:tgtEl>
                                      </p:cBhvr>
                                    </p:animEffect>
                                    <p:set>
                                      <p:cBhvr>
                                        <p:cTn id="227" dur="1" fill="hold">
                                          <p:stCondLst>
                                            <p:cond delay="349"/>
                                          </p:stCondLst>
                                        </p:cTn>
                                        <p:tgtEl>
                                          <p:spTgt spid="29"/>
                                        </p:tgtEl>
                                        <p:attrNameLst>
                                          <p:attrName>style.visibility</p:attrName>
                                        </p:attrNameLst>
                                      </p:cBhvr>
                                      <p:to>
                                        <p:strVal val="hidden"/>
                                      </p:to>
                                    </p:set>
                                  </p:childTnLst>
                                </p:cTn>
                              </p:par>
                              <p:par>
                                <p:cTn id="228" presetID="0" presetClass="path" presetSubtype="0" accel="50000" decel="50000" fill="hold" nodeType="withEffect">
                                  <p:stCondLst>
                                    <p:cond delay="0"/>
                                  </p:stCondLst>
                                  <p:childTnLst>
                                    <p:animMotion origin="layout" path="M 0 0 L 0.61967 0.19024 E" pathEditMode="relative" rAng="0" ptsTypes="AA">
                                      <p:cBhvr>
                                        <p:cTn id="229" dur="750" fill="hold"/>
                                        <p:tgtEl>
                                          <p:spTgt spid="25"/>
                                        </p:tgtEl>
                                        <p:attrNameLst>
                                          <p:attrName>ppt_x</p:attrName>
                                          <p:attrName>ppt_y</p:attrName>
                                        </p:attrNameLst>
                                      </p:cBhvr>
                                      <p:rCtr x="30983" y="9512"/>
                                    </p:animMotion>
                                  </p:childTnLst>
                                </p:cTn>
                              </p:par>
                              <p:par>
                                <p:cTn id="230" presetID="6" presetClass="emph" presetSubtype="0" accel="50000" decel="50000" fill="hold" nodeType="withEffect">
                                  <p:stCondLst>
                                    <p:cond delay="0"/>
                                  </p:stCondLst>
                                  <p:childTnLst>
                                    <p:animScale>
                                      <p:cBhvr>
                                        <p:cTn id="231" dur="750" fill="hold"/>
                                        <p:tgtEl>
                                          <p:spTgt spid="25"/>
                                        </p:tgtEl>
                                      </p:cBhvr>
                                      <p:by x="30065" y="30065"/>
                                    </p:animScale>
                                  </p:childTnLst>
                                </p:cTn>
                              </p:par>
                              <p:par>
                                <p:cTn id="232" presetID="10" presetClass="entr" presetSubtype="0" fill="hold" nodeType="withEffect">
                                  <p:stCondLst>
                                    <p:cond delay="450"/>
                                  </p:stCondLst>
                                  <p:childTnLst>
                                    <p:set>
                                      <p:cBhvr>
                                        <p:cTn id="233" dur="1" fill="hold">
                                          <p:stCondLst>
                                            <p:cond delay="0"/>
                                          </p:stCondLst>
                                        </p:cTn>
                                        <p:tgtEl>
                                          <p:spTgt spid="30"/>
                                        </p:tgtEl>
                                        <p:attrNameLst>
                                          <p:attrName>style.visibility</p:attrName>
                                        </p:attrNameLst>
                                      </p:cBhvr>
                                      <p:to>
                                        <p:strVal val="visible"/>
                                      </p:to>
                                    </p:set>
                                    <p:animEffect transition="in" filter="fade">
                                      <p:cBhvr>
                                        <p:cTn id="234" dur="450"/>
                                        <p:tgtEl>
                                          <p:spTgt spid="30"/>
                                        </p:tgtEl>
                                      </p:cBhvr>
                                    </p:animEffect>
                                  </p:childTnLst>
                                </p:cTn>
                              </p:par>
                              <p:par>
                                <p:cTn id="235" presetID="53" presetClass="entr" presetSubtype="16" fill="hold" nodeType="withEffect">
                                  <p:stCondLst>
                                    <p:cond delay="520"/>
                                  </p:stCondLst>
                                  <p:childTnLst>
                                    <p:set>
                                      <p:cBhvr>
                                        <p:cTn id="236" dur="1" fill="hold">
                                          <p:stCondLst>
                                            <p:cond delay="0"/>
                                          </p:stCondLst>
                                        </p:cTn>
                                        <p:tgtEl>
                                          <p:spTgt spid="31"/>
                                        </p:tgtEl>
                                        <p:attrNameLst>
                                          <p:attrName>style.visibility</p:attrName>
                                        </p:attrNameLst>
                                      </p:cBhvr>
                                      <p:to>
                                        <p:strVal val="visible"/>
                                      </p:to>
                                    </p:set>
                                    <p:anim calcmode="lin" valueType="num">
                                      <p:cBhvr>
                                        <p:cTn id="237" dur="600" fill="hold"/>
                                        <p:tgtEl>
                                          <p:spTgt spid="31"/>
                                        </p:tgtEl>
                                        <p:attrNameLst>
                                          <p:attrName>ppt_w</p:attrName>
                                        </p:attrNameLst>
                                      </p:cBhvr>
                                      <p:tavLst>
                                        <p:tav tm="0">
                                          <p:val>
                                            <p:fltVal val="0"/>
                                          </p:val>
                                        </p:tav>
                                        <p:tav tm="100000">
                                          <p:val>
                                            <p:strVal val="#ppt_w"/>
                                          </p:val>
                                        </p:tav>
                                      </p:tavLst>
                                    </p:anim>
                                    <p:anim calcmode="lin" valueType="num">
                                      <p:cBhvr>
                                        <p:cTn id="238" dur="600" fill="hold"/>
                                        <p:tgtEl>
                                          <p:spTgt spid="31"/>
                                        </p:tgtEl>
                                        <p:attrNameLst>
                                          <p:attrName>ppt_h</p:attrName>
                                        </p:attrNameLst>
                                      </p:cBhvr>
                                      <p:tavLst>
                                        <p:tav tm="0">
                                          <p:val>
                                            <p:fltVal val="0"/>
                                          </p:val>
                                        </p:tav>
                                        <p:tav tm="100000">
                                          <p:val>
                                            <p:strVal val="#ppt_h"/>
                                          </p:val>
                                        </p:tav>
                                      </p:tavLst>
                                    </p:anim>
                                    <p:animEffect transition="in" filter="fade">
                                      <p:cBhvr>
                                        <p:cTn id="239" dur="600"/>
                                        <p:tgtEl>
                                          <p:spTgt spid="31"/>
                                        </p:tgtEl>
                                      </p:cBhvr>
                                    </p:animEffect>
                                  </p:childTnLst>
                                </p:cTn>
                              </p:par>
                              <p:par>
                                <p:cTn id="240" presetID="10" presetClass="entr" presetSubtype="0" grpId="0" fill="hold" nodeType="withEffect">
                                  <p:stCondLst>
                                    <p:cond delay="590"/>
                                  </p:stCondLst>
                                  <p:childTnLst>
                                    <p:set>
                                      <p:cBhvr>
                                        <p:cTn id="241" dur="1" fill="hold">
                                          <p:stCondLst>
                                            <p:cond delay="0"/>
                                          </p:stCondLst>
                                        </p:cTn>
                                        <p:tgtEl>
                                          <p:spTgt spid="32">
                                            <p:txEl>
                                              <p:pRg st="0" end="0"/>
                                            </p:txEl>
                                          </p:spTgt>
                                        </p:tgtEl>
                                        <p:attrNameLst>
                                          <p:attrName>style.visibility</p:attrName>
                                        </p:attrNameLst>
                                      </p:cBhvr>
                                      <p:to>
                                        <p:strVal val="visible"/>
                                      </p:to>
                                    </p:set>
                                    <p:animEffect transition="in" filter="fade">
                                      <p:cBhvr>
                                        <p:cTn id="242" dur="450"/>
                                        <p:tgtEl>
                                          <p:spTgt spid="32">
                                            <p:txEl>
                                              <p:pRg st="0" end="0"/>
                                            </p:txEl>
                                          </p:spTgt>
                                        </p:tgtEl>
                                      </p:cBhvr>
                                    </p:animEffect>
                                  </p:childTnLst>
                                </p:cTn>
                              </p:par>
                              <p:par>
                                <p:cTn id="243" presetID="10" presetClass="entr" presetSubtype="0" grpId="0" fill="hold" nodeType="withEffect">
                                  <p:stCondLst>
                                    <p:cond delay="970"/>
                                  </p:stCondLst>
                                  <p:childTnLst>
                                    <p:set>
                                      <p:cBhvr>
                                        <p:cTn id="244" dur="1" fill="hold">
                                          <p:stCondLst>
                                            <p:cond delay="0"/>
                                          </p:stCondLst>
                                        </p:cTn>
                                        <p:tgtEl>
                                          <p:spTgt spid="32">
                                            <p:txEl>
                                              <p:pRg st="1" end="1"/>
                                            </p:txEl>
                                          </p:spTgt>
                                        </p:tgtEl>
                                        <p:attrNameLst>
                                          <p:attrName>style.visibility</p:attrName>
                                        </p:attrNameLst>
                                      </p:cBhvr>
                                      <p:to>
                                        <p:strVal val="visible"/>
                                      </p:to>
                                    </p:set>
                                    <p:animEffect transition="in" filter="fade">
                                      <p:cBhvr>
                                        <p:cTn id="245" dur="450"/>
                                        <p:tgtEl>
                                          <p:spTgt spid="32">
                                            <p:txEl>
                                              <p:pRg st="1" end="1"/>
                                            </p:txEl>
                                          </p:spTgt>
                                        </p:tgtEl>
                                      </p:cBhvr>
                                    </p:animEffect>
                                  </p:childTnLst>
                                </p:cTn>
                              </p:par>
                              <p:par>
                                <p:cTn id="246" presetID="10" presetClass="entr" presetSubtype="0" grpId="0" fill="hold" nodeType="withEffect">
                                  <p:stCondLst>
                                    <p:cond delay="1350"/>
                                  </p:stCondLst>
                                  <p:childTnLst>
                                    <p:set>
                                      <p:cBhvr>
                                        <p:cTn id="247" dur="1" fill="hold">
                                          <p:stCondLst>
                                            <p:cond delay="0"/>
                                          </p:stCondLst>
                                        </p:cTn>
                                        <p:tgtEl>
                                          <p:spTgt spid="32">
                                            <p:txEl>
                                              <p:pRg st="2" end="2"/>
                                            </p:txEl>
                                          </p:spTgt>
                                        </p:tgtEl>
                                        <p:attrNameLst>
                                          <p:attrName>style.visibility</p:attrName>
                                        </p:attrNameLst>
                                      </p:cBhvr>
                                      <p:to>
                                        <p:strVal val="visible"/>
                                      </p:to>
                                    </p:set>
                                    <p:animEffect transition="in" filter="fade">
                                      <p:cBhvr>
                                        <p:cTn id="248" dur="450"/>
                                        <p:tgtEl>
                                          <p:spTgt spid="32">
                                            <p:txEl>
                                              <p:pRg st="2" end="2"/>
                                            </p:txEl>
                                          </p:spTgt>
                                        </p:tgtEl>
                                      </p:cBhvr>
                                    </p:animEffect>
                                  </p:childTnLst>
                                </p:cTn>
                              </p:par>
                              <p:par>
                                <p:cTn id="249" presetID="10" presetClass="entr" presetSubtype="0" fill="hold" nodeType="withEffect">
                                  <p:stCondLst>
                                    <p:cond delay="580"/>
                                  </p:stCondLst>
                                  <p:childTnLst>
                                    <p:set>
                                      <p:cBhvr>
                                        <p:cTn id="250" dur="1" fill="hold">
                                          <p:stCondLst>
                                            <p:cond delay="0"/>
                                          </p:stCondLst>
                                        </p:cTn>
                                        <p:tgtEl>
                                          <p:spTgt spid="33"/>
                                        </p:tgtEl>
                                        <p:attrNameLst>
                                          <p:attrName>style.visibility</p:attrName>
                                        </p:attrNameLst>
                                      </p:cBhvr>
                                      <p:to>
                                        <p:strVal val="visible"/>
                                      </p:to>
                                    </p:set>
                                    <p:animEffect transition="in" filter="fade">
                                      <p:cBhvr>
                                        <p:cTn id="251"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8" grpId="0" build="p"/>
      <p:bldP spid="22" grpId="0" build="p"/>
      <p:bldP spid="28" grpId="0" build="p"/>
      <p:bldP spid="3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medición fija requerimientos; el sistema responde con un maestro y nodos</a:t>
            </a:r>
            <a:endParaRPr lang="en-US" sz="2200" dirty="0"/>
          </a:p>
        </p:txBody>
      </p:sp>
      <p:sp>
        <p:nvSpPr>
          <p:cNvPr id="3" name="Obj [o37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medición MASW fija tres requerimientos de adquisición</a:t>
            </a:r>
            <a:endParaRPr lang="en-US" sz="1400" dirty="0"/>
          </a:p>
        </p:txBody>
      </p:sp>
      <p:sp>
        <p:nvSpPr>
          <p:cNvPr id="4" name="Obj [o373]"/>
          <p:cNvSpPr/>
          <p:nvPr/>
        </p:nvSpPr>
        <p:spPr>
          <a:xfrm>
            <a:off x="966136" y="1681654"/>
            <a:ext cx="2323779" cy="480782"/>
          </a:xfrm>
          <a:prstGeom prst="rect">
            <a:avLst/>
          </a:prstGeom>
          <a:solidFill>
            <a:srgbClr val="1F4E79"/>
          </a:solidFill>
          <a:ln w="6350">
            <a:solidFill>
              <a:srgbClr val="1F4E79"/>
            </a:solidFill>
            <a:prstDash val="solid"/>
          </a:ln>
        </p:spPr>
      </p:sp>
      <p:sp>
        <p:nvSpPr>
          <p:cNvPr id="5" name="Obj [o374]"/>
          <p:cNvSpPr txBox="1"/>
          <p:nvPr/>
        </p:nvSpPr>
        <p:spPr>
          <a:xfrm>
            <a:off x="966136"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Tiempo y posición</a:t>
            </a:r>
            <a:endParaRPr lang="en-US" sz="1620" dirty="0"/>
          </a:p>
        </p:txBody>
      </p:sp>
      <p:sp>
        <p:nvSpPr>
          <p:cNvPr id="6" name="Obj [o375]"/>
          <p:cNvSpPr/>
          <p:nvPr/>
        </p:nvSpPr>
        <p:spPr>
          <a:xfrm>
            <a:off x="966136" y="2162436"/>
            <a:ext cx="2323779" cy="1522476"/>
          </a:xfrm>
          <a:prstGeom prst="rect">
            <a:avLst/>
          </a:prstGeom>
          <a:solidFill>
            <a:srgbClr val="FFFFFF"/>
          </a:solidFill>
          <a:ln w="16694">
            <a:solidFill>
              <a:srgbClr val="1F4E79"/>
            </a:solidFill>
            <a:prstDash val="solid"/>
          </a:ln>
        </p:spPr>
      </p:sp>
      <p:sp>
        <p:nvSpPr>
          <p:cNvPr id="7" name="Obj [o376]"/>
          <p:cNvSpPr txBox="1"/>
          <p:nvPr/>
        </p:nvSpPr>
        <p:spPr>
          <a:xfrm>
            <a:off x="1086331"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Conservar la información temporal y espacial de cada traza</a:t>
            </a:r>
            <a:endParaRPr lang="en-US" sz="1530" dirty="0"/>
          </a:p>
        </p:txBody>
      </p:sp>
      <p:sp>
        <p:nvSpPr>
          <p:cNvPr id="8" name="Obj [o377]"/>
          <p:cNvSpPr/>
          <p:nvPr/>
        </p:nvSpPr>
        <p:spPr>
          <a:xfrm>
            <a:off x="3410110" y="1681654"/>
            <a:ext cx="2323779" cy="480782"/>
          </a:xfrm>
          <a:prstGeom prst="rect">
            <a:avLst/>
          </a:prstGeom>
          <a:solidFill>
            <a:srgbClr val="1F4E79"/>
          </a:solidFill>
          <a:ln w="6350">
            <a:solidFill>
              <a:srgbClr val="1F4E79"/>
            </a:solidFill>
            <a:prstDash val="solid"/>
          </a:ln>
        </p:spPr>
      </p:sp>
      <p:sp>
        <p:nvSpPr>
          <p:cNvPr id="9" name="Obj [o378]"/>
          <p:cNvSpPr txBox="1"/>
          <p:nvPr/>
        </p:nvSpPr>
        <p:spPr>
          <a:xfrm>
            <a:off x="3410110"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Referencia temporal</a:t>
            </a:r>
            <a:endParaRPr lang="en-US" sz="1620" dirty="0"/>
          </a:p>
        </p:txBody>
      </p:sp>
      <p:sp>
        <p:nvSpPr>
          <p:cNvPr id="10" name="Obj [o379]"/>
          <p:cNvSpPr/>
          <p:nvPr/>
        </p:nvSpPr>
        <p:spPr>
          <a:xfrm>
            <a:off x="3410110" y="2162436"/>
            <a:ext cx="2323779" cy="1522476"/>
          </a:xfrm>
          <a:prstGeom prst="rect">
            <a:avLst/>
          </a:prstGeom>
          <a:solidFill>
            <a:srgbClr val="FFFFFF"/>
          </a:solidFill>
          <a:ln w="16694">
            <a:solidFill>
              <a:srgbClr val="1F4E79"/>
            </a:solidFill>
            <a:prstDash val="solid"/>
          </a:ln>
        </p:spPr>
      </p:sp>
      <p:sp>
        <p:nvSpPr>
          <p:cNvPr id="11" name="Obj [o380]"/>
          <p:cNvSpPr txBox="1"/>
          <p:nvPr/>
        </p:nvSpPr>
        <p:spPr>
          <a:xfrm>
            <a:off x="3530306"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Mantener una referencia temporal entre registros</a:t>
            </a:r>
            <a:endParaRPr lang="en-US" sz="1530" dirty="0"/>
          </a:p>
        </p:txBody>
      </p:sp>
      <p:sp>
        <p:nvSpPr>
          <p:cNvPr id="12" name="Obj [o381]"/>
          <p:cNvSpPr/>
          <p:nvPr/>
        </p:nvSpPr>
        <p:spPr>
          <a:xfrm>
            <a:off x="5854085" y="1681654"/>
            <a:ext cx="2323779" cy="480782"/>
          </a:xfrm>
          <a:prstGeom prst="rect">
            <a:avLst/>
          </a:prstGeom>
          <a:solidFill>
            <a:srgbClr val="1F4E79"/>
          </a:solidFill>
          <a:ln w="6350">
            <a:solidFill>
              <a:srgbClr val="1F4E79"/>
            </a:solidFill>
            <a:prstDash val="solid"/>
          </a:ln>
        </p:spPr>
      </p:sp>
      <p:sp>
        <p:nvSpPr>
          <p:cNvPr id="13" name="Obj [o382]"/>
          <p:cNvSpPr txBox="1"/>
          <p:nvPr/>
        </p:nvSpPr>
        <p:spPr>
          <a:xfrm>
            <a:off x="5854085"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Forma de onda</a:t>
            </a:r>
            <a:endParaRPr lang="en-US" sz="1620" dirty="0"/>
          </a:p>
        </p:txBody>
      </p:sp>
      <p:sp>
        <p:nvSpPr>
          <p:cNvPr id="14" name="Obj [o383]"/>
          <p:cNvSpPr/>
          <p:nvPr/>
        </p:nvSpPr>
        <p:spPr>
          <a:xfrm>
            <a:off x="5854085" y="2162436"/>
            <a:ext cx="2323779" cy="1522476"/>
          </a:xfrm>
          <a:prstGeom prst="rect">
            <a:avLst/>
          </a:prstGeom>
          <a:solidFill>
            <a:srgbClr val="FFFFFF"/>
          </a:solidFill>
          <a:ln w="16694">
            <a:solidFill>
              <a:srgbClr val="1F4E79"/>
            </a:solidFill>
            <a:prstDash val="solid"/>
          </a:ln>
        </p:spPr>
      </p:sp>
      <p:sp>
        <p:nvSpPr>
          <p:cNvPr id="15" name="Obj [o384]"/>
          <p:cNvSpPr txBox="1"/>
          <p:nvPr/>
        </p:nvSpPr>
        <p:spPr>
          <a:xfrm>
            <a:off x="5974281"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Preservar la forma de la onda</a:t>
            </a:r>
            <a:endParaRPr lang="en-US" sz="1530" dirty="0"/>
          </a:p>
        </p:txBody>
      </p:sp>
      <p:sp>
        <p:nvSpPr>
          <p:cNvPr id="16" name="Obj [o385]"/>
          <p:cNvSpPr txBox="1"/>
          <p:nvPr/>
        </p:nvSpPr>
        <p:spPr>
          <a:xfrm>
            <a:off x="966136" y="3805107"/>
            <a:ext cx="7211728" cy="641043"/>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620" dirty="0"/>
          </a:p>
        </p:txBody>
      </p:sp>
      <p:sp>
        <p:nvSpPr>
          <p:cNvPr id="17" name="Obj [o38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3.</a:t>
            </a:r>
            <a:endParaRPr lang="en-US" sz="800" dirty="0"/>
          </a:p>
        </p:txBody>
      </p:sp>
      <p:sp>
        <p:nvSpPr>
          <p:cNvPr id="18" name="Obj [o38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Esos requerimientos se traducen en cinco condiciones de diseño del sistema</a:t>
            </a:r>
            <a:endParaRPr lang="en-US" sz="1400" dirty="0"/>
          </a:p>
        </p:txBody>
      </p:sp>
      <p:sp>
        <p:nvSpPr>
          <p:cNvPr id="19" name="Obj [o388]"/>
          <p:cNvSpPr/>
          <p:nvPr/>
        </p:nvSpPr>
        <p:spPr>
          <a:xfrm>
            <a:off x="966136" y="1601523"/>
            <a:ext cx="2323779" cy="440717"/>
          </a:xfrm>
          <a:prstGeom prst="rect">
            <a:avLst/>
          </a:prstGeom>
          <a:solidFill>
            <a:srgbClr val="1F4E79"/>
          </a:solidFill>
          <a:ln w="6350">
            <a:solidFill>
              <a:srgbClr val="1F4E79"/>
            </a:solidFill>
            <a:prstDash val="solid"/>
          </a:ln>
        </p:spPr>
      </p:sp>
      <p:sp>
        <p:nvSpPr>
          <p:cNvPr id="20" name="Obj [o389]"/>
          <p:cNvSpPr txBox="1"/>
          <p:nvPr/>
        </p:nvSpPr>
        <p:spPr>
          <a:xfrm>
            <a:off x="966136"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Banda y fase</a:t>
            </a:r>
            <a:endParaRPr lang="en-US" sz="1440" dirty="0"/>
          </a:p>
        </p:txBody>
      </p:sp>
      <p:sp>
        <p:nvSpPr>
          <p:cNvPr id="21" name="Obj [o390]"/>
          <p:cNvSpPr/>
          <p:nvPr/>
        </p:nvSpPr>
        <p:spPr>
          <a:xfrm>
            <a:off x="966136" y="2042240"/>
            <a:ext cx="2323779" cy="1121824"/>
          </a:xfrm>
          <a:prstGeom prst="rect">
            <a:avLst/>
          </a:prstGeom>
          <a:solidFill>
            <a:srgbClr val="FFFFFF"/>
          </a:solidFill>
          <a:ln w="16694">
            <a:solidFill>
              <a:srgbClr val="1F4E79"/>
            </a:solidFill>
            <a:prstDash val="solid"/>
          </a:ln>
        </p:spPr>
      </p:sp>
      <p:sp>
        <p:nvSpPr>
          <p:cNvPr id="22" name="Obj [o391]"/>
          <p:cNvSpPr txBox="1"/>
          <p:nvPr/>
        </p:nvSpPr>
        <p:spPr>
          <a:xfrm>
            <a:off x="1086331"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440" dirty="0"/>
          </a:p>
        </p:txBody>
      </p:sp>
      <p:sp>
        <p:nvSpPr>
          <p:cNvPr id="23" name="Obj [o392]"/>
          <p:cNvSpPr/>
          <p:nvPr/>
        </p:nvSpPr>
        <p:spPr>
          <a:xfrm>
            <a:off x="3410110" y="1601523"/>
            <a:ext cx="2323779" cy="440717"/>
          </a:xfrm>
          <a:prstGeom prst="rect">
            <a:avLst/>
          </a:prstGeom>
          <a:solidFill>
            <a:srgbClr val="1F4E79"/>
          </a:solidFill>
          <a:ln w="6350">
            <a:solidFill>
              <a:srgbClr val="1F4E79"/>
            </a:solidFill>
            <a:prstDash val="solid"/>
          </a:ln>
        </p:spPr>
      </p:sp>
      <p:sp>
        <p:nvSpPr>
          <p:cNvPr id="24" name="Obj [o393]"/>
          <p:cNvSpPr txBox="1"/>
          <p:nvPr/>
        </p:nvSpPr>
        <p:spPr>
          <a:xfrm>
            <a:off x="3410110"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Margen dinámico</a:t>
            </a:r>
            <a:endParaRPr lang="en-US" sz="1440" dirty="0"/>
          </a:p>
        </p:txBody>
      </p:sp>
      <p:sp>
        <p:nvSpPr>
          <p:cNvPr id="25" name="Obj [o394]"/>
          <p:cNvSpPr/>
          <p:nvPr/>
        </p:nvSpPr>
        <p:spPr>
          <a:xfrm>
            <a:off x="3410110" y="2042240"/>
            <a:ext cx="2323779" cy="1121824"/>
          </a:xfrm>
          <a:prstGeom prst="rect">
            <a:avLst/>
          </a:prstGeom>
          <a:solidFill>
            <a:srgbClr val="FFFFFF"/>
          </a:solidFill>
          <a:ln w="16694">
            <a:solidFill>
              <a:srgbClr val="1F4E79"/>
            </a:solidFill>
            <a:prstDash val="solid"/>
          </a:ln>
        </p:spPr>
      </p:sp>
      <p:sp>
        <p:nvSpPr>
          <p:cNvPr id="26" name="Obj [o395]"/>
          <p:cNvSpPr txBox="1"/>
          <p:nvPr/>
        </p:nvSpPr>
        <p:spPr>
          <a:xfrm>
            <a:off x="3530306"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440" dirty="0"/>
          </a:p>
        </p:txBody>
      </p:sp>
      <p:sp>
        <p:nvSpPr>
          <p:cNvPr id="27" name="Obj [o396]"/>
          <p:cNvSpPr/>
          <p:nvPr/>
        </p:nvSpPr>
        <p:spPr>
          <a:xfrm>
            <a:off x="5854085" y="1601523"/>
            <a:ext cx="2323779" cy="440717"/>
          </a:xfrm>
          <a:prstGeom prst="rect">
            <a:avLst/>
          </a:prstGeom>
          <a:solidFill>
            <a:srgbClr val="1F4E79"/>
          </a:solidFill>
          <a:ln w="6350">
            <a:solidFill>
              <a:srgbClr val="1F4E79"/>
            </a:solidFill>
            <a:prstDash val="solid"/>
          </a:ln>
        </p:spPr>
      </p:sp>
      <p:sp>
        <p:nvSpPr>
          <p:cNvPr id="28" name="Obj [o397]"/>
          <p:cNvSpPr txBox="1"/>
          <p:nvPr/>
        </p:nvSpPr>
        <p:spPr>
          <a:xfrm>
            <a:off x="5854085"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Sincronización temporal</a:t>
            </a:r>
            <a:endParaRPr lang="en-US" sz="1440" dirty="0"/>
          </a:p>
        </p:txBody>
      </p:sp>
      <p:sp>
        <p:nvSpPr>
          <p:cNvPr id="29" name="Obj [o398]"/>
          <p:cNvSpPr/>
          <p:nvPr/>
        </p:nvSpPr>
        <p:spPr>
          <a:xfrm>
            <a:off x="5854085" y="2042240"/>
            <a:ext cx="2323779" cy="1121824"/>
          </a:xfrm>
          <a:prstGeom prst="rect">
            <a:avLst/>
          </a:prstGeom>
          <a:solidFill>
            <a:srgbClr val="FFFFFF"/>
          </a:solidFill>
          <a:ln w="16694">
            <a:solidFill>
              <a:srgbClr val="1F4E79"/>
            </a:solidFill>
            <a:prstDash val="solid"/>
          </a:ln>
        </p:spPr>
      </p:sp>
      <p:sp>
        <p:nvSpPr>
          <p:cNvPr id="30" name="Obj [o399]"/>
          <p:cNvSpPr txBox="1"/>
          <p:nvPr/>
        </p:nvSpPr>
        <p:spPr>
          <a:xfrm>
            <a:off x="5974281"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Referencia de tiempo común entre nodos y con la excitación</a:t>
            </a:r>
            <a:endParaRPr lang="en-US" sz="1440" dirty="0"/>
          </a:p>
        </p:txBody>
      </p:sp>
      <p:sp>
        <p:nvSpPr>
          <p:cNvPr id="31" name="Obj [o400]"/>
          <p:cNvSpPr/>
          <p:nvPr/>
        </p:nvSpPr>
        <p:spPr>
          <a:xfrm>
            <a:off x="966136" y="3324325"/>
            <a:ext cx="3525734" cy="400652"/>
          </a:xfrm>
          <a:prstGeom prst="rect">
            <a:avLst/>
          </a:prstGeom>
          <a:solidFill>
            <a:srgbClr val="1F4E79"/>
          </a:solidFill>
          <a:ln w="6350">
            <a:solidFill>
              <a:srgbClr val="1F4E79"/>
            </a:solidFill>
            <a:prstDash val="solid"/>
          </a:ln>
        </p:spPr>
      </p:sp>
      <p:sp>
        <p:nvSpPr>
          <p:cNvPr id="32" name="Obj [o401]"/>
          <p:cNvSpPr txBox="1"/>
          <p:nvPr/>
        </p:nvSpPr>
        <p:spPr>
          <a:xfrm>
            <a:off x="966136" y="3324325"/>
            <a:ext cx="3525734" cy="400652"/>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Geometría</a:t>
            </a:r>
            <a:endParaRPr lang="en-US" sz="1800" dirty="0"/>
          </a:p>
        </p:txBody>
      </p:sp>
      <p:sp>
        <p:nvSpPr>
          <p:cNvPr id="33" name="Obj [o402]"/>
          <p:cNvSpPr/>
          <p:nvPr/>
        </p:nvSpPr>
        <p:spPr>
          <a:xfrm>
            <a:off x="966136" y="3724977"/>
            <a:ext cx="3525734" cy="761238"/>
          </a:xfrm>
          <a:prstGeom prst="rect">
            <a:avLst/>
          </a:prstGeom>
          <a:solidFill>
            <a:srgbClr val="FFFFFF"/>
          </a:solidFill>
          <a:ln w="16694">
            <a:solidFill>
              <a:srgbClr val="1F4E79"/>
            </a:solidFill>
            <a:prstDash val="solid"/>
          </a:ln>
        </p:spPr>
      </p:sp>
      <p:sp>
        <p:nvSpPr>
          <p:cNvPr id="34" name="Obj [o403]"/>
          <p:cNvSpPr txBox="1"/>
          <p:nvPr/>
        </p:nvSpPr>
        <p:spPr>
          <a:xfrm>
            <a:off x="1086331" y="3765042"/>
            <a:ext cx="3285343"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Posición conocida de cada traza respecto de la fuente</a:t>
            </a:r>
            <a:endParaRPr lang="en-US" sz="1620" dirty="0"/>
          </a:p>
        </p:txBody>
      </p:sp>
      <p:sp>
        <p:nvSpPr>
          <p:cNvPr id="35" name="Obj [o404]"/>
          <p:cNvSpPr/>
          <p:nvPr/>
        </p:nvSpPr>
        <p:spPr>
          <a:xfrm>
            <a:off x="4652130" y="3324325"/>
            <a:ext cx="3525734" cy="400652"/>
          </a:xfrm>
          <a:prstGeom prst="rect">
            <a:avLst/>
          </a:prstGeom>
          <a:solidFill>
            <a:srgbClr val="1F4E79"/>
          </a:solidFill>
          <a:ln w="6350">
            <a:solidFill>
              <a:srgbClr val="1F4E79"/>
            </a:solidFill>
            <a:prstDash val="solid"/>
          </a:ln>
        </p:spPr>
      </p:sp>
      <p:sp>
        <p:nvSpPr>
          <p:cNvPr id="36" name="Obj [o405]"/>
          <p:cNvSpPr txBox="1"/>
          <p:nvPr/>
        </p:nvSpPr>
        <p:spPr>
          <a:xfrm>
            <a:off x="4652130" y="3324325"/>
            <a:ext cx="3525734" cy="400652"/>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Operación en campo</a:t>
            </a:r>
            <a:endParaRPr lang="en-US" sz="1800" dirty="0"/>
          </a:p>
        </p:txBody>
      </p:sp>
      <p:sp>
        <p:nvSpPr>
          <p:cNvPr id="37" name="Obj [o406]"/>
          <p:cNvSpPr/>
          <p:nvPr/>
        </p:nvSpPr>
        <p:spPr>
          <a:xfrm>
            <a:off x="4652130" y="3724977"/>
            <a:ext cx="3525734" cy="761238"/>
          </a:xfrm>
          <a:prstGeom prst="rect">
            <a:avLst/>
          </a:prstGeom>
          <a:solidFill>
            <a:srgbClr val="FFFFFF"/>
          </a:solidFill>
          <a:ln w="16694">
            <a:solidFill>
              <a:srgbClr val="1F4E79"/>
            </a:solidFill>
            <a:prstDash val="solid"/>
          </a:ln>
        </p:spPr>
      </p:sp>
      <p:sp>
        <p:nvSpPr>
          <p:cNvPr id="38" name="Obj [o407]"/>
          <p:cNvSpPr txBox="1"/>
          <p:nvPr/>
        </p:nvSpPr>
        <p:spPr>
          <a:xfrm>
            <a:off x="4772326" y="3765042"/>
            <a:ext cx="3285343"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620" dirty="0"/>
          </a:p>
        </p:txBody>
      </p:sp>
      <p:sp>
        <p:nvSpPr>
          <p:cNvPr id="39" name="Obj [o40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a:t>
            </a:r>
            <a:endParaRPr lang="en-US" sz="800" dirty="0"/>
          </a:p>
        </p:txBody>
      </p:sp>
      <p:sp>
        <p:nvSpPr>
          <p:cNvPr id="40" name="Obj [o40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plataforma consta de un maestro y de nodos independientes que se comunican por ESP-NOW</a:t>
            </a:r>
            <a:endParaRPr lang="en-US" sz="1400" dirty="0"/>
          </a:p>
        </p:txBody>
      </p:sp>
      <p:pic>
        <p:nvPicPr>
          <p:cNvPr id="41" name="Obj [o410]" descr="Arquitectura del sistema: navegador, maestro ESP32, nodos GEO y nodo HAMMER, cada uno con ESP32 y PSoC 5LP">    </p:cNvPr>
          <p:cNvPicPr>
            <a:picLocks noChangeAspect="1"/>
          </p:cNvPicPr>
          <p:nvPr/>
        </p:nvPicPr>
        <p:blipFill>
          <a:blip r:embed="rId1"/>
          <a:stretch>
            <a:fillRect/>
          </a:stretch>
        </p:blipFill>
        <p:spPr>
          <a:xfrm>
            <a:off x="1046266" y="1601523"/>
            <a:ext cx="7051468" cy="2586200"/>
          </a:xfrm>
          <a:prstGeom prst="rect">
            <a:avLst/>
          </a:prstGeom>
        </p:spPr>
      </p:pic>
      <p:sp>
        <p:nvSpPr>
          <p:cNvPr id="42" name="Obj [o411]"/>
          <p:cNvSpPr txBox="1"/>
          <p:nvPr/>
        </p:nvSpPr>
        <p:spPr>
          <a:xfrm>
            <a:off x="966136" y="4221785"/>
            <a:ext cx="7211728" cy="280456"/>
          </a:xfrm>
          <a:prstGeom prst="rect">
            <a:avLst/>
          </a:prstGeom>
          <a:noFill/>
          <a:ln/>
        </p:spPr>
        <p:txBody>
          <a:bodyPr wrap="square" lIns="0" tIns="0" rIns="0" bIns="0" rtlCol="0" anchor="t"/>
          <a:lstStyle/>
          <a:p>
            <a:pPr indent="0" marL="0">
              <a:buNone/>
            </a:pPr>
            <a:r>
              <a:rPr lang="en-US" sz="135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350" dirty="0"/>
          </a:p>
        </p:txBody>
      </p:sp>
      <p:sp>
        <p:nvSpPr>
          <p:cNvPr id="43" name="Obj [o41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la fig. 11 del resumen firmado (sec. 4.7).</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3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fill="hold" nodeType="withEffect">
                                  <p:stCondLst>
                                    <p:cond delay="41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22" presetClass="entr" presetSubtype="8" fill="hold" nodeType="withEffect">
                                  <p:stCondLst>
                                    <p:cond delay="48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10" presetClass="entr" presetSubtype="0" fill="hold" nodeType="withEffect">
                                  <p:stCondLst>
                                    <p:cond delay="5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22" presetClass="entr" presetSubtype="8" fill="hold" nodeType="withEffect">
                                  <p:stCondLst>
                                    <p:cond delay="55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10" presetClass="entr" presetSubtype="0" fill="hold" nodeType="withEffect">
                                  <p:stCondLst>
                                    <p:cond delay="62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22" presetClass="entr" presetSubtype="8" fill="hold" nodeType="withEffect">
                                  <p:stCondLst>
                                    <p:cond delay="69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10" presetClass="entr" presetSubtype="0" fill="hold" nodeType="withEffect">
                                  <p:stCondLst>
                                    <p:cond delay="76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22" presetClass="entr" presetSubtype="8" fill="hold" nodeType="withEffect">
                                  <p:stCondLst>
                                    <p:cond delay="76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10" presetClass="entr" presetSubtype="0" fill="hold" nodeType="withEffect">
                                  <p:stCondLst>
                                    <p:cond delay="83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22" presetClass="entr" presetSubtype="8" fill="hold" nodeType="withEffect">
                                  <p:stCondLst>
                                    <p:cond delay="90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4" presetID="22" presetClass="entr" presetSubtype="8" fill="hold" nodeType="withEffect">
                                  <p:stCondLst>
                                    <p:cond delay="97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par>
                                <p:cTn id="47" presetID="10" presetClass="entr" presetSubtype="0" fill="hold" nodeType="withEffect">
                                  <p:stCondLst>
                                    <p:cond delay="4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350"/>
                                        <p:tgtEl>
                                          <p:spTgt spid="3"/>
                                        </p:tgtEl>
                                      </p:cBhvr>
                                    </p:animEffect>
                                    <p:set>
                                      <p:cBhvr>
                                        <p:cTn id="54" dur="1" fill="hold">
                                          <p:stCondLst>
                                            <p:cond delay="349"/>
                                          </p:stCondLst>
                                        </p:cTn>
                                        <p:tgtEl>
                                          <p:spTgt spid="3"/>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350"/>
                                        <p:tgtEl>
                                          <p:spTgt spid="4"/>
                                        </p:tgtEl>
                                      </p:cBhvr>
                                    </p:animEffect>
                                    <p:set>
                                      <p:cBhvr>
                                        <p:cTn id="57" dur="1" fill="hold">
                                          <p:stCondLst>
                                            <p:cond delay="349"/>
                                          </p:stCondLst>
                                        </p:cTn>
                                        <p:tgtEl>
                                          <p:spTgt spid="4"/>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350"/>
                                        <p:tgtEl>
                                          <p:spTgt spid="5"/>
                                        </p:tgtEl>
                                      </p:cBhvr>
                                    </p:animEffect>
                                    <p:set>
                                      <p:cBhvr>
                                        <p:cTn id="60" dur="1" fill="hold">
                                          <p:stCondLst>
                                            <p:cond delay="349"/>
                                          </p:stCondLst>
                                        </p:cTn>
                                        <p:tgtEl>
                                          <p:spTgt spid="5"/>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350"/>
                                        <p:tgtEl>
                                          <p:spTgt spid="6"/>
                                        </p:tgtEl>
                                      </p:cBhvr>
                                    </p:animEffect>
                                    <p:set>
                                      <p:cBhvr>
                                        <p:cTn id="63" dur="1" fill="hold">
                                          <p:stCondLst>
                                            <p:cond delay="349"/>
                                          </p:stCondLst>
                                        </p:cTn>
                                        <p:tgtEl>
                                          <p:spTgt spid="6"/>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350"/>
                                        <p:tgtEl>
                                          <p:spTgt spid="7"/>
                                        </p:tgtEl>
                                      </p:cBhvr>
                                    </p:animEffect>
                                    <p:set>
                                      <p:cBhvr>
                                        <p:cTn id="66" dur="1" fill="hold">
                                          <p:stCondLst>
                                            <p:cond delay="349"/>
                                          </p:stCondLst>
                                        </p:cTn>
                                        <p:tgtEl>
                                          <p:spTgt spid="7"/>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350"/>
                                        <p:tgtEl>
                                          <p:spTgt spid="8"/>
                                        </p:tgtEl>
                                      </p:cBhvr>
                                    </p:animEffect>
                                    <p:set>
                                      <p:cBhvr>
                                        <p:cTn id="69" dur="1" fill="hold">
                                          <p:stCondLst>
                                            <p:cond delay="349"/>
                                          </p:stCondLst>
                                        </p:cTn>
                                        <p:tgtEl>
                                          <p:spTgt spid="8"/>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350"/>
                                        <p:tgtEl>
                                          <p:spTgt spid="9"/>
                                        </p:tgtEl>
                                      </p:cBhvr>
                                    </p:animEffect>
                                    <p:set>
                                      <p:cBhvr>
                                        <p:cTn id="72" dur="1" fill="hold">
                                          <p:stCondLst>
                                            <p:cond delay="349"/>
                                          </p:stCondLst>
                                        </p:cTn>
                                        <p:tgtEl>
                                          <p:spTgt spid="9"/>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350"/>
                                        <p:tgtEl>
                                          <p:spTgt spid="10"/>
                                        </p:tgtEl>
                                      </p:cBhvr>
                                    </p:animEffect>
                                    <p:set>
                                      <p:cBhvr>
                                        <p:cTn id="75" dur="1" fill="hold">
                                          <p:stCondLst>
                                            <p:cond delay="349"/>
                                          </p:stCondLst>
                                        </p:cTn>
                                        <p:tgtEl>
                                          <p:spTgt spid="10"/>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350"/>
                                        <p:tgtEl>
                                          <p:spTgt spid="11"/>
                                        </p:tgtEl>
                                      </p:cBhvr>
                                    </p:animEffect>
                                    <p:set>
                                      <p:cBhvr>
                                        <p:cTn id="78" dur="1" fill="hold">
                                          <p:stCondLst>
                                            <p:cond delay="349"/>
                                          </p:stCondLst>
                                        </p:cTn>
                                        <p:tgtEl>
                                          <p:spTgt spid="11"/>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350"/>
                                        <p:tgtEl>
                                          <p:spTgt spid="12"/>
                                        </p:tgtEl>
                                      </p:cBhvr>
                                    </p:animEffect>
                                    <p:set>
                                      <p:cBhvr>
                                        <p:cTn id="81" dur="1" fill="hold">
                                          <p:stCondLst>
                                            <p:cond delay="349"/>
                                          </p:stCondLst>
                                        </p:cTn>
                                        <p:tgtEl>
                                          <p:spTgt spid="12"/>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350"/>
                                        <p:tgtEl>
                                          <p:spTgt spid="13"/>
                                        </p:tgtEl>
                                      </p:cBhvr>
                                    </p:animEffect>
                                    <p:set>
                                      <p:cBhvr>
                                        <p:cTn id="84" dur="1" fill="hold">
                                          <p:stCondLst>
                                            <p:cond delay="349"/>
                                          </p:stCondLst>
                                        </p:cTn>
                                        <p:tgtEl>
                                          <p:spTgt spid="13"/>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350"/>
                                        <p:tgtEl>
                                          <p:spTgt spid="14"/>
                                        </p:tgtEl>
                                      </p:cBhvr>
                                    </p:animEffect>
                                    <p:set>
                                      <p:cBhvr>
                                        <p:cTn id="87" dur="1" fill="hold">
                                          <p:stCondLst>
                                            <p:cond delay="349"/>
                                          </p:stCondLst>
                                        </p:cTn>
                                        <p:tgtEl>
                                          <p:spTgt spid="14"/>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15"/>
                                        </p:tgtEl>
                                      </p:cBhvr>
                                    </p:animEffect>
                                    <p:set>
                                      <p:cBhvr>
                                        <p:cTn id="90" dur="1" fill="hold">
                                          <p:stCondLst>
                                            <p:cond delay="349"/>
                                          </p:stCondLst>
                                        </p:cTn>
                                        <p:tgtEl>
                                          <p:spTgt spid="15"/>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350"/>
                                        <p:tgtEl>
                                          <p:spTgt spid="16"/>
                                        </p:tgtEl>
                                      </p:cBhvr>
                                    </p:animEffect>
                                    <p:set>
                                      <p:cBhvr>
                                        <p:cTn id="93" dur="1" fill="hold">
                                          <p:stCondLst>
                                            <p:cond delay="349"/>
                                          </p:stCondLst>
                                        </p:cTn>
                                        <p:tgtEl>
                                          <p:spTgt spid="16"/>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350"/>
                                        <p:tgtEl>
                                          <p:spTgt spid="17"/>
                                        </p:tgtEl>
                                      </p:cBhvr>
                                    </p:animEffect>
                                    <p:set>
                                      <p:cBhvr>
                                        <p:cTn id="96" dur="1" fill="hold">
                                          <p:stCondLst>
                                            <p:cond delay="349"/>
                                          </p:stCondLst>
                                        </p:cTn>
                                        <p:tgtEl>
                                          <p:spTgt spid="17"/>
                                        </p:tgtEl>
                                        <p:attrNameLst>
                                          <p:attrName>style.visibility</p:attrName>
                                        </p:attrNameLst>
                                      </p:cBhvr>
                                      <p:to>
                                        <p:strVal val="hidden"/>
                                      </p:to>
                                    </p:set>
                                  </p:childTnLst>
                                </p:cTn>
                              </p:par>
                              <p:par>
                                <p:cTn id="97" presetID="10" presetClass="entr" presetSubtype="0" fill="hold" nodeType="withEffect">
                                  <p:stCondLst>
                                    <p:cond delay="450"/>
                                  </p:stCondLst>
                                  <p:childTnLst>
                                    <p:set>
                                      <p:cBhvr>
                                        <p:cTn id="98" dur="1" fill="hold">
                                          <p:stCondLst>
                                            <p:cond delay="0"/>
                                          </p:stCondLst>
                                        </p:cTn>
                                        <p:tgtEl>
                                          <p:spTgt spid="18"/>
                                        </p:tgtEl>
                                        <p:attrNameLst>
                                          <p:attrName>style.visibility</p:attrName>
                                        </p:attrNameLst>
                                      </p:cBhvr>
                                      <p:to>
                                        <p:strVal val="visible"/>
                                      </p:to>
                                    </p:set>
                                    <p:animEffect transition="in" filter="fade">
                                      <p:cBhvr>
                                        <p:cTn id="99" dur="450"/>
                                        <p:tgtEl>
                                          <p:spTgt spid="18"/>
                                        </p:tgtEl>
                                      </p:cBhvr>
                                    </p:animEffect>
                                  </p:childTnLst>
                                </p:cTn>
                              </p:par>
                              <p:par>
                                <p:cTn id="100" presetID="10" presetClass="entr" presetSubtype="0" fill="hold" nodeType="withEffect">
                                  <p:stCondLst>
                                    <p:cond delay="520"/>
                                  </p:stCondLst>
                                  <p:childTnLst>
                                    <p:set>
                                      <p:cBhvr>
                                        <p:cTn id="101" dur="1" fill="hold">
                                          <p:stCondLst>
                                            <p:cond delay="0"/>
                                          </p:stCondLst>
                                        </p:cTn>
                                        <p:tgtEl>
                                          <p:spTgt spid="19"/>
                                        </p:tgtEl>
                                        <p:attrNameLst>
                                          <p:attrName>style.visibility</p:attrName>
                                        </p:attrNameLst>
                                      </p:cBhvr>
                                      <p:to>
                                        <p:strVal val="visible"/>
                                      </p:to>
                                    </p:set>
                                    <p:animEffect transition="in" filter="fade">
                                      <p:cBhvr>
                                        <p:cTn id="102" dur="450"/>
                                        <p:tgtEl>
                                          <p:spTgt spid="19"/>
                                        </p:tgtEl>
                                      </p:cBhvr>
                                    </p:animEffect>
                                  </p:childTnLst>
                                </p:cTn>
                              </p:par>
                              <p:par>
                                <p:cTn id="103" presetID="22" presetClass="entr" presetSubtype="4" fill="hold" nodeType="withEffect">
                                  <p:stCondLst>
                                    <p:cond delay="520"/>
                                  </p:stCondLst>
                                  <p:childTnLst>
                                    <p:set>
                                      <p:cBhvr>
                                        <p:cTn id="104" dur="1" fill="hold">
                                          <p:stCondLst>
                                            <p:cond delay="0"/>
                                          </p:stCondLst>
                                        </p:cTn>
                                        <p:tgtEl>
                                          <p:spTgt spid="20"/>
                                        </p:tgtEl>
                                        <p:attrNameLst>
                                          <p:attrName>style.visibility</p:attrName>
                                        </p:attrNameLst>
                                      </p:cBhvr>
                                      <p:to>
                                        <p:strVal val="visible"/>
                                      </p:to>
                                    </p:set>
                                    <p:animEffect transition="in" filter="wipe(down)">
                                      <p:cBhvr>
                                        <p:cTn id="105" dur="500"/>
                                        <p:tgtEl>
                                          <p:spTgt spid="20"/>
                                        </p:tgtEl>
                                      </p:cBhvr>
                                    </p:animEffect>
                                  </p:childTnLst>
                                </p:cTn>
                              </p:par>
                              <p:par>
                                <p:cTn id="106" presetID="10" presetClass="entr" presetSubtype="0" fill="hold" nodeType="withEffect">
                                  <p:stCondLst>
                                    <p:cond delay="590"/>
                                  </p:stCondLst>
                                  <p:childTnLst>
                                    <p:set>
                                      <p:cBhvr>
                                        <p:cTn id="107" dur="1" fill="hold">
                                          <p:stCondLst>
                                            <p:cond delay="0"/>
                                          </p:stCondLst>
                                        </p:cTn>
                                        <p:tgtEl>
                                          <p:spTgt spid="21"/>
                                        </p:tgtEl>
                                        <p:attrNameLst>
                                          <p:attrName>style.visibility</p:attrName>
                                        </p:attrNameLst>
                                      </p:cBhvr>
                                      <p:to>
                                        <p:strVal val="visible"/>
                                      </p:to>
                                    </p:set>
                                    <p:animEffect transition="in" filter="fade">
                                      <p:cBhvr>
                                        <p:cTn id="108" dur="450"/>
                                        <p:tgtEl>
                                          <p:spTgt spid="21"/>
                                        </p:tgtEl>
                                      </p:cBhvr>
                                    </p:animEffect>
                                  </p:childTnLst>
                                </p:cTn>
                              </p:par>
                              <p:par>
                                <p:cTn id="109" presetID="22" presetClass="entr" presetSubtype="4" fill="hold" nodeType="withEffect">
                                  <p:stCondLst>
                                    <p:cond delay="660"/>
                                  </p:stCondLst>
                                  <p:childTnLst>
                                    <p:set>
                                      <p:cBhvr>
                                        <p:cTn id="110" dur="1" fill="hold">
                                          <p:stCondLst>
                                            <p:cond delay="0"/>
                                          </p:stCondLst>
                                        </p:cTn>
                                        <p:tgtEl>
                                          <p:spTgt spid="22"/>
                                        </p:tgtEl>
                                        <p:attrNameLst>
                                          <p:attrName>style.visibility</p:attrName>
                                        </p:attrNameLst>
                                      </p:cBhvr>
                                      <p:to>
                                        <p:strVal val="visible"/>
                                      </p:to>
                                    </p:set>
                                    <p:animEffect transition="in" filter="wipe(down)">
                                      <p:cBhvr>
                                        <p:cTn id="111" dur="500"/>
                                        <p:tgtEl>
                                          <p:spTgt spid="22"/>
                                        </p:tgtEl>
                                      </p:cBhvr>
                                    </p:animEffect>
                                  </p:childTnLst>
                                </p:cTn>
                              </p:par>
                              <p:par>
                                <p:cTn id="112" presetID="10" presetClass="entr" presetSubtype="0" fill="hold" nodeType="withEffect">
                                  <p:stCondLst>
                                    <p:cond delay="730"/>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450"/>
                                        <p:tgtEl>
                                          <p:spTgt spid="23"/>
                                        </p:tgtEl>
                                      </p:cBhvr>
                                    </p:animEffect>
                                  </p:childTnLst>
                                </p:cTn>
                              </p:par>
                              <p:par>
                                <p:cTn id="115" presetID="22" presetClass="entr" presetSubtype="4" fill="hold" nodeType="withEffect">
                                  <p:stCondLst>
                                    <p:cond delay="730"/>
                                  </p:stCondLst>
                                  <p:childTnLst>
                                    <p:set>
                                      <p:cBhvr>
                                        <p:cTn id="116" dur="1" fill="hold">
                                          <p:stCondLst>
                                            <p:cond delay="0"/>
                                          </p:stCondLst>
                                        </p:cTn>
                                        <p:tgtEl>
                                          <p:spTgt spid="24"/>
                                        </p:tgtEl>
                                        <p:attrNameLst>
                                          <p:attrName>style.visibility</p:attrName>
                                        </p:attrNameLst>
                                      </p:cBhvr>
                                      <p:to>
                                        <p:strVal val="visible"/>
                                      </p:to>
                                    </p:set>
                                    <p:animEffect transition="in" filter="wipe(down)">
                                      <p:cBhvr>
                                        <p:cTn id="117" dur="500"/>
                                        <p:tgtEl>
                                          <p:spTgt spid="24"/>
                                        </p:tgtEl>
                                      </p:cBhvr>
                                    </p:animEffect>
                                  </p:childTnLst>
                                </p:cTn>
                              </p:par>
                              <p:par>
                                <p:cTn id="118" presetID="10" presetClass="entr" presetSubtype="0" fill="hold" nodeType="withEffect">
                                  <p:stCondLst>
                                    <p:cond delay="80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450"/>
                                        <p:tgtEl>
                                          <p:spTgt spid="25"/>
                                        </p:tgtEl>
                                      </p:cBhvr>
                                    </p:animEffect>
                                  </p:childTnLst>
                                </p:cTn>
                              </p:par>
                              <p:par>
                                <p:cTn id="121" presetID="22" presetClass="entr" presetSubtype="4" fill="hold" nodeType="withEffect">
                                  <p:stCondLst>
                                    <p:cond delay="870"/>
                                  </p:stCondLst>
                                  <p:childTnLst>
                                    <p:set>
                                      <p:cBhvr>
                                        <p:cTn id="122" dur="1" fill="hold">
                                          <p:stCondLst>
                                            <p:cond delay="0"/>
                                          </p:stCondLst>
                                        </p:cTn>
                                        <p:tgtEl>
                                          <p:spTgt spid="26"/>
                                        </p:tgtEl>
                                        <p:attrNameLst>
                                          <p:attrName>style.visibility</p:attrName>
                                        </p:attrNameLst>
                                      </p:cBhvr>
                                      <p:to>
                                        <p:strVal val="visible"/>
                                      </p:to>
                                    </p:set>
                                    <p:animEffect transition="in" filter="wipe(down)">
                                      <p:cBhvr>
                                        <p:cTn id="123" dur="500"/>
                                        <p:tgtEl>
                                          <p:spTgt spid="26"/>
                                        </p:tgtEl>
                                      </p:cBhvr>
                                    </p:animEffect>
                                  </p:childTnLst>
                                </p:cTn>
                              </p:par>
                              <p:par>
                                <p:cTn id="124" presetID="10" presetClass="entr" presetSubtype="0" fill="hold" nodeType="withEffect">
                                  <p:stCondLst>
                                    <p:cond delay="94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450"/>
                                        <p:tgtEl>
                                          <p:spTgt spid="27"/>
                                        </p:tgtEl>
                                      </p:cBhvr>
                                    </p:animEffect>
                                  </p:childTnLst>
                                </p:cTn>
                              </p:par>
                              <p:par>
                                <p:cTn id="127" presetID="22" presetClass="entr" presetSubtype="4" fill="hold" nodeType="withEffect">
                                  <p:stCondLst>
                                    <p:cond delay="940"/>
                                  </p:stCondLst>
                                  <p:childTnLst>
                                    <p:set>
                                      <p:cBhvr>
                                        <p:cTn id="128" dur="1" fill="hold">
                                          <p:stCondLst>
                                            <p:cond delay="0"/>
                                          </p:stCondLst>
                                        </p:cTn>
                                        <p:tgtEl>
                                          <p:spTgt spid="28"/>
                                        </p:tgtEl>
                                        <p:attrNameLst>
                                          <p:attrName>style.visibility</p:attrName>
                                        </p:attrNameLst>
                                      </p:cBhvr>
                                      <p:to>
                                        <p:strVal val="visible"/>
                                      </p:to>
                                    </p:set>
                                    <p:animEffect transition="in" filter="wipe(down)">
                                      <p:cBhvr>
                                        <p:cTn id="129" dur="500"/>
                                        <p:tgtEl>
                                          <p:spTgt spid="28"/>
                                        </p:tgtEl>
                                      </p:cBhvr>
                                    </p:animEffect>
                                  </p:childTnLst>
                                </p:cTn>
                              </p:par>
                              <p:par>
                                <p:cTn id="130" presetID="10" presetClass="entr" presetSubtype="0" fill="hold" nodeType="withEffect">
                                  <p:stCondLst>
                                    <p:cond delay="101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450"/>
                                        <p:tgtEl>
                                          <p:spTgt spid="29"/>
                                        </p:tgtEl>
                                      </p:cBhvr>
                                    </p:animEffect>
                                  </p:childTnLst>
                                </p:cTn>
                              </p:par>
                              <p:par>
                                <p:cTn id="133" presetID="22" presetClass="entr" presetSubtype="4" fill="hold" nodeType="withEffect">
                                  <p:stCondLst>
                                    <p:cond delay="1080"/>
                                  </p:stCondLst>
                                  <p:childTnLst>
                                    <p:set>
                                      <p:cBhvr>
                                        <p:cTn id="134" dur="1" fill="hold">
                                          <p:stCondLst>
                                            <p:cond delay="0"/>
                                          </p:stCondLst>
                                        </p:cTn>
                                        <p:tgtEl>
                                          <p:spTgt spid="30"/>
                                        </p:tgtEl>
                                        <p:attrNameLst>
                                          <p:attrName>style.visibility</p:attrName>
                                        </p:attrNameLst>
                                      </p:cBhvr>
                                      <p:to>
                                        <p:strVal val="visible"/>
                                      </p:to>
                                    </p:set>
                                    <p:animEffect transition="in" filter="wipe(down)">
                                      <p:cBhvr>
                                        <p:cTn id="135" dur="500"/>
                                        <p:tgtEl>
                                          <p:spTgt spid="30"/>
                                        </p:tgtEl>
                                      </p:cBhvr>
                                    </p:animEffect>
                                  </p:childTnLst>
                                </p:cTn>
                              </p:par>
                              <p:par>
                                <p:cTn id="136" presetID="10" presetClass="entr" presetSubtype="0" fill="hold" nodeType="withEffect">
                                  <p:stCondLst>
                                    <p:cond delay="1150"/>
                                  </p:stCondLst>
                                  <p:childTnLst>
                                    <p:set>
                                      <p:cBhvr>
                                        <p:cTn id="137" dur="1" fill="hold">
                                          <p:stCondLst>
                                            <p:cond delay="0"/>
                                          </p:stCondLst>
                                        </p:cTn>
                                        <p:tgtEl>
                                          <p:spTgt spid="31"/>
                                        </p:tgtEl>
                                        <p:attrNameLst>
                                          <p:attrName>style.visibility</p:attrName>
                                        </p:attrNameLst>
                                      </p:cBhvr>
                                      <p:to>
                                        <p:strVal val="visible"/>
                                      </p:to>
                                    </p:set>
                                    <p:animEffect transition="in" filter="fade">
                                      <p:cBhvr>
                                        <p:cTn id="138" dur="450"/>
                                        <p:tgtEl>
                                          <p:spTgt spid="31"/>
                                        </p:tgtEl>
                                      </p:cBhvr>
                                    </p:animEffect>
                                  </p:childTnLst>
                                </p:cTn>
                              </p:par>
                              <p:par>
                                <p:cTn id="139" presetID="22" presetClass="entr" presetSubtype="4" fill="hold" nodeType="withEffect">
                                  <p:stCondLst>
                                    <p:cond delay="1150"/>
                                  </p:stCondLst>
                                  <p:childTnLst>
                                    <p:set>
                                      <p:cBhvr>
                                        <p:cTn id="140" dur="1" fill="hold">
                                          <p:stCondLst>
                                            <p:cond delay="0"/>
                                          </p:stCondLst>
                                        </p:cTn>
                                        <p:tgtEl>
                                          <p:spTgt spid="32"/>
                                        </p:tgtEl>
                                        <p:attrNameLst>
                                          <p:attrName>style.visibility</p:attrName>
                                        </p:attrNameLst>
                                      </p:cBhvr>
                                      <p:to>
                                        <p:strVal val="visible"/>
                                      </p:to>
                                    </p:set>
                                    <p:animEffect transition="in" filter="wipe(down)">
                                      <p:cBhvr>
                                        <p:cTn id="141" dur="500"/>
                                        <p:tgtEl>
                                          <p:spTgt spid="32"/>
                                        </p:tgtEl>
                                      </p:cBhvr>
                                    </p:animEffect>
                                  </p:childTnLst>
                                </p:cTn>
                              </p:par>
                              <p:par>
                                <p:cTn id="142" presetID="10" presetClass="entr" presetSubtype="0" fill="hold" nodeType="withEffect">
                                  <p:stCondLst>
                                    <p:cond delay="122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450"/>
                                        <p:tgtEl>
                                          <p:spTgt spid="33"/>
                                        </p:tgtEl>
                                      </p:cBhvr>
                                    </p:animEffect>
                                  </p:childTnLst>
                                </p:cTn>
                              </p:par>
                              <p:par>
                                <p:cTn id="145" presetID="22" presetClass="entr" presetSubtype="4" fill="hold" nodeType="withEffect">
                                  <p:stCondLst>
                                    <p:cond delay="1290"/>
                                  </p:stCondLst>
                                  <p:childTnLst>
                                    <p:set>
                                      <p:cBhvr>
                                        <p:cTn id="146" dur="1" fill="hold">
                                          <p:stCondLst>
                                            <p:cond delay="0"/>
                                          </p:stCondLst>
                                        </p:cTn>
                                        <p:tgtEl>
                                          <p:spTgt spid="34"/>
                                        </p:tgtEl>
                                        <p:attrNameLst>
                                          <p:attrName>style.visibility</p:attrName>
                                        </p:attrNameLst>
                                      </p:cBhvr>
                                      <p:to>
                                        <p:strVal val="visible"/>
                                      </p:to>
                                    </p:set>
                                    <p:animEffect transition="in" filter="wipe(down)">
                                      <p:cBhvr>
                                        <p:cTn id="147" dur="500"/>
                                        <p:tgtEl>
                                          <p:spTgt spid="34"/>
                                        </p:tgtEl>
                                      </p:cBhvr>
                                    </p:animEffect>
                                  </p:childTnLst>
                                </p:cTn>
                              </p:par>
                              <p:par>
                                <p:cTn id="148" presetID="10" presetClass="entr" presetSubtype="0" fill="hold" nodeType="withEffect">
                                  <p:stCondLst>
                                    <p:cond delay="1360"/>
                                  </p:stCondLst>
                                  <p:childTnLst>
                                    <p:set>
                                      <p:cBhvr>
                                        <p:cTn id="149" dur="1" fill="hold">
                                          <p:stCondLst>
                                            <p:cond delay="0"/>
                                          </p:stCondLst>
                                        </p:cTn>
                                        <p:tgtEl>
                                          <p:spTgt spid="35"/>
                                        </p:tgtEl>
                                        <p:attrNameLst>
                                          <p:attrName>style.visibility</p:attrName>
                                        </p:attrNameLst>
                                      </p:cBhvr>
                                      <p:to>
                                        <p:strVal val="visible"/>
                                      </p:to>
                                    </p:set>
                                    <p:animEffect transition="in" filter="fade">
                                      <p:cBhvr>
                                        <p:cTn id="150" dur="450"/>
                                        <p:tgtEl>
                                          <p:spTgt spid="35"/>
                                        </p:tgtEl>
                                      </p:cBhvr>
                                    </p:animEffect>
                                  </p:childTnLst>
                                </p:cTn>
                              </p:par>
                              <p:par>
                                <p:cTn id="151" presetID="22" presetClass="entr" presetSubtype="4" fill="hold" nodeType="withEffect">
                                  <p:stCondLst>
                                    <p:cond delay="1360"/>
                                  </p:stCondLst>
                                  <p:childTnLst>
                                    <p:set>
                                      <p:cBhvr>
                                        <p:cTn id="152" dur="1" fill="hold">
                                          <p:stCondLst>
                                            <p:cond delay="0"/>
                                          </p:stCondLst>
                                        </p:cTn>
                                        <p:tgtEl>
                                          <p:spTgt spid="36"/>
                                        </p:tgtEl>
                                        <p:attrNameLst>
                                          <p:attrName>style.visibility</p:attrName>
                                        </p:attrNameLst>
                                      </p:cBhvr>
                                      <p:to>
                                        <p:strVal val="visible"/>
                                      </p:to>
                                    </p:set>
                                    <p:animEffect transition="in" filter="wipe(down)">
                                      <p:cBhvr>
                                        <p:cTn id="153" dur="500"/>
                                        <p:tgtEl>
                                          <p:spTgt spid="36"/>
                                        </p:tgtEl>
                                      </p:cBhvr>
                                    </p:animEffect>
                                  </p:childTnLst>
                                </p:cTn>
                              </p:par>
                              <p:par>
                                <p:cTn id="154" presetID="10" presetClass="entr" presetSubtype="0" fill="hold" nodeType="withEffect">
                                  <p:stCondLst>
                                    <p:cond delay="1430"/>
                                  </p:stCondLst>
                                  <p:childTnLst>
                                    <p:set>
                                      <p:cBhvr>
                                        <p:cTn id="155" dur="1" fill="hold">
                                          <p:stCondLst>
                                            <p:cond delay="0"/>
                                          </p:stCondLst>
                                        </p:cTn>
                                        <p:tgtEl>
                                          <p:spTgt spid="37"/>
                                        </p:tgtEl>
                                        <p:attrNameLst>
                                          <p:attrName>style.visibility</p:attrName>
                                        </p:attrNameLst>
                                      </p:cBhvr>
                                      <p:to>
                                        <p:strVal val="visible"/>
                                      </p:to>
                                    </p:set>
                                    <p:animEffect transition="in" filter="fade">
                                      <p:cBhvr>
                                        <p:cTn id="156" dur="450"/>
                                        <p:tgtEl>
                                          <p:spTgt spid="37"/>
                                        </p:tgtEl>
                                      </p:cBhvr>
                                    </p:animEffect>
                                  </p:childTnLst>
                                </p:cTn>
                              </p:par>
                              <p:par>
                                <p:cTn id="157" presetID="22" presetClass="entr" presetSubtype="4" fill="hold" nodeType="withEffect">
                                  <p:stCondLst>
                                    <p:cond delay="1480"/>
                                  </p:stCondLst>
                                  <p:childTnLst>
                                    <p:set>
                                      <p:cBhvr>
                                        <p:cTn id="158" dur="1" fill="hold">
                                          <p:stCondLst>
                                            <p:cond delay="0"/>
                                          </p:stCondLst>
                                        </p:cTn>
                                        <p:tgtEl>
                                          <p:spTgt spid="38"/>
                                        </p:tgtEl>
                                        <p:attrNameLst>
                                          <p:attrName>style.visibility</p:attrName>
                                        </p:attrNameLst>
                                      </p:cBhvr>
                                      <p:to>
                                        <p:strVal val="visible"/>
                                      </p:to>
                                    </p:set>
                                    <p:animEffect transition="in" filter="wipe(down)">
                                      <p:cBhvr>
                                        <p:cTn id="159" dur="500"/>
                                        <p:tgtEl>
                                          <p:spTgt spid="38"/>
                                        </p:tgtEl>
                                      </p:cBhvr>
                                    </p:animEffect>
                                  </p:childTnLst>
                                </p:cTn>
                              </p:par>
                              <p:par>
                                <p:cTn id="160" presetID="10" presetClass="entr" presetSubtype="0" fill="hold" nodeType="withEffect">
                                  <p:stCondLst>
                                    <p:cond delay="58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450"/>
                                        <p:tgtEl>
                                          <p:spTgt spid="39"/>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xit" presetSubtype="0" fill="hold" nodeType="clickEffect">
                                  <p:stCondLst>
                                    <p:cond delay="0"/>
                                  </p:stCondLst>
                                  <p:childTnLst>
                                    <p:animEffect transition="out" filter="fade">
                                      <p:cBhvr>
                                        <p:cTn id="166" dur="350"/>
                                        <p:tgtEl>
                                          <p:spTgt spid="18"/>
                                        </p:tgtEl>
                                      </p:cBhvr>
                                    </p:animEffect>
                                    <p:set>
                                      <p:cBhvr>
                                        <p:cTn id="167" dur="1" fill="hold">
                                          <p:stCondLst>
                                            <p:cond delay="349"/>
                                          </p:stCondLst>
                                        </p:cTn>
                                        <p:tgtEl>
                                          <p:spTgt spid="18"/>
                                        </p:tgtEl>
                                        <p:attrNameLst>
                                          <p:attrName>style.visibility</p:attrName>
                                        </p:attrNameLst>
                                      </p:cBhvr>
                                      <p:to>
                                        <p:strVal val="hidden"/>
                                      </p:to>
                                    </p:set>
                                  </p:childTnLst>
                                </p:cTn>
                              </p:par>
                              <p:par>
                                <p:cTn id="168" presetID="10" presetClass="exit" presetSubtype="0" fill="hold" nodeType="withEffect">
                                  <p:stCondLst>
                                    <p:cond delay="0"/>
                                  </p:stCondLst>
                                  <p:childTnLst>
                                    <p:animEffect transition="out" filter="fade">
                                      <p:cBhvr>
                                        <p:cTn id="169" dur="350"/>
                                        <p:tgtEl>
                                          <p:spTgt spid="19"/>
                                        </p:tgtEl>
                                      </p:cBhvr>
                                    </p:animEffect>
                                    <p:set>
                                      <p:cBhvr>
                                        <p:cTn id="170" dur="1" fill="hold">
                                          <p:stCondLst>
                                            <p:cond delay="349"/>
                                          </p:stCondLst>
                                        </p:cTn>
                                        <p:tgtEl>
                                          <p:spTgt spid="19"/>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172" dur="350"/>
                                        <p:tgtEl>
                                          <p:spTgt spid="20"/>
                                        </p:tgtEl>
                                      </p:cBhvr>
                                    </p:animEffect>
                                    <p:set>
                                      <p:cBhvr>
                                        <p:cTn id="173" dur="1" fill="hold">
                                          <p:stCondLst>
                                            <p:cond delay="349"/>
                                          </p:stCondLst>
                                        </p:cTn>
                                        <p:tgtEl>
                                          <p:spTgt spid="20"/>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21"/>
                                        </p:tgtEl>
                                      </p:cBhvr>
                                    </p:animEffect>
                                    <p:set>
                                      <p:cBhvr>
                                        <p:cTn id="176" dur="1" fill="hold">
                                          <p:stCondLst>
                                            <p:cond delay="349"/>
                                          </p:stCondLst>
                                        </p:cTn>
                                        <p:tgtEl>
                                          <p:spTgt spid="21"/>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350"/>
                                        <p:tgtEl>
                                          <p:spTgt spid="22"/>
                                        </p:tgtEl>
                                      </p:cBhvr>
                                    </p:animEffect>
                                    <p:set>
                                      <p:cBhvr>
                                        <p:cTn id="179" dur="1" fill="hold">
                                          <p:stCondLst>
                                            <p:cond delay="349"/>
                                          </p:stCondLst>
                                        </p:cTn>
                                        <p:tgtEl>
                                          <p:spTgt spid="22"/>
                                        </p:tgtEl>
                                        <p:attrNameLst>
                                          <p:attrName>style.visibility</p:attrName>
                                        </p:attrNameLst>
                                      </p:cBhvr>
                                      <p:to>
                                        <p:strVal val="hidden"/>
                                      </p:to>
                                    </p:set>
                                  </p:childTnLst>
                                </p:cTn>
                              </p:par>
                              <p:par>
                                <p:cTn id="180" presetID="10" presetClass="exit" presetSubtype="0" fill="hold" nodeType="withEffect">
                                  <p:stCondLst>
                                    <p:cond delay="0"/>
                                  </p:stCondLst>
                                  <p:childTnLst>
                                    <p:animEffect transition="out" filter="fade">
                                      <p:cBhvr>
                                        <p:cTn id="181" dur="350"/>
                                        <p:tgtEl>
                                          <p:spTgt spid="23"/>
                                        </p:tgtEl>
                                      </p:cBhvr>
                                    </p:animEffect>
                                    <p:set>
                                      <p:cBhvr>
                                        <p:cTn id="182" dur="1" fill="hold">
                                          <p:stCondLst>
                                            <p:cond delay="349"/>
                                          </p:stCondLst>
                                        </p:cTn>
                                        <p:tgtEl>
                                          <p:spTgt spid="23"/>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184" dur="350"/>
                                        <p:tgtEl>
                                          <p:spTgt spid="24"/>
                                        </p:tgtEl>
                                      </p:cBhvr>
                                    </p:animEffect>
                                    <p:set>
                                      <p:cBhvr>
                                        <p:cTn id="185" dur="1" fill="hold">
                                          <p:stCondLst>
                                            <p:cond delay="349"/>
                                          </p:stCondLst>
                                        </p:cTn>
                                        <p:tgtEl>
                                          <p:spTgt spid="24"/>
                                        </p:tgtEl>
                                        <p:attrNameLst>
                                          <p:attrName>style.visibility</p:attrName>
                                        </p:attrNameLst>
                                      </p:cBhvr>
                                      <p:to>
                                        <p:strVal val="hidden"/>
                                      </p:to>
                                    </p:set>
                                  </p:childTnLst>
                                </p:cTn>
                              </p:par>
                              <p:par>
                                <p:cTn id="186" presetID="10" presetClass="exit" presetSubtype="0" fill="hold" nodeType="withEffect">
                                  <p:stCondLst>
                                    <p:cond delay="0"/>
                                  </p:stCondLst>
                                  <p:childTnLst>
                                    <p:animEffect transition="out" filter="fade">
                                      <p:cBhvr>
                                        <p:cTn id="187" dur="350"/>
                                        <p:tgtEl>
                                          <p:spTgt spid="25"/>
                                        </p:tgtEl>
                                      </p:cBhvr>
                                    </p:animEffect>
                                    <p:set>
                                      <p:cBhvr>
                                        <p:cTn id="188" dur="1" fill="hold">
                                          <p:stCondLst>
                                            <p:cond delay="349"/>
                                          </p:stCondLst>
                                        </p:cTn>
                                        <p:tgtEl>
                                          <p:spTgt spid="25"/>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350"/>
                                        <p:tgtEl>
                                          <p:spTgt spid="26"/>
                                        </p:tgtEl>
                                      </p:cBhvr>
                                    </p:animEffect>
                                    <p:set>
                                      <p:cBhvr>
                                        <p:cTn id="191" dur="1" fill="hold">
                                          <p:stCondLst>
                                            <p:cond delay="349"/>
                                          </p:stCondLst>
                                        </p:cTn>
                                        <p:tgtEl>
                                          <p:spTgt spid="26"/>
                                        </p:tgtEl>
                                        <p:attrNameLst>
                                          <p:attrName>style.visibility</p:attrName>
                                        </p:attrNameLst>
                                      </p:cBhvr>
                                      <p:to>
                                        <p:strVal val="hidden"/>
                                      </p:to>
                                    </p:set>
                                  </p:childTnLst>
                                </p:cTn>
                              </p:par>
                              <p:par>
                                <p:cTn id="192" presetID="10" presetClass="exit" presetSubtype="0" fill="hold" nodeType="withEffect">
                                  <p:stCondLst>
                                    <p:cond delay="0"/>
                                  </p:stCondLst>
                                  <p:childTnLst>
                                    <p:animEffect transition="out" filter="fade">
                                      <p:cBhvr>
                                        <p:cTn id="193" dur="350"/>
                                        <p:tgtEl>
                                          <p:spTgt spid="27"/>
                                        </p:tgtEl>
                                      </p:cBhvr>
                                    </p:animEffect>
                                    <p:set>
                                      <p:cBhvr>
                                        <p:cTn id="194" dur="1" fill="hold">
                                          <p:stCondLst>
                                            <p:cond delay="349"/>
                                          </p:stCondLst>
                                        </p:cTn>
                                        <p:tgtEl>
                                          <p:spTgt spid="27"/>
                                        </p:tgtEl>
                                        <p:attrNameLst>
                                          <p:attrName>style.visibility</p:attrName>
                                        </p:attrNameLst>
                                      </p:cBhvr>
                                      <p:to>
                                        <p:strVal val="hidden"/>
                                      </p:to>
                                    </p:set>
                                  </p:childTnLst>
                                </p:cTn>
                              </p:par>
                              <p:par>
                                <p:cTn id="195" presetID="10" presetClass="exit" presetSubtype="0" fill="hold" nodeType="withEffect">
                                  <p:stCondLst>
                                    <p:cond delay="0"/>
                                  </p:stCondLst>
                                  <p:childTnLst>
                                    <p:animEffect transition="out" filter="fade">
                                      <p:cBhvr>
                                        <p:cTn id="196" dur="350"/>
                                        <p:tgtEl>
                                          <p:spTgt spid="28"/>
                                        </p:tgtEl>
                                      </p:cBhvr>
                                    </p:animEffect>
                                    <p:set>
                                      <p:cBhvr>
                                        <p:cTn id="197" dur="1" fill="hold">
                                          <p:stCondLst>
                                            <p:cond delay="349"/>
                                          </p:stCondLst>
                                        </p:cTn>
                                        <p:tgtEl>
                                          <p:spTgt spid="28"/>
                                        </p:tgtEl>
                                        <p:attrNameLst>
                                          <p:attrName>style.visibility</p:attrName>
                                        </p:attrNameLst>
                                      </p:cBhvr>
                                      <p:to>
                                        <p:strVal val="hidden"/>
                                      </p:to>
                                    </p:set>
                                  </p:childTnLst>
                                </p:cTn>
                              </p:par>
                              <p:par>
                                <p:cTn id="198" presetID="10" presetClass="exit" presetSubtype="0" fill="hold" nodeType="withEffect">
                                  <p:stCondLst>
                                    <p:cond delay="0"/>
                                  </p:stCondLst>
                                  <p:childTnLst>
                                    <p:animEffect transition="out" filter="fade">
                                      <p:cBhvr>
                                        <p:cTn id="199" dur="350"/>
                                        <p:tgtEl>
                                          <p:spTgt spid="29"/>
                                        </p:tgtEl>
                                      </p:cBhvr>
                                    </p:animEffect>
                                    <p:set>
                                      <p:cBhvr>
                                        <p:cTn id="200" dur="1" fill="hold">
                                          <p:stCondLst>
                                            <p:cond delay="349"/>
                                          </p:stCondLst>
                                        </p:cTn>
                                        <p:tgtEl>
                                          <p:spTgt spid="29"/>
                                        </p:tgtEl>
                                        <p:attrNameLst>
                                          <p:attrName>style.visibility</p:attrName>
                                        </p:attrNameLst>
                                      </p:cBhvr>
                                      <p:to>
                                        <p:strVal val="hidden"/>
                                      </p:to>
                                    </p:set>
                                  </p:childTnLst>
                                </p:cTn>
                              </p:par>
                              <p:par>
                                <p:cTn id="201" presetID="10" presetClass="exit" presetSubtype="0" fill="hold" nodeType="withEffect">
                                  <p:stCondLst>
                                    <p:cond delay="0"/>
                                  </p:stCondLst>
                                  <p:childTnLst>
                                    <p:animEffect transition="out" filter="fade">
                                      <p:cBhvr>
                                        <p:cTn id="202" dur="350"/>
                                        <p:tgtEl>
                                          <p:spTgt spid="30"/>
                                        </p:tgtEl>
                                      </p:cBhvr>
                                    </p:animEffect>
                                    <p:set>
                                      <p:cBhvr>
                                        <p:cTn id="203" dur="1" fill="hold">
                                          <p:stCondLst>
                                            <p:cond delay="349"/>
                                          </p:stCondLst>
                                        </p:cTn>
                                        <p:tgtEl>
                                          <p:spTgt spid="30"/>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350"/>
                                        <p:tgtEl>
                                          <p:spTgt spid="31"/>
                                        </p:tgtEl>
                                      </p:cBhvr>
                                    </p:animEffect>
                                    <p:set>
                                      <p:cBhvr>
                                        <p:cTn id="206" dur="1" fill="hold">
                                          <p:stCondLst>
                                            <p:cond delay="349"/>
                                          </p:stCondLst>
                                        </p:cTn>
                                        <p:tgtEl>
                                          <p:spTgt spid="31"/>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350"/>
                                        <p:tgtEl>
                                          <p:spTgt spid="32"/>
                                        </p:tgtEl>
                                      </p:cBhvr>
                                    </p:animEffect>
                                    <p:set>
                                      <p:cBhvr>
                                        <p:cTn id="209" dur="1" fill="hold">
                                          <p:stCondLst>
                                            <p:cond delay="349"/>
                                          </p:stCondLst>
                                        </p:cTn>
                                        <p:tgtEl>
                                          <p:spTgt spid="32"/>
                                        </p:tgtEl>
                                        <p:attrNameLst>
                                          <p:attrName>style.visibility</p:attrName>
                                        </p:attrNameLst>
                                      </p:cBhvr>
                                      <p:to>
                                        <p:strVal val="hidden"/>
                                      </p:to>
                                    </p:set>
                                  </p:childTnLst>
                                </p:cTn>
                              </p:par>
                              <p:par>
                                <p:cTn id="210" presetID="10" presetClass="exit" presetSubtype="0" fill="hold" nodeType="withEffect">
                                  <p:stCondLst>
                                    <p:cond delay="0"/>
                                  </p:stCondLst>
                                  <p:childTnLst>
                                    <p:animEffect transition="out" filter="fade">
                                      <p:cBhvr>
                                        <p:cTn id="211" dur="350"/>
                                        <p:tgtEl>
                                          <p:spTgt spid="33"/>
                                        </p:tgtEl>
                                      </p:cBhvr>
                                    </p:animEffect>
                                    <p:set>
                                      <p:cBhvr>
                                        <p:cTn id="212" dur="1" fill="hold">
                                          <p:stCondLst>
                                            <p:cond delay="349"/>
                                          </p:stCondLst>
                                        </p:cTn>
                                        <p:tgtEl>
                                          <p:spTgt spid="33"/>
                                        </p:tgtEl>
                                        <p:attrNameLst>
                                          <p:attrName>style.visibility</p:attrName>
                                        </p:attrNameLst>
                                      </p:cBhvr>
                                      <p:to>
                                        <p:strVal val="hidden"/>
                                      </p:to>
                                    </p:set>
                                  </p:childTnLst>
                                </p:cTn>
                              </p:par>
                              <p:par>
                                <p:cTn id="213" presetID="10" presetClass="exit" presetSubtype="0" fill="hold" nodeType="withEffect">
                                  <p:stCondLst>
                                    <p:cond delay="0"/>
                                  </p:stCondLst>
                                  <p:childTnLst>
                                    <p:animEffect transition="out" filter="fade">
                                      <p:cBhvr>
                                        <p:cTn id="214" dur="350"/>
                                        <p:tgtEl>
                                          <p:spTgt spid="34"/>
                                        </p:tgtEl>
                                      </p:cBhvr>
                                    </p:animEffect>
                                    <p:set>
                                      <p:cBhvr>
                                        <p:cTn id="215" dur="1" fill="hold">
                                          <p:stCondLst>
                                            <p:cond delay="349"/>
                                          </p:stCondLst>
                                        </p:cTn>
                                        <p:tgtEl>
                                          <p:spTgt spid="34"/>
                                        </p:tgtEl>
                                        <p:attrNameLst>
                                          <p:attrName>style.visibility</p:attrName>
                                        </p:attrNameLst>
                                      </p:cBhvr>
                                      <p:to>
                                        <p:strVal val="hidden"/>
                                      </p:to>
                                    </p:set>
                                  </p:childTnLst>
                                </p:cTn>
                              </p:par>
                              <p:par>
                                <p:cTn id="216" presetID="10" presetClass="exit" presetSubtype="0" fill="hold" nodeType="withEffect">
                                  <p:stCondLst>
                                    <p:cond delay="0"/>
                                  </p:stCondLst>
                                  <p:childTnLst>
                                    <p:animEffect transition="out" filter="fade">
                                      <p:cBhvr>
                                        <p:cTn id="217" dur="350"/>
                                        <p:tgtEl>
                                          <p:spTgt spid="35"/>
                                        </p:tgtEl>
                                      </p:cBhvr>
                                    </p:animEffect>
                                    <p:set>
                                      <p:cBhvr>
                                        <p:cTn id="218" dur="1" fill="hold">
                                          <p:stCondLst>
                                            <p:cond delay="349"/>
                                          </p:stCondLst>
                                        </p:cTn>
                                        <p:tgtEl>
                                          <p:spTgt spid="35"/>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350"/>
                                        <p:tgtEl>
                                          <p:spTgt spid="36"/>
                                        </p:tgtEl>
                                      </p:cBhvr>
                                    </p:animEffect>
                                    <p:set>
                                      <p:cBhvr>
                                        <p:cTn id="221" dur="1" fill="hold">
                                          <p:stCondLst>
                                            <p:cond delay="349"/>
                                          </p:stCondLst>
                                        </p:cTn>
                                        <p:tgtEl>
                                          <p:spTgt spid="36"/>
                                        </p:tgtEl>
                                        <p:attrNameLst>
                                          <p:attrName>style.visibility</p:attrName>
                                        </p:attrNameLst>
                                      </p:cBhvr>
                                      <p:to>
                                        <p:strVal val="hidden"/>
                                      </p:to>
                                    </p:set>
                                  </p:childTnLst>
                                </p:cTn>
                              </p:par>
                              <p:par>
                                <p:cTn id="222" presetID="10" presetClass="exit" presetSubtype="0" fill="hold" nodeType="withEffect">
                                  <p:stCondLst>
                                    <p:cond delay="0"/>
                                  </p:stCondLst>
                                  <p:childTnLst>
                                    <p:animEffect transition="out" filter="fade">
                                      <p:cBhvr>
                                        <p:cTn id="223" dur="350"/>
                                        <p:tgtEl>
                                          <p:spTgt spid="37"/>
                                        </p:tgtEl>
                                      </p:cBhvr>
                                    </p:animEffect>
                                    <p:set>
                                      <p:cBhvr>
                                        <p:cTn id="224" dur="1" fill="hold">
                                          <p:stCondLst>
                                            <p:cond delay="349"/>
                                          </p:stCondLst>
                                        </p:cTn>
                                        <p:tgtEl>
                                          <p:spTgt spid="37"/>
                                        </p:tgtEl>
                                        <p:attrNameLst>
                                          <p:attrName>style.visibility</p:attrName>
                                        </p:attrNameLst>
                                      </p:cBhvr>
                                      <p:to>
                                        <p:strVal val="hidden"/>
                                      </p:to>
                                    </p:set>
                                  </p:childTnLst>
                                </p:cTn>
                              </p:par>
                              <p:par>
                                <p:cTn id="225" presetID="10" presetClass="exit" presetSubtype="0" fill="hold" nodeType="withEffect">
                                  <p:stCondLst>
                                    <p:cond delay="0"/>
                                  </p:stCondLst>
                                  <p:childTnLst>
                                    <p:animEffect transition="out" filter="fade">
                                      <p:cBhvr>
                                        <p:cTn id="226" dur="350"/>
                                        <p:tgtEl>
                                          <p:spTgt spid="38"/>
                                        </p:tgtEl>
                                      </p:cBhvr>
                                    </p:animEffect>
                                    <p:set>
                                      <p:cBhvr>
                                        <p:cTn id="227" dur="1" fill="hold">
                                          <p:stCondLst>
                                            <p:cond delay="349"/>
                                          </p:stCondLst>
                                        </p:cTn>
                                        <p:tgtEl>
                                          <p:spTgt spid="38"/>
                                        </p:tgtEl>
                                        <p:attrNameLst>
                                          <p:attrName>style.visibility</p:attrName>
                                        </p:attrNameLst>
                                      </p:cBhvr>
                                      <p:to>
                                        <p:strVal val="hidden"/>
                                      </p:to>
                                    </p:set>
                                  </p:childTnLst>
                                </p:cTn>
                              </p:par>
                              <p:par>
                                <p:cTn id="228" presetID="10" presetClass="exit" presetSubtype="0" fill="hold" nodeType="withEffect">
                                  <p:stCondLst>
                                    <p:cond delay="0"/>
                                  </p:stCondLst>
                                  <p:childTnLst>
                                    <p:animEffect transition="out" filter="fade">
                                      <p:cBhvr>
                                        <p:cTn id="229" dur="350"/>
                                        <p:tgtEl>
                                          <p:spTgt spid="39"/>
                                        </p:tgtEl>
                                      </p:cBhvr>
                                    </p:animEffect>
                                    <p:set>
                                      <p:cBhvr>
                                        <p:cTn id="230" dur="1" fill="hold">
                                          <p:stCondLst>
                                            <p:cond delay="349"/>
                                          </p:stCondLst>
                                        </p:cTn>
                                        <p:tgtEl>
                                          <p:spTgt spid="39"/>
                                        </p:tgtEl>
                                        <p:attrNameLst>
                                          <p:attrName>style.visibility</p:attrName>
                                        </p:attrNameLst>
                                      </p:cBhvr>
                                      <p:to>
                                        <p:strVal val="hidden"/>
                                      </p:to>
                                    </p:set>
                                  </p:childTnLst>
                                </p:cTn>
                              </p:par>
                              <p:par>
                                <p:cTn id="231" presetID="10" presetClass="entr" presetSubtype="0" fill="hold" nodeType="withEffect">
                                  <p:stCondLst>
                                    <p:cond delay="450"/>
                                  </p:stCondLst>
                                  <p:childTnLst>
                                    <p:set>
                                      <p:cBhvr>
                                        <p:cTn id="232" dur="1" fill="hold">
                                          <p:stCondLst>
                                            <p:cond delay="0"/>
                                          </p:stCondLst>
                                        </p:cTn>
                                        <p:tgtEl>
                                          <p:spTgt spid="40"/>
                                        </p:tgtEl>
                                        <p:attrNameLst>
                                          <p:attrName>style.visibility</p:attrName>
                                        </p:attrNameLst>
                                      </p:cBhvr>
                                      <p:to>
                                        <p:strVal val="visible"/>
                                      </p:to>
                                    </p:set>
                                    <p:animEffect transition="in" filter="fade">
                                      <p:cBhvr>
                                        <p:cTn id="233" dur="450"/>
                                        <p:tgtEl>
                                          <p:spTgt spid="40"/>
                                        </p:tgtEl>
                                      </p:cBhvr>
                                    </p:animEffect>
                                  </p:childTnLst>
                                </p:cTn>
                              </p:par>
                              <p:par>
                                <p:cTn id="234" presetID="53" presetClass="entr" presetSubtype="16" fill="hold" nodeType="withEffect">
                                  <p:stCondLst>
                                    <p:cond delay="520"/>
                                  </p:stCondLst>
                                  <p:childTnLst>
                                    <p:set>
                                      <p:cBhvr>
                                        <p:cTn id="235" dur="1" fill="hold">
                                          <p:stCondLst>
                                            <p:cond delay="0"/>
                                          </p:stCondLst>
                                        </p:cTn>
                                        <p:tgtEl>
                                          <p:spTgt spid="41"/>
                                        </p:tgtEl>
                                        <p:attrNameLst>
                                          <p:attrName>style.visibility</p:attrName>
                                        </p:attrNameLst>
                                      </p:cBhvr>
                                      <p:to>
                                        <p:strVal val="visible"/>
                                      </p:to>
                                    </p:set>
                                    <p:anim calcmode="lin" valueType="num">
                                      <p:cBhvr>
                                        <p:cTn id="236" dur="600" fill="hold"/>
                                        <p:tgtEl>
                                          <p:spTgt spid="41"/>
                                        </p:tgtEl>
                                        <p:attrNameLst>
                                          <p:attrName>ppt_w</p:attrName>
                                        </p:attrNameLst>
                                      </p:cBhvr>
                                      <p:tavLst>
                                        <p:tav tm="0">
                                          <p:val>
                                            <p:fltVal val="0"/>
                                          </p:val>
                                        </p:tav>
                                        <p:tav tm="100000">
                                          <p:val>
                                            <p:strVal val="#ppt_w"/>
                                          </p:val>
                                        </p:tav>
                                      </p:tavLst>
                                    </p:anim>
                                    <p:anim calcmode="lin" valueType="num">
                                      <p:cBhvr>
                                        <p:cTn id="237" dur="600" fill="hold"/>
                                        <p:tgtEl>
                                          <p:spTgt spid="41"/>
                                        </p:tgtEl>
                                        <p:attrNameLst>
                                          <p:attrName>ppt_h</p:attrName>
                                        </p:attrNameLst>
                                      </p:cBhvr>
                                      <p:tavLst>
                                        <p:tav tm="0">
                                          <p:val>
                                            <p:fltVal val="0"/>
                                          </p:val>
                                        </p:tav>
                                        <p:tav tm="100000">
                                          <p:val>
                                            <p:strVal val="#ppt_h"/>
                                          </p:val>
                                        </p:tav>
                                      </p:tavLst>
                                    </p:anim>
                                    <p:animEffect transition="in" filter="fade">
                                      <p:cBhvr>
                                        <p:cTn id="238" dur="600"/>
                                        <p:tgtEl>
                                          <p:spTgt spid="41"/>
                                        </p:tgtEl>
                                      </p:cBhvr>
                                    </p:animEffect>
                                  </p:childTnLst>
                                </p:cTn>
                              </p:par>
                              <p:par>
                                <p:cTn id="239" presetID="22" presetClass="entr" presetSubtype="8" fill="hold" nodeType="withEffect">
                                  <p:stCondLst>
                                    <p:cond delay="590"/>
                                  </p:stCondLst>
                                  <p:childTnLst>
                                    <p:set>
                                      <p:cBhvr>
                                        <p:cTn id="240" dur="1" fill="hold">
                                          <p:stCondLst>
                                            <p:cond delay="0"/>
                                          </p:stCondLst>
                                        </p:cTn>
                                        <p:tgtEl>
                                          <p:spTgt spid="42"/>
                                        </p:tgtEl>
                                        <p:attrNameLst>
                                          <p:attrName>style.visibility</p:attrName>
                                        </p:attrNameLst>
                                      </p:cBhvr>
                                      <p:to>
                                        <p:strVal val="visible"/>
                                      </p:to>
                                    </p:set>
                                    <p:animEffect transition="in" filter="wipe(left)">
                                      <p:cBhvr>
                                        <p:cTn id="241" dur="500"/>
                                        <p:tgtEl>
                                          <p:spTgt spid="42"/>
                                        </p:tgtEl>
                                      </p:cBhvr>
                                    </p:animEffect>
                                  </p:childTnLst>
                                </p:cTn>
                              </p:par>
                              <p:par>
                                <p:cTn id="242" presetID="10" presetClass="entr" presetSubtype="0" fill="hold" nodeType="withEffect">
                                  <p:stCondLst>
                                    <p:cond delay="580"/>
                                  </p:stCondLst>
                                  <p:childTnLst>
                                    <p:set>
                                      <p:cBhvr>
                                        <p:cTn id="243" dur="1" fill="hold">
                                          <p:stCondLst>
                                            <p:cond delay="0"/>
                                          </p:stCondLst>
                                        </p:cTn>
                                        <p:tgtEl>
                                          <p:spTgt spid="43"/>
                                        </p:tgtEl>
                                        <p:attrNameLst>
                                          <p:attrName>style.visibility</p:attrName>
                                        </p:attrNameLst>
                                      </p:cBhvr>
                                      <p:to>
                                        <p:strVal val="visible"/>
                                      </p:to>
                                    </p:set>
                                    <p:animEffect transition="in" filter="fade">
                                      <p:cBhvr>
                                        <p:cTn id="244"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SM-24 pierde sensibilidad justo en las bajas frecuencias</a:t>
            </a:r>
            <a:endParaRPr lang="en-US" sz="2200" dirty="0"/>
          </a:p>
        </p:txBody>
      </p:sp>
      <p:sp>
        <p:nvSpPr>
          <p:cNvPr id="3" name="Obj [o41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SM-24 es un geófono vertical pasivo de bobina móvil, y su amortiguamiento depende de la carga</a:t>
            </a:r>
            <a:endParaRPr lang="en-US" sz="1400" dirty="0"/>
          </a:p>
        </p:txBody>
      </p:sp>
      <p:pic>
        <p:nvPicPr>
          <p:cNvPr id="4" name="Obj [o414]" descr="Foto del geófono SM-24 con carcasa amarilla y punta">    </p:cNvPr>
          <p:cNvPicPr>
            <a:picLocks noChangeAspect="1"/>
          </p:cNvPicPr>
          <p:nvPr/>
        </p:nvPicPr>
        <p:blipFill>
          <a:blip r:embed="rId1"/>
          <a:stretch>
            <a:fillRect/>
          </a:stretch>
        </p:blipFill>
        <p:spPr>
          <a:xfrm>
            <a:off x="966136" y="1641589"/>
            <a:ext cx="1482411" cy="1482411"/>
          </a:xfrm>
          <a:prstGeom prst="rect">
            <a:avLst/>
          </a:prstGeom>
        </p:spPr>
      </p:pic>
      <p:pic>
        <p:nvPicPr>
          <p:cNvPr id="5" name="Obj [o415]" descr="Corte interno de un geófono de bobina móvil: carcasa, resortes, imán y bobinas">    </p:cNvPr>
          <p:cNvPicPr>
            <a:picLocks noChangeAspect="1"/>
          </p:cNvPicPr>
          <p:nvPr/>
        </p:nvPicPr>
        <p:blipFill>
          <a:blip r:embed="rId2"/>
          <a:stretch>
            <a:fillRect/>
          </a:stretch>
        </p:blipFill>
        <p:spPr>
          <a:xfrm>
            <a:off x="2528677" y="1641589"/>
            <a:ext cx="1963193" cy="1482938"/>
          </a:xfrm>
          <a:prstGeom prst="rect">
            <a:avLst/>
          </a:prstGeom>
        </p:spPr>
      </p:pic>
      <p:sp>
        <p:nvSpPr>
          <p:cNvPr id="6" name="Obj [o416]"/>
          <p:cNvSpPr txBox="1"/>
          <p:nvPr/>
        </p:nvSpPr>
        <p:spPr>
          <a:xfrm>
            <a:off x="4732261" y="1641589"/>
            <a:ext cx="3445604" cy="1682737"/>
          </a:xfrm>
          <a:prstGeom prst="rect">
            <a:avLst/>
          </a:prstGeom>
          <a:noFill/>
          <a:ln/>
        </p:spPr>
        <p:txBody>
          <a:bodyPr wrap="square" lIns="0" tIns="0" rIns="0" bIns="0" rtlCol="0" anchor="t"/>
          <a:lstStyle/>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Mide el movimiento vertical del suelo</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Frecuencia natural: 10 Hz ±2,5 %</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Sensibilidad: 28,8 V·s/m ±2,5 %</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En circuito abierto: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ζ</m:t>
                    </m:r>
                    <m:r>
                      <m:rPr>
                        <m:sty m:val="p"/>
                      </m:rPr>
                      <a:rPr lang="es-ES" sz="1260">
                        <a:solidFill>
                          <a:srgbClr val="2D2D2D"/>
                        </a:solidFill>
                        <a:latin typeface="Cambria Math" panose="02040503050406030204" pitchFamily="18" charset="0"/>
                      </a:rPr>
                      <m:t xml:space="preserve">≈</m:t>
                    </m:r>
                    <m:r>
                      <m:rPr>
                        <m:sty m:val="p"/>
                      </m:rPr>
                      <a:rPr lang="es-ES" sz="1260">
                        <a:solidFill>
                          <a:srgbClr val="2D2D2D"/>
                        </a:solidFill>
                        <a:latin typeface="Cambria Math" panose="02040503050406030204" pitchFamily="18" charset="0"/>
                      </a:rPr>
                      <m:t xml:space="preserve">0,25</m:t>
                    </m:r>
                  </m:oMath>
                </a14:m>
              </mc:Choice>
              <mc:Fallback>
                <a:r>
                  <a:rPr lang="en-US" sz="1260" dirty="0">
                    <a:solidFill>
                      <a:srgbClr val="2D2D2D"/>
                    </a:solidFill>
                    <a:latin typeface="Arial" pitchFamily="34" charset="0"/>
                    <a:ea typeface="Arial" pitchFamily="34" charset="-122"/>
                    <a:cs typeface="Arial" pitchFamily="34" charset="-120"/>
                  </a:rPr>
                  <a:t>ζ ≈ 0,25</a:t>
                </a:r>
              </mc:Fallback>
            </mc:AlternateContent>
            <a:r>
              <a:rPr lang="en-US" sz="1260" dirty="0">
                <a:solidFill>
                  <a:srgbClr val="2D2D2D"/>
                </a:solidFill>
                <a:latin typeface="Arial" pitchFamily="34" charset="0"/>
                <a:ea typeface="Arial" pitchFamily="34" charset="-122"/>
                <a:cs typeface="Arial" pitchFamily="34" charset="-120"/>
              </a:rPr>
              <a:t>; con 1339 Ω de carga: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ζ</m:t>
                    </m:r>
                    <m:r>
                      <m:rPr>
                        <m:sty m:val="p"/>
                      </m:rPr>
                      <a:rPr lang="es-ES" sz="1260">
                        <a:solidFill>
                          <a:srgbClr val="2D2D2D"/>
                        </a:solidFill>
                        <a:latin typeface="Cambria Math" panose="02040503050406030204" pitchFamily="18" charset="0"/>
                      </a:rPr>
                      <m:t xml:space="preserve">=</m:t>
                    </m:r>
                    <m:r>
                      <m:rPr>
                        <m:sty m:val="p"/>
                      </m:rPr>
                      <a:rPr lang="es-ES" sz="1260">
                        <a:solidFill>
                          <a:srgbClr val="2D2D2D"/>
                        </a:solidFill>
                        <a:latin typeface="Cambria Math" panose="02040503050406030204" pitchFamily="18" charset="0"/>
                      </a:rPr>
                      <m:t xml:space="preserve">0,60</m:t>
                    </m:r>
                  </m:oMath>
                </a14:m>
              </mc:Choice>
              <mc:Fallback>
                <a:r>
                  <a:rPr lang="en-US" sz="1260" dirty="0">
                    <a:solidFill>
                      <a:srgbClr val="2D2D2D"/>
                    </a:solidFill>
                    <a:latin typeface="Arial" pitchFamily="34" charset="0"/>
                    <a:ea typeface="Arial" pitchFamily="34" charset="-122"/>
                    <a:cs typeface="Arial" pitchFamily="34" charset="-120"/>
                  </a:rPr>
                  <a:t>ζ = 0,60</a:t>
                </a:r>
              </mc:Fallback>
            </mc:AlternateContent>
            <a:endParaRPr lang="en-US" sz="1260" dirty="0"/>
          </a:p>
        </p:txBody>
      </p:sp>
      <p:sp>
        <p:nvSpPr>
          <p:cNvPr id="7" name="Obj [o417]"/>
          <p:cNvSpPr/>
          <p:nvPr/>
        </p:nvSpPr>
        <p:spPr>
          <a:xfrm>
            <a:off x="966136" y="3364390"/>
            <a:ext cx="721172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8" name="Obj [o418]"/>
              <p:cNvSpPr txBox="1"/>
              <p:nvPr/>
            </p:nvSpPr>
            <p:spPr>
              <a:xfrm>
                <a:off x="966136" y="3364390"/>
                <a:ext cx="721172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000" i="1">
                          <a:solidFill>
                            <a:srgbClr val="1F4E79"/>
                          </a:solidFill>
                          <a:latin typeface="Cambria Math" panose="02040503050406030204" pitchFamily="18" charset="0"/>
                        </a:rPr>
                        <m:t xml:space="preserve">ζ=</m:t>
                      </m:r>
                      <m:f>
                        <m:fPr>
                          <m:ctrlPr>
                            <a:rPr lang="es-ES" sz="2000" i="1">
                              <a:latin typeface="Cambria Math" panose="02040503050406030204" pitchFamily="18" charset="0"/>
                            </a:rPr>
                          </m:ctrlPr>
                        </m:fPr>
                        <m:num>
                          <m:r>
                            <a:rPr lang="es-ES" sz="2000" i="1">
                              <a:solidFill>
                                <a:srgbClr val="1F4E79"/>
                              </a:solidFill>
                              <a:latin typeface="Cambria Math" panose="02040503050406030204" pitchFamily="18" charset="0"/>
                            </a:rPr>
                            <m:t xml:space="preserve">c</m:t>
                          </m:r>
                        </m:num>
                        <m:den>
                          <m:r>
                            <a:rPr lang="es-ES" sz="2000" i="1">
                              <a:solidFill>
                                <a:srgbClr val="1F4E79"/>
                              </a:solidFill>
                              <a:latin typeface="Cambria Math" panose="02040503050406030204" pitchFamily="18" charset="0"/>
                            </a:rPr>
                            <m:t xml:space="preserve">2m</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ω</m:t>
                              </m:r>
                            </m:e>
                            <m:sub>
                              <m:r>
                                <a:rPr lang="es-ES" sz="2000" i="1">
                                  <a:solidFill>
                                    <a:srgbClr val="1F4E79"/>
                                  </a:solidFill>
                                  <a:latin typeface="Cambria Math" panose="02040503050406030204" pitchFamily="18" charset="0"/>
                                </a:rPr>
                                <m:t xml:space="preserve">n</m:t>
                              </m:r>
                            </m:sub>
                          </m:sSub>
                        </m:den>
                      </m:f>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p>
                            <m:sSupPr>
                              <m:ctrlPr>
                                <a:rPr lang="es-ES" sz="2000" i="1">
                                  <a:latin typeface="Cambria Math" panose="02040503050406030204" pitchFamily="18" charset="0"/>
                                </a:rPr>
                              </m:ctrlPr>
                            </m:sSupPr>
                            <m:e>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G</m:t>
                                  </m:r>
                                </m:e>
                                <m:sub>
                                  <m:r>
                                    <a:rPr lang="es-ES" sz="2000" i="1">
                                      <a:solidFill>
                                        <a:srgbClr val="1F4E79"/>
                                      </a:solidFill>
                                      <a:latin typeface="Cambria Math" panose="02040503050406030204" pitchFamily="18" charset="0"/>
                                    </a:rPr>
                                    <m:t xml:space="preserve">0</m:t>
                                  </m:r>
                                </m:sub>
                              </m:sSub>
                            </m:e>
                            <m:sup>
                              <m:r>
                                <a:rPr lang="es-ES" sz="2000" i="1">
                                  <a:solidFill>
                                    <a:srgbClr val="1F4E79"/>
                                  </a:solidFill>
                                  <a:latin typeface="Cambria Math" panose="02040503050406030204" pitchFamily="18" charset="0"/>
                                </a:rPr>
                                <m:t xml:space="preserve">2</m:t>
                              </m:r>
                            </m:sup>
                          </m:sSup>
                        </m:num>
                        <m:den>
                          <m:r>
                            <a:rPr lang="es-ES" sz="2000" i="1">
                              <a:solidFill>
                                <a:srgbClr val="1F4E79"/>
                              </a:solidFill>
                              <a:latin typeface="Cambria Math" panose="02040503050406030204" pitchFamily="18" charset="0"/>
                            </a:rPr>
                            <m:t xml:space="preserve">2m</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ω</m:t>
                              </m:r>
                            </m:e>
                            <m:sub>
                              <m:r>
                                <a:rPr lang="es-ES" sz="2000" i="1">
                                  <a:solidFill>
                                    <a:srgbClr val="1F4E79"/>
                                  </a:solidFill>
                                  <a:latin typeface="Cambria Math" panose="02040503050406030204" pitchFamily="18" charset="0"/>
                                </a:rPr>
                                <m:t xml:space="preserve">n</m:t>
                              </m:r>
                            </m:sub>
                          </m:sSub>
                          <m:r>
                            <a:rPr lang="es-ES" sz="2000" i="1">
                              <a:solidFill>
                                <a:srgbClr val="1F4E79"/>
                              </a:solidFill>
                              <a:latin typeface="Cambria Math" panose="02040503050406030204" pitchFamily="18" charset="0"/>
                            </a:rPr>
                            <m:t xml:space="preserve">(</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a:rPr lang="es-ES" sz="2000" i="1">
                                  <a:solidFill>
                                    <a:srgbClr val="1F4E79"/>
                                  </a:solidFill>
                                  <a:latin typeface="Cambria Math" panose="02040503050406030204" pitchFamily="18" charset="0"/>
                                </a:rPr>
                                <m:t xml:space="preserve">i</m:t>
                              </m:r>
                            </m:sub>
                          </m:sSub>
                          <m:r>
                            <a:rPr lang="es-ES" sz="2000" i="1">
                              <a:solidFill>
                                <a:srgbClr val="1F4E79"/>
                              </a:solidFill>
                              <a:latin typeface="Cambria Math" panose="02040503050406030204" pitchFamily="18" charset="0"/>
                            </a:rPr>
                            <m:t xml:space="preserve">+</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a:rPr lang="es-ES" sz="2000" i="1">
                                  <a:solidFill>
                                    <a:srgbClr val="1F4E79"/>
                                  </a:solidFill>
                                  <a:latin typeface="Cambria Math" panose="02040503050406030204" pitchFamily="18" charset="0"/>
                                </a:rPr>
                                <m:t xml:space="preserve">L</m:t>
                              </m:r>
                            </m:sub>
                          </m:sSub>
                          <m:r>
                            <a:rPr lang="es-ES" sz="2000" i="1">
                              <a:solidFill>
                                <a:srgbClr val="1F4E79"/>
                              </a:solidFill>
                              <a:latin typeface="Cambria Math" panose="02040503050406030204" pitchFamily="18" charset="0"/>
                            </a:rPr>
                            <m:t xml:space="preserve">)</m:t>
                          </m:r>
                        </m:den>
                      </m:f>
                    </m:oMath>
                  </m:oMathPara>
                </a14:m>
                <a:endParaRPr lang="es-ES"/>
              </a:p>
            </p:txBody>
          </p:sp>
        </mc:Choice>
        <mc:Fallback>
          <p:sp>
            <p:nvSpPr>
              <p:cNvPr id="8" name="Obj [o418]"/>
              <p:cNvSpPr txBox="1"/>
              <p:nvPr/>
            </p:nvSpPr>
            <p:spPr>
              <a:xfrm>
                <a:off x="966136" y="3364390"/>
                <a:ext cx="721172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ζ = c/(2mωn) + G0²/(2mωn(Ri + RL))</a:t>
                </a:r>
                <a:endParaRPr lang="en-US" sz="2159" dirty="0"/>
              </a:p>
            </p:txBody>
          </p:sp>
        </mc:Fallback>
      </mc:AlternateContent>
      <p:sp>
        <p:nvSpPr>
          <p:cNvPr id="9" name="Obj [o419]"/>
          <p:cNvSpPr txBox="1"/>
          <p:nvPr/>
        </p:nvSpPr>
        <p:spPr>
          <a:xfrm>
            <a:off x="966136" y="4125628"/>
            <a:ext cx="7211728" cy="360586"/>
          </a:xfrm>
          <a:prstGeom prst="rect">
            <a:avLst/>
          </a:prstGeom>
          <a:noFill/>
          <a:ln/>
        </p:spPr>
        <p:txBody>
          <a:bodyPr wrap="square" lIns="0" tIns="0" rIns="0" bIns="0" rtlCol="0" anchor="t"/>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170" i="1">
                        <a:solidFill>
                          <a:srgbClr val="6B6B6B"/>
                        </a:solidFill>
                        <a:latin typeface="Cambria Math" panose="02040503050406030204" pitchFamily="18" charset="0"/>
                      </a:rPr>
                      <m:t xml:space="preserve">ζ</m:t>
                    </m:r>
                  </m:oMath>
                </a14:m>
              </mc:Choice>
              <mc:Fallback>
                <a:r>
                  <a:rPr lang="en-US" sz="1170" dirty="0">
                    <a:solidFill>
                      <a:srgbClr val="6B6B6B"/>
                    </a:solidFill>
                    <a:latin typeface="Arial" pitchFamily="34" charset="0"/>
                    <a:ea typeface="Arial" pitchFamily="34" charset="-122"/>
                    <a:cs typeface="Arial" pitchFamily="34" charset="-120"/>
                  </a:rPr>
                  <a:t>ζ</a:t>
                </a:r>
              </mc:Fallback>
            </mc:AlternateContent>
            <a:r>
              <a:rPr lang="en-US" sz="1170" dirty="0">
                <a:solidFill>
                  <a:srgbClr val="6B6B6B"/>
                </a:solidFill>
                <a:latin typeface="Arial" pitchFamily="34" charset="0"/>
                <a:ea typeface="Arial" pitchFamily="34" charset="-122"/>
                <a:cs typeface="Arial" pitchFamily="34" charset="-120"/>
              </a:rPr>
              <a:t>: factor de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170" i="1">
                            <a:latin typeface="Cambria Math" panose="02040503050406030204" pitchFamily="18" charset="0"/>
                          </a:rPr>
                        </m:ctrlPr>
                      </m:sSubPr>
                      <m:e>
                        <m:r>
                          <a:rPr lang="es-ES" sz="1170" i="1">
                            <a:solidFill>
                              <a:srgbClr val="6B6B6B"/>
                            </a:solidFill>
                            <a:latin typeface="Cambria Math" panose="02040503050406030204" pitchFamily="18" charset="0"/>
                          </a:rPr>
                          <m:t xml:space="preserve">R</m:t>
                        </m:r>
                      </m:e>
                      <m:sub>
                        <m:r>
                          <a:rPr lang="es-ES" sz="1170" i="1">
                            <a:solidFill>
                              <a:srgbClr val="6B6B6B"/>
                            </a:solidFill>
                            <a:latin typeface="Cambria Math" panose="02040503050406030204" pitchFamily="18" charset="0"/>
                          </a:rPr>
                          <m:t xml:space="preserve">i</m:t>
                        </m:r>
                      </m:sub>
                    </m:sSub>
                  </m:oMath>
                </a14:m>
              </mc:Choice>
              <mc:Fallback>
                <a:r>
                  <a:rPr lang="en-US" sz="1170" dirty="0">
                    <a:solidFill>
                      <a:srgbClr val="6B6B6B"/>
                    </a:solidFill>
                    <a:latin typeface="Arial" pitchFamily="34" charset="0"/>
                    <a:ea typeface="Arial" pitchFamily="34" charset="-122"/>
                    <a:cs typeface="Arial" pitchFamily="34" charset="-120"/>
                  </a:rPr>
                  <a:t>Ri</a:t>
                </a:r>
              </mc:Fallback>
            </mc:AlternateContent>
            <a:r>
              <a:rPr lang="en-US" sz="1170" dirty="0">
                <a:solidFill>
                  <a:srgbClr val="6B6B6B"/>
                </a:solidFill>
                <a:latin typeface="Arial" pitchFamily="34" charset="0"/>
                <a:ea typeface="Arial" pitchFamily="34" charset="-122"/>
                <a:cs typeface="Arial" pitchFamily="34" charset="-120"/>
              </a:rPr>
              <a:t>: resistencia de la bobina (375 Ω). </a:t>
            </a:r>
            <mc:AlternateContent xmlns:mc="http://schemas.openxmlformats.org/markup-compatibility/2006">
              <mc:Choice xmlns:a14="http://schemas.microsoft.com/office/drawing/2010/main" Requires="a14">
                <a14:m>
                  <m:oMath xmlns:m="http://schemas.openxmlformats.org/officeDocument/2006/math">
                    <m:sSub>
                      <m:sSubPr>
                        <m:ctrlPr>
                          <a:rPr lang="es-ES" sz="1170" i="1">
                            <a:latin typeface="Cambria Math" panose="02040503050406030204" pitchFamily="18" charset="0"/>
                          </a:rPr>
                        </m:ctrlPr>
                      </m:sSubPr>
                      <m:e>
                        <m:r>
                          <a:rPr lang="es-ES" sz="1170" i="1">
                            <a:solidFill>
                              <a:srgbClr val="6B6B6B"/>
                            </a:solidFill>
                            <a:latin typeface="Cambria Math" panose="02040503050406030204" pitchFamily="18" charset="0"/>
                          </a:rPr>
                          <m:t xml:space="preserve">R</m:t>
                        </m:r>
                      </m:e>
                      <m:sub>
                        <m:r>
                          <a:rPr lang="es-ES" sz="1170" i="1">
                            <a:solidFill>
                              <a:srgbClr val="6B6B6B"/>
                            </a:solidFill>
                            <a:latin typeface="Cambria Math" panose="02040503050406030204" pitchFamily="18" charset="0"/>
                          </a:rPr>
                          <m:t xml:space="preserve">L</m:t>
                        </m:r>
                      </m:sub>
                    </m:sSub>
                  </m:oMath>
                </a14:m>
              </mc:Choice>
              <mc:Fallback>
                <a:r>
                  <a:rPr lang="en-US" sz="1170" dirty="0">
                    <a:solidFill>
                      <a:srgbClr val="6B6B6B"/>
                    </a:solidFill>
                    <a:latin typeface="Arial" pitchFamily="34" charset="0"/>
                    <a:ea typeface="Arial" pitchFamily="34" charset="-122"/>
                    <a:cs typeface="Arial" pitchFamily="34" charset="-120"/>
                  </a:rPr>
                  <a:t>RL</a:t>
                </a:r>
              </mc:Fallback>
            </mc:AlternateContent>
            <a:r>
              <a:rPr lang="en-US" sz="1170" dirty="0">
                <a:solidFill>
                  <a:srgbClr val="6B6B6B"/>
                </a:solidFill>
                <a:latin typeface="Arial" pitchFamily="34" charset="0"/>
                <a:ea typeface="Arial" pitchFamily="34" charset="-122"/>
                <a:cs typeface="Arial" pitchFamily="34" charset="-120"/>
              </a:rPr>
              <a:t>: carga del frente analógico, que también amortigua al sensor.</a:t>
            </a:r>
            <a:endParaRPr lang="en-US" sz="1170" dirty="0"/>
          </a:p>
        </p:txBody>
      </p:sp>
      <p:sp>
        <p:nvSpPr>
          <p:cNvPr id="10" name="Obj [o42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Sensor Nederland B.V. (2006), hoja de datos SM-24; resumen firmado, sec. 4.2, ec. (8). Corte: Breslin (2020), crédito DESY, original sin verificar.</a:t>
            </a:r>
            <a:endParaRPr lang="en-US" sz="800" dirty="0"/>
          </a:p>
        </p:txBody>
      </p:sp>
      <p:sp>
        <p:nvSpPr>
          <p:cNvPr id="11" name="Obj [o42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masa suspendida se mueve respecto de la carcasa, y ese movimiento relativo genera la tensión</a:t>
            </a:r>
            <a:endParaRPr lang="en-US" sz="1400" dirty="0"/>
          </a:p>
        </p:txBody>
      </p:sp>
      <p:sp>
        <p:nvSpPr>
          <p:cNvPr id="12" name="Obj [o422]"/>
          <p:cNvSpPr/>
          <p:nvPr/>
        </p:nvSpPr>
        <p:spPr>
          <a:xfrm>
            <a:off x="441794" y="1671414"/>
            <a:ext cx="2281030"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423]"/>
              <p:cNvSpPr txBox="1"/>
              <p:nvPr/>
            </p:nvSpPr>
            <p:spPr>
              <a:xfrm>
                <a:off x="441794" y="1671414"/>
                <a:ext cx="2281030"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u=</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x</m:t>
                          </m:r>
                        </m:e>
                        <m:sub>
                          <m:r>
                            <a:rPr lang="es-ES" sz="2100" i="1">
                              <a:solidFill>
                                <a:srgbClr val="1F4E79"/>
                              </a:solidFill>
                              <a:latin typeface="Cambria Math" panose="02040503050406030204" pitchFamily="18" charset="0"/>
                            </a:rPr>
                            <m:t xml:space="preserve">m</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x</m:t>
                          </m:r>
                        </m:e>
                        <m:sub>
                          <m:r>
                            <a:rPr lang="es-ES" sz="2100" i="1">
                              <a:solidFill>
                                <a:srgbClr val="1F4E79"/>
                              </a:solidFill>
                              <a:latin typeface="Cambria Math" panose="02040503050406030204" pitchFamily="18" charset="0"/>
                            </a:rPr>
                            <m:t xml:space="preserve">g</m:t>
                          </m:r>
                        </m:sub>
                      </m:sSub>
                    </m:oMath>
                  </m:oMathPara>
                </a14:m>
                <a:endParaRPr lang="es-ES"/>
              </a:p>
            </p:txBody>
          </p:sp>
        </mc:Choice>
        <mc:Fallback>
          <p:sp>
            <p:nvSpPr>
              <p:cNvPr id="13" name="Obj [o423]"/>
              <p:cNvSpPr txBox="1"/>
              <p:nvPr/>
            </p:nvSpPr>
            <p:spPr>
              <a:xfrm>
                <a:off x="441794" y="1671414"/>
                <a:ext cx="2281030"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u = xm − xg</a:t>
                </a:r>
                <a:endParaRPr lang="en-US" sz="2071" dirty="0"/>
              </a:p>
            </p:txBody>
          </p:sp>
        </mc:Fallback>
      </mc:AlternateContent>
      <p:sp>
        <p:nvSpPr>
          <p:cNvPr id="14" name="Obj [o424]"/>
          <p:cNvSpPr/>
          <p:nvPr/>
        </p:nvSpPr>
        <p:spPr>
          <a:xfrm>
            <a:off x="2874893" y="1671414"/>
            <a:ext cx="4409992"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Obj [o425]"/>
              <p:cNvSpPr txBox="1"/>
              <p:nvPr/>
            </p:nvSpPr>
            <p:spPr>
              <a:xfrm>
                <a:off x="2874893" y="1671414"/>
                <a:ext cx="4409992"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m</m:t>
                      </m:r>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u</m:t>
                          </m:r>
                        </m:e>
                      </m:acc>
                      <m:r>
                        <a:rPr lang="es-ES" sz="2100" i="1">
                          <a:solidFill>
                            <a:srgbClr val="1F4E79"/>
                          </a:solidFill>
                          <a:latin typeface="Cambria Math" panose="02040503050406030204" pitchFamily="18" charset="0"/>
                        </a:rPr>
                        <m:t xml:space="preserve">+c</m:t>
                      </m:r>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u</m:t>
                          </m:r>
                        </m:e>
                      </m:acc>
                      <m:r>
                        <a:rPr lang="es-ES" sz="2100" i="1">
                          <a:solidFill>
                            <a:srgbClr val="1F4E79"/>
                          </a:solidFill>
                          <a:latin typeface="Cambria Math" panose="02040503050406030204" pitchFamily="18" charset="0"/>
                        </a:rPr>
                        <m:t xml:space="preserve">+ku=−m</m:t>
                      </m:r>
                      <m:sSub>
                        <m:sSubPr>
                          <m:ctrlPr>
                            <a:rPr lang="es-ES" sz="2100" i="1">
                              <a:latin typeface="Cambria Math" panose="02040503050406030204" pitchFamily="18" charset="0"/>
                            </a:rPr>
                          </m:ctrlPr>
                        </m:sSubPr>
                        <m:e>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x</m:t>
                              </m:r>
                            </m:e>
                          </m:acc>
                        </m:e>
                        <m:sub>
                          <m:r>
                            <a:rPr lang="es-ES" sz="2100" i="1">
                              <a:solidFill>
                                <a:srgbClr val="1F4E79"/>
                              </a:solidFill>
                              <a:latin typeface="Cambria Math" panose="02040503050406030204" pitchFamily="18" charset="0"/>
                            </a:rPr>
                            <m:t xml:space="preserve">g</m:t>
                          </m:r>
                        </m:sub>
                      </m:sSub>
                    </m:oMath>
                  </m:oMathPara>
                </a14:m>
                <a:endParaRPr lang="es-ES"/>
              </a:p>
            </p:txBody>
          </p:sp>
        </mc:Choice>
        <mc:Fallback>
          <p:sp>
            <p:nvSpPr>
              <p:cNvPr id="15" name="Obj [o425]"/>
              <p:cNvSpPr txBox="1"/>
              <p:nvPr/>
            </p:nvSpPr>
            <p:spPr>
              <a:xfrm>
                <a:off x="2874893" y="1671414"/>
                <a:ext cx="4409992"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m ü + c u̇ + k u = −m ẍg</a:t>
                </a:r>
                <a:endParaRPr lang="en-US" sz="2071" dirty="0"/>
              </a:p>
            </p:txBody>
          </p:sp>
        </mc:Fallback>
      </mc:AlternateContent>
      <p:sp>
        <p:nvSpPr>
          <p:cNvPr id="16" name="Obj [o426]"/>
          <p:cNvSpPr txBox="1"/>
          <p:nvPr/>
        </p:nvSpPr>
        <p:spPr>
          <a:xfrm>
            <a:off x="441794" y="2469775"/>
            <a:ext cx="6843091" cy="1140515"/>
          </a:xfrm>
          <a:prstGeom prst="rect">
            <a:avLst/>
          </a:prstGeom>
          <a:noFill/>
          <a:ln/>
        </p:spPr>
        <p:txBody>
          <a:bodyPr wrap="square" lIns="0" tIns="0" rIns="0" bIns="0" rtlCol="0" anchor="t"/>
          <a:lstStyle/>
          <a:p>
            <a:pPr marL="342900" indent="-342900">
              <a:spcAft>
                <a:spcPts val="518"/>
              </a:spcAft>
              <a:buSzPct val="100000"/>
              <a:buChar char="•"/>
            </a:pPr>
            <a:r>
              <a:rPr lang="en-US" sz="138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380" dirty="0"/>
          </a:p>
          <a:p>
            <a:pPr marL="342900" indent="-342900">
              <a:spcAft>
                <a:spcPts val="518"/>
              </a:spcAft>
              <a:buSzPct val="100000"/>
              <a:buChar char="•"/>
            </a:pPr>
            <a:r>
              <a:rPr lang="en-US" sz="138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380" dirty="0"/>
          </a:p>
          <a:p>
            <a:pPr marL="342900" indent="-342900">
              <a:spcAft>
                <a:spcPts val="518"/>
              </a:spcAft>
              <a:buSzPct val="100000"/>
              <a:buChar char="•"/>
            </a:pPr>
            <a:r>
              <a:rPr lang="en-US" sz="138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380" dirty="0"/>
          </a:p>
        </p:txBody>
      </p:sp>
      <p:sp>
        <p:nvSpPr>
          <p:cNvPr id="17" name="Obj [o427]"/>
          <p:cNvSpPr/>
          <p:nvPr/>
        </p:nvSpPr>
        <p:spPr>
          <a:xfrm>
            <a:off x="2342653" y="3686324"/>
            <a:ext cx="3041374" cy="57025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428]"/>
              <p:cNvSpPr txBox="1"/>
              <p:nvPr/>
            </p:nvSpPr>
            <p:spPr>
              <a:xfrm>
                <a:off x="2342653" y="3686324"/>
                <a:ext cx="3041374" cy="57025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m:rPr>
                              <m:sty m:val="p"/>
                            </m:rPr>
                            <a:rPr lang="es-ES" sz="2100">
                              <a:solidFill>
                                <a:srgbClr val="1F4E79"/>
                              </a:solidFill>
                              <a:latin typeface="Cambria Math" panose="02040503050406030204" pitchFamily="18" charset="0"/>
                            </a:rPr>
                            <m:t xml:space="preserve">o</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G</m:t>
                          </m:r>
                        </m:e>
                        <m:sub>
                          <m:r>
                            <a:rPr lang="es-ES" sz="2100" i="1">
                              <a:solidFill>
                                <a:srgbClr val="1F4E79"/>
                              </a:solidFill>
                              <a:latin typeface="Cambria Math" panose="02040503050406030204" pitchFamily="18" charset="0"/>
                            </a:rPr>
                            <m:t xml:space="preserve">0</m:t>
                          </m:r>
                        </m:sub>
                      </m:sSub>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u</m:t>
                          </m:r>
                        </m:e>
                      </m:acc>
                    </m:oMath>
                  </m:oMathPara>
                </a14:m>
                <a:endParaRPr lang="es-ES"/>
              </a:p>
            </p:txBody>
          </p:sp>
        </mc:Choice>
        <mc:Fallback>
          <p:sp>
            <p:nvSpPr>
              <p:cNvPr id="18" name="Obj [o428]"/>
              <p:cNvSpPr txBox="1"/>
              <p:nvPr/>
            </p:nvSpPr>
            <p:spPr>
              <a:xfrm>
                <a:off x="2342653" y="3686324"/>
                <a:ext cx="3041374" cy="570258"/>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Vo = G0 u̇</a:t>
                </a:r>
                <a:endParaRPr lang="en-US" sz="2071" dirty="0"/>
              </a:p>
            </p:txBody>
          </p:sp>
        </mc:Fallback>
      </mc:AlternateContent>
      <p:sp>
        <p:nvSpPr>
          <p:cNvPr id="19" name="Obj [o42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4.2, ec. (7)–(9).</a:t>
            </a:r>
            <a:endParaRPr lang="en-US" sz="800" dirty="0"/>
          </a:p>
        </p:txBody>
      </p:sp>
      <p:sp>
        <p:nvSpPr>
          <p:cNvPr id="20" name="Obj [o43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Por debajo de su frecuencia natural, la tensión del SM-24 cae rápido: a 1 Hz, unos 40 dB</a:t>
            </a:r>
            <a:endParaRPr lang="en-US" sz="1400" dirty="0"/>
          </a:p>
        </p:txBody>
      </p:sp>
      <p:pic>
        <p:nvPicPr>
          <p:cNvPr id="21" name="Obj [o431]" descr="Respuesta nominal del SM-24 referida a velocidad y a aceleración del terreno, con frecuencia natural de 10 Hz">    </p:cNvPr>
          <p:cNvPicPr>
            <a:picLocks noChangeAspect="1"/>
          </p:cNvPicPr>
          <p:nvPr/>
        </p:nvPicPr>
        <p:blipFill>
          <a:blip r:embed="rId3"/>
          <a:stretch>
            <a:fillRect/>
          </a:stretch>
        </p:blipFill>
        <p:spPr>
          <a:xfrm>
            <a:off x="1050069" y="1557362"/>
            <a:ext cx="5626542" cy="2053990"/>
          </a:xfrm>
          <a:prstGeom prst="rect">
            <a:avLst/>
          </a:prstGeom>
        </p:spPr>
      </p:pic>
      <p:sp>
        <p:nvSpPr>
          <p:cNvPr id="22" name="Obj [o432]"/>
          <p:cNvSpPr/>
          <p:nvPr/>
        </p:nvSpPr>
        <p:spPr>
          <a:xfrm>
            <a:off x="1734378" y="3686324"/>
            <a:ext cx="4257923"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3" name="Obj [o433]"/>
              <p:cNvSpPr txBox="1"/>
              <p:nvPr/>
            </p:nvSpPr>
            <p:spPr>
              <a:xfrm>
                <a:off x="1734378" y="3686324"/>
                <a:ext cx="4257923"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H</m:t>
                          </m:r>
                        </m:e>
                        <m:sub>
                          <m:r>
                            <a:rPr lang="es-ES" sz="2100" i="1">
                              <a:solidFill>
                                <a:srgbClr val="1F4E79"/>
                              </a:solidFill>
                              <a:latin typeface="Cambria Math" panose="02040503050406030204" pitchFamily="18" charset="0"/>
                            </a:rPr>
                            <m:t xml:space="preserve">a</m:t>
                          </m:r>
                        </m:sub>
                      </m:sSub>
                      <m:r>
                        <a:rPr lang="es-ES" sz="2100" i="1">
                          <a:solidFill>
                            <a:srgbClr val="1F4E79"/>
                          </a:solidFill>
                          <a:latin typeface="Cambria Math" panose="02040503050406030204" pitchFamily="18" charset="0"/>
                        </a:rPr>
                        <m:t xml:space="preserve">(s)=−</m:t>
                      </m:r>
                      <m:f>
                        <m:fPr>
                          <m:ctrlPr>
                            <a:rPr lang="es-ES" sz="2100" i="1">
                              <a:latin typeface="Cambria Math" panose="02040503050406030204" pitchFamily="18" charset="0"/>
                            </a:rPr>
                          </m:ctrlPr>
                        </m:fPr>
                        <m:num>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G</m:t>
                              </m:r>
                            </m:e>
                            <m:sub>
                              <m:r>
                                <a:rPr lang="es-ES" sz="2100" i="1">
                                  <a:solidFill>
                                    <a:srgbClr val="1F4E79"/>
                                  </a:solidFill>
                                  <a:latin typeface="Cambria Math" panose="02040503050406030204" pitchFamily="18" charset="0"/>
                                </a:rPr>
                                <m:t xml:space="preserve">0</m:t>
                              </m:r>
                            </m:sub>
                          </m:sSub>
                          <m:r>
                            <a:rPr lang="es-ES" sz="2100" i="1">
                              <a:solidFill>
                                <a:srgbClr val="1F4E79"/>
                              </a:solidFill>
                              <a:latin typeface="Cambria Math" panose="02040503050406030204" pitchFamily="18" charset="0"/>
                            </a:rPr>
                            <m:t xml:space="preserve">s</m:t>
                          </m:r>
                        </m:num>
                        <m:den>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s</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+2ζ</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ω</m:t>
                              </m:r>
                            </m:e>
                            <m:sub>
                              <m:r>
                                <a:rPr lang="es-ES" sz="2100" i="1">
                                  <a:solidFill>
                                    <a:srgbClr val="1F4E79"/>
                                  </a:solidFill>
                                  <a:latin typeface="Cambria Math" panose="02040503050406030204" pitchFamily="18" charset="0"/>
                                </a:rPr>
                                <m:t xml:space="preserve">n</m:t>
                              </m:r>
                            </m:sub>
                          </m:sSub>
                          <m:r>
                            <a:rPr lang="es-ES" sz="2100" i="1">
                              <a:solidFill>
                                <a:srgbClr val="1F4E79"/>
                              </a:solidFill>
                              <a:latin typeface="Cambria Math" panose="02040503050406030204" pitchFamily="18" charset="0"/>
                            </a:rPr>
                            <m:t xml:space="preserve">s+</m:t>
                          </m:r>
                          <m:sSup>
                            <m:sSupPr>
                              <m:ctrlPr>
                                <a:rPr lang="es-ES" sz="2100" i="1">
                                  <a:latin typeface="Cambria Math" panose="02040503050406030204" pitchFamily="18" charset="0"/>
                                </a:rPr>
                              </m:ctrlPr>
                            </m:sSupPr>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ω</m:t>
                                  </m:r>
                                </m:e>
                                <m:sub>
                                  <m:r>
                                    <a:rPr lang="es-ES" sz="2100" i="1">
                                      <a:solidFill>
                                        <a:srgbClr val="1F4E79"/>
                                      </a:solidFill>
                                      <a:latin typeface="Cambria Math" panose="02040503050406030204" pitchFamily="18" charset="0"/>
                                    </a:rPr>
                                    <m:t xml:space="preserve">n</m:t>
                                  </m:r>
                                </m:sub>
                              </m:sSub>
                            </m:e>
                            <m:sup>
                              <m:r>
                                <a:rPr lang="es-ES" sz="2100" i="1">
                                  <a:solidFill>
                                    <a:srgbClr val="1F4E79"/>
                                  </a:solidFill>
                                  <a:latin typeface="Cambria Math" panose="02040503050406030204" pitchFamily="18" charset="0"/>
                                </a:rPr>
                                <m:t xml:space="preserve">2</m:t>
                              </m:r>
                            </m:sup>
                          </m:sSup>
                        </m:den>
                      </m:f>
                    </m:oMath>
                  </m:oMathPara>
                </a14:m>
                <a:endParaRPr lang="es-ES"/>
              </a:p>
            </p:txBody>
          </p:sp>
        </mc:Choice>
        <mc:Fallback>
          <p:sp>
            <p:nvSpPr>
              <p:cNvPr id="23" name="Obj [o433]"/>
              <p:cNvSpPr txBox="1"/>
              <p:nvPr/>
            </p:nvSpPr>
            <p:spPr>
              <a:xfrm>
                <a:off x="1734378" y="3686324"/>
                <a:ext cx="4257923"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Ha(s) = −G0·s / (s² + 2ζωn·s + ωn²)</a:t>
                </a:r>
                <a:endParaRPr lang="en-US" sz="2071" dirty="0"/>
              </a:p>
            </p:txBody>
          </p:sp>
        </mc:Fallback>
      </mc:AlternateContent>
      <p:sp>
        <p:nvSpPr>
          <p:cNvPr id="24" name="Obj [o43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Modelo propio a partir de Sensor Nederland B.V. (2006), circuito abierto; resumen firmado, fig. 4 y ec. (9).</a:t>
            </a:r>
            <a:endParaRPr lang="en-US" sz="800" dirty="0"/>
          </a:p>
        </p:txBody>
      </p:sp>
      <p:sp>
        <p:nvSpPr>
          <p:cNvPr id="25" name="Obj [o43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pérdida cae justo en las bajas frecuencias, que son las que llegan más profundo</a:t>
            </a:r>
            <a:endParaRPr lang="en-US" sz="1400" dirty="0"/>
          </a:p>
        </p:txBody>
      </p:sp>
      <p:sp>
        <p:nvSpPr>
          <p:cNvPr id="26" name="Obj [o436]"/>
          <p:cNvSpPr/>
          <p:nvPr/>
        </p:nvSpPr>
        <p:spPr>
          <a:xfrm>
            <a:off x="441794" y="1671414"/>
            <a:ext cx="1672756" cy="418189"/>
          </a:xfrm>
          <a:prstGeom prst="rect">
            <a:avLst/>
          </a:prstGeom>
          <a:solidFill>
            <a:srgbClr val="6B6B6B"/>
          </a:solidFill>
          <a:ln w="6350">
            <a:solidFill>
              <a:srgbClr val="6B6B6B"/>
            </a:solidFill>
            <a:prstDash val="solid"/>
          </a:ln>
        </p:spPr>
      </p:sp>
      <p:sp>
        <p:nvSpPr>
          <p:cNvPr id="27" name="Obj [o437]"/>
          <p:cNvSpPr txBox="1"/>
          <p:nvPr/>
        </p:nvSpPr>
        <p:spPr>
          <a:xfrm>
            <a:off x="441794" y="1671414"/>
            <a:ext cx="1672756" cy="418189"/>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Geófono de 4,5 Hz</a:t>
            </a:r>
            <a:endParaRPr lang="en-US" sz="1380" dirty="0"/>
          </a:p>
        </p:txBody>
      </p:sp>
      <p:sp>
        <p:nvSpPr>
          <p:cNvPr id="28" name="Obj [o438]"/>
          <p:cNvSpPr/>
          <p:nvPr/>
        </p:nvSpPr>
        <p:spPr>
          <a:xfrm>
            <a:off x="441794" y="2089603"/>
            <a:ext cx="1672756" cy="912412"/>
          </a:xfrm>
          <a:prstGeom prst="rect">
            <a:avLst/>
          </a:prstGeom>
          <a:solidFill>
            <a:srgbClr val="FFFFFF"/>
          </a:solidFill>
          <a:ln w="15840">
            <a:solidFill>
              <a:srgbClr val="6B6B6B"/>
            </a:solidFill>
            <a:prstDash val="solid"/>
          </a:ln>
        </p:spPr>
      </p:sp>
      <p:sp>
        <p:nvSpPr>
          <p:cNvPr id="29" name="Obj [o439]"/>
          <p:cNvSpPr txBox="1"/>
          <p:nvPr/>
        </p:nvSpPr>
        <p:spPr>
          <a:xfrm>
            <a:off x="517829" y="2127620"/>
            <a:ext cx="1520687" cy="836378"/>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92 a 154 USD por canal</a:t>
            </a:r>
            <a:endParaRPr lang="en-US" sz="1553" dirty="0"/>
          </a:p>
        </p:txBody>
      </p:sp>
      <p:sp>
        <p:nvSpPr>
          <p:cNvPr id="30" name="Obj [o440]"/>
          <p:cNvSpPr/>
          <p:nvPr/>
        </p:nvSpPr>
        <p:spPr>
          <a:xfrm>
            <a:off x="2228602" y="1671414"/>
            <a:ext cx="1672756" cy="418189"/>
          </a:xfrm>
          <a:prstGeom prst="rect">
            <a:avLst/>
          </a:prstGeom>
          <a:solidFill>
            <a:srgbClr val="1F4E79"/>
          </a:solidFill>
          <a:ln w="6350">
            <a:solidFill>
              <a:srgbClr val="1F4E79"/>
            </a:solidFill>
            <a:prstDash val="solid"/>
          </a:ln>
        </p:spPr>
      </p:sp>
      <p:sp>
        <p:nvSpPr>
          <p:cNvPr id="31" name="Obj [o441]"/>
          <p:cNvSpPr txBox="1"/>
          <p:nvPr/>
        </p:nvSpPr>
        <p:spPr>
          <a:xfrm>
            <a:off x="2228602" y="1671414"/>
            <a:ext cx="1672756" cy="418189"/>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SM-24 de 10 Hz</a:t>
            </a:r>
            <a:endParaRPr lang="en-US" sz="1380" dirty="0"/>
          </a:p>
        </p:txBody>
      </p:sp>
      <p:sp>
        <p:nvSpPr>
          <p:cNvPr id="32" name="Obj [o442]"/>
          <p:cNvSpPr/>
          <p:nvPr/>
        </p:nvSpPr>
        <p:spPr>
          <a:xfrm>
            <a:off x="2228602" y="2089603"/>
            <a:ext cx="1672756" cy="912412"/>
          </a:xfrm>
          <a:prstGeom prst="rect">
            <a:avLst/>
          </a:prstGeom>
          <a:solidFill>
            <a:srgbClr val="FFFFFF"/>
          </a:solidFill>
          <a:ln w="15840">
            <a:solidFill>
              <a:srgbClr val="1F4E79"/>
            </a:solidFill>
            <a:prstDash val="solid"/>
          </a:ln>
        </p:spPr>
      </p:sp>
      <p:sp>
        <p:nvSpPr>
          <p:cNvPr id="33" name="Obj [o443]"/>
          <p:cNvSpPr txBox="1"/>
          <p:nvPr/>
        </p:nvSpPr>
        <p:spPr>
          <a:xfrm>
            <a:off x="2304636" y="2127620"/>
            <a:ext cx="1520687" cy="836378"/>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unos 70 USD por canal</a:t>
            </a:r>
            <a:endParaRPr lang="en-US" sz="1553" dirty="0"/>
          </a:p>
        </p:txBody>
      </p:sp>
      <p:sp>
        <p:nvSpPr>
          <p:cNvPr id="34" name="Obj [o444]"/>
          <p:cNvSpPr txBox="1"/>
          <p:nvPr/>
        </p:nvSpPr>
        <p:spPr>
          <a:xfrm>
            <a:off x="4091443" y="1671414"/>
            <a:ext cx="3193443" cy="2509133"/>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Menor frecuencia: mayor longitud de onda y mayor profundidad</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553" dirty="0"/>
          </a:p>
        </p:txBody>
      </p:sp>
      <p:sp>
        <p:nvSpPr>
          <p:cNvPr id="35" name="Obj [o445]"/>
          <p:cNvSpPr txBox="1"/>
          <p:nvPr/>
        </p:nvSpPr>
        <p:spPr>
          <a:xfrm>
            <a:off x="441794" y="3154084"/>
            <a:ext cx="3421546" cy="380172"/>
          </a:xfrm>
          <a:prstGeom prst="rect">
            <a:avLst/>
          </a:prstGeom>
          <a:noFill/>
          <a:ln/>
        </p:spPr>
        <p:txBody>
          <a:bodyPr wrap="square" lIns="0" tIns="0" rIns="0" bIns="0" rtlCol="0" anchor="t"/>
          <a:lstStyle/>
          <a:p>
            <a:pPr indent="0" marL="0">
              <a:buNone/>
            </a:pPr>
            <a:r>
              <a:rPr lang="en-US" sz="1208" dirty="0">
                <a:solidFill>
                  <a:srgbClr val="6B6B6B"/>
                </a:solidFill>
                <a:latin typeface="Arial" pitchFamily="34" charset="0"/>
                <a:ea typeface="Arial" pitchFamily="34" charset="-122"/>
                <a:cs typeface="Arial" pitchFamily="34" charset="-120"/>
              </a:rPr>
              <a:t>Precios de referencia consultados por el autor en 2026.</a:t>
            </a:r>
            <a:endParaRPr lang="en-US" sz="1208" dirty="0"/>
          </a:p>
        </p:txBody>
      </p:sp>
      <p:sp>
        <p:nvSpPr>
          <p:cNvPr id="36" name="Obj [o44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4.2; SparkFun Electronics (2026); R. T. Clark (2026).</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53" presetClass="entr" presetSubtype="16"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 calcmode="lin" valueType="num">
                                      <p:cBhvr>
                                        <p:cTn id="15" dur="600" fill="hold"/>
                                        <p:tgtEl>
                                          <p:spTgt spid="5"/>
                                        </p:tgtEl>
                                        <p:attrNameLst>
                                          <p:attrName>ppt_w</p:attrName>
                                        </p:attrNameLst>
                                      </p:cBhvr>
                                      <p:tavLst>
                                        <p:tav tm="0">
                                          <p:val>
                                            <p:fltVal val="0"/>
                                          </p:val>
                                        </p:tav>
                                        <p:tav tm="100000">
                                          <p:val>
                                            <p:strVal val="#ppt_w"/>
                                          </p:val>
                                        </p:tav>
                                      </p:tavLst>
                                    </p:anim>
                                    <p:anim calcmode="lin" valueType="num">
                                      <p:cBhvr>
                                        <p:cTn id="16" dur="600" fill="hold"/>
                                        <p:tgtEl>
                                          <p:spTgt spid="5"/>
                                        </p:tgtEl>
                                        <p:attrNameLst>
                                          <p:attrName>ppt_h</p:attrName>
                                        </p:attrNameLst>
                                      </p:cBhvr>
                                      <p:tavLst>
                                        <p:tav tm="0">
                                          <p:val>
                                            <p:fltVal val="0"/>
                                          </p:val>
                                        </p:tav>
                                        <p:tav tm="100000">
                                          <p:val>
                                            <p:strVal val="#ppt_h"/>
                                          </p:val>
                                        </p:tav>
                                      </p:tavLst>
                                    </p:anim>
                                    <p:animEffect transition="in" filter="fade">
                                      <p:cBhvr>
                                        <p:cTn id="17" dur="600"/>
                                        <p:tgtEl>
                                          <p:spTgt spid="5"/>
                                        </p:tgtEl>
                                      </p:cBhvr>
                                    </p:animEffect>
                                  </p:childTnLst>
                                </p:cTn>
                              </p:par>
                              <p:par>
                                <p:cTn id="18" presetID="10" presetClass="entr" presetSubtype="0" grpId="0" fill="hold" nodeType="withEffect">
                                  <p:stCondLst>
                                    <p:cond delay="48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450"/>
                                        <p:tgtEl>
                                          <p:spTgt spid="6">
                                            <p:txEl>
                                              <p:pRg st="0" end="0"/>
                                            </p:txEl>
                                          </p:spTgt>
                                        </p:tgtEl>
                                      </p:cBhvr>
                                    </p:animEffect>
                                  </p:childTnLst>
                                </p:cTn>
                              </p:par>
                              <p:par>
                                <p:cTn id="21" presetID="10" presetClass="entr" presetSubtype="0" grpId="0" fill="hold" nodeType="withEffect">
                                  <p:stCondLst>
                                    <p:cond delay="805"/>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fade">
                                      <p:cBhvr>
                                        <p:cTn id="23" dur="450"/>
                                        <p:tgtEl>
                                          <p:spTgt spid="6">
                                            <p:txEl>
                                              <p:pRg st="1" end="1"/>
                                            </p:txEl>
                                          </p:spTgt>
                                        </p:tgtEl>
                                      </p:cBhvr>
                                    </p:animEffect>
                                  </p:childTnLst>
                                </p:cTn>
                              </p:par>
                              <p:par>
                                <p:cTn id="24" presetID="10" presetClass="entr" presetSubtype="0" grpId="0" fill="hold" nodeType="withEffect">
                                  <p:stCondLst>
                                    <p:cond delay="113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450"/>
                                        <p:tgtEl>
                                          <p:spTgt spid="6">
                                            <p:txEl>
                                              <p:pRg st="2" end="2"/>
                                            </p:txEl>
                                          </p:spTgt>
                                        </p:tgtEl>
                                      </p:cBhvr>
                                    </p:animEffect>
                                  </p:childTnLst>
                                </p:cTn>
                              </p:par>
                              <p:par>
                                <p:cTn id="27" presetID="10" presetClass="entr" presetSubtype="0" grpId="0" fill="hold" nodeType="withEffect">
                                  <p:stCondLst>
                                    <p:cond delay="1455"/>
                                  </p:stCondLst>
                                  <p:childTnLst>
                                    <p:set>
                                      <p:cBhvr>
                                        <p:cTn id="28" dur="1" fill="hold">
                                          <p:stCondLst>
                                            <p:cond delay="0"/>
                                          </p:stCondLst>
                                        </p:cTn>
                                        <p:tgtEl>
                                          <p:spTgt spid="6">
                                            <p:txEl>
                                              <p:pRg st="3" end="3"/>
                                            </p:txEl>
                                          </p:spTgt>
                                        </p:tgtEl>
                                        <p:attrNameLst>
                                          <p:attrName>style.visibility</p:attrName>
                                        </p:attrNameLst>
                                      </p:cBhvr>
                                      <p:to>
                                        <p:strVal val="visible"/>
                                      </p:to>
                                    </p:set>
                                    <p:animEffect transition="in" filter="fade">
                                      <p:cBhvr>
                                        <p:cTn id="29" dur="450"/>
                                        <p:tgtEl>
                                          <p:spTgt spid="6">
                                            <p:txEl>
                                              <p:pRg st="3" end="3"/>
                                            </p:txEl>
                                          </p:spTgt>
                                        </p:tgtEl>
                                      </p:cBhvr>
                                    </p:animEffect>
                                  </p:childTnLst>
                                </p:cTn>
                              </p:par>
                              <p:par>
                                <p:cTn id="30" presetID="10" presetClass="entr" presetSubtype="0" fill="hold" nodeType="withEffect">
                                  <p:stCondLst>
                                    <p:cond delay="55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22" presetClass="entr" presetSubtype="8" fill="hold" nodeType="withEffect">
                                  <p:stCondLst>
                                    <p:cond delay="55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par>
                                <p:cTn id="36" presetID="22" presetClass="entr" presetSubtype="8" fill="hold" nodeType="withEffect">
                                  <p:stCondLst>
                                    <p:cond delay="62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par>
                                <p:cTn id="39" presetID="10" presetClass="entr" presetSubtype="0" fill="hold" nodeType="withEffect">
                                  <p:stCondLst>
                                    <p:cond delay="4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45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350"/>
                                        <p:tgtEl>
                                          <p:spTgt spid="3"/>
                                        </p:tgtEl>
                                      </p:cBhvr>
                                    </p:animEffect>
                                    <p:set>
                                      <p:cBhvr>
                                        <p:cTn id="46" dur="1" fill="hold">
                                          <p:stCondLst>
                                            <p:cond delay="349"/>
                                          </p:stCondLst>
                                        </p:cTn>
                                        <p:tgtEl>
                                          <p:spTgt spid="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350"/>
                                        <p:tgtEl>
                                          <p:spTgt spid="4"/>
                                        </p:tgtEl>
                                      </p:cBhvr>
                                    </p:animEffect>
                                    <p:set>
                                      <p:cBhvr>
                                        <p:cTn id="49" dur="1" fill="hold">
                                          <p:stCondLst>
                                            <p:cond delay="349"/>
                                          </p:stCondLst>
                                        </p:cTn>
                                        <p:tgtEl>
                                          <p:spTgt spid="4"/>
                                        </p:tgtEl>
                                        <p:attrNameLst>
                                          <p:attrName>style.visibility</p:attrName>
                                        </p:attrNameLst>
                                      </p:cBhvr>
                                      <p:to>
                                        <p:strVal val="hidden"/>
                                      </p:to>
                                    </p:set>
                                  </p:childTnLst>
                                </p:cTn>
                              </p:par>
                              <p:par>
                                <p:cTn id="50" presetID="10" presetClass="exit" presetSubtype="0" grpId="0" fill="hold" nodeType="withEffect">
                                  <p:stCondLst>
                                    <p:cond delay="0"/>
                                  </p:stCondLst>
                                  <p:childTnLst>
                                    <p:animEffect transition="out" filter="fade">
                                      <p:cBhvr>
                                        <p:cTn id="51" dur="350"/>
                                        <p:tgtEl>
                                          <p:spTgt spid="6">
                                            <p:txEl>
                                              <p:pRg st="0" end="0"/>
                                            </p:txEl>
                                          </p:spTgt>
                                        </p:tgtEl>
                                      </p:cBhvr>
                                    </p:animEffect>
                                    <p:set>
                                      <p:cBhvr>
                                        <p:cTn id="52" dur="1" fill="hold">
                                          <p:stCondLst>
                                            <p:cond delay="349"/>
                                          </p:stCondLst>
                                        </p:cTn>
                                        <p:tgtEl>
                                          <p:spTgt spid="6">
                                            <p:txEl>
                                              <p:pRg st="0" end="0"/>
                                            </p:txEl>
                                          </p:spTgt>
                                        </p:tgtEl>
                                        <p:attrNameLst>
                                          <p:attrName>style.visibility</p:attrName>
                                        </p:attrNameLst>
                                      </p:cBhvr>
                                      <p:to>
                                        <p:strVal val="hidden"/>
                                      </p:to>
                                    </p:set>
                                  </p:childTnLst>
                                </p:cTn>
                              </p:par>
                              <p:par>
                                <p:cTn id="53" presetID="10" presetClass="exit" presetSubtype="0" grpId="0" fill="hold" nodeType="withEffect">
                                  <p:stCondLst>
                                    <p:cond delay="0"/>
                                  </p:stCondLst>
                                  <p:childTnLst>
                                    <p:animEffect transition="out" filter="fade">
                                      <p:cBhvr>
                                        <p:cTn id="54" dur="350"/>
                                        <p:tgtEl>
                                          <p:spTgt spid="6">
                                            <p:txEl>
                                              <p:pRg st="1" end="1"/>
                                            </p:txEl>
                                          </p:spTgt>
                                        </p:tgtEl>
                                      </p:cBhvr>
                                    </p:animEffect>
                                    <p:set>
                                      <p:cBhvr>
                                        <p:cTn id="55" dur="1" fill="hold">
                                          <p:stCondLst>
                                            <p:cond delay="349"/>
                                          </p:stCondLst>
                                        </p:cTn>
                                        <p:tgtEl>
                                          <p:spTgt spid="6">
                                            <p:txEl>
                                              <p:pRg st="1" end="1"/>
                                            </p:txEl>
                                          </p:spTgt>
                                        </p:tgtEl>
                                        <p:attrNameLst>
                                          <p:attrName>style.visibility</p:attrName>
                                        </p:attrNameLst>
                                      </p:cBhvr>
                                      <p:to>
                                        <p:strVal val="hidden"/>
                                      </p:to>
                                    </p:set>
                                  </p:childTnLst>
                                </p:cTn>
                              </p:par>
                              <p:par>
                                <p:cTn id="56" presetID="10" presetClass="exit" presetSubtype="0" grpId="0" fill="hold" nodeType="withEffect">
                                  <p:stCondLst>
                                    <p:cond delay="0"/>
                                  </p:stCondLst>
                                  <p:childTnLst>
                                    <p:animEffect transition="out" filter="fade">
                                      <p:cBhvr>
                                        <p:cTn id="57" dur="350"/>
                                        <p:tgtEl>
                                          <p:spTgt spid="6">
                                            <p:txEl>
                                              <p:pRg st="2" end="2"/>
                                            </p:txEl>
                                          </p:spTgt>
                                        </p:tgtEl>
                                      </p:cBhvr>
                                    </p:animEffect>
                                    <p:set>
                                      <p:cBhvr>
                                        <p:cTn id="58" dur="1" fill="hold">
                                          <p:stCondLst>
                                            <p:cond delay="349"/>
                                          </p:stCondLst>
                                        </p:cTn>
                                        <p:tgtEl>
                                          <p:spTgt spid="6">
                                            <p:txEl>
                                              <p:pRg st="2" end="2"/>
                                            </p:txEl>
                                          </p:spTgt>
                                        </p:tgtEl>
                                        <p:attrNameLst>
                                          <p:attrName>style.visibility</p:attrName>
                                        </p:attrNameLst>
                                      </p:cBhvr>
                                      <p:to>
                                        <p:strVal val="hidden"/>
                                      </p:to>
                                    </p:set>
                                  </p:childTnLst>
                                </p:cTn>
                              </p:par>
                              <p:par>
                                <p:cTn id="59" presetID="10" presetClass="exit" presetSubtype="0" grpId="0" fill="hold" nodeType="withEffect">
                                  <p:stCondLst>
                                    <p:cond delay="0"/>
                                  </p:stCondLst>
                                  <p:childTnLst>
                                    <p:animEffect transition="out" filter="fade">
                                      <p:cBhvr>
                                        <p:cTn id="60" dur="350"/>
                                        <p:tgtEl>
                                          <p:spTgt spid="6">
                                            <p:txEl>
                                              <p:pRg st="3" end="3"/>
                                            </p:txEl>
                                          </p:spTgt>
                                        </p:tgtEl>
                                      </p:cBhvr>
                                    </p:animEffect>
                                    <p:set>
                                      <p:cBhvr>
                                        <p:cTn id="61" dur="1" fill="hold">
                                          <p:stCondLst>
                                            <p:cond delay="349"/>
                                          </p:stCondLst>
                                        </p:cTn>
                                        <p:tgtEl>
                                          <p:spTgt spid="6">
                                            <p:txEl>
                                              <p:pRg st="3" end="3"/>
                                            </p:txEl>
                                          </p:spTgt>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350"/>
                                        <p:tgtEl>
                                          <p:spTgt spid="7"/>
                                        </p:tgtEl>
                                      </p:cBhvr>
                                    </p:animEffect>
                                    <p:set>
                                      <p:cBhvr>
                                        <p:cTn id="64" dur="1" fill="hold">
                                          <p:stCondLst>
                                            <p:cond delay="349"/>
                                          </p:stCondLst>
                                        </p:cTn>
                                        <p:tgtEl>
                                          <p:spTgt spid="7"/>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350"/>
                                        <p:tgtEl>
                                          <p:spTgt spid="8"/>
                                        </p:tgtEl>
                                      </p:cBhvr>
                                    </p:animEffect>
                                    <p:set>
                                      <p:cBhvr>
                                        <p:cTn id="67" dur="1" fill="hold">
                                          <p:stCondLst>
                                            <p:cond delay="349"/>
                                          </p:stCondLst>
                                        </p:cTn>
                                        <p:tgtEl>
                                          <p:spTgt spid="8"/>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350"/>
                                        <p:tgtEl>
                                          <p:spTgt spid="9"/>
                                        </p:tgtEl>
                                      </p:cBhvr>
                                    </p:animEffect>
                                    <p:set>
                                      <p:cBhvr>
                                        <p:cTn id="70" dur="1" fill="hold">
                                          <p:stCondLst>
                                            <p:cond delay="349"/>
                                          </p:stCondLst>
                                        </p:cTn>
                                        <p:tgtEl>
                                          <p:spTgt spid="9"/>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350"/>
                                        <p:tgtEl>
                                          <p:spTgt spid="10"/>
                                        </p:tgtEl>
                                      </p:cBhvr>
                                    </p:animEffect>
                                    <p:set>
                                      <p:cBhvr>
                                        <p:cTn id="73" dur="1" fill="hold">
                                          <p:stCondLst>
                                            <p:cond delay="349"/>
                                          </p:stCondLst>
                                        </p:cTn>
                                        <p:tgtEl>
                                          <p:spTgt spid="10"/>
                                        </p:tgtEl>
                                        <p:attrNameLst>
                                          <p:attrName>style.visibility</p:attrName>
                                        </p:attrNameLst>
                                      </p:cBhvr>
                                      <p:to>
                                        <p:strVal val="hidden"/>
                                      </p:to>
                                    </p:set>
                                  </p:childTnLst>
                                </p:cTn>
                              </p:par>
                              <p:par>
                                <p:cTn id="74" presetID="0" presetClass="path" presetSubtype="0" accel="50000" decel="50000" fill="hold" nodeType="withEffect">
                                  <p:stCondLst>
                                    <p:cond delay="0"/>
                                  </p:stCondLst>
                                  <p:childTnLst>
                                    <p:animMotion origin="layout" path="M 0 0 L 0.50861 -0.09531 E" pathEditMode="relative" rAng="0" ptsTypes="AA">
                                      <p:cBhvr>
                                        <p:cTn id="75" dur="750" fill="hold"/>
                                        <p:tgtEl>
                                          <p:spTgt spid="5"/>
                                        </p:tgtEl>
                                        <p:attrNameLst>
                                          <p:attrName>ppt_x</p:attrName>
                                          <p:attrName>ppt_y</p:attrName>
                                        </p:attrNameLst>
                                      </p:cBhvr>
                                      <p:rCtr x="25430" y="-4765"/>
                                    </p:animMotion>
                                  </p:childTnLst>
                                </p:cTn>
                              </p:par>
                              <p:par>
                                <p:cTn id="76" presetID="6" presetClass="emph" presetSubtype="0" accel="50000" decel="50000" fill="hold" nodeType="withEffect">
                                  <p:stCondLst>
                                    <p:cond delay="0"/>
                                  </p:stCondLst>
                                  <p:childTnLst>
                                    <p:animScale>
                                      <p:cBhvr>
                                        <p:cTn id="77" dur="750" fill="hold"/>
                                        <p:tgtEl>
                                          <p:spTgt spid="5"/>
                                        </p:tgtEl>
                                      </p:cBhvr>
                                      <p:by x="55495" y="55495"/>
                                    </p:animScale>
                                  </p:childTnLst>
                                </p:cTn>
                              </p:par>
                              <p:par>
                                <p:cTn id="78" presetID="10" presetClass="entr" presetSubtype="0" fill="hold" nodeType="withEffect">
                                  <p:stCondLst>
                                    <p:cond delay="450"/>
                                  </p:stCondLst>
                                  <p:childTnLst>
                                    <p:set>
                                      <p:cBhvr>
                                        <p:cTn id="79" dur="1" fill="hold">
                                          <p:stCondLst>
                                            <p:cond delay="0"/>
                                          </p:stCondLst>
                                        </p:cTn>
                                        <p:tgtEl>
                                          <p:spTgt spid="11"/>
                                        </p:tgtEl>
                                        <p:attrNameLst>
                                          <p:attrName>style.visibility</p:attrName>
                                        </p:attrNameLst>
                                      </p:cBhvr>
                                      <p:to>
                                        <p:strVal val="visible"/>
                                      </p:to>
                                    </p:set>
                                    <p:animEffect transition="in" filter="fade">
                                      <p:cBhvr>
                                        <p:cTn id="80" dur="450"/>
                                        <p:tgtEl>
                                          <p:spTgt spid="11"/>
                                        </p:tgtEl>
                                      </p:cBhvr>
                                    </p:animEffect>
                                  </p:childTnLst>
                                </p:cTn>
                              </p:par>
                              <p:par>
                                <p:cTn id="81" presetID="10" presetClass="entr" presetSubtype="0" fill="hold" nodeType="withEffect">
                                  <p:stCondLst>
                                    <p:cond delay="52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450"/>
                                        <p:tgtEl>
                                          <p:spTgt spid="12"/>
                                        </p:tgtEl>
                                      </p:cBhvr>
                                    </p:animEffect>
                                  </p:childTnLst>
                                </p:cTn>
                              </p:par>
                              <p:par>
                                <p:cTn id="84" presetID="22" presetClass="entr" presetSubtype="4" fill="hold" nodeType="withEffect">
                                  <p:stCondLst>
                                    <p:cond delay="520"/>
                                  </p:stCondLst>
                                  <p:childTnLst>
                                    <p:set>
                                      <p:cBhvr>
                                        <p:cTn id="85" dur="1" fill="hold">
                                          <p:stCondLst>
                                            <p:cond delay="0"/>
                                          </p:stCondLst>
                                        </p:cTn>
                                        <p:tgtEl>
                                          <p:spTgt spid="13"/>
                                        </p:tgtEl>
                                        <p:attrNameLst>
                                          <p:attrName>style.visibility</p:attrName>
                                        </p:attrNameLst>
                                      </p:cBhvr>
                                      <p:to>
                                        <p:strVal val="visible"/>
                                      </p:to>
                                    </p:set>
                                    <p:animEffect transition="in" filter="wipe(down)">
                                      <p:cBhvr>
                                        <p:cTn id="86" dur="500"/>
                                        <p:tgtEl>
                                          <p:spTgt spid="13"/>
                                        </p:tgtEl>
                                      </p:cBhvr>
                                    </p:animEffect>
                                  </p:childTnLst>
                                </p:cTn>
                              </p:par>
                              <p:par>
                                <p:cTn id="87" presetID="10" presetClass="entr" presetSubtype="0" fill="hold" nodeType="withEffect">
                                  <p:stCondLst>
                                    <p:cond delay="590"/>
                                  </p:stCondLst>
                                  <p:childTnLst>
                                    <p:set>
                                      <p:cBhvr>
                                        <p:cTn id="88" dur="1" fill="hold">
                                          <p:stCondLst>
                                            <p:cond delay="0"/>
                                          </p:stCondLst>
                                        </p:cTn>
                                        <p:tgtEl>
                                          <p:spTgt spid="14"/>
                                        </p:tgtEl>
                                        <p:attrNameLst>
                                          <p:attrName>style.visibility</p:attrName>
                                        </p:attrNameLst>
                                      </p:cBhvr>
                                      <p:to>
                                        <p:strVal val="visible"/>
                                      </p:to>
                                    </p:set>
                                    <p:animEffect transition="in" filter="fade">
                                      <p:cBhvr>
                                        <p:cTn id="89" dur="450"/>
                                        <p:tgtEl>
                                          <p:spTgt spid="14"/>
                                        </p:tgtEl>
                                      </p:cBhvr>
                                    </p:animEffect>
                                  </p:childTnLst>
                                </p:cTn>
                              </p:par>
                              <p:par>
                                <p:cTn id="90" presetID="22" presetClass="entr" presetSubtype="4" fill="hold" nodeType="withEffect">
                                  <p:stCondLst>
                                    <p:cond delay="590"/>
                                  </p:stCondLst>
                                  <p:childTnLst>
                                    <p:set>
                                      <p:cBhvr>
                                        <p:cTn id="91" dur="1" fill="hold">
                                          <p:stCondLst>
                                            <p:cond delay="0"/>
                                          </p:stCondLst>
                                        </p:cTn>
                                        <p:tgtEl>
                                          <p:spTgt spid="15"/>
                                        </p:tgtEl>
                                        <p:attrNameLst>
                                          <p:attrName>style.visibility</p:attrName>
                                        </p:attrNameLst>
                                      </p:cBhvr>
                                      <p:to>
                                        <p:strVal val="visible"/>
                                      </p:to>
                                    </p:set>
                                    <p:animEffect transition="in" filter="wipe(down)">
                                      <p:cBhvr>
                                        <p:cTn id="92" dur="500"/>
                                        <p:tgtEl>
                                          <p:spTgt spid="15"/>
                                        </p:tgtEl>
                                      </p:cBhvr>
                                    </p:animEffect>
                                  </p:childTnLst>
                                </p:cTn>
                              </p:par>
                              <p:par>
                                <p:cTn id="93" presetID="10" presetClass="entr" presetSubtype="0" grpId="0" fill="hold" nodeType="withEffect">
                                  <p:stCondLst>
                                    <p:cond delay="660"/>
                                  </p:stCondLst>
                                  <p:childTnLst>
                                    <p:set>
                                      <p:cBhvr>
                                        <p:cTn id="94" dur="1" fill="hold">
                                          <p:stCondLst>
                                            <p:cond delay="0"/>
                                          </p:stCondLst>
                                        </p:cTn>
                                        <p:tgtEl>
                                          <p:spTgt spid="16">
                                            <p:txEl>
                                              <p:pRg st="0" end="0"/>
                                            </p:txEl>
                                          </p:spTgt>
                                        </p:tgtEl>
                                        <p:attrNameLst>
                                          <p:attrName>style.visibility</p:attrName>
                                        </p:attrNameLst>
                                      </p:cBhvr>
                                      <p:to>
                                        <p:strVal val="visible"/>
                                      </p:to>
                                    </p:set>
                                    <p:animEffect transition="in" filter="fade">
                                      <p:cBhvr>
                                        <p:cTn id="95" dur="450"/>
                                        <p:tgtEl>
                                          <p:spTgt spid="16">
                                            <p:txEl>
                                              <p:pRg st="0" end="0"/>
                                            </p:txEl>
                                          </p:spTgt>
                                        </p:tgtEl>
                                      </p:cBhvr>
                                    </p:animEffect>
                                  </p:childTnLst>
                                </p:cTn>
                              </p:par>
                              <p:par>
                                <p:cTn id="96" presetID="10" presetClass="entr" presetSubtype="0" grpId="0" fill="hold" nodeType="withEffect">
                                  <p:stCondLst>
                                    <p:cond delay="1040"/>
                                  </p:stCondLst>
                                  <p:childTnLst>
                                    <p:set>
                                      <p:cBhvr>
                                        <p:cTn id="97" dur="1" fill="hold">
                                          <p:stCondLst>
                                            <p:cond delay="0"/>
                                          </p:stCondLst>
                                        </p:cTn>
                                        <p:tgtEl>
                                          <p:spTgt spid="16">
                                            <p:txEl>
                                              <p:pRg st="1" end="1"/>
                                            </p:txEl>
                                          </p:spTgt>
                                        </p:tgtEl>
                                        <p:attrNameLst>
                                          <p:attrName>style.visibility</p:attrName>
                                        </p:attrNameLst>
                                      </p:cBhvr>
                                      <p:to>
                                        <p:strVal val="visible"/>
                                      </p:to>
                                    </p:set>
                                    <p:animEffect transition="in" filter="fade">
                                      <p:cBhvr>
                                        <p:cTn id="98" dur="450"/>
                                        <p:tgtEl>
                                          <p:spTgt spid="16">
                                            <p:txEl>
                                              <p:pRg st="1" end="1"/>
                                            </p:txEl>
                                          </p:spTgt>
                                        </p:tgtEl>
                                      </p:cBhvr>
                                    </p:animEffect>
                                  </p:childTnLst>
                                </p:cTn>
                              </p:par>
                              <p:par>
                                <p:cTn id="99" presetID="10" presetClass="entr" presetSubtype="0" grpId="0" fill="hold" nodeType="withEffect">
                                  <p:stCondLst>
                                    <p:cond delay="1420"/>
                                  </p:stCondLst>
                                  <p:childTnLst>
                                    <p:set>
                                      <p:cBhvr>
                                        <p:cTn id="100" dur="1" fill="hold">
                                          <p:stCondLst>
                                            <p:cond delay="0"/>
                                          </p:stCondLst>
                                        </p:cTn>
                                        <p:tgtEl>
                                          <p:spTgt spid="16">
                                            <p:txEl>
                                              <p:pRg st="2" end="2"/>
                                            </p:txEl>
                                          </p:spTgt>
                                        </p:tgtEl>
                                        <p:attrNameLst>
                                          <p:attrName>style.visibility</p:attrName>
                                        </p:attrNameLst>
                                      </p:cBhvr>
                                      <p:to>
                                        <p:strVal val="visible"/>
                                      </p:to>
                                    </p:set>
                                    <p:animEffect transition="in" filter="fade">
                                      <p:cBhvr>
                                        <p:cTn id="101" dur="450"/>
                                        <p:tgtEl>
                                          <p:spTgt spid="16">
                                            <p:txEl>
                                              <p:pRg st="2" end="2"/>
                                            </p:txEl>
                                          </p:spTgt>
                                        </p:tgtEl>
                                      </p:cBhvr>
                                    </p:animEffect>
                                  </p:childTnLst>
                                </p:cTn>
                              </p:par>
                              <p:par>
                                <p:cTn id="102" presetID="10" presetClass="entr" presetSubtype="0" fill="hold" nodeType="withEffect">
                                  <p:stCondLst>
                                    <p:cond delay="730"/>
                                  </p:stCondLst>
                                  <p:childTnLst>
                                    <p:set>
                                      <p:cBhvr>
                                        <p:cTn id="103" dur="1" fill="hold">
                                          <p:stCondLst>
                                            <p:cond delay="0"/>
                                          </p:stCondLst>
                                        </p:cTn>
                                        <p:tgtEl>
                                          <p:spTgt spid="17"/>
                                        </p:tgtEl>
                                        <p:attrNameLst>
                                          <p:attrName>style.visibility</p:attrName>
                                        </p:attrNameLst>
                                      </p:cBhvr>
                                      <p:to>
                                        <p:strVal val="visible"/>
                                      </p:to>
                                    </p:set>
                                    <p:animEffect transition="in" filter="fade">
                                      <p:cBhvr>
                                        <p:cTn id="104" dur="450"/>
                                        <p:tgtEl>
                                          <p:spTgt spid="17"/>
                                        </p:tgtEl>
                                      </p:cBhvr>
                                    </p:animEffect>
                                  </p:childTnLst>
                                </p:cTn>
                              </p:par>
                              <p:par>
                                <p:cTn id="105" presetID="22" presetClass="entr" presetSubtype="4" fill="hold" nodeType="withEffect">
                                  <p:stCondLst>
                                    <p:cond delay="730"/>
                                  </p:stCondLst>
                                  <p:childTnLst>
                                    <p:set>
                                      <p:cBhvr>
                                        <p:cTn id="106" dur="1" fill="hold">
                                          <p:stCondLst>
                                            <p:cond delay="0"/>
                                          </p:stCondLst>
                                        </p:cTn>
                                        <p:tgtEl>
                                          <p:spTgt spid="18"/>
                                        </p:tgtEl>
                                        <p:attrNameLst>
                                          <p:attrName>style.visibility</p:attrName>
                                        </p:attrNameLst>
                                      </p:cBhvr>
                                      <p:to>
                                        <p:strVal val="visible"/>
                                      </p:to>
                                    </p:set>
                                    <p:animEffect transition="in" filter="wipe(down)">
                                      <p:cBhvr>
                                        <p:cTn id="107" dur="500"/>
                                        <p:tgtEl>
                                          <p:spTgt spid="18"/>
                                        </p:tgtEl>
                                      </p:cBhvr>
                                    </p:animEffect>
                                  </p:childTnLst>
                                </p:cTn>
                              </p:par>
                              <p:par>
                                <p:cTn id="108" presetID="10" presetClass="entr" presetSubtype="0" fill="hold" nodeType="withEffect">
                                  <p:stCondLst>
                                    <p:cond delay="580"/>
                                  </p:stCondLst>
                                  <p:childTnLst>
                                    <p:set>
                                      <p:cBhvr>
                                        <p:cTn id="109" dur="1" fill="hold">
                                          <p:stCondLst>
                                            <p:cond delay="0"/>
                                          </p:stCondLst>
                                        </p:cTn>
                                        <p:tgtEl>
                                          <p:spTgt spid="19"/>
                                        </p:tgtEl>
                                        <p:attrNameLst>
                                          <p:attrName>style.visibility</p:attrName>
                                        </p:attrNameLst>
                                      </p:cBhvr>
                                      <p:to>
                                        <p:strVal val="visible"/>
                                      </p:to>
                                    </p:set>
                                    <p:animEffect transition="in" filter="fade">
                                      <p:cBhvr>
                                        <p:cTn id="110" dur="450"/>
                                        <p:tgtEl>
                                          <p:spTgt spid="19"/>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xit" presetSubtype="0" fill="hold" nodeType="clickEffect">
                                  <p:stCondLst>
                                    <p:cond delay="0"/>
                                  </p:stCondLst>
                                  <p:childTnLst>
                                    <p:animEffect transition="out" filter="fade">
                                      <p:cBhvr>
                                        <p:cTn id="114" dur="350"/>
                                        <p:tgtEl>
                                          <p:spTgt spid="11"/>
                                        </p:tgtEl>
                                      </p:cBhvr>
                                    </p:animEffect>
                                    <p:set>
                                      <p:cBhvr>
                                        <p:cTn id="115" dur="1" fill="hold">
                                          <p:stCondLst>
                                            <p:cond delay="349"/>
                                          </p:stCondLst>
                                        </p:cTn>
                                        <p:tgtEl>
                                          <p:spTgt spid="11"/>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2"/>
                                        </p:tgtEl>
                                      </p:cBhvr>
                                    </p:animEffect>
                                    <p:set>
                                      <p:cBhvr>
                                        <p:cTn id="118" dur="1" fill="hold">
                                          <p:stCondLst>
                                            <p:cond delay="349"/>
                                          </p:stCondLst>
                                        </p:cTn>
                                        <p:tgtEl>
                                          <p:spTgt spid="12"/>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350"/>
                                        <p:tgtEl>
                                          <p:spTgt spid="13"/>
                                        </p:tgtEl>
                                      </p:cBhvr>
                                    </p:animEffect>
                                    <p:set>
                                      <p:cBhvr>
                                        <p:cTn id="121" dur="1" fill="hold">
                                          <p:stCondLst>
                                            <p:cond delay="349"/>
                                          </p:stCondLst>
                                        </p:cTn>
                                        <p:tgtEl>
                                          <p:spTgt spid="13"/>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350"/>
                                        <p:tgtEl>
                                          <p:spTgt spid="14"/>
                                        </p:tgtEl>
                                      </p:cBhvr>
                                    </p:animEffect>
                                    <p:set>
                                      <p:cBhvr>
                                        <p:cTn id="124" dur="1" fill="hold">
                                          <p:stCondLst>
                                            <p:cond delay="349"/>
                                          </p:stCondLst>
                                        </p:cTn>
                                        <p:tgtEl>
                                          <p:spTgt spid="14"/>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350"/>
                                        <p:tgtEl>
                                          <p:spTgt spid="15"/>
                                        </p:tgtEl>
                                      </p:cBhvr>
                                    </p:animEffect>
                                    <p:set>
                                      <p:cBhvr>
                                        <p:cTn id="127" dur="1" fill="hold">
                                          <p:stCondLst>
                                            <p:cond delay="349"/>
                                          </p:stCondLst>
                                        </p:cTn>
                                        <p:tgtEl>
                                          <p:spTgt spid="15"/>
                                        </p:tgtEl>
                                        <p:attrNameLst>
                                          <p:attrName>style.visibility</p:attrName>
                                        </p:attrNameLst>
                                      </p:cBhvr>
                                      <p:to>
                                        <p:strVal val="hidden"/>
                                      </p:to>
                                    </p:set>
                                  </p:childTnLst>
                                </p:cTn>
                              </p:par>
                              <p:par>
                                <p:cTn id="128" presetID="10" presetClass="exit" presetSubtype="0" grpId="0" fill="hold" nodeType="withEffect">
                                  <p:stCondLst>
                                    <p:cond delay="0"/>
                                  </p:stCondLst>
                                  <p:childTnLst>
                                    <p:animEffect transition="out" filter="fade">
                                      <p:cBhvr>
                                        <p:cTn id="129" dur="350"/>
                                        <p:tgtEl>
                                          <p:spTgt spid="16">
                                            <p:txEl>
                                              <p:pRg st="0" end="0"/>
                                            </p:txEl>
                                          </p:spTgt>
                                        </p:tgtEl>
                                      </p:cBhvr>
                                    </p:animEffect>
                                    <p:set>
                                      <p:cBhvr>
                                        <p:cTn id="130" dur="1" fill="hold">
                                          <p:stCondLst>
                                            <p:cond delay="349"/>
                                          </p:stCondLst>
                                        </p:cTn>
                                        <p:tgtEl>
                                          <p:spTgt spid="16">
                                            <p:txEl>
                                              <p:pRg st="0" end="0"/>
                                            </p:txEl>
                                          </p:spTgt>
                                        </p:tgtEl>
                                        <p:attrNameLst>
                                          <p:attrName>style.visibility</p:attrName>
                                        </p:attrNameLst>
                                      </p:cBhvr>
                                      <p:to>
                                        <p:strVal val="hidden"/>
                                      </p:to>
                                    </p:set>
                                  </p:childTnLst>
                                </p:cTn>
                              </p:par>
                              <p:par>
                                <p:cTn id="131" presetID="10" presetClass="exit" presetSubtype="0" grpId="0" fill="hold" nodeType="withEffect">
                                  <p:stCondLst>
                                    <p:cond delay="0"/>
                                  </p:stCondLst>
                                  <p:childTnLst>
                                    <p:animEffect transition="out" filter="fade">
                                      <p:cBhvr>
                                        <p:cTn id="132" dur="350"/>
                                        <p:tgtEl>
                                          <p:spTgt spid="16">
                                            <p:txEl>
                                              <p:pRg st="1" end="1"/>
                                            </p:txEl>
                                          </p:spTgt>
                                        </p:tgtEl>
                                      </p:cBhvr>
                                    </p:animEffect>
                                    <p:set>
                                      <p:cBhvr>
                                        <p:cTn id="133" dur="1" fill="hold">
                                          <p:stCondLst>
                                            <p:cond delay="349"/>
                                          </p:stCondLst>
                                        </p:cTn>
                                        <p:tgtEl>
                                          <p:spTgt spid="16">
                                            <p:txEl>
                                              <p:pRg st="1" end="1"/>
                                            </p:txEl>
                                          </p:spTgt>
                                        </p:tgtEl>
                                        <p:attrNameLst>
                                          <p:attrName>style.visibility</p:attrName>
                                        </p:attrNameLst>
                                      </p:cBhvr>
                                      <p:to>
                                        <p:strVal val="hidden"/>
                                      </p:to>
                                    </p:set>
                                  </p:childTnLst>
                                </p:cTn>
                              </p:par>
                              <p:par>
                                <p:cTn id="134" presetID="10" presetClass="exit" presetSubtype="0" grpId="0" fill="hold" nodeType="withEffect">
                                  <p:stCondLst>
                                    <p:cond delay="0"/>
                                  </p:stCondLst>
                                  <p:childTnLst>
                                    <p:animEffect transition="out" filter="fade">
                                      <p:cBhvr>
                                        <p:cTn id="135" dur="350"/>
                                        <p:tgtEl>
                                          <p:spTgt spid="16">
                                            <p:txEl>
                                              <p:pRg st="2" end="2"/>
                                            </p:txEl>
                                          </p:spTgt>
                                        </p:tgtEl>
                                      </p:cBhvr>
                                    </p:animEffect>
                                    <p:set>
                                      <p:cBhvr>
                                        <p:cTn id="136" dur="1" fill="hold">
                                          <p:stCondLst>
                                            <p:cond delay="349"/>
                                          </p:stCondLst>
                                        </p:cTn>
                                        <p:tgtEl>
                                          <p:spTgt spid="16">
                                            <p:txEl>
                                              <p:pRg st="2" end="2"/>
                                            </p:txEl>
                                          </p:spTgt>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350"/>
                                        <p:tgtEl>
                                          <p:spTgt spid="17"/>
                                        </p:tgtEl>
                                      </p:cBhvr>
                                    </p:animEffect>
                                    <p:set>
                                      <p:cBhvr>
                                        <p:cTn id="139" dur="1" fill="hold">
                                          <p:stCondLst>
                                            <p:cond delay="349"/>
                                          </p:stCondLst>
                                        </p:cTn>
                                        <p:tgtEl>
                                          <p:spTgt spid="17"/>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350"/>
                                        <p:tgtEl>
                                          <p:spTgt spid="18"/>
                                        </p:tgtEl>
                                      </p:cBhvr>
                                    </p:animEffect>
                                    <p:set>
                                      <p:cBhvr>
                                        <p:cTn id="142" dur="1" fill="hold">
                                          <p:stCondLst>
                                            <p:cond delay="349"/>
                                          </p:stCondLst>
                                        </p:cTn>
                                        <p:tgtEl>
                                          <p:spTgt spid="18"/>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350"/>
                                        <p:tgtEl>
                                          <p:spTgt spid="19"/>
                                        </p:tgtEl>
                                      </p:cBhvr>
                                    </p:animEffect>
                                    <p:set>
                                      <p:cBhvr>
                                        <p:cTn id="145" dur="1" fill="hold">
                                          <p:stCondLst>
                                            <p:cond delay="349"/>
                                          </p:stCondLst>
                                        </p:cTn>
                                        <p:tgtEl>
                                          <p:spTgt spid="19"/>
                                        </p:tgtEl>
                                        <p:attrNameLst>
                                          <p:attrName>style.visibility</p:attrName>
                                        </p:attrNameLst>
                                      </p:cBhvr>
                                      <p:to>
                                        <p:strVal val="hidden"/>
                                      </p:to>
                                    </p:set>
                                  </p:childTnLst>
                                </p:cTn>
                              </p:par>
                              <p:par>
                                <p:cTn id="146" presetID="10" presetClass="entr" presetSubtype="0" fill="hold" nodeType="withEffect">
                                  <p:stCondLst>
                                    <p:cond delay="450"/>
                                  </p:stCondLst>
                                  <p:childTnLst>
                                    <p:set>
                                      <p:cBhvr>
                                        <p:cTn id="147" dur="1" fill="hold">
                                          <p:stCondLst>
                                            <p:cond delay="0"/>
                                          </p:stCondLst>
                                        </p:cTn>
                                        <p:tgtEl>
                                          <p:spTgt spid="20"/>
                                        </p:tgtEl>
                                        <p:attrNameLst>
                                          <p:attrName>style.visibility</p:attrName>
                                        </p:attrNameLst>
                                      </p:cBhvr>
                                      <p:to>
                                        <p:strVal val="visible"/>
                                      </p:to>
                                    </p:set>
                                    <p:animEffect transition="in" filter="fade">
                                      <p:cBhvr>
                                        <p:cTn id="148" dur="450"/>
                                        <p:tgtEl>
                                          <p:spTgt spid="20"/>
                                        </p:tgtEl>
                                      </p:cBhvr>
                                    </p:animEffect>
                                  </p:childTnLst>
                                </p:cTn>
                              </p:par>
                              <p:par>
                                <p:cTn id="149" presetID="53" presetClass="entr" presetSubtype="16" fill="hold" nodeType="withEffect">
                                  <p:stCondLst>
                                    <p:cond delay="520"/>
                                  </p:stCondLst>
                                  <p:childTnLst>
                                    <p:set>
                                      <p:cBhvr>
                                        <p:cTn id="150" dur="1" fill="hold">
                                          <p:stCondLst>
                                            <p:cond delay="0"/>
                                          </p:stCondLst>
                                        </p:cTn>
                                        <p:tgtEl>
                                          <p:spTgt spid="21"/>
                                        </p:tgtEl>
                                        <p:attrNameLst>
                                          <p:attrName>style.visibility</p:attrName>
                                        </p:attrNameLst>
                                      </p:cBhvr>
                                      <p:to>
                                        <p:strVal val="visible"/>
                                      </p:to>
                                    </p:set>
                                    <p:anim calcmode="lin" valueType="num">
                                      <p:cBhvr>
                                        <p:cTn id="151" dur="600" fill="hold"/>
                                        <p:tgtEl>
                                          <p:spTgt spid="21"/>
                                        </p:tgtEl>
                                        <p:attrNameLst>
                                          <p:attrName>ppt_w</p:attrName>
                                        </p:attrNameLst>
                                      </p:cBhvr>
                                      <p:tavLst>
                                        <p:tav tm="0">
                                          <p:val>
                                            <p:fltVal val="0"/>
                                          </p:val>
                                        </p:tav>
                                        <p:tav tm="100000">
                                          <p:val>
                                            <p:strVal val="#ppt_w"/>
                                          </p:val>
                                        </p:tav>
                                      </p:tavLst>
                                    </p:anim>
                                    <p:anim calcmode="lin" valueType="num">
                                      <p:cBhvr>
                                        <p:cTn id="152" dur="600" fill="hold"/>
                                        <p:tgtEl>
                                          <p:spTgt spid="21"/>
                                        </p:tgtEl>
                                        <p:attrNameLst>
                                          <p:attrName>ppt_h</p:attrName>
                                        </p:attrNameLst>
                                      </p:cBhvr>
                                      <p:tavLst>
                                        <p:tav tm="0">
                                          <p:val>
                                            <p:fltVal val="0"/>
                                          </p:val>
                                        </p:tav>
                                        <p:tav tm="100000">
                                          <p:val>
                                            <p:strVal val="#ppt_h"/>
                                          </p:val>
                                        </p:tav>
                                      </p:tavLst>
                                    </p:anim>
                                    <p:animEffect transition="in" filter="fade">
                                      <p:cBhvr>
                                        <p:cTn id="153" dur="600"/>
                                        <p:tgtEl>
                                          <p:spTgt spid="21"/>
                                        </p:tgtEl>
                                      </p:cBhvr>
                                    </p:animEffect>
                                  </p:childTnLst>
                                </p:cTn>
                              </p:par>
                              <p:par>
                                <p:cTn id="154" presetID="10" presetClass="entr" presetSubtype="0" fill="hold" nodeType="withEffect">
                                  <p:stCondLst>
                                    <p:cond delay="590"/>
                                  </p:stCondLst>
                                  <p:childTnLst>
                                    <p:set>
                                      <p:cBhvr>
                                        <p:cTn id="155" dur="1" fill="hold">
                                          <p:stCondLst>
                                            <p:cond delay="0"/>
                                          </p:stCondLst>
                                        </p:cTn>
                                        <p:tgtEl>
                                          <p:spTgt spid="22"/>
                                        </p:tgtEl>
                                        <p:attrNameLst>
                                          <p:attrName>style.visibility</p:attrName>
                                        </p:attrNameLst>
                                      </p:cBhvr>
                                      <p:to>
                                        <p:strVal val="visible"/>
                                      </p:to>
                                    </p:set>
                                    <p:animEffect transition="in" filter="fade">
                                      <p:cBhvr>
                                        <p:cTn id="156" dur="450"/>
                                        <p:tgtEl>
                                          <p:spTgt spid="22"/>
                                        </p:tgtEl>
                                      </p:cBhvr>
                                    </p:animEffect>
                                  </p:childTnLst>
                                </p:cTn>
                              </p:par>
                              <p:par>
                                <p:cTn id="157" presetID="22" presetClass="entr" presetSubtype="8" fill="hold" nodeType="withEffect">
                                  <p:stCondLst>
                                    <p:cond delay="590"/>
                                  </p:stCondLst>
                                  <p:childTnLst>
                                    <p:set>
                                      <p:cBhvr>
                                        <p:cTn id="158" dur="1" fill="hold">
                                          <p:stCondLst>
                                            <p:cond delay="0"/>
                                          </p:stCondLst>
                                        </p:cTn>
                                        <p:tgtEl>
                                          <p:spTgt spid="23"/>
                                        </p:tgtEl>
                                        <p:attrNameLst>
                                          <p:attrName>style.visibility</p:attrName>
                                        </p:attrNameLst>
                                      </p:cBhvr>
                                      <p:to>
                                        <p:strVal val="visible"/>
                                      </p:to>
                                    </p:set>
                                    <p:animEffect transition="in" filter="wipe(left)">
                                      <p:cBhvr>
                                        <p:cTn id="159" dur="500"/>
                                        <p:tgtEl>
                                          <p:spTgt spid="23"/>
                                        </p:tgtEl>
                                      </p:cBhvr>
                                    </p:animEffect>
                                  </p:childTnLst>
                                </p:cTn>
                              </p:par>
                              <p:par>
                                <p:cTn id="160" presetID="10" presetClass="entr" presetSubtype="0" fill="hold" nodeType="withEffect">
                                  <p:stCondLst>
                                    <p:cond delay="580"/>
                                  </p:stCondLst>
                                  <p:childTnLst>
                                    <p:set>
                                      <p:cBhvr>
                                        <p:cTn id="161" dur="1" fill="hold">
                                          <p:stCondLst>
                                            <p:cond delay="0"/>
                                          </p:stCondLst>
                                        </p:cTn>
                                        <p:tgtEl>
                                          <p:spTgt spid="24"/>
                                        </p:tgtEl>
                                        <p:attrNameLst>
                                          <p:attrName>style.visibility</p:attrName>
                                        </p:attrNameLst>
                                      </p:cBhvr>
                                      <p:to>
                                        <p:strVal val="visible"/>
                                      </p:to>
                                    </p:set>
                                    <p:animEffect transition="in" filter="fade">
                                      <p:cBhvr>
                                        <p:cTn id="162" dur="450"/>
                                        <p:tgtEl>
                                          <p:spTgt spid="24"/>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xit" presetSubtype="0" fill="hold" nodeType="clickEffect">
                                  <p:stCondLst>
                                    <p:cond delay="0"/>
                                  </p:stCondLst>
                                  <p:childTnLst>
                                    <p:animEffect transition="out" filter="fade">
                                      <p:cBhvr>
                                        <p:cTn id="166" dur="350"/>
                                        <p:tgtEl>
                                          <p:spTgt spid="20"/>
                                        </p:tgtEl>
                                      </p:cBhvr>
                                    </p:animEffect>
                                    <p:set>
                                      <p:cBhvr>
                                        <p:cTn id="167" dur="1" fill="hold">
                                          <p:stCondLst>
                                            <p:cond delay="349"/>
                                          </p:stCondLst>
                                        </p:cTn>
                                        <p:tgtEl>
                                          <p:spTgt spid="20"/>
                                        </p:tgtEl>
                                        <p:attrNameLst>
                                          <p:attrName>style.visibility</p:attrName>
                                        </p:attrNameLst>
                                      </p:cBhvr>
                                      <p:to>
                                        <p:strVal val="hidden"/>
                                      </p:to>
                                    </p:set>
                                  </p:childTnLst>
                                </p:cTn>
                              </p:par>
                              <p:par>
                                <p:cTn id="168" presetID="10" presetClass="exit" presetSubtype="0" fill="hold" nodeType="withEffect">
                                  <p:stCondLst>
                                    <p:cond delay="0"/>
                                  </p:stCondLst>
                                  <p:childTnLst>
                                    <p:animEffect transition="out" filter="fade">
                                      <p:cBhvr>
                                        <p:cTn id="169" dur="350"/>
                                        <p:tgtEl>
                                          <p:spTgt spid="22"/>
                                        </p:tgtEl>
                                      </p:cBhvr>
                                    </p:animEffect>
                                    <p:set>
                                      <p:cBhvr>
                                        <p:cTn id="170" dur="1" fill="hold">
                                          <p:stCondLst>
                                            <p:cond delay="349"/>
                                          </p:stCondLst>
                                        </p:cTn>
                                        <p:tgtEl>
                                          <p:spTgt spid="22"/>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172" dur="350"/>
                                        <p:tgtEl>
                                          <p:spTgt spid="23"/>
                                        </p:tgtEl>
                                      </p:cBhvr>
                                    </p:animEffect>
                                    <p:set>
                                      <p:cBhvr>
                                        <p:cTn id="173" dur="1" fill="hold">
                                          <p:stCondLst>
                                            <p:cond delay="349"/>
                                          </p:stCondLst>
                                        </p:cTn>
                                        <p:tgtEl>
                                          <p:spTgt spid="23"/>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24"/>
                                        </p:tgtEl>
                                      </p:cBhvr>
                                    </p:animEffect>
                                    <p:set>
                                      <p:cBhvr>
                                        <p:cTn id="176" dur="1" fill="hold">
                                          <p:stCondLst>
                                            <p:cond delay="349"/>
                                          </p:stCondLst>
                                        </p:cTn>
                                        <p:tgtEl>
                                          <p:spTgt spid="24"/>
                                        </p:tgtEl>
                                        <p:attrNameLst>
                                          <p:attrName>style.visibility</p:attrName>
                                        </p:attrNameLst>
                                      </p:cBhvr>
                                      <p:to>
                                        <p:strVal val="hidden"/>
                                      </p:to>
                                    </p:set>
                                  </p:childTnLst>
                                </p:cTn>
                              </p:par>
                              <p:par>
                                <p:cTn id="177" presetID="0" presetClass="path" presetSubtype="0" accel="50000" decel="50000" fill="hold" nodeType="withEffect">
                                  <p:stCondLst>
                                    <p:cond delay="0"/>
                                  </p:stCondLst>
                                  <p:childTnLst>
                                    <p:animMotion origin="layout" path="M 0 0 L 0.47000 0.06110 E" pathEditMode="relative" rAng="0" ptsTypes="AA">
                                      <p:cBhvr>
                                        <p:cTn id="178" dur="750" fill="hold"/>
                                        <p:tgtEl>
                                          <p:spTgt spid="21"/>
                                        </p:tgtEl>
                                        <p:attrNameLst>
                                          <p:attrName>ppt_x</p:attrName>
                                          <p:attrName>ppt_y</p:attrName>
                                        </p:attrNameLst>
                                      </p:cBhvr>
                                      <p:rCtr x="23500" y="3055"/>
                                    </p:animMotion>
                                  </p:childTnLst>
                                </p:cTn>
                              </p:par>
                              <p:par>
                                <p:cTn id="179" presetID="6" presetClass="emph" presetSubtype="0" accel="50000" decel="50000" fill="hold" nodeType="withEffect">
                                  <p:stCondLst>
                                    <p:cond delay="0"/>
                                  </p:stCondLst>
                                  <p:childTnLst>
                                    <p:animScale>
                                      <p:cBhvr>
                                        <p:cTn id="180" dur="750" fill="hold"/>
                                        <p:tgtEl>
                                          <p:spTgt spid="21"/>
                                        </p:tgtEl>
                                      </p:cBhvr>
                                      <p:by x="21940" y="21940"/>
                                    </p:animScale>
                                  </p:childTnLst>
                                </p:cTn>
                              </p:par>
                              <p:par>
                                <p:cTn id="181" presetID="10" presetClass="entr" presetSubtype="0" fill="hold" nodeType="withEffect">
                                  <p:stCondLst>
                                    <p:cond delay="450"/>
                                  </p:stCondLst>
                                  <p:childTnLst>
                                    <p:set>
                                      <p:cBhvr>
                                        <p:cTn id="182" dur="1" fill="hold">
                                          <p:stCondLst>
                                            <p:cond delay="0"/>
                                          </p:stCondLst>
                                        </p:cTn>
                                        <p:tgtEl>
                                          <p:spTgt spid="25"/>
                                        </p:tgtEl>
                                        <p:attrNameLst>
                                          <p:attrName>style.visibility</p:attrName>
                                        </p:attrNameLst>
                                      </p:cBhvr>
                                      <p:to>
                                        <p:strVal val="visible"/>
                                      </p:to>
                                    </p:set>
                                    <p:animEffect transition="in" filter="fade">
                                      <p:cBhvr>
                                        <p:cTn id="183" dur="450"/>
                                        <p:tgtEl>
                                          <p:spTgt spid="25"/>
                                        </p:tgtEl>
                                      </p:cBhvr>
                                    </p:animEffect>
                                  </p:childTnLst>
                                </p:cTn>
                              </p:par>
                              <p:par>
                                <p:cTn id="184" presetID="10" presetClass="entr" presetSubtype="0" fill="hold" nodeType="withEffect">
                                  <p:stCondLst>
                                    <p:cond delay="520"/>
                                  </p:stCondLst>
                                  <p:childTnLst>
                                    <p:set>
                                      <p:cBhvr>
                                        <p:cTn id="185" dur="1" fill="hold">
                                          <p:stCondLst>
                                            <p:cond delay="0"/>
                                          </p:stCondLst>
                                        </p:cTn>
                                        <p:tgtEl>
                                          <p:spTgt spid="26"/>
                                        </p:tgtEl>
                                        <p:attrNameLst>
                                          <p:attrName>style.visibility</p:attrName>
                                        </p:attrNameLst>
                                      </p:cBhvr>
                                      <p:to>
                                        <p:strVal val="visible"/>
                                      </p:to>
                                    </p:set>
                                    <p:animEffect transition="in" filter="fade">
                                      <p:cBhvr>
                                        <p:cTn id="186" dur="450"/>
                                        <p:tgtEl>
                                          <p:spTgt spid="26"/>
                                        </p:tgtEl>
                                      </p:cBhvr>
                                    </p:animEffect>
                                  </p:childTnLst>
                                </p:cTn>
                              </p:par>
                              <p:par>
                                <p:cTn id="187" presetID="22" presetClass="entr" presetSubtype="4" fill="hold" nodeType="withEffect">
                                  <p:stCondLst>
                                    <p:cond delay="520"/>
                                  </p:stCondLst>
                                  <p:childTnLst>
                                    <p:set>
                                      <p:cBhvr>
                                        <p:cTn id="188" dur="1" fill="hold">
                                          <p:stCondLst>
                                            <p:cond delay="0"/>
                                          </p:stCondLst>
                                        </p:cTn>
                                        <p:tgtEl>
                                          <p:spTgt spid="27"/>
                                        </p:tgtEl>
                                        <p:attrNameLst>
                                          <p:attrName>style.visibility</p:attrName>
                                        </p:attrNameLst>
                                      </p:cBhvr>
                                      <p:to>
                                        <p:strVal val="visible"/>
                                      </p:to>
                                    </p:set>
                                    <p:animEffect transition="in" filter="wipe(down)">
                                      <p:cBhvr>
                                        <p:cTn id="189" dur="500"/>
                                        <p:tgtEl>
                                          <p:spTgt spid="27"/>
                                        </p:tgtEl>
                                      </p:cBhvr>
                                    </p:animEffect>
                                  </p:childTnLst>
                                </p:cTn>
                              </p:par>
                              <p:par>
                                <p:cTn id="190" presetID="10" presetClass="entr" presetSubtype="0" fill="hold" nodeType="withEffect">
                                  <p:stCondLst>
                                    <p:cond delay="590"/>
                                  </p:stCondLst>
                                  <p:childTnLst>
                                    <p:set>
                                      <p:cBhvr>
                                        <p:cTn id="191" dur="1" fill="hold">
                                          <p:stCondLst>
                                            <p:cond delay="0"/>
                                          </p:stCondLst>
                                        </p:cTn>
                                        <p:tgtEl>
                                          <p:spTgt spid="28"/>
                                        </p:tgtEl>
                                        <p:attrNameLst>
                                          <p:attrName>style.visibility</p:attrName>
                                        </p:attrNameLst>
                                      </p:cBhvr>
                                      <p:to>
                                        <p:strVal val="visible"/>
                                      </p:to>
                                    </p:set>
                                    <p:animEffect transition="in" filter="fade">
                                      <p:cBhvr>
                                        <p:cTn id="192" dur="450"/>
                                        <p:tgtEl>
                                          <p:spTgt spid="28"/>
                                        </p:tgtEl>
                                      </p:cBhvr>
                                    </p:animEffect>
                                  </p:childTnLst>
                                </p:cTn>
                              </p:par>
                              <p:par>
                                <p:cTn id="193" presetID="22" presetClass="entr" presetSubtype="4" fill="hold" nodeType="withEffect">
                                  <p:stCondLst>
                                    <p:cond delay="660"/>
                                  </p:stCondLst>
                                  <p:childTnLst>
                                    <p:set>
                                      <p:cBhvr>
                                        <p:cTn id="194" dur="1" fill="hold">
                                          <p:stCondLst>
                                            <p:cond delay="0"/>
                                          </p:stCondLst>
                                        </p:cTn>
                                        <p:tgtEl>
                                          <p:spTgt spid="29"/>
                                        </p:tgtEl>
                                        <p:attrNameLst>
                                          <p:attrName>style.visibility</p:attrName>
                                        </p:attrNameLst>
                                      </p:cBhvr>
                                      <p:to>
                                        <p:strVal val="visible"/>
                                      </p:to>
                                    </p:set>
                                    <p:animEffect transition="in" filter="wipe(down)">
                                      <p:cBhvr>
                                        <p:cTn id="195" dur="500"/>
                                        <p:tgtEl>
                                          <p:spTgt spid="29"/>
                                        </p:tgtEl>
                                      </p:cBhvr>
                                    </p:animEffect>
                                  </p:childTnLst>
                                </p:cTn>
                              </p:par>
                              <p:par>
                                <p:cTn id="196" presetID="10" presetClass="entr" presetSubtype="0" fill="hold" nodeType="withEffect">
                                  <p:stCondLst>
                                    <p:cond delay="730"/>
                                  </p:stCondLst>
                                  <p:childTnLst>
                                    <p:set>
                                      <p:cBhvr>
                                        <p:cTn id="197" dur="1" fill="hold">
                                          <p:stCondLst>
                                            <p:cond delay="0"/>
                                          </p:stCondLst>
                                        </p:cTn>
                                        <p:tgtEl>
                                          <p:spTgt spid="30"/>
                                        </p:tgtEl>
                                        <p:attrNameLst>
                                          <p:attrName>style.visibility</p:attrName>
                                        </p:attrNameLst>
                                      </p:cBhvr>
                                      <p:to>
                                        <p:strVal val="visible"/>
                                      </p:to>
                                    </p:set>
                                    <p:animEffect transition="in" filter="fade">
                                      <p:cBhvr>
                                        <p:cTn id="198" dur="450"/>
                                        <p:tgtEl>
                                          <p:spTgt spid="30"/>
                                        </p:tgtEl>
                                      </p:cBhvr>
                                    </p:animEffect>
                                  </p:childTnLst>
                                </p:cTn>
                              </p:par>
                              <p:par>
                                <p:cTn id="199" presetID="22" presetClass="entr" presetSubtype="4" fill="hold" nodeType="withEffect">
                                  <p:stCondLst>
                                    <p:cond delay="730"/>
                                  </p:stCondLst>
                                  <p:childTnLst>
                                    <p:set>
                                      <p:cBhvr>
                                        <p:cTn id="200" dur="1" fill="hold">
                                          <p:stCondLst>
                                            <p:cond delay="0"/>
                                          </p:stCondLst>
                                        </p:cTn>
                                        <p:tgtEl>
                                          <p:spTgt spid="31"/>
                                        </p:tgtEl>
                                        <p:attrNameLst>
                                          <p:attrName>style.visibility</p:attrName>
                                        </p:attrNameLst>
                                      </p:cBhvr>
                                      <p:to>
                                        <p:strVal val="visible"/>
                                      </p:to>
                                    </p:set>
                                    <p:animEffect transition="in" filter="wipe(down)">
                                      <p:cBhvr>
                                        <p:cTn id="201" dur="500"/>
                                        <p:tgtEl>
                                          <p:spTgt spid="31"/>
                                        </p:tgtEl>
                                      </p:cBhvr>
                                    </p:animEffect>
                                  </p:childTnLst>
                                </p:cTn>
                              </p:par>
                              <p:par>
                                <p:cTn id="202" presetID="10" presetClass="entr" presetSubtype="0" fill="hold" nodeType="withEffect">
                                  <p:stCondLst>
                                    <p:cond delay="800"/>
                                  </p:stCondLst>
                                  <p:childTnLst>
                                    <p:set>
                                      <p:cBhvr>
                                        <p:cTn id="203" dur="1" fill="hold">
                                          <p:stCondLst>
                                            <p:cond delay="0"/>
                                          </p:stCondLst>
                                        </p:cTn>
                                        <p:tgtEl>
                                          <p:spTgt spid="32"/>
                                        </p:tgtEl>
                                        <p:attrNameLst>
                                          <p:attrName>style.visibility</p:attrName>
                                        </p:attrNameLst>
                                      </p:cBhvr>
                                      <p:to>
                                        <p:strVal val="visible"/>
                                      </p:to>
                                    </p:set>
                                    <p:animEffect transition="in" filter="fade">
                                      <p:cBhvr>
                                        <p:cTn id="204" dur="450"/>
                                        <p:tgtEl>
                                          <p:spTgt spid="32"/>
                                        </p:tgtEl>
                                      </p:cBhvr>
                                    </p:animEffect>
                                  </p:childTnLst>
                                </p:cTn>
                              </p:par>
                              <p:par>
                                <p:cTn id="205" presetID="22" presetClass="entr" presetSubtype="4" fill="hold" nodeType="withEffect">
                                  <p:stCondLst>
                                    <p:cond delay="870"/>
                                  </p:stCondLst>
                                  <p:childTnLst>
                                    <p:set>
                                      <p:cBhvr>
                                        <p:cTn id="206" dur="1" fill="hold">
                                          <p:stCondLst>
                                            <p:cond delay="0"/>
                                          </p:stCondLst>
                                        </p:cTn>
                                        <p:tgtEl>
                                          <p:spTgt spid="33"/>
                                        </p:tgtEl>
                                        <p:attrNameLst>
                                          <p:attrName>style.visibility</p:attrName>
                                        </p:attrNameLst>
                                      </p:cBhvr>
                                      <p:to>
                                        <p:strVal val="visible"/>
                                      </p:to>
                                    </p:set>
                                    <p:animEffect transition="in" filter="wipe(down)">
                                      <p:cBhvr>
                                        <p:cTn id="207" dur="500"/>
                                        <p:tgtEl>
                                          <p:spTgt spid="33"/>
                                        </p:tgtEl>
                                      </p:cBhvr>
                                    </p:animEffect>
                                  </p:childTnLst>
                                </p:cTn>
                              </p:par>
                              <p:par>
                                <p:cTn id="208" presetID="10" presetClass="entr" presetSubtype="0" grpId="0" fill="hold" nodeType="withEffect">
                                  <p:stCondLst>
                                    <p:cond delay="940"/>
                                  </p:stCondLst>
                                  <p:childTnLst>
                                    <p:set>
                                      <p:cBhvr>
                                        <p:cTn id="209" dur="1" fill="hold">
                                          <p:stCondLst>
                                            <p:cond delay="0"/>
                                          </p:stCondLst>
                                        </p:cTn>
                                        <p:tgtEl>
                                          <p:spTgt spid="34">
                                            <p:txEl>
                                              <p:pRg st="0" end="0"/>
                                            </p:txEl>
                                          </p:spTgt>
                                        </p:tgtEl>
                                        <p:attrNameLst>
                                          <p:attrName>style.visibility</p:attrName>
                                        </p:attrNameLst>
                                      </p:cBhvr>
                                      <p:to>
                                        <p:strVal val="visible"/>
                                      </p:to>
                                    </p:set>
                                    <p:animEffect transition="in" filter="fade">
                                      <p:cBhvr>
                                        <p:cTn id="210" dur="450"/>
                                        <p:tgtEl>
                                          <p:spTgt spid="34">
                                            <p:txEl>
                                              <p:pRg st="0" end="0"/>
                                            </p:txEl>
                                          </p:spTgt>
                                        </p:tgtEl>
                                      </p:cBhvr>
                                    </p:animEffect>
                                  </p:childTnLst>
                                </p:cTn>
                              </p:par>
                              <p:par>
                                <p:cTn id="211" presetID="10" presetClass="entr" presetSubtype="0" grpId="0" fill="hold" nodeType="withEffect">
                                  <p:stCondLst>
                                    <p:cond delay="1320"/>
                                  </p:stCondLst>
                                  <p:childTnLst>
                                    <p:set>
                                      <p:cBhvr>
                                        <p:cTn id="212" dur="1" fill="hold">
                                          <p:stCondLst>
                                            <p:cond delay="0"/>
                                          </p:stCondLst>
                                        </p:cTn>
                                        <p:tgtEl>
                                          <p:spTgt spid="34">
                                            <p:txEl>
                                              <p:pRg st="1" end="1"/>
                                            </p:txEl>
                                          </p:spTgt>
                                        </p:tgtEl>
                                        <p:attrNameLst>
                                          <p:attrName>style.visibility</p:attrName>
                                        </p:attrNameLst>
                                      </p:cBhvr>
                                      <p:to>
                                        <p:strVal val="visible"/>
                                      </p:to>
                                    </p:set>
                                    <p:animEffect transition="in" filter="fade">
                                      <p:cBhvr>
                                        <p:cTn id="213" dur="450"/>
                                        <p:tgtEl>
                                          <p:spTgt spid="34">
                                            <p:txEl>
                                              <p:pRg st="1" end="1"/>
                                            </p:txEl>
                                          </p:spTgt>
                                        </p:tgtEl>
                                      </p:cBhvr>
                                    </p:animEffect>
                                  </p:childTnLst>
                                </p:cTn>
                              </p:par>
                              <p:par>
                                <p:cTn id="214" presetID="10" presetClass="entr" presetSubtype="0" grpId="0" fill="hold" nodeType="withEffect">
                                  <p:stCondLst>
                                    <p:cond delay="1700"/>
                                  </p:stCondLst>
                                  <p:childTnLst>
                                    <p:set>
                                      <p:cBhvr>
                                        <p:cTn id="215" dur="1" fill="hold">
                                          <p:stCondLst>
                                            <p:cond delay="0"/>
                                          </p:stCondLst>
                                        </p:cTn>
                                        <p:tgtEl>
                                          <p:spTgt spid="34">
                                            <p:txEl>
                                              <p:pRg st="2" end="2"/>
                                            </p:txEl>
                                          </p:spTgt>
                                        </p:tgtEl>
                                        <p:attrNameLst>
                                          <p:attrName>style.visibility</p:attrName>
                                        </p:attrNameLst>
                                      </p:cBhvr>
                                      <p:to>
                                        <p:strVal val="visible"/>
                                      </p:to>
                                    </p:set>
                                    <p:animEffect transition="in" filter="fade">
                                      <p:cBhvr>
                                        <p:cTn id="216" dur="450"/>
                                        <p:tgtEl>
                                          <p:spTgt spid="34">
                                            <p:txEl>
                                              <p:pRg st="2" end="2"/>
                                            </p:txEl>
                                          </p:spTgt>
                                        </p:tgtEl>
                                      </p:cBhvr>
                                    </p:animEffect>
                                  </p:childTnLst>
                                </p:cTn>
                              </p:par>
                              <p:par>
                                <p:cTn id="217" presetID="22" presetClass="entr" presetSubtype="4" fill="hold" nodeType="withEffect">
                                  <p:stCondLst>
                                    <p:cond delay="1010"/>
                                  </p:stCondLst>
                                  <p:childTnLst>
                                    <p:set>
                                      <p:cBhvr>
                                        <p:cTn id="218" dur="1" fill="hold">
                                          <p:stCondLst>
                                            <p:cond delay="0"/>
                                          </p:stCondLst>
                                        </p:cTn>
                                        <p:tgtEl>
                                          <p:spTgt spid="35"/>
                                        </p:tgtEl>
                                        <p:attrNameLst>
                                          <p:attrName>style.visibility</p:attrName>
                                        </p:attrNameLst>
                                      </p:cBhvr>
                                      <p:to>
                                        <p:strVal val="visible"/>
                                      </p:to>
                                    </p:set>
                                    <p:animEffect transition="in" filter="wipe(down)">
                                      <p:cBhvr>
                                        <p:cTn id="219" dur="500"/>
                                        <p:tgtEl>
                                          <p:spTgt spid="35"/>
                                        </p:tgtEl>
                                      </p:cBhvr>
                                    </p:animEffect>
                                  </p:childTnLst>
                                </p:cTn>
                              </p:par>
                              <p:par>
                                <p:cTn id="220" presetID="10" presetClass="entr" presetSubtype="0" fill="hold" nodeType="withEffect">
                                  <p:stCondLst>
                                    <p:cond delay="580"/>
                                  </p:stCondLst>
                                  <p:childTnLst>
                                    <p:set>
                                      <p:cBhvr>
                                        <p:cTn id="221" dur="1" fill="hold">
                                          <p:stCondLst>
                                            <p:cond delay="0"/>
                                          </p:stCondLst>
                                        </p:cTn>
                                        <p:tgtEl>
                                          <p:spTgt spid="36"/>
                                        </p:tgtEl>
                                        <p:attrNameLst>
                                          <p:attrName>style.visibility</p:attrName>
                                        </p:attrNameLst>
                                      </p:cBhvr>
                                      <p:to>
                                        <p:strVal val="visible"/>
                                      </p:to>
                                    </p:set>
                                    <p:animEffect transition="in" filter="fade">
                                      <p:cBhvr>
                                        <p:cTn id="222"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6" grpId="0" build="p"/>
      <p:bldP spid="3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Cuatro técnicas para mejorar la baja frecuencia; elegimos la de Ma et al.</a:t>
            </a:r>
            <a:endParaRPr lang="en-US" sz="2200" dirty="0"/>
          </a:p>
        </p:txBody>
      </p:sp>
      <p:sp>
        <p:nvSpPr>
          <p:cNvPr id="3" name="Obj [o44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Existen cuatro familias de técnicas para mejorar la respuesta en baja frecuencia de un geófono</a:t>
            </a:r>
            <a:endParaRPr lang="en-US" sz="1400" dirty="0"/>
          </a:p>
        </p:txBody>
      </p:sp>
      <p:sp>
        <p:nvSpPr>
          <p:cNvPr id="4" name="Obj [o448]"/>
          <p:cNvSpPr/>
          <p:nvPr/>
        </p:nvSpPr>
        <p:spPr>
          <a:xfrm>
            <a:off x="966136" y="1681654"/>
            <a:ext cx="1722802" cy="681108"/>
          </a:xfrm>
          <a:prstGeom prst="rect">
            <a:avLst/>
          </a:prstGeom>
          <a:solidFill>
            <a:srgbClr val="6B6B6B"/>
          </a:solidFill>
          <a:ln w="6350">
            <a:solidFill>
              <a:srgbClr val="6B6B6B"/>
            </a:solidFill>
            <a:prstDash val="solid"/>
          </a:ln>
        </p:spPr>
      </p:sp>
      <p:sp>
        <p:nvSpPr>
          <p:cNvPr id="5" name="Obj [o449]"/>
          <p:cNvSpPr txBox="1"/>
          <p:nvPr/>
        </p:nvSpPr>
        <p:spPr>
          <a:xfrm>
            <a:off x="1006201"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Modificar la carga del sensor</a:t>
            </a:r>
            <a:endParaRPr lang="en-US" sz="1170" dirty="0"/>
          </a:p>
        </p:txBody>
      </p:sp>
      <p:sp>
        <p:nvSpPr>
          <p:cNvPr id="6" name="Obj [o450]"/>
          <p:cNvSpPr/>
          <p:nvPr/>
        </p:nvSpPr>
        <p:spPr>
          <a:xfrm>
            <a:off x="966136" y="2362761"/>
            <a:ext cx="1722802" cy="1722802"/>
          </a:xfrm>
          <a:prstGeom prst="rect">
            <a:avLst/>
          </a:prstGeom>
          <a:solidFill>
            <a:srgbClr val="FFFFFF"/>
          </a:solidFill>
          <a:ln w="16694">
            <a:solidFill>
              <a:srgbClr val="6B6B6B"/>
            </a:solidFill>
            <a:prstDash val="solid"/>
          </a:ln>
        </p:spPr>
      </p:sp>
      <p:sp>
        <p:nvSpPr>
          <p:cNvPr id="7" name="Obj [o451]"/>
          <p:cNvSpPr txBox="1"/>
          <p:nvPr/>
        </p:nvSpPr>
        <p:spPr>
          <a:xfrm>
            <a:off x="1062292"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080" dirty="0"/>
          </a:p>
        </p:txBody>
      </p:sp>
      <p:sp>
        <p:nvSpPr>
          <p:cNvPr id="8" name="Obj [o452]"/>
          <p:cNvSpPr/>
          <p:nvPr/>
        </p:nvSpPr>
        <p:spPr>
          <a:xfrm>
            <a:off x="2809133" y="1681654"/>
            <a:ext cx="1722802" cy="681108"/>
          </a:xfrm>
          <a:prstGeom prst="rect">
            <a:avLst/>
          </a:prstGeom>
          <a:solidFill>
            <a:srgbClr val="6B6B6B"/>
          </a:solidFill>
          <a:ln w="6350">
            <a:solidFill>
              <a:srgbClr val="6B6B6B"/>
            </a:solidFill>
            <a:prstDash val="solid"/>
          </a:ln>
        </p:spPr>
      </p:sp>
      <p:sp>
        <p:nvSpPr>
          <p:cNvPr id="9" name="Obj [o453]"/>
          <p:cNvSpPr txBox="1"/>
          <p:nvPr/>
        </p:nvSpPr>
        <p:spPr>
          <a:xfrm>
            <a:off x="2849198"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Compensación inversa (cero–polo)</a:t>
            </a:r>
            <a:endParaRPr lang="en-US" sz="1170" dirty="0"/>
          </a:p>
        </p:txBody>
      </p:sp>
      <p:sp>
        <p:nvSpPr>
          <p:cNvPr id="10" name="Obj [o454]"/>
          <p:cNvSpPr/>
          <p:nvPr/>
        </p:nvSpPr>
        <p:spPr>
          <a:xfrm>
            <a:off x="2809133" y="2362761"/>
            <a:ext cx="1722802" cy="1722802"/>
          </a:xfrm>
          <a:prstGeom prst="rect">
            <a:avLst/>
          </a:prstGeom>
          <a:solidFill>
            <a:srgbClr val="FFFFFF"/>
          </a:solidFill>
          <a:ln w="16694">
            <a:solidFill>
              <a:srgbClr val="6B6B6B"/>
            </a:solidFill>
            <a:prstDash val="solid"/>
          </a:ln>
        </p:spPr>
      </p:sp>
      <p:sp>
        <p:nvSpPr>
          <p:cNvPr id="11" name="Obj [o455]"/>
          <p:cNvSpPr txBox="1"/>
          <p:nvPr/>
        </p:nvSpPr>
        <p:spPr>
          <a:xfrm>
            <a:off x="2905289"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080" dirty="0"/>
          </a:p>
        </p:txBody>
      </p:sp>
      <p:sp>
        <p:nvSpPr>
          <p:cNvPr id="12" name="Obj [o456]"/>
          <p:cNvSpPr/>
          <p:nvPr/>
        </p:nvSpPr>
        <p:spPr>
          <a:xfrm>
            <a:off x="4652130" y="1681654"/>
            <a:ext cx="1722802" cy="681108"/>
          </a:xfrm>
          <a:prstGeom prst="rect">
            <a:avLst/>
          </a:prstGeom>
          <a:solidFill>
            <a:srgbClr val="6B6B6B"/>
          </a:solidFill>
          <a:ln w="6350">
            <a:solidFill>
              <a:srgbClr val="6B6B6B"/>
            </a:solidFill>
            <a:prstDash val="solid"/>
          </a:ln>
        </p:spPr>
      </p:sp>
      <p:sp>
        <p:nvSpPr>
          <p:cNvPr id="13" name="Obj [o457]"/>
          <p:cNvSpPr txBox="1"/>
          <p:nvPr/>
        </p:nvSpPr>
        <p:spPr>
          <a:xfrm>
            <a:off x="4692195"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Resistencia negativa y balance de fuerza</a:t>
            </a:r>
            <a:endParaRPr lang="en-US" sz="1170" dirty="0"/>
          </a:p>
        </p:txBody>
      </p:sp>
      <p:sp>
        <p:nvSpPr>
          <p:cNvPr id="14" name="Obj [o458]"/>
          <p:cNvSpPr/>
          <p:nvPr/>
        </p:nvSpPr>
        <p:spPr>
          <a:xfrm>
            <a:off x="4652130" y="2362761"/>
            <a:ext cx="1722802" cy="1722802"/>
          </a:xfrm>
          <a:prstGeom prst="rect">
            <a:avLst/>
          </a:prstGeom>
          <a:solidFill>
            <a:srgbClr val="FFFFFF"/>
          </a:solidFill>
          <a:ln w="16694">
            <a:solidFill>
              <a:srgbClr val="6B6B6B"/>
            </a:solidFill>
            <a:prstDash val="solid"/>
          </a:ln>
        </p:spPr>
      </p:sp>
      <p:sp>
        <p:nvSpPr>
          <p:cNvPr id="15" name="Obj [o459]"/>
          <p:cNvSpPr txBox="1"/>
          <p:nvPr/>
        </p:nvSpPr>
        <p:spPr>
          <a:xfrm>
            <a:off x="4748287"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080" dirty="0"/>
          </a:p>
        </p:txBody>
      </p:sp>
      <p:sp>
        <p:nvSpPr>
          <p:cNvPr id="16" name="Obj [o460]"/>
          <p:cNvSpPr/>
          <p:nvPr/>
        </p:nvSpPr>
        <p:spPr>
          <a:xfrm>
            <a:off x="6495128" y="1681654"/>
            <a:ext cx="1722802" cy="681108"/>
          </a:xfrm>
          <a:prstGeom prst="rect">
            <a:avLst/>
          </a:prstGeom>
          <a:solidFill>
            <a:srgbClr val="2E75B6"/>
          </a:solidFill>
          <a:ln w="6350">
            <a:solidFill>
              <a:srgbClr val="2E75B6"/>
            </a:solidFill>
            <a:prstDash val="solid"/>
          </a:ln>
        </p:spPr>
      </p:sp>
      <p:sp>
        <p:nvSpPr>
          <p:cNvPr id="17" name="Obj [o461]"/>
          <p:cNvSpPr txBox="1"/>
          <p:nvPr/>
        </p:nvSpPr>
        <p:spPr>
          <a:xfrm>
            <a:off x="6535193"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Modificar la forma de la respuesta</a:t>
            </a:r>
            <a:endParaRPr lang="en-US" sz="1170" dirty="0"/>
          </a:p>
        </p:txBody>
      </p:sp>
      <p:sp>
        <p:nvSpPr>
          <p:cNvPr id="18" name="Obj [o462]"/>
          <p:cNvSpPr/>
          <p:nvPr/>
        </p:nvSpPr>
        <p:spPr>
          <a:xfrm>
            <a:off x="6495128" y="2362761"/>
            <a:ext cx="1722802" cy="1722802"/>
          </a:xfrm>
          <a:prstGeom prst="rect">
            <a:avLst/>
          </a:prstGeom>
          <a:solidFill>
            <a:srgbClr val="FFFFFF"/>
          </a:solidFill>
          <a:ln w="16694">
            <a:solidFill>
              <a:srgbClr val="2E75B6"/>
            </a:solidFill>
            <a:prstDash val="solid"/>
          </a:ln>
        </p:spPr>
      </p:sp>
      <p:sp>
        <p:nvSpPr>
          <p:cNvPr id="19" name="Obj [o463]"/>
          <p:cNvSpPr txBox="1"/>
          <p:nvPr/>
        </p:nvSpPr>
        <p:spPr>
          <a:xfrm>
            <a:off x="6591284"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080" dirty="0"/>
          </a:p>
        </p:txBody>
      </p:sp>
      <p:sp>
        <p:nvSpPr>
          <p:cNvPr id="20" name="Obj [o464]"/>
          <p:cNvSpPr txBox="1"/>
          <p:nvPr/>
        </p:nvSpPr>
        <p:spPr>
          <a:xfrm>
            <a:off x="966136" y="4165694"/>
            <a:ext cx="7211728" cy="320521"/>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440" dirty="0"/>
          </a:p>
        </p:txBody>
      </p:sp>
      <p:sp>
        <p:nvSpPr>
          <p:cNvPr id="21" name="Obj [o46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Pazos, Alguacil y Davila (2005), BSSA 95(5), 1940–1946, según Ma et al. (2023), Sensors 23(6), 3082; Hakimitoroghi et al. (2017) y Zhang (2025): por confirmar.</a:t>
            </a:r>
            <a:endParaRPr lang="en-US" sz="800" dirty="0"/>
          </a:p>
        </p:txBody>
      </p:sp>
      <p:sp>
        <p:nvSpPr>
          <p:cNvPr id="22" name="Obj [o466]"/>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Invertir la respuesta del sensor exige muchísima ganancia cerca de continua</a:t>
            </a:r>
            <a:endParaRPr lang="en-US" sz="1400" dirty="0"/>
          </a:p>
        </p:txBody>
      </p:sp>
      <p:sp>
        <p:nvSpPr>
          <p:cNvPr id="23" name="Obj [o467]"/>
          <p:cNvSpPr txBox="1"/>
          <p:nvPr/>
        </p:nvSpPr>
        <p:spPr>
          <a:xfrm>
            <a:off x="966136" y="1681654"/>
            <a:ext cx="4246907" cy="2403909"/>
          </a:xfrm>
          <a:prstGeom prst="rect">
            <a:avLst/>
          </a:prstGeom>
          <a:noFill/>
          <a:ln/>
        </p:spPr>
        <p:txBody>
          <a:bodyPr wrap="square" lIns="0" tIns="0" rIns="0" bIns="0" rtlCol="0" anchor="t"/>
          <a:lstStyle/>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Altísima ganancia cerca de DC</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Offsets y bias pueden llevarla a saturación</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Amplifica el ruido de baja frecuencia fuera de banda</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620" dirty="0"/>
          </a:p>
        </p:txBody>
      </p:sp>
      <p:sp>
        <p:nvSpPr>
          <p:cNvPr id="24" name="Obj [o468]"/>
          <p:cNvSpPr/>
          <p:nvPr/>
        </p:nvSpPr>
        <p:spPr>
          <a:xfrm>
            <a:off x="5533564" y="1721719"/>
            <a:ext cx="2644300" cy="400652"/>
          </a:xfrm>
          <a:prstGeom prst="rect">
            <a:avLst/>
          </a:prstGeom>
          <a:solidFill>
            <a:srgbClr val="C55A11"/>
          </a:solidFill>
          <a:ln w="6350">
            <a:solidFill>
              <a:srgbClr val="C55A11"/>
            </a:solidFill>
            <a:prstDash val="solid"/>
          </a:ln>
        </p:spPr>
      </p:sp>
      <p:sp>
        <p:nvSpPr>
          <p:cNvPr id="25" name="Obj [o469]"/>
          <p:cNvSpPr txBox="1"/>
          <p:nvPr/>
        </p:nvSpPr>
        <p:spPr>
          <a:xfrm>
            <a:off x="5533564" y="1721719"/>
            <a:ext cx="2644300" cy="400652"/>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Ganancia necesaria a 1 Hz</a:t>
            </a:r>
            <a:endParaRPr lang="en-US" sz="1350" dirty="0"/>
          </a:p>
        </p:txBody>
      </p:sp>
      <p:sp>
        <p:nvSpPr>
          <p:cNvPr id="26" name="Obj [o470]"/>
          <p:cNvSpPr/>
          <p:nvPr/>
        </p:nvSpPr>
        <p:spPr>
          <a:xfrm>
            <a:off x="5533564" y="2122371"/>
            <a:ext cx="2644300" cy="1362215"/>
          </a:xfrm>
          <a:prstGeom prst="rect">
            <a:avLst/>
          </a:prstGeom>
          <a:solidFill>
            <a:srgbClr val="FFFFFF"/>
          </a:solidFill>
          <a:ln w="16694">
            <a:solidFill>
              <a:srgbClr val="C55A11"/>
            </a:solidFill>
            <a:prstDash val="solid"/>
          </a:ln>
        </p:spPr>
      </p:sp>
      <p:sp>
        <p:nvSpPr>
          <p:cNvPr id="27" name="Obj [o471]"/>
          <p:cNvSpPr txBox="1"/>
          <p:nvPr/>
        </p:nvSpPr>
        <p:spPr>
          <a:xfrm>
            <a:off x="5533564" y="2162436"/>
            <a:ext cx="2644300" cy="721173"/>
          </a:xfrm>
          <a:prstGeom prst="rect">
            <a:avLst/>
          </a:prstGeom>
          <a:noFill/>
          <a:ln/>
        </p:spPr>
        <p:txBody>
          <a:bodyPr wrap="square" lIns="0" tIns="0" rIns="0" bIns="0" rtlCol="0" anchor="ctr"/>
          <a:lstStyle/>
          <a:p>
            <a:pPr algn="ctr" indent="0" marL="0">
              <a:buNone/>
            </a:pPr>
            <a:r>
              <a:rPr lang="en-US" sz="3239" b="1" dirty="0">
                <a:solidFill>
                  <a:srgbClr val="C55A11"/>
                </a:solidFill>
                <a:latin typeface="Arial" pitchFamily="34" charset="0"/>
                <a:ea typeface="Arial" pitchFamily="34" charset="-122"/>
                <a:cs typeface="Arial" pitchFamily="34" charset="-120"/>
              </a:rPr>
              <a:t>≈ +40 dB</a:t>
            </a:r>
            <a:endParaRPr lang="en-US" sz="3239" dirty="0"/>
          </a:p>
        </p:txBody>
      </p:sp>
      <p:sp>
        <p:nvSpPr>
          <p:cNvPr id="28" name="Obj [o472]"/>
          <p:cNvSpPr txBox="1"/>
          <p:nvPr/>
        </p:nvSpPr>
        <p:spPr>
          <a:xfrm>
            <a:off x="5653759" y="2883609"/>
            <a:ext cx="2403909" cy="560912"/>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respecto de la zona plana (modelo del SM-24, </a:t>
            </a:r>
            <mc:AlternateContent xmlns:mc="http://schemas.openxmlformats.org/markup-compatibility/2006">
              <mc:Choice xmlns:a14="http://schemas.microsoft.com/office/drawing/2010/main" Requires="a14">
                <a14:m>
                  <m:oMath xmlns:m="http://schemas.openxmlformats.org/officeDocument/2006/math">
                    <m:r>
                      <a:rPr lang="es-ES" sz="1080" i="1">
                        <a:solidFill>
                          <a:srgbClr val="6B6B6B"/>
                        </a:solidFill>
                        <a:latin typeface="Cambria Math" panose="02040503050406030204" pitchFamily="18" charset="0"/>
                      </a:rPr>
                      <m:t xml:space="preserve">ζ</m:t>
                    </m:r>
                    <m:r>
                      <m:rPr>
                        <m:sty m:val="p"/>
                      </m:rPr>
                      <a:rPr lang="es-ES" sz="1080">
                        <a:solidFill>
                          <a:srgbClr val="6B6B6B"/>
                        </a:solidFill>
                        <a:latin typeface="Cambria Math" panose="02040503050406030204" pitchFamily="18" charset="0"/>
                      </a:rPr>
                      <m:t xml:space="preserve">=</m:t>
                    </m:r>
                    <m:r>
                      <m:rPr>
                        <m:sty m:val="p"/>
                      </m:rPr>
                      <a:rPr lang="es-ES" sz="1080">
                        <a:solidFill>
                          <a:srgbClr val="6B6B6B"/>
                        </a:solidFill>
                        <a:latin typeface="Cambria Math" panose="02040503050406030204" pitchFamily="18" charset="0"/>
                      </a:rPr>
                      <m:t xml:space="preserve">0,25</m:t>
                    </m:r>
                  </m:oMath>
                </a14:m>
              </mc:Choice>
              <mc:Fallback>
                <a:r>
                  <a:rPr lang="en-US" sz="1080" dirty="0">
                    <a:solidFill>
                      <a:srgbClr val="6B6B6B"/>
                    </a:solidFill>
                    <a:latin typeface="Arial" pitchFamily="34" charset="0"/>
                    <a:ea typeface="Arial" pitchFamily="34" charset="-122"/>
                    <a:cs typeface="Arial" pitchFamily="34" charset="-120"/>
                  </a:rPr>
                  <a:t>ζ = 0,25</a:t>
                </a:r>
              </mc:Fallback>
            </mc:AlternateContent>
            <a:r>
              <a:rPr lang="en-US" sz="1080" dirty="0">
                <a:solidFill>
                  <a:srgbClr val="6B6B6B"/>
                </a:solidFill>
                <a:latin typeface="Arial" pitchFamily="34" charset="0"/>
                <a:ea typeface="Arial" pitchFamily="34" charset="-122"/>
                <a:cs typeface="Arial" pitchFamily="34" charset="-120"/>
              </a:rPr>
              <a:t>, referido a velocidad)</a:t>
            </a:r>
            <a:endParaRPr lang="en-US" sz="1080" dirty="0"/>
          </a:p>
        </p:txBody>
      </p:sp>
      <p:sp>
        <p:nvSpPr>
          <p:cNvPr id="29" name="Obj [o473]"/>
          <p:cNvSpPr txBox="1"/>
          <p:nvPr/>
        </p:nvSpPr>
        <p:spPr>
          <a:xfrm>
            <a:off x="966136" y="4045498"/>
            <a:ext cx="7211728" cy="440717"/>
          </a:xfrm>
          <a:prstGeom prst="rect">
            <a:avLst/>
          </a:prstGeom>
          <a:noFill/>
          <a:ln/>
        </p:spPr>
        <p:txBody>
          <a:bodyPr wrap="square" lIns="0" tIns="0" rIns="0" bIns="0" rtlCol="0" anchor="t"/>
          <a:lstStyle/>
          <a:p>
            <a:pPr indent="0" marL="0">
              <a:buNone/>
            </a:pPr>
            <a:r>
              <a:rPr lang="en-US" sz="126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260" dirty="0"/>
          </a:p>
        </p:txBody>
      </p:sp>
      <p:sp>
        <p:nvSpPr>
          <p:cNvPr id="30" name="Obj [o47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Zhang (2025); Hakimitoroghi et al. (2017); modelo propio (slide 54). Por confirmar.</a:t>
            </a:r>
            <a:endParaRPr lang="en-US" sz="800" dirty="0"/>
          </a:p>
        </p:txBody>
      </p:sp>
      <p:sp>
        <p:nvSpPr>
          <p:cNvPr id="31" name="Obj [o47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1400" dirty="0"/>
          </a:p>
        </p:txBody>
      </p:sp>
      <p:sp>
        <p:nvSpPr>
          <p:cNvPr id="32" name="Obj [o476]"/>
          <p:cNvSpPr/>
          <p:nvPr/>
        </p:nvSpPr>
        <p:spPr>
          <a:xfrm>
            <a:off x="966136" y="1681654"/>
            <a:ext cx="7211728" cy="76123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3" name="Obj [o477]"/>
              <p:cNvSpPr txBox="1"/>
              <p:nvPr/>
            </p:nvSpPr>
            <p:spPr>
              <a:xfrm>
                <a:off x="966136" y="1681654"/>
                <a:ext cx="7211728" cy="76123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ζ</m:t>
                          </m:r>
                        </m:e>
                        <m:sub>
                          <m:r>
                            <a:rPr lang="es-ES" sz="2200" i="1">
                              <a:solidFill>
                                <a:srgbClr val="1F4E79"/>
                              </a:solidFill>
                              <a:latin typeface="Cambria Math" panose="02040503050406030204" pitchFamily="18" charset="0"/>
                            </a:rPr>
                            <m:t xml:space="preserve">0</m:t>
                          </m:r>
                        </m:sub>
                      </m:sSub>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33" name="Obj [o477]"/>
              <p:cNvSpPr txBox="1"/>
              <p:nvPr/>
            </p:nvSpPr>
            <p:spPr>
              <a:xfrm>
                <a:off x="966136" y="1681654"/>
                <a:ext cx="7211728" cy="76123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ζ = ζ0 + G0² / (2mωn(Ri + RL))</a:t>
                </a:r>
                <a:endParaRPr lang="en-US" sz="2159" dirty="0"/>
              </a:p>
            </p:txBody>
          </p:sp>
        </mc:Fallback>
      </mc:AlternateContent>
      <p:sp>
        <p:nvSpPr>
          <p:cNvPr id="34" name="Obj [o478]"/>
          <p:cNvSpPr txBox="1"/>
          <p:nvPr/>
        </p:nvSpPr>
        <p:spPr>
          <a:xfrm>
            <a:off x="966136" y="2603152"/>
            <a:ext cx="7211728" cy="1201955"/>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El lazo activo interactúa directamente con el transductor</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440" dirty="0"/>
          </a:p>
        </p:txBody>
      </p:sp>
      <p:sp>
        <p:nvSpPr>
          <p:cNvPr id="35" name="Obj [o479]"/>
          <p:cNvSpPr txBox="1"/>
          <p:nvPr/>
        </p:nvSpPr>
        <p:spPr>
          <a:xfrm>
            <a:off x="966136" y="3885237"/>
            <a:ext cx="7211728" cy="480782"/>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440" dirty="0"/>
          </a:p>
        </p:txBody>
      </p:sp>
      <p:sp>
        <p:nvSpPr>
          <p:cNvPr id="36" name="Obj [o48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Zhang (2025), circuito de resistencia negativa; resumen firmado, sec. 4.2, ec. (8). Por confirmar.</a:t>
            </a:r>
            <a:endParaRPr lang="en-US" sz="800" dirty="0"/>
          </a:p>
        </p:txBody>
      </p:sp>
      <p:sp>
        <p:nvSpPr>
          <p:cNvPr id="37" name="Obj [o48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idea de Ma et al.: no levantar el fondo, bajar el pico</a:t>
            </a:r>
            <a:endParaRPr lang="en-US" sz="1400" dirty="0"/>
          </a:p>
        </p:txBody>
      </p:sp>
      <p:pic>
        <p:nvPicPr>
          <p:cNvPr id="38" name="Obj [o482]" descr="Respuesta referida a aceleración: geófono, compensador ideal sin ganancia y compensador ideal con ganancia">    </p:cNvPr>
          <p:cNvPicPr>
            <a:picLocks noChangeAspect="1"/>
          </p:cNvPicPr>
          <p:nvPr/>
        </p:nvPicPr>
        <p:blipFill>
          <a:blip r:embed="rId1"/>
          <a:stretch>
            <a:fillRect/>
          </a:stretch>
        </p:blipFill>
        <p:spPr>
          <a:xfrm>
            <a:off x="886005" y="1601523"/>
            <a:ext cx="4487298" cy="2546845"/>
          </a:xfrm>
          <a:prstGeom prst="rect">
            <a:avLst/>
          </a:prstGeom>
        </p:spPr>
      </p:pic>
      <p:sp>
        <p:nvSpPr>
          <p:cNvPr id="39" name="Obj [o483]"/>
          <p:cNvSpPr txBox="1"/>
          <p:nvPr/>
        </p:nvSpPr>
        <p:spPr>
          <a:xfrm>
            <a:off x="5533564" y="1681654"/>
            <a:ext cx="2644300" cy="2724431"/>
          </a:xfrm>
          <a:prstGeom prst="rect">
            <a:avLst/>
          </a:prstGeom>
          <a:noFill/>
          <a:ln/>
        </p:spPr>
        <p:txBody>
          <a:bodyPr wrap="square" lIns="0" tIns="0" rIns="0" bIns="0" rtlCol="0" anchor="t"/>
          <a:lstStyle/>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Se atenúa la zona de la resonancia</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Después se recupera el nivel con ganancia global</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El pasabanda se ensancha, pero sigue siendo un pasabanda</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170" dirty="0"/>
          </a:p>
        </p:txBody>
      </p:sp>
      <p:sp>
        <p:nvSpPr>
          <p:cNvPr id="40" name="Obj [o484]"/>
          <p:cNvSpPr txBox="1"/>
          <p:nvPr/>
        </p:nvSpPr>
        <p:spPr>
          <a:xfrm>
            <a:off x="966136" y="4221785"/>
            <a:ext cx="4487298" cy="240391"/>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Compensador ideal</a:t>
            </a:r>
            <a:endParaRPr lang="en-US" sz="1080" dirty="0"/>
          </a:p>
        </p:txBody>
      </p:sp>
      <p:sp>
        <p:nvSpPr>
          <p:cNvPr id="41" name="Obj [o48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Sensors 23(6), 3082; documento de tesis (03b_topologias.tex); curvas propias.</a:t>
            </a:r>
            <a:endParaRPr lang="en-US" sz="800" dirty="0"/>
          </a:p>
        </p:txBody>
      </p:sp>
      <p:sp>
        <p:nvSpPr>
          <p:cNvPr id="42" name="Obj [o48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Elegimos el método de Ma et al. porque es estable, simple y no amplifica ruido</a:t>
            </a:r>
            <a:endParaRPr lang="en-US" sz="1400" dirty="0"/>
          </a:p>
        </p:txBody>
      </p:sp>
      <p:sp>
        <p:nvSpPr>
          <p:cNvPr id="43" name="Obj [o487]"/>
          <p:cNvSpPr/>
          <p:nvPr/>
        </p:nvSpPr>
        <p:spPr>
          <a:xfrm>
            <a:off x="441794" y="1633397"/>
            <a:ext cx="2204996" cy="380172"/>
          </a:xfrm>
          <a:prstGeom prst="rect">
            <a:avLst/>
          </a:prstGeom>
          <a:solidFill>
            <a:srgbClr val="1F4E79"/>
          </a:solidFill>
          <a:ln w="6350">
            <a:solidFill>
              <a:srgbClr val="1F4E79"/>
            </a:solidFill>
            <a:prstDash val="solid"/>
          </a:ln>
        </p:spPr>
      </p:sp>
      <p:sp>
        <p:nvSpPr>
          <p:cNvPr id="44" name="Obj [o488]"/>
          <p:cNvSpPr txBox="1"/>
          <p:nvPr/>
        </p:nvSpPr>
        <p:spPr>
          <a:xfrm>
            <a:off x="479812" y="1633397"/>
            <a:ext cx="2128962" cy="380172"/>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Estable</a:t>
            </a:r>
            <a:endParaRPr lang="en-US" sz="1380" dirty="0"/>
          </a:p>
        </p:txBody>
      </p:sp>
      <p:sp>
        <p:nvSpPr>
          <p:cNvPr id="45" name="Obj [o489]"/>
          <p:cNvSpPr/>
          <p:nvPr/>
        </p:nvSpPr>
        <p:spPr>
          <a:xfrm>
            <a:off x="441794" y="2013568"/>
            <a:ext cx="2204996" cy="912412"/>
          </a:xfrm>
          <a:prstGeom prst="rect">
            <a:avLst/>
          </a:prstGeom>
          <a:solidFill>
            <a:srgbClr val="FFFFFF"/>
          </a:solidFill>
          <a:ln w="15840">
            <a:solidFill>
              <a:srgbClr val="1F4E79"/>
            </a:solidFill>
            <a:prstDash val="solid"/>
          </a:ln>
        </p:spPr>
      </p:sp>
      <p:sp>
        <p:nvSpPr>
          <p:cNvPr id="46" name="Obj [o490]"/>
          <p:cNvSpPr txBox="1"/>
          <p:nvPr/>
        </p:nvSpPr>
        <p:spPr>
          <a:xfrm>
            <a:off x="533036" y="2074396"/>
            <a:ext cx="2022514" cy="790757"/>
          </a:xfrm>
          <a:prstGeom prst="rect">
            <a:avLst/>
          </a:prstGeom>
          <a:noFill/>
          <a:ln/>
        </p:spPr>
        <p:txBody>
          <a:bodyPr wrap="square" lIns="0" tIns="0" rIns="0" bIns="0" rtlCol="0" anchor="ctr"/>
          <a:lstStyle/>
          <a:p>
            <a:pPr algn="l" indent="0" marL="0">
              <a:buNone/>
            </a:pPr>
            <a:r>
              <a:rPr lang="en-US" sz="1122"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122" dirty="0"/>
          </a:p>
        </p:txBody>
      </p:sp>
      <p:sp>
        <p:nvSpPr>
          <p:cNvPr id="47" name="Obj [o491]"/>
          <p:cNvSpPr/>
          <p:nvPr/>
        </p:nvSpPr>
        <p:spPr>
          <a:xfrm>
            <a:off x="2760842" y="1633397"/>
            <a:ext cx="2204996" cy="380172"/>
          </a:xfrm>
          <a:prstGeom prst="rect">
            <a:avLst/>
          </a:prstGeom>
          <a:solidFill>
            <a:srgbClr val="1F4E79"/>
          </a:solidFill>
          <a:ln w="6350">
            <a:solidFill>
              <a:srgbClr val="1F4E79"/>
            </a:solidFill>
            <a:prstDash val="solid"/>
          </a:ln>
        </p:spPr>
      </p:sp>
      <p:sp>
        <p:nvSpPr>
          <p:cNvPr id="48" name="Obj [o492]"/>
          <p:cNvSpPr txBox="1"/>
          <p:nvPr/>
        </p:nvSpPr>
        <p:spPr>
          <a:xfrm>
            <a:off x="2798859" y="1633397"/>
            <a:ext cx="2128962" cy="380172"/>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Simple</a:t>
            </a:r>
            <a:endParaRPr lang="en-US" sz="1380" dirty="0"/>
          </a:p>
        </p:txBody>
      </p:sp>
      <p:sp>
        <p:nvSpPr>
          <p:cNvPr id="49" name="Obj [o493]"/>
          <p:cNvSpPr/>
          <p:nvPr/>
        </p:nvSpPr>
        <p:spPr>
          <a:xfrm>
            <a:off x="2760842" y="2013568"/>
            <a:ext cx="2204996" cy="912412"/>
          </a:xfrm>
          <a:prstGeom prst="rect">
            <a:avLst/>
          </a:prstGeom>
          <a:solidFill>
            <a:srgbClr val="FFFFFF"/>
          </a:solidFill>
          <a:ln w="15840">
            <a:solidFill>
              <a:srgbClr val="1F4E79"/>
            </a:solidFill>
            <a:prstDash val="solid"/>
          </a:ln>
        </p:spPr>
      </p:sp>
      <p:sp>
        <p:nvSpPr>
          <p:cNvPr id="50" name="Obj [o494]"/>
          <p:cNvSpPr txBox="1"/>
          <p:nvPr/>
        </p:nvSpPr>
        <p:spPr>
          <a:xfrm>
            <a:off x="2852083" y="2074396"/>
            <a:ext cx="2022514" cy="790757"/>
          </a:xfrm>
          <a:prstGeom prst="rect">
            <a:avLst/>
          </a:prstGeom>
          <a:noFill/>
          <a:ln/>
        </p:spPr>
        <p:txBody>
          <a:bodyPr wrap="square" lIns="0" tIns="0" rIns="0" bIns="0" rtlCol="0" anchor="ctr"/>
          <a:lstStyle/>
          <a:p>
            <a:pPr algn="l" indent="0" marL="0">
              <a:buNone/>
            </a:pPr>
            <a:r>
              <a:rPr lang="en-US" sz="1122" dirty="0">
                <a:solidFill>
                  <a:srgbClr val="2D2D2D"/>
                </a:solidFill>
                <a:latin typeface="Arial" pitchFamily="34" charset="0"/>
                <a:ea typeface="Arial" pitchFamily="34" charset="-122"/>
                <a:cs typeface="Arial" pitchFamily="34" charset="-120"/>
              </a:rPr>
              <a:t>Su implementación requiere pocos componentes.</a:t>
            </a:r>
            <a:endParaRPr lang="en-US" sz="1122" dirty="0"/>
          </a:p>
        </p:txBody>
      </p:sp>
      <p:sp>
        <p:nvSpPr>
          <p:cNvPr id="51" name="Obj [o495]"/>
          <p:cNvSpPr/>
          <p:nvPr/>
        </p:nvSpPr>
        <p:spPr>
          <a:xfrm>
            <a:off x="5079890" y="1633397"/>
            <a:ext cx="2204996" cy="380172"/>
          </a:xfrm>
          <a:prstGeom prst="rect">
            <a:avLst/>
          </a:prstGeom>
          <a:solidFill>
            <a:srgbClr val="1F4E79"/>
          </a:solidFill>
          <a:ln w="6350">
            <a:solidFill>
              <a:srgbClr val="1F4E79"/>
            </a:solidFill>
            <a:prstDash val="solid"/>
          </a:ln>
        </p:spPr>
      </p:sp>
      <p:sp>
        <p:nvSpPr>
          <p:cNvPr id="52" name="Obj [o496]"/>
          <p:cNvSpPr txBox="1"/>
          <p:nvPr/>
        </p:nvSpPr>
        <p:spPr>
          <a:xfrm>
            <a:off x="5117907" y="1633397"/>
            <a:ext cx="2128962" cy="380172"/>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No amplifica ruido</a:t>
            </a:r>
            <a:endParaRPr lang="en-US" sz="1380" dirty="0"/>
          </a:p>
        </p:txBody>
      </p:sp>
      <p:sp>
        <p:nvSpPr>
          <p:cNvPr id="53" name="Obj [o497]"/>
          <p:cNvSpPr/>
          <p:nvPr/>
        </p:nvSpPr>
        <p:spPr>
          <a:xfrm>
            <a:off x="5079890" y="2013568"/>
            <a:ext cx="2204996" cy="912412"/>
          </a:xfrm>
          <a:prstGeom prst="rect">
            <a:avLst/>
          </a:prstGeom>
          <a:solidFill>
            <a:srgbClr val="FFFFFF"/>
          </a:solidFill>
          <a:ln w="15840">
            <a:solidFill>
              <a:srgbClr val="1F4E79"/>
            </a:solidFill>
            <a:prstDash val="solid"/>
          </a:ln>
        </p:spPr>
      </p:sp>
      <p:sp>
        <p:nvSpPr>
          <p:cNvPr id="54" name="Obj [o498]"/>
          <p:cNvSpPr txBox="1"/>
          <p:nvPr/>
        </p:nvSpPr>
        <p:spPr>
          <a:xfrm>
            <a:off x="5171131" y="2074396"/>
            <a:ext cx="2022514" cy="790757"/>
          </a:xfrm>
          <a:prstGeom prst="rect">
            <a:avLst/>
          </a:prstGeom>
          <a:noFill/>
          <a:ln/>
        </p:spPr>
        <p:txBody>
          <a:bodyPr wrap="square" lIns="0" tIns="0" rIns="0" bIns="0" rtlCol="0" anchor="ctr"/>
          <a:lstStyle/>
          <a:p>
            <a:pPr algn="l" indent="0" marL="0">
              <a:buNone/>
            </a:pPr>
            <a:r>
              <a:rPr lang="en-US" sz="1122"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122" dirty="0"/>
          </a:p>
        </p:txBody>
      </p:sp>
      <p:sp>
        <p:nvSpPr>
          <p:cNvPr id="55" name="Obj [o499]"/>
          <p:cNvSpPr/>
          <p:nvPr/>
        </p:nvSpPr>
        <p:spPr>
          <a:xfrm>
            <a:off x="441794" y="2963998"/>
            <a:ext cx="6843091" cy="646292"/>
          </a:xfrm>
          <a:prstGeom prst="rect">
            <a:avLst/>
          </a:prstGeom>
          <a:solidFill>
            <a:srgbClr val="EAF1F8"/>
          </a:solidFill>
          <a:ln w="6350">
            <a:solidFill>
              <a:srgbClr val="EAF1F8"/>
            </a:solidFill>
            <a:prstDash val="solid"/>
          </a:ln>
        </p:spPr>
      </p:sp>
      <p:sp>
        <p:nvSpPr>
          <p:cNvPr id="56" name="Obj [o500]"/>
          <p:cNvSpPr txBox="1"/>
          <p:nvPr/>
        </p:nvSpPr>
        <p:spPr>
          <a:xfrm>
            <a:off x="555846" y="2963998"/>
            <a:ext cx="6614988" cy="646292"/>
          </a:xfrm>
          <a:prstGeom prst="rect">
            <a:avLst/>
          </a:prstGeom>
          <a:noFill/>
          <a:ln/>
        </p:spPr>
        <p:txBody>
          <a:bodyPr wrap="square" lIns="0" tIns="0" rIns="0" bIns="0" rtlCol="0" anchor="ctr"/>
          <a:lstStyle/>
          <a:p>
            <a:pPr indent="0" marL="0">
              <a:buNone/>
            </a:pPr>
            <a:r>
              <a:rPr lang="en-US" sz="1208"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208" dirty="0"/>
          </a:p>
        </p:txBody>
      </p:sp>
      <p:sp>
        <p:nvSpPr>
          <p:cNvPr id="57" name="Obj [o501]"/>
          <p:cNvSpPr/>
          <p:nvPr/>
        </p:nvSpPr>
        <p:spPr>
          <a:xfrm>
            <a:off x="441794" y="3686324"/>
            <a:ext cx="6843091" cy="532240"/>
          </a:xfrm>
          <a:prstGeom prst="rect">
            <a:avLst/>
          </a:prstGeom>
          <a:solidFill>
            <a:srgbClr val="FBE9DD"/>
          </a:solidFill>
          <a:ln w="6350">
            <a:solidFill>
              <a:srgbClr val="FBE9DD"/>
            </a:solidFill>
            <a:prstDash val="solid"/>
          </a:ln>
        </p:spPr>
      </p:sp>
      <p:sp>
        <p:nvSpPr>
          <p:cNvPr id="58" name="Obj [o502]"/>
          <p:cNvSpPr txBox="1"/>
          <p:nvPr/>
        </p:nvSpPr>
        <p:spPr>
          <a:xfrm>
            <a:off x="555846" y="3686324"/>
            <a:ext cx="6614988" cy="532240"/>
          </a:xfrm>
          <a:prstGeom prst="rect">
            <a:avLst/>
          </a:prstGeom>
          <a:noFill/>
          <a:ln/>
        </p:spPr>
        <p:txBody>
          <a:bodyPr wrap="square" lIns="0" tIns="0" rIns="0" bIns="0" rtlCol="0" anchor="ctr"/>
          <a:lstStyle/>
          <a:p>
            <a:pPr indent="0" marL="0">
              <a:buNone/>
            </a:pPr>
            <a:r>
              <a:rPr lang="en-US" sz="1294"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294" dirty="0"/>
          </a:p>
        </p:txBody>
      </p:sp>
      <p:sp>
        <p:nvSpPr>
          <p:cNvPr id="59" name="Obj [o50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Sensors 23(6), 3082; Pazos et al. (2005); estabilidad y ruido: inferencia propia, por confirmar.</a:t>
            </a:r>
            <a:endParaRPr lang="en-US" sz="800" dirty="0"/>
          </a:p>
        </p:txBody>
      </p:sp>
      <p:sp>
        <p:nvSpPr>
          <p:cNvPr id="60" name="Obj [o50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compensador sube el amortiguamiento del conjunto: es un camino directo menos un pasabanda</a:t>
            </a:r>
            <a:endParaRPr lang="en-US" sz="1400" dirty="0"/>
          </a:p>
        </p:txBody>
      </p:sp>
      <p:sp>
        <p:nvSpPr>
          <p:cNvPr id="61" name="Obj [o505]"/>
          <p:cNvSpPr txBox="1"/>
          <p:nvPr/>
        </p:nvSpPr>
        <p:spPr>
          <a:xfrm>
            <a:off x="441794" y="1595380"/>
            <a:ext cx="6843091" cy="228103"/>
          </a:xfrm>
          <a:prstGeom prst="rect">
            <a:avLst/>
          </a:prstGeom>
          <a:noFill/>
          <a:ln/>
        </p:spPr>
        <p:txBody>
          <a:bodyPr wrap="square" lIns="0" tIns="0" rIns="0" bIns="0" rtlCol="0" anchor="t"/>
          <a:lstStyle/>
          <a:p>
            <a:pPr indent="0" marL="0">
              <a:buNone/>
            </a:pPr>
            <a:r>
              <a:rPr lang="en-US" sz="1208" dirty="0">
                <a:solidFill>
                  <a:srgbClr val="2D2D2D"/>
                </a:solidFill>
                <a:latin typeface="Arial" pitchFamily="34" charset="0"/>
                <a:ea typeface="Arial" pitchFamily="34" charset="-122"/>
                <a:cs typeface="Arial" pitchFamily="34" charset="-120"/>
              </a:rPr>
              <a:t>Buscamos que el conjunto tenga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ζ</m:t>
                        </m:r>
                      </m:e>
                      <m:sub>
                        <m:r>
                          <m:rPr>
                            <m:sty m:val="p"/>
                          </m:rPr>
                          <a:rPr lang="es-ES" sz="1208">
                            <a:solidFill>
                              <a:srgbClr val="2D2D2D"/>
                            </a:solidFill>
                            <a:latin typeface="Cambria Math" panose="02040503050406030204" pitchFamily="18" charset="0"/>
                          </a:rPr>
                          <m:t xml:space="preserve">1</m:t>
                        </m:r>
                      </m:sub>
                    </m:sSub>
                    <m:r>
                      <m:rPr>
                        <m:sty m:val="p"/>
                      </m:rPr>
                      <a:rPr lang="es-ES" sz="1208">
                        <a:solidFill>
                          <a:srgbClr val="2D2D2D"/>
                        </a:solidFill>
                        <a:latin typeface="Cambria Math" panose="02040503050406030204" pitchFamily="18" charset="0"/>
                      </a:rPr>
                      <m:t xml:space="preserve">&gt;</m:t>
                    </m:r>
                    <m:sSub>
                      <m:sSubPr>
                        <m:ctrlPr>
                          <a:rPr lang="es-ES" sz="1208" i="1">
                            <a:latin typeface="Cambria Math" panose="02040503050406030204" pitchFamily="18" charset="0"/>
                          </a:rPr>
                        </m:ctrlPr>
                      </m:sSubPr>
                      <m:e>
                        <m:r>
                          <a:rPr lang="es-ES" sz="1208" i="1">
                            <a:solidFill>
                              <a:srgbClr val="2D2D2D"/>
                            </a:solidFill>
                            <a:latin typeface="Cambria Math" panose="02040503050406030204" pitchFamily="18" charset="0"/>
                          </a:rPr>
                          <m:t xml:space="preserve">ζ</m:t>
                        </m:r>
                      </m:e>
                      <m:sub>
                        <m:r>
                          <m:rPr>
                            <m:sty m:val="p"/>
                          </m:rPr>
                          <a:rPr lang="es-ES" sz="1208">
                            <a:solidFill>
                              <a:srgbClr val="2D2D2D"/>
                            </a:solidFill>
                            <a:latin typeface="Cambria Math" panose="02040503050406030204" pitchFamily="18" charset="0"/>
                          </a:rPr>
                          <m:t xml:space="preserve">0</m:t>
                        </m:r>
                      </m:sub>
                    </m:sSub>
                  </m:oMath>
                </a14:m>
              </mc:Choice>
              <mc:Fallback>
                <a:r>
                  <a:rPr lang="en-US" sz="1208" dirty="0">
                    <a:solidFill>
                      <a:srgbClr val="2D2D2D"/>
                    </a:solidFill>
                    <a:latin typeface="Arial" pitchFamily="34" charset="0"/>
                    <a:ea typeface="Arial" pitchFamily="34" charset="-122"/>
                    <a:cs typeface="Arial" pitchFamily="34" charset="-120"/>
                  </a:rPr>
                  <a:t>ζ1 &gt; ζ0</a:t>
                </a:r>
              </mc:Fallback>
            </mc:AlternateContent>
            <a:r>
              <a:rPr lang="en-US" sz="1208" dirty="0">
                <a:solidFill>
                  <a:srgbClr val="2D2D2D"/>
                </a:solidFill>
                <a:latin typeface="Arial" pitchFamily="34" charset="0"/>
                <a:ea typeface="Arial" pitchFamily="34" charset="-122"/>
                <a:cs typeface="Arial" pitchFamily="34" charset="-120"/>
              </a:rPr>
              <a:t>, con la misma frecuencia natural:</a:t>
            </a:r>
            <a:endParaRPr lang="en-US" sz="1208" dirty="0"/>
          </a:p>
        </p:txBody>
      </p:sp>
      <p:sp>
        <p:nvSpPr>
          <p:cNvPr id="62" name="Obj [o506]"/>
          <p:cNvSpPr/>
          <p:nvPr/>
        </p:nvSpPr>
        <p:spPr>
          <a:xfrm>
            <a:off x="441794" y="1899517"/>
            <a:ext cx="6843091" cy="95042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3" name="Obj [o507]"/>
              <p:cNvSpPr txBox="1"/>
              <p:nvPr/>
            </p:nvSpPr>
            <p:spPr>
              <a:xfrm>
                <a:off x="441794" y="1899517"/>
                <a:ext cx="6843091" cy="95042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H</m:t>
                          </m:r>
                        </m:e>
                        <m:sub>
                          <m:r>
                            <m:rPr>
                              <m:sty m:val="p"/>
                            </m:rPr>
                            <a:rPr lang="es-ES" sz="2600">
                              <a:solidFill>
                                <a:srgbClr val="1F4E79"/>
                              </a:solidFill>
                              <a:latin typeface="Cambria Math" panose="02040503050406030204" pitchFamily="18" charset="0"/>
                            </a:rPr>
                            <m:t xml:space="preserve">comp</m:t>
                          </m:r>
                        </m:sub>
                      </m:sSub>
                      <m:r>
                        <a:rPr lang="es-ES" sz="2600" i="1">
                          <a:solidFill>
                            <a:srgbClr val="1F4E79"/>
                          </a:solidFill>
                          <a:latin typeface="Cambria Math" panose="02040503050406030204" pitchFamily="18" charset="0"/>
                        </a:rPr>
                        <m:t xml:space="preserve">(s)=</m:t>
                      </m:r>
                      <m:f>
                        <m:fPr>
                          <m:ctrlPr>
                            <a:rPr lang="es-ES" sz="2600" i="1">
                              <a:latin typeface="Cambria Math" panose="02040503050406030204" pitchFamily="18" charset="0"/>
                            </a:rPr>
                          </m:ctrlPr>
                        </m:fPr>
                        <m:num>
                          <m:sSup>
                            <m:sSupPr>
                              <m:ctrlPr>
                                <a:rPr lang="es-ES" sz="2600" i="1">
                                  <a:latin typeface="Cambria Math" panose="02040503050406030204" pitchFamily="18" charset="0"/>
                                </a:rPr>
                              </m:ctrlPr>
                            </m:sSupPr>
                            <m:e>
                              <m:r>
                                <a:rPr lang="es-ES" sz="2600" i="1">
                                  <a:solidFill>
                                    <a:srgbClr val="1F4E79"/>
                                  </a:solidFill>
                                  <a:latin typeface="Cambria Math" panose="02040503050406030204" pitchFamily="18" charset="0"/>
                                </a:rPr>
                                <m:t xml:space="preserve">s</m:t>
                              </m:r>
                            </m:e>
                            <m:sup>
                              <m:r>
                                <a:rPr lang="es-ES" sz="2600" i="1">
                                  <a:solidFill>
                                    <a:srgbClr val="1F4E79"/>
                                  </a:solidFill>
                                  <a:latin typeface="Cambria Math" panose="02040503050406030204" pitchFamily="18" charset="0"/>
                                </a:rPr>
                                <m:t xml:space="preserve">2</m:t>
                              </m:r>
                            </m:sup>
                          </m:sSup>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0</m:t>
                              </m:r>
                            </m:sub>
                          </m:sSub>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sSup>
                            <m:sSupPr>
                              <m:ctrlPr>
                                <a:rPr lang="es-ES" sz="2600" i="1">
                                  <a:latin typeface="Cambria Math" panose="02040503050406030204" pitchFamily="18" charset="0"/>
                                </a:rPr>
                              </m:ctrlPr>
                            </m:sSupPr>
                            <m:e>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e>
                            <m:sup>
                              <m:r>
                                <a:rPr lang="es-ES" sz="2600" i="1">
                                  <a:solidFill>
                                    <a:srgbClr val="1F4E79"/>
                                  </a:solidFill>
                                  <a:latin typeface="Cambria Math" panose="02040503050406030204" pitchFamily="18" charset="0"/>
                                </a:rPr>
                                <m:t xml:space="preserve">2</m:t>
                              </m:r>
                            </m:sup>
                          </m:sSup>
                        </m:num>
                        <m:den>
                          <m:sSup>
                            <m:sSupPr>
                              <m:ctrlPr>
                                <a:rPr lang="es-ES" sz="2600" i="1">
                                  <a:latin typeface="Cambria Math" panose="02040503050406030204" pitchFamily="18" charset="0"/>
                                </a:rPr>
                              </m:ctrlPr>
                            </m:sSupPr>
                            <m:e>
                              <m:r>
                                <a:rPr lang="es-ES" sz="2600" i="1">
                                  <a:solidFill>
                                    <a:srgbClr val="1F4E79"/>
                                  </a:solidFill>
                                  <a:latin typeface="Cambria Math" panose="02040503050406030204" pitchFamily="18" charset="0"/>
                                </a:rPr>
                                <m:t xml:space="preserve">s</m:t>
                              </m:r>
                            </m:e>
                            <m:sup>
                              <m:r>
                                <a:rPr lang="es-ES" sz="2600" i="1">
                                  <a:solidFill>
                                    <a:srgbClr val="1F4E79"/>
                                  </a:solidFill>
                                  <a:latin typeface="Cambria Math" panose="02040503050406030204" pitchFamily="18" charset="0"/>
                                </a:rPr>
                                <m:t xml:space="preserve">2</m:t>
                              </m:r>
                            </m:sup>
                          </m:sSup>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1</m:t>
                              </m:r>
                            </m:sub>
                          </m:sSub>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sSup>
                            <m:sSupPr>
                              <m:ctrlPr>
                                <a:rPr lang="es-ES" sz="2600" i="1">
                                  <a:latin typeface="Cambria Math" panose="02040503050406030204" pitchFamily="18" charset="0"/>
                                </a:rPr>
                              </m:ctrlPr>
                            </m:sSupPr>
                            <m:e>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e>
                            <m:sup>
                              <m:r>
                                <a:rPr lang="es-ES" sz="2600" i="1">
                                  <a:solidFill>
                                    <a:srgbClr val="1F4E79"/>
                                  </a:solidFill>
                                  <a:latin typeface="Cambria Math" panose="02040503050406030204" pitchFamily="18" charset="0"/>
                                </a:rPr>
                                <m:t xml:space="preserve">2</m:t>
                              </m:r>
                            </m:sup>
                          </m:sSup>
                        </m:den>
                      </m:f>
                    </m:oMath>
                  </m:oMathPara>
                </a14:m>
                <a:endParaRPr lang="es-ES"/>
              </a:p>
            </p:txBody>
          </p:sp>
        </mc:Choice>
        <mc:Fallback>
          <p:sp>
            <p:nvSpPr>
              <p:cNvPr id="63" name="Obj [o507]"/>
              <p:cNvSpPr txBox="1"/>
              <p:nvPr/>
            </p:nvSpPr>
            <p:spPr>
              <a:xfrm>
                <a:off x="441794" y="1899517"/>
                <a:ext cx="6843091" cy="95042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Hcomp(s) = (s² + 2ζ0ωn·s + ωn²) / (s² + 2ζ1ωn·s + ωn²)</a:t>
                </a:r>
                <a:endParaRPr lang="en-US" sz="2071" dirty="0"/>
              </a:p>
            </p:txBody>
          </p:sp>
        </mc:Fallback>
      </mc:AlternateContent>
      <p:sp>
        <p:nvSpPr>
          <p:cNvPr id="64" name="Obj [o508]"/>
          <p:cNvSpPr txBox="1"/>
          <p:nvPr/>
        </p:nvSpPr>
        <p:spPr>
          <a:xfrm>
            <a:off x="441794" y="2963998"/>
            <a:ext cx="6843091" cy="228103"/>
          </a:xfrm>
          <a:prstGeom prst="rect">
            <a:avLst/>
          </a:prstGeom>
          <a:noFill/>
          <a:ln/>
        </p:spPr>
        <p:txBody>
          <a:bodyPr wrap="square" lIns="0" tIns="0" rIns="0" bIns="0" rtlCol="0" anchor="t"/>
          <a:lstStyle/>
          <a:p>
            <a:pPr indent="0" marL="0">
              <a:buNone/>
            </a:pPr>
            <a:r>
              <a:rPr lang="en-US" sz="1294" dirty="0">
                <a:solidFill>
                  <a:srgbClr val="2D2D2D"/>
                </a:solidFill>
                <a:latin typeface="Arial" pitchFamily="34" charset="0"/>
                <a:ea typeface="Arial" pitchFamily="34" charset="-122"/>
                <a:cs typeface="Arial" pitchFamily="34" charset="-120"/>
              </a:rPr>
              <a:t>Separando el término constante, el segundo término es un pasabanda, </a:t>
            </a:r>
            <mc:AlternateContent xmlns:mc="http://schemas.openxmlformats.org/markup-compatibility/2006">
              <mc:Choice xmlns:a14="http://schemas.microsoft.com/office/drawing/2010/main" Requires="a14">
                <a14:m>
                  <m:oMath xmlns:m="http://schemas.openxmlformats.org/officeDocument/2006/math">
                    <m:sSub>
                      <m:sSubPr>
                        <m:ctrlPr>
                          <a:rPr lang="es-ES" sz="1294" i="1">
                            <a:latin typeface="Cambria Math" panose="02040503050406030204" pitchFamily="18" charset="0"/>
                          </a:rPr>
                        </m:ctrlPr>
                      </m:sSubPr>
                      <m:e>
                        <m:r>
                          <a:rPr lang="es-ES" sz="1294" i="1">
                            <a:solidFill>
                              <a:srgbClr val="2D2D2D"/>
                            </a:solidFill>
                            <a:latin typeface="Cambria Math" panose="02040503050406030204" pitchFamily="18" charset="0"/>
                          </a:rPr>
                          <m:t xml:space="preserve">H</m:t>
                        </m:r>
                      </m:e>
                      <m:sub>
                        <m:r>
                          <m:rPr>
                            <m:sty m:val="p"/>
                          </m:rPr>
                          <a:rPr lang="es-ES" sz="1294">
                            <a:solidFill>
                              <a:srgbClr val="2D2D2D"/>
                            </a:solidFill>
                            <a:latin typeface="Cambria Math" panose="02040503050406030204" pitchFamily="18" charset="0"/>
                          </a:rPr>
                          <m:t xml:space="preserve">BP</m:t>
                        </m:r>
                      </m:sub>
                    </m:sSub>
                  </m:oMath>
                </a14:m>
              </mc:Choice>
              <mc:Fallback>
                <a:r>
                  <a:rPr lang="en-US" sz="1294" dirty="0">
                    <a:solidFill>
                      <a:srgbClr val="2D2D2D"/>
                    </a:solidFill>
                    <a:latin typeface="Arial" pitchFamily="34" charset="0"/>
                    <a:ea typeface="Arial" pitchFamily="34" charset="-122"/>
                    <a:cs typeface="Arial" pitchFamily="34" charset="-120"/>
                  </a:rPr>
                  <a:t>HBP</a:t>
                </a:r>
              </mc:Fallback>
            </mc:AlternateContent>
            <a:r>
              <a:rPr lang="en-US" sz="1294" dirty="0">
                <a:solidFill>
                  <a:srgbClr val="2D2D2D"/>
                </a:solidFill>
                <a:latin typeface="Arial" pitchFamily="34" charset="0"/>
                <a:ea typeface="Arial" pitchFamily="34" charset="-122"/>
                <a:cs typeface="Arial" pitchFamily="34" charset="-120"/>
              </a:rPr>
              <a:t>(s):</a:t>
            </a:r>
            <a:endParaRPr lang="en-US" sz="1294" dirty="0"/>
          </a:p>
        </p:txBody>
      </p:sp>
      <p:sp>
        <p:nvSpPr>
          <p:cNvPr id="65" name="Obj [o509]"/>
          <p:cNvSpPr/>
          <p:nvPr/>
        </p:nvSpPr>
        <p:spPr>
          <a:xfrm>
            <a:off x="441794" y="3268135"/>
            <a:ext cx="6843091" cy="98844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6" name="Obj [o510]"/>
              <p:cNvSpPr txBox="1"/>
              <p:nvPr/>
            </p:nvSpPr>
            <p:spPr>
              <a:xfrm>
                <a:off x="441794" y="3268135"/>
                <a:ext cx="6843091" cy="98844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H</m:t>
                          </m:r>
                        </m:e>
                        <m:sub>
                          <m:r>
                            <m:rPr>
                              <m:sty m:val="p"/>
                            </m:rPr>
                            <a:rPr lang="es-ES" sz="2600">
                              <a:solidFill>
                                <a:srgbClr val="1F4E79"/>
                              </a:solidFill>
                              <a:latin typeface="Cambria Math" panose="02040503050406030204" pitchFamily="18" charset="0"/>
                            </a:rPr>
                            <m:t xml:space="preserve">comp</m:t>
                          </m:r>
                        </m:sub>
                      </m:sSub>
                      <m:r>
                        <a:rPr lang="es-ES" sz="2600" i="1">
                          <a:solidFill>
                            <a:srgbClr val="1F4E79"/>
                          </a:solidFill>
                          <a:latin typeface="Cambria Math" panose="02040503050406030204" pitchFamily="18" charset="0"/>
                        </a:rPr>
                        <m:t xml:space="preserve">(s)=1−</m:t>
                      </m:r>
                      <m:f>
                        <m:fPr>
                          <m:ctrlPr>
                            <a:rPr lang="es-ES" sz="2600" i="1">
                              <a:latin typeface="Cambria Math" panose="02040503050406030204" pitchFamily="18" charset="0"/>
                            </a:rPr>
                          </m:ctrlPr>
                        </m:fPr>
                        <m:num>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1</m:t>
                              </m:r>
                            </m:sub>
                          </m:sSub>
                          <m:r>
                            <a:rPr lang="es-ES" sz="2600" i="1">
                              <a:solidFill>
                                <a:srgbClr val="1F4E79"/>
                              </a:solidFill>
                              <a:latin typeface="Cambria Math" panose="02040503050406030204" pitchFamily="18" charset="0"/>
                            </a:rPr>
                            <m:t xml:space="preserve">−</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0</m:t>
                              </m:r>
                            </m:sub>
                          </m:sSub>
                          <m:r>
                            <a:rPr lang="es-ES" sz="2600" i="1">
                              <a:solidFill>
                                <a:srgbClr val="1F4E79"/>
                              </a:solidFill>
                              <a:latin typeface="Cambria Math" panose="02040503050406030204" pitchFamily="18" charset="0"/>
                            </a:rPr>
                            <m:t xml:space="preserve">)</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num>
                        <m:den>
                          <m:sSup>
                            <m:sSupPr>
                              <m:ctrlPr>
                                <a:rPr lang="es-ES" sz="2600" i="1">
                                  <a:latin typeface="Cambria Math" panose="02040503050406030204" pitchFamily="18" charset="0"/>
                                </a:rPr>
                              </m:ctrlPr>
                            </m:sSupPr>
                            <m:e>
                              <m:r>
                                <a:rPr lang="es-ES" sz="2600" i="1">
                                  <a:solidFill>
                                    <a:srgbClr val="1F4E79"/>
                                  </a:solidFill>
                                  <a:latin typeface="Cambria Math" panose="02040503050406030204" pitchFamily="18" charset="0"/>
                                </a:rPr>
                                <m:t xml:space="preserve">s</m:t>
                              </m:r>
                            </m:e>
                            <m:sup>
                              <m:r>
                                <a:rPr lang="es-ES" sz="2600" i="1">
                                  <a:solidFill>
                                    <a:srgbClr val="1F4E79"/>
                                  </a:solidFill>
                                  <a:latin typeface="Cambria Math" panose="02040503050406030204" pitchFamily="18" charset="0"/>
                                </a:rPr>
                                <m:t xml:space="preserve">2</m:t>
                              </m:r>
                            </m:sup>
                          </m:sSup>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1</m:t>
                              </m:r>
                            </m:sub>
                          </m:sSub>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sSup>
                            <m:sSupPr>
                              <m:ctrlPr>
                                <a:rPr lang="es-ES" sz="2600" i="1">
                                  <a:latin typeface="Cambria Math" panose="02040503050406030204" pitchFamily="18" charset="0"/>
                                </a:rPr>
                              </m:ctrlPr>
                            </m:sSupPr>
                            <m:e>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e>
                            <m:sup>
                              <m:r>
                                <a:rPr lang="es-ES" sz="2600" i="1">
                                  <a:solidFill>
                                    <a:srgbClr val="1F4E79"/>
                                  </a:solidFill>
                                  <a:latin typeface="Cambria Math" panose="02040503050406030204" pitchFamily="18" charset="0"/>
                                </a:rPr>
                                <m:t xml:space="preserve">2</m:t>
                              </m:r>
                            </m:sup>
                          </m:sSup>
                        </m:den>
                      </m:f>
                    </m:oMath>
                  </m:oMathPara>
                </a14:m>
                <a:endParaRPr lang="es-ES"/>
              </a:p>
            </p:txBody>
          </p:sp>
        </mc:Choice>
        <mc:Fallback>
          <p:sp>
            <p:nvSpPr>
              <p:cNvPr id="66" name="Obj [o510]"/>
              <p:cNvSpPr txBox="1"/>
              <p:nvPr/>
            </p:nvSpPr>
            <p:spPr>
              <a:xfrm>
                <a:off x="441794" y="3268135"/>
                <a:ext cx="6843091" cy="988447"/>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Hcomp(s) = 1 − 2(ζ1 − ζ0)ωn·s / (s² + 2ζ1ωn·s + ωn²)</a:t>
                </a:r>
                <a:endParaRPr lang="en-US" sz="2071" dirty="0"/>
              </a:p>
            </p:txBody>
          </p:sp>
        </mc:Fallback>
      </mc:AlternateContent>
      <p:sp>
        <p:nvSpPr>
          <p:cNvPr id="67" name="Obj [o51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ec. (comp-afe); se usan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ζ</m:t>
                        </m:r>
                      </m:e>
                      <m:sub>
                        <m:r>
                          <m:rPr>
                            <m:sty m:val="p"/>
                          </m:rPr>
                          <a:rPr lang="es-ES" sz="800">
                            <a:solidFill>
                              <a:srgbClr val="6B6B6B"/>
                            </a:solidFill>
                            <a:latin typeface="Cambria Math" panose="02040503050406030204" pitchFamily="18" charset="0"/>
                          </a:rPr>
                          <m:t xml:space="preserve">0</m:t>
                        </m:r>
                      </m:sub>
                    </m:sSub>
                  </m:oMath>
                </a14:m>
              </mc:Choice>
              <mc:Fallback>
                <a:r>
                  <a:rPr lang="en-US" sz="800" dirty="0">
                    <a:solidFill>
                      <a:srgbClr val="6B6B6B"/>
                    </a:solidFill>
                    <a:latin typeface="Arial" pitchFamily="34" charset="0"/>
                    <a:ea typeface="Arial" pitchFamily="34" charset="-122"/>
                    <a:cs typeface="Arial" pitchFamily="34" charset="-120"/>
                  </a:rPr>
                  <a:t>ζ0</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ζ</m:t>
                        </m:r>
                      </m:e>
                      <m:sub>
                        <m:r>
                          <m:rPr>
                            <m:sty m:val="p"/>
                          </m:rPr>
                          <a:rPr lang="es-ES" sz="800">
                            <a:solidFill>
                              <a:srgbClr val="6B6B6B"/>
                            </a:solidFill>
                            <a:latin typeface="Cambria Math" panose="02040503050406030204" pitchFamily="18" charset="0"/>
                          </a:rPr>
                          <m:t xml:space="preserve">1</m:t>
                        </m:r>
                      </m:sub>
                    </m:sSub>
                  </m:oMath>
                </a14:m>
              </mc:Choice>
              <mc:Fallback>
                <a:r>
                  <a:rPr lang="en-US" sz="800" dirty="0">
                    <a:solidFill>
                      <a:srgbClr val="6B6B6B"/>
                    </a:solidFill>
                    <a:latin typeface="Arial" pitchFamily="34" charset="0"/>
                    <a:ea typeface="Arial" pitchFamily="34" charset="-122"/>
                    <a:cs typeface="Arial" pitchFamily="34" charset="-120"/>
                  </a:rPr>
                  <a:t>ζ1</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ω</m:t>
                        </m:r>
                      </m:e>
                      <m:sub>
                        <m:r>
                          <a:rPr lang="es-ES" sz="800" i="1">
                            <a:solidFill>
                              <a:srgbClr val="6B6B6B"/>
                            </a:solidFill>
                            <a:latin typeface="Cambria Math" panose="02040503050406030204" pitchFamily="18" charset="0"/>
                          </a:rPr>
                          <m:t xml:space="preserve">n</m:t>
                        </m:r>
                      </m:sub>
                    </m:sSub>
                  </m:oMath>
                </a14:m>
              </mc:Choice>
              <mc:Fallback>
                <a:r>
                  <a:rPr lang="en-US" sz="800" dirty="0">
                    <a:solidFill>
                      <a:srgbClr val="6B6B6B"/>
                    </a:solidFill>
                    <a:latin typeface="Arial" pitchFamily="34" charset="0"/>
                    <a:ea typeface="Arial" pitchFamily="34" charset="-122"/>
                    <a:cs typeface="Arial" pitchFamily="34" charset="-120"/>
                  </a:rPr>
                  <a:t>ωn</a:t>
                </a:r>
              </mc:Fallback>
            </mc:AlternateContent>
            <a:r>
              <a:rPr lang="en-US" sz="800" dirty="0">
                <a:solidFill>
                  <a:srgbClr val="6B6B6B"/>
                </a:solidFill>
                <a:latin typeface="Arial" pitchFamily="34" charset="0"/>
                <a:ea typeface="Arial" pitchFamily="34" charset="-122"/>
                <a:cs typeface="Arial" pitchFamily="34" charset="-120"/>
              </a:rPr>
              <a:t> (en Ma: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γ</m:t>
                        </m:r>
                      </m:e>
                      <m:sub>
                        <m:r>
                          <m:rPr>
                            <m:sty m:val="p"/>
                          </m:rPr>
                          <a:rPr lang="es-ES" sz="800">
                            <a:solidFill>
                              <a:srgbClr val="6B6B6B"/>
                            </a:solidFill>
                            <a:latin typeface="Cambria Math" panose="02040503050406030204" pitchFamily="18" charset="0"/>
                          </a:rPr>
                          <m:t xml:space="preserve">0</m:t>
                        </m:r>
                      </m:sub>
                    </m:sSub>
                  </m:oMath>
                </a14:m>
              </mc:Choice>
              <mc:Fallback>
                <a:r>
                  <a:rPr lang="en-US" sz="800" dirty="0">
                    <a:solidFill>
                      <a:srgbClr val="6B6B6B"/>
                    </a:solidFill>
                    <a:latin typeface="Arial" pitchFamily="34" charset="0"/>
                    <a:ea typeface="Arial" pitchFamily="34" charset="-122"/>
                    <a:cs typeface="Arial" pitchFamily="34" charset="-120"/>
                  </a:rPr>
                  <a:t>γ0</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γ</m:t>
                        </m:r>
                      </m:e>
                      <m:sub>
                        <m:r>
                          <m:rPr>
                            <m:sty m:val="p"/>
                          </m:rPr>
                          <a:rPr lang="es-ES" sz="800">
                            <a:solidFill>
                              <a:srgbClr val="6B6B6B"/>
                            </a:solidFill>
                            <a:latin typeface="Cambria Math" panose="02040503050406030204" pitchFamily="18" charset="0"/>
                          </a:rPr>
                          <m:t xml:space="preserve">1</m:t>
                        </m:r>
                      </m:sub>
                    </m:sSub>
                  </m:oMath>
                </a14:m>
              </mc:Choice>
              <mc:Fallback>
                <a:r>
                  <a:rPr lang="en-US" sz="800" dirty="0">
                    <a:solidFill>
                      <a:srgbClr val="6B6B6B"/>
                    </a:solidFill>
                    <a:latin typeface="Arial" pitchFamily="34" charset="0"/>
                    <a:ea typeface="Arial" pitchFamily="34" charset="-122"/>
                    <a:cs typeface="Arial" pitchFamily="34" charset="-120"/>
                  </a:rPr>
                  <a:t>γ1</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ω</m:t>
                        </m:r>
                      </m:e>
                      <m:sub>
                        <m:r>
                          <m:rPr>
                            <m:sty m:val="p"/>
                          </m:rPr>
                          <a:rPr lang="es-ES" sz="800">
                            <a:solidFill>
                              <a:srgbClr val="6B6B6B"/>
                            </a:solidFill>
                            <a:latin typeface="Cambria Math" panose="02040503050406030204" pitchFamily="18" charset="0"/>
                          </a:rPr>
                          <m:t xml:space="preserve">0</m:t>
                        </m:r>
                      </m:sub>
                    </m:sSub>
                  </m:oMath>
                </a14:m>
              </mc:Choice>
              <mc:Fallback>
                <a:r>
                  <a:rPr lang="en-US" sz="800" dirty="0">
                    <a:solidFill>
                      <a:srgbClr val="6B6B6B"/>
                    </a:solidFill>
                    <a:latin typeface="Arial" pitchFamily="34" charset="0"/>
                    <a:ea typeface="Arial" pitchFamily="34" charset="-122"/>
                    <a:cs typeface="Arial" pitchFamily="34" charset="-120"/>
                  </a:rPr>
                  <a:t>ω0</a:t>
                </a:r>
              </mc:Fallback>
            </mc:AlternateContent>
            <a:r>
              <a:rPr lang="en-US" sz="800" dirty="0">
                <a:solidFill>
                  <a:srgbClr val="6B6B6B"/>
                </a:solidFill>
                <a:latin typeface="Arial" pitchFamily="34" charset="0"/>
                <a:ea typeface="Arial" pitchFamily="34" charset="-122"/>
                <a:cs typeface="Arial" pitchFamily="34" charset="-120"/>
              </a:rPr>
              <a:t>).</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41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fill="hold" nodeType="withEffect">
                                  <p:stCondLst>
                                    <p:cond delay="48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22" presetClass="entr" presetSubtype="8" fill="hold" nodeType="withEffect">
                                  <p:stCondLst>
                                    <p:cond delay="55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10" presetClass="entr" presetSubtype="0" fill="hold" nodeType="withEffect">
                                  <p:stCondLst>
                                    <p:cond delay="62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22" presetClass="entr" presetSubtype="8" fill="hold" nodeType="withEffect">
                                  <p:stCondLst>
                                    <p:cond delay="69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10" presetClass="entr" presetSubtype="0" fill="hold" nodeType="withEffect">
                                  <p:stCondLst>
                                    <p:cond delay="76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22" presetClass="entr" presetSubtype="8" fill="hold" nodeType="withEffect">
                                  <p:stCondLst>
                                    <p:cond delay="83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10" presetClass="entr" presetSubtype="0" fill="hold" nodeType="withEffect">
                                  <p:stCondLst>
                                    <p:cond delay="90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22" presetClass="entr" presetSubtype="8" fill="hold" nodeType="withEffect">
                                  <p:stCondLst>
                                    <p:cond delay="97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10" presetClass="entr" presetSubtype="0" fill="hold" nodeType="withEffect">
                                  <p:stCondLst>
                                    <p:cond delay="104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22" presetClass="entr" presetSubtype="8" fill="hold" nodeType="withEffect">
                                  <p:stCondLst>
                                    <p:cond delay="111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4" presetID="10" presetClass="entr" presetSubtype="0" fill="hold" nodeType="withEffect">
                                  <p:stCondLst>
                                    <p:cond delay="118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par>
                                <p:cTn id="47" presetID="22" presetClass="entr" presetSubtype="8" fill="hold" nodeType="withEffect">
                                  <p:stCondLst>
                                    <p:cond delay="125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500"/>
                                        <p:tgtEl>
                                          <p:spTgt spid="17"/>
                                        </p:tgtEl>
                                      </p:cBhvr>
                                    </p:animEffect>
                                  </p:childTnLst>
                                </p:cTn>
                              </p:par>
                              <p:par>
                                <p:cTn id="50" presetID="10" presetClass="entr" presetSubtype="0" fill="hold" nodeType="withEffect">
                                  <p:stCondLst>
                                    <p:cond delay="13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22" presetClass="entr" presetSubtype="8" fill="hold" nodeType="withEffect">
                                  <p:stCondLst>
                                    <p:cond delay="130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500"/>
                                        <p:tgtEl>
                                          <p:spTgt spid="19"/>
                                        </p:tgtEl>
                                      </p:cBhvr>
                                    </p:animEffect>
                                  </p:childTnLst>
                                </p:cTn>
                              </p:par>
                              <p:par>
                                <p:cTn id="56" presetID="22" presetClass="entr" presetSubtype="8" fill="hold" nodeType="withEffect">
                                  <p:stCondLst>
                                    <p:cond delay="1300"/>
                                  </p:stCondLst>
                                  <p:childTnLst>
                                    <p:set>
                                      <p:cBhvr>
                                        <p:cTn id="57" dur="1" fill="hold">
                                          <p:stCondLst>
                                            <p:cond delay="0"/>
                                          </p:stCondLst>
                                        </p:cTn>
                                        <p:tgtEl>
                                          <p:spTgt spid="20"/>
                                        </p:tgtEl>
                                        <p:attrNameLst>
                                          <p:attrName>style.visibility</p:attrName>
                                        </p:attrNameLst>
                                      </p:cBhvr>
                                      <p:to>
                                        <p:strVal val="visible"/>
                                      </p:to>
                                    </p:set>
                                    <p:animEffect transition="in" filter="wipe(left)">
                                      <p:cBhvr>
                                        <p:cTn id="58" dur="500"/>
                                        <p:tgtEl>
                                          <p:spTgt spid="20"/>
                                        </p:tgtEl>
                                      </p:cBhvr>
                                    </p:animEffect>
                                  </p:childTnLst>
                                </p:cTn>
                              </p:par>
                              <p:par>
                                <p:cTn id="59" presetID="10" presetClass="entr" presetSubtype="0" fill="hold" nodeType="withEffect">
                                  <p:stCondLst>
                                    <p:cond delay="4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350"/>
                                        <p:tgtEl>
                                          <p:spTgt spid="3"/>
                                        </p:tgtEl>
                                      </p:cBhvr>
                                    </p:animEffect>
                                    <p:set>
                                      <p:cBhvr>
                                        <p:cTn id="66" dur="1" fill="hold">
                                          <p:stCondLst>
                                            <p:cond delay="349"/>
                                          </p:stCondLst>
                                        </p:cTn>
                                        <p:tgtEl>
                                          <p:spTgt spid="3"/>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350"/>
                                        <p:tgtEl>
                                          <p:spTgt spid="4"/>
                                        </p:tgtEl>
                                      </p:cBhvr>
                                    </p:animEffect>
                                    <p:set>
                                      <p:cBhvr>
                                        <p:cTn id="69" dur="1" fill="hold">
                                          <p:stCondLst>
                                            <p:cond delay="349"/>
                                          </p:stCondLst>
                                        </p:cTn>
                                        <p:tgtEl>
                                          <p:spTgt spid="4"/>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350"/>
                                        <p:tgtEl>
                                          <p:spTgt spid="5"/>
                                        </p:tgtEl>
                                      </p:cBhvr>
                                    </p:animEffect>
                                    <p:set>
                                      <p:cBhvr>
                                        <p:cTn id="72" dur="1" fill="hold">
                                          <p:stCondLst>
                                            <p:cond delay="349"/>
                                          </p:stCondLst>
                                        </p:cTn>
                                        <p:tgtEl>
                                          <p:spTgt spid="5"/>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350"/>
                                        <p:tgtEl>
                                          <p:spTgt spid="6"/>
                                        </p:tgtEl>
                                      </p:cBhvr>
                                    </p:animEffect>
                                    <p:set>
                                      <p:cBhvr>
                                        <p:cTn id="75" dur="1" fill="hold">
                                          <p:stCondLst>
                                            <p:cond delay="349"/>
                                          </p:stCondLst>
                                        </p:cTn>
                                        <p:tgtEl>
                                          <p:spTgt spid="6"/>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350"/>
                                        <p:tgtEl>
                                          <p:spTgt spid="7"/>
                                        </p:tgtEl>
                                      </p:cBhvr>
                                    </p:animEffect>
                                    <p:set>
                                      <p:cBhvr>
                                        <p:cTn id="78" dur="1" fill="hold">
                                          <p:stCondLst>
                                            <p:cond delay="349"/>
                                          </p:stCondLst>
                                        </p:cTn>
                                        <p:tgtEl>
                                          <p:spTgt spid="7"/>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350"/>
                                        <p:tgtEl>
                                          <p:spTgt spid="8"/>
                                        </p:tgtEl>
                                      </p:cBhvr>
                                    </p:animEffect>
                                    <p:set>
                                      <p:cBhvr>
                                        <p:cTn id="81" dur="1" fill="hold">
                                          <p:stCondLst>
                                            <p:cond delay="349"/>
                                          </p:stCondLst>
                                        </p:cTn>
                                        <p:tgtEl>
                                          <p:spTgt spid="8"/>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350"/>
                                        <p:tgtEl>
                                          <p:spTgt spid="9"/>
                                        </p:tgtEl>
                                      </p:cBhvr>
                                    </p:animEffect>
                                    <p:set>
                                      <p:cBhvr>
                                        <p:cTn id="84" dur="1" fill="hold">
                                          <p:stCondLst>
                                            <p:cond delay="349"/>
                                          </p:stCondLst>
                                        </p:cTn>
                                        <p:tgtEl>
                                          <p:spTgt spid="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350"/>
                                        <p:tgtEl>
                                          <p:spTgt spid="10"/>
                                        </p:tgtEl>
                                      </p:cBhvr>
                                    </p:animEffect>
                                    <p:set>
                                      <p:cBhvr>
                                        <p:cTn id="87" dur="1" fill="hold">
                                          <p:stCondLst>
                                            <p:cond delay="349"/>
                                          </p:stCondLst>
                                        </p:cTn>
                                        <p:tgtEl>
                                          <p:spTgt spid="10"/>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11"/>
                                        </p:tgtEl>
                                      </p:cBhvr>
                                    </p:animEffect>
                                    <p:set>
                                      <p:cBhvr>
                                        <p:cTn id="90" dur="1" fill="hold">
                                          <p:stCondLst>
                                            <p:cond delay="349"/>
                                          </p:stCondLst>
                                        </p:cTn>
                                        <p:tgtEl>
                                          <p:spTgt spid="11"/>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350"/>
                                        <p:tgtEl>
                                          <p:spTgt spid="12"/>
                                        </p:tgtEl>
                                      </p:cBhvr>
                                    </p:animEffect>
                                    <p:set>
                                      <p:cBhvr>
                                        <p:cTn id="93" dur="1" fill="hold">
                                          <p:stCondLst>
                                            <p:cond delay="349"/>
                                          </p:stCondLst>
                                        </p:cTn>
                                        <p:tgtEl>
                                          <p:spTgt spid="12"/>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350"/>
                                        <p:tgtEl>
                                          <p:spTgt spid="13"/>
                                        </p:tgtEl>
                                      </p:cBhvr>
                                    </p:animEffect>
                                    <p:set>
                                      <p:cBhvr>
                                        <p:cTn id="96" dur="1" fill="hold">
                                          <p:stCondLst>
                                            <p:cond delay="349"/>
                                          </p:stCondLst>
                                        </p:cTn>
                                        <p:tgtEl>
                                          <p:spTgt spid="13"/>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350"/>
                                        <p:tgtEl>
                                          <p:spTgt spid="14"/>
                                        </p:tgtEl>
                                      </p:cBhvr>
                                    </p:animEffect>
                                    <p:set>
                                      <p:cBhvr>
                                        <p:cTn id="99" dur="1" fill="hold">
                                          <p:stCondLst>
                                            <p:cond delay="349"/>
                                          </p:stCondLst>
                                        </p:cTn>
                                        <p:tgtEl>
                                          <p:spTgt spid="14"/>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350"/>
                                        <p:tgtEl>
                                          <p:spTgt spid="15"/>
                                        </p:tgtEl>
                                      </p:cBhvr>
                                    </p:animEffect>
                                    <p:set>
                                      <p:cBhvr>
                                        <p:cTn id="102" dur="1" fill="hold">
                                          <p:stCondLst>
                                            <p:cond delay="349"/>
                                          </p:stCondLst>
                                        </p:cTn>
                                        <p:tgtEl>
                                          <p:spTgt spid="15"/>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350"/>
                                        <p:tgtEl>
                                          <p:spTgt spid="16"/>
                                        </p:tgtEl>
                                      </p:cBhvr>
                                    </p:animEffect>
                                    <p:set>
                                      <p:cBhvr>
                                        <p:cTn id="105" dur="1" fill="hold">
                                          <p:stCondLst>
                                            <p:cond delay="349"/>
                                          </p:stCondLst>
                                        </p:cTn>
                                        <p:tgtEl>
                                          <p:spTgt spid="16"/>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350"/>
                                        <p:tgtEl>
                                          <p:spTgt spid="17"/>
                                        </p:tgtEl>
                                      </p:cBhvr>
                                    </p:animEffect>
                                    <p:set>
                                      <p:cBhvr>
                                        <p:cTn id="108" dur="1" fill="hold">
                                          <p:stCondLst>
                                            <p:cond delay="349"/>
                                          </p:stCondLst>
                                        </p:cTn>
                                        <p:tgtEl>
                                          <p:spTgt spid="17"/>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350"/>
                                        <p:tgtEl>
                                          <p:spTgt spid="18"/>
                                        </p:tgtEl>
                                      </p:cBhvr>
                                    </p:animEffect>
                                    <p:set>
                                      <p:cBhvr>
                                        <p:cTn id="111" dur="1" fill="hold">
                                          <p:stCondLst>
                                            <p:cond delay="349"/>
                                          </p:stCondLst>
                                        </p:cTn>
                                        <p:tgtEl>
                                          <p:spTgt spid="18"/>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350"/>
                                        <p:tgtEl>
                                          <p:spTgt spid="19"/>
                                        </p:tgtEl>
                                      </p:cBhvr>
                                    </p:animEffect>
                                    <p:set>
                                      <p:cBhvr>
                                        <p:cTn id="114" dur="1" fill="hold">
                                          <p:stCondLst>
                                            <p:cond delay="349"/>
                                          </p:stCondLst>
                                        </p:cTn>
                                        <p:tgtEl>
                                          <p:spTgt spid="19"/>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350"/>
                                        <p:tgtEl>
                                          <p:spTgt spid="20"/>
                                        </p:tgtEl>
                                      </p:cBhvr>
                                    </p:animEffect>
                                    <p:set>
                                      <p:cBhvr>
                                        <p:cTn id="117" dur="1" fill="hold">
                                          <p:stCondLst>
                                            <p:cond delay="349"/>
                                          </p:stCondLst>
                                        </p:cTn>
                                        <p:tgtEl>
                                          <p:spTgt spid="20"/>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350"/>
                                        <p:tgtEl>
                                          <p:spTgt spid="21"/>
                                        </p:tgtEl>
                                      </p:cBhvr>
                                    </p:animEffect>
                                    <p:set>
                                      <p:cBhvr>
                                        <p:cTn id="120" dur="1" fill="hold">
                                          <p:stCondLst>
                                            <p:cond delay="349"/>
                                          </p:stCondLst>
                                        </p:cTn>
                                        <p:tgtEl>
                                          <p:spTgt spid="21"/>
                                        </p:tgtEl>
                                        <p:attrNameLst>
                                          <p:attrName>style.visibility</p:attrName>
                                        </p:attrNameLst>
                                      </p:cBhvr>
                                      <p:to>
                                        <p:strVal val="hidden"/>
                                      </p:to>
                                    </p:set>
                                  </p:childTnLst>
                                </p:cTn>
                              </p:par>
                              <p:par>
                                <p:cTn id="121" presetID="10" presetClass="entr" presetSubtype="0" fill="hold" nodeType="withEffect">
                                  <p:stCondLst>
                                    <p:cond delay="450"/>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450"/>
                                        <p:tgtEl>
                                          <p:spTgt spid="22"/>
                                        </p:tgtEl>
                                      </p:cBhvr>
                                    </p:animEffect>
                                  </p:childTnLst>
                                </p:cTn>
                              </p:par>
                              <p:par>
                                <p:cTn id="124" presetID="10" presetClass="entr" presetSubtype="0" grpId="0" fill="hold" nodeType="withEffect">
                                  <p:stCondLst>
                                    <p:cond delay="520"/>
                                  </p:stCondLst>
                                  <p:childTnLst>
                                    <p:set>
                                      <p:cBhvr>
                                        <p:cTn id="125" dur="1" fill="hold">
                                          <p:stCondLst>
                                            <p:cond delay="0"/>
                                          </p:stCondLst>
                                        </p:cTn>
                                        <p:tgtEl>
                                          <p:spTgt spid="23">
                                            <p:txEl>
                                              <p:pRg st="0" end="0"/>
                                            </p:txEl>
                                          </p:spTgt>
                                        </p:tgtEl>
                                        <p:attrNameLst>
                                          <p:attrName>style.visibility</p:attrName>
                                        </p:attrNameLst>
                                      </p:cBhvr>
                                      <p:to>
                                        <p:strVal val="visible"/>
                                      </p:to>
                                    </p:set>
                                    <p:animEffect transition="in" filter="fade">
                                      <p:cBhvr>
                                        <p:cTn id="126" dur="450"/>
                                        <p:tgtEl>
                                          <p:spTgt spid="23">
                                            <p:txEl>
                                              <p:pRg st="0" end="0"/>
                                            </p:txEl>
                                          </p:spTgt>
                                        </p:tgtEl>
                                      </p:cBhvr>
                                    </p:animEffect>
                                  </p:childTnLst>
                                </p:cTn>
                              </p:par>
                              <p:par>
                                <p:cTn id="127" presetID="10" presetClass="entr" presetSubtype="0" grpId="0" fill="hold" nodeType="withEffect">
                                  <p:stCondLst>
                                    <p:cond delay="845"/>
                                  </p:stCondLst>
                                  <p:childTnLst>
                                    <p:set>
                                      <p:cBhvr>
                                        <p:cTn id="128" dur="1" fill="hold">
                                          <p:stCondLst>
                                            <p:cond delay="0"/>
                                          </p:stCondLst>
                                        </p:cTn>
                                        <p:tgtEl>
                                          <p:spTgt spid="23">
                                            <p:txEl>
                                              <p:pRg st="1" end="1"/>
                                            </p:txEl>
                                          </p:spTgt>
                                        </p:tgtEl>
                                        <p:attrNameLst>
                                          <p:attrName>style.visibility</p:attrName>
                                        </p:attrNameLst>
                                      </p:cBhvr>
                                      <p:to>
                                        <p:strVal val="visible"/>
                                      </p:to>
                                    </p:set>
                                    <p:animEffect transition="in" filter="fade">
                                      <p:cBhvr>
                                        <p:cTn id="129" dur="450"/>
                                        <p:tgtEl>
                                          <p:spTgt spid="23">
                                            <p:txEl>
                                              <p:pRg st="1" end="1"/>
                                            </p:txEl>
                                          </p:spTgt>
                                        </p:tgtEl>
                                      </p:cBhvr>
                                    </p:animEffect>
                                  </p:childTnLst>
                                </p:cTn>
                              </p:par>
                              <p:par>
                                <p:cTn id="130" presetID="10" presetClass="entr" presetSubtype="0" grpId="0" fill="hold" nodeType="withEffect">
                                  <p:stCondLst>
                                    <p:cond delay="1170"/>
                                  </p:stCondLst>
                                  <p:childTnLst>
                                    <p:set>
                                      <p:cBhvr>
                                        <p:cTn id="131" dur="1" fill="hold">
                                          <p:stCondLst>
                                            <p:cond delay="0"/>
                                          </p:stCondLst>
                                        </p:cTn>
                                        <p:tgtEl>
                                          <p:spTgt spid="23">
                                            <p:txEl>
                                              <p:pRg st="2" end="2"/>
                                            </p:txEl>
                                          </p:spTgt>
                                        </p:tgtEl>
                                        <p:attrNameLst>
                                          <p:attrName>style.visibility</p:attrName>
                                        </p:attrNameLst>
                                      </p:cBhvr>
                                      <p:to>
                                        <p:strVal val="visible"/>
                                      </p:to>
                                    </p:set>
                                    <p:animEffect transition="in" filter="fade">
                                      <p:cBhvr>
                                        <p:cTn id="132" dur="450"/>
                                        <p:tgtEl>
                                          <p:spTgt spid="23">
                                            <p:txEl>
                                              <p:pRg st="2" end="2"/>
                                            </p:txEl>
                                          </p:spTgt>
                                        </p:tgtEl>
                                      </p:cBhvr>
                                    </p:animEffect>
                                  </p:childTnLst>
                                </p:cTn>
                              </p:par>
                              <p:par>
                                <p:cTn id="133" presetID="10" presetClass="entr" presetSubtype="0" grpId="0" fill="hold" nodeType="withEffect">
                                  <p:stCondLst>
                                    <p:cond delay="1495"/>
                                  </p:stCondLst>
                                  <p:childTnLst>
                                    <p:set>
                                      <p:cBhvr>
                                        <p:cTn id="134" dur="1" fill="hold">
                                          <p:stCondLst>
                                            <p:cond delay="0"/>
                                          </p:stCondLst>
                                        </p:cTn>
                                        <p:tgtEl>
                                          <p:spTgt spid="23">
                                            <p:txEl>
                                              <p:pRg st="3" end="3"/>
                                            </p:txEl>
                                          </p:spTgt>
                                        </p:tgtEl>
                                        <p:attrNameLst>
                                          <p:attrName>style.visibility</p:attrName>
                                        </p:attrNameLst>
                                      </p:cBhvr>
                                      <p:to>
                                        <p:strVal val="visible"/>
                                      </p:to>
                                    </p:set>
                                    <p:animEffect transition="in" filter="fade">
                                      <p:cBhvr>
                                        <p:cTn id="135" dur="450"/>
                                        <p:tgtEl>
                                          <p:spTgt spid="23">
                                            <p:txEl>
                                              <p:pRg st="3" end="3"/>
                                            </p:txEl>
                                          </p:spTgt>
                                        </p:tgtEl>
                                      </p:cBhvr>
                                    </p:animEffect>
                                  </p:childTnLst>
                                </p:cTn>
                              </p:par>
                              <p:par>
                                <p:cTn id="136" presetID="10" presetClass="entr" presetSubtype="0" fill="hold" nodeType="withEffect">
                                  <p:stCondLst>
                                    <p:cond delay="590"/>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450"/>
                                        <p:tgtEl>
                                          <p:spTgt spid="24"/>
                                        </p:tgtEl>
                                      </p:cBhvr>
                                    </p:animEffect>
                                  </p:childTnLst>
                                </p:cTn>
                              </p:par>
                              <p:par>
                                <p:cTn id="139" presetID="22" presetClass="entr" presetSubtype="4" fill="hold" nodeType="withEffect">
                                  <p:stCondLst>
                                    <p:cond delay="590"/>
                                  </p:stCondLst>
                                  <p:childTnLst>
                                    <p:set>
                                      <p:cBhvr>
                                        <p:cTn id="140" dur="1" fill="hold">
                                          <p:stCondLst>
                                            <p:cond delay="0"/>
                                          </p:stCondLst>
                                        </p:cTn>
                                        <p:tgtEl>
                                          <p:spTgt spid="25"/>
                                        </p:tgtEl>
                                        <p:attrNameLst>
                                          <p:attrName>style.visibility</p:attrName>
                                        </p:attrNameLst>
                                      </p:cBhvr>
                                      <p:to>
                                        <p:strVal val="visible"/>
                                      </p:to>
                                    </p:set>
                                    <p:animEffect transition="in" filter="wipe(down)">
                                      <p:cBhvr>
                                        <p:cTn id="141" dur="500"/>
                                        <p:tgtEl>
                                          <p:spTgt spid="25"/>
                                        </p:tgtEl>
                                      </p:cBhvr>
                                    </p:animEffect>
                                  </p:childTnLst>
                                </p:cTn>
                              </p:par>
                              <p:par>
                                <p:cTn id="142" presetID="10" presetClass="entr" presetSubtype="0" fill="hold" nodeType="withEffect">
                                  <p:stCondLst>
                                    <p:cond delay="660"/>
                                  </p:stCondLst>
                                  <p:childTnLst>
                                    <p:set>
                                      <p:cBhvr>
                                        <p:cTn id="143" dur="1" fill="hold">
                                          <p:stCondLst>
                                            <p:cond delay="0"/>
                                          </p:stCondLst>
                                        </p:cTn>
                                        <p:tgtEl>
                                          <p:spTgt spid="26"/>
                                        </p:tgtEl>
                                        <p:attrNameLst>
                                          <p:attrName>style.visibility</p:attrName>
                                        </p:attrNameLst>
                                      </p:cBhvr>
                                      <p:to>
                                        <p:strVal val="visible"/>
                                      </p:to>
                                    </p:set>
                                    <p:animEffect transition="in" filter="fade">
                                      <p:cBhvr>
                                        <p:cTn id="144" dur="450"/>
                                        <p:tgtEl>
                                          <p:spTgt spid="26"/>
                                        </p:tgtEl>
                                      </p:cBhvr>
                                    </p:animEffect>
                                  </p:childTnLst>
                                </p:cTn>
                              </p:par>
                              <p:par>
                                <p:cTn id="145" presetID="22" presetClass="entr" presetSubtype="4" fill="hold" nodeType="withEffect">
                                  <p:stCondLst>
                                    <p:cond delay="730"/>
                                  </p:stCondLst>
                                  <p:childTnLst>
                                    <p:set>
                                      <p:cBhvr>
                                        <p:cTn id="146" dur="1" fill="hold">
                                          <p:stCondLst>
                                            <p:cond delay="0"/>
                                          </p:stCondLst>
                                        </p:cTn>
                                        <p:tgtEl>
                                          <p:spTgt spid="27"/>
                                        </p:tgtEl>
                                        <p:attrNameLst>
                                          <p:attrName>style.visibility</p:attrName>
                                        </p:attrNameLst>
                                      </p:cBhvr>
                                      <p:to>
                                        <p:strVal val="visible"/>
                                      </p:to>
                                    </p:set>
                                    <p:animEffect transition="in" filter="wipe(down)">
                                      <p:cBhvr>
                                        <p:cTn id="147" dur="500"/>
                                        <p:tgtEl>
                                          <p:spTgt spid="27"/>
                                        </p:tgtEl>
                                      </p:cBhvr>
                                    </p:animEffect>
                                  </p:childTnLst>
                                </p:cTn>
                              </p:par>
                              <p:par>
                                <p:cTn id="148" presetID="22" presetClass="entr" presetSubtype="4" fill="hold" nodeType="withEffect">
                                  <p:stCondLst>
                                    <p:cond delay="800"/>
                                  </p:stCondLst>
                                  <p:childTnLst>
                                    <p:set>
                                      <p:cBhvr>
                                        <p:cTn id="149" dur="1" fill="hold">
                                          <p:stCondLst>
                                            <p:cond delay="0"/>
                                          </p:stCondLst>
                                        </p:cTn>
                                        <p:tgtEl>
                                          <p:spTgt spid="28"/>
                                        </p:tgtEl>
                                        <p:attrNameLst>
                                          <p:attrName>style.visibility</p:attrName>
                                        </p:attrNameLst>
                                      </p:cBhvr>
                                      <p:to>
                                        <p:strVal val="visible"/>
                                      </p:to>
                                    </p:set>
                                    <p:animEffect transition="in" filter="wipe(down)">
                                      <p:cBhvr>
                                        <p:cTn id="150" dur="500"/>
                                        <p:tgtEl>
                                          <p:spTgt spid="28"/>
                                        </p:tgtEl>
                                      </p:cBhvr>
                                    </p:animEffect>
                                  </p:childTnLst>
                                </p:cTn>
                              </p:par>
                              <p:par>
                                <p:cTn id="151" presetID="22" presetClass="entr" presetSubtype="4" fill="hold" nodeType="withEffect">
                                  <p:stCondLst>
                                    <p:cond delay="870"/>
                                  </p:stCondLst>
                                  <p:childTnLst>
                                    <p:set>
                                      <p:cBhvr>
                                        <p:cTn id="152" dur="1" fill="hold">
                                          <p:stCondLst>
                                            <p:cond delay="0"/>
                                          </p:stCondLst>
                                        </p:cTn>
                                        <p:tgtEl>
                                          <p:spTgt spid="29"/>
                                        </p:tgtEl>
                                        <p:attrNameLst>
                                          <p:attrName>style.visibility</p:attrName>
                                        </p:attrNameLst>
                                      </p:cBhvr>
                                      <p:to>
                                        <p:strVal val="visible"/>
                                      </p:to>
                                    </p:set>
                                    <p:animEffect transition="in" filter="wipe(down)">
                                      <p:cBhvr>
                                        <p:cTn id="153" dur="500"/>
                                        <p:tgtEl>
                                          <p:spTgt spid="29"/>
                                        </p:tgtEl>
                                      </p:cBhvr>
                                    </p:animEffect>
                                  </p:childTnLst>
                                </p:cTn>
                              </p:par>
                              <p:par>
                                <p:cTn id="154" presetID="10" presetClass="entr" presetSubtype="0" fill="hold" nodeType="withEffect">
                                  <p:stCondLst>
                                    <p:cond delay="580"/>
                                  </p:stCondLst>
                                  <p:childTnLst>
                                    <p:set>
                                      <p:cBhvr>
                                        <p:cTn id="155" dur="1" fill="hold">
                                          <p:stCondLst>
                                            <p:cond delay="0"/>
                                          </p:stCondLst>
                                        </p:cTn>
                                        <p:tgtEl>
                                          <p:spTgt spid="30"/>
                                        </p:tgtEl>
                                        <p:attrNameLst>
                                          <p:attrName>style.visibility</p:attrName>
                                        </p:attrNameLst>
                                      </p:cBhvr>
                                      <p:to>
                                        <p:strVal val="visible"/>
                                      </p:to>
                                    </p:set>
                                    <p:animEffect transition="in" filter="fade">
                                      <p:cBhvr>
                                        <p:cTn id="156" dur="450"/>
                                        <p:tgtEl>
                                          <p:spTgt spid="30"/>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xit" presetSubtype="0" fill="hold" nodeType="clickEffect">
                                  <p:stCondLst>
                                    <p:cond delay="0"/>
                                  </p:stCondLst>
                                  <p:childTnLst>
                                    <p:animEffect transition="out" filter="fade">
                                      <p:cBhvr>
                                        <p:cTn id="160" dur="350"/>
                                        <p:tgtEl>
                                          <p:spTgt spid="22"/>
                                        </p:tgtEl>
                                      </p:cBhvr>
                                    </p:animEffect>
                                    <p:set>
                                      <p:cBhvr>
                                        <p:cTn id="161" dur="1" fill="hold">
                                          <p:stCondLst>
                                            <p:cond delay="349"/>
                                          </p:stCondLst>
                                        </p:cTn>
                                        <p:tgtEl>
                                          <p:spTgt spid="22"/>
                                        </p:tgtEl>
                                        <p:attrNameLst>
                                          <p:attrName>style.visibility</p:attrName>
                                        </p:attrNameLst>
                                      </p:cBhvr>
                                      <p:to>
                                        <p:strVal val="hidden"/>
                                      </p:to>
                                    </p:set>
                                  </p:childTnLst>
                                </p:cTn>
                              </p:par>
                              <p:par>
                                <p:cTn id="162" presetID="10" presetClass="exit" presetSubtype="0" grpId="0" fill="hold" nodeType="withEffect">
                                  <p:stCondLst>
                                    <p:cond delay="0"/>
                                  </p:stCondLst>
                                  <p:childTnLst>
                                    <p:animEffect transition="out" filter="fade">
                                      <p:cBhvr>
                                        <p:cTn id="163" dur="350"/>
                                        <p:tgtEl>
                                          <p:spTgt spid="23">
                                            <p:txEl>
                                              <p:pRg st="0" end="0"/>
                                            </p:txEl>
                                          </p:spTgt>
                                        </p:tgtEl>
                                      </p:cBhvr>
                                    </p:animEffect>
                                    <p:set>
                                      <p:cBhvr>
                                        <p:cTn id="164" dur="1" fill="hold">
                                          <p:stCondLst>
                                            <p:cond delay="349"/>
                                          </p:stCondLst>
                                        </p:cTn>
                                        <p:tgtEl>
                                          <p:spTgt spid="23">
                                            <p:txEl>
                                              <p:pRg st="0" end="0"/>
                                            </p:txEl>
                                          </p:spTgt>
                                        </p:tgtEl>
                                        <p:attrNameLst>
                                          <p:attrName>style.visibility</p:attrName>
                                        </p:attrNameLst>
                                      </p:cBhvr>
                                      <p:to>
                                        <p:strVal val="hidden"/>
                                      </p:to>
                                    </p:set>
                                  </p:childTnLst>
                                </p:cTn>
                              </p:par>
                              <p:par>
                                <p:cTn id="165" presetID="10" presetClass="exit" presetSubtype="0" grpId="0" fill="hold" nodeType="withEffect">
                                  <p:stCondLst>
                                    <p:cond delay="0"/>
                                  </p:stCondLst>
                                  <p:childTnLst>
                                    <p:animEffect transition="out" filter="fade">
                                      <p:cBhvr>
                                        <p:cTn id="166" dur="350"/>
                                        <p:tgtEl>
                                          <p:spTgt spid="23">
                                            <p:txEl>
                                              <p:pRg st="1" end="1"/>
                                            </p:txEl>
                                          </p:spTgt>
                                        </p:tgtEl>
                                      </p:cBhvr>
                                    </p:animEffect>
                                    <p:set>
                                      <p:cBhvr>
                                        <p:cTn id="167" dur="1" fill="hold">
                                          <p:stCondLst>
                                            <p:cond delay="349"/>
                                          </p:stCondLst>
                                        </p:cTn>
                                        <p:tgtEl>
                                          <p:spTgt spid="23">
                                            <p:txEl>
                                              <p:pRg st="1" end="1"/>
                                            </p:txEl>
                                          </p:spTgt>
                                        </p:tgtEl>
                                        <p:attrNameLst>
                                          <p:attrName>style.visibility</p:attrName>
                                        </p:attrNameLst>
                                      </p:cBhvr>
                                      <p:to>
                                        <p:strVal val="hidden"/>
                                      </p:to>
                                    </p:set>
                                  </p:childTnLst>
                                </p:cTn>
                              </p:par>
                              <p:par>
                                <p:cTn id="168" presetID="10" presetClass="exit" presetSubtype="0" grpId="0" fill="hold" nodeType="withEffect">
                                  <p:stCondLst>
                                    <p:cond delay="0"/>
                                  </p:stCondLst>
                                  <p:childTnLst>
                                    <p:animEffect transition="out" filter="fade">
                                      <p:cBhvr>
                                        <p:cTn id="169" dur="350"/>
                                        <p:tgtEl>
                                          <p:spTgt spid="23">
                                            <p:txEl>
                                              <p:pRg st="2" end="2"/>
                                            </p:txEl>
                                          </p:spTgt>
                                        </p:tgtEl>
                                      </p:cBhvr>
                                    </p:animEffect>
                                    <p:set>
                                      <p:cBhvr>
                                        <p:cTn id="170" dur="1" fill="hold">
                                          <p:stCondLst>
                                            <p:cond delay="349"/>
                                          </p:stCondLst>
                                        </p:cTn>
                                        <p:tgtEl>
                                          <p:spTgt spid="23">
                                            <p:txEl>
                                              <p:pRg st="2" end="2"/>
                                            </p:txEl>
                                          </p:spTgt>
                                        </p:tgtEl>
                                        <p:attrNameLst>
                                          <p:attrName>style.visibility</p:attrName>
                                        </p:attrNameLst>
                                      </p:cBhvr>
                                      <p:to>
                                        <p:strVal val="hidden"/>
                                      </p:to>
                                    </p:set>
                                  </p:childTnLst>
                                </p:cTn>
                              </p:par>
                              <p:par>
                                <p:cTn id="171" presetID="10" presetClass="exit" presetSubtype="0" grpId="0" fill="hold" nodeType="withEffect">
                                  <p:stCondLst>
                                    <p:cond delay="0"/>
                                  </p:stCondLst>
                                  <p:childTnLst>
                                    <p:animEffect transition="out" filter="fade">
                                      <p:cBhvr>
                                        <p:cTn id="172" dur="350"/>
                                        <p:tgtEl>
                                          <p:spTgt spid="23">
                                            <p:txEl>
                                              <p:pRg st="3" end="3"/>
                                            </p:txEl>
                                          </p:spTgt>
                                        </p:tgtEl>
                                      </p:cBhvr>
                                    </p:animEffect>
                                    <p:set>
                                      <p:cBhvr>
                                        <p:cTn id="173" dur="1" fill="hold">
                                          <p:stCondLst>
                                            <p:cond delay="349"/>
                                          </p:stCondLst>
                                        </p:cTn>
                                        <p:tgtEl>
                                          <p:spTgt spid="23">
                                            <p:txEl>
                                              <p:pRg st="3" end="3"/>
                                            </p:txEl>
                                          </p:spTgt>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24"/>
                                        </p:tgtEl>
                                      </p:cBhvr>
                                    </p:animEffect>
                                    <p:set>
                                      <p:cBhvr>
                                        <p:cTn id="176" dur="1" fill="hold">
                                          <p:stCondLst>
                                            <p:cond delay="349"/>
                                          </p:stCondLst>
                                        </p:cTn>
                                        <p:tgtEl>
                                          <p:spTgt spid="24"/>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350"/>
                                        <p:tgtEl>
                                          <p:spTgt spid="25"/>
                                        </p:tgtEl>
                                      </p:cBhvr>
                                    </p:animEffect>
                                    <p:set>
                                      <p:cBhvr>
                                        <p:cTn id="179" dur="1" fill="hold">
                                          <p:stCondLst>
                                            <p:cond delay="349"/>
                                          </p:stCondLst>
                                        </p:cTn>
                                        <p:tgtEl>
                                          <p:spTgt spid="25"/>
                                        </p:tgtEl>
                                        <p:attrNameLst>
                                          <p:attrName>style.visibility</p:attrName>
                                        </p:attrNameLst>
                                      </p:cBhvr>
                                      <p:to>
                                        <p:strVal val="hidden"/>
                                      </p:to>
                                    </p:set>
                                  </p:childTnLst>
                                </p:cTn>
                              </p:par>
                              <p:par>
                                <p:cTn id="180" presetID="10" presetClass="exit" presetSubtype="0" fill="hold" nodeType="withEffect">
                                  <p:stCondLst>
                                    <p:cond delay="0"/>
                                  </p:stCondLst>
                                  <p:childTnLst>
                                    <p:animEffect transition="out" filter="fade">
                                      <p:cBhvr>
                                        <p:cTn id="181" dur="350"/>
                                        <p:tgtEl>
                                          <p:spTgt spid="26"/>
                                        </p:tgtEl>
                                      </p:cBhvr>
                                    </p:animEffect>
                                    <p:set>
                                      <p:cBhvr>
                                        <p:cTn id="182" dur="1" fill="hold">
                                          <p:stCondLst>
                                            <p:cond delay="349"/>
                                          </p:stCondLst>
                                        </p:cTn>
                                        <p:tgtEl>
                                          <p:spTgt spid="26"/>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184" dur="350"/>
                                        <p:tgtEl>
                                          <p:spTgt spid="27"/>
                                        </p:tgtEl>
                                      </p:cBhvr>
                                    </p:animEffect>
                                    <p:set>
                                      <p:cBhvr>
                                        <p:cTn id="185" dur="1" fill="hold">
                                          <p:stCondLst>
                                            <p:cond delay="349"/>
                                          </p:stCondLst>
                                        </p:cTn>
                                        <p:tgtEl>
                                          <p:spTgt spid="27"/>
                                        </p:tgtEl>
                                        <p:attrNameLst>
                                          <p:attrName>style.visibility</p:attrName>
                                        </p:attrNameLst>
                                      </p:cBhvr>
                                      <p:to>
                                        <p:strVal val="hidden"/>
                                      </p:to>
                                    </p:set>
                                  </p:childTnLst>
                                </p:cTn>
                              </p:par>
                              <p:par>
                                <p:cTn id="186" presetID="10" presetClass="exit" presetSubtype="0" fill="hold" nodeType="withEffect">
                                  <p:stCondLst>
                                    <p:cond delay="0"/>
                                  </p:stCondLst>
                                  <p:childTnLst>
                                    <p:animEffect transition="out" filter="fade">
                                      <p:cBhvr>
                                        <p:cTn id="187" dur="350"/>
                                        <p:tgtEl>
                                          <p:spTgt spid="28"/>
                                        </p:tgtEl>
                                      </p:cBhvr>
                                    </p:animEffect>
                                    <p:set>
                                      <p:cBhvr>
                                        <p:cTn id="188" dur="1" fill="hold">
                                          <p:stCondLst>
                                            <p:cond delay="349"/>
                                          </p:stCondLst>
                                        </p:cTn>
                                        <p:tgtEl>
                                          <p:spTgt spid="28"/>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350"/>
                                        <p:tgtEl>
                                          <p:spTgt spid="29"/>
                                        </p:tgtEl>
                                      </p:cBhvr>
                                    </p:animEffect>
                                    <p:set>
                                      <p:cBhvr>
                                        <p:cTn id="191" dur="1" fill="hold">
                                          <p:stCondLst>
                                            <p:cond delay="349"/>
                                          </p:stCondLst>
                                        </p:cTn>
                                        <p:tgtEl>
                                          <p:spTgt spid="29"/>
                                        </p:tgtEl>
                                        <p:attrNameLst>
                                          <p:attrName>style.visibility</p:attrName>
                                        </p:attrNameLst>
                                      </p:cBhvr>
                                      <p:to>
                                        <p:strVal val="hidden"/>
                                      </p:to>
                                    </p:set>
                                  </p:childTnLst>
                                </p:cTn>
                              </p:par>
                              <p:par>
                                <p:cTn id="192" presetID="10" presetClass="exit" presetSubtype="0" fill="hold" nodeType="withEffect">
                                  <p:stCondLst>
                                    <p:cond delay="0"/>
                                  </p:stCondLst>
                                  <p:childTnLst>
                                    <p:animEffect transition="out" filter="fade">
                                      <p:cBhvr>
                                        <p:cTn id="193" dur="350"/>
                                        <p:tgtEl>
                                          <p:spTgt spid="30"/>
                                        </p:tgtEl>
                                      </p:cBhvr>
                                    </p:animEffect>
                                    <p:set>
                                      <p:cBhvr>
                                        <p:cTn id="194" dur="1" fill="hold">
                                          <p:stCondLst>
                                            <p:cond delay="349"/>
                                          </p:stCondLst>
                                        </p:cTn>
                                        <p:tgtEl>
                                          <p:spTgt spid="30"/>
                                        </p:tgtEl>
                                        <p:attrNameLst>
                                          <p:attrName>style.visibility</p:attrName>
                                        </p:attrNameLst>
                                      </p:cBhvr>
                                      <p:to>
                                        <p:strVal val="hidden"/>
                                      </p:to>
                                    </p:set>
                                  </p:childTnLst>
                                </p:cTn>
                              </p:par>
                              <p:par>
                                <p:cTn id="195" presetID="10" presetClass="entr" presetSubtype="0" fill="hold" nodeType="withEffect">
                                  <p:stCondLst>
                                    <p:cond delay="450"/>
                                  </p:stCondLst>
                                  <p:childTnLst>
                                    <p:set>
                                      <p:cBhvr>
                                        <p:cTn id="196" dur="1" fill="hold">
                                          <p:stCondLst>
                                            <p:cond delay="0"/>
                                          </p:stCondLst>
                                        </p:cTn>
                                        <p:tgtEl>
                                          <p:spTgt spid="31"/>
                                        </p:tgtEl>
                                        <p:attrNameLst>
                                          <p:attrName>style.visibility</p:attrName>
                                        </p:attrNameLst>
                                      </p:cBhvr>
                                      <p:to>
                                        <p:strVal val="visible"/>
                                      </p:to>
                                    </p:set>
                                    <p:animEffect transition="in" filter="fade">
                                      <p:cBhvr>
                                        <p:cTn id="197" dur="450"/>
                                        <p:tgtEl>
                                          <p:spTgt spid="31"/>
                                        </p:tgtEl>
                                      </p:cBhvr>
                                    </p:animEffect>
                                  </p:childTnLst>
                                </p:cTn>
                              </p:par>
                              <p:par>
                                <p:cTn id="198" presetID="10" presetClass="entr" presetSubtype="0" fill="hold" nodeType="withEffect">
                                  <p:stCondLst>
                                    <p:cond delay="520"/>
                                  </p:stCondLst>
                                  <p:childTnLst>
                                    <p:set>
                                      <p:cBhvr>
                                        <p:cTn id="199" dur="1" fill="hold">
                                          <p:stCondLst>
                                            <p:cond delay="0"/>
                                          </p:stCondLst>
                                        </p:cTn>
                                        <p:tgtEl>
                                          <p:spTgt spid="32"/>
                                        </p:tgtEl>
                                        <p:attrNameLst>
                                          <p:attrName>style.visibility</p:attrName>
                                        </p:attrNameLst>
                                      </p:cBhvr>
                                      <p:to>
                                        <p:strVal val="visible"/>
                                      </p:to>
                                    </p:set>
                                    <p:animEffect transition="in" filter="fade">
                                      <p:cBhvr>
                                        <p:cTn id="200" dur="450"/>
                                        <p:tgtEl>
                                          <p:spTgt spid="32"/>
                                        </p:tgtEl>
                                      </p:cBhvr>
                                    </p:animEffect>
                                  </p:childTnLst>
                                </p:cTn>
                              </p:par>
                              <p:par>
                                <p:cTn id="201" presetID="22" presetClass="entr" presetSubtype="8" fill="hold" nodeType="withEffect">
                                  <p:stCondLst>
                                    <p:cond delay="520"/>
                                  </p:stCondLst>
                                  <p:childTnLst>
                                    <p:set>
                                      <p:cBhvr>
                                        <p:cTn id="202" dur="1" fill="hold">
                                          <p:stCondLst>
                                            <p:cond delay="0"/>
                                          </p:stCondLst>
                                        </p:cTn>
                                        <p:tgtEl>
                                          <p:spTgt spid="33"/>
                                        </p:tgtEl>
                                        <p:attrNameLst>
                                          <p:attrName>style.visibility</p:attrName>
                                        </p:attrNameLst>
                                      </p:cBhvr>
                                      <p:to>
                                        <p:strVal val="visible"/>
                                      </p:to>
                                    </p:set>
                                    <p:animEffect transition="in" filter="wipe(left)">
                                      <p:cBhvr>
                                        <p:cTn id="203" dur="500"/>
                                        <p:tgtEl>
                                          <p:spTgt spid="33"/>
                                        </p:tgtEl>
                                      </p:cBhvr>
                                    </p:animEffect>
                                  </p:childTnLst>
                                </p:cTn>
                              </p:par>
                              <p:par>
                                <p:cTn id="204" presetID="10" presetClass="entr" presetSubtype="0" grpId="0" fill="hold" nodeType="withEffect">
                                  <p:stCondLst>
                                    <p:cond delay="590"/>
                                  </p:stCondLst>
                                  <p:childTnLst>
                                    <p:set>
                                      <p:cBhvr>
                                        <p:cTn id="205" dur="1" fill="hold">
                                          <p:stCondLst>
                                            <p:cond delay="0"/>
                                          </p:stCondLst>
                                        </p:cTn>
                                        <p:tgtEl>
                                          <p:spTgt spid="34">
                                            <p:txEl>
                                              <p:pRg st="0" end="0"/>
                                            </p:txEl>
                                          </p:spTgt>
                                        </p:tgtEl>
                                        <p:attrNameLst>
                                          <p:attrName>style.visibility</p:attrName>
                                        </p:attrNameLst>
                                      </p:cBhvr>
                                      <p:to>
                                        <p:strVal val="visible"/>
                                      </p:to>
                                    </p:set>
                                    <p:animEffect transition="in" filter="fade">
                                      <p:cBhvr>
                                        <p:cTn id="206" dur="450"/>
                                        <p:tgtEl>
                                          <p:spTgt spid="34">
                                            <p:txEl>
                                              <p:pRg st="0" end="0"/>
                                            </p:txEl>
                                          </p:spTgt>
                                        </p:tgtEl>
                                      </p:cBhvr>
                                    </p:animEffect>
                                  </p:childTnLst>
                                </p:cTn>
                              </p:par>
                              <p:par>
                                <p:cTn id="207" presetID="10" presetClass="entr" presetSubtype="0" grpId="0" fill="hold" nodeType="withEffect">
                                  <p:stCondLst>
                                    <p:cond delay="970"/>
                                  </p:stCondLst>
                                  <p:childTnLst>
                                    <p:set>
                                      <p:cBhvr>
                                        <p:cTn id="208" dur="1" fill="hold">
                                          <p:stCondLst>
                                            <p:cond delay="0"/>
                                          </p:stCondLst>
                                        </p:cTn>
                                        <p:tgtEl>
                                          <p:spTgt spid="34">
                                            <p:txEl>
                                              <p:pRg st="1" end="1"/>
                                            </p:txEl>
                                          </p:spTgt>
                                        </p:tgtEl>
                                        <p:attrNameLst>
                                          <p:attrName>style.visibility</p:attrName>
                                        </p:attrNameLst>
                                      </p:cBhvr>
                                      <p:to>
                                        <p:strVal val="visible"/>
                                      </p:to>
                                    </p:set>
                                    <p:animEffect transition="in" filter="fade">
                                      <p:cBhvr>
                                        <p:cTn id="209" dur="450"/>
                                        <p:tgtEl>
                                          <p:spTgt spid="34">
                                            <p:txEl>
                                              <p:pRg st="1" end="1"/>
                                            </p:txEl>
                                          </p:spTgt>
                                        </p:tgtEl>
                                      </p:cBhvr>
                                    </p:animEffect>
                                  </p:childTnLst>
                                </p:cTn>
                              </p:par>
                              <p:par>
                                <p:cTn id="210" presetID="10" presetClass="entr" presetSubtype="0" grpId="0" fill="hold" nodeType="withEffect">
                                  <p:stCondLst>
                                    <p:cond delay="1350"/>
                                  </p:stCondLst>
                                  <p:childTnLst>
                                    <p:set>
                                      <p:cBhvr>
                                        <p:cTn id="211" dur="1" fill="hold">
                                          <p:stCondLst>
                                            <p:cond delay="0"/>
                                          </p:stCondLst>
                                        </p:cTn>
                                        <p:tgtEl>
                                          <p:spTgt spid="34">
                                            <p:txEl>
                                              <p:pRg st="2" end="2"/>
                                            </p:txEl>
                                          </p:spTgt>
                                        </p:tgtEl>
                                        <p:attrNameLst>
                                          <p:attrName>style.visibility</p:attrName>
                                        </p:attrNameLst>
                                      </p:cBhvr>
                                      <p:to>
                                        <p:strVal val="visible"/>
                                      </p:to>
                                    </p:set>
                                    <p:animEffect transition="in" filter="fade">
                                      <p:cBhvr>
                                        <p:cTn id="212" dur="450"/>
                                        <p:tgtEl>
                                          <p:spTgt spid="34">
                                            <p:txEl>
                                              <p:pRg st="2" end="2"/>
                                            </p:txEl>
                                          </p:spTgt>
                                        </p:tgtEl>
                                      </p:cBhvr>
                                    </p:animEffect>
                                  </p:childTnLst>
                                </p:cTn>
                              </p:par>
                              <p:par>
                                <p:cTn id="213" presetID="22" presetClass="entr" presetSubtype="8" fill="hold" nodeType="withEffect">
                                  <p:stCondLst>
                                    <p:cond delay="660"/>
                                  </p:stCondLst>
                                  <p:childTnLst>
                                    <p:set>
                                      <p:cBhvr>
                                        <p:cTn id="214" dur="1" fill="hold">
                                          <p:stCondLst>
                                            <p:cond delay="0"/>
                                          </p:stCondLst>
                                        </p:cTn>
                                        <p:tgtEl>
                                          <p:spTgt spid="35"/>
                                        </p:tgtEl>
                                        <p:attrNameLst>
                                          <p:attrName>style.visibility</p:attrName>
                                        </p:attrNameLst>
                                      </p:cBhvr>
                                      <p:to>
                                        <p:strVal val="visible"/>
                                      </p:to>
                                    </p:set>
                                    <p:animEffect transition="in" filter="wipe(left)">
                                      <p:cBhvr>
                                        <p:cTn id="215" dur="500"/>
                                        <p:tgtEl>
                                          <p:spTgt spid="35"/>
                                        </p:tgtEl>
                                      </p:cBhvr>
                                    </p:animEffect>
                                  </p:childTnLst>
                                </p:cTn>
                              </p:par>
                              <p:par>
                                <p:cTn id="216" presetID="10" presetClass="entr" presetSubtype="0" fill="hold" nodeType="withEffect">
                                  <p:stCondLst>
                                    <p:cond delay="580"/>
                                  </p:stCondLst>
                                  <p:childTnLst>
                                    <p:set>
                                      <p:cBhvr>
                                        <p:cTn id="217" dur="1" fill="hold">
                                          <p:stCondLst>
                                            <p:cond delay="0"/>
                                          </p:stCondLst>
                                        </p:cTn>
                                        <p:tgtEl>
                                          <p:spTgt spid="36"/>
                                        </p:tgtEl>
                                        <p:attrNameLst>
                                          <p:attrName>style.visibility</p:attrName>
                                        </p:attrNameLst>
                                      </p:cBhvr>
                                      <p:to>
                                        <p:strVal val="visible"/>
                                      </p:to>
                                    </p:set>
                                    <p:animEffect transition="in" filter="fade">
                                      <p:cBhvr>
                                        <p:cTn id="218" dur="450"/>
                                        <p:tgtEl>
                                          <p:spTgt spid="36"/>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xit" presetSubtype="0" fill="hold" nodeType="clickEffect">
                                  <p:stCondLst>
                                    <p:cond delay="0"/>
                                  </p:stCondLst>
                                  <p:childTnLst>
                                    <p:animEffect transition="out" filter="fade">
                                      <p:cBhvr>
                                        <p:cTn id="222" dur="350"/>
                                        <p:tgtEl>
                                          <p:spTgt spid="31"/>
                                        </p:tgtEl>
                                      </p:cBhvr>
                                    </p:animEffect>
                                    <p:set>
                                      <p:cBhvr>
                                        <p:cTn id="223" dur="1" fill="hold">
                                          <p:stCondLst>
                                            <p:cond delay="349"/>
                                          </p:stCondLst>
                                        </p:cTn>
                                        <p:tgtEl>
                                          <p:spTgt spid="31"/>
                                        </p:tgtEl>
                                        <p:attrNameLst>
                                          <p:attrName>style.visibility</p:attrName>
                                        </p:attrNameLst>
                                      </p:cBhvr>
                                      <p:to>
                                        <p:strVal val="hidden"/>
                                      </p:to>
                                    </p:set>
                                  </p:childTnLst>
                                </p:cTn>
                              </p:par>
                              <p:par>
                                <p:cTn id="224" presetID="10" presetClass="exit" presetSubtype="0" fill="hold" nodeType="withEffect">
                                  <p:stCondLst>
                                    <p:cond delay="0"/>
                                  </p:stCondLst>
                                  <p:childTnLst>
                                    <p:animEffect transition="out" filter="fade">
                                      <p:cBhvr>
                                        <p:cTn id="225" dur="350"/>
                                        <p:tgtEl>
                                          <p:spTgt spid="32"/>
                                        </p:tgtEl>
                                      </p:cBhvr>
                                    </p:animEffect>
                                    <p:set>
                                      <p:cBhvr>
                                        <p:cTn id="226" dur="1" fill="hold">
                                          <p:stCondLst>
                                            <p:cond delay="349"/>
                                          </p:stCondLst>
                                        </p:cTn>
                                        <p:tgtEl>
                                          <p:spTgt spid="32"/>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350"/>
                                        <p:tgtEl>
                                          <p:spTgt spid="33"/>
                                        </p:tgtEl>
                                      </p:cBhvr>
                                    </p:animEffect>
                                    <p:set>
                                      <p:cBhvr>
                                        <p:cTn id="229" dur="1" fill="hold">
                                          <p:stCondLst>
                                            <p:cond delay="349"/>
                                          </p:stCondLst>
                                        </p:cTn>
                                        <p:tgtEl>
                                          <p:spTgt spid="33"/>
                                        </p:tgtEl>
                                        <p:attrNameLst>
                                          <p:attrName>style.visibility</p:attrName>
                                        </p:attrNameLst>
                                      </p:cBhvr>
                                      <p:to>
                                        <p:strVal val="hidden"/>
                                      </p:to>
                                    </p:set>
                                  </p:childTnLst>
                                </p:cTn>
                              </p:par>
                              <p:par>
                                <p:cTn id="230" presetID="10" presetClass="exit" presetSubtype="0" grpId="0" fill="hold" nodeType="withEffect">
                                  <p:stCondLst>
                                    <p:cond delay="0"/>
                                  </p:stCondLst>
                                  <p:childTnLst>
                                    <p:animEffect transition="out" filter="fade">
                                      <p:cBhvr>
                                        <p:cTn id="231" dur="350"/>
                                        <p:tgtEl>
                                          <p:spTgt spid="34">
                                            <p:txEl>
                                              <p:pRg st="0" end="0"/>
                                            </p:txEl>
                                          </p:spTgt>
                                        </p:tgtEl>
                                      </p:cBhvr>
                                    </p:animEffect>
                                    <p:set>
                                      <p:cBhvr>
                                        <p:cTn id="232" dur="1" fill="hold">
                                          <p:stCondLst>
                                            <p:cond delay="349"/>
                                          </p:stCondLst>
                                        </p:cTn>
                                        <p:tgtEl>
                                          <p:spTgt spid="34">
                                            <p:txEl>
                                              <p:pRg st="0" end="0"/>
                                            </p:txEl>
                                          </p:spTgt>
                                        </p:tgtEl>
                                        <p:attrNameLst>
                                          <p:attrName>style.visibility</p:attrName>
                                        </p:attrNameLst>
                                      </p:cBhvr>
                                      <p:to>
                                        <p:strVal val="hidden"/>
                                      </p:to>
                                    </p:set>
                                  </p:childTnLst>
                                </p:cTn>
                              </p:par>
                              <p:par>
                                <p:cTn id="233" presetID="10" presetClass="exit" presetSubtype="0" grpId="0" fill="hold" nodeType="withEffect">
                                  <p:stCondLst>
                                    <p:cond delay="0"/>
                                  </p:stCondLst>
                                  <p:childTnLst>
                                    <p:animEffect transition="out" filter="fade">
                                      <p:cBhvr>
                                        <p:cTn id="234" dur="350"/>
                                        <p:tgtEl>
                                          <p:spTgt spid="34">
                                            <p:txEl>
                                              <p:pRg st="1" end="1"/>
                                            </p:txEl>
                                          </p:spTgt>
                                        </p:tgtEl>
                                      </p:cBhvr>
                                    </p:animEffect>
                                    <p:set>
                                      <p:cBhvr>
                                        <p:cTn id="235" dur="1" fill="hold">
                                          <p:stCondLst>
                                            <p:cond delay="349"/>
                                          </p:stCondLst>
                                        </p:cTn>
                                        <p:tgtEl>
                                          <p:spTgt spid="34">
                                            <p:txEl>
                                              <p:pRg st="1" end="1"/>
                                            </p:txEl>
                                          </p:spTgt>
                                        </p:tgtEl>
                                        <p:attrNameLst>
                                          <p:attrName>style.visibility</p:attrName>
                                        </p:attrNameLst>
                                      </p:cBhvr>
                                      <p:to>
                                        <p:strVal val="hidden"/>
                                      </p:to>
                                    </p:set>
                                  </p:childTnLst>
                                </p:cTn>
                              </p:par>
                              <p:par>
                                <p:cTn id="236" presetID="10" presetClass="exit" presetSubtype="0" grpId="0" fill="hold" nodeType="withEffect">
                                  <p:stCondLst>
                                    <p:cond delay="0"/>
                                  </p:stCondLst>
                                  <p:childTnLst>
                                    <p:animEffect transition="out" filter="fade">
                                      <p:cBhvr>
                                        <p:cTn id="237" dur="350"/>
                                        <p:tgtEl>
                                          <p:spTgt spid="34">
                                            <p:txEl>
                                              <p:pRg st="2" end="2"/>
                                            </p:txEl>
                                          </p:spTgt>
                                        </p:tgtEl>
                                      </p:cBhvr>
                                    </p:animEffect>
                                    <p:set>
                                      <p:cBhvr>
                                        <p:cTn id="238" dur="1" fill="hold">
                                          <p:stCondLst>
                                            <p:cond delay="349"/>
                                          </p:stCondLst>
                                        </p:cTn>
                                        <p:tgtEl>
                                          <p:spTgt spid="34">
                                            <p:txEl>
                                              <p:pRg st="2" end="2"/>
                                            </p:txEl>
                                          </p:spTgt>
                                        </p:tgtEl>
                                        <p:attrNameLst>
                                          <p:attrName>style.visibility</p:attrName>
                                        </p:attrNameLst>
                                      </p:cBhvr>
                                      <p:to>
                                        <p:strVal val="hidden"/>
                                      </p:to>
                                    </p:set>
                                  </p:childTnLst>
                                </p:cTn>
                              </p:par>
                              <p:par>
                                <p:cTn id="239" presetID="10" presetClass="exit" presetSubtype="0" fill="hold" nodeType="withEffect">
                                  <p:stCondLst>
                                    <p:cond delay="0"/>
                                  </p:stCondLst>
                                  <p:childTnLst>
                                    <p:animEffect transition="out" filter="fade">
                                      <p:cBhvr>
                                        <p:cTn id="240" dur="350"/>
                                        <p:tgtEl>
                                          <p:spTgt spid="35"/>
                                        </p:tgtEl>
                                      </p:cBhvr>
                                    </p:animEffect>
                                    <p:set>
                                      <p:cBhvr>
                                        <p:cTn id="241" dur="1" fill="hold">
                                          <p:stCondLst>
                                            <p:cond delay="349"/>
                                          </p:stCondLst>
                                        </p:cTn>
                                        <p:tgtEl>
                                          <p:spTgt spid="35"/>
                                        </p:tgtEl>
                                        <p:attrNameLst>
                                          <p:attrName>style.visibility</p:attrName>
                                        </p:attrNameLst>
                                      </p:cBhvr>
                                      <p:to>
                                        <p:strVal val="hidden"/>
                                      </p:to>
                                    </p:set>
                                  </p:childTnLst>
                                </p:cTn>
                              </p:par>
                              <p:par>
                                <p:cTn id="242" presetID="10" presetClass="exit" presetSubtype="0" fill="hold" nodeType="withEffect">
                                  <p:stCondLst>
                                    <p:cond delay="0"/>
                                  </p:stCondLst>
                                  <p:childTnLst>
                                    <p:animEffect transition="out" filter="fade">
                                      <p:cBhvr>
                                        <p:cTn id="243" dur="350"/>
                                        <p:tgtEl>
                                          <p:spTgt spid="36"/>
                                        </p:tgtEl>
                                      </p:cBhvr>
                                    </p:animEffect>
                                    <p:set>
                                      <p:cBhvr>
                                        <p:cTn id="244" dur="1" fill="hold">
                                          <p:stCondLst>
                                            <p:cond delay="349"/>
                                          </p:stCondLst>
                                        </p:cTn>
                                        <p:tgtEl>
                                          <p:spTgt spid="36"/>
                                        </p:tgtEl>
                                        <p:attrNameLst>
                                          <p:attrName>style.visibility</p:attrName>
                                        </p:attrNameLst>
                                      </p:cBhvr>
                                      <p:to>
                                        <p:strVal val="hidden"/>
                                      </p:to>
                                    </p:set>
                                  </p:childTnLst>
                                </p:cTn>
                              </p:par>
                              <p:par>
                                <p:cTn id="245" presetID="10" presetClass="entr" presetSubtype="0" fill="hold" nodeType="withEffect">
                                  <p:stCondLst>
                                    <p:cond delay="450"/>
                                  </p:stCondLst>
                                  <p:childTnLst>
                                    <p:set>
                                      <p:cBhvr>
                                        <p:cTn id="246" dur="1" fill="hold">
                                          <p:stCondLst>
                                            <p:cond delay="0"/>
                                          </p:stCondLst>
                                        </p:cTn>
                                        <p:tgtEl>
                                          <p:spTgt spid="37"/>
                                        </p:tgtEl>
                                        <p:attrNameLst>
                                          <p:attrName>style.visibility</p:attrName>
                                        </p:attrNameLst>
                                      </p:cBhvr>
                                      <p:to>
                                        <p:strVal val="visible"/>
                                      </p:to>
                                    </p:set>
                                    <p:animEffect transition="in" filter="fade">
                                      <p:cBhvr>
                                        <p:cTn id="247" dur="450"/>
                                        <p:tgtEl>
                                          <p:spTgt spid="37"/>
                                        </p:tgtEl>
                                      </p:cBhvr>
                                    </p:animEffect>
                                  </p:childTnLst>
                                </p:cTn>
                              </p:par>
                              <p:par>
                                <p:cTn id="248" presetID="53" presetClass="entr" presetSubtype="16" fill="hold" nodeType="withEffect">
                                  <p:stCondLst>
                                    <p:cond delay="520"/>
                                  </p:stCondLst>
                                  <p:childTnLst>
                                    <p:set>
                                      <p:cBhvr>
                                        <p:cTn id="249" dur="1" fill="hold">
                                          <p:stCondLst>
                                            <p:cond delay="0"/>
                                          </p:stCondLst>
                                        </p:cTn>
                                        <p:tgtEl>
                                          <p:spTgt spid="38"/>
                                        </p:tgtEl>
                                        <p:attrNameLst>
                                          <p:attrName>style.visibility</p:attrName>
                                        </p:attrNameLst>
                                      </p:cBhvr>
                                      <p:to>
                                        <p:strVal val="visible"/>
                                      </p:to>
                                    </p:set>
                                    <p:anim calcmode="lin" valueType="num">
                                      <p:cBhvr>
                                        <p:cTn id="250" dur="600" fill="hold"/>
                                        <p:tgtEl>
                                          <p:spTgt spid="38"/>
                                        </p:tgtEl>
                                        <p:attrNameLst>
                                          <p:attrName>ppt_w</p:attrName>
                                        </p:attrNameLst>
                                      </p:cBhvr>
                                      <p:tavLst>
                                        <p:tav tm="0">
                                          <p:val>
                                            <p:fltVal val="0"/>
                                          </p:val>
                                        </p:tav>
                                        <p:tav tm="100000">
                                          <p:val>
                                            <p:strVal val="#ppt_w"/>
                                          </p:val>
                                        </p:tav>
                                      </p:tavLst>
                                    </p:anim>
                                    <p:anim calcmode="lin" valueType="num">
                                      <p:cBhvr>
                                        <p:cTn id="251" dur="600" fill="hold"/>
                                        <p:tgtEl>
                                          <p:spTgt spid="38"/>
                                        </p:tgtEl>
                                        <p:attrNameLst>
                                          <p:attrName>ppt_h</p:attrName>
                                        </p:attrNameLst>
                                      </p:cBhvr>
                                      <p:tavLst>
                                        <p:tav tm="0">
                                          <p:val>
                                            <p:fltVal val="0"/>
                                          </p:val>
                                        </p:tav>
                                        <p:tav tm="100000">
                                          <p:val>
                                            <p:strVal val="#ppt_h"/>
                                          </p:val>
                                        </p:tav>
                                      </p:tavLst>
                                    </p:anim>
                                    <p:animEffect transition="in" filter="fade">
                                      <p:cBhvr>
                                        <p:cTn id="252" dur="600"/>
                                        <p:tgtEl>
                                          <p:spTgt spid="38"/>
                                        </p:tgtEl>
                                      </p:cBhvr>
                                    </p:animEffect>
                                  </p:childTnLst>
                                </p:cTn>
                              </p:par>
                              <p:par>
                                <p:cTn id="253" presetID="10" presetClass="entr" presetSubtype="0" grpId="0" fill="hold" nodeType="withEffect">
                                  <p:stCondLst>
                                    <p:cond delay="590"/>
                                  </p:stCondLst>
                                  <p:childTnLst>
                                    <p:set>
                                      <p:cBhvr>
                                        <p:cTn id="254" dur="1" fill="hold">
                                          <p:stCondLst>
                                            <p:cond delay="0"/>
                                          </p:stCondLst>
                                        </p:cTn>
                                        <p:tgtEl>
                                          <p:spTgt spid="39">
                                            <p:txEl>
                                              <p:pRg st="0" end="0"/>
                                            </p:txEl>
                                          </p:spTgt>
                                        </p:tgtEl>
                                        <p:attrNameLst>
                                          <p:attrName>style.visibility</p:attrName>
                                        </p:attrNameLst>
                                      </p:cBhvr>
                                      <p:to>
                                        <p:strVal val="visible"/>
                                      </p:to>
                                    </p:set>
                                    <p:animEffect transition="in" filter="fade">
                                      <p:cBhvr>
                                        <p:cTn id="255" dur="450"/>
                                        <p:tgtEl>
                                          <p:spTgt spid="39">
                                            <p:txEl>
                                              <p:pRg st="0" end="0"/>
                                            </p:txEl>
                                          </p:spTgt>
                                        </p:tgtEl>
                                      </p:cBhvr>
                                    </p:animEffect>
                                  </p:childTnLst>
                                </p:cTn>
                              </p:par>
                              <p:par>
                                <p:cTn id="256" presetID="10" presetClass="entr" presetSubtype="0" grpId="0" fill="hold" nodeType="withEffect">
                                  <p:stCondLst>
                                    <p:cond delay="915"/>
                                  </p:stCondLst>
                                  <p:childTnLst>
                                    <p:set>
                                      <p:cBhvr>
                                        <p:cTn id="257" dur="1" fill="hold">
                                          <p:stCondLst>
                                            <p:cond delay="0"/>
                                          </p:stCondLst>
                                        </p:cTn>
                                        <p:tgtEl>
                                          <p:spTgt spid="39">
                                            <p:txEl>
                                              <p:pRg st="1" end="1"/>
                                            </p:txEl>
                                          </p:spTgt>
                                        </p:tgtEl>
                                        <p:attrNameLst>
                                          <p:attrName>style.visibility</p:attrName>
                                        </p:attrNameLst>
                                      </p:cBhvr>
                                      <p:to>
                                        <p:strVal val="visible"/>
                                      </p:to>
                                    </p:set>
                                    <p:animEffect transition="in" filter="fade">
                                      <p:cBhvr>
                                        <p:cTn id="258" dur="450"/>
                                        <p:tgtEl>
                                          <p:spTgt spid="39">
                                            <p:txEl>
                                              <p:pRg st="1" end="1"/>
                                            </p:txEl>
                                          </p:spTgt>
                                        </p:tgtEl>
                                      </p:cBhvr>
                                    </p:animEffect>
                                  </p:childTnLst>
                                </p:cTn>
                              </p:par>
                              <p:par>
                                <p:cTn id="259" presetID="10" presetClass="entr" presetSubtype="0" grpId="0" fill="hold" nodeType="withEffect">
                                  <p:stCondLst>
                                    <p:cond delay="1240"/>
                                  </p:stCondLst>
                                  <p:childTnLst>
                                    <p:set>
                                      <p:cBhvr>
                                        <p:cTn id="260" dur="1" fill="hold">
                                          <p:stCondLst>
                                            <p:cond delay="0"/>
                                          </p:stCondLst>
                                        </p:cTn>
                                        <p:tgtEl>
                                          <p:spTgt spid="39">
                                            <p:txEl>
                                              <p:pRg st="2" end="2"/>
                                            </p:txEl>
                                          </p:spTgt>
                                        </p:tgtEl>
                                        <p:attrNameLst>
                                          <p:attrName>style.visibility</p:attrName>
                                        </p:attrNameLst>
                                      </p:cBhvr>
                                      <p:to>
                                        <p:strVal val="visible"/>
                                      </p:to>
                                    </p:set>
                                    <p:animEffect transition="in" filter="fade">
                                      <p:cBhvr>
                                        <p:cTn id="261" dur="450"/>
                                        <p:tgtEl>
                                          <p:spTgt spid="39">
                                            <p:txEl>
                                              <p:pRg st="2" end="2"/>
                                            </p:txEl>
                                          </p:spTgt>
                                        </p:tgtEl>
                                      </p:cBhvr>
                                    </p:animEffect>
                                  </p:childTnLst>
                                </p:cTn>
                              </p:par>
                              <p:par>
                                <p:cTn id="262" presetID="10" presetClass="entr" presetSubtype="0" grpId="0" fill="hold" nodeType="withEffect">
                                  <p:stCondLst>
                                    <p:cond delay="1565"/>
                                  </p:stCondLst>
                                  <p:childTnLst>
                                    <p:set>
                                      <p:cBhvr>
                                        <p:cTn id="263" dur="1" fill="hold">
                                          <p:stCondLst>
                                            <p:cond delay="0"/>
                                          </p:stCondLst>
                                        </p:cTn>
                                        <p:tgtEl>
                                          <p:spTgt spid="39">
                                            <p:txEl>
                                              <p:pRg st="3" end="3"/>
                                            </p:txEl>
                                          </p:spTgt>
                                        </p:tgtEl>
                                        <p:attrNameLst>
                                          <p:attrName>style.visibility</p:attrName>
                                        </p:attrNameLst>
                                      </p:cBhvr>
                                      <p:to>
                                        <p:strVal val="visible"/>
                                      </p:to>
                                    </p:set>
                                    <p:animEffect transition="in" filter="fade">
                                      <p:cBhvr>
                                        <p:cTn id="264" dur="450"/>
                                        <p:tgtEl>
                                          <p:spTgt spid="39">
                                            <p:txEl>
                                              <p:pRg st="3" end="3"/>
                                            </p:txEl>
                                          </p:spTgt>
                                        </p:tgtEl>
                                      </p:cBhvr>
                                    </p:animEffect>
                                  </p:childTnLst>
                                </p:cTn>
                              </p:par>
                              <p:par>
                                <p:cTn id="265" presetID="22" presetClass="entr" presetSubtype="4" fill="hold" nodeType="withEffect">
                                  <p:stCondLst>
                                    <p:cond delay="660"/>
                                  </p:stCondLst>
                                  <p:childTnLst>
                                    <p:set>
                                      <p:cBhvr>
                                        <p:cTn id="266" dur="1" fill="hold">
                                          <p:stCondLst>
                                            <p:cond delay="0"/>
                                          </p:stCondLst>
                                        </p:cTn>
                                        <p:tgtEl>
                                          <p:spTgt spid="40"/>
                                        </p:tgtEl>
                                        <p:attrNameLst>
                                          <p:attrName>style.visibility</p:attrName>
                                        </p:attrNameLst>
                                      </p:cBhvr>
                                      <p:to>
                                        <p:strVal val="visible"/>
                                      </p:to>
                                    </p:set>
                                    <p:animEffect transition="in" filter="wipe(down)">
                                      <p:cBhvr>
                                        <p:cTn id="267" dur="500"/>
                                        <p:tgtEl>
                                          <p:spTgt spid="40"/>
                                        </p:tgtEl>
                                      </p:cBhvr>
                                    </p:animEffect>
                                  </p:childTnLst>
                                </p:cTn>
                              </p:par>
                              <p:par>
                                <p:cTn id="268" presetID="10" presetClass="entr" presetSubtype="0" fill="hold" nodeType="withEffect">
                                  <p:stCondLst>
                                    <p:cond delay="580"/>
                                  </p:stCondLst>
                                  <p:childTnLst>
                                    <p:set>
                                      <p:cBhvr>
                                        <p:cTn id="269" dur="1" fill="hold">
                                          <p:stCondLst>
                                            <p:cond delay="0"/>
                                          </p:stCondLst>
                                        </p:cTn>
                                        <p:tgtEl>
                                          <p:spTgt spid="41"/>
                                        </p:tgtEl>
                                        <p:attrNameLst>
                                          <p:attrName>style.visibility</p:attrName>
                                        </p:attrNameLst>
                                      </p:cBhvr>
                                      <p:to>
                                        <p:strVal val="visible"/>
                                      </p:to>
                                    </p:set>
                                    <p:animEffect transition="in" filter="fade">
                                      <p:cBhvr>
                                        <p:cTn id="270" dur="450"/>
                                        <p:tgtEl>
                                          <p:spTgt spid="41"/>
                                        </p:tgtEl>
                                      </p:cBhvr>
                                    </p:animEffect>
                                  </p:childTnLst>
                                </p:cTn>
                              </p:par>
                            </p:childTnLst>
                          </p:cTn>
                        </p:par>
                      </p:childTnLst>
                    </p:cTn>
                  </p:par>
                  <p:par>
                    <p:cTn id="271" fill="hold">
                      <p:stCondLst>
                        <p:cond delay="indefinite"/>
                      </p:stCondLst>
                      <p:childTnLst>
                        <p:par>
                          <p:cTn id="272" fill="hold">
                            <p:stCondLst>
                              <p:cond delay="0"/>
                            </p:stCondLst>
                            <p:childTnLst>
                              <p:par>
                                <p:cTn id="273" presetID="10" presetClass="exit" presetSubtype="0" fill="hold" nodeType="clickEffect">
                                  <p:stCondLst>
                                    <p:cond delay="0"/>
                                  </p:stCondLst>
                                  <p:childTnLst>
                                    <p:animEffect transition="out" filter="fade">
                                      <p:cBhvr>
                                        <p:cTn id="274" dur="350"/>
                                        <p:tgtEl>
                                          <p:spTgt spid="37"/>
                                        </p:tgtEl>
                                      </p:cBhvr>
                                    </p:animEffect>
                                    <p:set>
                                      <p:cBhvr>
                                        <p:cTn id="275" dur="1" fill="hold">
                                          <p:stCondLst>
                                            <p:cond delay="349"/>
                                          </p:stCondLst>
                                        </p:cTn>
                                        <p:tgtEl>
                                          <p:spTgt spid="37"/>
                                        </p:tgtEl>
                                        <p:attrNameLst>
                                          <p:attrName>style.visibility</p:attrName>
                                        </p:attrNameLst>
                                      </p:cBhvr>
                                      <p:to>
                                        <p:strVal val="hidden"/>
                                      </p:to>
                                    </p:set>
                                  </p:childTnLst>
                                </p:cTn>
                              </p:par>
                              <p:par>
                                <p:cTn id="276" presetID="10" presetClass="exit" presetSubtype="0" grpId="0" fill="hold" nodeType="withEffect">
                                  <p:stCondLst>
                                    <p:cond delay="0"/>
                                  </p:stCondLst>
                                  <p:childTnLst>
                                    <p:animEffect transition="out" filter="fade">
                                      <p:cBhvr>
                                        <p:cTn id="277" dur="350"/>
                                        <p:tgtEl>
                                          <p:spTgt spid="39">
                                            <p:txEl>
                                              <p:pRg st="0" end="0"/>
                                            </p:txEl>
                                          </p:spTgt>
                                        </p:tgtEl>
                                      </p:cBhvr>
                                    </p:animEffect>
                                    <p:set>
                                      <p:cBhvr>
                                        <p:cTn id="278" dur="1" fill="hold">
                                          <p:stCondLst>
                                            <p:cond delay="349"/>
                                          </p:stCondLst>
                                        </p:cTn>
                                        <p:tgtEl>
                                          <p:spTgt spid="39">
                                            <p:txEl>
                                              <p:pRg st="0" end="0"/>
                                            </p:txEl>
                                          </p:spTgt>
                                        </p:tgtEl>
                                        <p:attrNameLst>
                                          <p:attrName>style.visibility</p:attrName>
                                        </p:attrNameLst>
                                      </p:cBhvr>
                                      <p:to>
                                        <p:strVal val="hidden"/>
                                      </p:to>
                                    </p:set>
                                  </p:childTnLst>
                                </p:cTn>
                              </p:par>
                              <p:par>
                                <p:cTn id="279" presetID="10" presetClass="exit" presetSubtype="0" grpId="0" fill="hold" nodeType="withEffect">
                                  <p:stCondLst>
                                    <p:cond delay="0"/>
                                  </p:stCondLst>
                                  <p:childTnLst>
                                    <p:animEffect transition="out" filter="fade">
                                      <p:cBhvr>
                                        <p:cTn id="280" dur="350"/>
                                        <p:tgtEl>
                                          <p:spTgt spid="39">
                                            <p:txEl>
                                              <p:pRg st="1" end="1"/>
                                            </p:txEl>
                                          </p:spTgt>
                                        </p:tgtEl>
                                      </p:cBhvr>
                                    </p:animEffect>
                                    <p:set>
                                      <p:cBhvr>
                                        <p:cTn id="281" dur="1" fill="hold">
                                          <p:stCondLst>
                                            <p:cond delay="349"/>
                                          </p:stCondLst>
                                        </p:cTn>
                                        <p:tgtEl>
                                          <p:spTgt spid="39">
                                            <p:txEl>
                                              <p:pRg st="1" end="1"/>
                                            </p:txEl>
                                          </p:spTgt>
                                        </p:tgtEl>
                                        <p:attrNameLst>
                                          <p:attrName>style.visibility</p:attrName>
                                        </p:attrNameLst>
                                      </p:cBhvr>
                                      <p:to>
                                        <p:strVal val="hidden"/>
                                      </p:to>
                                    </p:set>
                                  </p:childTnLst>
                                </p:cTn>
                              </p:par>
                              <p:par>
                                <p:cTn id="282" presetID="10" presetClass="exit" presetSubtype="0" grpId="0" fill="hold" nodeType="withEffect">
                                  <p:stCondLst>
                                    <p:cond delay="0"/>
                                  </p:stCondLst>
                                  <p:childTnLst>
                                    <p:animEffect transition="out" filter="fade">
                                      <p:cBhvr>
                                        <p:cTn id="283" dur="350"/>
                                        <p:tgtEl>
                                          <p:spTgt spid="39">
                                            <p:txEl>
                                              <p:pRg st="2" end="2"/>
                                            </p:txEl>
                                          </p:spTgt>
                                        </p:tgtEl>
                                      </p:cBhvr>
                                    </p:animEffect>
                                    <p:set>
                                      <p:cBhvr>
                                        <p:cTn id="284" dur="1" fill="hold">
                                          <p:stCondLst>
                                            <p:cond delay="349"/>
                                          </p:stCondLst>
                                        </p:cTn>
                                        <p:tgtEl>
                                          <p:spTgt spid="39">
                                            <p:txEl>
                                              <p:pRg st="2" end="2"/>
                                            </p:txEl>
                                          </p:spTgt>
                                        </p:tgtEl>
                                        <p:attrNameLst>
                                          <p:attrName>style.visibility</p:attrName>
                                        </p:attrNameLst>
                                      </p:cBhvr>
                                      <p:to>
                                        <p:strVal val="hidden"/>
                                      </p:to>
                                    </p:set>
                                  </p:childTnLst>
                                </p:cTn>
                              </p:par>
                              <p:par>
                                <p:cTn id="285" presetID="10" presetClass="exit" presetSubtype="0" grpId="0" fill="hold" nodeType="withEffect">
                                  <p:stCondLst>
                                    <p:cond delay="0"/>
                                  </p:stCondLst>
                                  <p:childTnLst>
                                    <p:animEffect transition="out" filter="fade">
                                      <p:cBhvr>
                                        <p:cTn id="286" dur="350"/>
                                        <p:tgtEl>
                                          <p:spTgt spid="39">
                                            <p:txEl>
                                              <p:pRg st="3" end="3"/>
                                            </p:txEl>
                                          </p:spTgt>
                                        </p:tgtEl>
                                      </p:cBhvr>
                                    </p:animEffect>
                                    <p:set>
                                      <p:cBhvr>
                                        <p:cTn id="287" dur="1" fill="hold">
                                          <p:stCondLst>
                                            <p:cond delay="349"/>
                                          </p:stCondLst>
                                        </p:cTn>
                                        <p:tgtEl>
                                          <p:spTgt spid="39">
                                            <p:txEl>
                                              <p:pRg st="3" end="3"/>
                                            </p:txEl>
                                          </p:spTgt>
                                        </p:tgtEl>
                                        <p:attrNameLst>
                                          <p:attrName>style.visibility</p:attrName>
                                        </p:attrNameLst>
                                      </p:cBhvr>
                                      <p:to>
                                        <p:strVal val="hidden"/>
                                      </p:to>
                                    </p:set>
                                  </p:childTnLst>
                                </p:cTn>
                              </p:par>
                              <p:par>
                                <p:cTn id="288" presetID="10" presetClass="exit" presetSubtype="0" fill="hold" nodeType="withEffect">
                                  <p:stCondLst>
                                    <p:cond delay="0"/>
                                  </p:stCondLst>
                                  <p:childTnLst>
                                    <p:animEffect transition="out" filter="fade">
                                      <p:cBhvr>
                                        <p:cTn id="289" dur="350"/>
                                        <p:tgtEl>
                                          <p:spTgt spid="40"/>
                                        </p:tgtEl>
                                      </p:cBhvr>
                                    </p:animEffect>
                                    <p:set>
                                      <p:cBhvr>
                                        <p:cTn id="290" dur="1" fill="hold">
                                          <p:stCondLst>
                                            <p:cond delay="349"/>
                                          </p:stCondLst>
                                        </p:cTn>
                                        <p:tgtEl>
                                          <p:spTgt spid="40"/>
                                        </p:tgtEl>
                                        <p:attrNameLst>
                                          <p:attrName>style.visibility</p:attrName>
                                        </p:attrNameLst>
                                      </p:cBhvr>
                                      <p:to>
                                        <p:strVal val="hidden"/>
                                      </p:to>
                                    </p:set>
                                  </p:childTnLst>
                                </p:cTn>
                              </p:par>
                              <p:par>
                                <p:cTn id="291" presetID="10" presetClass="exit" presetSubtype="0" fill="hold" nodeType="withEffect">
                                  <p:stCondLst>
                                    <p:cond delay="0"/>
                                  </p:stCondLst>
                                  <p:childTnLst>
                                    <p:animEffect transition="out" filter="fade">
                                      <p:cBhvr>
                                        <p:cTn id="292" dur="350"/>
                                        <p:tgtEl>
                                          <p:spTgt spid="41"/>
                                        </p:tgtEl>
                                      </p:cBhvr>
                                    </p:animEffect>
                                    <p:set>
                                      <p:cBhvr>
                                        <p:cTn id="293" dur="1" fill="hold">
                                          <p:stCondLst>
                                            <p:cond delay="349"/>
                                          </p:stCondLst>
                                        </p:cTn>
                                        <p:tgtEl>
                                          <p:spTgt spid="41"/>
                                        </p:tgtEl>
                                        <p:attrNameLst>
                                          <p:attrName>style.visibility</p:attrName>
                                        </p:attrNameLst>
                                      </p:cBhvr>
                                      <p:to>
                                        <p:strVal val="hidden"/>
                                      </p:to>
                                    </p:set>
                                  </p:childTnLst>
                                </p:cTn>
                              </p:par>
                              <p:par>
                                <p:cTn id="294" presetID="0" presetClass="path" presetSubtype="0" accel="50000" decel="50000" fill="hold" nodeType="withEffect">
                                  <p:stCondLst>
                                    <p:cond delay="0"/>
                                  </p:stCondLst>
                                  <p:childTnLst>
                                    <p:animMotion origin="layout" path="M 0 0 L 0.55024 -0.19095 E" pathEditMode="relative" rAng="0" ptsTypes="AA">
                                      <p:cBhvr>
                                        <p:cTn id="295" dur="750" fill="hold"/>
                                        <p:tgtEl>
                                          <p:spTgt spid="38"/>
                                        </p:tgtEl>
                                        <p:attrNameLst>
                                          <p:attrName>ppt_x</p:attrName>
                                          <p:attrName>ppt_y</p:attrName>
                                        </p:attrNameLst>
                                      </p:cBhvr>
                                      <p:rCtr x="27511" y="-9547"/>
                                    </p:animMotion>
                                  </p:childTnLst>
                                </p:cTn>
                              </p:par>
                              <p:par>
                                <p:cTn id="296" presetID="6" presetClass="emph" presetSubtype="0" accel="50000" decel="50000" fill="hold" nodeType="withEffect">
                                  <p:stCondLst>
                                    <p:cond delay="0"/>
                                  </p:stCondLst>
                                  <p:childTnLst>
                                    <p:animScale>
                                      <p:cBhvr>
                                        <p:cTn id="297" dur="750" fill="hold"/>
                                        <p:tgtEl>
                                          <p:spTgt spid="38"/>
                                        </p:tgtEl>
                                      </p:cBhvr>
                                      <p:by x="27510" y="27510"/>
                                    </p:animScale>
                                  </p:childTnLst>
                                </p:cTn>
                              </p:par>
                              <p:par>
                                <p:cTn id="298" presetID="10" presetClass="entr" presetSubtype="0" fill="hold" nodeType="withEffect">
                                  <p:stCondLst>
                                    <p:cond delay="450"/>
                                  </p:stCondLst>
                                  <p:childTnLst>
                                    <p:set>
                                      <p:cBhvr>
                                        <p:cTn id="299" dur="1" fill="hold">
                                          <p:stCondLst>
                                            <p:cond delay="0"/>
                                          </p:stCondLst>
                                        </p:cTn>
                                        <p:tgtEl>
                                          <p:spTgt spid="42"/>
                                        </p:tgtEl>
                                        <p:attrNameLst>
                                          <p:attrName>style.visibility</p:attrName>
                                        </p:attrNameLst>
                                      </p:cBhvr>
                                      <p:to>
                                        <p:strVal val="visible"/>
                                      </p:to>
                                    </p:set>
                                    <p:animEffect transition="in" filter="fade">
                                      <p:cBhvr>
                                        <p:cTn id="300" dur="450"/>
                                        <p:tgtEl>
                                          <p:spTgt spid="42"/>
                                        </p:tgtEl>
                                      </p:cBhvr>
                                    </p:animEffect>
                                  </p:childTnLst>
                                </p:cTn>
                              </p:par>
                              <p:par>
                                <p:cTn id="301" presetID="10" presetClass="entr" presetSubtype="0" fill="hold" nodeType="withEffect">
                                  <p:stCondLst>
                                    <p:cond delay="520"/>
                                  </p:stCondLst>
                                  <p:childTnLst>
                                    <p:set>
                                      <p:cBhvr>
                                        <p:cTn id="302" dur="1" fill="hold">
                                          <p:stCondLst>
                                            <p:cond delay="0"/>
                                          </p:stCondLst>
                                        </p:cTn>
                                        <p:tgtEl>
                                          <p:spTgt spid="43"/>
                                        </p:tgtEl>
                                        <p:attrNameLst>
                                          <p:attrName>style.visibility</p:attrName>
                                        </p:attrNameLst>
                                      </p:cBhvr>
                                      <p:to>
                                        <p:strVal val="visible"/>
                                      </p:to>
                                    </p:set>
                                    <p:animEffect transition="in" filter="fade">
                                      <p:cBhvr>
                                        <p:cTn id="303" dur="450"/>
                                        <p:tgtEl>
                                          <p:spTgt spid="43"/>
                                        </p:tgtEl>
                                      </p:cBhvr>
                                    </p:animEffect>
                                  </p:childTnLst>
                                </p:cTn>
                              </p:par>
                              <p:par>
                                <p:cTn id="304" presetID="22" presetClass="entr" presetSubtype="8" fill="hold" nodeType="withEffect">
                                  <p:stCondLst>
                                    <p:cond delay="590"/>
                                  </p:stCondLst>
                                  <p:childTnLst>
                                    <p:set>
                                      <p:cBhvr>
                                        <p:cTn id="305" dur="1" fill="hold">
                                          <p:stCondLst>
                                            <p:cond delay="0"/>
                                          </p:stCondLst>
                                        </p:cTn>
                                        <p:tgtEl>
                                          <p:spTgt spid="44"/>
                                        </p:tgtEl>
                                        <p:attrNameLst>
                                          <p:attrName>style.visibility</p:attrName>
                                        </p:attrNameLst>
                                      </p:cBhvr>
                                      <p:to>
                                        <p:strVal val="visible"/>
                                      </p:to>
                                    </p:set>
                                    <p:animEffect transition="in" filter="wipe(left)">
                                      <p:cBhvr>
                                        <p:cTn id="306" dur="500"/>
                                        <p:tgtEl>
                                          <p:spTgt spid="44"/>
                                        </p:tgtEl>
                                      </p:cBhvr>
                                    </p:animEffect>
                                  </p:childTnLst>
                                </p:cTn>
                              </p:par>
                              <p:par>
                                <p:cTn id="307" presetID="10" presetClass="entr" presetSubtype="0" fill="hold" nodeType="withEffect">
                                  <p:stCondLst>
                                    <p:cond delay="660"/>
                                  </p:stCondLst>
                                  <p:childTnLst>
                                    <p:set>
                                      <p:cBhvr>
                                        <p:cTn id="308" dur="1" fill="hold">
                                          <p:stCondLst>
                                            <p:cond delay="0"/>
                                          </p:stCondLst>
                                        </p:cTn>
                                        <p:tgtEl>
                                          <p:spTgt spid="45"/>
                                        </p:tgtEl>
                                        <p:attrNameLst>
                                          <p:attrName>style.visibility</p:attrName>
                                        </p:attrNameLst>
                                      </p:cBhvr>
                                      <p:to>
                                        <p:strVal val="visible"/>
                                      </p:to>
                                    </p:set>
                                    <p:animEffect transition="in" filter="fade">
                                      <p:cBhvr>
                                        <p:cTn id="309" dur="450"/>
                                        <p:tgtEl>
                                          <p:spTgt spid="45"/>
                                        </p:tgtEl>
                                      </p:cBhvr>
                                    </p:animEffect>
                                  </p:childTnLst>
                                </p:cTn>
                              </p:par>
                              <p:par>
                                <p:cTn id="310" presetID="22" presetClass="entr" presetSubtype="8" fill="hold" nodeType="withEffect">
                                  <p:stCondLst>
                                    <p:cond delay="730"/>
                                  </p:stCondLst>
                                  <p:childTnLst>
                                    <p:set>
                                      <p:cBhvr>
                                        <p:cTn id="311" dur="1" fill="hold">
                                          <p:stCondLst>
                                            <p:cond delay="0"/>
                                          </p:stCondLst>
                                        </p:cTn>
                                        <p:tgtEl>
                                          <p:spTgt spid="46"/>
                                        </p:tgtEl>
                                        <p:attrNameLst>
                                          <p:attrName>style.visibility</p:attrName>
                                        </p:attrNameLst>
                                      </p:cBhvr>
                                      <p:to>
                                        <p:strVal val="visible"/>
                                      </p:to>
                                    </p:set>
                                    <p:animEffect transition="in" filter="wipe(left)">
                                      <p:cBhvr>
                                        <p:cTn id="312" dur="500"/>
                                        <p:tgtEl>
                                          <p:spTgt spid="46"/>
                                        </p:tgtEl>
                                      </p:cBhvr>
                                    </p:animEffect>
                                  </p:childTnLst>
                                </p:cTn>
                              </p:par>
                              <p:par>
                                <p:cTn id="313" presetID="10" presetClass="entr" presetSubtype="0" fill="hold" nodeType="withEffect">
                                  <p:stCondLst>
                                    <p:cond delay="800"/>
                                  </p:stCondLst>
                                  <p:childTnLst>
                                    <p:set>
                                      <p:cBhvr>
                                        <p:cTn id="314" dur="1" fill="hold">
                                          <p:stCondLst>
                                            <p:cond delay="0"/>
                                          </p:stCondLst>
                                        </p:cTn>
                                        <p:tgtEl>
                                          <p:spTgt spid="47"/>
                                        </p:tgtEl>
                                        <p:attrNameLst>
                                          <p:attrName>style.visibility</p:attrName>
                                        </p:attrNameLst>
                                      </p:cBhvr>
                                      <p:to>
                                        <p:strVal val="visible"/>
                                      </p:to>
                                    </p:set>
                                    <p:animEffect transition="in" filter="fade">
                                      <p:cBhvr>
                                        <p:cTn id="315" dur="450"/>
                                        <p:tgtEl>
                                          <p:spTgt spid="47"/>
                                        </p:tgtEl>
                                      </p:cBhvr>
                                    </p:animEffect>
                                  </p:childTnLst>
                                </p:cTn>
                              </p:par>
                              <p:par>
                                <p:cTn id="316" presetID="22" presetClass="entr" presetSubtype="8" fill="hold" nodeType="withEffect">
                                  <p:stCondLst>
                                    <p:cond delay="870"/>
                                  </p:stCondLst>
                                  <p:childTnLst>
                                    <p:set>
                                      <p:cBhvr>
                                        <p:cTn id="317" dur="1" fill="hold">
                                          <p:stCondLst>
                                            <p:cond delay="0"/>
                                          </p:stCondLst>
                                        </p:cTn>
                                        <p:tgtEl>
                                          <p:spTgt spid="48"/>
                                        </p:tgtEl>
                                        <p:attrNameLst>
                                          <p:attrName>style.visibility</p:attrName>
                                        </p:attrNameLst>
                                      </p:cBhvr>
                                      <p:to>
                                        <p:strVal val="visible"/>
                                      </p:to>
                                    </p:set>
                                    <p:animEffect transition="in" filter="wipe(left)">
                                      <p:cBhvr>
                                        <p:cTn id="318" dur="500"/>
                                        <p:tgtEl>
                                          <p:spTgt spid="48"/>
                                        </p:tgtEl>
                                      </p:cBhvr>
                                    </p:animEffect>
                                  </p:childTnLst>
                                </p:cTn>
                              </p:par>
                              <p:par>
                                <p:cTn id="319" presetID="10" presetClass="entr" presetSubtype="0" fill="hold" nodeType="withEffect">
                                  <p:stCondLst>
                                    <p:cond delay="940"/>
                                  </p:stCondLst>
                                  <p:childTnLst>
                                    <p:set>
                                      <p:cBhvr>
                                        <p:cTn id="320" dur="1" fill="hold">
                                          <p:stCondLst>
                                            <p:cond delay="0"/>
                                          </p:stCondLst>
                                        </p:cTn>
                                        <p:tgtEl>
                                          <p:spTgt spid="49"/>
                                        </p:tgtEl>
                                        <p:attrNameLst>
                                          <p:attrName>style.visibility</p:attrName>
                                        </p:attrNameLst>
                                      </p:cBhvr>
                                      <p:to>
                                        <p:strVal val="visible"/>
                                      </p:to>
                                    </p:set>
                                    <p:animEffect transition="in" filter="fade">
                                      <p:cBhvr>
                                        <p:cTn id="321" dur="450"/>
                                        <p:tgtEl>
                                          <p:spTgt spid="49"/>
                                        </p:tgtEl>
                                      </p:cBhvr>
                                    </p:animEffect>
                                  </p:childTnLst>
                                </p:cTn>
                              </p:par>
                              <p:par>
                                <p:cTn id="322" presetID="22" presetClass="entr" presetSubtype="8" fill="hold" nodeType="withEffect">
                                  <p:stCondLst>
                                    <p:cond delay="1010"/>
                                  </p:stCondLst>
                                  <p:childTnLst>
                                    <p:set>
                                      <p:cBhvr>
                                        <p:cTn id="323" dur="1" fill="hold">
                                          <p:stCondLst>
                                            <p:cond delay="0"/>
                                          </p:stCondLst>
                                        </p:cTn>
                                        <p:tgtEl>
                                          <p:spTgt spid="50"/>
                                        </p:tgtEl>
                                        <p:attrNameLst>
                                          <p:attrName>style.visibility</p:attrName>
                                        </p:attrNameLst>
                                      </p:cBhvr>
                                      <p:to>
                                        <p:strVal val="visible"/>
                                      </p:to>
                                    </p:set>
                                    <p:animEffect transition="in" filter="wipe(left)">
                                      <p:cBhvr>
                                        <p:cTn id="324" dur="500"/>
                                        <p:tgtEl>
                                          <p:spTgt spid="50"/>
                                        </p:tgtEl>
                                      </p:cBhvr>
                                    </p:animEffect>
                                  </p:childTnLst>
                                </p:cTn>
                              </p:par>
                              <p:par>
                                <p:cTn id="325" presetID="10" presetClass="entr" presetSubtype="0" fill="hold" nodeType="withEffect">
                                  <p:stCondLst>
                                    <p:cond delay="1080"/>
                                  </p:stCondLst>
                                  <p:childTnLst>
                                    <p:set>
                                      <p:cBhvr>
                                        <p:cTn id="326" dur="1" fill="hold">
                                          <p:stCondLst>
                                            <p:cond delay="0"/>
                                          </p:stCondLst>
                                        </p:cTn>
                                        <p:tgtEl>
                                          <p:spTgt spid="51"/>
                                        </p:tgtEl>
                                        <p:attrNameLst>
                                          <p:attrName>style.visibility</p:attrName>
                                        </p:attrNameLst>
                                      </p:cBhvr>
                                      <p:to>
                                        <p:strVal val="visible"/>
                                      </p:to>
                                    </p:set>
                                    <p:animEffect transition="in" filter="fade">
                                      <p:cBhvr>
                                        <p:cTn id="327" dur="450"/>
                                        <p:tgtEl>
                                          <p:spTgt spid="51"/>
                                        </p:tgtEl>
                                      </p:cBhvr>
                                    </p:animEffect>
                                  </p:childTnLst>
                                </p:cTn>
                              </p:par>
                              <p:par>
                                <p:cTn id="328" presetID="22" presetClass="entr" presetSubtype="8" fill="hold" nodeType="withEffect">
                                  <p:stCondLst>
                                    <p:cond delay="1150"/>
                                  </p:stCondLst>
                                  <p:childTnLst>
                                    <p:set>
                                      <p:cBhvr>
                                        <p:cTn id="329" dur="1" fill="hold">
                                          <p:stCondLst>
                                            <p:cond delay="0"/>
                                          </p:stCondLst>
                                        </p:cTn>
                                        <p:tgtEl>
                                          <p:spTgt spid="52"/>
                                        </p:tgtEl>
                                        <p:attrNameLst>
                                          <p:attrName>style.visibility</p:attrName>
                                        </p:attrNameLst>
                                      </p:cBhvr>
                                      <p:to>
                                        <p:strVal val="visible"/>
                                      </p:to>
                                    </p:set>
                                    <p:animEffect transition="in" filter="wipe(left)">
                                      <p:cBhvr>
                                        <p:cTn id="330" dur="500"/>
                                        <p:tgtEl>
                                          <p:spTgt spid="52"/>
                                        </p:tgtEl>
                                      </p:cBhvr>
                                    </p:animEffect>
                                  </p:childTnLst>
                                </p:cTn>
                              </p:par>
                              <p:par>
                                <p:cTn id="331" presetID="10" presetClass="entr" presetSubtype="0" fill="hold" nodeType="withEffect">
                                  <p:stCondLst>
                                    <p:cond delay="1220"/>
                                  </p:stCondLst>
                                  <p:childTnLst>
                                    <p:set>
                                      <p:cBhvr>
                                        <p:cTn id="332" dur="1" fill="hold">
                                          <p:stCondLst>
                                            <p:cond delay="0"/>
                                          </p:stCondLst>
                                        </p:cTn>
                                        <p:tgtEl>
                                          <p:spTgt spid="53"/>
                                        </p:tgtEl>
                                        <p:attrNameLst>
                                          <p:attrName>style.visibility</p:attrName>
                                        </p:attrNameLst>
                                      </p:cBhvr>
                                      <p:to>
                                        <p:strVal val="visible"/>
                                      </p:to>
                                    </p:set>
                                    <p:animEffect transition="in" filter="fade">
                                      <p:cBhvr>
                                        <p:cTn id="333" dur="450"/>
                                        <p:tgtEl>
                                          <p:spTgt spid="53"/>
                                        </p:tgtEl>
                                      </p:cBhvr>
                                    </p:animEffect>
                                  </p:childTnLst>
                                </p:cTn>
                              </p:par>
                              <p:par>
                                <p:cTn id="334" presetID="22" presetClass="entr" presetSubtype="8" fill="hold" nodeType="withEffect">
                                  <p:stCondLst>
                                    <p:cond delay="1290"/>
                                  </p:stCondLst>
                                  <p:childTnLst>
                                    <p:set>
                                      <p:cBhvr>
                                        <p:cTn id="335" dur="1" fill="hold">
                                          <p:stCondLst>
                                            <p:cond delay="0"/>
                                          </p:stCondLst>
                                        </p:cTn>
                                        <p:tgtEl>
                                          <p:spTgt spid="54"/>
                                        </p:tgtEl>
                                        <p:attrNameLst>
                                          <p:attrName>style.visibility</p:attrName>
                                        </p:attrNameLst>
                                      </p:cBhvr>
                                      <p:to>
                                        <p:strVal val="visible"/>
                                      </p:to>
                                    </p:set>
                                    <p:animEffect transition="in" filter="wipe(left)">
                                      <p:cBhvr>
                                        <p:cTn id="336" dur="500"/>
                                        <p:tgtEl>
                                          <p:spTgt spid="54"/>
                                        </p:tgtEl>
                                      </p:cBhvr>
                                    </p:animEffect>
                                  </p:childTnLst>
                                </p:cTn>
                              </p:par>
                              <p:par>
                                <p:cTn id="337" presetID="10" presetClass="entr" presetSubtype="0" fill="hold" nodeType="withEffect">
                                  <p:stCondLst>
                                    <p:cond delay="1360"/>
                                  </p:stCondLst>
                                  <p:childTnLst>
                                    <p:set>
                                      <p:cBhvr>
                                        <p:cTn id="338" dur="1" fill="hold">
                                          <p:stCondLst>
                                            <p:cond delay="0"/>
                                          </p:stCondLst>
                                        </p:cTn>
                                        <p:tgtEl>
                                          <p:spTgt spid="55"/>
                                        </p:tgtEl>
                                        <p:attrNameLst>
                                          <p:attrName>style.visibility</p:attrName>
                                        </p:attrNameLst>
                                      </p:cBhvr>
                                      <p:to>
                                        <p:strVal val="visible"/>
                                      </p:to>
                                    </p:set>
                                    <p:animEffect transition="in" filter="fade">
                                      <p:cBhvr>
                                        <p:cTn id="339" dur="450"/>
                                        <p:tgtEl>
                                          <p:spTgt spid="55"/>
                                        </p:tgtEl>
                                      </p:cBhvr>
                                    </p:animEffect>
                                  </p:childTnLst>
                                </p:cTn>
                              </p:par>
                              <p:par>
                                <p:cTn id="340" presetID="22" presetClass="entr" presetSubtype="8" fill="hold" nodeType="withEffect">
                                  <p:stCondLst>
                                    <p:cond delay="1430"/>
                                  </p:stCondLst>
                                  <p:childTnLst>
                                    <p:set>
                                      <p:cBhvr>
                                        <p:cTn id="341" dur="1" fill="hold">
                                          <p:stCondLst>
                                            <p:cond delay="0"/>
                                          </p:stCondLst>
                                        </p:cTn>
                                        <p:tgtEl>
                                          <p:spTgt spid="56"/>
                                        </p:tgtEl>
                                        <p:attrNameLst>
                                          <p:attrName>style.visibility</p:attrName>
                                        </p:attrNameLst>
                                      </p:cBhvr>
                                      <p:to>
                                        <p:strVal val="visible"/>
                                      </p:to>
                                    </p:set>
                                    <p:animEffect transition="in" filter="wipe(left)">
                                      <p:cBhvr>
                                        <p:cTn id="342" dur="500"/>
                                        <p:tgtEl>
                                          <p:spTgt spid="56"/>
                                        </p:tgtEl>
                                      </p:cBhvr>
                                    </p:animEffect>
                                  </p:childTnLst>
                                </p:cTn>
                              </p:par>
                              <p:par>
                                <p:cTn id="343" presetID="10" presetClass="entr" presetSubtype="0" fill="hold" nodeType="withEffect">
                                  <p:stCondLst>
                                    <p:cond delay="1480"/>
                                  </p:stCondLst>
                                  <p:childTnLst>
                                    <p:set>
                                      <p:cBhvr>
                                        <p:cTn id="344" dur="1" fill="hold">
                                          <p:stCondLst>
                                            <p:cond delay="0"/>
                                          </p:stCondLst>
                                        </p:cTn>
                                        <p:tgtEl>
                                          <p:spTgt spid="57"/>
                                        </p:tgtEl>
                                        <p:attrNameLst>
                                          <p:attrName>style.visibility</p:attrName>
                                        </p:attrNameLst>
                                      </p:cBhvr>
                                      <p:to>
                                        <p:strVal val="visible"/>
                                      </p:to>
                                    </p:set>
                                    <p:animEffect transition="in" filter="fade">
                                      <p:cBhvr>
                                        <p:cTn id="345" dur="450"/>
                                        <p:tgtEl>
                                          <p:spTgt spid="57"/>
                                        </p:tgtEl>
                                      </p:cBhvr>
                                    </p:animEffect>
                                  </p:childTnLst>
                                </p:cTn>
                              </p:par>
                              <p:par>
                                <p:cTn id="346" presetID="22" presetClass="entr" presetSubtype="8" fill="hold" nodeType="withEffect">
                                  <p:stCondLst>
                                    <p:cond delay="1480"/>
                                  </p:stCondLst>
                                  <p:childTnLst>
                                    <p:set>
                                      <p:cBhvr>
                                        <p:cTn id="347" dur="1" fill="hold">
                                          <p:stCondLst>
                                            <p:cond delay="0"/>
                                          </p:stCondLst>
                                        </p:cTn>
                                        <p:tgtEl>
                                          <p:spTgt spid="58"/>
                                        </p:tgtEl>
                                        <p:attrNameLst>
                                          <p:attrName>style.visibility</p:attrName>
                                        </p:attrNameLst>
                                      </p:cBhvr>
                                      <p:to>
                                        <p:strVal val="visible"/>
                                      </p:to>
                                    </p:set>
                                    <p:animEffect transition="in" filter="wipe(left)">
                                      <p:cBhvr>
                                        <p:cTn id="348" dur="500"/>
                                        <p:tgtEl>
                                          <p:spTgt spid="58"/>
                                        </p:tgtEl>
                                      </p:cBhvr>
                                    </p:animEffect>
                                  </p:childTnLst>
                                </p:cTn>
                              </p:par>
                              <p:par>
                                <p:cTn id="349" presetID="10" presetClass="entr" presetSubtype="0" fill="hold" nodeType="withEffect">
                                  <p:stCondLst>
                                    <p:cond delay="580"/>
                                  </p:stCondLst>
                                  <p:childTnLst>
                                    <p:set>
                                      <p:cBhvr>
                                        <p:cTn id="350" dur="1" fill="hold">
                                          <p:stCondLst>
                                            <p:cond delay="0"/>
                                          </p:stCondLst>
                                        </p:cTn>
                                        <p:tgtEl>
                                          <p:spTgt spid="59"/>
                                        </p:tgtEl>
                                        <p:attrNameLst>
                                          <p:attrName>style.visibility</p:attrName>
                                        </p:attrNameLst>
                                      </p:cBhvr>
                                      <p:to>
                                        <p:strVal val="visible"/>
                                      </p:to>
                                    </p:set>
                                    <p:animEffect transition="in" filter="fade">
                                      <p:cBhvr>
                                        <p:cTn id="351" dur="450"/>
                                        <p:tgtEl>
                                          <p:spTgt spid="59"/>
                                        </p:tgtEl>
                                      </p:cBhvr>
                                    </p:animEffect>
                                  </p:childTnLst>
                                </p:cTn>
                              </p:par>
                            </p:childTnLst>
                          </p:cTn>
                        </p:par>
                      </p:childTnLst>
                    </p:cTn>
                  </p:par>
                  <p:par>
                    <p:cTn id="352" fill="hold">
                      <p:stCondLst>
                        <p:cond delay="indefinite"/>
                      </p:stCondLst>
                      <p:childTnLst>
                        <p:par>
                          <p:cTn id="353" fill="hold">
                            <p:stCondLst>
                              <p:cond delay="0"/>
                            </p:stCondLst>
                            <p:childTnLst>
                              <p:par>
                                <p:cTn id="354" presetID="10" presetClass="exit" presetSubtype="0" fill="hold" nodeType="clickEffect">
                                  <p:stCondLst>
                                    <p:cond delay="0"/>
                                  </p:stCondLst>
                                  <p:childTnLst>
                                    <p:animEffect transition="out" filter="fade">
                                      <p:cBhvr>
                                        <p:cTn id="355" dur="350"/>
                                        <p:tgtEl>
                                          <p:spTgt spid="42"/>
                                        </p:tgtEl>
                                      </p:cBhvr>
                                    </p:animEffect>
                                    <p:set>
                                      <p:cBhvr>
                                        <p:cTn id="356" dur="1" fill="hold">
                                          <p:stCondLst>
                                            <p:cond delay="349"/>
                                          </p:stCondLst>
                                        </p:cTn>
                                        <p:tgtEl>
                                          <p:spTgt spid="42"/>
                                        </p:tgtEl>
                                        <p:attrNameLst>
                                          <p:attrName>style.visibility</p:attrName>
                                        </p:attrNameLst>
                                      </p:cBhvr>
                                      <p:to>
                                        <p:strVal val="hidden"/>
                                      </p:to>
                                    </p:set>
                                  </p:childTnLst>
                                </p:cTn>
                              </p:par>
                              <p:par>
                                <p:cTn id="357" presetID="10" presetClass="exit" presetSubtype="0" fill="hold" nodeType="withEffect">
                                  <p:stCondLst>
                                    <p:cond delay="0"/>
                                  </p:stCondLst>
                                  <p:childTnLst>
                                    <p:animEffect transition="out" filter="fade">
                                      <p:cBhvr>
                                        <p:cTn id="358" dur="350"/>
                                        <p:tgtEl>
                                          <p:spTgt spid="43"/>
                                        </p:tgtEl>
                                      </p:cBhvr>
                                    </p:animEffect>
                                    <p:set>
                                      <p:cBhvr>
                                        <p:cTn id="359" dur="1" fill="hold">
                                          <p:stCondLst>
                                            <p:cond delay="349"/>
                                          </p:stCondLst>
                                        </p:cTn>
                                        <p:tgtEl>
                                          <p:spTgt spid="43"/>
                                        </p:tgtEl>
                                        <p:attrNameLst>
                                          <p:attrName>style.visibility</p:attrName>
                                        </p:attrNameLst>
                                      </p:cBhvr>
                                      <p:to>
                                        <p:strVal val="hidden"/>
                                      </p:to>
                                    </p:set>
                                  </p:childTnLst>
                                </p:cTn>
                              </p:par>
                              <p:par>
                                <p:cTn id="360" presetID="10" presetClass="exit" presetSubtype="0" fill="hold" nodeType="withEffect">
                                  <p:stCondLst>
                                    <p:cond delay="0"/>
                                  </p:stCondLst>
                                  <p:childTnLst>
                                    <p:animEffect transition="out" filter="fade">
                                      <p:cBhvr>
                                        <p:cTn id="361" dur="350"/>
                                        <p:tgtEl>
                                          <p:spTgt spid="44"/>
                                        </p:tgtEl>
                                      </p:cBhvr>
                                    </p:animEffect>
                                    <p:set>
                                      <p:cBhvr>
                                        <p:cTn id="362" dur="1" fill="hold">
                                          <p:stCondLst>
                                            <p:cond delay="349"/>
                                          </p:stCondLst>
                                        </p:cTn>
                                        <p:tgtEl>
                                          <p:spTgt spid="44"/>
                                        </p:tgtEl>
                                        <p:attrNameLst>
                                          <p:attrName>style.visibility</p:attrName>
                                        </p:attrNameLst>
                                      </p:cBhvr>
                                      <p:to>
                                        <p:strVal val="hidden"/>
                                      </p:to>
                                    </p:set>
                                  </p:childTnLst>
                                </p:cTn>
                              </p:par>
                              <p:par>
                                <p:cTn id="363" presetID="10" presetClass="exit" presetSubtype="0" fill="hold" nodeType="withEffect">
                                  <p:stCondLst>
                                    <p:cond delay="0"/>
                                  </p:stCondLst>
                                  <p:childTnLst>
                                    <p:animEffect transition="out" filter="fade">
                                      <p:cBhvr>
                                        <p:cTn id="364" dur="350"/>
                                        <p:tgtEl>
                                          <p:spTgt spid="45"/>
                                        </p:tgtEl>
                                      </p:cBhvr>
                                    </p:animEffect>
                                    <p:set>
                                      <p:cBhvr>
                                        <p:cTn id="365" dur="1" fill="hold">
                                          <p:stCondLst>
                                            <p:cond delay="349"/>
                                          </p:stCondLst>
                                        </p:cTn>
                                        <p:tgtEl>
                                          <p:spTgt spid="45"/>
                                        </p:tgtEl>
                                        <p:attrNameLst>
                                          <p:attrName>style.visibility</p:attrName>
                                        </p:attrNameLst>
                                      </p:cBhvr>
                                      <p:to>
                                        <p:strVal val="hidden"/>
                                      </p:to>
                                    </p:set>
                                  </p:childTnLst>
                                </p:cTn>
                              </p:par>
                              <p:par>
                                <p:cTn id="366" presetID="10" presetClass="exit" presetSubtype="0" fill="hold" nodeType="withEffect">
                                  <p:stCondLst>
                                    <p:cond delay="0"/>
                                  </p:stCondLst>
                                  <p:childTnLst>
                                    <p:animEffect transition="out" filter="fade">
                                      <p:cBhvr>
                                        <p:cTn id="367" dur="350"/>
                                        <p:tgtEl>
                                          <p:spTgt spid="46"/>
                                        </p:tgtEl>
                                      </p:cBhvr>
                                    </p:animEffect>
                                    <p:set>
                                      <p:cBhvr>
                                        <p:cTn id="368" dur="1" fill="hold">
                                          <p:stCondLst>
                                            <p:cond delay="349"/>
                                          </p:stCondLst>
                                        </p:cTn>
                                        <p:tgtEl>
                                          <p:spTgt spid="46"/>
                                        </p:tgtEl>
                                        <p:attrNameLst>
                                          <p:attrName>style.visibility</p:attrName>
                                        </p:attrNameLst>
                                      </p:cBhvr>
                                      <p:to>
                                        <p:strVal val="hidden"/>
                                      </p:to>
                                    </p:set>
                                  </p:childTnLst>
                                </p:cTn>
                              </p:par>
                              <p:par>
                                <p:cTn id="369" presetID="10" presetClass="exit" presetSubtype="0" fill="hold" nodeType="withEffect">
                                  <p:stCondLst>
                                    <p:cond delay="0"/>
                                  </p:stCondLst>
                                  <p:childTnLst>
                                    <p:animEffect transition="out" filter="fade">
                                      <p:cBhvr>
                                        <p:cTn id="370" dur="350"/>
                                        <p:tgtEl>
                                          <p:spTgt spid="47"/>
                                        </p:tgtEl>
                                      </p:cBhvr>
                                    </p:animEffect>
                                    <p:set>
                                      <p:cBhvr>
                                        <p:cTn id="371" dur="1" fill="hold">
                                          <p:stCondLst>
                                            <p:cond delay="349"/>
                                          </p:stCondLst>
                                        </p:cTn>
                                        <p:tgtEl>
                                          <p:spTgt spid="47"/>
                                        </p:tgtEl>
                                        <p:attrNameLst>
                                          <p:attrName>style.visibility</p:attrName>
                                        </p:attrNameLst>
                                      </p:cBhvr>
                                      <p:to>
                                        <p:strVal val="hidden"/>
                                      </p:to>
                                    </p:set>
                                  </p:childTnLst>
                                </p:cTn>
                              </p:par>
                              <p:par>
                                <p:cTn id="372" presetID="10" presetClass="exit" presetSubtype="0" fill="hold" nodeType="withEffect">
                                  <p:stCondLst>
                                    <p:cond delay="0"/>
                                  </p:stCondLst>
                                  <p:childTnLst>
                                    <p:animEffect transition="out" filter="fade">
                                      <p:cBhvr>
                                        <p:cTn id="373" dur="350"/>
                                        <p:tgtEl>
                                          <p:spTgt spid="48"/>
                                        </p:tgtEl>
                                      </p:cBhvr>
                                    </p:animEffect>
                                    <p:set>
                                      <p:cBhvr>
                                        <p:cTn id="374" dur="1" fill="hold">
                                          <p:stCondLst>
                                            <p:cond delay="349"/>
                                          </p:stCondLst>
                                        </p:cTn>
                                        <p:tgtEl>
                                          <p:spTgt spid="48"/>
                                        </p:tgtEl>
                                        <p:attrNameLst>
                                          <p:attrName>style.visibility</p:attrName>
                                        </p:attrNameLst>
                                      </p:cBhvr>
                                      <p:to>
                                        <p:strVal val="hidden"/>
                                      </p:to>
                                    </p:set>
                                  </p:childTnLst>
                                </p:cTn>
                              </p:par>
                              <p:par>
                                <p:cTn id="375" presetID="10" presetClass="exit" presetSubtype="0" fill="hold" nodeType="withEffect">
                                  <p:stCondLst>
                                    <p:cond delay="0"/>
                                  </p:stCondLst>
                                  <p:childTnLst>
                                    <p:animEffect transition="out" filter="fade">
                                      <p:cBhvr>
                                        <p:cTn id="376" dur="350"/>
                                        <p:tgtEl>
                                          <p:spTgt spid="49"/>
                                        </p:tgtEl>
                                      </p:cBhvr>
                                    </p:animEffect>
                                    <p:set>
                                      <p:cBhvr>
                                        <p:cTn id="377" dur="1" fill="hold">
                                          <p:stCondLst>
                                            <p:cond delay="349"/>
                                          </p:stCondLst>
                                        </p:cTn>
                                        <p:tgtEl>
                                          <p:spTgt spid="49"/>
                                        </p:tgtEl>
                                        <p:attrNameLst>
                                          <p:attrName>style.visibility</p:attrName>
                                        </p:attrNameLst>
                                      </p:cBhvr>
                                      <p:to>
                                        <p:strVal val="hidden"/>
                                      </p:to>
                                    </p:set>
                                  </p:childTnLst>
                                </p:cTn>
                              </p:par>
                              <p:par>
                                <p:cTn id="378" presetID="10" presetClass="exit" presetSubtype="0" fill="hold" nodeType="withEffect">
                                  <p:stCondLst>
                                    <p:cond delay="0"/>
                                  </p:stCondLst>
                                  <p:childTnLst>
                                    <p:animEffect transition="out" filter="fade">
                                      <p:cBhvr>
                                        <p:cTn id="379" dur="350"/>
                                        <p:tgtEl>
                                          <p:spTgt spid="50"/>
                                        </p:tgtEl>
                                      </p:cBhvr>
                                    </p:animEffect>
                                    <p:set>
                                      <p:cBhvr>
                                        <p:cTn id="380" dur="1" fill="hold">
                                          <p:stCondLst>
                                            <p:cond delay="349"/>
                                          </p:stCondLst>
                                        </p:cTn>
                                        <p:tgtEl>
                                          <p:spTgt spid="50"/>
                                        </p:tgtEl>
                                        <p:attrNameLst>
                                          <p:attrName>style.visibility</p:attrName>
                                        </p:attrNameLst>
                                      </p:cBhvr>
                                      <p:to>
                                        <p:strVal val="hidden"/>
                                      </p:to>
                                    </p:set>
                                  </p:childTnLst>
                                </p:cTn>
                              </p:par>
                              <p:par>
                                <p:cTn id="381" presetID="10" presetClass="exit" presetSubtype="0" fill="hold" nodeType="withEffect">
                                  <p:stCondLst>
                                    <p:cond delay="0"/>
                                  </p:stCondLst>
                                  <p:childTnLst>
                                    <p:animEffect transition="out" filter="fade">
                                      <p:cBhvr>
                                        <p:cTn id="382" dur="350"/>
                                        <p:tgtEl>
                                          <p:spTgt spid="51"/>
                                        </p:tgtEl>
                                      </p:cBhvr>
                                    </p:animEffect>
                                    <p:set>
                                      <p:cBhvr>
                                        <p:cTn id="383" dur="1" fill="hold">
                                          <p:stCondLst>
                                            <p:cond delay="349"/>
                                          </p:stCondLst>
                                        </p:cTn>
                                        <p:tgtEl>
                                          <p:spTgt spid="51"/>
                                        </p:tgtEl>
                                        <p:attrNameLst>
                                          <p:attrName>style.visibility</p:attrName>
                                        </p:attrNameLst>
                                      </p:cBhvr>
                                      <p:to>
                                        <p:strVal val="hidden"/>
                                      </p:to>
                                    </p:set>
                                  </p:childTnLst>
                                </p:cTn>
                              </p:par>
                              <p:par>
                                <p:cTn id="384" presetID="10" presetClass="exit" presetSubtype="0" fill="hold" nodeType="withEffect">
                                  <p:stCondLst>
                                    <p:cond delay="0"/>
                                  </p:stCondLst>
                                  <p:childTnLst>
                                    <p:animEffect transition="out" filter="fade">
                                      <p:cBhvr>
                                        <p:cTn id="385" dur="350"/>
                                        <p:tgtEl>
                                          <p:spTgt spid="52"/>
                                        </p:tgtEl>
                                      </p:cBhvr>
                                    </p:animEffect>
                                    <p:set>
                                      <p:cBhvr>
                                        <p:cTn id="386" dur="1" fill="hold">
                                          <p:stCondLst>
                                            <p:cond delay="349"/>
                                          </p:stCondLst>
                                        </p:cTn>
                                        <p:tgtEl>
                                          <p:spTgt spid="52"/>
                                        </p:tgtEl>
                                        <p:attrNameLst>
                                          <p:attrName>style.visibility</p:attrName>
                                        </p:attrNameLst>
                                      </p:cBhvr>
                                      <p:to>
                                        <p:strVal val="hidden"/>
                                      </p:to>
                                    </p:set>
                                  </p:childTnLst>
                                </p:cTn>
                              </p:par>
                              <p:par>
                                <p:cTn id="387" presetID="10" presetClass="exit" presetSubtype="0" fill="hold" nodeType="withEffect">
                                  <p:stCondLst>
                                    <p:cond delay="0"/>
                                  </p:stCondLst>
                                  <p:childTnLst>
                                    <p:animEffect transition="out" filter="fade">
                                      <p:cBhvr>
                                        <p:cTn id="388" dur="350"/>
                                        <p:tgtEl>
                                          <p:spTgt spid="53"/>
                                        </p:tgtEl>
                                      </p:cBhvr>
                                    </p:animEffect>
                                    <p:set>
                                      <p:cBhvr>
                                        <p:cTn id="389" dur="1" fill="hold">
                                          <p:stCondLst>
                                            <p:cond delay="349"/>
                                          </p:stCondLst>
                                        </p:cTn>
                                        <p:tgtEl>
                                          <p:spTgt spid="53"/>
                                        </p:tgtEl>
                                        <p:attrNameLst>
                                          <p:attrName>style.visibility</p:attrName>
                                        </p:attrNameLst>
                                      </p:cBhvr>
                                      <p:to>
                                        <p:strVal val="hidden"/>
                                      </p:to>
                                    </p:set>
                                  </p:childTnLst>
                                </p:cTn>
                              </p:par>
                              <p:par>
                                <p:cTn id="390" presetID="10" presetClass="exit" presetSubtype="0" fill="hold" nodeType="withEffect">
                                  <p:stCondLst>
                                    <p:cond delay="0"/>
                                  </p:stCondLst>
                                  <p:childTnLst>
                                    <p:animEffect transition="out" filter="fade">
                                      <p:cBhvr>
                                        <p:cTn id="391" dur="350"/>
                                        <p:tgtEl>
                                          <p:spTgt spid="54"/>
                                        </p:tgtEl>
                                      </p:cBhvr>
                                    </p:animEffect>
                                    <p:set>
                                      <p:cBhvr>
                                        <p:cTn id="392" dur="1" fill="hold">
                                          <p:stCondLst>
                                            <p:cond delay="349"/>
                                          </p:stCondLst>
                                        </p:cTn>
                                        <p:tgtEl>
                                          <p:spTgt spid="54"/>
                                        </p:tgtEl>
                                        <p:attrNameLst>
                                          <p:attrName>style.visibility</p:attrName>
                                        </p:attrNameLst>
                                      </p:cBhvr>
                                      <p:to>
                                        <p:strVal val="hidden"/>
                                      </p:to>
                                    </p:set>
                                  </p:childTnLst>
                                </p:cTn>
                              </p:par>
                              <p:par>
                                <p:cTn id="393" presetID="10" presetClass="exit" presetSubtype="0" fill="hold" nodeType="withEffect">
                                  <p:stCondLst>
                                    <p:cond delay="0"/>
                                  </p:stCondLst>
                                  <p:childTnLst>
                                    <p:animEffect transition="out" filter="fade">
                                      <p:cBhvr>
                                        <p:cTn id="394" dur="350"/>
                                        <p:tgtEl>
                                          <p:spTgt spid="55"/>
                                        </p:tgtEl>
                                      </p:cBhvr>
                                    </p:animEffect>
                                    <p:set>
                                      <p:cBhvr>
                                        <p:cTn id="395" dur="1" fill="hold">
                                          <p:stCondLst>
                                            <p:cond delay="349"/>
                                          </p:stCondLst>
                                        </p:cTn>
                                        <p:tgtEl>
                                          <p:spTgt spid="55"/>
                                        </p:tgtEl>
                                        <p:attrNameLst>
                                          <p:attrName>style.visibility</p:attrName>
                                        </p:attrNameLst>
                                      </p:cBhvr>
                                      <p:to>
                                        <p:strVal val="hidden"/>
                                      </p:to>
                                    </p:set>
                                  </p:childTnLst>
                                </p:cTn>
                              </p:par>
                              <p:par>
                                <p:cTn id="396" presetID="10" presetClass="exit" presetSubtype="0" fill="hold" nodeType="withEffect">
                                  <p:stCondLst>
                                    <p:cond delay="0"/>
                                  </p:stCondLst>
                                  <p:childTnLst>
                                    <p:animEffect transition="out" filter="fade">
                                      <p:cBhvr>
                                        <p:cTn id="397" dur="350"/>
                                        <p:tgtEl>
                                          <p:spTgt spid="56"/>
                                        </p:tgtEl>
                                      </p:cBhvr>
                                    </p:animEffect>
                                    <p:set>
                                      <p:cBhvr>
                                        <p:cTn id="398" dur="1" fill="hold">
                                          <p:stCondLst>
                                            <p:cond delay="349"/>
                                          </p:stCondLst>
                                        </p:cTn>
                                        <p:tgtEl>
                                          <p:spTgt spid="56"/>
                                        </p:tgtEl>
                                        <p:attrNameLst>
                                          <p:attrName>style.visibility</p:attrName>
                                        </p:attrNameLst>
                                      </p:cBhvr>
                                      <p:to>
                                        <p:strVal val="hidden"/>
                                      </p:to>
                                    </p:set>
                                  </p:childTnLst>
                                </p:cTn>
                              </p:par>
                              <p:par>
                                <p:cTn id="399" presetID="10" presetClass="exit" presetSubtype="0" fill="hold" nodeType="withEffect">
                                  <p:stCondLst>
                                    <p:cond delay="0"/>
                                  </p:stCondLst>
                                  <p:childTnLst>
                                    <p:animEffect transition="out" filter="fade">
                                      <p:cBhvr>
                                        <p:cTn id="400" dur="350"/>
                                        <p:tgtEl>
                                          <p:spTgt spid="57"/>
                                        </p:tgtEl>
                                      </p:cBhvr>
                                    </p:animEffect>
                                    <p:set>
                                      <p:cBhvr>
                                        <p:cTn id="401" dur="1" fill="hold">
                                          <p:stCondLst>
                                            <p:cond delay="349"/>
                                          </p:stCondLst>
                                        </p:cTn>
                                        <p:tgtEl>
                                          <p:spTgt spid="57"/>
                                        </p:tgtEl>
                                        <p:attrNameLst>
                                          <p:attrName>style.visibility</p:attrName>
                                        </p:attrNameLst>
                                      </p:cBhvr>
                                      <p:to>
                                        <p:strVal val="hidden"/>
                                      </p:to>
                                    </p:set>
                                  </p:childTnLst>
                                </p:cTn>
                              </p:par>
                              <p:par>
                                <p:cTn id="402" presetID="10" presetClass="exit" presetSubtype="0" fill="hold" nodeType="withEffect">
                                  <p:stCondLst>
                                    <p:cond delay="0"/>
                                  </p:stCondLst>
                                  <p:childTnLst>
                                    <p:animEffect transition="out" filter="fade">
                                      <p:cBhvr>
                                        <p:cTn id="403" dur="350"/>
                                        <p:tgtEl>
                                          <p:spTgt spid="58"/>
                                        </p:tgtEl>
                                      </p:cBhvr>
                                    </p:animEffect>
                                    <p:set>
                                      <p:cBhvr>
                                        <p:cTn id="404" dur="1" fill="hold">
                                          <p:stCondLst>
                                            <p:cond delay="349"/>
                                          </p:stCondLst>
                                        </p:cTn>
                                        <p:tgtEl>
                                          <p:spTgt spid="58"/>
                                        </p:tgtEl>
                                        <p:attrNameLst>
                                          <p:attrName>style.visibility</p:attrName>
                                        </p:attrNameLst>
                                      </p:cBhvr>
                                      <p:to>
                                        <p:strVal val="hidden"/>
                                      </p:to>
                                    </p:set>
                                  </p:childTnLst>
                                </p:cTn>
                              </p:par>
                              <p:par>
                                <p:cTn id="405" presetID="10" presetClass="exit" presetSubtype="0" fill="hold" nodeType="withEffect">
                                  <p:stCondLst>
                                    <p:cond delay="0"/>
                                  </p:stCondLst>
                                  <p:childTnLst>
                                    <p:animEffect transition="out" filter="fade">
                                      <p:cBhvr>
                                        <p:cTn id="406" dur="350"/>
                                        <p:tgtEl>
                                          <p:spTgt spid="59"/>
                                        </p:tgtEl>
                                      </p:cBhvr>
                                    </p:animEffect>
                                    <p:set>
                                      <p:cBhvr>
                                        <p:cTn id="407" dur="1" fill="hold">
                                          <p:stCondLst>
                                            <p:cond delay="349"/>
                                          </p:stCondLst>
                                        </p:cTn>
                                        <p:tgtEl>
                                          <p:spTgt spid="59"/>
                                        </p:tgtEl>
                                        <p:attrNameLst>
                                          <p:attrName>style.visibility</p:attrName>
                                        </p:attrNameLst>
                                      </p:cBhvr>
                                      <p:to>
                                        <p:strVal val="hidden"/>
                                      </p:to>
                                    </p:set>
                                  </p:childTnLst>
                                </p:cTn>
                              </p:par>
                              <p:par>
                                <p:cTn id="408" presetID="10" presetClass="entr" presetSubtype="0" fill="hold" nodeType="withEffect">
                                  <p:stCondLst>
                                    <p:cond delay="450"/>
                                  </p:stCondLst>
                                  <p:childTnLst>
                                    <p:set>
                                      <p:cBhvr>
                                        <p:cTn id="409" dur="1" fill="hold">
                                          <p:stCondLst>
                                            <p:cond delay="0"/>
                                          </p:stCondLst>
                                        </p:cTn>
                                        <p:tgtEl>
                                          <p:spTgt spid="60"/>
                                        </p:tgtEl>
                                        <p:attrNameLst>
                                          <p:attrName>style.visibility</p:attrName>
                                        </p:attrNameLst>
                                      </p:cBhvr>
                                      <p:to>
                                        <p:strVal val="visible"/>
                                      </p:to>
                                    </p:set>
                                    <p:animEffect transition="in" filter="fade">
                                      <p:cBhvr>
                                        <p:cTn id="410" dur="450"/>
                                        <p:tgtEl>
                                          <p:spTgt spid="60"/>
                                        </p:tgtEl>
                                      </p:cBhvr>
                                    </p:animEffect>
                                  </p:childTnLst>
                                </p:cTn>
                              </p:par>
                              <p:par>
                                <p:cTn id="411" presetID="22" presetClass="entr" presetSubtype="4" fill="hold" nodeType="withEffect">
                                  <p:stCondLst>
                                    <p:cond delay="520"/>
                                  </p:stCondLst>
                                  <p:childTnLst>
                                    <p:set>
                                      <p:cBhvr>
                                        <p:cTn id="412" dur="1" fill="hold">
                                          <p:stCondLst>
                                            <p:cond delay="0"/>
                                          </p:stCondLst>
                                        </p:cTn>
                                        <p:tgtEl>
                                          <p:spTgt spid="61"/>
                                        </p:tgtEl>
                                        <p:attrNameLst>
                                          <p:attrName>style.visibility</p:attrName>
                                        </p:attrNameLst>
                                      </p:cBhvr>
                                      <p:to>
                                        <p:strVal val="visible"/>
                                      </p:to>
                                    </p:set>
                                    <p:animEffect transition="in" filter="wipe(down)">
                                      <p:cBhvr>
                                        <p:cTn id="413" dur="500"/>
                                        <p:tgtEl>
                                          <p:spTgt spid="61"/>
                                        </p:tgtEl>
                                      </p:cBhvr>
                                    </p:animEffect>
                                  </p:childTnLst>
                                </p:cTn>
                              </p:par>
                              <p:par>
                                <p:cTn id="414" presetID="10" presetClass="entr" presetSubtype="0" fill="hold" nodeType="withEffect">
                                  <p:stCondLst>
                                    <p:cond delay="590"/>
                                  </p:stCondLst>
                                  <p:childTnLst>
                                    <p:set>
                                      <p:cBhvr>
                                        <p:cTn id="415" dur="1" fill="hold">
                                          <p:stCondLst>
                                            <p:cond delay="0"/>
                                          </p:stCondLst>
                                        </p:cTn>
                                        <p:tgtEl>
                                          <p:spTgt spid="62"/>
                                        </p:tgtEl>
                                        <p:attrNameLst>
                                          <p:attrName>style.visibility</p:attrName>
                                        </p:attrNameLst>
                                      </p:cBhvr>
                                      <p:to>
                                        <p:strVal val="visible"/>
                                      </p:to>
                                    </p:set>
                                    <p:animEffect transition="in" filter="fade">
                                      <p:cBhvr>
                                        <p:cTn id="416" dur="450"/>
                                        <p:tgtEl>
                                          <p:spTgt spid="62"/>
                                        </p:tgtEl>
                                      </p:cBhvr>
                                    </p:animEffect>
                                  </p:childTnLst>
                                </p:cTn>
                              </p:par>
                              <p:par>
                                <p:cTn id="417" presetID="22" presetClass="entr" presetSubtype="4" fill="hold" nodeType="withEffect">
                                  <p:stCondLst>
                                    <p:cond delay="590"/>
                                  </p:stCondLst>
                                  <p:childTnLst>
                                    <p:set>
                                      <p:cBhvr>
                                        <p:cTn id="418" dur="1" fill="hold">
                                          <p:stCondLst>
                                            <p:cond delay="0"/>
                                          </p:stCondLst>
                                        </p:cTn>
                                        <p:tgtEl>
                                          <p:spTgt spid="63"/>
                                        </p:tgtEl>
                                        <p:attrNameLst>
                                          <p:attrName>style.visibility</p:attrName>
                                        </p:attrNameLst>
                                      </p:cBhvr>
                                      <p:to>
                                        <p:strVal val="visible"/>
                                      </p:to>
                                    </p:set>
                                    <p:animEffect transition="in" filter="wipe(down)">
                                      <p:cBhvr>
                                        <p:cTn id="419" dur="500"/>
                                        <p:tgtEl>
                                          <p:spTgt spid="63"/>
                                        </p:tgtEl>
                                      </p:cBhvr>
                                    </p:animEffect>
                                  </p:childTnLst>
                                </p:cTn>
                              </p:par>
                              <p:par>
                                <p:cTn id="420" presetID="22" presetClass="entr" presetSubtype="4" fill="hold" nodeType="withEffect">
                                  <p:stCondLst>
                                    <p:cond delay="660"/>
                                  </p:stCondLst>
                                  <p:childTnLst>
                                    <p:set>
                                      <p:cBhvr>
                                        <p:cTn id="421" dur="1" fill="hold">
                                          <p:stCondLst>
                                            <p:cond delay="0"/>
                                          </p:stCondLst>
                                        </p:cTn>
                                        <p:tgtEl>
                                          <p:spTgt spid="64"/>
                                        </p:tgtEl>
                                        <p:attrNameLst>
                                          <p:attrName>style.visibility</p:attrName>
                                        </p:attrNameLst>
                                      </p:cBhvr>
                                      <p:to>
                                        <p:strVal val="visible"/>
                                      </p:to>
                                    </p:set>
                                    <p:animEffect transition="in" filter="wipe(down)">
                                      <p:cBhvr>
                                        <p:cTn id="422" dur="500"/>
                                        <p:tgtEl>
                                          <p:spTgt spid="64"/>
                                        </p:tgtEl>
                                      </p:cBhvr>
                                    </p:animEffect>
                                  </p:childTnLst>
                                </p:cTn>
                              </p:par>
                              <p:par>
                                <p:cTn id="423" presetID="10" presetClass="entr" presetSubtype="0" fill="hold" nodeType="withEffect">
                                  <p:stCondLst>
                                    <p:cond delay="730"/>
                                  </p:stCondLst>
                                  <p:childTnLst>
                                    <p:set>
                                      <p:cBhvr>
                                        <p:cTn id="424" dur="1" fill="hold">
                                          <p:stCondLst>
                                            <p:cond delay="0"/>
                                          </p:stCondLst>
                                        </p:cTn>
                                        <p:tgtEl>
                                          <p:spTgt spid="65"/>
                                        </p:tgtEl>
                                        <p:attrNameLst>
                                          <p:attrName>style.visibility</p:attrName>
                                        </p:attrNameLst>
                                      </p:cBhvr>
                                      <p:to>
                                        <p:strVal val="visible"/>
                                      </p:to>
                                    </p:set>
                                    <p:animEffect transition="in" filter="fade">
                                      <p:cBhvr>
                                        <p:cTn id="425" dur="450"/>
                                        <p:tgtEl>
                                          <p:spTgt spid="65"/>
                                        </p:tgtEl>
                                      </p:cBhvr>
                                    </p:animEffect>
                                  </p:childTnLst>
                                </p:cTn>
                              </p:par>
                              <p:par>
                                <p:cTn id="426" presetID="22" presetClass="entr" presetSubtype="4" fill="hold" nodeType="withEffect">
                                  <p:stCondLst>
                                    <p:cond delay="730"/>
                                  </p:stCondLst>
                                  <p:childTnLst>
                                    <p:set>
                                      <p:cBhvr>
                                        <p:cTn id="427" dur="1" fill="hold">
                                          <p:stCondLst>
                                            <p:cond delay="0"/>
                                          </p:stCondLst>
                                        </p:cTn>
                                        <p:tgtEl>
                                          <p:spTgt spid="66"/>
                                        </p:tgtEl>
                                        <p:attrNameLst>
                                          <p:attrName>style.visibility</p:attrName>
                                        </p:attrNameLst>
                                      </p:cBhvr>
                                      <p:to>
                                        <p:strVal val="visible"/>
                                      </p:to>
                                    </p:set>
                                    <p:animEffect transition="in" filter="wipe(down)">
                                      <p:cBhvr>
                                        <p:cTn id="428" dur="500"/>
                                        <p:tgtEl>
                                          <p:spTgt spid="66"/>
                                        </p:tgtEl>
                                      </p:cBhvr>
                                    </p:animEffect>
                                  </p:childTnLst>
                                </p:cTn>
                              </p:par>
                              <p:par>
                                <p:cTn id="429" presetID="10" presetClass="entr" presetSubtype="0" fill="hold" nodeType="withEffect">
                                  <p:stCondLst>
                                    <p:cond delay="580"/>
                                  </p:stCondLst>
                                  <p:childTnLst>
                                    <p:set>
                                      <p:cBhvr>
                                        <p:cTn id="430" dur="1" fill="hold">
                                          <p:stCondLst>
                                            <p:cond delay="0"/>
                                          </p:stCondLst>
                                        </p:cTn>
                                        <p:tgtEl>
                                          <p:spTgt spid="67"/>
                                        </p:tgtEl>
                                        <p:attrNameLst>
                                          <p:attrName>style.visibility</p:attrName>
                                        </p:attrNameLst>
                                      </p:cBhvr>
                                      <p:to>
                                        <p:strVal val="visible"/>
                                      </p:to>
                                    </p:set>
                                    <p:animEffect transition="in" filter="fade">
                                      <p:cBhvr>
                                        <p:cTn id="431" dur="45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34" grpId="0" build="p"/>
      <p:bldP spid="3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AFE: entrada instrumental, pasabanda inversor, sumador y antialias Bessel</a:t>
            </a:r>
            <a:endParaRPr lang="en-US" sz="2200" dirty="0"/>
          </a:p>
        </p:txBody>
      </p:sp>
      <p:sp>
        <p:nvSpPr>
          <p:cNvPr id="3" name="Obj [o51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Implementación: la ganancia se reparte entre las etapas para recuperar la atenuación del compensador</a:t>
            </a:r>
            <a:endParaRPr lang="en-US" sz="1400" dirty="0"/>
          </a:p>
        </p:txBody>
      </p:sp>
      <p:sp>
        <p:nvSpPr>
          <p:cNvPr id="4" name="Obj [o513]"/>
          <p:cNvSpPr/>
          <p:nvPr/>
        </p:nvSpPr>
        <p:spPr>
          <a:xfrm>
            <a:off x="966136" y="1841914"/>
            <a:ext cx="1041694" cy="560912"/>
          </a:xfrm>
          <a:prstGeom prst="roundRect">
            <a:avLst>
              <a:gd name="adj" fmla="val 13042"/>
            </a:avLst>
          </a:prstGeom>
          <a:solidFill>
            <a:srgbClr val="2E75B6"/>
          </a:solidFill>
          <a:ln w="6350">
            <a:solidFill>
              <a:srgbClr val="2E75B6"/>
            </a:solidFill>
            <a:prstDash val="solid"/>
          </a:ln>
        </p:spPr>
      </p:sp>
      <p:sp>
        <p:nvSpPr>
          <p:cNvPr id="5" name="Obj [o514]"/>
          <p:cNvSpPr txBox="1"/>
          <p:nvPr/>
        </p:nvSpPr>
        <p:spPr>
          <a:xfrm>
            <a:off x="966136" y="1841914"/>
            <a:ext cx="1041694"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Geófono</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SM-24</a:t>
            </a:r>
            <a:endParaRPr lang="en-US" sz="1170" dirty="0"/>
          </a:p>
        </p:txBody>
      </p:sp>
      <p:sp>
        <p:nvSpPr>
          <p:cNvPr id="6" name="Obj [o515]"/>
          <p:cNvSpPr/>
          <p:nvPr/>
        </p:nvSpPr>
        <p:spPr>
          <a:xfrm>
            <a:off x="2248221" y="1841914"/>
            <a:ext cx="1201955" cy="560912"/>
          </a:xfrm>
          <a:prstGeom prst="roundRect">
            <a:avLst>
              <a:gd name="adj" fmla="val 13042"/>
            </a:avLst>
          </a:prstGeom>
          <a:solidFill>
            <a:srgbClr val="2E75B6"/>
          </a:solidFill>
          <a:ln w="6350">
            <a:solidFill>
              <a:srgbClr val="2E75B6"/>
            </a:solidFill>
            <a:prstDash val="solid"/>
          </a:ln>
        </p:spPr>
      </p:sp>
      <p:sp>
        <p:nvSpPr>
          <p:cNvPr id="7" name="Obj [o516]"/>
          <p:cNvSpPr txBox="1"/>
          <p:nvPr/>
        </p:nvSpPr>
        <p:spPr>
          <a:xfrm>
            <a:off x="2248221" y="1841914"/>
            <a:ext cx="1201955"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Entrada dif.</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 PGA</a:t>
            </a:r>
            <a:endParaRPr lang="en-US" sz="1170" dirty="0"/>
          </a:p>
        </p:txBody>
      </p:sp>
      <p:sp>
        <p:nvSpPr>
          <p:cNvPr id="8" name="Obj [o517]"/>
          <p:cNvSpPr/>
          <p:nvPr/>
        </p:nvSpPr>
        <p:spPr>
          <a:xfrm>
            <a:off x="3850827" y="2442892"/>
            <a:ext cx="1282085" cy="560912"/>
          </a:xfrm>
          <a:prstGeom prst="roundRect">
            <a:avLst>
              <a:gd name="adj" fmla="val 13042"/>
            </a:avLst>
          </a:prstGeom>
          <a:solidFill>
            <a:srgbClr val="C55A11"/>
          </a:solidFill>
          <a:ln w="6350">
            <a:solidFill>
              <a:srgbClr val="C55A11"/>
            </a:solidFill>
            <a:prstDash val="solid"/>
          </a:ln>
        </p:spPr>
      </p:sp>
      <p:sp>
        <p:nvSpPr>
          <p:cNvPr id="9" name="Obj [o518]"/>
          <p:cNvSpPr txBox="1"/>
          <p:nvPr/>
        </p:nvSpPr>
        <p:spPr>
          <a:xfrm>
            <a:off x="3850827" y="2442892"/>
            <a:ext cx="1282085"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Pasabanda</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inversor</a:t>
            </a:r>
            <a:endParaRPr lang="en-US" sz="1170" dirty="0"/>
          </a:p>
        </p:txBody>
      </p:sp>
      <p:sp>
        <p:nvSpPr>
          <p:cNvPr id="10" name="Obj [o519]"/>
          <p:cNvSpPr/>
          <p:nvPr/>
        </p:nvSpPr>
        <p:spPr>
          <a:xfrm>
            <a:off x="5156951" y="1906019"/>
            <a:ext cx="432704" cy="432704"/>
          </a:xfrm>
          <a:prstGeom prst="ellipse">
            <a:avLst/>
          </a:prstGeom>
          <a:solidFill>
            <a:srgbClr val="1F4E79"/>
          </a:solidFill>
          <a:ln w="6350">
            <a:solidFill>
              <a:srgbClr val="1F4E79"/>
            </a:solidFill>
            <a:prstDash val="solid"/>
          </a:ln>
        </p:spPr>
      </p:sp>
      <p:sp>
        <p:nvSpPr>
          <p:cNvPr id="11" name="Obj [o520]"/>
          <p:cNvSpPr txBox="1"/>
          <p:nvPr/>
        </p:nvSpPr>
        <p:spPr>
          <a:xfrm>
            <a:off x="5156951" y="1906019"/>
            <a:ext cx="432704" cy="432704"/>
          </a:xfrm>
          <a:prstGeom prst="rect">
            <a:avLst/>
          </a:prstGeom>
          <a:noFill/>
          <a:ln/>
        </p:spPr>
        <p:txBody>
          <a:bodyPr wrap="square" lIns="0" tIns="0" rIns="0" bIns="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Σ</a:t>
            </a:r>
            <a:endParaRPr lang="en-US" sz="1620" dirty="0"/>
          </a:p>
        </p:txBody>
      </p:sp>
      <p:sp>
        <p:nvSpPr>
          <p:cNvPr id="12" name="Obj [o521]"/>
          <p:cNvSpPr/>
          <p:nvPr/>
        </p:nvSpPr>
        <p:spPr>
          <a:xfrm>
            <a:off x="6054411" y="1841914"/>
            <a:ext cx="1001629" cy="560912"/>
          </a:xfrm>
          <a:prstGeom prst="roundRect">
            <a:avLst>
              <a:gd name="adj" fmla="val 13042"/>
            </a:avLst>
          </a:prstGeom>
          <a:solidFill>
            <a:srgbClr val="2E75B6"/>
          </a:solidFill>
          <a:ln w="6350">
            <a:solidFill>
              <a:srgbClr val="2E75B6"/>
            </a:solidFill>
            <a:prstDash val="solid"/>
          </a:ln>
        </p:spPr>
      </p:sp>
      <p:sp>
        <p:nvSpPr>
          <p:cNvPr id="13" name="Obj [o522]"/>
          <p:cNvSpPr txBox="1"/>
          <p:nvPr/>
        </p:nvSpPr>
        <p:spPr>
          <a:xfrm>
            <a:off x="6054411" y="1841914"/>
            <a:ext cx="1001629"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Pasa-bajos</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antialias</a:t>
            </a:r>
            <a:endParaRPr lang="en-US" sz="1170" dirty="0"/>
          </a:p>
        </p:txBody>
      </p:sp>
      <p:sp>
        <p:nvSpPr>
          <p:cNvPr id="14" name="Obj [o523]"/>
          <p:cNvSpPr/>
          <p:nvPr/>
        </p:nvSpPr>
        <p:spPr>
          <a:xfrm>
            <a:off x="7296431" y="1841914"/>
            <a:ext cx="881433" cy="560912"/>
          </a:xfrm>
          <a:prstGeom prst="roundRect">
            <a:avLst>
              <a:gd name="adj" fmla="val 13042"/>
            </a:avLst>
          </a:prstGeom>
          <a:solidFill>
            <a:srgbClr val="1F4E79"/>
          </a:solidFill>
          <a:ln w="6350">
            <a:solidFill>
              <a:srgbClr val="1F4E79"/>
            </a:solidFill>
            <a:prstDash val="solid"/>
          </a:ln>
        </p:spPr>
      </p:sp>
      <p:sp>
        <p:nvSpPr>
          <p:cNvPr id="15" name="Obj [o524]"/>
          <p:cNvSpPr txBox="1"/>
          <p:nvPr/>
        </p:nvSpPr>
        <p:spPr>
          <a:xfrm>
            <a:off x="7296431" y="1841914"/>
            <a:ext cx="881433"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ADC</a:t>
            </a:r>
            <a:endParaRPr lang="en-US" sz="1170" dirty="0"/>
          </a:p>
        </p:txBody>
      </p:sp>
      <p:sp>
        <p:nvSpPr>
          <p:cNvPr id="16" name="Obj [o525]"/>
          <p:cNvSpPr/>
          <p:nvPr/>
        </p:nvSpPr>
        <p:spPr>
          <a:xfrm>
            <a:off x="2007830" y="2122371"/>
            <a:ext cx="240391" cy="0"/>
          </a:xfrm>
          <a:prstGeom prst="line">
            <a:avLst/>
          </a:prstGeom>
          <a:noFill/>
          <a:ln w="27823">
            <a:solidFill>
              <a:srgbClr val="1F4E79"/>
            </a:solidFill>
            <a:prstDash val="solid"/>
            <a:tailEnd type="triangle"/>
          </a:ln>
        </p:spPr>
      </p:sp>
      <p:sp>
        <p:nvSpPr>
          <p:cNvPr id="17" name="Obj [o526]"/>
          <p:cNvSpPr/>
          <p:nvPr/>
        </p:nvSpPr>
        <p:spPr>
          <a:xfrm>
            <a:off x="3450176" y="2122371"/>
            <a:ext cx="1706776" cy="0"/>
          </a:xfrm>
          <a:prstGeom prst="line">
            <a:avLst/>
          </a:prstGeom>
          <a:noFill/>
          <a:ln w="27823">
            <a:solidFill>
              <a:srgbClr val="1F4E79"/>
            </a:solidFill>
            <a:prstDash val="solid"/>
            <a:tailEnd type="triangle"/>
          </a:ln>
        </p:spPr>
      </p:sp>
      <p:sp>
        <p:nvSpPr>
          <p:cNvPr id="18" name="Obj [o527]"/>
          <p:cNvSpPr/>
          <p:nvPr/>
        </p:nvSpPr>
        <p:spPr>
          <a:xfrm>
            <a:off x="3610436" y="2082305"/>
            <a:ext cx="80130" cy="80130"/>
          </a:xfrm>
          <a:prstGeom prst="ellipse">
            <a:avLst/>
          </a:prstGeom>
          <a:solidFill>
            <a:srgbClr val="1F4E79"/>
          </a:solidFill>
          <a:ln w="6350">
            <a:solidFill>
              <a:srgbClr val="1F4E79"/>
            </a:solidFill>
            <a:prstDash val="solid"/>
          </a:ln>
        </p:spPr>
      </p:sp>
      <p:sp>
        <p:nvSpPr>
          <p:cNvPr id="19" name="Obj [o528]"/>
          <p:cNvSpPr/>
          <p:nvPr/>
        </p:nvSpPr>
        <p:spPr>
          <a:xfrm>
            <a:off x="3650501" y="2122371"/>
            <a:ext cx="0" cy="600977"/>
          </a:xfrm>
          <a:prstGeom prst="line">
            <a:avLst/>
          </a:prstGeom>
          <a:noFill/>
          <a:ln w="27823">
            <a:solidFill>
              <a:srgbClr val="C55A11"/>
            </a:solidFill>
            <a:prstDash val="solid"/>
          </a:ln>
        </p:spPr>
      </p:sp>
      <p:sp>
        <p:nvSpPr>
          <p:cNvPr id="20" name="Obj [o529]"/>
          <p:cNvSpPr/>
          <p:nvPr/>
        </p:nvSpPr>
        <p:spPr>
          <a:xfrm>
            <a:off x="3650501" y="2723348"/>
            <a:ext cx="200326" cy="0"/>
          </a:xfrm>
          <a:prstGeom prst="line">
            <a:avLst/>
          </a:prstGeom>
          <a:noFill/>
          <a:ln w="27823">
            <a:solidFill>
              <a:srgbClr val="C55A11"/>
            </a:solidFill>
            <a:prstDash val="solid"/>
            <a:tailEnd type="triangle"/>
          </a:ln>
        </p:spPr>
      </p:sp>
      <p:sp>
        <p:nvSpPr>
          <p:cNvPr id="21" name="Obj [o530]"/>
          <p:cNvSpPr/>
          <p:nvPr/>
        </p:nvSpPr>
        <p:spPr>
          <a:xfrm>
            <a:off x="5132912" y="2723348"/>
            <a:ext cx="240391" cy="0"/>
          </a:xfrm>
          <a:prstGeom prst="line">
            <a:avLst/>
          </a:prstGeom>
          <a:noFill/>
          <a:ln w="27823">
            <a:solidFill>
              <a:srgbClr val="C55A11"/>
            </a:solidFill>
            <a:prstDash val="solid"/>
          </a:ln>
        </p:spPr>
      </p:sp>
      <p:sp>
        <p:nvSpPr>
          <p:cNvPr id="22" name="Obj [o531]"/>
          <p:cNvSpPr/>
          <p:nvPr/>
        </p:nvSpPr>
        <p:spPr>
          <a:xfrm flipV="1">
            <a:off x="5373303" y="2338722"/>
            <a:ext cx="0" cy="384626"/>
          </a:xfrm>
          <a:prstGeom prst="line">
            <a:avLst/>
          </a:prstGeom>
          <a:noFill/>
          <a:ln w="27823">
            <a:solidFill>
              <a:srgbClr val="C55A11"/>
            </a:solidFill>
            <a:prstDash val="solid"/>
            <a:tailEnd type="triangle"/>
          </a:ln>
        </p:spPr>
      </p:sp>
      <p:sp>
        <p:nvSpPr>
          <p:cNvPr id="23" name="Obj [o532]"/>
          <p:cNvSpPr/>
          <p:nvPr/>
        </p:nvSpPr>
        <p:spPr>
          <a:xfrm>
            <a:off x="5589655" y="2122371"/>
            <a:ext cx="464756" cy="0"/>
          </a:xfrm>
          <a:prstGeom prst="line">
            <a:avLst/>
          </a:prstGeom>
          <a:noFill/>
          <a:ln w="27823">
            <a:solidFill>
              <a:srgbClr val="1F4E79"/>
            </a:solidFill>
            <a:prstDash val="solid"/>
            <a:tailEnd type="triangle"/>
          </a:ln>
        </p:spPr>
      </p:sp>
      <p:sp>
        <p:nvSpPr>
          <p:cNvPr id="24" name="Obj [o533]"/>
          <p:cNvSpPr/>
          <p:nvPr/>
        </p:nvSpPr>
        <p:spPr>
          <a:xfrm>
            <a:off x="7056040" y="2122371"/>
            <a:ext cx="240391" cy="0"/>
          </a:xfrm>
          <a:prstGeom prst="line">
            <a:avLst/>
          </a:prstGeom>
          <a:noFill/>
          <a:ln w="27823">
            <a:solidFill>
              <a:srgbClr val="1F4E79"/>
            </a:solidFill>
            <a:prstDash val="solid"/>
            <a:tailEnd type="triangle"/>
          </a:ln>
        </p:spPr>
      </p:sp>
      <p:sp>
        <p:nvSpPr>
          <p:cNvPr id="25" name="Obj [o534]"/>
          <p:cNvSpPr txBox="1"/>
          <p:nvPr/>
        </p:nvSpPr>
        <p:spPr>
          <a:xfrm>
            <a:off x="4852456" y="1785823"/>
            <a:ext cx="240391" cy="240391"/>
          </a:xfrm>
          <a:prstGeom prst="rect">
            <a:avLst/>
          </a:prstGeom>
          <a:noFill/>
          <a:ln/>
        </p:spPr>
        <p:txBody>
          <a:bodyPr wrap="square" lIns="0" tIns="0" rIns="0" bIns="0" rtlCol="0" anchor="t"/>
          <a:lstStyle/>
          <a:p>
            <a:pPr algn="ctr" indent="0" marL="0">
              <a:buNone/>
            </a:pPr>
            <a:r>
              <a:rPr lang="en-US" sz="1440" b="1" dirty="0">
                <a:solidFill>
                  <a:srgbClr val="1F4E79"/>
                </a:solidFill>
                <a:latin typeface="Arial" pitchFamily="34" charset="0"/>
                <a:ea typeface="Arial" pitchFamily="34" charset="-122"/>
                <a:cs typeface="Arial" pitchFamily="34" charset="-120"/>
              </a:rPr>
              <a:t>+</a:t>
            </a:r>
            <a:endParaRPr lang="en-US" sz="1440" dirty="0"/>
          </a:p>
        </p:txBody>
      </p:sp>
      <p:sp>
        <p:nvSpPr>
          <p:cNvPr id="26" name="Obj [o535]"/>
          <p:cNvSpPr txBox="1"/>
          <p:nvPr/>
        </p:nvSpPr>
        <p:spPr>
          <a:xfrm>
            <a:off x="5453433" y="2386801"/>
            <a:ext cx="240391" cy="240391"/>
          </a:xfrm>
          <a:prstGeom prst="rect">
            <a:avLst/>
          </a:prstGeom>
          <a:noFill/>
          <a:ln/>
        </p:spPr>
        <p:txBody>
          <a:bodyPr wrap="square" lIns="0" tIns="0" rIns="0" bIns="0" rtlCol="0" anchor="t"/>
          <a:lstStyle/>
          <a:p>
            <a:pPr algn="ctr" indent="0" marL="0">
              <a:buNone/>
            </a:pPr>
            <a:r>
              <a:rPr lang="en-US" sz="1800" b="1" dirty="0">
                <a:solidFill>
                  <a:srgbClr val="C55A11"/>
                </a:solidFill>
                <a:latin typeface="Arial" pitchFamily="34" charset="0"/>
                <a:ea typeface="Arial" pitchFamily="34" charset="-122"/>
                <a:cs typeface="Arial" pitchFamily="34" charset="-120"/>
              </a:rPr>
              <a:t>+</a:t>
            </a:r>
            <a:endParaRPr lang="en-US" sz="1800" dirty="0"/>
          </a:p>
        </p:txBody>
      </p:sp>
      <p:sp>
        <p:nvSpPr>
          <p:cNvPr id="27" name="Obj [o536]"/>
          <p:cNvSpPr txBox="1"/>
          <p:nvPr/>
        </p:nvSpPr>
        <p:spPr>
          <a:xfrm>
            <a:off x="966136" y="3364390"/>
            <a:ext cx="7211728" cy="1041694"/>
          </a:xfrm>
          <a:prstGeom prst="rect">
            <a:avLst/>
          </a:prstGeom>
          <a:noFill/>
          <a:ln/>
        </p:spPr>
        <p:txBody>
          <a:bodyPr wrap="square" lIns="0" tIns="0" rIns="0" bIns="0" rtlCol="0" anchor="t"/>
          <a:lstStyle/>
          <a:p>
            <a:pPr marL="342900" indent="-342900">
              <a:spcAft>
                <a:spcPts val="720"/>
              </a:spcAft>
              <a:buSzPct val="100000"/>
              <a:buChar char="•"/>
            </a:pPr>
            <a:r>
              <a:rPr lang="en-US" sz="135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350" dirty="0"/>
          </a:p>
          <a:p>
            <a:pPr marL="342900" indent="-342900">
              <a:spcAft>
                <a:spcPts val="720"/>
              </a:spcAft>
              <a:buSzPct val="100000"/>
              <a:buChar char="•"/>
            </a:pPr>
            <a:r>
              <a:rPr lang="en-US" sz="135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sSub>
                      <m:sSubPr>
                        <m:ctrlPr>
                          <a:rPr lang="es-ES" sz="1350" i="1">
                            <a:latin typeface="Cambria Math" panose="02040503050406030204" pitchFamily="18" charset="0"/>
                          </a:rPr>
                        </m:ctrlPr>
                      </m:sSubPr>
                      <m:e>
                        <m:r>
                          <a:rPr lang="es-ES" sz="1350" i="1">
                            <a:solidFill>
                              <a:srgbClr val="2D2D2D"/>
                            </a:solidFill>
                            <a:latin typeface="Cambria Math" panose="02040503050406030204" pitchFamily="18" charset="0"/>
                          </a:rPr>
                          <m:t xml:space="preserve">ζ</m:t>
                        </m:r>
                      </m:e>
                      <m:sub>
                        <m:r>
                          <m:rPr>
                            <m:sty m:val="p"/>
                          </m:rPr>
                          <a:rPr lang="es-ES" sz="1350">
                            <a:solidFill>
                              <a:srgbClr val="2D2D2D"/>
                            </a:solidFill>
                            <a:latin typeface="Cambria Math" panose="02040503050406030204" pitchFamily="18" charset="0"/>
                          </a:rPr>
                          <m:t xml:space="preserve">1</m:t>
                        </m:r>
                      </m:sub>
                    </m:sSub>
                    <m:r>
                      <m:rPr>
                        <m:sty m:val="p"/>
                      </m:rPr>
                      <a:rPr lang="es-ES" sz="1350">
                        <a:solidFill>
                          <a:srgbClr val="2D2D2D"/>
                        </a:solidFill>
                        <a:latin typeface="Cambria Math" panose="02040503050406030204" pitchFamily="18" charset="0"/>
                      </a:rPr>
                      <m:t xml:space="preserve">≈</m:t>
                    </m:r>
                    <m:r>
                      <m:rPr>
                        <m:sty m:val="p"/>
                      </m:rPr>
                      <a:rPr lang="es-ES" sz="1350">
                        <a:solidFill>
                          <a:srgbClr val="2D2D2D"/>
                        </a:solidFill>
                        <a:latin typeface="Cambria Math" panose="02040503050406030204" pitchFamily="18" charset="0"/>
                      </a:rPr>
                      <m:t xml:space="preserve">938</m:t>
                    </m:r>
                  </m:oMath>
                </a14:m>
              </mc:Choice>
              <mc:Fallback>
                <a:r>
                  <a:rPr lang="en-US" sz="1350" dirty="0">
                    <a:solidFill>
                      <a:srgbClr val="2D2D2D"/>
                    </a:solidFill>
                    <a:latin typeface="Arial" pitchFamily="34" charset="0"/>
                    <a:ea typeface="Arial" pitchFamily="34" charset="-122"/>
                    <a:cs typeface="Arial" pitchFamily="34" charset="-120"/>
                  </a:rPr>
                  <a:t>ζ1 ≈ 938</a:t>
                </a:r>
              </mc:Fallback>
            </mc:AlternateContent>
            <a:r>
              <a:rPr lang="en-US" sz="1350" dirty="0">
                <a:solidFill>
                  <a:srgbClr val="2D2D2D"/>
                </a:solidFill>
                <a:latin typeface="Arial" pitchFamily="34" charset="0"/>
                <a:ea typeface="Arial" pitchFamily="34" charset="-122"/>
                <a:cs typeface="Arial" pitchFamily="34" charset="-120"/>
              </a:rPr>
              <a:t>, el compensador atenúa 2ζ1 ≈ 1876 veces: la ganancia lo recupera</a:t>
            </a:r>
            <a:endParaRPr lang="en-US" sz="1350" dirty="0"/>
          </a:p>
        </p:txBody>
      </p:sp>
      <p:sp>
        <p:nvSpPr>
          <p:cNvPr id="28" name="Obj [o53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latex-15p-review, sec. 3 (acondicionamiento); esquema propio.</a:t>
            </a:r>
            <a:endParaRPr lang="en-US" sz="800" dirty="0"/>
          </a:p>
        </p:txBody>
      </p:sp>
      <p:sp>
        <p:nvSpPr>
          <p:cNvPr id="29" name="Obj [o53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entrada es instrumental, con dos operacionales, para rechazar el ruido de red</a:t>
            </a:r>
            <a:endParaRPr lang="en-US" sz="1400" dirty="0"/>
          </a:p>
        </p:txBody>
      </p:sp>
      <p:pic>
        <p:nvPicPr>
          <p:cNvPr id="30" name="Obj [o539]" descr="Amplificador diferencial de dos operacionales con entradas V1 y V2">    </p:cNvPr>
          <p:cNvPicPr>
            <a:picLocks noChangeAspect="1"/>
          </p:cNvPicPr>
          <p:nvPr/>
        </p:nvPicPr>
        <p:blipFill>
          <a:blip r:embed="rId1"/>
          <a:stretch>
            <a:fillRect/>
          </a:stretch>
        </p:blipFill>
        <p:spPr>
          <a:xfrm>
            <a:off x="886005" y="1641589"/>
            <a:ext cx="4166776" cy="2083388"/>
          </a:xfrm>
          <a:prstGeom prst="rect">
            <a:avLst/>
          </a:prstGeom>
        </p:spPr>
      </p:pic>
      <p:sp>
        <p:nvSpPr>
          <p:cNvPr id="31" name="Obj [o540]"/>
          <p:cNvSpPr txBox="1"/>
          <p:nvPr/>
        </p:nvSpPr>
        <p:spPr>
          <a:xfrm>
            <a:off x="5293173" y="1721719"/>
            <a:ext cx="2884691" cy="2403909"/>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El ruido de red está muy presente en el geófono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 entrada diferencial lo rechaza como señal de modo común</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Aporta una ganancia de ×2</a:t>
            </a:r>
            <a:endParaRPr lang="en-US" sz="1440" dirty="0"/>
          </a:p>
        </p:txBody>
      </p:sp>
      <p:sp>
        <p:nvSpPr>
          <p:cNvPr id="32" name="Obj [o54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genérico aportado por el autor (fuente por confirmar); ganancia: documento de tesis, sec. 3.</a:t>
            </a:r>
            <a:endParaRPr lang="en-US" sz="800" dirty="0"/>
          </a:p>
        </p:txBody>
      </p:sp>
      <p:sp>
        <p:nvSpPr>
          <p:cNvPr id="33" name="Obj [o54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pasabanda es un inversor con dos quiebres desacoplados, en lugar de un Sallen-Key</a:t>
            </a:r>
            <a:endParaRPr lang="en-US" sz="1400" dirty="0"/>
          </a:p>
        </p:txBody>
      </p:sp>
      <p:pic>
        <p:nvPicPr>
          <p:cNvPr id="34" name="Obj [o543]" descr="Filtro pasabanda Sallen-Key con admitancias Y1 a Y5">    </p:cNvPr>
          <p:cNvPicPr>
            <a:picLocks noChangeAspect="1"/>
          </p:cNvPicPr>
          <p:nvPr/>
        </p:nvPicPr>
        <p:blipFill>
          <a:blip r:embed="rId2"/>
          <a:stretch>
            <a:fillRect/>
          </a:stretch>
        </p:blipFill>
        <p:spPr>
          <a:xfrm>
            <a:off x="517829" y="1595380"/>
            <a:ext cx="2433099" cy="1824824"/>
          </a:xfrm>
          <a:prstGeom prst="rect">
            <a:avLst/>
          </a:prstGeom>
        </p:spPr>
      </p:pic>
      <p:pic>
        <p:nvPicPr>
          <p:cNvPr id="35" name="Obj [o544]" descr="Amplificador inversor con Cin y Rin en la entrada y Rf en paralelo con Cf en la realimentación">    </p:cNvPr>
          <p:cNvPicPr>
            <a:picLocks noChangeAspect="1"/>
          </p:cNvPicPr>
          <p:nvPr/>
        </p:nvPicPr>
        <p:blipFill>
          <a:blip r:embed="rId3"/>
          <a:stretch>
            <a:fillRect/>
          </a:stretch>
        </p:blipFill>
        <p:spPr>
          <a:xfrm>
            <a:off x="3787306" y="1595380"/>
            <a:ext cx="3193443" cy="1596721"/>
          </a:xfrm>
          <a:prstGeom prst="rect">
            <a:avLst/>
          </a:prstGeom>
        </p:spPr>
      </p:pic>
      <p:sp>
        <p:nvSpPr>
          <p:cNvPr id="36" name="Obj [o545]"/>
          <p:cNvSpPr txBox="1"/>
          <p:nvPr/>
        </p:nvSpPr>
        <p:spPr>
          <a:xfrm>
            <a:off x="441794" y="3496238"/>
            <a:ext cx="2585168" cy="228103"/>
          </a:xfrm>
          <a:prstGeom prst="rect">
            <a:avLst/>
          </a:prstGeom>
          <a:noFill/>
          <a:ln/>
        </p:spPr>
        <p:txBody>
          <a:bodyPr wrap="square" lIns="0" tIns="0" rIns="0" bIns="0" rtlCol="0" anchor="t"/>
          <a:lstStyle/>
          <a:p>
            <a:pPr algn="ctr" indent="0" marL="0">
              <a:buNone/>
            </a:pPr>
            <a:r>
              <a:rPr lang="en-US" sz="1208" b="1" dirty="0">
                <a:solidFill>
                  <a:srgbClr val="6B6B6B"/>
                </a:solidFill>
                <a:latin typeface="Arial" pitchFamily="34" charset="0"/>
                <a:ea typeface="Arial" pitchFamily="34" charset="-122"/>
                <a:cs typeface="Arial" pitchFamily="34" charset="-120"/>
              </a:rPr>
              <a:t>Ma et al.: Sallen-Key</a:t>
            </a:r>
            <a:endParaRPr lang="en-US" sz="1208" dirty="0"/>
          </a:p>
        </p:txBody>
      </p:sp>
      <p:sp>
        <p:nvSpPr>
          <p:cNvPr id="37" name="Obj [o546]"/>
          <p:cNvSpPr txBox="1"/>
          <p:nvPr/>
        </p:nvSpPr>
        <p:spPr>
          <a:xfrm>
            <a:off x="3635237" y="3230118"/>
            <a:ext cx="3649649" cy="228103"/>
          </a:xfrm>
          <a:prstGeom prst="rect">
            <a:avLst/>
          </a:prstGeom>
          <a:noFill/>
          <a:ln/>
        </p:spPr>
        <p:txBody>
          <a:bodyPr wrap="square" lIns="0" tIns="0" rIns="0" bIns="0" rtlCol="0" anchor="t"/>
          <a:lstStyle/>
          <a:p>
            <a:pPr algn="ctr" indent="0" marL="0">
              <a:buNone/>
            </a:pPr>
            <a:r>
              <a:rPr lang="en-US" sz="1208" b="1" dirty="0">
                <a:solidFill>
                  <a:srgbClr val="1F4E79"/>
                </a:solidFill>
                <a:latin typeface="Arial" pitchFamily="34" charset="0"/>
                <a:ea typeface="Arial" pitchFamily="34" charset="-122"/>
                <a:cs typeface="Arial" pitchFamily="34" charset="-120"/>
              </a:rPr>
              <a:t>Este trabajo: inversor, −Zf/Zin</a:t>
            </a:r>
            <a:endParaRPr lang="en-US" sz="1208" dirty="0"/>
          </a:p>
        </p:txBody>
      </p:sp>
      <p:sp>
        <p:nvSpPr>
          <p:cNvPr id="38" name="Obj [o547]"/>
          <p:cNvSpPr txBox="1"/>
          <p:nvPr/>
        </p:nvSpPr>
        <p:spPr>
          <a:xfrm>
            <a:off x="441794" y="3762358"/>
            <a:ext cx="2585168" cy="380172"/>
          </a:xfrm>
          <a:prstGeom prst="rect">
            <a:avLst/>
          </a:prstGeom>
          <a:noFill/>
          <a:ln/>
        </p:spPr>
        <p:txBody>
          <a:bodyPr wrap="square" lIns="0" tIns="0" rIns="0" bIns="0" rtlCol="0" anchor="t"/>
          <a:lstStyle/>
          <a:p>
            <a:pPr algn="ctr" indent="0" marL="0">
              <a:buNone/>
            </a:pPr>
            <a:r>
              <a:rPr lang="en-US" sz="1122" dirty="0">
                <a:solidFill>
                  <a:srgbClr val="6B6B6B"/>
                </a:solidFill>
                <a:latin typeface="Arial" pitchFamily="34" charset="0"/>
                <a:ea typeface="Arial" pitchFamily="34" charset="-122"/>
                <a:cs typeface="Arial" pitchFamily="34" charset="-120"/>
              </a:rPr>
              <a:t>Cada polo se reparte entre varios componentes</a:t>
            </a:r>
            <a:endParaRPr lang="en-US" sz="1122" dirty="0"/>
          </a:p>
        </p:txBody>
      </p:sp>
      <p:sp>
        <p:nvSpPr>
          <p:cNvPr id="39" name="Obj [o548]"/>
          <p:cNvSpPr/>
          <p:nvPr/>
        </p:nvSpPr>
        <p:spPr>
          <a:xfrm>
            <a:off x="3635237" y="3496238"/>
            <a:ext cx="3649649" cy="41818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0" name="Obj [o549]"/>
              <p:cNvSpPr txBox="1"/>
              <p:nvPr/>
            </p:nvSpPr>
            <p:spPr>
              <a:xfrm>
                <a:off x="3635237" y="3496238"/>
                <a:ext cx="3649649" cy="41818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f</m:t>
                          </m:r>
                        </m:e>
                        <m:sub>
                          <m:r>
                            <m:rPr>
                              <m:sty m:val="p"/>
                            </m:rPr>
                            <a:rPr lang="es-ES" sz="2100">
                              <a:solidFill>
                                <a:srgbClr val="1F4E79"/>
                              </a:solidFill>
                              <a:latin typeface="Cambria Math" panose="02040503050406030204" pitchFamily="18" charset="0"/>
                            </a:rPr>
                            <m:t xml:space="preserve">low</m:t>
                          </m:r>
                        </m:sub>
                      </m:sSub>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1</m:t>
                          </m:r>
                        </m:num>
                        <m:den>
                          <m:r>
                            <a:rPr lang="es-ES" sz="2100" i="1">
                              <a:solidFill>
                                <a:srgbClr val="1F4E79"/>
                              </a:solidFill>
                              <a:latin typeface="Cambria Math" panose="02040503050406030204" pitchFamily="18" charset="0"/>
                            </a:rPr>
                            <m:t xml:space="preserve">2π</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R</m:t>
                              </m:r>
                            </m:e>
                            <m:sub>
                              <m:r>
                                <m:rPr>
                                  <m:sty m:val="p"/>
                                </m:rPr>
                                <a:rPr lang="es-ES" sz="2100">
                                  <a:solidFill>
                                    <a:srgbClr val="1F4E79"/>
                                  </a:solidFill>
                                  <a:latin typeface="Cambria Math" panose="02040503050406030204" pitchFamily="18" charset="0"/>
                                </a:rPr>
                                <m:t xml:space="preserve">in</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C</m:t>
                              </m:r>
                            </m:e>
                            <m:sub>
                              <m:r>
                                <m:rPr>
                                  <m:sty m:val="p"/>
                                </m:rPr>
                                <a:rPr lang="es-ES" sz="2100">
                                  <a:solidFill>
                                    <a:srgbClr val="1F4E79"/>
                                  </a:solidFill>
                                  <a:latin typeface="Cambria Math" panose="02040503050406030204" pitchFamily="18" charset="0"/>
                                </a:rPr>
                                <m:t xml:space="preserve">in</m:t>
                              </m:r>
                            </m:sub>
                          </m:sSub>
                        </m:den>
                      </m:f>
                    </m:oMath>
                  </m:oMathPara>
                </a14:m>
                <a:endParaRPr lang="es-ES"/>
              </a:p>
            </p:txBody>
          </p:sp>
        </mc:Choice>
        <mc:Fallback>
          <p:sp>
            <p:nvSpPr>
              <p:cNvPr id="40" name="Obj [o549]"/>
              <p:cNvSpPr txBox="1"/>
              <p:nvPr/>
            </p:nvSpPr>
            <p:spPr>
              <a:xfrm>
                <a:off x="3635237" y="3496238"/>
                <a:ext cx="3649649" cy="41818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f_low = 1 / (2π Rin Cin)</a:t>
                </a:r>
                <a:endParaRPr lang="en-US" sz="2071" dirty="0"/>
              </a:p>
            </p:txBody>
          </p:sp>
        </mc:Fallback>
      </mc:AlternateContent>
      <p:sp>
        <p:nvSpPr>
          <p:cNvPr id="41" name="Obj [o550]"/>
          <p:cNvSpPr/>
          <p:nvPr/>
        </p:nvSpPr>
        <p:spPr>
          <a:xfrm>
            <a:off x="3635237" y="3952444"/>
            <a:ext cx="3649649" cy="41818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2" name="Obj [o551]"/>
              <p:cNvSpPr txBox="1"/>
              <p:nvPr/>
            </p:nvSpPr>
            <p:spPr>
              <a:xfrm>
                <a:off x="3635237" y="3952444"/>
                <a:ext cx="3649649" cy="41818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f</m:t>
                          </m:r>
                        </m:e>
                        <m:sub>
                          <m:r>
                            <m:rPr>
                              <m:sty m:val="p"/>
                            </m:rPr>
                            <a:rPr lang="es-ES" sz="2100">
                              <a:solidFill>
                                <a:srgbClr val="1F4E79"/>
                              </a:solidFill>
                              <a:latin typeface="Cambria Math" panose="02040503050406030204" pitchFamily="18" charset="0"/>
                            </a:rPr>
                            <m:t xml:space="preserve">high</m:t>
                          </m:r>
                        </m:sub>
                      </m:sSub>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1</m:t>
                          </m:r>
                        </m:num>
                        <m:den>
                          <m:r>
                            <a:rPr lang="es-ES" sz="2100" i="1">
                              <a:solidFill>
                                <a:srgbClr val="1F4E79"/>
                              </a:solidFill>
                              <a:latin typeface="Cambria Math" panose="02040503050406030204" pitchFamily="18" charset="0"/>
                            </a:rPr>
                            <m:t xml:space="preserve">2π</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R</m:t>
                              </m:r>
                            </m:e>
                            <m:sub>
                              <m:r>
                                <m:rPr>
                                  <m:sty m:val="p"/>
                                </m:rPr>
                                <a:rPr lang="es-ES" sz="2100">
                                  <a:solidFill>
                                    <a:srgbClr val="1F4E79"/>
                                  </a:solidFill>
                                  <a:latin typeface="Cambria Math" panose="02040503050406030204" pitchFamily="18" charset="0"/>
                                </a:rPr>
                                <m:t xml:space="preserve">f</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C</m:t>
                              </m:r>
                            </m:e>
                            <m:sub>
                              <m:r>
                                <m:rPr>
                                  <m:sty m:val="p"/>
                                </m:rPr>
                                <a:rPr lang="es-ES" sz="2100">
                                  <a:solidFill>
                                    <a:srgbClr val="1F4E79"/>
                                  </a:solidFill>
                                  <a:latin typeface="Cambria Math" panose="02040503050406030204" pitchFamily="18" charset="0"/>
                                </a:rPr>
                                <m:t xml:space="preserve">f</m:t>
                              </m:r>
                            </m:sub>
                          </m:sSub>
                        </m:den>
                      </m:f>
                    </m:oMath>
                  </m:oMathPara>
                </a14:m>
                <a:endParaRPr lang="es-ES"/>
              </a:p>
            </p:txBody>
          </p:sp>
        </mc:Choice>
        <mc:Fallback>
          <p:sp>
            <p:nvSpPr>
              <p:cNvPr id="42" name="Obj [o551]"/>
              <p:cNvSpPr txBox="1"/>
              <p:nvPr/>
            </p:nvSpPr>
            <p:spPr>
              <a:xfrm>
                <a:off x="3635237" y="3952444"/>
                <a:ext cx="3649649" cy="41818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f_high = 1 / (2π Rf Cf)</a:t>
                </a:r>
                <a:endParaRPr lang="en-US" sz="2071" dirty="0"/>
              </a:p>
            </p:txBody>
          </p:sp>
        </mc:Fallback>
      </mc:AlternateContent>
      <p:sp>
        <p:nvSpPr>
          <p:cNvPr id="43" name="Obj [o55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latex-15p-review, sec. 3. Imágenes aportadas por el autor.</a:t>
            </a:r>
            <a:endParaRPr lang="en-US" sz="800" dirty="0"/>
          </a:p>
        </p:txBody>
      </p:sp>
      <p:sp>
        <p:nvSpPr>
          <p:cNvPr id="44" name="Obj [o55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Como el pasabanda ya invierte la fase, un sumador reemplaza al amplificador diferencial</a:t>
            </a:r>
            <a:endParaRPr lang="en-US" sz="1400" dirty="0"/>
          </a:p>
        </p:txBody>
      </p:sp>
      <p:pic>
        <p:nvPicPr>
          <p:cNvPr id="45" name="Obj [o554]" descr="Amplificador diferencial de un operacional con R1 a R4">    </p:cNvPr>
          <p:cNvPicPr>
            <a:picLocks noChangeAspect="1"/>
          </p:cNvPicPr>
          <p:nvPr/>
        </p:nvPicPr>
        <p:blipFill>
          <a:blip r:embed="rId4"/>
          <a:stretch>
            <a:fillRect/>
          </a:stretch>
        </p:blipFill>
        <p:spPr>
          <a:xfrm>
            <a:off x="441794" y="1557362"/>
            <a:ext cx="2357065" cy="1767799"/>
          </a:xfrm>
          <a:prstGeom prst="rect">
            <a:avLst/>
          </a:prstGeom>
        </p:spPr>
      </p:pic>
      <p:pic>
        <p:nvPicPr>
          <p:cNvPr id="46" name="Obj [o555]" descr="Sumador inversor con Rf en paralelo con Cf">    </p:cNvPr>
          <p:cNvPicPr>
            <a:picLocks noChangeAspect="1"/>
          </p:cNvPicPr>
          <p:nvPr/>
        </p:nvPicPr>
        <p:blipFill>
          <a:blip r:embed="rId5"/>
          <a:stretch>
            <a:fillRect/>
          </a:stretch>
        </p:blipFill>
        <p:spPr>
          <a:xfrm>
            <a:off x="3635237" y="1557362"/>
            <a:ext cx="2357065" cy="1767799"/>
          </a:xfrm>
          <a:prstGeom prst="rect">
            <a:avLst/>
          </a:prstGeom>
        </p:spPr>
      </p:pic>
      <p:sp>
        <p:nvSpPr>
          <p:cNvPr id="47" name="Obj [o556]"/>
          <p:cNvSpPr txBox="1"/>
          <p:nvPr/>
        </p:nvSpPr>
        <p:spPr>
          <a:xfrm>
            <a:off x="441794" y="3382187"/>
            <a:ext cx="2585168" cy="228103"/>
          </a:xfrm>
          <a:prstGeom prst="rect">
            <a:avLst/>
          </a:prstGeom>
          <a:noFill/>
          <a:ln/>
        </p:spPr>
        <p:txBody>
          <a:bodyPr wrap="square" lIns="0" tIns="0" rIns="0" bIns="0" rtlCol="0" anchor="t"/>
          <a:lstStyle/>
          <a:p>
            <a:pPr indent="0" marL="0">
              <a:buNone/>
            </a:pPr>
            <a:r>
              <a:rPr lang="en-US" sz="1208" b="1" dirty="0">
                <a:solidFill>
                  <a:srgbClr val="6B6B6B"/>
                </a:solidFill>
                <a:latin typeface="Arial" pitchFamily="34" charset="0"/>
                <a:ea typeface="Arial" pitchFamily="34" charset="-122"/>
                <a:cs typeface="Arial" pitchFamily="34" charset="-120"/>
              </a:rPr>
              <a:t>Ma et al.: amplificador diferencial</a:t>
            </a:r>
            <a:endParaRPr lang="en-US" sz="1208" dirty="0"/>
          </a:p>
        </p:txBody>
      </p:sp>
      <p:sp>
        <p:nvSpPr>
          <p:cNvPr id="48" name="Obj [o557]"/>
          <p:cNvSpPr txBox="1"/>
          <p:nvPr/>
        </p:nvSpPr>
        <p:spPr>
          <a:xfrm>
            <a:off x="3635237" y="3382187"/>
            <a:ext cx="3649649" cy="228103"/>
          </a:xfrm>
          <a:prstGeom prst="rect">
            <a:avLst/>
          </a:prstGeom>
          <a:noFill/>
          <a:ln/>
        </p:spPr>
        <p:txBody>
          <a:bodyPr wrap="square" lIns="0" tIns="0" rIns="0" bIns="0" rtlCol="0" anchor="t"/>
          <a:lstStyle/>
          <a:p>
            <a:pPr indent="0" marL="0">
              <a:buNone/>
            </a:pPr>
            <a:r>
              <a:rPr lang="en-US" sz="1208" b="1" dirty="0">
                <a:solidFill>
                  <a:srgbClr val="1F4E79"/>
                </a:solidFill>
                <a:latin typeface="Arial" pitchFamily="34" charset="0"/>
                <a:ea typeface="Arial" pitchFamily="34" charset="-122"/>
                <a:cs typeface="Arial" pitchFamily="34" charset="-120"/>
              </a:rPr>
              <a:t>Este trabajo: sumador inversor</a:t>
            </a:r>
            <a:endParaRPr lang="en-US" sz="1208" dirty="0"/>
          </a:p>
        </p:txBody>
      </p:sp>
      <p:sp>
        <p:nvSpPr>
          <p:cNvPr id="49" name="Obj [o558]"/>
          <p:cNvSpPr txBox="1"/>
          <p:nvPr/>
        </p:nvSpPr>
        <p:spPr>
          <a:xfrm>
            <a:off x="441794" y="3648307"/>
            <a:ext cx="2585168" cy="380172"/>
          </a:xfrm>
          <a:prstGeom prst="rect">
            <a:avLst/>
          </a:prstGeom>
          <a:noFill/>
          <a:ln/>
        </p:spPr>
        <p:txBody>
          <a:bodyPr wrap="square" lIns="0" tIns="0" rIns="0" bIns="0" rtlCol="0" anchor="t"/>
          <a:lstStyle/>
          <a:p>
            <a:pPr indent="0" marL="0">
              <a:buNone/>
            </a:pPr>
            <a:r>
              <a:rPr lang="en-US" sz="1122" dirty="0">
                <a:solidFill>
                  <a:srgbClr val="6B6B6B"/>
                </a:solidFill>
                <a:latin typeface="Arial" pitchFamily="34" charset="0"/>
                <a:ea typeface="Arial" pitchFamily="34" charset="-122"/>
                <a:cs typeface="Arial" pitchFamily="34" charset="-120"/>
              </a:rPr>
              <a:t>Exige resistencias pareadas</a:t>
            </a:r>
            <a:endParaRPr lang="en-US" sz="1122" dirty="0"/>
          </a:p>
        </p:txBody>
      </p:sp>
      <p:sp>
        <p:nvSpPr>
          <p:cNvPr id="50" name="Obj [o559]"/>
          <p:cNvSpPr txBox="1"/>
          <p:nvPr/>
        </p:nvSpPr>
        <p:spPr>
          <a:xfrm>
            <a:off x="3635237" y="3610290"/>
            <a:ext cx="3649649" cy="722326"/>
          </a:xfrm>
          <a:prstGeom prst="rect">
            <a:avLst/>
          </a:prstGeom>
          <a:noFill/>
          <a:ln/>
        </p:spPr>
        <p:txBody>
          <a:bodyPr wrap="square" lIns="0" tIns="0" rIns="0" bIns="0" rtlCol="0" anchor="t"/>
          <a:lstStyle/>
          <a:p>
            <a:pPr marL="342900" indent="-342900">
              <a:spcAft>
                <a:spcPts val="345"/>
              </a:spcAft>
              <a:buSzPct val="100000"/>
              <a:buChar char="•"/>
            </a:pPr>
            <a:r>
              <a:rPr lang="en-US" sz="1122" dirty="0">
                <a:solidFill>
                  <a:srgbClr val="2D2D2D"/>
                </a:solidFill>
                <a:latin typeface="Arial" pitchFamily="34" charset="0"/>
                <a:ea typeface="Arial" pitchFamily="34" charset="-122"/>
                <a:cs typeface="Arial" pitchFamily="34" charset="-120"/>
              </a:rPr>
              <a:t>Menos componentes y menos dependencia de tolerancias</a:t>
            </a:r>
            <a:endParaRPr lang="en-US" sz="1122" dirty="0"/>
          </a:p>
          <a:p>
            <a:pPr marL="342900" indent="-342900">
              <a:spcAft>
                <a:spcPts val="345"/>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122" i="1">
                            <a:latin typeface="Cambria Math" panose="02040503050406030204" pitchFamily="18" charset="0"/>
                          </a:rPr>
                        </m:ctrlPr>
                      </m:sSubPr>
                      <m:e>
                        <m:r>
                          <a:rPr lang="es-ES" sz="1122" i="1">
                            <a:solidFill>
                              <a:srgbClr val="2D2D2D"/>
                            </a:solidFill>
                            <a:latin typeface="Cambria Math" panose="02040503050406030204" pitchFamily="18" charset="0"/>
                          </a:rPr>
                          <m:t xml:space="preserve">C</m:t>
                        </m:r>
                      </m:e>
                      <m:sub>
                        <m:r>
                          <a:rPr lang="es-ES" sz="1122" i="1">
                            <a:solidFill>
                              <a:srgbClr val="2D2D2D"/>
                            </a:solidFill>
                            <a:latin typeface="Cambria Math" panose="02040503050406030204" pitchFamily="18" charset="0"/>
                          </a:rPr>
                          <m:t xml:space="preserve">f</m:t>
                        </m:r>
                      </m:sub>
                    </m:sSub>
                  </m:oMath>
                </a14:m>
              </mc:Choice>
              <mc:Fallback>
                <a:r>
                  <a:rPr lang="en-US" sz="1122" dirty="0">
                    <a:solidFill>
                      <a:srgbClr val="2D2D2D"/>
                    </a:solidFill>
                    <a:latin typeface="Arial" pitchFamily="34" charset="0"/>
                    <a:ea typeface="Arial" pitchFamily="34" charset="-122"/>
                    <a:cs typeface="Arial" pitchFamily="34" charset="-120"/>
                  </a:rPr>
                  <a:t>Cf</a:t>
                </a:r>
              </mc:Fallback>
            </mc:AlternateContent>
            <a:r>
              <a:rPr lang="en-US" sz="1122" dirty="0">
                <a:solidFill>
                  <a:srgbClr val="2D2D2D"/>
                </a:solidFill>
                <a:latin typeface="Arial" pitchFamily="34" charset="0"/>
                <a:ea typeface="Arial" pitchFamily="34" charset="-122"/>
                <a:cs typeface="Arial" pitchFamily="34" charset="-120"/>
              </a:rPr>
              <a:t> en paralelo con </a:t>
            </a:r>
            <mc:AlternateContent xmlns:mc="http://schemas.openxmlformats.org/markup-compatibility/2006">
              <mc:Choice xmlns:a14="http://schemas.microsoft.com/office/drawing/2010/main" Requires="a14">
                <a14:m>
                  <m:oMath xmlns:m="http://schemas.openxmlformats.org/officeDocument/2006/math">
                    <m:sSub>
                      <m:sSubPr>
                        <m:ctrlPr>
                          <a:rPr lang="es-ES" sz="1122" i="1">
                            <a:latin typeface="Cambria Math" panose="02040503050406030204" pitchFamily="18" charset="0"/>
                          </a:rPr>
                        </m:ctrlPr>
                      </m:sSubPr>
                      <m:e>
                        <m:r>
                          <a:rPr lang="es-ES" sz="1122" i="1">
                            <a:solidFill>
                              <a:srgbClr val="2D2D2D"/>
                            </a:solidFill>
                            <a:latin typeface="Cambria Math" panose="02040503050406030204" pitchFamily="18" charset="0"/>
                          </a:rPr>
                          <m:t xml:space="preserve">R</m:t>
                        </m:r>
                      </m:e>
                      <m:sub>
                        <m:r>
                          <a:rPr lang="es-ES" sz="1122" i="1">
                            <a:solidFill>
                              <a:srgbClr val="2D2D2D"/>
                            </a:solidFill>
                            <a:latin typeface="Cambria Math" panose="02040503050406030204" pitchFamily="18" charset="0"/>
                          </a:rPr>
                          <m:t xml:space="preserve">f</m:t>
                        </m:r>
                      </m:sub>
                    </m:sSub>
                  </m:oMath>
                </a14:m>
              </mc:Choice>
              <mc:Fallback>
                <a:r>
                  <a:rPr lang="en-US" sz="1122" dirty="0">
                    <a:solidFill>
                      <a:srgbClr val="2D2D2D"/>
                    </a:solidFill>
                    <a:latin typeface="Arial" pitchFamily="34" charset="0"/>
                    <a:ea typeface="Arial" pitchFamily="34" charset="-122"/>
                    <a:cs typeface="Arial" pitchFamily="34" charset="-120"/>
                  </a:rPr>
                  <a:t>Rf</a:t>
                </a:r>
              </mc:Fallback>
            </mc:AlternateContent>
            <a:r>
              <a:rPr lang="en-US" sz="1122" dirty="0">
                <a:solidFill>
                  <a:srgbClr val="2D2D2D"/>
                </a:solidFill>
                <a:latin typeface="Arial" pitchFamily="34" charset="0"/>
                <a:ea typeface="Arial" pitchFamily="34" charset="-122"/>
                <a:cs typeface="Arial" pitchFamily="34" charset="-120"/>
              </a:rPr>
              <a:t> agrega un polo pasa-bajos</a:t>
            </a:r>
            <a:endParaRPr lang="en-US" sz="1122" dirty="0"/>
          </a:p>
        </p:txBody>
      </p:sp>
      <p:sp>
        <p:nvSpPr>
          <p:cNvPr id="51" name="Obj [o56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latex-15p-review, sec. 3. Imágenes aportadas por el autor.</a:t>
            </a:r>
            <a:endParaRPr lang="en-US" sz="800" dirty="0"/>
          </a:p>
        </p:txBody>
      </p:sp>
      <p:sp>
        <p:nvSpPr>
          <p:cNvPr id="52" name="Obj [o56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antialias es un Bessel de tercer orden que aprovecha el polo del sumador</a:t>
            </a:r>
            <a:endParaRPr lang="en-US" sz="1400" dirty="0"/>
          </a:p>
        </p:txBody>
      </p:sp>
      <p:pic>
        <p:nvPicPr>
          <p:cNvPr id="53" name="Obj [o562]" descr="Filtro pasabajos de realimentación múltiple (MFB) con R1, R3, R4, C2 y C5">    </p:cNvPr>
          <p:cNvPicPr>
            <a:picLocks noChangeAspect="1"/>
          </p:cNvPicPr>
          <p:nvPr/>
        </p:nvPicPr>
        <p:blipFill>
          <a:blip r:embed="rId6"/>
          <a:stretch>
            <a:fillRect/>
          </a:stretch>
        </p:blipFill>
        <p:spPr>
          <a:xfrm>
            <a:off x="365760" y="1595380"/>
            <a:ext cx="3725683" cy="2794262"/>
          </a:xfrm>
          <a:prstGeom prst="rect">
            <a:avLst/>
          </a:prstGeom>
        </p:spPr>
      </p:pic>
      <p:sp>
        <p:nvSpPr>
          <p:cNvPr id="54" name="Obj [o563]"/>
          <p:cNvSpPr txBox="1"/>
          <p:nvPr/>
        </p:nvSpPr>
        <p:spPr>
          <a:xfrm>
            <a:off x="4243512" y="1671414"/>
            <a:ext cx="3041374" cy="2585168"/>
          </a:xfrm>
          <a:prstGeom prst="rect">
            <a:avLst/>
          </a:prstGeom>
          <a:noFill/>
          <a:ln/>
        </p:spPr>
        <p:txBody>
          <a:bodyPr wrap="square" lIns="0" tIns="0" rIns="0" bIns="0" rtlCol="0" anchor="t"/>
          <a:lstStyle/>
          <a:p>
            <a:pPr marL="342900" indent="-342900">
              <a:spcAft>
                <a:spcPts val="863"/>
              </a:spcAft>
              <a:buSzPct val="100000"/>
              <a:buChar char="•"/>
            </a:pPr>
            <a:r>
              <a:rPr lang="en-US" sz="1294" dirty="0">
                <a:solidFill>
                  <a:srgbClr val="2D2D2D"/>
                </a:solidFill>
                <a:latin typeface="Arial" pitchFamily="34" charset="0"/>
                <a:ea typeface="Arial" pitchFamily="34" charset="-122"/>
                <a:cs typeface="Arial" pitchFamily="34" charset="-120"/>
              </a:rPr>
              <a:t>Se decidió que sea Bessel, de fase casi lineal</a:t>
            </a:r>
            <a:endParaRPr lang="en-US" sz="1294" dirty="0"/>
          </a:p>
          <a:p>
            <a:pPr marL="342900" indent="-342900">
              <a:spcAft>
                <a:spcPts val="863"/>
              </a:spcAft>
              <a:buSzPct val="100000"/>
              <a:buChar char="•"/>
            </a:pPr>
            <a:r>
              <a:rPr lang="en-US" sz="1294"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294" dirty="0"/>
          </a:p>
          <a:p>
            <a:pPr marL="342900" indent="-342900">
              <a:spcAft>
                <a:spcPts val="863"/>
              </a:spcAft>
              <a:buSzPct val="100000"/>
              <a:buChar char="•"/>
            </a:pPr>
            <a:r>
              <a:rPr lang="en-US" sz="1294"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294" dirty="0"/>
          </a:p>
        </p:txBody>
      </p:sp>
      <p:sp>
        <p:nvSpPr>
          <p:cNvPr id="55" name="Obj [o56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latex-15p-review sec. 3 y latex/03b_topologias.tex. Imagen aportada por el autor.</a:t>
            </a:r>
            <a:endParaRPr lang="en-US" sz="800" dirty="0"/>
          </a:p>
        </p:txBody>
      </p:sp>
      <p:sp>
        <p:nvSpPr>
          <p:cNvPr id="56" name="Obj [o56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AFE final</a:t>
            </a:r>
            <a:endParaRPr lang="en-US" sz="1400" dirty="0"/>
          </a:p>
        </p:txBody>
      </p:sp>
      <p:pic>
        <p:nvPicPr>
          <p:cNvPr id="57" name="Obj [o566]" descr="Esquema del frente analógico en PSoC Creator: entrada diferencial, ganancia programable, rama pasabanda, sumador, pasa-bajos, referencias VDAC y ADC">    </p:cNvPr>
          <p:cNvPicPr>
            <a:picLocks noChangeAspect="1"/>
          </p:cNvPicPr>
          <p:nvPr/>
        </p:nvPicPr>
        <p:blipFill>
          <a:blip r:embed="rId7"/>
          <a:stretch>
            <a:fillRect/>
          </a:stretch>
        </p:blipFill>
        <p:spPr>
          <a:xfrm>
            <a:off x="593863" y="1291242"/>
            <a:ext cx="6538954" cy="2947978"/>
          </a:xfrm>
          <a:prstGeom prst="rect">
            <a:avLst/>
          </a:prstGeom>
        </p:spPr>
      </p:pic>
      <p:sp>
        <p:nvSpPr>
          <p:cNvPr id="58" name="Obj [o5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Elaboración propia en PSoC Creator (resumen firmado, fig. 5 y sec. 4.3).</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grpId="0" fill="hold" nodeType="withEffect">
                                  <p:stCondLst>
                                    <p:cond delay="34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450"/>
                                        <p:tgtEl>
                                          <p:spTgt spid="5">
                                            <p:txEl>
                                              <p:pRg st="0" end="0"/>
                                            </p:txEl>
                                          </p:spTgt>
                                        </p:tgtEl>
                                      </p:cBhvr>
                                    </p:animEffect>
                                  </p:childTnLst>
                                </p:cTn>
                              </p:par>
                              <p:par>
                                <p:cTn id="14" presetID="10" presetClass="entr" presetSubtype="0" grpId="0" fill="hold" nodeType="withEffect">
                                  <p:stCondLst>
                                    <p:cond delay="72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450"/>
                                        <p:tgtEl>
                                          <p:spTgt spid="5">
                                            <p:txEl>
                                              <p:pRg st="1" end="1"/>
                                            </p:txEl>
                                          </p:spTgt>
                                        </p:tgtEl>
                                      </p:cBhvr>
                                    </p:animEffect>
                                  </p:childTnLst>
                                </p:cTn>
                              </p:par>
                              <p:par>
                                <p:cTn id="17" presetID="10" presetClass="entr" presetSubtype="0" fill="hold" nodeType="withEffect">
                                  <p:stCondLst>
                                    <p:cond delay="41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childTnLst>
                                </p:cTn>
                              </p:par>
                              <p:par>
                                <p:cTn id="20" presetID="10" presetClass="entr" presetSubtype="0" grpId="0" fill="hold" nodeType="withEffect">
                                  <p:stCondLst>
                                    <p:cond delay="41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450"/>
                                        <p:tgtEl>
                                          <p:spTgt spid="7">
                                            <p:txEl>
                                              <p:pRg st="0" end="0"/>
                                            </p:txEl>
                                          </p:spTgt>
                                        </p:tgtEl>
                                      </p:cBhvr>
                                    </p:animEffect>
                                  </p:childTnLst>
                                </p:cTn>
                              </p:par>
                              <p:par>
                                <p:cTn id="23" presetID="10" presetClass="entr" presetSubtype="0" grpId="0" fill="hold" nodeType="withEffect">
                                  <p:stCondLst>
                                    <p:cond delay="790"/>
                                  </p:stCondLst>
                                  <p:childTnLst>
                                    <p:set>
                                      <p:cBhvr>
                                        <p:cTn id="24" dur="1" fill="hold">
                                          <p:stCondLst>
                                            <p:cond delay="0"/>
                                          </p:stCondLst>
                                        </p:cTn>
                                        <p:tgtEl>
                                          <p:spTgt spid="7">
                                            <p:txEl>
                                              <p:pRg st="1" end="1"/>
                                            </p:txEl>
                                          </p:spTgt>
                                        </p:tgtEl>
                                        <p:attrNameLst>
                                          <p:attrName>style.visibility</p:attrName>
                                        </p:attrNameLst>
                                      </p:cBhvr>
                                      <p:to>
                                        <p:strVal val="visible"/>
                                      </p:to>
                                    </p:set>
                                    <p:animEffect transition="in" filter="fade">
                                      <p:cBhvr>
                                        <p:cTn id="25" dur="450"/>
                                        <p:tgtEl>
                                          <p:spTgt spid="7">
                                            <p:txEl>
                                              <p:pRg st="1" end="1"/>
                                            </p:txEl>
                                          </p:spTgt>
                                        </p:tgtEl>
                                      </p:cBhvr>
                                    </p:animEffect>
                                  </p:childTnLst>
                                </p:cTn>
                              </p:par>
                              <p:par>
                                <p:cTn id="26" presetID="10" presetClass="entr" presetSubtype="0" fill="hold" nodeType="withEffect">
                                  <p:stCondLst>
                                    <p:cond delay="48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50"/>
                                        <p:tgtEl>
                                          <p:spTgt spid="8"/>
                                        </p:tgtEl>
                                      </p:cBhvr>
                                    </p:animEffect>
                                  </p:childTnLst>
                                </p:cTn>
                              </p:par>
                              <p:par>
                                <p:cTn id="29" presetID="10" presetClass="entr" presetSubtype="0" grpId="0" fill="hold" nodeType="withEffect">
                                  <p:stCondLst>
                                    <p:cond delay="480"/>
                                  </p:stCondLst>
                                  <p:childTnLst>
                                    <p:set>
                                      <p:cBhvr>
                                        <p:cTn id="30" dur="1" fill="hold">
                                          <p:stCondLst>
                                            <p:cond delay="0"/>
                                          </p:stCondLst>
                                        </p:cTn>
                                        <p:tgtEl>
                                          <p:spTgt spid="9">
                                            <p:txEl>
                                              <p:pRg st="0" end="0"/>
                                            </p:txEl>
                                          </p:spTgt>
                                        </p:tgtEl>
                                        <p:attrNameLst>
                                          <p:attrName>style.visibility</p:attrName>
                                        </p:attrNameLst>
                                      </p:cBhvr>
                                      <p:to>
                                        <p:strVal val="visible"/>
                                      </p:to>
                                    </p:set>
                                    <p:animEffect transition="in" filter="fade">
                                      <p:cBhvr>
                                        <p:cTn id="31" dur="450"/>
                                        <p:tgtEl>
                                          <p:spTgt spid="9">
                                            <p:txEl>
                                              <p:pRg st="0" end="0"/>
                                            </p:txEl>
                                          </p:spTgt>
                                        </p:tgtEl>
                                      </p:cBhvr>
                                    </p:animEffect>
                                  </p:childTnLst>
                                </p:cTn>
                              </p:par>
                              <p:par>
                                <p:cTn id="32" presetID="10" presetClass="entr" presetSubtype="0" grpId="0" fill="hold" nodeType="withEffect">
                                  <p:stCondLst>
                                    <p:cond delay="860"/>
                                  </p:stCondLst>
                                  <p:childTnLst>
                                    <p:set>
                                      <p:cBhvr>
                                        <p:cTn id="33" dur="1" fill="hold">
                                          <p:stCondLst>
                                            <p:cond delay="0"/>
                                          </p:stCondLst>
                                        </p:cTn>
                                        <p:tgtEl>
                                          <p:spTgt spid="9">
                                            <p:txEl>
                                              <p:pRg st="1" end="1"/>
                                            </p:txEl>
                                          </p:spTgt>
                                        </p:tgtEl>
                                        <p:attrNameLst>
                                          <p:attrName>style.visibility</p:attrName>
                                        </p:attrNameLst>
                                      </p:cBhvr>
                                      <p:to>
                                        <p:strVal val="visible"/>
                                      </p:to>
                                    </p:set>
                                    <p:animEffect transition="in" filter="fade">
                                      <p:cBhvr>
                                        <p:cTn id="34" dur="450"/>
                                        <p:tgtEl>
                                          <p:spTgt spid="9">
                                            <p:txEl>
                                              <p:pRg st="1" end="1"/>
                                            </p:txEl>
                                          </p:spTgt>
                                        </p:tgtEl>
                                      </p:cBhvr>
                                    </p:animEffect>
                                  </p:childTnLst>
                                </p:cTn>
                              </p:par>
                              <p:par>
                                <p:cTn id="35" presetID="10" presetClass="entr" presetSubtype="0" fill="hold" nodeType="withEffect">
                                  <p:stCondLst>
                                    <p:cond delay="55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childTnLst>
                                </p:cTn>
                              </p:par>
                              <p:par>
                                <p:cTn id="38" presetID="22" presetClass="entr" presetSubtype="8" fill="hold" nodeType="withEffect">
                                  <p:stCondLst>
                                    <p:cond delay="55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par>
                                <p:cTn id="41" presetID="10" presetClass="entr" presetSubtype="0" fill="hold" nodeType="withEffect">
                                  <p:stCondLst>
                                    <p:cond delay="62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450"/>
                                        <p:tgtEl>
                                          <p:spTgt spid="12"/>
                                        </p:tgtEl>
                                      </p:cBhvr>
                                    </p:animEffect>
                                  </p:childTnLst>
                                </p:cTn>
                              </p:par>
                              <p:par>
                                <p:cTn id="44" presetID="10" presetClass="entr" presetSubtype="0" grpId="0" fill="hold" nodeType="withEffect">
                                  <p:stCondLst>
                                    <p:cond delay="620"/>
                                  </p:stCondLst>
                                  <p:childTnLst>
                                    <p:set>
                                      <p:cBhvr>
                                        <p:cTn id="45" dur="1" fill="hold">
                                          <p:stCondLst>
                                            <p:cond delay="0"/>
                                          </p:stCondLst>
                                        </p:cTn>
                                        <p:tgtEl>
                                          <p:spTgt spid="13">
                                            <p:txEl>
                                              <p:pRg st="0" end="0"/>
                                            </p:txEl>
                                          </p:spTgt>
                                        </p:tgtEl>
                                        <p:attrNameLst>
                                          <p:attrName>style.visibility</p:attrName>
                                        </p:attrNameLst>
                                      </p:cBhvr>
                                      <p:to>
                                        <p:strVal val="visible"/>
                                      </p:to>
                                    </p:set>
                                    <p:animEffect transition="in" filter="fade">
                                      <p:cBhvr>
                                        <p:cTn id="46" dur="450"/>
                                        <p:tgtEl>
                                          <p:spTgt spid="13">
                                            <p:txEl>
                                              <p:pRg st="0" end="0"/>
                                            </p:txEl>
                                          </p:spTgt>
                                        </p:tgtEl>
                                      </p:cBhvr>
                                    </p:animEffect>
                                  </p:childTnLst>
                                </p:cTn>
                              </p:par>
                              <p:par>
                                <p:cTn id="47" presetID="10" presetClass="entr" presetSubtype="0" grpId="0" fill="hold" nodeType="withEffect">
                                  <p:stCondLst>
                                    <p:cond delay="1000"/>
                                  </p:stCondLst>
                                  <p:childTnLst>
                                    <p:set>
                                      <p:cBhvr>
                                        <p:cTn id="48" dur="1" fill="hold">
                                          <p:stCondLst>
                                            <p:cond delay="0"/>
                                          </p:stCondLst>
                                        </p:cTn>
                                        <p:tgtEl>
                                          <p:spTgt spid="13">
                                            <p:txEl>
                                              <p:pRg st="1" end="1"/>
                                            </p:txEl>
                                          </p:spTgt>
                                        </p:tgtEl>
                                        <p:attrNameLst>
                                          <p:attrName>style.visibility</p:attrName>
                                        </p:attrNameLst>
                                      </p:cBhvr>
                                      <p:to>
                                        <p:strVal val="visible"/>
                                      </p:to>
                                    </p:set>
                                    <p:animEffect transition="in" filter="fade">
                                      <p:cBhvr>
                                        <p:cTn id="49" dur="450"/>
                                        <p:tgtEl>
                                          <p:spTgt spid="13">
                                            <p:txEl>
                                              <p:pRg st="1" end="1"/>
                                            </p:txEl>
                                          </p:spTgt>
                                        </p:tgtEl>
                                      </p:cBhvr>
                                    </p:animEffect>
                                  </p:childTnLst>
                                </p:cTn>
                              </p:par>
                              <p:par>
                                <p:cTn id="50" presetID="10" presetClass="entr" presetSubtype="0" fill="hold" nodeType="withEffect">
                                  <p:stCondLst>
                                    <p:cond delay="69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par>
                                <p:cTn id="53" presetID="22" presetClass="entr" presetSubtype="8" fill="hold" nodeType="withEffect">
                                  <p:stCondLst>
                                    <p:cond delay="69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par>
                                <p:cTn id="56" presetID="10" presetClass="entr" presetSubtype="0" fill="hold" nodeType="withEffect">
                                  <p:stCondLst>
                                    <p:cond delay="76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50"/>
                                        <p:tgtEl>
                                          <p:spTgt spid="16"/>
                                        </p:tgtEl>
                                      </p:cBhvr>
                                    </p:animEffect>
                                  </p:childTnLst>
                                </p:cTn>
                              </p:par>
                              <p:par>
                                <p:cTn id="59" presetID="10" presetClass="entr" presetSubtype="0" fill="hold" nodeType="withEffect">
                                  <p:stCondLst>
                                    <p:cond delay="83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450"/>
                                        <p:tgtEl>
                                          <p:spTgt spid="17"/>
                                        </p:tgtEl>
                                      </p:cBhvr>
                                    </p:animEffect>
                                  </p:childTnLst>
                                </p:cTn>
                              </p:par>
                              <p:par>
                                <p:cTn id="62" presetID="10" presetClass="entr" presetSubtype="0" fill="hold" nodeType="withEffect">
                                  <p:stCondLst>
                                    <p:cond delay="90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450"/>
                                        <p:tgtEl>
                                          <p:spTgt spid="18"/>
                                        </p:tgtEl>
                                      </p:cBhvr>
                                    </p:animEffect>
                                  </p:childTnLst>
                                </p:cTn>
                              </p:par>
                              <p:par>
                                <p:cTn id="65" presetID="10" presetClass="entr" presetSubtype="0" fill="hold" nodeType="withEffect">
                                  <p:stCondLst>
                                    <p:cond delay="97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450"/>
                                        <p:tgtEl>
                                          <p:spTgt spid="19"/>
                                        </p:tgtEl>
                                      </p:cBhvr>
                                    </p:animEffect>
                                  </p:childTnLst>
                                </p:cTn>
                              </p:par>
                              <p:par>
                                <p:cTn id="68" presetID="10" presetClass="entr" presetSubtype="0" fill="hold" nodeType="withEffect">
                                  <p:stCondLst>
                                    <p:cond delay="104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450"/>
                                        <p:tgtEl>
                                          <p:spTgt spid="20"/>
                                        </p:tgtEl>
                                      </p:cBhvr>
                                    </p:animEffect>
                                  </p:childTnLst>
                                </p:cTn>
                              </p:par>
                              <p:par>
                                <p:cTn id="71" presetID="10" presetClass="entr" presetSubtype="0" fill="hold" nodeType="withEffect">
                                  <p:stCondLst>
                                    <p:cond delay="111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450"/>
                                        <p:tgtEl>
                                          <p:spTgt spid="21"/>
                                        </p:tgtEl>
                                      </p:cBhvr>
                                    </p:animEffect>
                                  </p:childTnLst>
                                </p:cTn>
                              </p:par>
                              <p:par>
                                <p:cTn id="74" presetID="10" presetClass="entr" presetSubtype="0" fill="hold" nodeType="withEffect">
                                  <p:stCondLst>
                                    <p:cond delay="118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450"/>
                                        <p:tgtEl>
                                          <p:spTgt spid="22"/>
                                        </p:tgtEl>
                                      </p:cBhvr>
                                    </p:animEffect>
                                  </p:childTnLst>
                                </p:cTn>
                              </p:par>
                              <p:par>
                                <p:cTn id="77" presetID="10" presetClass="entr" presetSubtype="0" fill="hold" nodeType="withEffect">
                                  <p:stCondLst>
                                    <p:cond delay="125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450"/>
                                        <p:tgtEl>
                                          <p:spTgt spid="23"/>
                                        </p:tgtEl>
                                      </p:cBhvr>
                                    </p:animEffect>
                                  </p:childTnLst>
                                </p:cTn>
                              </p:par>
                              <p:par>
                                <p:cTn id="80" presetID="10" presetClass="entr" presetSubtype="0" fill="hold" nodeType="withEffect">
                                  <p:stCondLst>
                                    <p:cond delay="130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450"/>
                                        <p:tgtEl>
                                          <p:spTgt spid="24"/>
                                        </p:tgtEl>
                                      </p:cBhvr>
                                    </p:animEffect>
                                  </p:childTnLst>
                                </p:cTn>
                              </p:par>
                              <p:par>
                                <p:cTn id="83" presetID="22" presetClass="entr" presetSubtype="8" fill="hold" nodeType="withEffect">
                                  <p:stCondLst>
                                    <p:cond delay="1300"/>
                                  </p:stCondLst>
                                  <p:childTnLst>
                                    <p:set>
                                      <p:cBhvr>
                                        <p:cTn id="84" dur="1" fill="hold">
                                          <p:stCondLst>
                                            <p:cond delay="0"/>
                                          </p:stCondLst>
                                        </p:cTn>
                                        <p:tgtEl>
                                          <p:spTgt spid="25"/>
                                        </p:tgtEl>
                                        <p:attrNameLst>
                                          <p:attrName>style.visibility</p:attrName>
                                        </p:attrNameLst>
                                      </p:cBhvr>
                                      <p:to>
                                        <p:strVal val="visible"/>
                                      </p:to>
                                    </p:set>
                                    <p:animEffect transition="in" filter="wipe(left)">
                                      <p:cBhvr>
                                        <p:cTn id="85" dur="500"/>
                                        <p:tgtEl>
                                          <p:spTgt spid="25"/>
                                        </p:tgtEl>
                                      </p:cBhvr>
                                    </p:animEffect>
                                  </p:childTnLst>
                                </p:cTn>
                              </p:par>
                              <p:par>
                                <p:cTn id="86" presetID="22" presetClass="entr" presetSubtype="8" fill="hold" nodeType="withEffect">
                                  <p:stCondLst>
                                    <p:cond delay="1300"/>
                                  </p:stCondLst>
                                  <p:childTnLst>
                                    <p:set>
                                      <p:cBhvr>
                                        <p:cTn id="87" dur="1" fill="hold">
                                          <p:stCondLst>
                                            <p:cond delay="0"/>
                                          </p:stCondLst>
                                        </p:cTn>
                                        <p:tgtEl>
                                          <p:spTgt spid="26"/>
                                        </p:tgtEl>
                                        <p:attrNameLst>
                                          <p:attrName>style.visibility</p:attrName>
                                        </p:attrNameLst>
                                      </p:cBhvr>
                                      <p:to>
                                        <p:strVal val="visible"/>
                                      </p:to>
                                    </p:set>
                                    <p:animEffect transition="in" filter="wipe(left)">
                                      <p:cBhvr>
                                        <p:cTn id="88" dur="500"/>
                                        <p:tgtEl>
                                          <p:spTgt spid="26"/>
                                        </p:tgtEl>
                                      </p:cBhvr>
                                    </p:animEffect>
                                  </p:childTnLst>
                                </p:cTn>
                              </p:par>
                              <p:par>
                                <p:cTn id="89" presetID="10" presetClass="entr" presetSubtype="0" grpId="0" fill="hold" nodeType="withEffect">
                                  <p:stCondLst>
                                    <p:cond delay="1300"/>
                                  </p:stCondLst>
                                  <p:childTnLst>
                                    <p:set>
                                      <p:cBhvr>
                                        <p:cTn id="90" dur="1" fill="hold">
                                          <p:stCondLst>
                                            <p:cond delay="0"/>
                                          </p:stCondLst>
                                        </p:cTn>
                                        <p:tgtEl>
                                          <p:spTgt spid="27">
                                            <p:txEl>
                                              <p:pRg st="0" end="0"/>
                                            </p:txEl>
                                          </p:spTgt>
                                        </p:tgtEl>
                                        <p:attrNameLst>
                                          <p:attrName>style.visibility</p:attrName>
                                        </p:attrNameLst>
                                      </p:cBhvr>
                                      <p:to>
                                        <p:strVal val="visible"/>
                                      </p:to>
                                    </p:set>
                                    <p:animEffect transition="in" filter="fade">
                                      <p:cBhvr>
                                        <p:cTn id="91" dur="450"/>
                                        <p:tgtEl>
                                          <p:spTgt spid="27">
                                            <p:txEl>
                                              <p:pRg st="0" end="0"/>
                                            </p:txEl>
                                          </p:spTgt>
                                        </p:tgtEl>
                                      </p:cBhvr>
                                    </p:animEffect>
                                  </p:childTnLst>
                                </p:cTn>
                              </p:par>
                              <p:par>
                                <p:cTn id="92" presetID="10" presetClass="entr" presetSubtype="0" grpId="0" fill="hold" nodeType="withEffect">
                                  <p:stCondLst>
                                    <p:cond delay="1680"/>
                                  </p:stCondLst>
                                  <p:childTnLst>
                                    <p:set>
                                      <p:cBhvr>
                                        <p:cTn id="93" dur="1" fill="hold">
                                          <p:stCondLst>
                                            <p:cond delay="0"/>
                                          </p:stCondLst>
                                        </p:cTn>
                                        <p:tgtEl>
                                          <p:spTgt spid="27">
                                            <p:txEl>
                                              <p:pRg st="1" end="1"/>
                                            </p:txEl>
                                          </p:spTgt>
                                        </p:tgtEl>
                                        <p:attrNameLst>
                                          <p:attrName>style.visibility</p:attrName>
                                        </p:attrNameLst>
                                      </p:cBhvr>
                                      <p:to>
                                        <p:strVal val="visible"/>
                                      </p:to>
                                    </p:set>
                                    <p:animEffect transition="in" filter="fade">
                                      <p:cBhvr>
                                        <p:cTn id="94" dur="450"/>
                                        <p:tgtEl>
                                          <p:spTgt spid="27">
                                            <p:txEl>
                                              <p:pRg st="1" end="1"/>
                                            </p:txEl>
                                          </p:spTgt>
                                        </p:tgtEl>
                                      </p:cBhvr>
                                    </p:animEffect>
                                  </p:childTnLst>
                                </p:cTn>
                              </p:par>
                              <p:par>
                                <p:cTn id="95" presetID="10" presetClass="entr" presetSubtype="0" fill="hold" nodeType="withEffect">
                                  <p:stCondLst>
                                    <p:cond delay="40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450"/>
                                        <p:tgtEl>
                                          <p:spTgt spid="28"/>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350"/>
                                        <p:tgtEl>
                                          <p:spTgt spid="3"/>
                                        </p:tgtEl>
                                      </p:cBhvr>
                                    </p:animEffect>
                                    <p:set>
                                      <p:cBhvr>
                                        <p:cTn id="102" dur="1" fill="hold">
                                          <p:stCondLst>
                                            <p:cond delay="349"/>
                                          </p:stCondLst>
                                        </p:cTn>
                                        <p:tgtEl>
                                          <p:spTgt spid="3"/>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350"/>
                                        <p:tgtEl>
                                          <p:spTgt spid="4"/>
                                        </p:tgtEl>
                                      </p:cBhvr>
                                    </p:animEffect>
                                    <p:set>
                                      <p:cBhvr>
                                        <p:cTn id="105" dur="1" fill="hold">
                                          <p:stCondLst>
                                            <p:cond delay="349"/>
                                          </p:stCondLst>
                                        </p:cTn>
                                        <p:tgtEl>
                                          <p:spTgt spid="4"/>
                                        </p:tgtEl>
                                        <p:attrNameLst>
                                          <p:attrName>style.visibility</p:attrName>
                                        </p:attrNameLst>
                                      </p:cBhvr>
                                      <p:to>
                                        <p:strVal val="hidden"/>
                                      </p:to>
                                    </p:set>
                                  </p:childTnLst>
                                </p:cTn>
                              </p:par>
                              <p:par>
                                <p:cTn id="106" presetID="10" presetClass="exit" presetSubtype="0" grpId="0" fill="hold" nodeType="withEffect">
                                  <p:stCondLst>
                                    <p:cond delay="0"/>
                                  </p:stCondLst>
                                  <p:childTnLst>
                                    <p:animEffect transition="out" filter="fade">
                                      <p:cBhvr>
                                        <p:cTn id="107" dur="350"/>
                                        <p:tgtEl>
                                          <p:spTgt spid="5">
                                            <p:txEl>
                                              <p:pRg st="0" end="0"/>
                                            </p:txEl>
                                          </p:spTgt>
                                        </p:tgtEl>
                                      </p:cBhvr>
                                    </p:animEffect>
                                    <p:set>
                                      <p:cBhvr>
                                        <p:cTn id="108" dur="1" fill="hold">
                                          <p:stCondLst>
                                            <p:cond delay="349"/>
                                          </p:stCondLst>
                                        </p:cTn>
                                        <p:tgtEl>
                                          <p:spTgt spid="5">
                                            <p:txEl>
                                              <p:pRg st="0" end="0"/>
                                            </p:txEl>
                                          </p:spTgt>
                                        </p:tgtEl>
                                        <p:attrNameLst>
                                          <p:attrName>style.visibility</p:attrName>
                                        </p:attrNameLst>
                                      </p:cBhvr>
                                      <p:to>
                                        <p:strVal val="hidden"/>
                                      </p:to>
                                    </p:set>
                                  </p:childTnLst>
                                </p:cTn>
                              </p:par>
                              <p:par>
                                <p:cTn id="109" presetID="10" presetClass="exit" presetSubtype="0" grpId="0" fill="hold" nodeType="withEffect">
                                  <p:stCondLst>
                                    <p:cond delay="0"/>
                                  </p:stCondLst>
                                  <p:childTnLst>
                                    <p:animEffect transition="out" filter="fade">
                                      <p:cBhvr>
                                        <p:cTn id="110" dur="350"/>
                                        <p:tgtEl>
                                          <p:spTgt spid="5">
                                            <p:txEl>
                                              <p:pRg st="1" end="1"/>
                                            </p:txEl>
                                          </p:spTgt>
                                        </p:tgtEl>
                                      </p:cBhvr>
                                    </p:animEffect>
                                    <p:set>
                                      <p:cBhvr>
                                        <p:cTn id="111" dur="1" fill="hold">
                                          <p:stCondLst>
                                            <p:cond delay="349"/>
                                          </p:stCondLst>
                                        </p:cTn>
                                        <p:tgtEl>
                                          <p:spTgt spid="5">
                                            <p:txEl>
                                              <p:pRg st="1" end="1"/>
                                            </p:txEl>
                                          </p:spTgt>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350"/>
                                        <p:tgtEl>
                                          <p:spTgt spid="6"/>
                                        </p:tgtEl>
                                      </p:cBhvr>
                                    </p:animEffect>
                                    <p:set>
                                      <p:cBhvr>
                                        <p:cTn id="114" dur="1" fill="hold">
                                          <p:stCondLst>
                                            <p:cond delay="349"/>
                                          </p:stCondLst>
                                        </p:cTn>
                                        <p:tgtEl>
                                          <p:spTgt spid="6"/>
                                        </p:tgtEl>
                                        <p:attrNameLst>
                                          <p:attrName>style.visibility</p:attrName>
                                        </p:attrNameLst>
                                      </p:cBhvr>
                                      <p:to>
                                        <p:strVal val="hidden"/>
                                      </p:to>
                                    </p:set>
                                  </p:childTnLst>
                                </p:cTn>
                              </p:par>
                              <p:par>
                                <p:cTn id="115" presetID="10" presetClass="exit" presetSubtype="0" grpId="0" fill="hold" nodeType="withEffect">
                                  <p:stCondLst>
                                    <p:cond delay="0"/>
                                  </p:stCondLst>
                                  <p:childTnLst>
                                    <p:animEffect transition="out" filter="fade">
                                      <p:cBhvr>
                                        <p:cTn id="116" dur="350"/>
                                        <p:tgtEl>
                                          <p:spTgt spid="7">
                                            <p:txEl>
                                              <p:pRg st="0" end="0"/>
                                            </p:txEl>
                                          </p:spTgt>
                                        </p:tgtEl>
                                      </p:cBhvr>
                                    </p:animEffect>
                                    <p:set>
                                      <p:cBhvr>
                                        <p:cTn id="117" dur="1" fill="hold">
                                          <p:stCondLst>
                                            <p:cond delay="349"/>
                                          </p:stCondLst>
                                        </p:cTn>
                                        <p:tgtEl>
                                          <p:spTgt spid="7">
                                            <p:txEl>
                                              <p:pRg st="0" end="0"/>
                                            </p:txEl>
                                          </p:spTgt>
                                        </p:tgtEl>
                                        <p:attrNameLst>
                                          <p:attrName>style.visibility</p:attrName>
                                        </p:attrNameLst>
                                      </p:cBhvr>
                                      <p:to>
                                        <p:strVal val="hidden"/>
                                      </p:to>
                                    </p:set>
                                  </p:childTnLst>
                                </p:cTn>
                              </p:par>
                              <p:par>
                                <p:cTn id="118" presetID="10" presetClass="exit" presetSubtype="0" grpId="0" fill="hold" nodeType="withEffect">
                                  <p:stCondLst>
                                    <p:cond delay="0"/>
                                  </p:stCondLst>
                                  <p:childTnLst>
                                    <p:animEffect transition="out" filter="fade">
                                      <p:cBhvr>
                                        <p:cTn id="119" dur="350"/>
                                        <p:tgtEl>
                                          <p:spTgt spid="7">
                                            <p:txEl>
                                              <p:pRg st="1" end="1"/>
                                            </p:txEl>
                                          </p:spTgt>
                                        </p:tgtEl>
                                      </p:cBhvr>
                                    </p:animEffect>
                                    <p:set>
                                      <p:cBhvr>
                                        <p:cTn id="120" dur="1" fill="hold">
                                          <p:stCondLst>
                                            <p:cond delay="349"/>
                                          </p:stCondLst>
                                        </p:cTn>
                                        <p:tgtEl>
                                          <p:spTgt spid="7">
                                            <p:txEl>
                                              <p:pRg st="1" end="1"/>
                                            </p:txEl>
                                          </p:spTgt>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350"/>
                                        <p:tgtEl>
                                          <p:spTgt spid="8"/>
                                        </p:tgtEl>
                                      </p:cBhvr>
                                    </p:animEffect>
                                    <p:set>
                                      <p:cBhvr>
                                        <p:cTn id="123" dur="1" fill="hold">
                                          <p:stCondLst>
                                            <p:cond delay="349"/>
                                          </p:stCondLst>
                                        </p:cTn>
                                        <p:tgtEl>
                                          <p:spTgt spid="8"/>
                                        </p:tgtEl>
                                        <p:attrNameLst>
                                          <p:attrName>style.visibility</p:attrName>
                                        </p:attrNameLst>
                                      </p:cBhvr>
                                      <p:to>
                                        <p:strVal val="hidden"/>
                                      </p:to>
                                    </p:set>
                                  </p:childTnLst>
                                </p:cTn>
                              </p:par>
                              <p:par>
                                <p:cTn id="124" presetID="10" presetClass="exit" presetSubtype="0" grpId="0" fill="hold" nodeType="withEffect">
                                  <p:stCondLst>
                                    <p:cond delay="0"/>
                                  </p:stCondLst>
                                  <p:childTnLst>
                                    <p:animEffect transition="out" filter="fade">
                                      <p:cBhvr>
                                        <p:cTn id="125" dur="350"/>
                                        <p:tgtEl>
                                          <p:spTgt spid="9">
                                            <p:txEl>
                                              <p:pRg st="0" end="0"/>
                                            </p:txEl>
                                          </p:spTgt>
                                        </p:tgtEl>
                                      </p:cBhvr>
                                    </p:animEffect>
                                    <p:set>
                                      <p:cBhvr>
                                        <p:cTn id="126" dur="1" fill="hold">
                                          <p:stCondLst>
                                            <p:cond delay="349"/>
                                          </p:stCondLst>
                                        </p:cTn>
                                        <p:tgtEl>
                                          <p:spTgt spid="9">
                                            <p:txEl>
                                              <p:pRg st="0" end="0"/>
                                            </p:txEl>
                                          </p:spTgt>
                                        </p:tgtEl>
                                        <p:attrNameLst>
                                          <p:attrName>style.visibility</p:attrName>
                                        </p:attrNameLst>
                                      </p:cBhvr>
                                      <p:to>
                                        <p:strVal val="hidden"/>
                                      </p:to>
                                    </p:set>
                                  </p:childTnLst>
                                </p:cTn>
                              </p:par>
                              <p:par>
                                <p:cTn id="127" presetID="10" presetClass="exit" presetSubtype="0" grpId="0" fill="hold" nodeType="withEffect">
                                  <p:stCondLst>
                                    <p:cond delay="0"/>
                                  </p:stCondLst>
                                  <p:childTnLst>
                                    <p:animEffect transition="out" filter="fade">
                                      <p:cBhvr>
                                        <p:cTn id="128" dur="350"/>
                                        <p:tgtEl>
                                          <p:spTgt spid="9">
                                            <p:txEl>
                                              <p:pRg st="1" end="1"/>
                                            </p:txEl>
                                          </p:spTgt>
                                        </p:tgtEl>
                                      </p:cBhvr>
                                    </p:animEffect>
                                    <p:set>
                                      <p:cBhvr>
                                        <p:cTn id="129" dur="1" fill="hold">
                                          <p:stCondLst>
                                            <p:cond delay="349"/>
                                          </p:stCondLst>
                                        </p:cTn>
                                        <p:tgtEl>
                                          <p:spTgt spid="9">
                                            <p:txEl>
                                              <p:pRg st="1" end="1"/>
                                            </p:txEl>
                                          </p:spTgt>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350"/>
                                        <p:tgtEl>
                                          <p:spTgt spid="10"/>
                                        </p:tgtEl>
                                      </p:cBhvr>
                                    </p:animEffect>
                                    <p:set>
                                      <p:cBhvr>
                                        <p:cTn id="132" dur="1" fill="hold">
                                          <p:stCondLst>
                                            <p:cond delay="349"/>
                                          </p:stCondLst>
                                        </p:cTn>
                                        <p:tgtEl>
                                          <p:spTgt spid="10"/>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350"/>
                                        <p:tgtEl>
                                          <p:spTgt spid="11"/>
                                        </p:tgtEl>
                                      </p:cBhvr>
                                    </p:animEffect>
                                    <p:set>
                                      <p:cBhvr>
                                        <p:cTn id="135" dur="1" fill="hold">
                                          <p:stCondLst>
                                            <p:cond delay="349"/>
                                          </p:stCondLst>
                                        </p:cTn>
                                        <p:tgtEl>
                                          <p:spTgt spid="11"/>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350"/>
                                        <p:tgtEl>
                                          <p:spTgt spid="12"/>
                                        </p:tgtEl>
                                      </p:cBhvr>
                                    </p:animEffect>
                                    <p:set>
                                      <p:cBhvr>
                                        <p:cTn id="138" dur="1" fill="hold">
                                          <p:stCondLst>
                                            <p:cond delay="349"/>
                                          </p:stCondLst>
                                        </p:cTn>
                                        <p:tgtEl>
                                          <p:spTgt spid="12"/>
                                        </p:tgtEl>
                                        <p:attrNameLst>
                                          <p:attrName>style.visibility</p:attrName>
                                        </p:attrNameLst>
                                      </p:cBhvr>
                                      <p:to>
                                        <p:strVal val="hidden"/>
                                      </p:to>
                                    </p:set>
                                  </p:childTnLst>
                                </p:cTn>
                              </p:par>
                              <p:par>
                                <p:cTn id="139" presetID="10" presetClass="exit" presetSubtype="0" grpId="0" fill="hold" nodeType="withEffect">
                                  <p:stCondLst>
                                    <p:cond delay="0"/>
                                  </p:stCondLst>
                                  <p:childTnLst>
                                    <p:animEffect transition="out" filter="fade">
                                      <p:cBhvr>
                                        <p:cTn id="140" dur="350"/>
                                        <p:tgtEl>
                                          <p:spTgt spid="13">
                                            <p:txEl>
                                              <p:pRg st="0" end="0"/>
                                            </p:txEl>
                                          </p:spTgt>
                                        </p:tgtEl>
                                      </p:cBhvr>
                                    </p:animEffect>
                                    <p:set>
                                      <p:cBhvr>
                                        <p:cTn id="141" dur="1" fill="hold">
                                          <p:stCondLst>
                                            <p:cond delay="349"/>
                                          </p:stCondLst>
                                        </p:cTn>
                                        <p:tgtEl>
                                          <p:spTgt spid="13">
                                            <p:txEl>
                                              <p:pRg st="0" end="0"/>
                                            </p:txEl>
                                          </p:spTgt>
                                        </p:tgtEl>
                                        <p:attrNameLst>
                                          <p:attrName>style.visibility</p:attrName>
                                        </p:attrNameLst>
                                      </p:cBhvr>
                                      <p:to>
                                        <p:strVal val="hidden"/>
                                      </p:to>
                                    </p:set>
                                  </p:childTnLst>
                                </p:cTn>
                              </p:par>
                              <p:par>
                                <p:cTn id="142" presetID="10" presetClass="exit" presetSubtype="0" grpId="0" fill="hold" nodeType="withEffect">
                                  <p:stCondLst>
                                    <p:cond delay="0"/>
                                  </p:stCondLst>
                                  <p:childTnLst>
                                    <p:animEffect transition="out" filter="fade">
                                      <p:cBhvr>
                                        <p:cTn id="143" dur="350"/>
                                        <p:tgtEl>
                                          <p:spTgt spid="13">
                                            <p:txEl>
                                              <p:pRg st="1" end="1"/>
                                            </p:txEl>
                                          </p:spTgt>
                                        </p:tgtEl>
                                      </p:cBhvr>
                                    </p:animEffect>
                                    <p:set>
                                      <p:cBhvr>
                                        <p:cTn id="144" dur="1" fill="hold">
                                          <p:stCondLst>
                                            <p:cond delay="349"/>
                                          </p:stCondLst>
                                        </p:cTn>
                                        <p:tgtEl>
                                          <p:spTgt spid="13">
                                            <p:txEl>
                                              <p:pRg st="1" end="1"/>
                                            </p:txEl>
                                          </p:spTgt>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350"/>
                                        <p:tgtEl>
                                          <p:spTgt spid="14"/>
                                        </p:tgtEl>
                                      </p:cBhvr>
                                    </p:animEffect>
                                    <p:set>
                                      <p:cBhvr>
                                        <p:cTn id="147" dur="1" fill="hold">
                                          <p:stCondLst>
                                            <p:cond delay="349"/>
                                          </p:stCondLst>
                                        </p:cTn>
                                        <p:tgtEl>
                                          <p:spTgt spid="14"/>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350"/>
                                        <p:tgtEl>
                                          <p:spTgt spid="15"/>
                                        </p:tgtEl>
                                      </p:cBhvr>
                                    </p:animEffect>
                                    <p:set>
                                      <p:cBhvr>
                                        <p:cTn id="150" dur="1" fill="hold">
                                          <p:stCondLst>
                                            <p:cond delay="349"/>
                                          </p:stCondLst>
                                        </p:cTn>
                                        <p:tgtEl>
                                          <p:spTgt spid="15"/>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350"/>
                                        <p:tgtEl>
                                          <p:spTgt spid="16"/>
                                        </p:tgtEl>
                                      </p:cBhvr>
                                    </p:animEffect>
                                    <p:set>
                                      <p:cBhvr>
                                        <p:cTn id="153" dur="1" fill="hold">
                                          <p:stCondLst>
                                            <p:cond delay="349"/>
                                          </p:stCondLst>
                                        </p:cTn>
                                        <p:tgtEl>
                                          <p:spTgt spid="16"/>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350"/>
                                        <p:tgtEl>
                                          <p:spTgt spid="17"/>
                                        </p:tgtEl>
                                      </p:cBhvr>
                                    </p:animEffect>
                                    <p:set>
                                      <p:cBhvr>
                                        <p:cTn id="156" dur="1" fill="hold">
                                          <p:stCondLst>
                                            <p:cond delay="349"/>
                                          </p:stCondLst>
                                        </p:cTn>
                                        <p:tgtEl>
                                          <p:spTgt spid="17"/>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350"/>
                                        <p:tgtEl>
                                          <p:spTgt spid="18"/>
                                        </p:tgtEl>
                                      </p:cBhvr>
                                    </p:animEffect>
                                    <p:set>
                                      <p:cBhvr>
                                        <p:cTn id="159" dur="1" fill="hold">
                                          <p:stCondLst>
                                            <p:cond delay="349"/>
                                          </p:stCondLst>
                                        </p:cTn>
                                        <p:tgtEl>
                                          <p:spTgt spid="18"/>
                                        </p:tgtEl>
                                        <p:attrNameLst>
                                          <p:attrName>style.visibility</p:attrName>
                                        </p:attrNameLst>
                                      </p:cBhvr>
                                      <p:to>
                                        <p:strVal val="hidden"/>
                                      </p:to>
                                    </p:set>
                                  </p:childTnLst>
                                </p:cTn>
                              </p:par>
                              <p:par>
                                <p:cTn id="160" presetID="10" presetClass="exit" presetSubtype="0" fill="hold" nodeType="withEffect">
                                  <p:stCondLst>
                                    <p:cond delay="0"/>
                                  </p:stCondLst>
                                  <p:childTnLst>
                                    <p:animEffect transition="out" filter="fade">
                                      <p:cBhvr>
                                        <p:cTn id="161" dur="350"/>
                                        <p:tgtEl>
                                          <p:spTgt spid="19"/>
                                        </p:tgtEl>
                                      </p:cBhvr>
                                    </p:animEffect>
                                    <p:set>
                                      <p:cBhvr>
                                        <p:cTn id="162" dur="1" fill="hold">
                                          <p:stCondLst>
                                            <p:cond delay="349"/>
                                          </p:stCondLst>
                                        </p:cTn>
                                        <p:tgtEl>
                                          <p:spTgt spid="19"/>
                                        </p:tgtEl>
                                        <p:attrNameLst>
                                          <p:attrName>style.visibility</p:attrName>
                                        </p:attrNameLst>
                                      </p:cBhvr>
                                      <p:to>
                                        <p:strVal val="hidden"/>
                                      </p:to>
                                    </p:set>
                                  </p:childTnLst>
                                </p:cTn>
                              </p:par>
                              <p:par>
                                <p:cTn id="163" presetID="10" presetClass="exit" presetSubtype="0" fill="hold" nodeType="withEffect">
                                  <p:stCondLst>
                                    <p:cond delay="0"/>
                                  </p:stCondLst>
                                  <p:childTnLst>
                                    <p:animEffect transition="out" filter="fade">
                                      <p:cBhvr>
                                        <p:cTn id="164" dur="350"/>
                                        <p:tgtEl>
                                          <p:spTgt spid="20"/>
                                        </p:tgtEl>
                                      </p:cBhvr>
                                    </p:animEffect>
                                    <p:set>
                                      <p:cBhvr>
                                        <p:cTn id="165" dur="1" fill="hold">
                                          <p:stCondLst>
                                            <p:cond delay="349"/>
                                          </p:stCondLst>
                                        </p:cTn>
                                        <p:tgtEl>
                                          <p:spTgt spid="20"/>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350"/>
                                        <p:tgtEl>
                                          <p:spTgt spid="21"/>
                                        </p:tgtEl>
                                      </p:cBhvr>
                                    </p:animEffect>
                                    <p:set>
                                      <p:cBhvr>
                                        <p:cTn id="168" dur="1" fill="hold">
                                          <p:stCondLst>
                                            <p:cond delay="349"/>
                                          </p:stCondLst>
                                        </p:cTn>
                                        <p:tgtEl>
                                          <p:spTgt spid="21"/>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350"/>
                                        <p:tgtEl>
                                          <p:spTgt spid="22"/>
                                        </p:tgtEl>
                                      </p:cBhvr>
                                    </p:animEffect>
                                    <p:set>
                                      <p:cBhvr>
                                        <p:cTn id="171" dur="1" fill="hold">
                                          <p:stCondLst>
                                            <p:cond delay="349"/>
                                          </p:stCondLst>
                                        </p:cTn>
                                        <p:tgtEl>
                                          <p:spTgt spid="22"/>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350"/>
                                        <p:tgtEl>
                                          <p:spTgt spid="23"/>
                                        </p:tgtEl>
                                      </p:cBhvr>
                                    </p:animEffect>
                                    <p:set>
                                      <p:cBhvr>
                                        <p:cTn id="174" dur="1" fill="hold">
                                          <p:stCondLst>
                                            <p:cond delay="349"/>
                                          </p:stCondLst>
                                        </p:cTn>
                                        <p:tgtEl>
                                          <p:spTgt spid="23"/>
                                        </p:tgtEl>
                                        <p:attrNameLst>
                                          <p:attrName>style.visibility</p:attrName>
                                        </p:attrNameLst>
                                      </p:cBhvr>
                                      <p:to>
                                        <p:strVal val="hidden"/>
                                      </p:to>
                                    </p:set>
                                  </p:childTnLst>
                                </p:cTn>
                              </p:par>
                              <p:par>
                                <p:cTn id="175" presetID="10" presetClass="exit" presetSubtype="0" fill="hold" nodeType="withEffect">
                                  <p:stCondLst>
                                    <p:cond delay="0"/>
                                  </p:stCondLst>
                                  <p:childTnLst>
                                    <p:animEffect transition="out" filter="fade">
                                      <p:cBhvr>
                                        <p:cTn id="176" dur="350"/>
                                        <p:tgtEl>
                                          <p:spTgt spid="24"/>
                                        </p:tgtEl>
                                      </p:cBhvr>
                                    </p:animEffect>
                                    <p:set>
                                      <p:cBhvr>
                                        <p:cTn id="177" dur="1" fill="hold">
                                          <p:stCondLst>
                                            <p:cond delay="349"/>
                                          </p:stCondLst>
                                        </p:cTn>
                                        <p:tgtEl>
                                          <p:spTgt spid="24"/>
                                        </p:tgtEl>
                                        <p:attrNameLst>
                                          <p:attrName>style.visibility</p:attrName>
                                        </p:attrNameLst>
                                      </p:cBhvr>
                                      <p:to>
                                        <p:strVal val="hidden"/>
                                      </p:to>
                                    </p:set>
                                  </p:childTnLst>
                                </p:cTn>
                              </p:par>
                              <p:par>
                                <p:cTn id="178" presetID="10" presetClass="exit" presetSubtype="0" fill="hold" nodeType="withEffect">
                                  <p:stCondLst>
                                    <p:cond delay="0"/>
                                  </p:stCondLst>
                                  <p:childTnLst>
                                    <p:animEffect transition="out" filter="fade">
                                      <p:cBhvr>
                                        <p:cTn id="179" dur="350"/>
                                        <p:tgtEl>
                                          <p:spTgt spid="25"/>
                                        </p:tgtEl>
                                      </p:cBhvr>
                                    </p:animEffect>
                                    <p:set>
                                      <p:cBhvr>
                                        <p:cTn id="180" dur="1" fill="hold">
                                          <p:stCondLst>
                                            <p:cond delay="349"/>
                                          </p:stCondLst>
                                        </p:cTn>
                                        <p:tgtEl>
                                          <p:spTgt spid="25"/>
                                        </p:tgtEl>
                                        <p:attrNameLst>
                                          <p:attrName>style.visibility</p:attrName>
                                        </p:attrNameLst>
                                      </p:cBhvr>
                                      <p:to>
                                        <p:strVal val="hidden"/>
                                      </p:to>
                                    </p:set>
                                  </p:childTnLst>
                                </p:cTn>
                              </p:par>
                              <p:par>
                                <p:cTn id="181" presetID="10" presetClass="exit" presetSubtype="0" fill="hold" nodeType="withEffect">
                                  <p:stCondLst>
                                    <p:cond delay="0"/>
                                  </p:stCondLst>
                                  <p:childTnLst>
                                    <p:animEffect transition="out" filter="fade">
                                      <p:cBhvr>
                                        <p:cTn id="182" dur="350"/>
                                        <p:tgtEl>
                                          <p:spTgt spid="26"/>
                                        </p:tgtEl>
                                      </p:cBhvr>
                                    </p:animEffect>
                                    <p:set>
                                      <p:cBhvr>
                                        <p:cTn id="183" dur="1" fill="hold">
                                          <p:stCondLst>
                                            <p:cond delay="349"/>
                                          </p:stCondLst>
                                        </p:cTn>
                                        <p:tgtEl>
                                          <p:spTgt spid="26"/>
                                        </p:tgtEl>
                                        <p:attrNameLst>
                                          <p:attrName>style.visibility</p:attrName>
                                        </p:attrNameLst>
                                      </p:cBhvr>
                                      <p:to>
                                        <p:strVal val="hidden"/>
                                      </p:to>
                                    </p:set>
                                  </p:childTnLst>
                                </p:cTn>
                              </p:par>
                              <p:par>
                                <p:cTn id="184" presetID="10" presetClass="exit" presetSubtype="0" grpId="0" fill="hold" nodeType="withEffect">
                                  <p:stCondLst>
                                    <p:cond delay="0"/>
                                  </p:stCondLst>
                                  <p:childTnLst>
                                    <p:animEffect transition="out" filter="fade">
                                      <p:cBhvr>
                                        <p:cTn id="185" dur="350"/>
                                        <p:tgtEl>
                                          <p:spTgt spid="27">
                                            <p:txEl>
                                              <p:pRg st="0" end="0"/>
                                            </p:txEl>
                                          </p:spTgt>
                                        </p:tgtEl>
                                      </p:cBhvr>
                                    </p:animEffect>
                                    <p:set>
                                      <p:cBhvr>
                                        <p:cTn id="186" dur="1" fill="hold">
                                          <p:stCondLst>
                                            <p:cond delay="349"/>
                                          </p:stCondLst>
                                        </p:cTn>
                                        <p:tgtEl>
                                          <p:spTgt spid="27">
                                            <p:txEl>
                                              <p:pRg st="0" end="0"/>
                                            </p:txEl>
                                          </p:spTgt>
                                        </p:tgtEl>
                                        <p:attrNameLst>
                                          <p:attrName>style.visibility</p:attrName>
                                        </p:attrNameLst>
                                      </p:cBhvr>
                                      <p:to>
                                        <p:strVal val="hidden"/>
                                      </p:to>
                                    </p:set>
                                  </p:childTnLst>
                                </p:cTn>
                              </p:par>
                              <p:par>
                                <p:cTn id="187" presetID="10" presetClass="exit" presetSubtype="0" grpId="0" fill="hold" nodeType="withEffect">
                                  <p:stCondLst>
                                    <p:cond delay="0"/>
                                  </p:stCondLst>
                                  <p:childTnLst>
                                    <p:animEffect transition="out" filter="fade">
                                      <p:cBhvr>
                                        <p:cTn id="188" dur="350"/>
                                        <p:tgtEl>
                                          <p:spTgt spid="27">
                                            <p:txEl>
                                              <p:pRg st="1" end="1"/>
                                            </p:txEl>
                                          </p:spTgt>
                                        </p:tgtEl>
                                      </p:cBhvr>
                                    </p:animEffect>
                                    <p:set>
                                      <p:cBhvr>
                                        <p:cTn id="189" dur="1" fill="hold">
                                          <p:stCondLst>
                                            <p:cond delay="349"/>
                                          </p:stCondLst>
                                        </p:cTn>
                                        <p:tgtEl>
                                          <p:spTgt spid="27">
                                            <p:txEl>
                                              <p:pRg st="1" end="1"/>
                                            </p:txEl>
                                          </p:spTgt>
                                        </p:tgtEl>
                                        <p:attrNameLst>
                                          <p:attrName>style.visibility</p:attrName>
                                        </p:attrNameLst>
                                      </p:cBhvr>
                                      <p:to>
                                        <p:strVal val="hidden"/>
                                      </p:to>
                                    </p:set>
                                  </p:childTnLst>
                                </p:cTn>
                              </p:par>
                              <p:par>
                                <p:cTn id="190" presetID="10" presetClass="exit" presetSubtype="0" fill="hold" nodeType="withEffect">
                                  <p:stCondLst>
                                    <p:cond delay="0"/>
                                  </p:stCondLst>
                                  <p:childTnLst>
                                    <p:animEffect transition="out" filter="fade">
                                      <p:cBhvr>
                                        <p:cTn id="191" dur="350"/>
                                        <p:tgtEl>
                                          <p:spTgt spid="28"/>
                                        </p:tgtEl>
                                      </p:cBhvr>
                                    </p:animEffect>
                                    <p:set>
                                      <p:cBhvr>
                                        <p:cTn id="192" dur="1" fill="hold">
                                          <p:stCondLst>
                                            <p:cond delay="349"/>
                                          </p:stCondLst>
                                        </p:cTn>
                                        <p:tgtEl>
                                          <p:spTgt spid="28"/>
                                        </p:tgtEl>
                                        <p:attrNameLst>
                                          <p:attrName>style.visibility</p:attrName>
                                        </p:attrNameLst>
                                      </p:cBhvr>
                                      <p:to>
                                        <p:strVal val="hidden"/>
                                      </p:to>
                                    </p:set>
                                  </p:childTnLst>
                                </p:cTn>
                              </p:par>
                              <p:par>
                                <p:cTn id="193" presetID="10" presetClass="entr" presetSubtype="0" fill="hold" nodeType="withEffect">
                                  <p:stCondLst>
                                    <p:cond delay="450"/>
                                  </p:stCondLst>
                                  <p:childTnLst>
                                    <p:set>
                                      <p:cBhvr>
                                        <p:cTn id="194" dur="1" fill="hold">
                                          <p:stCondLst>
                                            <p:cond delay="0"/>
                                          </p:stCondLst>
                                        </p:cTn>
                                        <p:tgtEl>
                                          <p:spTgt spid="29"/>
                                        </p:tgtEl>
                                        <p:attrNameLst>
                                          <p:attrName>style.visibility</p:attrName>
                                        </p:attrNameLst>
                                      </p:cBhvr>
                                      <p:to>
                                        <p:strVal val="visible"/>
                                      </p:to>
                                    </p:set>
                                    <p:animEffect transition="in" filter="fade">
                                      <p:cBhvr>
                                        <p:cTn id="195" dur="450"/>
                                        <p:tgtEl>
                                          <p:spTgt spid="29"/>
                                        </p:tgtEl>
                                      </p:cBhvr>
                                    </p:animEffect>
                                  </p:childTnLst>
                                </p:cTn>
                              </p:par>
                              <p:par>
                                <p:cTn id="196" presetID="53" presetClass="entr" presetSubtype="16" fill="hold" nodeType="withEffect">
                                  <p:stCondLst>
                                    <p:cond delay="520"/>
                                  </p:stCondLst>
                                  <p:childTnLst>
                                    <p:set>
                                      <p:cBhvr>
                                        <p:cTn id="197" dur="1" fill="hold">
                                          <p:stCondLst>
                                            <p:cond delay="0"/>
                                          </p:stCondLst>
                                        </p:cTn>
                                        <p:tgtEl>
                                          <p:spTgt spid="30"/>
                                        </p:tgtEl>
                                        <p:attrNameLst>
                                          <p:attrName>style.visibility</p:attrName>
                                        </p:attrNameLst>
                                      </p:cBhvr>
                                      <p:to>
                                        <p:strVal val="visible"/>
                                      </p:to>
                                    </p:set>
                                    <p:anim calcmode="lin" valueType="num">
                                      <p:cBhvr>
                                        <p:cTn id="198" dur="600" fill="hold"/>
                                        <p:tgtEl>
                                          <p:spTgt spid="30"/>
                                        </p:tgtEl>
                                        <p:attrNameLst>
                                          <p:attrName>ppt_w</p:attrName>
                                        </p:attrNameLst>
                                      </p:cBhvr>
                                      <p:tavLst>
                                        <p:tav tm="0">
                                          <p:val>
                                            <p:fltVal val="0"/>
                                          </p:val>
                                        </p:tav>
                                        <p:tav tm="100000">
                                          <p:val>
                                            <p:strVal val="#ppt_w"/>
                                          </p:val>
                                        </p:tav>
                                      </p:tavLst>
                                    </p:anim>
                                    <p:anim calcmode="lin" valueType="num">
                                      <p:cBhvr>
                                        <p:cTn id="199" dur="600" fill="hold"/>
                                        <p:tgtEl>
                                          <p:spTgt spid="30"/>
                                        </p:tgtEl>
                                        <p:attrNameLst>
                                          <p:attrName>ppt_h</p:attrName>
                                        </p:attrNameLst>
                                      </p:cBhvr>
                                      <p:tavLst>
                                        <p:tav tm="0">
                                          <p:val>
                                            <p:fltVal val="0"/>
                                          </p:val>
                                        </p:tav>
                                        <p:tav tm="100000">
                                          <p:val>
                                            <p:strVal val="#ppt_h"/>
                                          </p:val>
                                        </p:tav>
                                      </p:tavLst>
                                    </p:anim>
                                    <p:animEffect transition="in" filter="fade">
                                      <p:cBhvr>
                                        <p:cTn id="200" dur="600"/>
                                        <p:tgtEl>
                                          <p:spTgt spid="30"/>
                                        </p:tgtEl>
                                      </p:cBhvr>
                                    </p:animEffect>
                                  </p:childTnLst>
                                </p:cTn>
                              </p:par>
                              <p:par>
                                <p:cTn id="201" presetID="10" presetClass="entr" presetSubtype="0" grpId="0" fill="hold" nodeType="withEffect">
                                  <p:stCondLst>
                                    <p:cond delay="590"/>
                                  </p:stCondLst>
                                  <p:childTnLst>
                                    <p:set>
                                      <p:cBhvr>
                                        <p:cTn id="202" dur="1" fill="hold">
                                          <p:stCondLst>
                                            <p:cond delay="0"/>
                                          </p:stCondLst>
                                        </p:cTn>
                                        <p:tgtEl>
                                          <p:spTgt spid="31">
                                            <p:txEl>
                                              <p:pRg st="0" end="0"/>
                                            </p:txEl>
                                          </p:spTgt>
                                        </p:tgtEl>
                                        <p:attrNameLst>
                                          <p:attrName>style.visibility</p:attrName>
                                        </p:attrNameLst>
                                      </p:cBhvr>
                                      <p:to>
                                        <p:strVal val="visible"/>
                                      </p:to>
                                    </p:set>
                                    <p:animEffect transition="in" filter="fade">
                                      <p:cBhvr>
                                        <p:cTn id="203" dur="450"/>
                                        <p:tgtEl>
                                          <p:spTgt spid="31">
                                            <p:txEl>
                                              <p:pRg st="0" end="0"/>
                                            </p:txEl>
                                          </p:spTgt>
                                        </p:tgtEl>
                                      </p:cBhvr>
                                    </p:animEffect>
                                  </p:childTnLst>
                                </p:cTn>
                              </p:par>
                              <p:par>
                                <p:cTn id="204" presetID="10" presetClass="entr" presetSubtype="0" grpId="0" fill="hold" nodeType="withEffect">
                                  <p:stCondLst>
                                    <p:cond delay="970"/>
                                  </p:stCondLst>
                                  <p:childTnLst>
                                    <p:set>
                                      <p:cBhvr>
                                        <p:cTn id="205" dur="1" fill="hold">
                                          <p:stCondLst>
                                            <p:cond delay="0"/>
                                          </p:stCondLst>
                                        </p:cTn>
                                        <p:tgtEl>
                                          <p:spTgt spid="31">
                                            <p:txEl>
                                              <p:pRg st="1" end="1"/>
                                            </p:txEl>
                                          </p:spTgt>
                                        </p:tgtEl>
                                        <p:attrNameLst>
                                          <p:attrName>style.visibility</p:attrName>
                                        </p:attrNameLst>
                                      </p:cBhvr>
                                      <p:to>
                                        <p:strVal val="visible"/>
                                      </p:to>
                                    </p:set>
                                    <p:animEffect transition="in" filter="fade">
                                      <p:cBhvr>
                                        <p:cTn id="206" dur="450"/>
                                        <p:tgtEl>
                                          <p:spTgt spid="31">
                                            <p:txEl>
                                              <p:pRg st="1" end="1"/>
                                            </p:txEl>
                                          </p:spTgt>
                                        </p:tgtEl>
                                      </p:cBhvr>
                                    </p:animEffect>
                                  </p:childTnLst>
                                </p:cTn>
                              </p:par>
                              <p:par>
                                <p:cTn id="207" presetID="10" presetClass="entr" presetSubtype="0" grpId="0" fill="hold" nodeType="withEffect">
                                  <p:stCondLst>
                                    <p:cond delay="1350"/>
                                  </p:stCondLst>
                                  <p:childTnLst>
                                    <p:set>
                                      <p:cBhvr>
                                        <p:cTn id="208" dur="1" fill="hold">
                                          <p:stCondLst>
                                            <p:cond delay="0"/>
                                          </p:stCondLst>
                                        </p:cTn>
                                        <p:tgtEl>
                                          <p:spTgt spid="31">
                                            <p:txEl>
                                              <p:pRg st="2" end="2"/>
                                            </p:txEl>
                                          </p:spTgt>
                                        </p:tgtEl>
                                        <p:attrNameLst>
                                          <p:attrName>style.visibility</p:attrName>
                                        </p:attrNameLst>
                                      </p:cBhvr>
                                      <p:to>
                                        <p:strVal val="visible"/>
                                      </p:to>
                                    </p:set>
                                    <p:animEffect transition="in" filter="fade">
                                      <p:cBhvr>
                                        <p:cTn id="209" dur="450"/>
                                        <p:tgtEl>
                                          <p:spTgt spid="31">
                                            <p:txEl>
                                              <p:pRg st="2" end="2"/>
                                            </p:txEl>
                                          </p:spTgt>
                                        </p:tgtEl>
                                      </p:cBhvr>
                                    </p:animEffect>
                                  </p:childTnLst>
                                </p:cTn>
                              </p:par>
                              <p:par>
                                <p:cTn id="210" presetID="10" presetClass="entr" presetSubtype="0" fill="hold" nodeType="withEffect">
                                  <p:stCondLst>
                                    <p:cond delay="580"/>
                                  </p:stCondLst>
                                  <p:childTnLst>
                                    <p:set>
                                      <p:cBhvr>
                                        <p:cTn id="211" dur="1" fill="hold">
                                          <p:stCondLst>
                                            <p:cond delay="0"/>
                                          </p:stCondLst>
                                        </p:cTn>
                                        <p:tgtEl>
                                          <p:spTgt spid="32"/>
                                        </p:tgtEl>
                                        <p:attrNameLst>
                                          <p:attrName>style.visibility</p:attrName>
                                        </p:attrNameLst>
                                      </p:cBhvr>
                                      <p:to>
                                        <p:strVal val="visible"/>
                                      </p:to>
                                    </p:set>
                                    <p:animEffect transition="in" filter="fade">
                                      <p:cBhvr>
                                        <p:cTn id="212" dur="450"/>
                                        <p:tgtEl>
                                          <p:spTgt spid="32"/>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xit" presetSubtype="0" fill="hold" nodeType="clickEffect">
                                  <p:stCondLst>
                                    <p:cond delay="0"/>
                                  </p:stCondLst>
                                  <p:childTnLst>
                                    <p:animEffect transition="out" filter="fade">
                                      <p:cBhvr>
                                        <p:cTn id="216" dur="350"/>
                                        <p:tgtEl>
                                          <p:spTgt spid="29"/>
                                        </p:tgtEl>
                                      </p:cBhvr>
                                    </p:animEffect>
                                    <p:set>
                                      <p:cBhvr>
                                        <p:cTn id="217" dur="1" fill="hold">
                                          <p:stCondLst>
                                            <p:cond delay="349"/>
                                          </p:stCondLst>
                                        </p:cTn>
                                        <p:tgtEl>
                                          <p:spTgt spid="29"/>
                                        </p:tgtEl>
                                        <p:attrNameLst>
                                          <p:attrName>style.visibility</p:attrName>
                                        </p:attrNameLst>
                                      </p:cBhvr>
                                      <p:to>
                                        <p:strVal val="hidden"/>
                                      </p:to>
                                    </p:set>
                                  </p:childTnLst>
                                </p:cTn>
                              </p:par>
                              <p:par>
                                <p:cTn id="218" presetID="10" presetClass="exit" presetSubtype="0" grpId="0" fill="hold" nodeType="withEffect">
                                  <p:stCondLst>
                                    <p:cond delay="0"/>
                                  </p:stCondLst>
                                  <p:childTnLst>
                                    <p:animEffect transition="out" filter="fade">
                                      <p:cBhvr>
                                        <p:cTn id="219" dur="350"/>
                                        <p:tgtEl>
                                          <p:spTgt spid="31">
                                            <p:txEl>
                                              <p:pRg st="0" end="0"/>
                                            </p:txEl>
                                          </p:spTgt>
                                        </p:tgtEl>
                                      </p:cBhvr>
                                    </p:animEffect>
                                    <p:set>
                                      <p:cBhvr>
                                        <p:cTn id="220" dur="1" fill="hold">
                                          <p:stCondLst>
                                            <p:cond delay="349"/>
                                          </p:stCondLst>
                                        </p:cTn>
                                        <p:tgtEl>
                                          <p:spTgt spid="31">
                                            <p:txEl>
                                              <p:pRg st="0" end="0"/>
                                            </p:txEl>
                                          </p:spTgt>
                                        </p:tgtEl>
                                        <p:attrNameLst>
                                          <p:attrName>style.visibility</p:attrName>
                                        </p:attrNameLst>
                                      </p:cBhvr>
                                      <p:to>
                                        <p:strVal val="hidden"/>
                                      </p:to>
                                    </p:set>
                                  </p:childTnLst>
                                </p:cTn>
                              </p:par>
                              <p:par>
                                <p:cTn id="221" presetID="10" presetClass="exit" presetSubtype="0" grpId="0" fill="hold" nodeType="withEffect">
                                  <p:stCondLst>
                                    <p:cond delay="0"/>
                                  </p:stCondLst>
                                  <p:childTnLst>
                                    <p:animEffect transition="out" filter="fade">
                                      <p:cBhvr>
                                        <p:cTn id="222" dur="350"/>
                                        <p:tgtEl>
                                          <p:spTgt spid="31">
                                            <p:txEl>
                                              <p:pRg st="1" end="1"/>
                                            </p:txEl>
                                          </p:spTgt>
                                        </p:tgtEl>
                                      </p:cBhvr>
                                    </p:animEffect>
                                    <p:set>
                                      <p:cBhvr>
                                        <p:cTn id="223" dur="1" fill="hold">
                                          <p:stCondLst>
                                            <p:cond delay="349"/>
                                          </p:stCondLst>
                                        </p:cTn>
                                        <p:tgtEl>
                                          <p:spTgt spid="31">
                                            <p:txEl>
                                              <p:pRg st="1" end="1"/>
                                            </p:txEl>
                                          </p:spTgt>
                                        </p:tgtEl>
                                        <p:attrNameLst>
                                          <p:attrName>style.visibility</p:attrName>
                                        </p:attrNameLst>
                                      </p:cBhvr>
                                      <p:to>
                                        <p:strVal val="hidden"/>
                                      </p:to>
                                    </p:set>
                                  </p:childTnLst>
                                </p:cTn>
                              </p:par>
                              <p:par>
                                <p:cTn id="224" presetID="10" presetClass="exit" presetSubtype="0" grpId="0" fill="hold" nodeType="withEffect">
                                  <p:stCondLst>
                                    <p:cond delay="0"/>
                                  </p:stCondLst>
                                  <p:childTnLst>
                                    <p:animEffect transition="out" filter="fade">
                                      <p:cBhvr>
                                        <p:cTn id="225" dur="350"/>
                                        <p:tgtEl>
                                          <p:spTgt spid="31">
                                            <p:txEl>
                                              <p:pRg st="2" end="2"/>
                                            </p:txEl>
                                          </p:spTgt>
                                        </p:tgtEl>
                                      </p:cBhvr>
                                    </p:animEffect>
                                    <p:set>
                                      <p:cBhvr>
                                        <p:cTn id="226" dur="1" fill="hold">
                                          <p:stCondLst>
                                            <p:cond delay="349"/>
                                          </p:stCondLst>
                                        </p:cTn>
                                        <p:tgtEl>
                                          <p:spTgt spid="31">
                                            <p:txEl>
                                              <p:pRg st="2" end="2"/>
                                            </p:txEl>
                                          </p:spTgt>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350"/>
                                        <p:tgtEl>
                                          <p:spTgt spid="32"/>
                                        </p:tgtEl>
                                      </p:cBhvr>
                                    </p:animEffect>
                                    <p:set>
                                      <p:cBhvr>
                                        <p:cTn id="229" dur="1" fill="hold">
                                          <p:stCondLst>
                                            <p:cond delay="349"/>
                                          </p:stCondLst>
                                        </p:cTn>
                                        <p:tgtEl>
                                          <p:spTgt spid="32"/>
                                        </p:tgtEl>
                                        <p:attrNameLst>
                                          <p:attrName>style.visibility</p:attrName>
                                        </p:attrNameLst>
                                      </p:cBhvr>
                                      <p:to>
                                        <p:strVal val="hidden"/>
                                      </p:to>
                                    </p:set>
                                  </p:childTnLst>
                                </p:cTn>
                              </p:par>
                              <p:par>
                                <p:cTn id="230" presetID="0" presetClass="path" presetSubtype="0" accel="50000" decel="50000" fill="hold" nodeType="withEffect">
                                  <p:stCondLst>
                                    <p:cond delay="0"/>
                                  </p:stCondLst>
                                  <p:childTnLst>
                                    <p:animMotion origin="layout" path="M 0 0 L 0.56776 -0.15368 E" pathEditMode="relative" rAng="0" ptsTypes="AA">
                                      <p:cBhvr>
                                        <p:cTn id="231" dur="750" fill="hold"/>
                                        <p:tgtEl>
                                          <p:spTgt spid="30"/>
                                        </p:tgtEl>
                                        <p:attrNameLst>
                                          <p:attrName>ppt_x</p:attrName>
                                          <p:attrName>ppt_y</p:attrName>
                                        </p:attrNameLst>
                                      </p:cBhvr>
                                      <p:rCtr x="28388" y="-7684"/>
                                    </p:animMotion>
                                  </p:childTnLst>
                                </p:cTn>
                              </p:par>
                              <p:par>
                                <p:cTn id="232" presetID="6" presetClass="emph" presetSubtype="0" accel="50000" decel="50000" fill="hold" nodeType="withEffect">
                                  <p:stCondLst>
                                    <p:cond delay="0"/>
                                  </p:stCondLst>
                                  <p:childTnLst>
                                    <p:animScale>
                                      <p:cBhvr>
                                        <p:cTn id="233" dur="750" fill="hold"/>
                                        <p:tgtEl>
                                          <p:spTgt spid="30"/>
                                        </p:tgtEl>
                                      </p:cBhvr>
                                      <p:by x="29626" y="29626"/>
                                    </p:animScale>
                                  </p:childTnLst>
                                </p:cTn>
                              </p:par>
                              <p:par>
                                <p:cTn id="234" presetID="10" presetClass="entr" presetSubtype="0" fill="hold" nodeType="withEffect">
                                  <p:stCondLst>
                                    <p:cond delay="450"/>
                                  </p:stCondLst>
                                  <p:childTnLst>
                                    <p:set>
                                      <p:cBhvr>
                                        <p:cTn id="235" dur="1" fill="hold">
                                          <p:stCondLst>
                                            <p:cond delay="0"/>
                                          </p:stCondLst>
                                        </p:cTn>
                                        <p:tgtEl>
                                          <p:spTgt spid="33"/>
                                        </p:tgtEl>
                                        <p:attrNameLst>
                                          <p:attrName>style.visibility</p:attrName>
                                        </p:attrNameLst>
                                      </p:cBhvr>
                                      <p:to>
                                        <p:strVal val="visible"/>
                                      </p:to>
                                    </p:set>
                                    <p:animEffect transition="in" filter="fade">
                                      <p:cBhvr>
                                        <p:cTn id="236" dur="450"/>
                                        <p:tgtEl>
                                          <p:spTgt spid="33"/>
                                        </p:tgtEl>
                                      </p:cBhvr>
                                    </p:animEffect>
                                  </p:childTnLst>
                                </p:cTn>
                              </p:par>
                              <p:par>
                                <p:cTn id="237" presetID="53" presetClass="entr" presetSubtype="16" fill="hold" nodeType="withEffect">
                                  <p:stCondLst>
                                    <p:cond delay="520"/>
                                  </p:stCondLst>
                                  <p:childTnLst>
                                    <p:set>
                                      <p:cBhvr>
                                        <p:cTn id="238" dur="1" fill="hold">
                                          <p:stCondLst>
                                            <p:cond delay="0"/>
                                          </p:stCondLst>
                                        </p:cTn>
                                        <p:tgtEl>
                                          <p:spTgt spid="34"/>
                                        </p:tgtEl>
                                        <p:attrNameLst>
                                          <p:attrName>style.visibility</p:attrName>
                                        </p:attrNameLst>
                                      </p:cBhvr>
                                      <p:to>
                                        <p:strVal val="visible"/>
                                      </p:to>
                                    </p:set>
                                    <p:anim calcmode="lin" valueType="num">
                                      <p:cBhvr>
                                        <p:cTn id="239" dur="600" fill="hold"/>
                                        <p:tgtEl>
                                          <p:spTgt spid="34"/>
                                        </p:tgtEl>
                                        <p:attrNameLst>
                                          <p:attrName>ppt_w</p:attrName>
                                        </p:attrNameLst>
                                      </p:cBhvr>
                                      <p:tavLst>
                                        <p:tav tm="0">
                                          <p:val>
                                            <p:fltVal val="0"/>
                                          </p:val>
                                        </p:tav>
                                        <p:tav tm="100000">
                                          <p:val>
                                            <p:strVal val="#ppt_w"/>
                                          </p:val>
                                        </p:tav>
                                      </p:tavLst>
                                    </p:anim>
                                    <p:anim calcmode="lin" valueType="num">
                                      <p:cBhvr>
                                        <p:cTn id="240" dur="600" fill="hold"/>
                                        <p:tgtEl>
                                          <p:spTgt spid="34"/>
                                        </p:tgtEl>
                                        <p:attrNameLst>
                                          <p:attrName>ppt_h</p:attrName>
                                        </p:attrNameLst>
                                      </p:cBhvr>
                                      <p:tavLst>
                                        <p:tav tm="0">
                                          <p:val>
                                            <p:fltVal val="0"/>
                                          </p:val>
                                        </p:tav>
                                        <p:tav tm="100000">
                                          <p:val>
                                            <p:strVal val="#ppt_h"/>
                                          </p:val>
                                        </p:tav>
                                      </p:tavLst>
                                    </p:anim>
                                    <p:animEffect transition="in" filter="fade">
                                      <p:cBhvr>
                                        <p:cTn id="241" dur="600"/>
                                        <p:tgtEl>
                                          <p:spTgt spid="34"/>
                                        </p:tgtEl>
                                      </p:cBhvr>
                                    </p:animEffect>
                                  </p:childTnLst>
                                </p:cTn>
                              </p:par>
                              <p:par>
                                <p:cTn id="242" presetID="53" presetClass="entr" presetSubtype="16" fill="hold" nodeType="withEffect">
                                  <p:stCondLst>
                                    <p:cond delay="590"/>
                                  </p:stCondLst>
                                  <p:childTnLst>
                                    <p:set>
                                      <p:cBhvr>
                                        <p:cTn id="243" dur="1" fill="hold">
                                          <p:stCondLst>
                                            <p:cond delay="0"/>
                                          </p:stCondLst>
                                        </p:cTn>
                                        <p:tgtEl>
                                          <p:spTgt spid="35"/>
                                        </p:tgtEl>
                                        <p:attrNameLst>
                                          <p:attrName>style.visibility</p:attrName>
                                        </p:attrNameLst>
                                      </p:cBhvr>
                                      <p:to>
                                        <p:strVal val="visible"/>
                                      </p:to>
                                    </p:set>
                                    <p:anim calcmode="lin" valueType="num">
                                      <p:cBhvr>
                                        <p:cTn id="244" dur="600" fill="hold"/>
                                        <p:tgtEl>
                                          <p:spTgt spid="35"/>
                                        </p:tgtEl>
                                        <p:attrNameLst>
                                          <p:attrName>ppt_w</p:attrName>
                                        </p:attrNameLst>
                                      </p:cBhvr>
                                      <p:tavLst>
                                        <p:tav tm="0">
                                          <p:val>
                                            <p:fltVal val="0"/>
                                          </p:val>
                                        </p:tav>
                                        <p:tav tm="100000">
                                          <p:val>
                                            <p:strVal val="#ppt_w"/>
                                          </p:val>
                                        </p:tav>
                                      </p:tavLst>
                                    </p:anim>
                                    <p:anim calcmode="lin" valueType="num">
                                      <p:cBhvr>
                                        <p:cTn id="245" dur="600" fill="hold"/>
                                        <p:tgtEl>
                                          <p:spTgt spid="35"/>
                                        </p:tgtEl>
                                        <p:attrNameLst>
                                          <p:attrName>ppt_h</p:attrName>
                                        </p:attrNameLst>
                                      </p:cBhvr>
                                      <p:tavLst>
                                        <p:tav tm="0">
                                          <p:val>
                                            <p:fltVal val="0"/>
                                          </p:val>
                                        </p:tav>
                                        <p:tav tm="100000">
                                          <p:val>
                                            <p:strVal val="#ppt_h"/>
                                          </p:val>
                                        </p:tav>
                                      </p:tavLst>
                                    </p:anim>
                                    <p:animEffect transition="in" filter="fade">
                                      <p:cBhvr>
                                        <p:cTn id="246" dur="600"/>
                                        <p:tgtEl>
                                          <p:spTgt spid="35"/>
                                        </p:tgtEl>
                                      </p:cBhvr>
                                    </p:animEffect>
                                  </p:childTnLst>
                                </p:cTn>
                              </p:par>
                              <p:par>
                                <p:cTn id="247" presetID="22" presetClass="entr" presetSubtype="8" fill="hold" nodeType="withEffect">
                                  <p:stCondLst>
                                    <p:cond delay="660"/>
                                  </p:stCondLst>
                                  <p:childTnLst>
                                    <p:set>
                                      <p:cBhvr>
                                        <p:cTn id="248" dur="1" fill="hold">
                                          <p:stCondLst>
                                            <p:cond delay="0"/>
                                          </p:stCondLst>
                                        </p:cTn>
                                        <p:tgtEl>
                                          <p:spTgt spid="36"/>
                                        </p:tgtEl>
                                        <p:attrNameLst>
                                          <p:attrName>style.visibility</p:attrName>
                                        </p:attrNameLst>
                                      </p:cBhvr>
                                      <p:to>
                                        <p:strVal val="visible"/>
                                      </p:to>
                                    </p:set>
                                    <p:animEffect transition="in" filter="wipe(left)">
                                      <p:cBhvr>
                                        <p:cTn id="249" dur="500"/>
                                        <p:tgtEl>
                                          <p:spTgt spid="36"/>
                                        </p:tgtEl>
                                      </p:cBhvr>
                                    </p:animEffect>
                                  </p:childTnLst>
                                </p:cTn>
                              </p:par>
                              <p:par>
                                <p:cTn id="250" presetID="22" presetClass="entr" presetSubtype="8" fill="hold" nodeType="withEffect">
                                  <p:stCondLst>
                                    <p:cond delay="730"/>
                                  </p:stCondLst>
                                  <p:childTnLst>
                                    <p:set>
                                      <p:cBhvr>
                                        <p:cTn id="251" dur="1" fill="hold">
                                          <p:stCondLst>
                                            <p:cond delay="0"/>
                                          </p:stCondLst>
                                        </p:cTn>
                                        <p:tgtEl>
                                          <p:spTgt spid="37"/>
                                        </p:tgtEl>
                                        <p:attrNameLst>
                                          <p:attrName>style.visibility</p:attrName>
                                        </p:attrNameLst>
                                      </p:cBhvr>
                                      <p:to>
                                        <p:strVal val="visible"/>
                                      </p:to>
                                    </p:set>
                                    <p:animEffect transition="in" filter="wipe(left)">
                                      <p:cBhvr>
                                        <p:cTn id="252" dur="500"/>
                                        <p:tgtEl>
                                          <p:spTgt spid="37"/>
                                        </p:tgtEl>
                                      </p:cBhvr>
                                    </p:animEffect>
                                  </p:childTnLst>
                                </p:cTn>
                              </p:par>
                              <p:par>
                                <p:cTn id="253" presetID="22" presetClass="entr" presetSubtype="8" fill="hold" nodeType="withEffect">
                                  <p:stCondLst>
                                    <p:cond delay="800"/>
                                  </p:stCondLst>
                                  <p:childTnLst>
                                    <p:set>
                                      <p:cBhvr>
                                        <p:cTn id="254" dur="1" fill="hold">
                                          <p:stCondLst>
                                            <p:cond delay="0"/>
                                          </p:stCondLst>
                                        </p:cTn>
                                        <p:tgtEl>
                                          <p:spTgt spid="38"/>
                                        </p:tgtEl>
                                        <p:attrNameLst>
                                          <p:attrName>style.visibility</p:attrName>
                                        </p:attrNameLst>
                                      </p:cBhvr>
                                      <p:to>
                                        <p:strVal val="visible"/>
                                      </p:to>
                                    </p:set>
                                    <p:animEffect transition="in" filter="wipe(left)">
                                      <p:cBhvr>
                                        <p:cTn id="255" dur="500"/>
                                        <p:tgtEl>
                                          <p:spTgt spid="38"/>
                                        </p:tgtEl>
                                      </p:cBhvr>
                                    </p:animEffect>
                                  </p:childTnLst>
                                </p:cTn>
                              </p:par>
                              <p:par>
                                <p:cTn id="256" presetID="10" presetClass="entr" presetSubtype="0" fill="hold" nodeType="withEffect">
                                  <p:stCondLst>
                                    <p:cond delay="870"/>
                                  </p:stCondLst>
                                  <p:childTnLst>
                                    <p:set>
                                      <p:cBhvr>
                                        <p:cTn id="257" dur="1" fill="hold">
                                          <p:stCondLst>
                                            <p:cond delay="0"/>
                                          </p:stCondLst>
                                        </p:cTn>
                                        <p:tgtEl>
                                          <p:spTgt spid="39"/>
                                        </p:tgtEl>
                                        <p:attrNameLst>
                                          <p:attrName>style.visibility</p:attrName>
                                        </p:attrNameLst>
                                      </p:cBhvr>
                                      <p:to>
                                        <p:strVal val="visible"/>
                                      </p:to>
                                    </p:set>
                                    <p:animEffect transition="in" filter="fade">
                                      <p:cBhvr>
                                        <p:cTn id="258" dur="450"/>
                                        <p:tgtEl>
                                          <p:spTgt spid="39"/>
                                        </p:tgtEl>
                                      </p:cBhvr>
                                    </p:animEffect>
                                  </p:childTnLst>
                                </p:cTn>
                              </p:par>
                              <p:par>
                                <p:cTn id="259" presetID="22" presetClass="entr" presetSubtype="8" fill="hold" nodeType="withEffect">
                                  <p:stCondLst>
                                    <p:cond delay="870"/>
                                  </p:stCondLst>
                                  <p:childTnLst>
                                    <p:set>
                                      <p:cBhvr>
                                        <p:cTn id="260" dur="1" fill="hold">
                                          <p:stCondLst>
                                            <p:cond delay="0"/>
                                          </p:stCondLst>
                                        </p:cTn>
                                        <p:tgtEl>
                                          <p:spTgt spid="40"/>
                                        </p:tgtEl>
                                        <p:attrNameLst>
                                          <p:attrName>style.visibility</p:attrName>
                                        </p:attrNameLst>
                                      </p:cBhvr>
                                      <p:to>
                                        <p:strVal val="visible"/>
                                      </p:to>
                                    </p:set>
                                    <p:animEffect transition="in" filter="wipe(left)">
                                      <p:cBhvr>
                                        <p:cTn id="261" dur="500"/>
                                        <p:tgtEl>
                                          <p:spTgt spid="40"/>
                                        </p:tgtEl>
                                      </p:cBhvr>
                                    </p:animEffect>
                                  </p:childTnLst>
                                </p:cTn>
                              </p:par>
                              <p:par>
                                <p:cTn id="262" presetID="10" presetClass="entr" presetSubtype="0" fill="hold" nodeType="withEffect">
                                  <p:stCondLst>
                                    <p:cond delay="940"/>
                                  </p:stCondLst>
                                  <p:childTnLst>
                                    <p:set>
                                      <p:cBhvr>
                                        <p:cTn id="263" dur="1" fill="hold">
                                          <p:stCondLst>
                                            <p:cond delay="0"/>
                                          </p:stCondLst>
                                        </p:cTn>
                                        <p:tgtEl>
                                          <p:spTgt spid="41"/>
                                        </p:tgtEl>
                                        <p:attrNameLst>
                                          <p:attrName>style.visibility</p:attrName>
                                        </p:attrNameLst>
                                      </p:cBhvr>
                                      <p:to>
                                        <p:strVal val="visible"/>
                                      </p:to>
                                    </p:set>
                                    <p:animEffect transition="in" filter="fade">
                                      <p:cBhvr>
                                        <p:cTn id="264" dur="450"/>
                                        <p:tgtEl>
                                          <p:spTgt spid="41"/>
                                        </p:tgtEl>
                                      </p:cBhvr>
                                    </p:animEffect>
                                  </p:childTnLst>
                                </p:cTn>
                              </p:par>
                              <p:par>
                                <p:cTn id="265" presetID="22" presetClass="entr" presetSubtype="8" fill="hold" nodeType="withEffect">
                                  <p:stCondLst>
                                    <p:cond delay="940"/>
                                  </p:stCondLst>
                                  <p:childTnLst>
                                    <p:set>
                                      <p:cBhvr>
                                        <p:cTn id="266" dur="1" fill="hold">
                                          <p:stCondLst>
                                            <p:cond delay="0"/>
                                          </p:stCondLst>
                                        </p:cTn>
                                        <p:tgtEl>
                                          <p:spTgt spid="42"/>
                                        </p:tgtEl>
                                        <p:attrNameLst>
                                          <p:attrName>style.visibility</p:attrName>
                                        </p:attrNameLst>
                                      </p:cBhvr>
                                      <p:to>
                                        <p:strVal val="visible"/>
                                      </p:to>
                                    </p:set>
                                    <p:animEffect transition="in" filter="wipe(left)">
                                      <p:cBhvr>
                                        <p:cTn id="267" dur="500"/>
                                        <p:tgtEl>
                                          <p:spTgt spid="42"/>
                                        </p:tgtEl>
                                      </p:cBhvr>
                                    </p:animEffect>
                                  </p:childTnLst>
                                </p:cTn>
                              </p:par>
                              <p:par>
                                <p:cTn id="268" presetID="10" presetClass="entr" presetSubtype="0" fill="hold" nodeType="withEffect">
                                  <p:stCondLst>
                                    <p:cond delay="580"/>
                                  </p:stCondLst>
                                  <p:childTnLst>
                                    <p:set>
                                      <p:cBhvr>
                                        <p:cTn id="269" dur="1" fill="hold">
                                          <p:stCondLst>
                                            <p:cond delay="0"/>
                                          </p:stCondLst>
                                        </p:cTn>
                                        <p:tgtEl>
                                          <p:spTgt spid="43"/>
                                        </p:tgtEl>
                                        <p:attrNameLst>
                                          <p:attrName>style.visibility</p:attrName>
                                        </p:attrNameLst>
                                      </p:cBhvr>
                                      <p:to>
                                        <p:strVal val="visible"/>
                                      </p:to>
                                    </p:set>
                                    <p:animEffect transition="in" filter="fade">
                                      <p:cBhvr>
                                        <p:cTn id="270" dur="450"/>
                                        <p:tgtEl>
                                          <p:spTgt spid="43"/>
                                        </p:tgtEl>
                                      </p:cBhvr>
                                    </p:animEffect>
                                  </p:childTnLst>
                                </p:cTn>
                              </p:par>
                            </p:childTnLst>
                          </p:cTn>
                        </p:par>
                      </p:childTnLst>
                    </p:cTn>
                  </p:par>
                  <p:par>
                    <p:cTn id="271" fill="hold">
                      <p:stCondLst>
                        <p:cond delay="indefinite"/>
                      </p:stCondLst>
                      <p:childTnLst>
                        <p:par>
                          <p:cTn id="272" fill="hold">
                            <p:stCondLst>
                              <p:cond delay="0"/>
                            </p:stCondLst>
                            <p:childTnLst>
                              <p:par>
                                <p:cTn id="273" presetID="10" presetClass="exit" presetSubtype="0" fill="hold" nodeType="clickEffect">
                                  <p:stCondLst>
                                    <p:cond delay="0"/>
                                  </p:stCondLst>
                                  <p:childTnLst>
                                    <p:animEffect transition="out" filter="fade">
                                      <p:cBhvr>
                                        <p:cTn id="274" dur="350"/>
                                        <p:tgtEl>
                                          <p:spTgt spid="33"/>
                                        </p:tgtEl>
                                      </p:cBhvr>
                                    </p:animEffect>
                                    <p:set>
                                      <p:cBhvr>
                                        <p:cTn id="275" dur="1" fill="hold">
                                          <p:stCondLst>
                                            <p:cond delay="349"/>
                                          </p:stCondLst>
                                        </p:cTn>
                                        <p:tgtEl>
                                          <p:spTgt spid="33"/>
                                        </p:tgtEl>
                                        <p:attrNameLst>
                                          <p:attrName>style.visibility</p:attrName>
                                        </p:attrNameLst>
                                      </p:cBhvr>
                                      <p:to>
                                        <p:strVal val="hidden"/>
                                      </p:to>
                                    </p:set>
                                  </p:childTnLst>
                                </p:cTn>
                              </p:par>
                              <p:par>
                                <p:cTn id="276" presetID="10" presetClass="exit" presetSubtype="0" fill="hold" nodeType="withEffect">
                                  <p:stCondLst>
                                    <p:cond delay="0"/>
                                  </p:stCondLst>
                                  <p:childTnLst>
                                    <p:animEffect transition="out" filter="fade">
                                      <p:cBhvr>
                                        <p:cTn id="277" dur="350"/>
                                        <p:tgtEl>
                                          <p:spTgt spid="34"/>
                                        </p:tgtEl>
                                      </p:cBhvr>
                                    </p:animEffect>
                                    <p:set>
                                      <p:cBhvr>
                                        <p:cTn id="278" dur="1" fill="hold">
                                          <p:stCondLst>
                                            <p:cond delay="349"/>
                                          </p:stCondLst>
                                        </p:cTn>
                                        <p:tgtEl>
                                          <p:spTgt spid="34"/>
                                        </p:tgtEl>
                                        <p:attrNameLst>
                                          <p:attrName>style.visibility</p:attrName>
                                        </p:attrNameLst>
                                      </p:cBhvr>
                                      <p:to>
                                        <p:strVal val="hidden"/>
                                      </p:to>
                                    </p:set>
                                  </p:childTnLst>
                                </p:cTn>
                              </p:par>
                              <p:par>
                                <p:cTn id="279" presetID="10" presetClass="exit" presetSubtype="0" fill="hold" nodeType="withEffect">
                                  <p:stCondLst>
                                    <p:cond delay="0"/>
                                  </p:stCondLst>
                                  <p:childTnLst>
                                    <p:animEffect transition="out" filter="fade">
                                      <p:cBhvr>
                                        <p:cTn id="280" dur="350"/>
                                        <p:tgtEl>
                                          <p:spTgt spid="36"/>
                                        </p:tgtEl>
                                      </p:cBhvr>
                                    </p:animEffect>
                                    <p:set>
                                      <p:cBhvr>
                                        <p:cTn id="281" dur="1" fill="hold">
                                          <p:stCondLst>
                                            <p:cond delay="349"/>
                                          </p:stCondLst>
                                        </p:cTn>
                                        <p:tgtEl>
                                          <p:spTgt spid="36"/>
                                        </p:tgtEl>
                                        <p:attrNameLst>
                                          <p:attrName>style.visibility</p:attrName>
                                        </p:attrNameLst>
                                      </p:cBhvr>
                                      <p:to>
                                        <p:strVal val="hidden"/>
                                      </p:to>
                                    </p:set>
                                  </p:childTnLst>
                                </p:cTn>
                              </p:par>
                              <p:par>
                                <p:cTn id="282" presetID="10" presetClass="exit" presetSubtype="0" fill="hold" nodeType="withEffect">
                                  <p:stCondLst>
                                    <p:cond delay="0"/>
                                  </p:stCondLst>
                                  <p:childTnLst>
                                    <p:animEffect transition="out" filter="fade">
                                      <p:cBhvr>
                                        <p:cTn id="283" dur="350"/>
                                        <p:tgtEl>
                                          <p:spTgt spid="37"/>
                                        </p:tgtEl>
                                      </p:cBhvr>
                                    </p:animEffect>
                                    <p:set>
                                      <p:cBhvr>
                                        <p:cTn id="284" dur="1" fill="hold">
                                          <p:stCondLst>
                                            <p:cond delay="349"/>
                                          </p:stCondLst>
                                        </p:cTn>
                                        <p:tgtEl>
                                          <p:spTgt spid="37"/>
                                        </p:tgtEl>
                                        <p:attrNameLst>
                                          <p:attrName>style.visibility</p:attrName>
                                        </p:attrNameLst>
                                      </p:cBhvr>
                                      <p:to>
                                        <p:strVal val="hidden"/>
                                      </p:to>
                                    </p:set>
                                  </p:childTnLst>
                                </p:cTn>
                              </p:par>
                              <p:par>
                                <p:cTn id="285" presetID="10" presetClass="exit" presetSubtype="0" fill="hold" nodeType="withEffect">
                                  <p:stCondLst>
                                    <p:cond delay="0"/>
                                  </p:stCondLst>
                                  <p:childTnLst>
                                    <p:animEffect transition="out" filter="fade">
                                      <p:cBhvr>
                                        <p:cTn id="286" dur="350"/>
                                        <p:tgtEl>
                                          <p:spTgt spid="38"/>
                                        </p:tgtEl>
                                      </p:cBhvr>
                                    </p:animEffect>
                                    <p:set>
                                      <p:cBhvr>
                                        <p:cTn id="287" dur="1" fill="hold">
                                          <p:stCondLst>
                                            <p:cond delay="349"/>
                                          </p:stCondLst>
                                        </p:cTn>
                                        <p:tgtEl>
                                          <p:spTgt spid="38"/>
                                        </p:tgtEl>
                                        <p:attrNameLst>
                                          <p:attrName>style.visibility</p:attrName>
                                        </p:attrNameLst>
                                      </p:cBhvr>
                                      <p:to>
                                        <p:strVal val="hidden"/>
                                      </p:to>
                                    </p:set>
                                  </p:childTnLst>
                                </p:cTn>
                              </p:par>
                              <p:par>
                                <p:cTn id="288" presetID="10" presetClass="exit" presetSubtype="0" fill="hold" nodeType="withEffect">
                                  <p:stCondLst>
                                    <p:cond delay="0"/>
                                  </p:stCondLst>
                                  <p:childTnLst>
                                    <p:animEffect transition="out" filter="fade">
                                      <p:cBhvr>
                                        <p:cTn id="289" dur="350"/>
                                        <p:tgtEl>
                                          <p:spTgt spid="39"/>
                                        </p:tgtEl>
                                      </p:cBhvr>
                                    </p:animEffect>
                                    <p:set>
                                      <p:cBhvr>
                                        <p:cTn id="290" dur="1" fill="hold">
                                          <p:stCondLst>
                                            <p:cond delay="349"/>
                                          </p:stCondLst>
                                        </p:cTn>
                                        <p:tgtEl>
                                          <p:spTgt spid="39"/>
                                        </p:tgtEl>
                                        <p:attrNameLst>
                                          <p:attrName>style.visibility</p:attrName>
                                        </p:attrNameLst>
                                      </p:cBhvr>
                                      <p:to>
                                        <p:strVal val="hidden"/>
                                      </p:to>
                                    </p:set>
                                  </p:childTnLst>
                                </p:cTn>
                              </p:par>
                              <p:par>
                                <p:cTn id="291" presetID="10" presetClass="exit" presetSubtype="0" fill="hold" nodeType="withEffect">
                                  <p:stCondLst>
                                    <p:cond delay="0"/>
                                  </p:stCondLst>
                                  <p:childTnLst>
                                    <p:animEffect transition="out" filter="fade">
                                      <p:cBhvr>
                                        <p:cTn id="292" dur="350"/>
                                        <p:tgtEl>
                                          <p:spTgt spid="40"/>
                                        </p:tgtEl>
                                      </p:cBhvr>
                                    </p:animEffect>
                                    <p:set>
                                      <p:cBhvr>
                                        <p:cTn id="293" dur="1" fill="hold">
                                          <p:stCondLst>
                                            <p:cond delay="349"/>
                                          </p:stCondLst>
                                        </p:cTn>
                                        <p:tgtEl>
                                          <p:spTgt spid="40"/>
                                        </p:tgtEl>
                                        <p:attrNameLst>
                                          <p:attrName>style.visibility</p:attrName>
                                        </p:attrNameLst>
                                      </p:cBhvr>
                                      <p:to>
                                        <p:strVal val="hidden"/>
                                      </p:to>
                                    </p:set>
                                  </p:childTnLst>
                                </p:cTn>
                              </p:par>
                              <p:par>
                                <p:cTn id="294" presetID="10" presetClass="exit" presetSubtype="0" fill="hold" nodeType="withEffect">
                                  <p:stCondLst>
                                    <p:cond delay="0"/>
                                  </p:stCondLst>
                                  <p:childTnLst>
                                    <p:animEffect transition="out" filter="fade">
                                      <p:cBhvr>
                                        <p:cTn id="295" dur="350"/>
                                        <p:tgtEl>
                                          <p:spTgt spid="41"/>
                                        </p:tgtEl>
                                      </p:cBhvr>
                                    </p:animEffect>
                                    <p:set>
                                      <p:cBhvr>
                                        <p:cTn id="296" dur="1" fill="hold">
                                          <p:stCondLst>
                                            <p:cond delay="349"/>
                                          </p:stCondLst>
                                        </p:cTn>
                                        <p:tgtEl>
                                          <p:spTgt spid="41"/>
                                        </p:tgtEl>
                                        <p:attrNameLst>
                                          <p:attrName>style.visibility</p:attrName>
                                        </p:attrNameLst>
                                      </p:cBhvr>
                                      <p:to>
                                        <p:strVal val="hidden"/>
                                      </p:to>
                                    </p:set>
                                  </p:childTnLst>
                                </p:cTn>
                              </p:par>
                              <p:par>
                                <p:cTn id="297" presetID="10" presetClass="exit" presetSubtype="0" fill="hold" nodeType="withEffect">
                                  <p:stCondLst>
                                    <p:cond delay="0"/>
                                  </p:stCondLst>
                                  <p:childTnLst>
                                    <p:animEffect transition="out" filter="fade">
                                      <p:cBhvr>
                                        <p:cTn id="298" dur="350"/>
                                        <p:tgtEl>
                                          <p:spTgt spid="42"/>
                                        </p:tgtEl>
                                      </p:cBhvr>
                                    </p:animEffect>
                                    <p:set>
                                      <p:cBhvr>
                                        <p:cTn id="299" dur="1" fill="hold">
                                          <p:stCondLst>
                                            <p:cond delay="349"/>
                                          </p:stCondLst>
                                        </p:cTn>
                                        <p:tgtEl>
                                          <p:spTgt spid="42"/>
                                        </p:tgtEl>
                                        <p:attrNameLst>
                                          <p:attrName>style.visibility</p:attrName>
                                        </p:attrNameLst>
                                      </p:cBhvr>
                                      <p:to>
                                        <p:strVal val="hidden"/>
                                      </p:to>
                                    </p:set>
                                  </p:childTnLst>
                                </p:cTn>
                              </p:par>
                              <p:par>
                                <p:cTn id="300" presetID="10" presetClass="exit" presetSubtype="0" fill="hold" nodeType="withEffect">
                                  <p:stCondLst>
                                    <p:cond delay="0"/>
                                  </p:stCondLst>
                                  <p:childTnLst>
                                    <p:animEffect transition="out" filter="fade">
                                      <p:cBhvr>
                                        <p:cTn id="301" dur="350"/>
                                        <p:tgtEl>
                                          <p:spTgt spid="43"/>
                                        </p:tgtEl>
                                      </p:cBhvr>
                                    </p:animEffect>
                                    <p:set>
                                      <p:cBhvr>
                                        <p:cTn id="302" dur="1" fill="hold">
                                          <p:stCondLst>
                                            <p:cond delay="349"/>
                                          </p:stCondLst>
                                        </p:cTn>
                                        <p:tgtEl>
                                          <p:spTgt spid="43"/>
                                        </p:tgtEl>
                                        <p:attrNameLst>
                                          <p:attrName>style.visibility</p:attrName>
                                        </p:attrNameLst>
                                      </p:cBhvr>
                                      <p:to>
                                        <p:strVal val="hidden"/>
                                      </p:to>
                                    </p:set>
                                  </p:childTnLst>
                                </p:cTn>
                              </p:par>
                              <p:par>
                                <p:cTn id="303" presetID="0" presetClass="path" presetSubtype="0" accel="50000" decel="50000" fill="hold" nodeType="withEffect">
                                  <p:stCondLst>
                                    <p:cond delay="0"/>
                                  </p:stCondLst>
                                  <p:childTnLst>
                                    <p:animMotion origin="layout" path="M 0 0 L 0.30370 0.09816 E" pathEditMode="relative" rAng="0" ptsTypes="AA">
                                      <p:cBhvr>
                                        <p:cTn id="304" dur="750" fill="hold"/>
                                        <p:tgtEl>
                                          <p:spTgt spid="35"/>
                                        </p:tgtEl>
                                        <p:attrNameLst>
                                          <p:attrName>ppt_x</p:attrName>
                                          <p:attrName>ppt_y</p:attrName>
                                        </p:attrNameLst>
                                      </p:cBhvr>
                                      <p:rCtr x="15184" y="4908"/>
                                    </p:animMotion>
                                  </p:childTnLst>
                                </p:cTn>
                              </p:par>
                              <p:par>
                                <p:cTn id="305" presetID="6" presetClass="emph" presetSubtype="0" accel="50000" decel="50000" fill="hold" nodeType="withEffect">
                                  <p:stCondLst>
                                    <p:cond delay="0"/>
                                  </p:stCondLst>
                                  <p:childTnLst>
                                    <p:animScale>
                                      <p:cBhvr>
                                        <p:cTn id="306" dur="750" fill="hold"/>
                                        <p:tgtEl>
                                          <p:spTgt spid="35"/>
                                        </p:tgtEl>
                                      </p:cBhvr>
                                      <p:by x="38655" y="38655"/>
                                    </p:animScale>
                                  </p:childTnLst>
                                </p:cTn>
                              </p:par>
                              <p:par>
                                <p:cTn id="307" presetID="10" presetClass="entr" presetSubtype="0" fill="hold" nodeType="withEffect">
                                  <p:stCondLst>
                                    <p:cond delay="450"/>
                                  </p:stCondLst>
                                  <p:childTnLst>
                                    <p:set>
                                      <p:cBhvr>
                                        <p:cTn id="308" dur="1" fill="hold">
                                          <p:stCondLst>
                                            <p:cond delay="0"/>
                                          </p:stCondLst>
                                        </p:cTn>
                                        <p:tgtEl>
                                          <p:spTgt spid="44"/>
                                        </p:tgtEl>
                                        <p:attrNameLst>
                                          <p:attrName>style.visibility</p:attrName>
                                        </p:attrNameLst>
                                      </p:cBhvr>
                                      <p:to>
                                        <p:strVal val="visible"/>
                                      </p:to>
                                    </p:set>
                                    <p:animEffect transition="in" filter="fade">
                                      <p:cBhvr>
                                        <p:cTn id="309" dur="450"/>
                                        <p:tgtEl>
                                          <p:spTgt spid="44"/>
                                        </p:tgtEl>
                                      </p:cBhvr>
                                    </p:animEffect>
                                  </p:childTnLst>
                                </p:cTn>
                              </p:par>
                              <p:par>
                                <p:cTn id="310" presetID="53" presetClass="entr" presetSubtype="16" fill="hold" nodeType="withEffect">
                                  <p:stCondLst>
                                    <p:cond delay="520"/>
                                  </p:stCondLst>
                                  <p:childTnLst>
                                    <p:set>
                                      <p:cBhvr>
                                        <p:cTn id="311" dur="1" fill="hold">
                                          <p:stCondLst>
                                            <p:cond delay="0"/>
                                          </p:stCondLst>
                                        </p:cTn>
                                        <p:tgtEl>
                                          <p:spTgt spid="45"/>
                                        </p:tgtEl>
                                        <p:attrNameLst>
                                          <p:attrName>style.visibility</p:attrName>
                                        </p:attrNameLst>
                                      </p:cBhvr>
                                      <p:to>
                                        <p:strVal val="visible"/>
                                      </p:to>
                                    </p:set>
                                    <p:anim calcmode="lin" valueType="num">
                                      <p:cBhvr>
                                        <p:cTn id="312" dur="600" fill="hold"/>
                                        <p:tgtEl>
                                          <p:spTgt spid="45"/>
                                        </p:tgtEl>
                                        <p:attrNameLst>
                                          <p:attrName>ppt_w</p:attrName>
                                        </p:attrNameLst>
                                      </p:cBhvr>
                                      <p:tavLst>
                                        <p:tav tm="0">
                                          <p:val>
                                            <p:fltVal val="0"/>
                                          </p:val>
                                        </p:tav>
                                        <p:tav tm="100000">
                                          <p:val>
                                            <p:strVal val="#ppt_w"/>
                                          </p:val>
                                        </p:tav>
                                      </p:tavLst>
                                    </p:anim>
                                    <p:anim calcmode="lin" valueType="num">
                                      <p:cBhvr>
                                        <p:cTn id="313" dur="600" fill="hold"/>
                                        <p:tgtEl>
                                          <p:spTgt spid="45"/>
                                        </p:tgtEl>
                                        <p:attrNameLst>
                                          <p:attrName>ppt_h</p:attrName>
                                        </p:attrNameLst>
                                      </p:cBhvr>
                                      <p:tavLst>
                                        <p:tav tm="0">
                                          <p:val>
                                            <p:fltVal val="0"/>
                                          </p:val>
                                        </p:tav>
                                        <p:tav tm="100000">
                                          <p:val>
                                            <p:strVal val="#ppt_h"/>
                                          </p:val>
                                        </p:tav>
                                      </p:tavLst>
                                    </p:anim>
                                    <p:animEffect transition="in" filter="fade">
                                      <p:cBhvr>
                                        <p:cTn id="314" dur="600"/>
                                        <p:tgtEl>
                                          <p:spTgt spid="45"/>
                                        </p:tgtEl>
                                      </p:cBhvr>
                                    </p:animEffect>
                                  </p:childTnLst>
                                </p:cTn>
                              </p:par>
                              <p:par>
                                <p:cTn id="315" presetID="53" presetClass="entr" presetSubtype="16" fill="hold" nodeType="withEffect">
                                  <p:stCondLst>
                                    <p:cond delay="590"/>
                                  </p:stCondLst>
                                  <p:childTnLst>
                                    <p:set>
                                      <p:cBhvr>
                                        <p:cTn id="316" dur="1" fill="hold">
                                          <p:stCondLst>
                                            <p:cond delay="0"/>
                                          </p:stCondLst>
                                        </p:cTn>
                                        <p:tgtEl>
                                          <p:spTgt spid="46"/>
                                        </p:tgtEl>
                                        <p:attrNameLst>
                                          <p:attrName>style.visibility</p:attrName>
                                        </p:attrNameLst>
                                      </p:cBhvr>
                                      <p:to>
                                        <p:strVal val="visible"/>
                                      </p:to>
                                    </p:set>
                                    <p:anim calcmode="lin" valueType="num">
                                      <p:cBhvr>
                                        <p:cTn id="317" dur="600" fill="hold"/>
                                        <p:tgtEl>
                                          <p:spTgt spid="46"/>
                                        </p:tgtEl>
                                        <p:attrNameLst>
                                          <p:attrName>ppt_w</p:attrName>
                                        </p:attrNameLst>
                                      </p:cBhvr>
                                      <p:tavLst>
                                        <p:tav tm="0">
                                          <p:val>
                                            <p:fltVal val="0"/>
                                          </p:val>
                                        </p:tav>
                                        <p:tav tm="100000">
                                          <p:val>
                                            <p:strVal val="#ppt_w"/>
                                          </p:val>
                                        </p:tav>
                                      </p:tavLst>
                                    </p:anim>
                                    <p:anim calcmode="lin" valueType="num">
                                      <p:cBhvr>
                                        <p:cTn id="318" dur="600" fill="hold"/>
                                        <p:tgtEl>
                                          <p:spTgt spid="46"/>
                                        </p:tgtEl>
                                        <p:attrNameLst>
                                          <p:attrName>ppt_h</p:attrName>
                                        </p:attrNameLst>
                                      </p:cBhvr>
                                      <p:tavLst>
                                        <p:tav tm="0">
                                          <p:val>
                                            <p:fltVal val="0"/>
                                          </p:val>
                                        </p:tav>
                                        <p:tav tm="100000">
                                          <p:val>
                                            <p:strVal val="#ppt_h"/>
                                          </p:val>
                                        </p:tav>
                                      </p:tavLst>
                                    </p:anim>
                                    <p:animEffect transition="in" filter="fade">
                                      <p:cBhvr>
                                        <p:cTn id="319" dur="600"/>
                                        <p:tgtEl>
                                          <p:spTgt spid="46"/>
                                        </p:tgtEl>
                                      </p:cBhvr>
                                    </p:animEffect>
                                  </p:childTnLst>
                                </p:cTn>
                              </p:par>
                              <p:par>
                                <p:cTn id="320" presetID="22" presetClass="entr" presetSubtype="4" fill="hold" nodeType="withEffect">
                                  <p:stCondLst>
                                    <p:cond delay="660"/>
                                  </p:stCondLst>
                                  <p:childTnLst>
                                    <p:set>
                                      <p:cBhvr>
                                        <p:cTn id="321" dur="1" fill="hold">
                                          <p:stCondLst>
                                            <p:cond delay="0"/>
                                          </p:stCondLst>
                                        </p:cTn>
                                        <p:tgtEl>
                                          <p:spTgt spid="47"/>
                                        </p:tgtEl>
                                        <p:attrNameLst>
                                          <p:attrName>style.visibility</p:attrName>
                                        </p:attrNameLst>
                                      </p:cBhvr>
                                      <p:to>
                                        <p:strVal val="visible"/>
                                      </p:to>
                                    </p:set>
                                    <p:animEffect transition="in" filter="wipe(down)">
                                      <p:cBhvr>
                                        <p:cTn id="322" dur="500"/>
                                        <p:tgtEl>
                                          <p:spTgt spid="47"/>
                                        </p:tgtEl>
                                      </p:cBhvr>
                                    </p:animEffect>
                                  </p:childTnLst>
                                </p:cTn>
                              </p:par>
                              <p:par>
                                <p:cTn id="323" presetID="22" presetClass="entr" presetSubtype="4" fill="hold" nodeType="withEffect">
                                  <p:stCondLst>
                                    <p:cond delay="730"/>
                                  </p:stCondLst>
                                  <p:childTnLst>
                                    <p:set>
                                      <p:cBhvr>
                                        <p:cTn id="324" dur="1" fill="hold">
                                          <p:stCondLst>
                                            <p:cond delay="0"/>
                                          </p:stCondLst>
                                        </p:cTn>
                                        <p:tgtEl>
                                          <p:spTgt spid="48"/>
                                        </p:tgtEl>
                                        <p:attrNameLst>
                                          <p:attrName>style.visibility</p:attrName>
                                        </p:attrNameLst>
                                      </p:cBhvr>
                                      <p:to>
                                        <p:strVal val="visible"/>
                                      </p:to>
                                    </p:set>
                                    <p:animEffect transition="in" filter="wipe(down)">
                                      <p:cBhvr>
                                        <p:cTn id="325" dur="500"/>
                                        <p:tgtEl>
                                          <p:spTgt spid="48"/>
                                        </p:tgtEl>
                                      </p:cBhvr>
                                    </p:animEffect>
                                  </p:childTnLst>
                                </p:cTn>
                              </p:par>
                              <p:par>
                                <p:cTn id="326" presetID="22" presetClass="entr" presetSubtype="4" fill="hold" nodeType="withEffect">
                                  <p:stCondLst>
                                    <p:cond delay="800"/>
                                  </p:stCondLst>
                                  <p:childTnLst>
                                    <p:set>
                                      <p:cBhvr>
                                        <p:cTn id="327" dur="1" fill="hold">
                                          <p:stCondLst>
                                            <p:cond delay="0"/>
                                          </p:stCondLst>
                                        </p:cTn>
                                        <p:tgtEl>
                                          <p:spTgt spid="49"/>
                                        </p:tgtEl>
                                        <p:attrNameLst>
                                          <p:attrName>style.visibility</p:attrName>
                                        </p:attrNameLst>
                                      </p:cBhvr>
                                      <p:to>
                                        <p:strVal val="visible"/>
                                      </p:to>
                                    </p:set>
                                    <p:animEffect transition="in" filter="wipe(down)">
                                      <p:cBhvr>
                                        <p:cTn id="328" dur="500"/>
                                        <p:tgtEl>
                                          <p:spTgt spid="49"/>
                                        </p:tgtEl>
                                      </p:cBhvr>
                                    </p:animEffect>
                                  </p:childTnLst>
                                </p:cTn>
                              </p:par>
                              <p:par>
                                <p:cTn id="329" presetID="10" presetClass="entr" presetSubtype="0" grpId="0" fill="hold" nodeType="withEffect">
                                  <p:stCondLst>
                                    <p:cond delay="870"/>
                                  </p:stCondLst>
                                  <p:childTnLst>
                                    <p:set>
                                      <p:cBhvr>
                                        <p:cTn id="330" dur="1" fill="hold">
                                          <p:stCondLst>
                                            <p:cond delay="0"/>
                                          </p:stCondLst>
                                        </p:cTn>
                                        <p:tgtEl>
                                          <p:spTgt spid="50">
                                            <p:txEl>
                                              <p:pRg st="0" end="0"/>
                                            </p:txEl>
                                          </p:spTgt>
                                        </p:tgtEl>
                                        <p:attrNameLst>
                                          <p:attrName>style.visibility</p:attrName>
                                        </p:attrNameLst>
                                      </p:cBhvr>
                                      <p:to>
                                        <p:strVal val="visible"/>
                                      </p:to>
                                    </p:set>
                                    <p:animEffect transition="in" filter="fade">
                                      <p:cBhvr>
                                        <p:cTn id="331" dur="450"/>
                                        <p:tgtEl>
                                          <p:spTgt spid="50">
                                            <p:txEl>
                                              <p:pRg st="0" end="0"/>
                                            </p:txEl>
                                          </p:spTgt>
                                        </p:tgtEl>
                                      </p:cBhvr>
                                    </p:animEffect>
                                  </p:childTnLst>
                                </p:cTn>
                              </p:par>
                              <p:par>
                                <p:cTn id="332" presetID="10" presetClass="entr" presetSubtype="0" grpId="0" fill="hold" nodeType="withEffect">
                                  <p:stCondLst>
                                    <p:cond delay="1250"/>
                                  </p:stCondLst>
                                  <p:childTnLst>
                                    <p:set>
                                      <p:cBhvr>
                                        <p:cTn id="333" dur="1" fill="hold">
                                          <p:stCondLst>
                                            <p:cond delay="0"/>
                                          </p:stCondLst>
                                        </p:cTn>
                                        <p:tgtEl>
                                          <p:spTgt spid="50">
                                            <p:txEl>
                                              <p:pRg st="1" end="1"/>
                                            </p:txEl>
                                          </p:spTgt>
                                        </p:tgtEl>
                                        <p:attrNameLst>
                                          <p:attrName>style.visibility</p:attrName>
                                        </p:attrNameLst>
                                      </p:cBhvr>
                                      <p:to>
                                        <p:strVal val="visible"/>
                                      </p:to>
                                    </p:set>
                                    <p:animEffect transition="in" filter="fade">
                                      <p:cBhvr>
                                        <p:cTn id="334" dur="450"/>
                                        <p:tgtEl>
                                          <p:spTgt spid="50">
                                            <p:txEl>
                                              <p:pRg st="1" end="1"/>
                                            </p:txEl>
                                          </p:spTgt>
                                        </p:tgtEl>
                                      </p:cBhvr>
                                    </p:animEffect>
                                  </p:childTnLst>
                                </p:cTn>
                              </p:par>
                              <p:par>
                                <p:cTn id="335" presetID="10" presetClass="entr" presetSubtype="0" fill="hold" nodeType="withEffect">
                                  <p:stCondLst>
                                    <p:cond delay="580"/>
                                  </p:stCondLst>
                                  <p:childTnLst>
                                    <p:set>
                                      <p:cBhvr>
                                        <p:cTn id="336" dur="1" fill="hold">
                                          <p:stCondLst>
                                            <p:cond delay="0"/>
                                          </p:stCondLst>
                                        </p:cTn>
                                        <p:tgtEl>
                                          <p:spTgt spid="51"/>
                                        </p:tgtEl>
                                        <p:attrNameLst>
                                          <p:attrName>style.visibility</p:attrName>
                                        </p:attrNameLst>
                                      </p:cBhvr>
                                      <p:to>
                                        <p:strVal val="visible"/>
                                      </p:to>
                                    </p:set>
                                    <p:animEffect transition="in" filter="fade">
                                      <p:cBhvr>
                                        <p:cTn id="337" dur="450"/>
                                        <p:tgtEl>
                                          <p:spTgt spid="51"/>
                                        </p:tgtEl>
                                      </p:cBhvr>
                                    </p:animEffect>
                                  </p:childTnLst>
                                </p:cTn>
                              </p:par>
                            </p:childTnLst>
                          </p:cTn>
                        </p:par>
                      </p:childTnLst>
                    </p:cTn>
                  </p:par>
                  <p:par>
                    <p:cTn id="338" fill="hold">
                      <p:stCondLst>
                        <p:cond delay="indefinite"/>
                      </p:stCondLst>
                      <p:childTnLst>
                        <p:par>
                          <p:cTn id="339" fill="hold">
                            <p:stCondLst>
                              <p:cond delay="0"/>
                            </p:stCondLst>
                            <p:childTnLst>
                              <p:par>
                                <p:cTn id="340" presetID="10" presetClass="exit" presetSubtype="0" fill="hold" nodeType="clickEffect">
                                  <p:stCondLst>
                                    <p:cond delay="0"/>
                                  </p:stCondLst>
                                  <p:childTnLst>
                                    <p:animEffect transition="out" filter="fade">
                                      <p:cBhvr>
                                        <p:cTn id="341" dur="350"/>
                                        <p:tgtEl>
                                          <p:spTgt spid="44"/>
                                        </p:tgtEl>
                                      </p:cBhvr>
                                    </p:animEffect>
                                    <p:set>
                                      <p:cBhvr>
                                        <p:cTn id="342" dur="1" fill="hold">
                                          <p:stCondLst>
                                            <p:cond delay="349"/>
                                          </p:stCondLst>
                                        </p:cTn>
                                        <p:tgtEl>
                                          <p:spTgt spid="44"/>
                                        </p:tgtEl>
                                        <p:attrNameLst>
                                          <p:attrName>style.visibility</p:attrName>
                                        </p:attrNameLst>
                                      </p:cBhvr>
                                      <p:to>
                                        <p:strVal val="hidden"/>
                                      </p:to>
                                    </p:set>
                                  </p:childTnLst>
                                </p:cTn>
                              </p:par>
                              <p:par>
                                <p:cTn id="343" presetID="10" presetClass="exit" presetSubtype="0" fill="hold" nodeType="withEffect">
                                  <p:stCondLst>
                                    <p:cond delay="0"/>
                                  </p:stCondLst>
                                  <p:childTnLst>
                                    <p:animEffect transition="out" filter="fade">
                                      <p:cBhvr>
                                        <p:cTn id="344" dur="350"/>
                                        <p:tgtEl>
                                          <p:spTgt spid="46"/>
                                        </p:tgtEl>
                                      </p:cBhvr>
                                    </p:animEffect>
                                    <p:set>
                                      <p:cBhvr>
                                        <p:cTn id="345" dur="1" fill="hold">
                                          <p:stCondLst>
                                            <p:cond delay="349"/>
                                          </p:stCondLst>
                                        </p:cTn>
                                        <p:tgtEl>
                                          <p:spTgt spid="46"/>
                                        </p:tgtEl>
                                        <p:attrNameLst>
                                          <p:attrName>style.visibility</p:attrName>
                                        </p:attrNameLst>
                                      </p:cBhvr>
                                      <p:to>
                                        <p:strVal val="hidden"/>
                                      </p:to>
                                    </p:set>
                                  </p:childTnLst>
                                </p:cTn>
                              </p:par>
                              <p:par>
                                <p:cTn id="346" presetID="10" presetClass="exit" presetSubtype="0" fill="hold" nodeType="withEffect">
                                  <p:stCondLst>
                                    <p:cond delay="0"/>
                                  </p:stCondLst>
                                  <p:childTnLst>
                                    <p:animEffect transition="out" filter="fade">
                                      <p:cBhvr>
                                        <p:cTn id="347" dur="350"/>
                                        <p:tgtEl>
                                          <p:spTgt spid="47"/>
                                        </p:tgtEl>
                                      </p:cBhvr>
                                    </p:animEffect>
                                    <p:set>
                                      <p:cBhvr>
                                        <p:cTn id="348" dur="1" fill="hold">
                                          <p:stCondLst>
                                            <p:cond delay="349"/>
                                          </p:stCondLst>
                                        </p:cTn>
                                        <p:tgtEl>
                                          <p:spTgt spid="47"/>
                                        </p:tgtEl>
                                        <p:attrNameLst>
                                          <p:attrName>style.visibility</p:attrName>
                                        </p:attrNameLst>
                                      </p:cBhvr>
                                      <p:to>
                                        <p:strVal val="hidden"/>
                                      </p:to>
                                    </p:set>
                                  </p:childTnLst>
                                </p:cTn>
                              </p:par>
                              <p:par>
                                <p:cTn id="349" presetID="10" presetClass="exit" presetSubtype="0" fill="hold" nodeType="withEffect">
                                  <p:stCondLst>
                                    <p:cond delay="0"/>
                                  </p:stCondLst>
                                  <p:childTnLst>
                                    <p:animEffect transition="out" filter="fade">
                                      <p:cBhvr>
                                        <p:cTn id="350" dur="350"/>
                                        <p:tgtEl>
                                          <p:spTgt spid="48"/>
                                        </p:tgtEl>
                                      </p:cBhvr>
                                    </p:animEffect>
                                    <p:set>
                                      <p:cBhvr>
                                        <p:cTn id="351" dur="1" fill="hold">
                                          <p:stCondLst>
                                            <p:cond delay="349"/>
                                          </p:stCondLst>
                                        </p:cTn>
                                        <p:tgtEl>
                                          <p:spTgt spid="48"/>
                                        </p:tgtEl>
                                        <p:attrNameLst>
                                          <p:attrName>style.visibility</p:attrName>
                                        </p:attrNameLst>
                                      </p:cBhvr>
                                      <p:to>
                                        <p:strVal val="hidden"/>
                                      </p:to>
                                    </p:set>
                                  </p:childTnLst>
                                </p:cTn>
                              </p:par>
                              <p:par>
                                <p:cTn id="352" presetID="10" presetClass="exit" presetSubtype="0" fill="hold" nodeType="withEffect">
                                  <p:stCondLst>
                                    <p:cond delay="0"/>
                                  </p:stCondLst>
                                  <p:childTnLst>
                                    <p:animEffect transition="out" filter="fade">
                                      <p:cBhvr>
                                        <p:cTn id="353" dur="350"/>
                                        <p:tgtEl>
                                          <p:spTgt spid="49"/>
                                        </p:tgtEl>
                                      </p:cBhvr>
                                    </p:animEffect>
                                    <p:set>
                                      <p:cBhvr>
                                        <p:cTn id="354" dur="1" fill="hold">
                                          <p:stCondLst>
                                            <p:cond delay="349"/>
                                          </p:stCondLst>
                                        </p:cTn>
                                        <p:tgtEl>
                                          <p:spTgt spid="49"/>
                                        </p:tgtEl>
                                        <p:attrNameLst>
                                          <p:attrName>style.visibility</p:attrName>
                                        </p:attrNameLst>
                                      </p:cBhvr>
                                      <p:to>
                                        <p:strVal val="hidden"/>
                                      </p:to>
                                    </p:set>
                                  </p:childTnLst>
                                </p:cTn>
                              </p:par>
                              <p:par>
                                <p:cTn id="355" presetID="10" presetClass="exit" presetSubtype="0" grpId="0" fill="hold" nodeType="withEffect">
                                  <p:stCondLst>
                                    <p:cond delay="0"/>
                                  </p:stCondLst>
                                  <p:childTnLst>
                                    <p:animEffect transition="out" filter="fade">
                                      <p:cBhvr>
                                        <p:cTn id="356" dur="350"/>
                                        <p:tgtEl>
                                          <p:spTgt spid="50">
                                            <p:txEl>
                                              <p:pRg st="0" end="0"/>
                                            </p:txEl>
                                          </p:spTgt>
                                        </p:tgtEl>
                                      </p:cBhvr>
                                    </p:animEffect>
                                    <p:set>
                                      <p:cBhvr>
                                        <p:cTn id="357" dur="1" fill="hold">
                                          <p:stCondLst>
                                            <p:cond delay="349"/>
                                          </p:stCondLst>
                                        </p:cTn>
                                        <p:tgtEl>
                                          <p:spTgt spid="50">
                                            <p:txEl>
                                              <p:pRg st="0" end="0"/>
                                            </p:txEl>
                                          </p:spTgt>
                                        </p:tgtEl>
                                        <p:attrNameLst>
                                          <p:attrName>style.visibility</p:attrName>
                                        </p:attrNameLst>
                                      </p:cBhvr>
                                      <p:to>
                                        <p:strVal val="hidden"/>
                                      </p:to>
                                    </p:set>
                                  </p:childTnLst>
                                </p:cTn>
                              </p:par>
                              <p:par>
                                <p:cTn id="358" presetID="10" presetClass="exit" presetSubtype="0" grpId="0" fill="hold" nodeType="withEffect">
                                  <p:stCondLst>
                                    <p:cond delay="0"/>
                                  </p:stCondLst>
                                  <p:childTnLst>
                                    <p:animEffect transition="out" filter="fade">
                                      <p:cBhvr>
                                        <p:cTn id="359" dur="350"/>
                                        <p:tgtEl>
                                          <p:spTgt spid="50">
                                            <p:txEl>
                                              <p:pRg st="1" end="1"/>
                                            </p:txEl>
                                          </p:spTgt>
                                        </p:tgtEl>
                                      </p:cBhvr>
                                    </p:animEffect>
                                    <p:set>
                                      <p:cBhvr>
                                        <p:cTn id="360" dur="1" fill="hold">
                                          <p:stCondLst>
                                            <p:cond delay="349"/>
                                          </p:stCondLst>
                                        </p:cTn>
                                        <p:tgtEl>
                                          <p:spTgt spid="50">
                                            <p:txEl>
                                              <p:pRg st="1" end="1"/>
                                            </p:txEl>
                                          </p:spTgt>
                                        </p:tgtEl>
                                        <p:attrNameLst>
                                          <p:attrName>style.visibility</p:attrName>
                                        </p:attrNameLst>
                                      </p:cBhvr>
                                      <p:to>
                                        <p:strVal val="hidden"/>
                                      </p:to>
                                    </p:set>
                                  </p:childTnLst>
                                </p:cTn>
                              </p:par>
                              <p:par>
                                <p:cTn id="361" presetID="10" presetClass="exit" presetSubtype="0" fill="hold" nodeType="withEffect">
                                  <p:stCondLst>
                                    <p:cond delay="0"/>
                                  </p:stCondLst>
                                  <p:childTnLst>
                                    <p:animEffect transition="out" filter="fade">
                                      <p:cBhvr>
                                        <p:cTn id="362" dur="350"/>
                                        <p:tgtEl>
                                          <p:spTgt spid="51"/>
                                        </p:tgtEl>
                                      </p:cBhvr>
                                    </p:animEffect>
                                    <p:set>
                                      <p:cBhvr>
                                        <p:cTn id="363" dur="1" fill="hold">
                                          <p:stCondLst>
                                            <p:cond delay="349"/>
                                          </p:stCondLst>
                                        </p:cTn>
                                        <p:tgtEl>
                                          <p:spTgt spid="51"/>
                                        </p:tgtEl>
                                        <p:attrNameLst>
                                          <p:attrName>style.visibility</p:attrName>
                                        </p:attrNameLst>
                                      </p:cBhvr>
                                      <p:to>
                                        <p:strVal val="hidden"/>
                                      </p:to>
                                    </p:set>
                                  </p:childTnLst>
                                </p:cTn>
                              </p:par>
                              <p:par>
                                <p:cTn id="364" presetID="0" presetClass="path" presetSubtype="0" accel="50000" decel="50000" fill="hold" nodeType="withEffect">
                                  <p:stCondLst>
                                    <p:cond delay="0"/>
                                  </p:stCondLst>
                                  <p:childTnLst>
                                    <p:animMotion origin="layout" path="M 0 0 L 0.71530 0.28448 E" pathEditMode="relative" rAng="0" ptsTypes="AA">
                                      <p:cBhvr>
                                        <p:cTn id="365" dur="750" fill="hold"/>
                                        <p:tgtEl>
                                          <p:spTgt spid="45"/>
                                        </p:tgtEl>
                                        <p:attrNameLst>
                                          <p:attrName>ppt_x</p:attrName>
                                          <p:attrName>ppt_y</p:attrName>
                                        </p:attrNameLst>
                                      </p:cBhvr>
                                      <p:rCtr x="35764" y="14224"/>
                                    </p:animMotion>
                                  </p:childTnLst>
                                </p:cTn>
                              </p:par>
                              <p:par>
                                <p:cTn id="366" presetID="6" presetClass="emph" presetSubtype="0" accel="50000" decel="50000" fill="hold" nodeType="withEffect">
                                  <p:stCondLst>
                                    <p:cond delay="0"/>
                                  </p:stCondLst>
                                  <p:childTnLst>
                                    <p:animScale>
                                      <p:cBhvr>
                                        <p:cTn id="367" dur="750" fill="hold"/>
                                        <p:tgtEl>
                                          <p:spTgt spid="45"/>
                                        </p:tgtEl>
                                      </p:cBhvr>
                                      <p:by x="46553" y="46553"/>
                                    </p:animScale>
                                  </p:childTnLst>
                                </p:cTn>
                              </p:par>
                              <p:par>
                                <p:cTn id="368" presetID="10" presetClass="entr" presetSubtype="0" fill="hold" nodeType="withEffect">
                                  <p:stCondLst>
                                    <p:cond delay="450"/>
                                  </p:stCondLst>
                                  <p:childTnLst>
                                    <p:set>
                                      <p:cBhvr>
                                        <p:cTn id="369" dur="1" fill="hold">
                                          <p:stCondLst>
                                            <p:cond delay="0"/>
                                          </p:stCondLst>
                                        </p:cTn>
                                        <p:tgtEl>
                                          <p:spTgt spid="52"/>
                                        </p:tgtEl>
                                        <p:attrNameLst>
                                          <p:attrName>style.visibility</p:attrName>
                                        </p:attrNameLst>
                                      </p:cBhvr>
                                      <p:to>
                                        <p:strVal val="visible"/>
                                      </p:to>
                                    </p:set>
                                    <p:animEffect transition="in" filter="fade">
                                      <p:cBhvr>
                                        <p:cTn id="370" dur="450"/>
                                        <p:tgtEl>
                                          <p:spTgt spid="52"/>
                                        </p:tgtEl>
                                      </p:cBhvr>
                                    </p:animEffect>
                                  </p:childTnLst>
                                </p:cTn>
                              </p:par>
                              <p:par>
                                <p:cTn id="371" presetID="53" presetClass="entr" presetSubtype="16" fill="hold" nodeType="withEffect">
                                  <p:stCondLst>
                                    <p:cond delay="520"/>
                                  </p:stCondLst>
                                  <p:childTnLst>
                                    <p:set>
                                      <p:cBhvr>
                                        <p:cTn id="372" dur="1" fill="hold">
                                          <p:stCondLst>
                                            <p:cond delay="0"/>
                                          </p:stCondLst>
                                        </p:cTn>
                                        <p:tgtEl>
                                          <p:spTgt spid="53"/>
                                        </p:tgtEl>
                                        <p:attrNameLst>
                                          <p:attrName>style.visibility</p:attrName>
                                        </p:attrNameLst>
                                      </p:cBhvr>
                                      <p:to>
                                        <p:strVal val="visible"/>
                                      </p:to>
                                    </p:set>
                                    <p:anim calcmode="lin" valueType="num">
                                      <p:cBhvr>
                                        <p:cTn id="373" dur="600" fill="hold"/>
                                        <p:tgtEl>
                                          <p:spTgt spid="53"/>
                                        </p:tgtEl>
                                        <p:attrNameLst>
                                          <p:attrName>ppt_w</p:attrName>
                                        </p:attrNameLst>
                                      </p:cBhvr>
                                      <p:tavLst>
                                        <p:tav tm="0">
                                          <p:val>
                                            <p:fltVal val="0"/>
                                          </p:val>
                                        </p:tav>
                                        <p:tav tm="100000">
                                          <p:val>
                                            <p:strVal val="#ppt_w"/>
                                          </p:val>
                                        </p:tav>
                                      </p:tavLst>
                                    </p:anim>
                                    <p:anim calcmode="lin" valueType="num">
                                      <p:cBhvr>
                                        <p:cTn id="374" dur="600" fill="hold"/>
                                        <p:tgtEl>
                                          <p:spTgt spid="53"/>
                                        </p:tgtEl>
                                        <p:attrNameLst>
                                          <p:attrName>ppt_h</p:attrName>
                                        </p:attrNameLst>
                                      </p:cBhvr>
                                      <p:tavLst>
                                        <p:tav tm="0">
                                          <p:val>
                                            <p:fltVal val="0"/>
                                          </p:val>
                                        </p:tav>
                                        <p:tav tm="100000">
                                          <p:val>
                                            <p:strVal val="#ppt_h"/>
                                          </p:val>
                                        </p:tav>
                                      </p:tavLst>
                                    </p:anim>
                                    <p:animEffect transition="in" filter="fade">
                                      <p:cBhvr>
                                        <p:cTn id="375" dur="600"/>
                                        <p:tgtEl>
                                          <p:spTgt spid="53"/>
                                        </p:tgtEl>
                                      </p:cBhvr>
                                    </p:animEffect>
                                  </p:childTnLst>
                                </p:cTn>
                              </p:par>
                              <p:par>
                                <p:cTn id="376" presetID="10" presetClass="entr" presetSubtype="0" grpId="0" fill="hold" nodeType="withEffect">
                                  <p:stCondLst>
                                    <p:cond delay="590"/>
                                  </p:stCondLst>
                                  <p:childTnLst>
                                    <p:set>
                                      <p:cBhvr>
                                        <p:cTn id="377" dur="1" fill="hold">
                                          <p:stCondLst>
                                            <p:cond delay="0"/>
                                          </p:stCondLst>
                                        </p:cTn>
                                        <p:tgtEl>
                                          <p:spTgt spid="54">
                                            <p:txEl>
                                              <p:pRg st="0" end="0"/>
                                            </p:txEl>
                                          </p:spTgt>
                                        </p:tgtEl>
                                        <p:attrNameLst>
                                          <p:attrName>style.visibility</p:attrName>
                                        </p:attrNameLst>
                                      </p:cBhvr>
                                      <p:to>
                                        <p:strVal val="visible"/>
                                      </p:to>
                                    </p:set>
                                    <p:animEffect transition="in" filter="fade">
                                      <p:cBhvr>
                                        <p:cTn id="378" dur="450"/>
                                        <p:tgtEl>
                                          <p:spTgt spid="54">
                                            <p:txEl>
                                              <p:pRg st="0" end="0"/>
                                            </p:txEl>
                                          </p:spTgt>
                                        </p:tgtEl>
                                      </p:cBhvr>
                                    </p:animEffect>
                                  </p:childTnLst>
                                </p:cTn>
                              </p:par>
                              <p:par>
                                <p:cTn id="379" presetID="10" presetClass="entr" presetSubtype="0" grpId="0" fill="hold" nodeType="withEffect">
                                  <p:stCondLst>
                                    <p:cond delay="970"/>
                                  </p:stCondLst>
                                  <p:childTnLst>
                                    <p:set>
                                      <p:cBhvr>
                                        <p:cTn id="380" dur="1" fill="hold">
                                          <p:stCondLst>
                                            <p:cond delay="0"/>
                                          </p:stCondLst>
                                        </p:cTn>
                                        <p:tgtEl>
                                          <p:spTgt spid="54">
                                            <p:txEl>
                                              <p:pRg st="1" end="1"/>
                                            </p:txEl>
                                          </p:spTgt>
                                        </p:tgtEl>
                                        <p:attrNameLst>
                                          <p:attrName>style.visibility</p:attrName>
                                        </p:attrNameLst>
                                      </p:cBhvr>
                                      <p:to>
                                        <p:strVal val="visible"/>
                                      </p:to>
                                    </p:set>
                                    <p:animEffect transition="in" filter="fade">
                                      <p:cBhvr>
                                        <p:cTn id="381" dur="450"/>
                                        <p:tgtEl>
                                          <p:spTgt spid="54">
                                            <p:txEl>
                                              <p:pRg st="1" end="1"/>
                                            </p:txEl>
                                          </p:spTgt>
                                        </p:tgtEl>
                                      </p:cBhvr>
                                    </p:animEffect>
                                  </p:childTnLst>
                                </p:cTn>
                              </p:par>
                              <p:par>
                                <p:cTn id="382" presetID="10" presetClass="entr" presetSubtype="0" grpId="0" fill="hold" nodeType="withEffect">
                                  <p:stCondLst>
                                    <p:cond delay="1350"/>
                                  </p:stCondLst>
                                  <p:childTnLst>
                                    <p:set>
                                      <p:cBhvr>
                                        <p:cTn id="383" dur="1" fill="hold">
                                          <p:stCondLst>
                                            <p:cond delay="0"/>
                                          </p:stCondLst>
                                        </p:cTn>
                                        <p:tgtEl>
                                          <p:spTgt spid="54">
                                            <p:txEl>
                                              <p:pRg st="2" end="2"/>
                                            </p:txEl>
                                          </p:spTgt>
                                        </p:tgtEl>
                                        <p:attrNameLst>
                                          <p:attrName>style.visibility</p:attrName>
                                        </p:attrNameLst>
                                      </p:cBhvr>
                                      <p:to>
                                        <p:strVal val="visible"/>
                                      </p:to>
                                    </p:set>
                                    <p:animEffect transition="in" filter="fade">
                                      <p:cBhvr>
                                        <p:cTn id="384" dur="450"/>
                                        <p:tgtEl>
                                          <p:spTgt spid="54">
                                            <p:txEl>
                                              <p:pRg st="2" end="2"/>
                                            </p:txEl>
                                          </p:spTgt>
                                        </p:tgtEl>
                                      </p:cBhvr>
                                    </p:animEffect>
                                  </p:childTnLst>
                                </p:cTn>
                              </p:par>
                              <p:par>
                                <p:cTn id="385" presetID="10" presetClass="entr" presetSubtype="0" fill="hold" nodeType="withEffect">
                                  <p:stCondLst>
                                    <p:cond delay="580"/>
                                  </p:stCondLst>
                                  <p:childTnLst>
                                    <p:set>
                                      <p:cBhvr>
                                        <p:cTn id="386" dur="1" fill="hold">
                                          <p:stCondLst>
                                            <p:cond delay="0"/>
                                          </p:stCondLst>
                                        </p:cTn>
                                        <p:tgtEl>
                                          <p:spTgt spid="55"/>
                                        </p:tgtEl>
                                        <p:attrNameLst>
                                          <p:attrName>style.visibility</p:attrName>
                                        </p:attrNameLst>
                                      </p:cBhvr>
                                      <p:to>
                                        <p:strVal val="visible"/>
                                      </p:to>
                                    </p:set>
                                    <p:animEffect transition="in" filter="fade">
                                      <p:cBhvr>
                                        <p:cTn id="387" dur="450"/>
                                        <p:tgtEl>
                                          <p:spTgt spid="55"/>
                                        </p:tgtEl>
                                      </p:cBhvr>
                                    </p:animEffect>
                                  </p:childTnLst>
                                </p:cTn>
                              </p:par>
                            </p:childTnLst>
                          </p:cTn>
                        </p:par>
                      </p:childTnLst>
                    </p:cTn>
                  </p:par>
                  <p:par>
                    <p:cTn id="388" fill="hold">
                      <p:stCondLst>
                        <p:cond delay="indefinite"/>
                      </p:stCondLst>
                      <p:childTnLst>
                        <p:par>
                          <p:cTn id="389" fill="hold">
                            <p:stCondLst>
                              <p:cond delay="0"/>
                            </p:stCondLst>
                            <p:childTnLst>
                              <p:par>
                                <p:cTn id="390" presetID="10" presetClass="exit" presetSubtype="0" fill="hold" nodeType="clickEffect">
                                  <p:stCondLst>
                                    <p:cond delay="0"/>
                                  </p:stCondLst>
                                  <p:childTnLst>
                                    <p:animEffect transition="out" filter="fade">
                                      <p:cBhvr>
                                        <p:cTn id="391" dur="350"/>
                                        <p:tgtEl>
                                          <p:spTgt spid="30"/>
                                        </p:tgtEl>
                                      </p:cBhvr>
                                    </p:animEffect>
                                    <p:set>
                                      <p:cBhvr>
                                        <p:cTn id="392" dur="1" fill="hold">
                                          <p:stCondLst>
                                            <p:cond delay="349"/>
                                          </p:stCondLst>
                                        </p:cTn>
                                        <p:tgtEl>
                                          <p:spTgt spid="30"/>
                                        </p:tgtEl>
                                        <p:attrNameLst>
                                          <p:attrName>style.visibility</p:attrName>
                                        </p:attrNameLst>
                                      </p:cBhvr>
                                      <p:to>
                                        <p:strVal val="hidden"/>
                                      </p:to>
                                    </p:set>
                                  </p:childTnLst>
                                </p:cTn>
                              </p:par>
                              <p:par>
                                <p:cTn id="393" presetID="10" presetClass="exit" presetSubtype="0" fill="hold" nodeType="withEffect">
                                  <p:stCondLst>
                                    <p:cond delay="0"/>
                                  </p:stCondLst>
                                  <p:childTnLst>
                                    <p:animEffect transition="out" filter="fade">
                                      <p:cBhvr>
                                        <p:cTn id="394" dur="350"/>
                                        <p:tgtEl>
                                          <p:spTgt spid="52"/>
                                        </p:tgtEl>
                                      </p:cBhvr>
                                    </p:animEffect>
                                    <p:set>
                                      <p:cBhvr>
                                        <p:cTn id="395" dur="1" fill="hold">
                                          <p:stCondLst>
                                            <p:cond delay="349"/>
                                          </p:stCondLst>
                                        </p:cTn>
                                        <p:tgtEl>
                                          <p:spTgt spid="52"/>
                                        </p:tgtEl>
                                        <p:attrNameLst>
                                          <p:attrName>style.visibility</p:attrName>
                                        </p:attrNameLst>
                                      </p:cBhvr>
                                      <p:to>
                                        <p:strVal val="hidden"/>
                                      </p:to>
                                    </p:set>
                                  </p:childTnLst>
                                </p:cTn>
                              </p:par>
                              <p:par>
                                <p:cTn id="396" presetID="10" presetClass="exit" presetSubtype="0" grpId="0" fill="hold" nodeType="withEffect">
                                  <p:stCondLst>
                                    <p:cond delay="0"/>
                                  </p:stCondLst>
                                  <p:childTnLst>
                                    <p:animEffect transition="out" filter="fade">
                                      <p:cBhvr>
                                        <p:cTn id="397" dur="350"/>
                                        <p:tgtEl>
                                          <p:spTgt spid="54">
                                            <p:txEl>
                                              <p:pRg st="0" end="0"/>
                                            </p:txEl>
                                          </p:spTgt>
                                        </p:tgtEl>
                                      </p:cBhvr>
                                    </p:animEffect>
                                    <p:set>
                                      <p:cBhvr>
                                        <p:cTn id="398" dur="1" fill="hold">
                                          <p:stCondLst>
                                            <p:cond delay="349"/>
                                          </p:stCondLst>
                                        </p:cTn>
                                        <p:tgtEl>
                                          <p:spTgt spid="54">
                                            <p:txEl>
                                              <p:pRg st="0" end="0"/>
                                            </p:txEl>
                                          </p:spTgt>
                                        </p:tgtEl>
                                        <p:attrNameLst>
                                          <p:attrName>style.visibility</p:attrName>
                                        </p:attrNameLst>
                                      </p:cBhvr>
                                      <p:to>
                                        <p:strVal val="hidden"/>
                                      </p:to>
                                    </p:set>
                                  </p:childTnLst>
                                </p:cTn>
                              </p:par>
                              <p:par>
                                <p:cTn id="399" presetID="10" presetClass="exit" presetSubtype="0" grpId="0" fill="hold" nodeType="withEffect">
                                  <p:stCondLst>
                                    <p:cond delay="0"/>
                                  </p:stCondLst>
                                  <p:childTnLst>
                                    <p:animEffect transition="out" filter="fade">
                                      <p:cBhvr>
                                        <p:cTn id="400" dur="350"/>
                                        <p:tgtEl>
                                          <p:spTgt spid="54">
                                            <p:txEl>
                                              <p:pRg st="1" end="1"/>
                                            </p:txEl>
                                          </p:spTgt>
                                        </p:tgtEl>
                                      </p:cBhvr>
                                    </p:animEffect>
                                    <p:set>
                                      <p:cBhvr>
                                        <p:cTn id="401" dur="1" fill="hold">
                                          <p:stCondLst>
                                            <p:cond delay="349"/>
                                          </p:stCondLst>
                                        </p:cTn>
                                        <p:tgtEl>
                                          <p:spTgt spid="54">
                                            <p:txEl>
                                              <p:pRg st="1" end="1"/>
                                            </p:txEl>
                                          </p:spTgt>
                                        </p:tgtEl>
                                        <p:attrNameLst>
                                          <p:attrName>style.visibility</p:attrName>
                                        </p:attrNameLst>
                                      </p:cBhvr>
                                      <p:to>
                                        <p:strVal val="hidden"/>
                                      </p:to>
                                    </p:set>
                                  </p:childTnLst>
                                </p:cTn>
                              </p:par>
                              <p:par>
                                <p:cTn id="402" presetID="10" presetClass="exit" presetSubtype="0" grpId="0" fill="hold" nodeType="withEffect">
                                  <p:stCondLst>
                                    <p:cond delay="0"/>
                                  </p:stCondLst>
                                  <p:childTnLst>
                                    <p:animEffect transition="out" filter="fade">
                                      <p:cBhvr>
                                        <p:cTn id="403" dur="350"/>
                                        <p:tgtEl>
                                          <p:spTgt spid="54">
                                            <p:txEl>
                                              <p:pRg st="2" end="2"/>
                                            </p:txEl>
                                          </p:spTgt>
                                        </p:tgtEl>
                                      </p:cBhvr>
                                    </p:animEffect>
                                    <p:set>
                                      <p:cBhvr>
                                        <p:cTn id="404" dur="1" fill="hold">
                                          <p:stCondLst>
                                            <p:cond delay="349"/>
                                          </p:stCondLst>
                                        </p:cTn>
                                        <p:tgtEl>
                                          <p:spTgt spid="54">
                                            <p:txEl>
                                              <p:pRg st="2" end="2"/>
                                            </p:txEl>
                                          </p:spTgt>
                                        </p:tgtEl>
                                        <p:attrNameLst>
                                          <p:attrName>style.visibility</p:attrName>
                                        </p:attrNameLst>
                                      </p:cBhvr>
                                      <p:to>
                                        <p:strVal val="hidden"/>
                                      </p:to>
                                    </p:set>
                                  </p:childTnLst>
                                </p:cTn>
                              </p:par>
                              <p:par>
                                <p:cTn id="405" presetID="10" presetClass="exit" presetSubtype="0" fill="hold" nodeType="withEffect">
                                  <p:stCondLst>
                                    <p:cond delay="0"/>
                                  </p:stCondLst>
                                  <p:childTnLst>
                                    <p:animEffect transition="out" filter="fade">
                                      <p:cBhvr>
                                        <p:cTn id="406" dur="350"/>
                                        <p:tgtEl>
                                          <p:spTgt spid="55"/>
                                        </p:tgtEl>
                                      </p:cBhvr>
                                    </p:animEffect>
                                    <p:set>
                                      <p:cBhvr>
                                        <p:cTn id="407" dur="1" fill="hold">
                                          <p:stCondLst>
                                            <p:cond delay="349"/>
                                          </p:stCondLst>
                                        </p:cTn>
                                        <p:tgtEl>
                                          <p:spTgt spid="55"/>
                                        </p:tgtEl>
                                        <p:attrNameLst>
                                          <p:attrName>style.visibility</p:attrName>
                                        </p:attrNameLst>
                                      </p:cBhvr>
                                      <p:to>
                                        <p:strVal val="hidden"/>
                                      </p:to>
                                    </p:set>
                                  </p:childTnLst>
                                </p:cTn>
                              </p:par>
                              <p:par>
                                <p:cTn id="408" presetID="0" presetClass="path" presetSubtype="0" accel="50000" decel="50000" fill="hold" nodeType="withEffect">
                                  <p:stCondLst>
                                    <p:cond delay="0"/>
                                  </p:stCondLst>
                                  <p:childTnLst>
                                    <p:animMotion origin="layout" path="M 0 0 L 0.00000 -0.19556 E" pathEditMode="relative" rAng="0" ptsTypes="AA">
                                      <p:cBhvr>
                                        <p:cTn id="409" dur="750" fill="hold"/>
                                        <p:tgtEl>
                                          <p:spTgt spid="35"/>
                                        </p:tgtEl>
                                        <p:attrNameLst>
                                          <p:attrName>ppt_x</p:attrName>
                                          <p:attrName>ppt_y</p:attrName>
                                        </p:attrNameLst>
                                      </p:cBhvr>
                                      <p:rCtr x="0" y="-9777"/>
                                    </p:animMotion>
                                  </p:childTnLst>
                                </p:cTn>
                              </p:par>
                              <p:par>
                                <p:cTn id="410" presetID="6" presetClass="emph" presetSubtype="0" accel="50000" decel="50000" fill="hold" nodeType="withEffect">
                                  <p:stCondLst>
                                    <p:cond delay="0"/>
                                  </p:stCondLst>
                                  <p:childTnLst>
                                    <p:animScale>
                                      <p:cBhvr>
                                        <p:cTn id="411" dur="750" fill="hold"/>
                                        <p:tgtEl>
                                          <p:spTgt spid="35"/>
                                        </p:tgtEl>
                                      </p:cBhvr>
                                      <p:by x="100000" y="100000"/>
                                    </p:animScale>
                                  </p:childTnLst>
                                </p:cTn>
                              </p:par>
                              <p:par>
                                <p:cTn id="412" presetID="0" presetClass="path" presetSubtype="0" accel="50000" decel="50000" fill="hold" nodeType="withEffect">
                                  <p:stCondLst>
                                    <p:cond delay="0"/>
                                  </p:stCondLst>
                                  <p:childTnLst>
                                    <p:animMotion origin="layout" path="M 0 0 L 0.00000 -0.19556 E" pathEditMode="relative" rAng="0" ptsTypes="AA">
                                      <p:cBhvr>
                                        <p:cTn id="413" dur="750" fill="hold"/>
                                        <p:tgtEl>
                                          <p:spTgt spid="45"/>
                                        </p:tgtEl>
                                        <p:attrNameLst>
                                          <p:attrName>ppt_x</p:attrName>
                                          <p:attrName>ppt_y</p:attrName>
                                        </p:attrNameLst>
                                      </p:cBhvr>
                                      <p:rCtr x="0" y="-9777"/>
                                    </p:animMotion>
                                  </p:childTnLst>
                                </p:cTn>
                              </p:par>
                              <p:par>
                                <p:cTn id="414" presetID="6" presetClass="emph" presetSubtype="0" accel="50000" decel="50000" fill="hold" nodeType="withEffect">
                                  <p:stCondLst>
                                    <p:cond delay="0"/>
                                  </p:stCondLst>
                                  <p:childTnLst>
                                    <p:animScale>
                                      <p:cBhvr>
                                        <p:cTn id="415" dur="750" fill="hold"/>
                                        <p:tgtEl>
                                          <p:spTgt spid="45"/>
                                        </p:tgtEl>
                                      </p:cBhvr>
                                      <p:by x="100000" y="100000"/>
                                    </p:animScale>
                                  </p:childTnLst>
                                </p:cTn>
                              </p:par>
                              <p:par>
                                <p:cTn id="416" presetID="0" presetClass="path" presetSubtype="0" accel="50000" decel="50000" fill="hold" nodeType="withEffect">
                                  <p:stCondLst>
                                    <p:cond delay="0"/>
                                  </p:stCondLst>
                                  <p:childTnLst>
                                    <p:animMotion origin="layout" path="M 0 0 L 0.64878 0.17731 E" pathEditMode="relative" rAng="0" ptsTypes="AA">
                                      <p:cBhvr>
                                        <p:cTn id="417" dur="750" fill="hold"/>
                                        <p:tgtEl>
                                          <p:spTgt spid="53"/>
                                        </p:tgtEl>
                                        <p:attrNameLst>
                                          <p:attrName>ppt_x</p:attrName>
                                          <p:attrName>ppt_y</p:attrName>
                                        </p:attrNameLst>
                                      </p:cBhvr>
                                      <p:rCtr x="32438" y="8865"/>
                                    </p:animMotion>
                                  </p:childTnLst>
                                </p:cTn>
                              </p:par>
                              <p:par>
                                <p:cTn id="418" presetID="6" presetClass="emph" presetSubtype="0" accel="50000" decel="50000" fill="hold" nodeType="withEffect">
                                  <p:stCondLst>
                                    <p:cond delay="0"/>
                                  </p:stCondLst>
                                  <p:childTnLst>
                                    <p:animScale>
                                      <p:cBhvr>
                                        <p:cTn id="419" dur="750" fill="hold"/>
                                        <p:tgtEl>
                                          <p:spTgt spid="53"/>
                                        </p:tgtEl>
                                      </p:cBhvr>
                                      <p:by x="29452" y="29452"/>
                                    </p:animScale>
                                  </p:childTnLst>
                                </p:cTn>
                              </p:par>
                              <p:par>
                                <p:cTn id="420" presetID="10" presetClass="entr" presetSubtype="0" fill="hold" nodeType="withEffect">
                                  <p:stCondLst>
                                    <p:cond delay="450"/>
                                  </p:stCondLst>
                                  <p:childTnLst>
                                    <p:set>
                                      <p:cBhvr>
                                        <p:cTn id="421" dur="1" fill="hold">
                                          <p:stCondLst>
                                            <p:cond delay="0"/>
                                          </p:stCondLst>
                                        </p:cTn>
                                        <p:tgtEl>
                                          <p:spTgt spid="56"/>
                                        </p:tgtEl>
                                        <p:attrNameLst>
                                          <p:attrName>style.visibility</p:attrName>
                                        </p:attrNameLst>
                                      </p:cBhvr>
                                      <p:to>
                                        <p:strVal val="visible"/>
                                      </p:to>
                                    </p:set>
                                    <p:animEffect transition="in" filter="fade">
                                      <p:cBhvr>
                                        <p:cTn id="422" dur="450"/>
                                        <p:tgtEl>
                                          <p:spTgt spid="56"/>
                                        </p:tgtEl>
                                      </p:cBhvr>
                                    </p:animEffect>
                                  </p:childTnLst>
                                </p:cTn>
                              </p:par>
                              <p:par>
                                <p:cTn id="423" presetID="53" presetClass="entr" presetSubtype="16" fill="hold" nodeType="withEffect">
                                  <p:stCondLst>
                                    <p:cond delay="520"/>
                                  </p:stCondLst>
                                  <p:childTnLst>
                                    <p:set>
                                      <p:cBhvr>
                                        <p:cTn id="424" dur="1" fill="hold">
                                          <p:stCondLst>
                                            <p:cond delay="0"/>
                                          </p:stCondLst>
                                        </p:cTn>
                                        <p:tgtEl>
                                          <p:spTgt spid="57"/>
                                        </p:tgtEl>
                                        <p:attrNameLst>
                                          <p:attrName>style.visibility</p:attrName>
                                        </p:attrNameLst>
                                      </p:cBhvr>
                                      <p:to>
                                        <p:strVal val="visible"/>
                                      </p:to>
                                    </p:set>
                                    <p:anim calcmode="lin" valueType="num">
                                      <p:cBhvr>
                                        <p:cTn id="425" dur="600" fill="hold"/>
                                        <p:tgtEl>
                                          <p:spTgt spid="57"/>
                                        </p:tgtEl>
                                        <p:attrNameLst>
                                          <p:attrName>ppt_w</p:attrName>
                                        </p:attrNameLst>
                                      </p:cBhvr>
                                      <p:tavLst>
                                        <p:tav tm="0">
                                          <p:val>
                                            <p:fltVal val="0"/>
                                          </p:val>
                                        </p:tav>
                                        <p:tav tm="100000">
                                          <p:val>
                                            <p:strVal val="#ppt_w"/>
                                          </p:val>
                                        </p:tav>
                                      </p:tavLst>
                                    </p:anim>
                                    <p:anim calcmode="lin" valueType="num">
                                      <p:cBhvr>
                                        <p:cTn id="426" dur="600" fill="hold"/>
                                        <p:tgtEl>
                                          <p:spTgt spid="57"/>
                                        </p:tgtEl>
                                        <p:attrNameLst>
                                          <p:attrName>ppt_h</p:attrName>
                                        </p:attrNameLst>
                                      </p:cBhvr>
                                      <p:tavLst>
                                        <p:tav tm="0">
                                          <p:val>
                                            <p:fltVal val="0"/>
                                          </p:val>
                                        </p:tav>
                                        <p:tav tm="100000">
                                          <p:val>
                                            <p:strVal val="#ppt_h"/>
                                          </p:val>
                                        </p:tav>
                                      </p:tavLst>
                                    </p:anim>
                                    <p:animEffect transition="in" filter="fade">
                                      <p:cBhvr>
                                        <p:cTn id="427" dur="600"/>
                                        <p:tgtEl>
                                          <p:spTgt spid="57"/>
                                        </p:tgtEl>
                                      </p:cBhvr>
                                    </p:animEffect>
                                  </p:childTnLst>
                                </p:cTn>
                              </p:par>
                              <p:par>
                                <p:cTn id="428" presetID="10" presetClass="entr" presetSubtype="0" fill="hold" nodeType="withEffect">
                                  <p:stCondLst>
                                    <p:cond delay="580"/>
                                  </p:stCondLst>
                                  <p:childTnLst>
                                    <p:set>
                                      <p:cBhvr>
                                        <p:cTn id="429" dur="1" fill="hold">
                                          <p:stCondLst>
                                            <p:cond delay="0"/>
                                          </p:stCondLst>
                                        </p:cTn>
                                        <p:tgtEl>
                                          <p:spTgt spid="58"/>
                                        </p:tgtEl>
                                        <p:attrNameLst>
                                          <p:attrName>style.visibility</p:attrName>
                                        </p:attrNameLst>
                                      </p:cBhvr>
                                      <p:to>
                                        <p:strVal val="visible"/>
                                      </p:to>
                                    </p:set>
                                    <p:animEffect transition="in" filter="fade">
                                      <p:cBhvr>
                                        <p:cTn id="430" dur="4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9" grpId="0" build="p"/>
      <p:bldP spid="13" grpId="0" build="p"/>
      <p:bldP spid="27" grpId="0" build="p"/>
      <p:bldP spid="31" grpId="0" build="p"/>
      <p:bldP spid="50" grpId="0" build="p"/>
      <p:bldP spid="5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ruta PGA–ADC se midió y la calibración baja el offset residual</a:t>
            </a:r>
            <a:endParaRPr lang="en-US" sz="2200" dirty="0"/>
          </a:p>
        </p:txBody>
      </p:sp>
      <p:sp>
        <p:nvSpPr>
          <p:cNvPr id="3" name="Obj [o56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ruta PGA–ADC se midió con barridos y el geófono se tomó con su modelo nominal</a:t>
            </a:r>
            <a:endParaRPr lang="en-US" sz="1400" dirty="0"/>
          </a:p>
        </p:txBody>
      </p:sp>
      <p:pic>
        <p:nvPicPr>
          <p:cNvPr id="4" name="Obj [o569]" descr="Respuesta PGA–ADC medida: magnitud, fase y coherencia, junto al modelo, sus tolerancias y el rango del potenciómetro">    </p:cNvPr>
          <p:cNvPicPr>
            <a:picLocks noChangeAspect="1"/>
          </p:cNvPicPr>
          <p:nvPr/>
        </p:nvPicPr>
        <p:blipFill>
          <a:blip r:embed="rId1"/>
          <a:stretch>
            <a:fillRect/>
          </a:stretch>
        </p:blipFill>
        <p:spPr>
          <a:xfrm>
            <a:off x="886005" y="1601523"/>
            <a:ext cx="3525734" cy="2765925"/>
          </a:xfrm>
          <a:prstGeom prst="rect">
            <a:avLst/>
          </a:prstGeom>
        </p:spPr>
      </p:pic>
      <p:sp>
        <p:nvSpPr>
          <p:cNvPr id="5" name="Obj [o570]"/>
          <p:cNvSpPr txBox="1"/>
          <p:nvPr/>
        </p:nvSpPr>
        <p:spPr>
          <a:xfrm>
            <a:off x="4572000" y="1641589"/>
            <a:ext cx="3605864" cy="2804561"/>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260" dirty="0"/>
          </a:p>
        </p:txBody>
      </p:sp>
      <p:sp>
        <p:nvSpPr>
          <p:cNvPr id="6" name="Obj [o57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4.5, fig. 9; figura propia; Sensor Nederland B.V. (2006).</a:t>
            </a:r>
            <a:endParaRPr lang="en-US" sz="800" dirty="0"/>
          </a:p>
        </p:txBody>
      </p:sp>
      <p:sp>
        <p:nvSpPr>
          <p:cNvPr id="7" name="Obj [o57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offset se acumula en la cadena y recorta la señal; no se puede filtrar en continua</a:t>
            </a:r>
            <a:endParaRPr lang="en-US" sz="1400" dirty="0"/>
          </a:p>
        </p:txBody>
      </p:sp>
      <p:pic>
        <p:nvPicPr>
          <p:cNvPr id="8" name="Obj [o573]" descr="Ilustración: salida de una etapa con offset, recortada en el límite de alimentación, y la misma salida con ajuste previo">    </p:cNvPr>
          <p:cNvPicPr>
            <a:picLocks noChangeAspect="1"/>
          </p:cNvPicPr>
          <p:nvPr/>
        </p:nvPicPr>
        <p:blipFill>
          <a:blip r:embed="rId2"/>
          <a:stretch>
            <a:fillRect/>
          </a:stretch>
        </p:blipFill>
        <p:spPr>
          <a:xfrm>
            <a:off x="974035" y="1519345"/>
            <a:ext cx="5474473" cy="1824824"/>
          </a:xfrm>
          <a:prstGeom prst="rect">
            <a:avLst/>
          </a:prstGeom>
        </p:spPr>
      </p:pic>
      <p:sp>
        <p:nvSpPr>
          <p:cNvPr id="9" name="Obj [o574]"/>
          <p:cNvSpPr txBox="1"/>
          <p:nvPr/>
        </p:nvSpPr>
        <p:spPr>
          <a:xfrm>
            <a:off x="441794" y="3382187"/>
            <a:ext cx="6843091" cy="988447"/>
          </a:xfrm>
          <a:prstGeom prst="rect">
            <a:avLst/>
          </a:prstGeom>
          <a:noFill/>
          <a:ln/>
        </p:spPr>
        <p:txBody>
          <a:bodyPr wrap="square" lIns="0" tIns="0" rIns="0" bIns="0" rtlCol="0" anchor="t"/>
          <a:lstStyle/>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035" dirty="0"/>
          </a:p>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035" dirty="0"/>
          </a:p>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035" dirty="0"/>
          </a:p>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035" dirty="0"/>
          </a:p>
        </p:txBody>
      </p:sp>
      <p:sp>
        <p:nvSpPr>
          <p:cNvPr id="10" name="Obj [o57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Ilustración propia (esquemática); 21,8 %: Álvarez, González y Vargas, DA-AFE (URUCON); resumen firmado, sec. 4.4.</a:t>
            </a:r>
            <a:endParaRPr lang="en-US" sz="800" dirty="0"/>
          </a:p>
        </p:txBody>
      </p:sp>
      <p:sp>
        <p:nvSpPr>
          <p:cNvPr id="11" name="Obj [o57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continua de cada etapa depende de las anteriores, por eso el ajuste se hace en orden</a:t>
            </a:r>
            <a:endParaRPr lang="en-US" sz="1400" dirty="0"/>
          </a:p>
        </p:txBody>
      </p:sp>
      <p:sp>
        <p:nvSpPr>
          <p:cNvPr id="12" name="Obj [o577]"/>
          <p:cNvSpPr/>
          <p:nvPr/>
        </p:nvSpPr>
        <p:spPr>
          <a:xfrm>
            <a:off x="441794" y="1671414"/>
            <a:ext cx="6843091" cy="83637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578]"/>
              <p:cNvSpPr txBox="1"/>
              <p:nvPr/>
            </p:nvSpPr>
            <p:spPr>
              <a:xfrm>
                <a:off x="441794" y="1671414"/>
                <a:ext cx="6843091" cy="83637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100" i="1">
                              <a:latin typeface="Cambria Math" panose="02040503050406030204" pitchFamily="18" charset="0"/>
                            </a:rPr>
                          </m:ctrlPr>
                        </m:sSubSupPr>
                        <m:e>
                          <m:r>
                            <a:rPr lang="es-ES" sz="2100" i="1">
                              <a:solidFill>
                                <a:srgbClr val="1F4E79"/>
                              </a:solidFill>
                              <a:latin typeface="Cambria Math" panose="02040503050406030204" pitchFamily="18" charset="0"/>
                            </a:rPr>
                            <m:t xml:space="preserve">y</m:t>
                          </m:r>
                        </m:e>
                        <m:sub>
                          <m:r>
                            <a:rPr lang="es-ES" sz="2100" i="1">
                              <a:solidFill>
                                <a:srgbClr val="1F4E79"/>
                              </a:solidFill>
                              <a:latin typeface="Cambria Math" panose="02040503050406030204" pitchFamily="18" charset="0"/>
                            </a:rPr>
                            <m:t xml:space="preserve">i</m:t>
                          </m:r>
                        </m:sub>
                        <m:sup>
                          <m:r>
                            <m:rPr>
                              <m:sty m:val="p"/>
                            </m:rPr>
                            <a:rPr lang="es-ES" sz="2100">
                              <a:solidFill>
                                <a:srgbClr val="1F4E79"/>
                              </a:solidFill>
                              <a:latin typeface="Cambria Math" panose="02040503050406030204" pitchFamily="18" charset="0"/>
                            </a:rPr>
                            <m:t xml:space="preserve">DC</m:t>
                          </m:r>
                        </m:sup>
                      </m:sSubSup>
                      <m:r>
                        <a:rPr lang="es-ES" sz="2100" i="1">
                          <a:solidFill>
                            <a:srgbClr val="1F4E79"/>
                          </a:solidFill>
                          <a:latin typeface="Cambria Math" panose="02040503050406030204" pitchFamily="18" charset="0"/>
                        </a:rPr>
                        <m:t xml:space="preserve">=</m:t>
                      </m:r>
                      <m:nary>
                        <m:naryPr>
                          <m:chr m:val="∑"/>
                          <m:limLoc m:val="undOvr"/>
                          <m:supHide m:val="1"/>
                          <m:ctrlPr>
                            <a:rPr lang="es-ES" sz="2100" i="1">
                              <a:latin typeface="Cambria Math" panose="02040503050406030204" pitchFamily="18" charset="0"/>
                            </a:rPr>
                          </m:ctrlPr>
                        </m:naryPr>
                        <m:sub>
                          <m:r>
                            <a:rPr lang="es-ES" sz="2100" i="1">
                              <a:solidFill>
                                <a:srgbClr val="1F4E79"/>
                              </a:solidFill>
                              <a:latin typeface="Cambria Math" panose="02040503050406030204" pitchFamily="18" charset="0"/>
                            </a:rPr>
                            <m:t xml:space="preserve">j&lt;i</m:t>
                          </m:r>
                        </m:sub>
                        <m:sup/>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A</m:t>
                              </m:r>
                            </m:e>
                            <m:sub>
                              <m:r>
                                <a:rPr lang="es-ES" sz="2100" i="1">
                                  <a:solidFill>
                                    <a:srgbClr val="1F4E79"/>
                                  </a:solidFill>
                                  <a:latin typeface="Cambria Math" panose="02040503050406030204" pitchFamily="18" charset="0"/>
                                </a:rPr>
                                <m:t xml:space="preserve">ij</m:t>
                              </m:r>
                            </m:sub>
                          </m:sSub>
                          <m:sSubSup>
                            <m:sSubSupPr>
                              <m:ctrlPr>
                                <a:rPr lang="es-ES" sz="2100" i="1">
                                  <a:latin typeface="Cambria Math" panose="02040503050406030204" pitchFamily="18" charset="0"/>
                                </a:rPr>
                              </m:ctrlPr>
                            </m:sSubSupPr>
                            <m:e>
                              <m:r>
                                <a:rPr lang="es-ES" sz="2100" i="1">
                                  <a:solidFill>
                                    <a:srgbClr val="1F4E79"/>
                                  </a:solidFill>
                                  <a:latin typeface="Cambria Math" panose="02040503050406030204" pitchFamily="18" charset="0"/>
                                </a:rPr>
                                <m:t xml:space="preserve">y</m:t>
                              </m:r>
                            </m:e>
                            <m:sub>
                              <m:r>
                                <a:rPr lang="es-ES" sz="2100" i="1">
                                  <a:solidFill>
                                    <a:srgbClr val="1F4E79"/>
                                  </a:solidFill>
                                  <a:latin typeface="Cambria Math" panose="02040503050406030204" pitchFamily="18" charset="0"/>
                                </a:rPr>
                                <m:t xml:space="preserve">j</m:t>
                              </m:r>
                            </m:sub>
                            <m:sup>
                              <m:r>
                                <m:rPr>
                                  <m:sty m:val="p"/>
                                </m:rPr>
                                <a:rPr lang="es-ES" sz="2100">
                                  <a:solidFill>
                                    <a:srgbClr val="1F4E79"/>
                                  </a:solidFill>
                                  <a:latin typeface="Cambria Math" panose="02040503050406030204" pitchFamily="18" charset="0"/>
                                </a:rPr>
                                <m:t xml:space="preserve">DC</m:t>
                              </m:r>
                            </m:sup>
                          </m:sSubSup>
                        </m:e>
                      </m:nary>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b</m:t>
                          </m:r>
                        </m:e>
                        <m:sub>
                          <m:r>
                            <a:rPr lang="es-ES" sz="2100" i="1">
                              <a:solidFill>
                                <a:srgbClr val="1F4E79"/>
                              </a:solidFill>
                              <a:latin typeface="Cambria Math" panose="02040503050406030204" pitchFamily="18" charset="0"/>
                            </a:rPr>
                            <m:t xml:space="preserve">i</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K</m:t>
                          </m:r>
                        </m:e>
                        <m:sub>
                          <m:r>
                            <a:rPr lang="es-ES" sz="2100" i="1">
                              <a:solidFill>
                                <a:srgbClr val="1F4E79"/>
                              </a:solidFill>
                              <a:latin typeface="Cambria Math" panose="02040503050406030204" pitchFamily="18" charset="0"/>
                            </a:rPr>
                            <m:t xml:space="preserve">i</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u</m:t>
                          </m:r>
                        </m:e>
                        <m:sub>
                          <m:r>
                            <a:rPr lang="es-ES" sz="2100" i="1">
                              <a:solidFill>
                                <a:srgbClr val="1F4E79"/>
                              </a:solidFill>
                              <a:latin typeface="Cambria Math" panose="02040503050406030204" pitchFamily="18" charset="0"/>
                            </a:rPr>
                            <m:t xml:space="preserve">i</m:t>
                          </m:r>
                        </m:sub>
                      </m:sSub>
                    </m:oMath>
                  </m:oMathPara>
                </a14:m>
                <a:endParaRPr lang="es-ES"/>
              </a:p>
            </p:txBody>
          </p:sp>
        </mc:Choice>
        <mc:Fallback>
          <p:sp>
            <p:nvSpPr>
              <p:cNvPr id="13" name="Obj [o578]"/>
              <p:cNvSpPr txBox="1"/>
              <p:nvPr/>
            </p:nvSpPr>
            <p:spPr>
              <a:xfrm>
                <a:off x="441794" y="1671414"/>
                <a:ext cx="6843091" cy="836378"/>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yi(DC) = Σ(j&lt;i) Aij · yj(DC) + bi + Ki · ui</a:t>
                </a:r>
                <a:endParaRPr lang="en-US" sz="2071" dirty="0"/>
              </a:p>
            </p:txBody>
          </p:sp>
        </mc:Fallback>
      </mc:AlternateContent>
      <p:sp>
        <p:nvSpPr>
          <p:cNvPr id="14" name="Obj [o579]"/>
          <p:cNvSpPr/>
          <p:nvPr/>
        </p:nvSpPr>
        <p:spPr>
          <a:xfrm>
            <a:off x="441794" y="2697878"/>
            <a:ext cx="1140515"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Obj [o580]"/>
              <p:cNvSpPr txBox="1"/>
              <p:nvPr/>
            </p:nvSpPr>
            <p:spPr>
              <a:xfrm>
                <a:off x="441794" y="2697878"/>
                <a:ext cx="1140515"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A</m:t>
                          </m:r>
                        </m:e>
                        <m:sub>
                          <m:r>
                            <a:rPr lang="es-ES" sz="2100" i="1">
                              <a:solidFill>
                                <a:srgbClr val="1F4E79"/>
                              </a:solidFill>
                              <a:latin typeface="Cambria Math" panose="02040503050406030204" pitchFamily="18" charset="0"/>
                            </a:rPr>
                            <m:t xml:space="preserve">ij</m:t>
                          </m:r>
                        </m:sub>
                      </m:sSub>
                    </m:oMath>
                  </m:oMathPara>
                </a14:m>
                <a:endParaRPr lang="es-ES"/>
              </a:p>
            </p:txBody>
          </p:sp>
        </mc:Choice>
        <mc:Fallback>
          <p:sp>
            <p:nvSpPr>
              <p:cNvPr id="15" name="Obj [o580]"/>
              <p:cNvSpPr txBox="1"/>
              <p:nvPr/>
            </p:nvSpPr>
            <p:spPr>
              <a:xfrm>
                <a:off x="441794" y="2697878"/>
                <a:ext cx="1140515" cy="38017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Aij</a:t>
                </a:r>
                <a:endParaRPr lang="en-US" sz="2071" dirty="0"/>
              </a:p>
            </p:txBody>
          </p:sp>
        </mc:Fallback>
      </mc:AlternateContent>
      <p:sp>
        <p:nvSpPr>
          <p:cNvPr id="16" name="Obj [o581]"/>
          <p:cNvSpPr txBox="1"/>
          <p:nvPr/>
        </p:nvSpPr>
        <p:spPr>
          <a:xfrm>
            <a:off x="1734378" y="2697878"/>
            <a:ext cx="5550507" cy="380172"/>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transferencia de continua de la etapa j a la etapa i</a:t>
            </a:r>
            <a:endParaRPr lang="en-US" sz="1380" dirty="0"/>
          </a:p>
        </p:txBody>
      </p:sp>
      <p:sp>
        <p:nvSpPr>
          <p:cNvPr id="17" name="Obj [o582]"/>
          <p:cNvSpPr/>
          <p:nvPr/>
        </p:nvSpPr>
        <p:spPr>
          <a:xfrm>
            <a:off x="441794" y="3154084"/>
            <a:ext cx="1140515"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583]"/>
              <p:cNvSpPr txBox="1"/>
              <p:nvPr/>
            </p:nvSpPr>
            <p:spPr>
              <a:xfrm>
                <a:off x="441794" y="3154084"/>
                <a:ext cx="1140515"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b</m:t>
                          </m:r>
                        </m:e>
                        <m:sub>
                          <m:r>
                            <a:rPr lang="es-ES" sz="2100" i="1">
                              <a:solidFill>
                                <a:srgbClr val="1F4E79"/>
                              </a:solidFill>
                              <a:latin typeface="Cambria Math" panose="02040503050406030204" pitchFamily="18" charset="0"/>
                            </a:rPr>
                            <m:t xml:space="preserve">i</m:t>
                          </m:r>
                        </m:sub>
                      </m:sSub>
                    </m:oMath>
                  </m:oMathPara>
                </a14:m>
                <a:endParaRPr lang="es-ES"/>
              </a:p>
            </p:txBody>
          </p:sp>
        </mc:Choice>
        <mc:Fallback>
          <p:sp>
            <p:nvSpPr>
              <p:cNvPr id="18" name="Obj [o583]"/>
              <p:cNvSpPr txBox="1"/>
              <p:nvPr/>
            </p:nvSpPr>
            <p:spPr>
              <a:xfrm>
                <a:off x="441794" y="3154084"/>
                <a:ext cx="1140515" cy="38017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bi</a:t>
                </a:r>
                <a:endParaRPr lang="en-US" sz="2071" dirty="0"/>
              </a:p>
            </p:txBody>
          </p:sp>
        </mc:Fallback>
      </mc:AlternateContent>
      <p:sp>
        <p:nvSpPr>
          <p:cNvPr id="19" name="Obj [o584]"/>
          <p:cNvSpPr txBox="1"/>
          <p:nvPr/>
        </p:nvSpPr>
        <p:spPr>
          <a:xfrm>
            <a:off x="1734378" y="3154084"/>
            <a:ext cx="5550507" cy="380172"/>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offset propio de la etapa i</a:t>
            </a:r>
            <a:endParaRPr lang="en-US" sz="1380" dirty="0"/>
          </a:p>
        </p:txBody>
      </p:sp>
      <p:sp>
        <p:nvSpPr>
          <p:cNvPr id="20" name="Obj [o585]"/>
          <p:cNvSpPr/>
          <p:nvPr/>
        </p:nvSpPr>
        <p:spPr>
          <a:xfrm>
            <a:off x="441794" y="3610290"/>
            <a:ext cx="1140515"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1" name="Obj [o586]"/>
              <p:cNvSpPr txBox="1"/>
              <p:nvPr/>
            </p:nvSpPr>
            <p:spPr>
              <a:xfrm>
                <a:off x="441794" y="3610290"/>
                <a:ext cx="1140515"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K</m:t>
                          </m:r>
                        </m:e>
                        <m:sub>
                          <m:r>
                            <a:rPr lang="es-ES" sz="2100" i="1">
                              <a:solidFill>
                                <a:srgbClr val="1F4E79"/>
                              </a:solidFill>
                              <a:latin typeface="Cambria Math" panose="02040503050406030204" pitchFamily="18" charset="0"/>
                            </a:rPr>
                            <m:t xml:space="preserve">i</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u</m:t>
                          </m:r>
                        </m:e>
                        <m:sub>
                          <m:r>
                            <a:rPr lang="es-ES" sz="2100" i="1">
                              <a:solidFill>
                                <a:srgbClr val="1F4E79"/>
                              </a:solidFill>
                              <a:latin typeface="Cambria Math" panose="02040503050406030204" pitchFamily="18" charset="0"/>
                            </a:rPr>
                            <m:t xml:space="preserve">i</m:t>
                          </m:r>
                        </m:sub>
                      </m:sSub>
                    </m:oMath>
                  </m:oMathPara>
                </a14:m>
                <a:endParaRPr lang="es-ES"/>
              </a:p>
            </p:txBody>
          </p:sp>
        </mc:Choice>
        <mc:Fallback>
          <p:sp>
            <p:nvSpPr>
              <p:cNvPr id="21" name="Obj [o586]"/>
              <p:cNvSpPr txBox="1"/>
              <p:nvPr/>
            </p:nvSpPr>
            <p:spPr>
              <a:xfrm>
                <a:off x="441794" y="3610290"/>
                <a:ext cx="1140515" cy="38017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Ki·ui</a:t>
                </a:r>
                <a:endParaRPr lang="en-US" sz="2071" dirty="0"/>
              </a:p>
            </p:txBody>
          </p:sp>
        </mc:Fallback>
      </mc:AlternateContent>
      <p:sp>
        <p:nvSpPr>
          <p:cNvPr id="22" name="Obj [o587]"/>
          <p:cNvSpPr txBox="1"/>
          <p:nvPr/>
        </p:nvSpPr>
        <p:spPr>
          <a:xfrm>
            <a:off x="1734378" y="3610290"/>
            <a:ext cx="5550507" cy="380172"/>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corrección aplicada con el VDAC de la etapa i</a:t>
            </a:r>
            <a:endParaRPr lang="en-US" sz="1380" dirty="0"/>
          </a:p>
        </p:txBody>
      </p:sp>
      <p:sp>
        <p:nvSpPr>
          <p:cNvPr id="23" name="Obj [o588]"/>
          <p:cNvSpPr txBox="1"/>
          <p:nvPr/>
        </p:nvSpPr>
        <p:spPr>
          <a:xfrm>
            <a:off x="441794" y="4066496"/>
            <a:ext cx="6843091" cy="304137"/>
          </a:xfrm>
          <a:prstGeom prst="rect">
            <a:avLst/>
          </a:prstGeom>
          <a:noFill/>
          <a:ln/>
        </p:spPr>
        <p:txBody>
          <a:bodyPr wrap="square" lIns="0" tIns="0" rIns="0" bIns="0" rtlCol="0" anchor="t"/>
          <a:lstStyle/>
          <a:p>
            <a:pPr indent="0" marL="0">
              <a:buNone/>
            </a:pPr>
            <a:r>
              <a:rPr lang="en-US" sz="1294"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294" dirty="0"/>
          </a:p>
        </p:txBody>
      </p:sp>
      <p:sp>
        <p:nvSpPr>
          <p:cNvPr id="24" name="Obj [o58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documento de tesis, sec. 3. Notación por confirmar.</a:t>
            </a:r>
            <a:endParaRPr lang="en-US" sz="800" dirty="0"/>
          </a:p>
        </p:txBody>
      </p:sp>
      <p:sp>
        <p:nvSpPr>
          <p:cNvPr id="25" name="Obj [o59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1400" dirty="0"/>
          </a:p>
        </p:txBody>
      </p:sp>
      <p:pic>
        <p:nvPicPr>
          <p:cNvPr id="26" name="Obj [o591]" descr="Diagrama de flujo de la calibración en primer plano: verificación de códigos guardados, ajuste secuencial y adquisición">    </p:cNvPr>
          <p:cNvPicPr>
            <a:picLocks noChangeAspect="1"/>
          </p:cNvPicPr>
          <p:nvPr/>
        </p:nvPicPr>
        <p:blipFill>
          <a:blip r:embed="rId3"/>
          <a:stretch>
            <a:fillRect/>
          </a:stretch>
        </p:blipFill>
        <p:spPr>
          <a:xfrm>
            <a:off x="1734378" y="1557362"/>
            <a:ext cx="4257923" cy="2724231"/>
          </a:xfrm>
          <a:prstGeom prst="rect">
            <a:avLst/>
          </a:prstGeom>
        </p:spPr>
      </p:pic>
      <p:sp>
        <p:nvSpPr>
          <p:cNvPr id="27" name="Obj [o592]"/>
          <p:cNvSpPr txBox="1"/>
          <p:nvPr/>
        </p:nvSpPr>
        <p:spPr>
          <a:xfrm>
            <a:off x="2950928" y="4294599"/>
            <a:ext cx="3041374"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FIGURA EN INGLÉS: traducir desde el repo</a:t>
            </a:r>
            <a:endParaRPr lang="en-US" sz="863" dirty="0"/>
          </a:p>
        </p:txBody>
      </p:sp>
      <p:sp>
        <p:nvSpPr>
          <p:cNvPr id="28" name="Obj [o59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fig. 2; resumen firmado, sec. 4.4.</a:t>
            </a:r>
            <a:endParaRPr lang="en-US" sz="800" dirty="0"/>
          </a:p>
        </p:txBody>
      </p:sp>
      <p:sp>
        <p:nvSpPr>
          <p:cNvPr id="29" name="Obj [o59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calibración converge y baja el offset residual en el ADC de 2,9–45,8 % a 0,4–3,9 % del fondo de escala</a:t>
            </a:r>
            <a:endParaRPr lang="en-US" sz="1400" dirty="0"/>
          </a:p>
        </p:txBody>
      </p:sp>
      <p:pic>
        <p:nvPicPr>
          <p:cNvPr id="30" name="Obj [o595]" descr="Trayectorias de calibración de las etapas PGA, BP, SUM y LP en función del tiempo">    </p:cNvPr>
          <p:cNvPicPr>
            <a:picLocks noChangeAspect="1"/>
          </p:cNvPicPr>
          <p:nvPr/>
        </p:nvPicPr>
        <p:blipFill>
          <a:blip r:embed="rId4"/>
          <a:stretch>
            <a:fillRect/>
          </a:stretch>
        </p:blipFill>
        <p:spPr>
          <a:xfrm>
            <a:off x="365760" y="1557362"/>
            <a:ext cx="2166979" cy="2554113"/>
          </a:xfrm>
          <a:prstGeom prst="rect">
            <a:avLst/>
          </a:prstGeom>
        </p:spPr>
      </p:pic>
      <p:graphicFrame>
        <p:nvGraphicFramePr>
          <p:cNvPr id="31" name="Obj [o596]" descr=""/>
          <p:cNvGraphicFramePr/>
          <p:nvPr/>
        </p:nvGraphicFramePr>
        <p:xfrm>
          <a:off x="2798859" y="1557362"/>
          <a:ext cx="4486027" cy="2014910"/>
        </p:xfrm>
        <a:graphic xmlns:a="http://schemas.openxmlformats.org/drawingml/2006/main">
          <a:graphicData uri="http://schemas.openxmlformats.org/drawingml/2006/chart">
            <c:chart xmlns:c="http://schemas.openxmlformats.org/drawingml/2006/chart" r:id="rId5"/>
          </a:graphicData>
        </a:graphic>
      </p:graphicFrame>
      <p:sp>
        <p:nvSpPr>
          <p:cNvPr id="32" name="Obj [o597]"/>
          <p:cNvSpPr txBox="1"/>
          <p:nvPr/>
        </p:nvSpPr>
        <p:spPr>
          <a:xfrm>
            <a:off x="2798859" y="3610290"/>
            <a:ext cx="4486027" cy="722326"/>
          </a:xfrm>
          <a:prstGeom prst="rect">
            <a:avLst/>
          </a:prstGeom>
          <a:noFill/>
          <a:ln/>
        </p:spPr>
        <p:txBody>
          <a:bodyPr wrap="square" lIns="0" tIns="0" rIns="0" bIns="0" rtlCol="0" anchor="t"/>
          <a:lstStyle/>
          <a:p>
            <a:pPr marL="342900" indent="-342900">
              <a:spcAft>
                <a:spcPts val="259"/>
              </a:spcAft>
              <a:buSzPct val="100000"/>
              <a:buChar char="•"/>
            </a:pPr>
            <a:r>
              <a:rPr lang="en-US" sz="949"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949" dirty="0"/>
          </a:p>
          <a:p>
            <a:pPr marL="342900" indent="-342900">
              <a:spcAft>
                <a:spcPts val="259"/>
              </a:spcAft>
              <a:buSzPct val="100000"/>
              <a:buChar char="•"/>
            </a:pPr>
            <a:r>
              <a:rPr lang="en-US" sz="949"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949" dirty="0"/>
          </a:p>
          <a:p>
            <a:pPr marL="342900" indent="-342900">
              <a:spcAft>
                <a:spcPts val="259"/>
              </a:spcAft>
              <a:buSzPct val="100000"/>
              <a:buChar char="•"/>
            </a:pPr>
            <a:r>
              <a:rPr lang="en-US" sz="949" dirty="0">
                <a:solidFill>
                  <a:srgbClr val="2D2D2D"/>
                </a:solidFill>
                <a:latin typeface="Arial" pitchFamily="34" charset="0"/>
                <a:ea typeface="Arial" pitchFamily="34" charset="-122"/>
                <a:cs typeface="Arial" pitchFamily="34" charset="-120"/>
              </a:rPr>
              <a:t>Derecha: 2 placas y 8 configuraciones placa–ganancia</a:t>
            </a:r>
            <a:endParaRPr lang="en-US" sz="949" dirty="0"/>
          </a:p>
        </p:txBody>
      </p:sp>
      <p:sp>
        <p:nvSpPr>
          <p:cNvPr id="33" name="Obj [o598]"/>
          <p:cNvSpPr txBox="1"/>
          <p:nvPr/>
        </p:nvSpPr>
        <p:spPr>
          <a:xfrm>
            <a:off x="213691" y="4142530"/>
            <a:ext cx="2319048"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EJE EN INGLÉS: traducir desde el repo</a:t>
            </a:r>
            <a:endParaRPr lang="en-US" sz="863" dirty="0"/>
          </a:p>
        </p:txBody>
      </p:sp>
      <p:sp>
        <p:nvSpPr>
          <p:cNvPr id="34" name="Obj [o59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fig. 4; documento de tesis (00_resumen.tex).</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35"/>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06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grpId="0" fill="hold" nodeType="withEffect">
                                  <p:stCondLst>
                                    <p:cond delay="1385"/>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450"/>
                                        <p:tgtEl>
                                          <p:spTgt spid="5">
                                            <p:txEl>
                                              <p:pRg st="3" end="3"/>
                                            </p:txEl>
                                          </p:spTgt>
                                        </p:tgtEl>
                                      </p:cBhvr>
                                    </p:animEffect>
                                  </p:childTnLst>
                                </p:cTn>
                              </p:par>
                              <p:par>
                                <p:cTn id="25" presetID="10" presetClass="entr" presetSubtype="0" fill="hold" nodeType="withEffect">
                                  <p:stCondLst>
                                    <p:cond delay="40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5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350"/>
                                        <p:tgtEl>
                                          <p:spTgt spid="3"/>
                                        </p:tgtEl>
                                      </p:cBhvr>
                                    </p:animEffect>
                                    <p:set>
                                      <p:cBhvr>
                                        <p:cTn id="32" dur="1" fill="hold">
                                          <p:stCondLst>
                                            <p:cond delay="349"/>
                                          </p:stCondLst>
                                        </p:cTn>
                                        <p:tgtEl>
                                          <p:spTgt spid="3"/>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5">
                                            <p:txEl>
                                              <p:pRg st="0" end="0"/>
                                            </p:txEl>
                                          </p:spTgt>
                                        </p:tgtEl>
                                      </p:cBhvr>
                                    </p:animEffect>
                                    <p:set>
                                      <p:cBhvr>
                                        <p:cTn id="35" dur="1" fill="hold">
                                          <p:stCondLst>
                                            <p:cond delay="349"/>
                                          </p:stCondLst>
                                        </p:cTn>
                                        <p:tgtEl>
                                          <p:spTgt spid="5">
                                            <p:txEl>
                                              <p:pRg st="0" end="0"/>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1" end="1"/>
                                            </p:txEl>
                                          </p:spTgt>
                                        </p:tgtEl>
                                      </p:cBhvr>
                                    </p:animEffect>
                                    <p:set>
                                      <p:cBhvr>
                                        <p:cTn id="38" dur="1" fill="hold">
                                          <p:stCondLst>
                                            <p:cond delay="349"/>
                                          </p:stCondLst>
                                        </p:cTn>
                                        <p:tgtEl>
                                          <p:spTgt spid="5">
                                            <p:txEl>
                                              <p:pRg st="1" end="1"/>
                                            </p:txEl>
                                          </p:spTgt>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350"/>
                                        <p:tgtEl>
                                          <p:spTgt spid="5">
                                            <p:txEl>
                                              <p:pRg st="2" end="2"/>
                                            </p:txEl>
                                          </p:spTgt>
                                        </p:tgtEl>
                                      </p:cBhvr>
                                    </p:animEffect>
                                    <p:set>
                                      <p:cBhvr>
                                        <p:cTn id="41" dur="1" fill="hold">
                                          <p:stCondLst>
                                            <p:cond delay="349"/>
                                          </p:stCondLst>
                                        </p:cTn>
                                        <p:tgtEl>
                                          <p:spTgt spid="5">
                                            <p:txEl>
                                              <p:pRg st="2" end="2"/>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5">
                                            <p:txEl>
                                              <p:pRg st="3" end="3"/>
                                            </p:txEl>
                                          </p:spTgt>
                                        </p:tgtEl>
                                      </p:cBhvr>
                                    </p:animEffect>
                                    <p:set>
                                      <p:cBhvr>
                                        <p:cTn id="44" dur="1" fill="hold">
                                          <p:stCondLst>
                                            <p:cond delay="349"/>
                                          </p:stCondLst>
                                        </p:cTn>
                                        <p:tgtEl>
                                          <p:spTgt spid="5">
                                            <p:txEl>
                                              <p:pRg st="3" end="3"/>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6"/>
                                        </p:tgtEl>
                                      </p:cBhvr>
                                    </p:animEffect>
                                    <p:set>
                                      <p:cBhvr>
                                        <p:cTn id="47" dur="1" fill="hold">
                                          <p:stCondLst>
                                            <p:cond delay="349"/>
                                          </p:stCondLst>
                                        </p:cTn>
                                        <p:tgtEl>
                                          <p:spTgt spid="6"/>
                                        </p:tgtEl>
                                        <p:attrNameLst>
                                          <p:attrName>style.visibility</p:attrName>
                                        </p:attrNameLst>
                                      </p:cBhvr>
                                      <p:to>
                                        <p:strVal val="hidden"/>
                                      </p:to>
                                    </p:set>
                                  </p:childTnLst>
                                </p:cTn>
                              </p:par>
                              <p:par>
                                <p:cTn id="48" presetID="0" presetClass="path" presetSubtype="0" accel="50000" decel="50000" fill="hold" nodeType="withEffect">
                                  <p:stCondLst>
                                    <p:cond delay="0"/>
                                  </p:stCondLst>
                                  <p:childTnLst>
                                    <p:animMotion origin="layout" path="M 0 0 L 0.60282 -0.21224 E" pathEditMode="relative" rAng="0" ptsTypes="AA">
                                      <p:cBhvr>
                                        <p:cTn id="49" dur="750" fill="hold"/>
                                        <p:tgtEl>
                                          <p:spTgt spid="4"/>
                                        </p:tgtEl>
                                        <p:attrNameLst>
                                          <p:attrName>ppt_x</p:attrName>
                                          <p:attrName>ppt_y</p:attrName>
                                        </p:attrNameLst>
                                      </p:cBhvr>
                                      <p:rCtr x="30140" y="-10612"/>
                                    </p:animMotion>
                                  </p:childTnLst>
                                </p:cTn>
                              </p:par>
                              <p:par>
                                <p:cTn id="50" presetID="6" presetClass="emph" presetSubtype="0" accel="50000" decel="50000" fill="hold" nodeType="withEffect">
                                  <p:stCondLst>
                                    <p:cond delay="0"/>
                                  </p:stCondLst>
                                  <p:childTnLst>
                                    <p:animScale>
                                      <p:cBhvr>
                                        <p:cTn id="51" dur="750" fill="hold"/>
                                        <p:tgtEl>
                                          <p:spTgt spid="4"/>
                                        </p:tgtEl>
                                      </p:cBhvr>
                                      <p:by x="29754" y="29754"/>
                                    </p:animScale>
                                  </p:childTnLst>
                                </p:cTn>
                              </p:par>
                              <p:par>
                                <p:cTn id="52" presetID="10" presetClass="entr" presetSubtype="0" fill="hold" nodeType="withEffect">
                                  <p:stCondLst>
                                    <p:cond delay="45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450"/>
                                        <p:tgtEl>
                                          <p:spTgt spid="7"/>
                                        </p:tgtEl>
                                      </p:cBhvr>
                                    </p:animEffect>
                                  </p:childTnLst>
                                </p:cTn>
                              </p:par>
                              <p:par>
                                <p:cTn id="55" presetID="53" presetClass="entr" presetSubtype="16" fill="hold" nodeType="withEffect">
                                  <p:stCondLst>
                                    <p:cond delay="520"/>
                                  </p:stCondLst>
                                  <p:childTnLst>
                                    <p:set>
                                      <p:cBhvr>
                                        <p:cTn id="56" dur="1" fill="hold">
                                          <p:stCondLst>
                                            <p:cond delay="0"/>
                                          </p:stCondLst>
                                        </p:cTn>
                                        <p:tgtEl>
                                          <p:spTgt spid="8"/>
                                        </p:tgtEl>
                                        <p:attrNameLst>
                                          <p:attrName>style.visibility</p:attrName>
                                        </p:attrNameLst>
                                      </p:cBhvr>
                                      <p:to>
                                        <p:strVal val="visible"/>
                                      </p:to>
                                    </p:set>
                                    <p:anim calcmode="lin" valueType="num">
                                      <p:cBhvr>
                                        <p:cTn id="57" dur="600" fill="hold"/>
                                        <p:tgtEl>
                                          <p:spTgt spid="8"/>
                                        </p:tgtEl>
                                        <p:attrNameLst>
                                          <p:attrName>ppt_w</p:attrName>
                                        </p:attrNameLst>
                                      </p:cBhvr>
                                      <p:tavLst>
                                        <p:tav tm="0">
                                          <p:val>
                                            <p:fltVal val="0"/>
                                          </p:val>
                                        </p:tav>
                                        <p:tav tm="100000">
                                          <p:val>
                                            <p:strVal val="#ppt_w"/>
                                          </p:val>
                                        </p:tav>
                                      </p:tavLst>
                                    </p:anim>
                                    <p:anim calcmode="lin" valueType="num">
                                      <p:cBhvr>
                                        <p:cTn id="58" dur="600" fill="hold"/>
                                        <p:tgtEl>
                                          <p:spTgt spid="8"/>
                                        </p:tgtEl>
                                        <p:attrNameLst>
                                          <p:attrName>ppt_h</p:attrName>
                                        </p:attrNameLst>
                                      </p:cBhvr>
                                      <p:tavLst>
                                        <p:tav tm="0">
                                          <p:val>
                                            <p:fltVal val="0"/>
                                          </p:val>
                                        </p:tav>
                                        <p:tav tm="100000">
                                          <p:val>
                                            <p:strVal val="#ppt_h"/>
                                          </p:val>
                                        </p:tav>
                                      </p:tavLst>
                                    </p:anim>
                                    <p:animEffect transition="in" filter="fade">
                                      <p:cBhvr>
                                        <p:cTn id="59" dur="600"/>
                                        <p:tgtEl>
                                          <p:spTgt spid="8"/>
                                        </p:tgtEl>
                                      </p:cBhvr>
                                    </p:animEffect>
                                  </p:childTnLst>
                                </p:cTn>
                              </p:par>
                              <p:par>
                                <p:cTn id="60" presetID="10" presetClass="entr" presetSubtype="0" grpId="0" fill="hold" nodeType="withEffect">
                                  <p:stCondLst>
                                    <p:cond delay="590"/>
                                  </p:stCondLst>
                                  <p:childTnLst>
                                    <p:set>
                                      <p:cBhvr>
                                        <p:cTn id="61" dur="1" fill="hold">
                                          <p:stCondLst>
                                            <p:cond delay="0"/>
                                          </p:stCondLst>
                                        </p:cTn>
                                        <p:tgtEl>
                                          <p:spTgt spid="9">
                                            <p:txEl>
                                              <p:pRg st="0" end="0"/>
                                            </p:txEl>
                                          </p:spTgt>
                                        </p:tgtEl>
                                        <p:attrNameLst>
                                          <p:attrName>style.visibility</p:attrName>
                                        </p:attrNameLst>
                                      </p:cBhvr>
                                      <p:to>
                                        <p:strVal val="visible"/>
                                      </p:to>
                                    </p:set>
                                    <p:animEffect transition="in" filter="fade">
                                      <p:cBhvr>
                                        <p:cTn id="62" dur="450"/>
                                        <p:tgtEl>
                                          <p:spTgt spid="9">
                                            <p:txEl>
                                              <p:pRg st="0" end="0"/>
                                            </p:txEl>
                                          </p:spTgt>
                                        </p:tgtEl>
                                      </p:cBhvr>
                                    </p:animEffect>
                                  </p:childTnLst>
                                </p:cTn>
                              </p:par>
                              <p:par>
                                <p:cTn id="63" presetID="10" presetClass="entr" presetSubtype="0" grpId="0" fill="hold" nodeType="withEffect">
                                  <p:stCondLst>
                                    <p:cond delay="915"/>
                                  </p:stCondLst>
                                  <p:childTnLst>
                                    <p:set>
                                      <p:cBhvr>
                                        <p:cTn id="64" dur="1" fill="hold">
                                          <p:stCondLst>
                                            <p:cond delay="0"/>
                                          </p:stCondLst>
                                        </p:cTn>
                                        <p:tgtEl>
                                          <p:spTgt spid="9">
                                            <p:txEl>
                                              <p:pRg st="1" end="1"/>
                                            </p:txEl>
                                          </p:spTgt>
                                        </p:tgtEl>
                                        <p:attrNameLst>
                                          <p:attrName>style.visibility</p:attrName>
                                        </p:attrNameLst>
                                      </p:cBhvr>
                                      <p:to>
                                        <p:strVal val="visible"/>
                                      </p:to>
                                    </p:set>
                                    <p:animEffect transition="in" filter="fade">
                                      <p:cBhvr>
                                        <p:cTn id="65" dur="450"/>
                                        <p:tgtEl>
                                          <p:spTgt spid="9">
                                            <p:txEl>
                                              <p:pRg st="1" end="1"/>
                                            </p:txEl>
                                          </p:spTgt>
                                        </p:tgtEl>
                                      </p:cBhvr>
                                    </p:animEffect>
                                  </p:childTnLst>
                                </p:cTn>
                              </p:par>
                              <p:par>
                                <p:cTn id="66" presetID="10" presetClass="entr" presetSubtype="0" grpId="0" fill="hold" nodeType="withEffect">
                                  <p:stCondLst>
                                    <p:cond delay="1240"/>
                                  </p:stCondLst>
                                  <p:childTnLst>
                                    <p:set>
                                      <p:cBhvr>
                                        <p:cTn id="67" dur="1" fill="hold">
                                          <p:stCondLst>
                                            <p:cond delay="0"/>
                                          </p:stCondLst>
                                        </p:cTn>
                                        <p:tgtEl>
                                          <p:spTgt spid="9">
                                            <p:txEl>
                                              <p:pRg st="2" end="2"/>
                                            </p:txEl>
                                          </p:spTgt>
                                        </p:tgtEl>
                                        <p:attrNameLst>
                                          <p:attrName>style.visibility</p:attrName>
                                        </p:attrNameLst>
                                      </p:cBhvr>
                                      <p:to>
                                        <p:strVal val="visible"/>
                                      </p:to>
                                    </p:set>
                                    <p:animEffect transition="in" filter="fade">
                                      <p:cBhvr>
                                        <p:cTn id="68" dur="450"/>
                                        <p:tgtEl>
                                          <p:spTgt spid="9">
                                            <p:txEl>
                                              <p:pRg st="2" end="2"/>
                                            </p:txEl>
                                          </p:spTgt>
                                        </p:tgtEl>
                                      </p:cBhvr>
                                    </p:animEffect>
                                  </p:childTnLst>
                                </p:cTn>
                              </p:par>
                              <p:par>
                                <p:cTn id="69" presetID="10" presetClass="entr" presetSubtype="0" grpId="0" fill="hold" nodeType="withEffect">
                                  <p:stCondLst>
                                    <p:cond delay="1565"/>
                                  </p:stCondLst>
                                  <p:childTnLst>
                                    <p:set>
                                      <p:cBhvr>
                                        <p:cTn id="70" dur="1" fill="hold">
                                          <p:stCondLst>
                                            <p:cond delay="0"/>
                                          </p:stCondLst>
                                        </p:cTn>
                                        <p:tgtEl>
                                          <p:spTgt spid="9">
                                            <p:txEl>
                                              <p:pRg st="3" end="3"/>
                                            </p:txEl>
                                          </p:spTgt>
                                        </p:tgtEl>
                                        <p:attrNameLst>
                                          <p:attrName>style.visibility</p:attrName>
                                        </p:attrNameLst>
                                      </p:cBhvr>
                                      <p:to>
                                        <p:strVal val="visible"/>
                                      </p:to>
                                    </p:set>
                                    <p:animEffect transition="in" filter="fade">
                                      <p:cBhvr>
                                        <p:cTn id="71" dur="450"/>
                                        <p:tgtEl>
                                          <p:spTgt spid="9">
                                            <p:txEl>
                                              <p:pRg st="3" end="3"/>
                                            </p:txEl>
                                          </p:spTgt>
                                        </p:tgtEl>
                                      </p:cBhvr>
                                    </p:animEffect>
                                  </p:childTnLst>
                                </p:cTn>
                              </p:par>
                              <p:par>
                                <p:cTn id="72" presetID="10" presetClass="entr" presetSubtype="0" fill="hold" nodeType="withEffect">
                                  <p:stCondLst>
                                    <p:cond delay="58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450"/>
                                        <p:tgtEl>
                                          <p:spTgt spid="1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xit" presetSubtype="0" fill="hold" nodeType="clickEffect">
                                  <p:stCondLst>
                                    <p:cond delay="0"/>
                                  </p:stCondLst>
                                  <p:childTnLst>
                                    <p:animEffect transition="out" filter="fade">
                                      <p:cBhvr>
                                        <p:cTn id="78" dur="350"/>
                                        <p:tgtEl>
                                          <p:spTgt spid="7"/>
                                        </p:tgtEl>
                                      </p:cBhvr>
                                    </p:animEffect>
                                    <p:set>
                                      <p:cBhvr>
                                        <p:cTn id="79" dur="1" fill="hold">
                                          <p:stCondLst>
                                            <p:cond delay="349"/>
                                          </p:stCondLst>
                                        </p:cTn>
                                        <p:tgtEl>
                                          <p:spTgt spid="7"/>
                                        </p:tgtEl>
                                        <p:attrNameLst>
                                          <p:attrName>style.visibility</p:attrName>
                                        </p:attrNameLst>
                                      </p:cBhvr>
                                      <p:to>
                                        <p:strVal val="hidden"/>
                                      </p:to>
                                    </p:set>
                                  </p:childTnLst>
                                </p:cTn>
                              </p:par>
                              <p:par>
                                <p:cTn id="80" presetID="10" presetClass="exit" presetSubtype="0" grpId="0" fill="hold" nodeType="withEffect">
                                  <p:stCondLst>
                                    <p:cond delay="0"/>
                                  </p:stCondLst>
                                  <p:childTnLst>
                                    <p:animEffect transition="out" filter="fade">
                                      <p:cBhvr>
                                        <p:cTn id="81" dur="350"/>
                                        <p:tgtEl>
                                          <p:spTgt spid="9">
                                            <p:txEl>
                                              <p:pRg st="0" end="0"/>
                                            </p:txEl>
                                          </p:spTgt>
                                        </p:tgtEl>
                                      </p:cBhvr>
                                    </p:animEffect>
                                    <p:set>
                                      <p:cBhvr>
                                        <p:cTn id="82" dur="1" fill="hold">
                                          <p:stCondLst>
                                            <p:cond delay="349"/>
                                          </p:stCondLst>
                                        </p:cTn>
                                        <p:tgtEl>
                                          <p:spTgt spid="9">
                                            <p:txEl>
                                              <p:pRg st="0" end="0"/>
                                            </p:txEl>
                                          </p:spTgt>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350"/>
                                        <p:tgtEl>
                                          <p:spTgt spid="9">
                                            <p:txEl>
                                              <p:pRg st="1" end="1"/>
                                            </p:txEl>
                                          </p:spTgt>
                                        </p:tgtEl>
                                      </p:cBhvr>
                                    </p:animEffect>
                                    <p:set>
                                      <p:cBhvr>
                                        <p:cTn id="85" dur="1" fill="hold">
                                          <p:stCondLst>
                                            <p:cond delay="349"/>
                                          </p:stCondLst>
                                        </p:cTn>
                                        <p:tgtEl>
                                          <p:spTgt spid="9">
                                            <p:txEl>
                                              <p:pRg st="1" end="1"/>
                                            </p:txEl>
                                          </p:spTgt>
                                        </p:tgtEl>
                                        <p:attrNameLst>
                                          <p:attrName>style.visibility</p:attrName>
                                        </p:attrNameLst>
                                      </p:cBhvr>
                                      <p:to>
                                        <p:strVal val="hidden"/>
                                      </p:to>
                                    </p:set>
                                  </p:childTnLst>
                                </p:cTn>
                              </p:par>
                              <p:par>
                                <p:cTn id="86" presetID="10" presetClass="exit" presetSubtype="0" grpId="0" fill="hold" nodeType="withEffect">
                                  <p:stCondLst>
                                    <p:cond delay="0"/>
                                  </p:stCondLst>
                                  <p:childTnLst>
                                    <p:animEffect transition="out" filter="fade">
                                      <p:cBhvr>
                                        <p:cTn id="87" dur="350"/>
                                        <p:tgtEl>
                                          <p:spTgt spid="9">
                                            <p:txEl>
                                              <p:pRg st="2" end="2"/>
                                            </p:txEl>
                                          </p:spTgt>
                                        </p:tgtEl>
                                      </p:cBhvr>
                                    </p:animEffect>
                                    <p:set>
                                      <p:cBhvr>
                                        <p:cTn id="88" dur="1" fill="hold">
                                          <p:stCondLst>
                                            <p:cond delay="349"/>
                                          </p:stCondLst>
                                        </p:cTn>
                                        <p:tgtEl>
                                          <p:spTgt spid="9">
                                            <p:txEl>
                                              <p:pRg st="2" end="2"/>
                                            </p:txEl>
                                          </p:spTgt>
                                        </p:tgtEl>
                                        <p:attrNameLst>
                                          <p:attrName>style.visibility</p:attrName>
                                        </p:attrNameLst>
                                      </p:cBhvr>
                                      <p:to>
                                        <p:strVal val="hidden"/>
                                      </p:to>
                                    </p:set>
                                  </p:childTnLst>
                                </p:cTn>
                              </p:par>
                              <p:par>
                                <p:cTn id="89" presetID="10" presetClass="exit" presetSubtype="0" grpId="0" fill="hold" nodeType="withEffect">
                                  <p:stCondLst>
                                    <p:cond delay="0"/>
                                  </p:stCondLst>
                                  <p:childTnLst>
                                    <p:animEffect transition="out" filter="fade">
                                      <p:cBhvr>
                                        <p:cTn id="90" dur="350"/>
                                        <p:tgtEl>
                                          <p:spTgt spid="9">
                                            <p:txEl>
                                              <p:pRg st="3" end="3"/>
                                            </p:txEl>
                                          </p:spTgt>
                                        </p:tgtEl>
                                      </p:cBhvr>
                                    </p:animEffect>
                                    <p:set>
                                      <p:cBhvr>
                                        <p:cTn id="91" dur="1" fill="hold">
                                          <p:stCondLst>
                                            <p:cond delay="349"/>
                                          </p:stCondLst>
                                        </p:cTn>
                                        <p:tgtEl>
                                          <p:spTgt spid="9">
                                            <p:txEl>
                                              <p:pRg st="3" end="3"/>
                                            </p:txEl>
                                          </p:spTgt>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350"/>
                                        <p:tgtEl>
                                          <p:spTgt spid="10"/>
                                        </p:tgtEl>
                                      </p:cBhvr>
                                    </p:animEffect>
                                    <p:set>
                                      <p:cBhvr>
                                        <p:cTn id="94" dur="1" fill="hold">
                                          <p:stCondLst>
                                            <p:cond delay="349"/>
                                          </p:stCondLst>
                                        </p:cTn>
                                        <p:tgtEl>
                                          <p:spTgt spid="10"/>
                                        </p:tgtEl>
                                        <p:attrNameLst>
                                          <p:attrName>style.visibility</p:attrName>
                                        </p:attrNameLst>
                                      </p:cBhvr>
                                      <p:to>
                                        <p:strVal val="hidden"/>
                                      </p:to>
                                    </p:set>
                                  </p:childTnLst>
                                </p:cTn>
                              </p:par>
                              <p:par>
                                <p:cTn id="95" presetID="0" presetClass="path" presetSubtype="0" accel="50000" decel="50000" fill="hold" nodeType="withEffect">
                                  <p:stCondLst>
                                    <p:cond delay="0"/>
                                  </p:stCondLst>
                                  <p:childTnLst>
                                    <p:animMotion origin="layout" path="M 0 0 L 0.48663 0.09077 E" pathEditMode="relative" rAng="0" ptsTypes="AA">
                                      <p:cBhvr>
                                        <p:cTn id="96" dur="750" fill="hold"/>
                                        <p:tgtEl>
                                          <p:spTgt spid="8"/>
                                        </p:tgtEl>
                                        <p:attrNameLst>
                                          <p:attrName>ppt_x</p:attrName>
                                          <p:attrName>ppt_y</p:attrName>
                                        </p:attrNameLst>
                                      </p:cBhvr>
                                      <p:rCtr x="24331" y="4538"/>
                                    </p:animMotion>
                                  </p:childTnLst>
                                </p:cTn>
                              </p:par>
                              <p:par>
                                <p:cTn id="97" presetID="6" presetClass="emph" presetSubtype="0" accel="50000" decel="50000" fill="hold" nodeType="withEffect">
                                  <p:stCondLst>
                                    <p:cond delay="0"/>
                                  </p:stCondLst>
                                  <p:childTnLst>
                                    <p:animScale>
                                      <p:cBhvr>
                                        <p:cTn id="98" dur="750" fill="hold"/>
                                        <p:tgtEl>
                                          <p:spTgt spid="8"/>
                                        </p:tgtEl>
                                      </p:cBhvr>
                                      <p:by x="22549" y="22549"/>
                                    </p:animScale>
                                  </p:childTnLst>
                                </p:cTn>
                              </p:par>
                              <p:par>
                                <p:cTn id="99" presetID="10" presetClass="entr" presetSubtype="0" fill="hold" nodeType="withEffect">
                                  <p:stCondLst>
                                    <p:cond delay="450"/>
                                  </p:stCondLst>
                                  <p:childTnLst>
                                    <p:set>
                                      <p:cBhvr>
                                        <p:cTn id="100" dur="1" fill="hold">
                                          <p:stCondLst>
                                            <p:cond delay="0"/>
                                          </p:stCondLst>
                                        </p:cTn>
                                        <p:tgtEl>
                                          <p:spTgt spid="11"/>
                                        </p:tgtEl>
                                        <p:attrNameLst>
                                          <p:attrName>style.visibility</p:attrName>
                                        </p:attrNameLst>
                                      </p:cBhvr>
                                      <p:to>
                                        <p:strVal val="visible"/>
                                      </p:to>
                                    </p:set>
                                    <p:animEffect transition="in" filter="fade">
                                      <p:cBhvr>
                                        <p:cTn id="101" dur="450"/>
                                        <p:tgtEl>
                                          <p:spTgt spid="11"/>
                                        </p:tgtEl>
                                      </p:cBhvr>
                                    </p:animEffect>
                                  </p:childTnLst>
                                </p:cTn>
                              </p:par>
                              <p:par>
                                <p:cTn id="102" presetID="10" presetClass="entr" presetSubtype="0" fill="hold" nodeType="withEffect">
                                  <p:stCondLst>
                                    <p:cond delay="520"/>
                                  </p:stCondLst>
                                  <p:childTnLst>
                                    <p:set>
                                      <p:cBhvr>
                                        <p:cTn id="103" dur="1" fill="hold">
                                          <p:stCondLst>
                                            <p:cond delay="0"/>
                                          </p:stCondLst>
                                        </p:cTn>
                                        <p:tgtEl>
                                          <p:spTgt spid="12"/>
                                        </p:tgtEl>
                                        <p:attrNameLst>
                                          <p:attrName>style.visibility</p:attrName>
                                        </p:attrNameLst>
                                      </p:cBhvr>
                                      <p:to>
                                        <p:strVal val="visible"/>
                                      </p:to>
                                    </p:set>
                                    <p:animEffect transition="in" filter="fade">
                                      <p:cBhvr>
                                        <p:cTn id="104" dur="450"/>
                                        <p:tgtEl>
                                          <p:spTgt spid="12"/>
                                        </p:tgtEl>
                                      </p:cBhvr>
                                    </p:animEffect>
                                  </p:childTnLst>
                                </p:cTn>
                              </p:par>
                              <p:par>
                                <p:cTn id="105" presetID="22" presetClass="entr" presetSubtype="8" fill="hold" nodeType="withEffect">
                                  <p:stCondLst>
                                    <p:cond delay="520"/>
                                  </p:stCondLst>
                                  <p:childTnLst>
                                    <p:set>
                                      <p:cBhvr>
                                        <p:cTn id="106" dur="1" fill="hold">
                                          <p:stCondLst>
                                            <p:cond delay="0"/>
                                          </p:stCondLst>
                                        </p:cTn>
                                        <p:tgtEl>
                                          <p:spTgt spid="13"/>
                                        </p:tgtEl>
                                        <p:attrNameLst>
                                          <p:attrName>style.visibility</p:attrName>
                                        </p:attrNameLst>
                                      </p:cBhvr>
                                      <p:to>
                                        <p:strVal val="visible"/>
                                      </p:to>
                                    </p:set>
                                    <p:animEffect transition="in" filter="wipe(left)">
                                      <p:cBhvr>
                                        <p:cTn id="107" dur="500"/>
                                        <p:tgtEl>
                                          <p:spTgt spid="13"/>
                                        </p:tgtEl>
                                      </p:cBhvr>
                                    </p:animEffect>
                                  </p:childTnLst>
                                </p:cTn>
                              </p:par>
                              <p:par>
                                <p:cTn id="108" presetID="10" presetClass="entr" presetSubtype="0" fill="hold" nodeType="withEffect">
                                  <p:stCondLst>
                                    <p:cond delay="590"/>
                                  </p:stCondLst>
                                  <p:childTnLst>
                                    <p:set>
                                      <p:cBhvr>
                                        <p:cTn id="109" dur="1" fill="hold">
                                          <p:stCondLst>
                                            <p:cond delay="0"/>
                                          </p:stCondLst>
                                        </p:cTn>
                                        <p:tgtEl>
                                          <p:spTgt spid="14"/>
                                        </p:tgtEl>
                                        <p:attrNameLst>
                                          <p:attrName>style.visibility</p:attrName>
                                        </p:attrNameLst>
                                      </p:cBhvr>
                                      <p:to>
                                        <p:strVal val="visible"/>
                                      </p:to>
                                    </p:set>
                                    <p:animEffect transition="in" filter="fade">
                                      <p:cBhvr>
                                        <p:cTn id="110" dur="450"/>
                                        <p:tgtEl>
                                          <p:spTgt spid="14"/>
                                        </p:tgtEl>
                                      </p:cBhvr>
                                    </p:animEffect>
                                  </p:childTnLst>
                                </p:cTn>
                              </p:par>
                              <p:par>
                                <p:cTn id="111" presetID="22" presetClass="entr" presetSubtype="8" fill="hold" nodeType="withEffect">
                                  <p:stCondLst>
                                    <p:cond delay="590"/>
                                  </p:stCondLst>
                                  <p:childTnLst>
                                    <p:set>
                                      <p:cBhvr>
                                        <p:cTn id="112" dur="1" fill="hold">
                                          <p:stCondLst>
                                            <p:cond delay="0"/>
                                          </p:stCondLst>
                                        </p:cTn>
                                        <p:tgtEl>
                                          <p:spTgt spid="15"/>
                                        </p:tgtEl>
                                        <p:attrNameLst>
                                          <p:attrName>style.visibility</p:attrName>
                                        </p:attrNameLst>
                                      </p:cBhvr>
                                      <p:to>
                                        <p:strVal val="visible"/>
                                      </p:to>
                                    </p:set>
                                    <p:animEffect transition="in" filter="wipe(left)">
                                      <p:cBhvr>
                                        <p:cTn id="113" dur="500"/>
                                        <p:tgtEl>
                                          <p:spTgt spid="15"/>
                                        </p:tgtEl>
                                      </p:cBhvr>
                                    </p:animEffect>
                                  </p:childTnLst>
                                </p:cTn>
                              </p:par>
                              <p:par>
                                <p:cTn id="114" presetID="22" presetClass="entr" presetSubtype="8" fill="hold" nodeType="withEffect">
                                  <p:stCondLst>
                                    <p:cond delay="660"/>
                                  </p:stCondLst>
                                  <p:childTnLst>
                                    <p:set>
                                      <p:cBhvr>
                                        <p:cTn id="115" dur="1" fill="hold">
                                          <p:stCondLst>
                                            <p:cond delay="0"/>
                                          </p:stCondLst>
                                        </p:cTn>
                                        <p:tgtEl>
                                          <p:spTgt spid="16"/>
                                        </p:tgtEl>
                                        <p:attrNameLst>
                                          <p:attrName>style.visibility</p:attrName>
                                        </p:attrNameLst>
                                      </p:cBhvr>
                                      <p:to>
                                        <p:strVal val="visible"/>
                                      </p:to>
                                    </p:set>
                                    <p:animEffect transition="in" filter="wipe(left)">
                                      <p:cBhvr>
                                        <p:cTn id="116" dur="500"/>
                                        <p:tgtEl>
                                          <p:spTgt spid="16"/>
                                        </p:tgtEl>
                                      </p:cBhvr>
                                    </p:animEffect>
                                  </p:childTnLst>
                                </p:cTn>
                              </p:par>
                              <p:par>
                                <p:cTn id="117" presetID="10" presetClass="entr" presetSubtype="0" fill="hold" nodeType="withEffect">
                                  <p:stCondLst>
                                    <p:cond delay="730"/>
                                  </p:stCondLst>
                                  <p:childTnLst>
                                    <p:set>
                                      <p:cBhvr>
                                        <p:cTn id="118" dur="1" fill="hold">
                                          <p:stCondLst>
                                            <p:cond delay="0"/>
                                          </p:stCondLst>
                                        </p:cTn>
                                        <p:tgtEl>
                                          <p:spTgt spid="17"/>
                                        </p:tgtEl>
                                        <p:attrNameLst>
                                          <p:attrName>style.visibility</p:attrName>
                                        </p:attrNameLst>
                                      </p:cBhvr>
                                      <p:to>
                                        <p:strVal val="visible"/>
                                      </p:to>
                                    </p:set>
                                    <p:animEffect transition="in" filter="fade">
                                      <p:cBhvr>
                                        <p:cTn id="119" dur="450"/>
                                        <p:tgtEl>
                                          <p:spTgt spid="17"/>
                                        </p:tgtEl>
                                      </p:cBhvr>
                                    </p:animEffect>
                                  </p:childTnLst>
                                </p:cTn>
                              </p:par>
                              <p:par>
                                <p:cTn id="120" presetID="22" presetClass="entr" presetSubtype="8" fill="hold" nodeType="withEffect">
                                  <p:stCondLst>
                                    <p:cond delay="730"/>
                                  </p:stCondLst>
                                  <p:childTnLst>
                                    <p:set>
                                      <p:cBhvr>
                                        <p:cTn id="121" dur="1" fill="hold">
                                          <p:stCondLst>
                                            <p:cond delay="0"/>
                                          </p:stCondLst>
                                        </p:cTn>
                                        <p:tgtEl>
                                          <p:spTgt spid="18"/>
                                        </p:tgtEl>
                                        <p:attrNameLst>
                                          <p:attrName>style.visibility</p:attrName>
                                        </p:attrNameLst>
                                      </p:cBhvr>
                                      <p:to>
                                        <p:strVal val="visible"/>
                                      </p:to>
                                    </p:set>
                                    <p:animEffect transition="in" filter="wipe(left)">
                                      <p:cBhvr>
                                        <p:cTn id="122" dur="500"/>
                                        <p:tgtEl>
                                          <p:spTgt spid="18"/>
                                        </p:tgtEl>
                                      </p:cBhvr>
                                    </p:animEffect>
                                  </p:childTnLst>
                                </p:cTn>
                              </p:par>
                              <p:par>
                                <p:cTn id="123" presetID="22" presetClass="entr" presetSubtype="8" fill="hold" nodeType="withEffect">
                                  <p:stCondLst>
                                    <p:cond delay="800"/>
                                  </p:stCondLst>
                                  <p:childTnLst>
                                    <p:set>
                                      <p:cBhvr>
                                        <p:cTn id="124" dur="1" fill="hold">
                                          <p:stCondLst>
                                            <p:cond delay="0"/>
                                          </p:stCondLst>
                                        </p:cTn>
                                        <p:tgtEl>
                                          <p:spTgt spid="19"/>
                                        </p:tgtEl>
                                        <p:attrNameLst>
                                          <p:attrName>style.visibility</p:attrName>
                                        </p:attrNameLst>
                                      </p:cBhvr>
                                      <p:to>
                                        <p:strVal val="visible"/>
                                      </p:to>
                                    </p:set>
                                    <p:animEffect transition="in" filter="wipe(left)">
                                      <p:cBhvr>
                                        <p:cTn id="125" dur="500"/>
                                        <p:tgtEl>
                                          <p:spTgt spid="19"/>
                                        </p:tgtEl>
                                      </p:cBhvr>
                                    </p:animEffect>
                                  </p:childTnLst>
                                </p:cTn>
                              </p:par>
                              <p:par>
                                <p:cTn id="126" presetID="10" presetClass="entr" presetSubtype="0" fill="hold" nodeType="withEffect">
                                  <p:stCondLst>
                                    <p:cond delay="870"/>
                                  </p:stCondLst>
                                  <p:childTnLst>
                                    <p:set>
                                      <p:cBhvr>
                                        <p:cTn id="127" dur="1" fill="hold">
                                          <p:stCondLst>
                                            <p:cond delay="0"/>
                                          </p:stCondLst>
                                        </p:cTn>
                                        <p:tgtEl>
                                          <p:spTgt spid="20"/>
                                        </p:tgtEl>
                                        <p:attrNameLst>
                                          <p:attrName>style.visibility</p:attrName>
                                        </p:attrNameLst>
                                      </p:cBhvr>
                                      <p:to>
                                        <p:strVal val="visible"/>
                                      </p:to>
                                    </p:set>
                                    <p:animEffect transition="in" filter="fade">
                                      <p:cBhvr>
                                        <p:cTn id="128" dur="450"/>
                                        <p:tgtEl>
                                          <p:spTgt spid="20"/>
                                        </p:tgtEl>
                                      </p:cBhvr>
                                    </p:animEffect>
                                  </p:childTnLst>
                                </p:cTn>
                              </p:par>
                              <p:par>
                                <p:cTn id="129" presetID="22" presetClass="entr" presetSubtype="8" fill="hold" nodeType="withEffect">
                                  <p:stCondLst>
                                    <p:cond delay="870"/>
                                  </p:stCondLst>
                                  <p:childTnLst>
                                    <p:set>
                                      <p:cBhvr>
                                        <p:cTn id="130" dur="1" fill="hold">
                                          <p:stCondLst>
                                            <p:cond delay="0"/>
                                          </p:stCondLst>
                                        </p:cTn>
                                        <p:tgtEl>
                                          <p:spTgt spid="21"/>
                                        </p:tgtEl>
                                        <p:attrNameLst>
                                          <p:attrName>style.visibility</p:attrName>
                                        </p:attrNameLst>
                                      </p:cBhvr>
                                      <p:to>
                                        <p:strVal val="visible"/>
                                      </p:to>
                                    </p:set>
                                    <p:animEffect transition="in" filter="wipe(left)">
                                      <p:cBhvr>
                                        <p:cTn id="131" dur="500"/>
                                        <p:tgtEl>
                                          <p:spTgt spid="21"/>
                                        </p:tgtEl>
                                      </p:cBhvr>
                                    </p:animEffect>
                                  </p:childTnLst>
                                </p:cTn>
                              </p:par>
                              <p:par>
                                <p:cTn id="132" presetID="22" presetClass="entr" presetSubtype="8" fill="hold" nodeType="withEffect">
                                  <p:stCondLst>
                                    <p:cond delay="940"/>
                                  </p:stCondLst>
                                  <p:childTnLst>
                                    <p:set>
                                      <p:cBhvr>
                                        <p:cTn id="133" dur="1" fill="hold">
                                          <p:stCondLst>
                                            <p:cond delay="0"/>
                                          </p:stCondLst>
                                        </p:cTn>
                                        <p:tgtEl>
                                          <p:spTgt spid="22"/>
                                        </p:tgtEl>
                                        <p:attrNameLst>
                                          <p:attrName>style.visibility</p:attrName>
                                        </p:attrNameLst>
                                      </p:cBhvr>
                                      <p:to>
                                        <p:strVal val="visible"/>
                                      </p:to>
                                    </p:set>
                                    <p:animEffect transition="in" filter="wipe(left)">
                                      <p:cBhvr>
                                        <p:cTn id="134" dur="500"/>
                                        <p:tgtEl>
                                          <p:spTgt spid="22"/>
                                        </p:tgtEl>
                                      </p:cBhvr>
                                    </p:animEffect>
                                  </p:childTnLst>
                                </p:cTn>
                              </p:par>
                              <p:par>
                                <p:cTn id="135" presetID="22" presetClass="entr" presetSubtype="8" fill="hold" nodeType="withEffect">
                                  <p:stCondLst>
                                    <p:cond delay="1010"/>
                                  </p:stCondLst>
                                  <p:childTnLst>
                                    <p:set>
                                      <p:cBhvr>
                                        <p:cTn id="136" dur="1" fill="hold">
                                          <p:stCondLst>
                                            <p:cond delay="0"/>
                                          </p:stCondLst>
                                        </p:cTn>
                                        <p:tgtEl>
                                          <p:spTgt spid="23"/>
                                        </p:tgtEl>
                                        <p:attrNameLst>
                                          <p:attrName>style.visibility</p:attrName>
                                        </p:attrNameLst>
                                      </p:cBhvr>
                                      <p:to>
                                        <p:strVal val="visible"/>
                                      </p:to>
                                    </p:set>
                                    <p:animEffect transition="in" filter="wipe(left)">
                                      <p:cBhvr>
                                        <p:cTn id="137" dur="500"/>
                                        <p:tgtEl>
                                          <p:spTgt spid="23"/>
                                        </p:tgtEl>
                                      </p:cBhvr>
                                    </p:animEffect>
                                  </p:childTnLst>
                                </p:cTn>
                              </p:par>
                              <p:par>
                                <p:cTn id="138" presetID="10" presetClass="entr" presetSubtype="0" fill="hold" nodeType="withEffect">
                                  <p:stCondLst>
                                    <p:cond delay="580"/>
                                  </p:stCondLst>
                                  <p:childTnLst>
                                    <p:set>
                                      <p:cBhvr>
                                        <p:cTn id="139" dur="1" fill="hold">
                                          <p:stCondLst>
                                            <p:cond delay="0"/>
                                          </p:stCondLst>
                                        </p:cTn>
                                        <p:tgtEl>
                                          <p:spTgt spid="24"/>
                                        </p:tgtEl>
                                        <p:attrNameLst>
                                          <p:attrName>style.visibility</p:attrName>
                                        </p:attrNameLst>
                                      </p:cBhvr>
                                      <p:to>
                                        <p:strVal val="visible"/>
                                      </p:to>
                                    </p:set>
                                    <p:animEffect transition="in" filter="fade">
                                      <p:cBhvr>
                                        <p:cTn id="140" dur="450"/>
                                        <p:tgtEl>
                                          <p:spTgt spid="24"/>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xit" presetSubtype="0" fill="hold" nodeType="clickEffect">
                                  <p:stCondLst>
                                    <p:cond delay="0"/>
                                  </p:stCondLst>
                                  <p:childTnLst>
                                    <p:animEffect transition="out" filter="fade">
                                      <p:cBhvr>
                                        <p:cTn id="144" dur="350"/>
                                        <p:tgtEl>
                                          <p:spTgt spid="11"/>
                                        </p:tgtEl>
                                      </p:cBhvr>
                                    </p:animEffect>
                                    <p:set>
                                      <p:cBhvr>
                                        <p:cTn id="145" dur="1" fill="hold">
                                          <p:stCondLst>
                                            <p:cond delay="349"/>
                                          </p:stCondLst>
                                        </p:cTn>
                                        <p:tgtEl>
                                          <p:spTgt spid="11"/>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12"/>
                                        </p:tgtEl>
                                      </p:cBhvr>
                                    </p:animEffect>
                                    <p:set>
                                      <p:cBhvr>
                                        <p:cTn id="148" dur="1" fill="hold">
                                          <p:stCondLst>
                                            <p:cond delay="349"/>
                                          </p:stCondLst>
                                        </p:cTn>
                                        <p:tgtEl>
                                          <p:spTgt spid="12"/>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350"/>
                                        <p:tgtEl>
                                          <p:spTgt spid="13"/>
                                        </p:tgtEl>
                                      </p:cBhvr>
                                    </p:animEffect>
                                    <p:set>
                                      <p:cBhvr>
                                        <p:cTn id="151" dur="1" fill="hold">
                                          <p:stCondLst>
                                            <p:cond delay="349"/>
                                          </p:stCondLst>
                                        </p:cTn>
                                        <p:tgtEl>
                                          <p:spTgt spid="13"/>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350"/>
                                        <p:tgtEl>
                                          <p:spTgt spid="14"/>
                                        </p:tgtEl>
                                      </p:cBhvr>
                                    </p:animEffect>
                                    <p:set>
                                      <p:cBhvr>
                                        <p:cTn id="154" dur="1" fill="hold">
                                          <p:stCondLst>
                                            <p:cond delay="349"/>
                                          </p:stCondLst>
                                        </p:cTn>
                                        <p:tgtEl>
                                          <p:spTgt spid="14"/>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350"/>
                                        <p:tgtEl>
                                          <p:spTgt spid="15"/>
                                        </p:tgtEl>
                                      </p:cBhvr>
                                    </p:animEffect>
                                    <p:set>
                                      <p:cBhvr>
                                        <p:cTn id="157" dur="1" fill="hold">
                                          <p:stCondLst>
                                            <p:cond delay="349"/>
                                          </p:stCondLst>
                                        </p:cTn>
                                        <p:tgtEl>
                                          <p:spTgt spid="15"/>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350"/>
                                        <p:tgtEl>
                                          <p:spTgt spid="16"/>
                                        </p:tgtEl>
                                      </p:cBhvr>
                                    </p:animEffect>
                                    <p:set>
                                      <p:cBhvr>
                                        <p:cTn id="160" dur="1" fill="hold">
                                          <p:stCondLst>
                                            <p:cond delay="349"/>
                                          </p:stCondLst>
                                        </p:cTn>
                                        <p:tgtEl>
                                          <p:spTgt spid="16"/>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350"/>
                                        <p:tgtEl>
                                          <p:spTgt spid="17"/>
                                        </p:tgtEl>
                                      </p:cBhvr>
                                    </p:animEffect>
                                    <p:set>
                                      <p:cBhvr>
                                        <p:cTn id="163" dur="1" fill="hold">
                                          <p:stCondLst>
                                            <p:cond delay="349"/>
                                          </p:stCondLst>
                                        </p:cTn>
                                        <p:tgtEl>
                                          <p:spTgt spid="17"/>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350"/>
                                        <p:tgtEl>
                                          <p:spTgt spid="18"/>
                                        </p:tgtEl>
                                      </p:cBhvr>
                                    </p:animEffect>
                                    <p:set>
                                      <p:cBhvr>
                                        <p:cTn id="166" dur="1" fill="hold">
                                          <p:stCondLst>
                                            <p:cond delay="349"/>
                                          </p:stCondLst>
                                        </p:cTn>
                                        <p:tgtEl>
                                          <p:spTgt spid="18"/>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350"/>
                                        <p:tgtEl>
                                          <p:spTgt spid="19"/>
                                        </p:tgtEl>
                                      </p:cBhvr>
                                    </p:animEffect>
                                    <p:set>
                                      <p:cBhvr>
                                        <p:cTn id="169" dur="1" fill="hold">
                                          <p:stCondLst>
                                            <p:cond delay="349"/>
                                          </p:stCondLst>
                                        </p:cTn>
                                        <p:tgtEl>
                                          <p:spTgt spid="19"/>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350"/>
                                        <p:tgtEl>
                                          <p:spTgt spid="20"/>
                                        </p:tgtEl>
                                      </p:cBhvr>
                                    </p:animEffect>
                                    <p:set>
                                      <p:cBhvr>
                                        <p:cTn id="172" dur="1" fill="hold">
                                          <p:stCondLst>
                                            <p:cond delay="349"/>
                                          </p:stCondLst>
                                        </p:cTn>
                                        <p:tgtEl>
                                          <p:spTgt spid="20"/>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350"/>
                                        <p:tgtEl>
                                          <p:spTgt spid="21"/>
                                        </p:tgtEl>
                                      </p:cBhvr>
                                    </p:animEffect>
                                    <p:set>
                                      <p:cBhvr>
                                        <p:cTn id="175" dur="1" fill="hold">
                                          <p:stCondLst>
                                            <p:cond delay="349"/>
                                          </p:stCondLst>
                                        </p:cTn>
                                        <p:tgtEl>
                                          <p:spTgt spid="21"/>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350"/>
                                        <p:tgtEl>
                                          <p:spTgt spid="22"/>
                                        </p:tgtEl>
                                      </p:cBhvr>
                                    </p:animEffect>
                                    <p:set>
                                      <p:cBhvr>
                                        <p:cTn id="178" dur="1" fill="hold">
                                          <p:stCondLst>
                                            <p:cond delay="349"/>
                                          </p:stCondLst>
                                        </p:cTn>
                                        <p:tgtEl>
                                          <p:spTgt spid="22"/>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350"/>
                                        <p:tgtEl>
                                          <p:spTgt spid="23"/>
                                        </p:tgtEl>
                                      </p:cBhvr>
                                    </p:animEffect>
                                    <p:set>
                                      <p:cBhvr>
                                        <p:cTn id="181" dur="1" fill="hold">
                                          <p:stCondLst>
                                            <p:cond delay="349"/>
                                          </p:stCondLst>
                                        </p:cTn>
                                        <p:tgtEl>
                                          <p:spTgt spid="23"/>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350"/>
                                        <p:tgtEl>
                                          <p:spTgt spid="24"/>
                                        </p:tgtEl>
                                      </p:cBhvr>
                                    </p:animEffect>
                                    <p:set>
                                      <p:cBhvr>
                                        <p:cTn id="184" dur="1" fill="hold">
                                          <p:stCondLst>
                                            <p:cond delay="349"/>
                                          </p:stCondLst>
                                        </p:cTn>
                                        <p:tgtEl>
                                          <p:spTgt spid="24"/>
                                        </p:tgtEl>
                                        <p:attrNameLst>
                                          <p:attrName>style.visibility</p:attrName>
                                        </p:attrNameLst>
                                      </p:cBhvr>
                                      <p:to>
                                        <p:strVal val="hidden"/>
                                      </p:to>
                                    </p:set>
                                  </p:childTnLst>
                                </p:cTn>
                              </p:par>
                              <p:par>
                                <p:cTn id="185" presetID="10" presetClass="entr" presetSubtype="0" fill="hold" nodeType="withEffect">
                                  <p:stCondLst>
                                    <p:cond delay="450"/>
                                  </p:stCondLst>
                                  <p:childTnLst>
                                    <p:set>
                                      <p:cBhvr>
                                        <p:cTn id="186" dur="1" fill="hold">
                                          <p:stCondLst>
                                            <p:cond delay="0"/>
                                          </p:stCondLst>
                                        </p:cTn>
                                        <p:tgtEl>
                                          <p:spTgt spid="25"/>
                                        </p:tgtEl>
                                        <p:attrNameLst>
                                          <p:attrName>style.visibility</p:attrName>
                                        </p:attrNameLst>
                                      </p:cBhvr>
                                      <p:to>
                                        <p:strVal val="visible"/>
                                      </p:to>
                                    </p:set>
                                    <p:animEffect transition="in" filter="fade">
                                      <p:cBhvr>
                                        <p:cTn id="187" dur="450"/>
                                        <p:tgtEl>
                                          <p:spTgt spid="25"/>
                                        </p:tgtEl>
                                      </p:cBhvr>
                                    </p:animEffect>
                                  </p:childTnLst>
                                </p:cTn>
                              </p:par>
                              <p:par>
                                <p:cTn id="188" presetID="53" presetClass="entr" presetSubtype="16" fill="hold" nodeType="withEffect">
                                  <p:stCondLst>
                                    <p:cond delay="520"/>
                                  </p:stCondLst>
                                  <p:childTnLst>
                                    <p:set>
                                      <p:cBhvr>
                                        <p:cTn id="189" dur="1" fill="hold">
                                          <p:stCondLst>
                                            <p:cond delay="0"/>
                                          </p:stCondLst>
                                        </p:cTn>
                                        <p:tgtEl>
                                          <p:spTgt spid="26"/>
                                        </p:tgtEl>
                                        <p:attrNameLst>
                                          <p:attrName>style.visibility</p:attrName>
                                        </p:attrNameLst>
                                      </p:cBhvr>
                                      <p:to>
                                        <p:strVal val="visible"/>
                                      </p:to>
                                    </p:set>
                                    <p:anim calcmode="lin" valueType="num">
                                      <p:cBhvr>
                                        <p:cTn id="190" dur="600" fill="hold"/>
                                        <p:tgtEl>
                                          <p:spTgt spid="26"/>
                                        </p:tgtEl>
                                        <p:attrNameLst>
                                          <p:attrName>ppt_w</p:attrName>
                                        </p:attrNameLst>
                                      </p:cBhvr>
                                      <p:tavLst>
                                        <p:tav tm="0">
                                          <p:val>
                                            <p:fltVal val="0"/>
                                          </p:val>
                                        </p:tav>
                                        <p:tav tm="100000">
                                          <p:val>
                                            <p:strVal val="#ppt_w"/>
                                          </p:val>
                                        </p:tav>
                                      </p:tavLst>
                                    </p:anim>
                                    <p:anim calcmode="lin" valueType="num">
                                      <p:cBhvr>
                                        <p:cTn id="191" dur="600" fill="hold"/>
                                        <p:tgtEl>
                                          <p:spTgt spid="26"/>
                                        </p:tgtEl>
                                        <p:attrNameLst>
                                          <p:attrName>ppt_h</p:attrName>
                                        </p:attrNameLst>
                                      </p:cBhvr>
                                      <p:tavLst>
                                        <p:tav tm="0">
                                          <p:val>
                                            <p:fltVal val="0"/>
                                          </p:val>
                                        </p:tav>
                                        <p:tav tm="100000">
                                          <p:val>
                                            <p:strVal val="#ppt_h"/>
                                          </p:val>
                                        </p:tav>
                                      </p:tavLst>
                                    </p:anim>
                                    <p:animEffect transition="in" filter="fade">
                                      <p:cBhvr>
                                        <p:cTn id="192" dur="600"/>
                                        <p:tgtEl>
                                          <p:spTgt spid="26"/>
                                        </p:tgtEl>
                                      </p:cBhvr>
                                    </p:animEffect>
                                  </p:childTnLst>
                                </p:cTn>
                              </p:par>
                              <p:par>
                                <p:cTn id="193" presetID="22" presetClass="entr" presetSubtype="4" fill="hold" nodeType="withEffect">
                                  <p:stCondLst>
                                    <p:cond delay="590"/>
                                  </p:stCondLst>
                                  <p:childTnLst>
                                    <p:set>
                                      <p:cBhvr>
                                        <p:cTn id="194" dur="1" fill="hold">
                                          <p:stCondLst>
                                            <p:cond delay="0"/>
                                          </p:stCondLst>
                                        </p:cTn>
                                        <p:tgtEl>
                                          <p:spTgt spid="27"/>
                                        </p:tgtEl>
                                        <p:attrNameLst>
                                          <p:attrName>style.visibility</p:attrName>
                                        </p:attrNameLst>
                                      </p:cBhvr>
                                      <p:to>
                                        <p:strVal val="visible"/>
                                      </p:to>
                                    </p:set>
                                    <p:animEffect transition="in" filter="wipe(down)">
                                      <p:cBhvr>
                                        <p:cTn id="195" dur="500"/>
                                        <p:tgtEl>
                                          <p:spTgt spid="27"/>
                                        </p:tgtEl>
                                      </p:cBhvr>
                                    </p:animEffect>
                                  </p:childTnLst>
                                </p:cTn>
                              </p:par>
                              <p:par>
                                <p:cTn id="196" presetID="10" presetClass="entr" presetSubtype="0" fill="hold" nodeType="withEffect">
                                  <p:stCondLst>
                                    <p:cond delay="580"/>
                                  </p:stCondLst>
                                  <p:childTnLst>
                                    <p:set>
                                      <p:cBhvr>
                                        <p:cTn id="197" dur="1" fill="hold">
                                          <p:stCondLst>
                                            <p:cond delay="0"/>
                                          </p:stCondLst>
                                        </p:cTn>
                                        <p:tgtEl>
                                          <p:spTgt spid="28"/>
                                        </p:tgtEl>
                                        <p:attrNameLst>
                                          <p:attrName>style.visibility</p:attrName>
                                        </p:attrNameLst>
                                      </p:cBhvr>
                                      <p:to>
                                        <p:strVal val="visible"/>
                                      </p:to>
                                    </p:set>
                                    <p:animEffect transition="in" filter="fade">
                                      <p:cBhvr>
                                        <p:cTn id="198" dur="450"/>
                                        <p:tgtEl>
                                          <p:spTgt spid="28"/>
                                        </p:tgtEl>
                                      </p:cBhvr>
                                    </p:animEffect>
                                  </p:childTnLst>
                                </p:cTn>
                              </p:par>
                            </p:childTnLst>
                          </p:cTn>
                        </p:par>
                      </p:childTnLst>
                    </p:cTn>
                  </p:par>
                  <p:par>
                    <p:cTn id="199" fill="hold">
                      <p:stCondLst>
                        <p:cond delay="indefinite"/>
                      </p:stCondLst>
                      <p:childTnLst>
                        <p:par>
                          <p:cTn id="200" fill="hold">
                            <p:stCondLst>
                              <p:cond delay="0"/>
                            </p:stCondLst>
                            <p:childTnLst>
                              <p:par>
                                <p:cTn id="201" presetID="10" presetClass="exit" presetSubtype="0" fill="hold" nodeType="clickEffect">
                                  <p:stCondLst>
                                    <p:cond delay="0"/>
                                  </p:stCondLst>
                                  <p:childTnLst>
                                    <p:animEffect transition="out" filter="fade">
                                      <p:cBhvr>
                                        <p:cTn id="202" dur="350"/>
                                        <p:tgtEl>
                                          <p:spTgt spid="25"/>
                                        </p:tgtEl>
                                      </p:cBhvr>
                                    </p:animEffect>
                                    <p:set>
                                      <p:cBhvr>
                                        <p:cTn id="203" dur="1" fill="hold">
                                          <p:stCondLst>
                                            <p:cond delay="349"/>
                                          </p:stCondLst>
                                        </p:cTn>
                                        <p:tgtEl>
                                          <p:spTgt spid="25"/>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350"/>
                                        <p:tgtEl>
                                          <p:spTgt spid="27"/>
                                        </p:tgtEl>
                                      </p:cBhvr>
                                    </p:animEffect>
                                    <p:set>
                                      <p:cBhvr>
                                        <p:cTn id="206" dur="1" fill="hold">
                                          <p:stCondLst>
                                            <p:cond delay="349"/>
                                          </p:stCondLst>
                                        </p:cTn>
                                        <p:tgtEl>
                                          <p:spTgt spid="27"/>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350"/>
                                        <p:tgtEl>
                                          <p:spTgt spid="28"/>
                                        </p:tgtEl>
                                      </p:cBhvr>
                                    </p:animEffect>
                                    <p:set>
                                      <p:cBhvr>
                                        <p:cTn id="209" dur="1" fill="hold">
                                          <p:stCondLst>
                                            <p:cond delay="349"/>
                                          </p:stCondLst>
                                        </p:cTn>
                                        <p:tgtEl>
                                          <p:spTgt spid="28"/>
                                        </p:tgtEl>
                                        <p:attrNameLst>
                                          <p:attrName>style.visibility</p:attrName>
                                        </p:attrNameLst>
                                      </p:cBhvr>
                                      <p:to>
                                        <p:strVal val="hidden"/>
                                      </p:to>
                                    </p:set>
                                  </p:childTnLst>
                                </p:cTn>
                              </p:par>
                              <p:par>
                                <p:cTn id="210" presetID="0" presetClass="path" presetSubtype="0" accel="50000" decel="50000" fill="hold" nodeType="withEffect">
                                  <p:stCondLst>
                                    <p:cond delay="0"/>
                                  </p:stCondLst>
                                  <p:childTnLst>
                                    <p:animMotion origin="layout" path="M 0 0 L 0.47000 0.19151 E" pathEditMode="relative" rAng="0" ptsTypes="AA">
                                      <p:cBhvr>
                                        <p:cTn id="211" dur="750" fill="hold"/>
                                        <p:tgtEl>
                                          <p:spTgt spid="26"/>
                                        </p:tgtEl>
                                        <p:attrNameLst>
                                          <p:attrName>ppt_x</p:attrName>
                                          <p:attrName>ppt_y</p:attrName>
                                        </p:attrNameLst>
                                      </p:cBhvr>
                                      <p:rCtr x="23499" y="9575"/>
                                    </p:animMotion>
                                  </p:childTnLst>
                                </p:cTn>
                              </p:par>
                              <p:par>
                                <p:cTn id="212" presetID="6" presetClass="emph" presetSubtype="0" accel="50000" decel="50000" fill="hold" nodeType="withEffect">
                                  <p:stCondLst>
                                    <p:cond delay="0"/>
                                  </p:stCondLst>
                                  <p:childTnLst>
                                    <p:animScale>
                                      <p:cBhvr>
                                        <p:cTn id="213" dur="750" fill="hold"/>
                                        <p:tgtEl>
                                          <p:spTgt spid="26"/>
                                        </p:tgtEl>
                                      </p:cBhvr>
                                      <p:by x="28992" y="28992"/>
                                    </p:animScale>
                                  </p:childTnLst>
                                </p:cTn>
                              </p:par>
                              <p:par>
                                <p:cTn id="214" presetID="10" presetClass="entr" presetSubtype="0" fill="hold" nodeType="withEffect">
                                  <p:stCondLst>
                                    <p:cond delay="450"/>
                                  </p:stCondLst>
                                  <p:childTnLst>
                                    <p:set>
                                      <p:cBhvr>
                                        <p:cTn id="215" dur="1" fill="hold">
                                          <p:stCondLst>
                                            <p:cond delay="0"/>
                                          </p:stCondLst>
                                        </p:cTn>
                                        <p:tgtEl>
                                          <p:spTgt spid="29"/>
                                        </p:tgtEl>
                                        <p:attrNameLst>
                                          <p:attrName>style.visibility</p:attrName>
                                        </p:attrNameLst>
                                      </p:cBhvr>
                                      <p:to>
                                        <p:strVal val="visible"/>
                                      </p:to>
                                    </p:set>
                                    <p:animEffect transition="in" filter="fade">
                                      <p:cBhvr>
                                        <p:cTn id="216" dur="450"/>
                                        <p:tgtEl>
                                          <p:spTgt spid="29"/>
                                        </p:tgtEl>
                                      </p:cBhvr>
                                    </p:animEffect>
                                  </p:childTnLst>
                                </p:cTn>
                              </p:par>
                              <p:par>
                                <p:cTn id="217" presetID="53" presetClass="entr" presetSubtype="16" fill="hold" nodeType="withEffect">
                                  <p:stCondLst>
                                    <p:cond delay="520"/>
                                  </p:stCondLst>
                                  <p:childTnLst>
                                    <p:set>
                                      <p:cBhvr>
                                        <p:cTn id="218" dur="1" fill="hold">
                                          <p:stCondLst>
                                            <p:cond delay="0"/>
                                          </p:stCondLst>
                                        </p:cTn>
                                        <p:tgtEl>
                                          <p:spTgt spid="30"/>
                                        </p:tgtEl>
                                        <p:attrNameLst>
                                          <p:attrName>style.visibility</p:attrName>
                                        </p:attrNameLst>
                                      </p:cBhvr>
                                      <p:to>
                                        <p:strVal val="visible"/>
                                      </p:to>
                                    </p:set>
                                    <p:anim calcmode="lin" valueType="num">
                                      <p:cBhvr>
                                        <p:cTn id="219" dur="600" fill="hold"/>
                                        <p:tgtEl>
                                          <p:spTgt spid="30"/>
                                        </p:tgtEl>
                                        <p:attrNameLst>
                                          <p:attrName>ppt_w</p:attrName>
                                        </p:attrNameLst>
                                      </p:cBhvr>
                                      <p:tavLst>
                                        <p:tav tm="0">
                                          <p:val>
                                            <p:fltVal val="0"/>
                                          </p:val>
                                        </p:tav>
                                        <p:tav tm="100000">
                                          <p:val>
                                            <p:strVal val="#ppt_w"/>
                                          </p:val>
                                        </p:tav>
                                      </p:tavLst>
                                    </p:anim>
                                    <p:anim calcmode="lin" valueType="num">
                                      <p:cBhvr>
                                        <p:cTn id="220" dur="600" fill="hold"/>
                                        <p:tgtEl>
                                          <p:spTgt spid="30"/>
                                        </p:tgtEl>
                                        <p:attrNameLst>
                                          <p:attrName>ppt_h</p:attrName>
                                        </p:attrNameLst>
                                      </p:cBhvr>
                                      <p:tavLst>
                                        <p:tav tm="0">
                                          <p:val>
                                            <p:fltVal val="0"/>
                                          </p:val>
                                        </p:tav>
                                        <p:tav tm="100000">
                                          <p:val>
                                            <p:strVal val="#ppt_h"/>
                                          </p:val>
                                        </p:tav>
                                      </p:tavLst>
                                    </p:anim>
                                    <p:animEffect transition="in" filter="fade">
                                      <p:cBhvr>
                                        <p:cTn id="221" dur="600"/>
                                        <p:tgtEl>
                                          <p:spTgt spid="30"/>
                                        </p:tgtEl>
                                      </p:cBhvr>
                                    </p:animEffect>
                                  </p:childTnLst>
                                </p:cTn>
                              </p:par>
                              <p:par>
                                <p:cTn id="222" presetID="10" presetClass="entr" presetSubtype="0" grpId="0" fill="hold" nodeType="withEffect">
                                  <p:stCondLst>
                                    <p:cond delay="590"/>
                                  </p:stCondLst>
                                  <p:childTnLst>
                                    <p:set>
                                      <p:cBhvr>
                                        <p:cTn id="223" dur="1" fill="hold">
                                          <p:stCondLst>
                                            <p:cond delay="0"/>
                                          </p:stCondLst>
                                        </p:cTn>
                                        <p:tgtEl>
                                          <p:spTgt spid="32">
                                            <p:txEl>
                                              <p:pRg st="0" end="0"/>
                                            </p:txEl>
                                          </p:spTgt>
                                        </p:tgtEl>
                                        <p:attrNameLst>
                                          <p:attrName>style.visibility</p:attrName>
                                        </p:attrNameLst>
                                      </p:cBhvr>
                                      <p:to>
                                        <p:strVal val="visible"/>
                                      </p:to>
                                    </p:set>
                                    <p:animEffect transition="in" filter="fade">
                                      <p:cBhvr>
                                        <p:cTn id="224" dur="450"/>
                                        <p:tgtEl>
                                          <p:spTgt spid="32">
                                            <p:txEl>
                                              <p:pRg st="0" end="0"/>
                                            </p:txEl>
                                          </p:spTgt>
                                        </p:tgtEl>
                                      </p:cBhvr>
                                    </p:animEffect>
                                  </p:childTnLst>
                                </p:cTn>
                              </p:par>
                              <p:par>
                                <p:cTn id="225" presetID="10" presetClass="entr" presetSubtype="0" grpId="0" fill="hold" nodeType="withEffect">
                                  <p:stCondLst>
                                    <p:cond delay="970"/>
                                  </p:stCondLst>
                                  <p:childTnLst>
                                    <p:set>
                                      <p:cBhvr>
                                        <p:cTn id="226" dur="1" fill="hold">
                                          <p:stCondLst>
                                            <p:cond delay="0"/>
                                          </p:stCondLst>
                                        </p:cTn>
                                        <p:tgtEl>
                                          <p:spTgt spid="32">
                                            <p:txEl>
                                              <p:pRg st="1" end="1"/>
                                            </p:txEl>
                                          </p:spTgt>
                                        </p:tgtEl>
                                        <p:attrNameLst>
                                          <p:attrName>style.visibility</p:attrName>
                                        </p:attrNameLst>
                                      </p:cBhvr>
                                      <p:to>
                                        <p:strVal val="visible"/>
                                      </p:to>
                                    </p:set>
                                    <p:animEffect transition="in" filter="fade">
                                      <p:cBhvr>
                                        <p:cTn id="227" dur="450"/>
                                        <p:tgtEl>
                                          <p:spTgt spid="32">
                                            <p:txEl>
                                              <p:pRg st="1" end="1"/>
                                            </p:txEl>
                                          </p:spTgt>
                                        </p:tgtEl>
                                      </p:cBhvr>
                                    </p:animEffect>
                                  </p:childTnLst>
                                </p:cTn>
                              </p:par>
                              <p:par>
                                <p:cTn id="228" presetID="10" presetClass="entr" presetSubtype="0" grpId="0" fill="hold" nodeType="withEffect">
                                  <p:stCondLst>
                                    <p:cond delay="1350"/>
                                  </p:stCondLst>
                                  <p:childTnLst>
                                    <p:set>
                                      <p:cBhvr>
                                        <p:cTn id="229" dur="1" fill="hold">
                                          <p:stCondLst>
                                            <p:cond delay="0"/>
                                          </p:stCondLst>
                                        </p:cTn>
                                        <p:tgtEl>
                                          <p:spTgt spid="32">
                                            <p:txEl>
                                              <p:pRg st="2" end="2"/>
                                            </p:txEl>
                                          </p:spTgt>
                                        </p:tgtEl>
                                        <p:attrNameLst>
                                          <p:attrName>style.visibility</p:attrName>
                                        </p:attrNameLst>
                                      </p:cBhvr>
                                      <p:to>
                                        <p:strVal val="visible"/>
                                      </p:to>
                                    </p:set>
                                    <p:animEffect transition="in" filter="fade">
                                      <p:cBhvr>
                                        <p:cTn id="230" dur="450"/>
                                        <p:tgtEl>
                                          <p:spTgt spid="32">
                                            <p:txEl>
                                              <p:pRg st="2" end="2"/>
                                            </p:txEl>
                                          </p:spTgt>
                                        </p:tgtEl>
                                      </p:cBhvr>
                                    </p:animEffect>
                                  </p:childTnLst>
                                </p:cTn>
                              </p:par>
                              <p:par>
                                <p:cTn id="231" presetID="22" presetClass="entr" presetSubtype="8" fill="hold" nodeType="withEffect">
                                  <p:stCondLst>
                                    <p:cond delay="660"/>
                                  </p:stCondLst>
                                  <p:childTnLst>
                                    <p:set>
                                      <p:cBhvr>
                                        <p:cTn id="232" dur="1" fill="hold">
                                          <p:stCondLst>
                                            <p:cond delay="0"/>
                                          </p:stCondLst>
                                        </p:cTn>
                                        <p:tgtEl>
                                          <p:spTgt spid="33"/>
                                        </p:tgtEl>
                                        <p:attrNameLst>
                                          <p:attrName>style.visibility</p:attrName>
                                        </p:attrNameLst>
                                      </p:cBhvr>
                                      <p:to>
                                        <p:strVal val="visible"/>
                                      </p:to>
                                    </p:set>
                                    <p:animEffect transition="in" filter="wipe(left)">
                                      <p:cBhvr>
                                        <p:cTn id="233" dur="500"/>
                                        <p:tgtEl>
                                          <p:spTgt spid="33"/>
                                        </p:tgtEl>
                                      </p:cBhvr>
                                    </p:animEffect>
                                  </p:childTnLst>
                                </p:cTn>
                              </p:par>
                              <p:par>
                                <p:cTn id="234" presetID="22" presetClass="entr" presetSubtype="8" fill="hold" nodeType="withEffect">
                                  <p:stCondLst>
                                    <p:cond delay="730"/>
                                  </p:stCondLst>
                                  <p:childTnLst>
                                    <p:set>
                                      <p:cBhvr>
                                        <p:cTn id="235" dur="1" fill="hold">
                                          <p:stCondLst>
                                            <p:cond delay="0"/>
                                          </p:stCondLst>
                                        </p:cTn>
                                        <p:tgtEl>
                                          <p:spTgt spid="31"/>
                                        </p:tgtEl>
                                        <p:attrNameLst>
                                          <p:attrName>style.visibility</p:attrName>
                                        </p:attrNameLst>
                                      </p:cBhvr>
                                      <p:to>
                                        <p:strVal val="visible"/>
                                      </p:to>
                                    </p:set>
                                    <p:animEffect transition="in" filter="wipe(left)">
                                      <p:cBhvr>
                                        <p:cTn id="236" dur="500"/>
                                        <p:tgtEl>
                                          <p:spTgt spid="31"/>
                                        </p:tgtEl>
                                      </p:cBhvr>
                                    </p:animEffect>
                                  </p:childTnLst>
                                </p:cTn>
                              </p:par>
                              <p:par>
                                <p:cTn id="237" presetID="10" presetClass="entr" presetSubtype="0" fill="hold" nodeType="withEffect">
                                  <p:stCondLst>
                                    <p:cond delay="580"/>
                                  </p:stCondLst>
                                  <p:childTnLst>
                                    <p:set>
                                      <p:cBhvr>
                                        <p:cTn id="238" dur="1" fill="hold">
                                          <p:stCondLst>
                                            <p:cond delay="0"/>
                                          </p:stCondLst>
                                        </p:cTn>
                                        <p:tgtEl>
                                          <p:spTgt spid="34"/>
                                        </p:tgtEl>
                                        <p:attrNameLst>
                                          <p:attrName>style.visibility</p:attrName>
                                        </p:attrNameLst>
                                      </p:cBhvr>
                                      <p:to>
                                        <p:strVal val="visible"/>
                                      </p:to>
                                    </p:set>
                                    <p:animEffect transition="in" filter="fade">
                                      <p:cBhvr>
                                        <p:cTn id="239"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3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hardware decide cuándo y el software qué valores</a:t>
            </a:r>
            <a:endParaRPr lang="en-US" sz="2200" dirty="0"/>
          </a:p>
        </p:txBody>
      </p:sp>
      <p:sp>
        <p:nvSpPr>
          <p:cNvPr id="3" name="Obj [o60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Reparto de tareas digitales entre la máquina de estados y el procesador</a:t>
            </a:r>
            <a:endParaRPr lang="en-US" sz="1400" dirty="0"/>
          </a:p>
        </p:txBody>
      </p:sp>
      <p:sp>
        <p:nvSpPr>
          <p:cNvPr id="4" name="Obj [o601]"/>
          <p:cNvSpPr/>
          <p:nvPr/>
        </p:nvSpPr>
        <p:spPr>
          <a:xfrm>
            <a:off x="966136" y="1561458"/>
            <a:ext cx="3525734" cy="320521"/>
          </a:xfrm>
          <a:prstGeom prst="rect">
            <a:avLst/>
          </a:prstGeom>
          <a:solidFill>
            <a:srgbClr val="1F4E79"/>
          </a:solidFill>
          <a:ln w="6350">
            <a:solidFill>
              <a:srgbClr val="1F4E79"/>
            </a:solidFill>
            <a:prstDash val="solid"/>
          </a:ln>
        </p:spPr>
      </p:sp>
      <p:sp>
        <p:nvSpPr>
          <p:cNvPr id="5" name="Obj [o602]"/>
          <p:cNvSpPr txBox="1"/>
          <p:nvPr/>
        </p:nvSpPr>
        <p:spPr>
          <a:xfrm>
            <a:off x="1006201" y="1561458"/>
            <a:ext cx="344560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Qué se espera del sistema digital</a:t>
            </a:r>
            <a:endParaRPr lang="en-US" sz="1260" dirty="0"/>
          </a:p>
        </p:txBody>
      </p:sp>
      <p:sp>
        <p:nvSpPr>
          <p:cNvPr id="6" name="Obj [o603]"/>
          <p:cNvSpPr/>
          <p:nvPr/>
        </p:nvSpPr>
        <p:spPr>
          <a:xfrm>
            <a:off x="966136" y="1881980"/>
            <a:ext cx="3525734" cy="1242020"/>
          </a:xfrm>
          <a:prstGeom prst="rect">
            <a:avLst/>
          </a:prstGeom>
          <a:solidFill>
            <a:srgbClr val="FFFFFF"/>
          </a:solidFill>
          <a:ln w="16694">
            <a:solidFill>
              <a:srgbClr val="1F4E79"/>
            </a:solidFill>
            <a:prstDash val="solid"/>
          </a:ln>
        </p:spPr>
      </p:sp>
      <p:sp>
        <p:nvSpPr>
          <p:cNvPr id="7" name="Obj [o604]"/>
          <p:cNvSpPr txBox="1"/>
          <p:nvPr/>
        </p:nvSpPr>
        <p:spPr>
          <a:xfrm>
            <a:off x="1062292" y="1946084"/>
            <a:ext cx="3333421" cy="1113811"/>
          </a:xfrm>
          <a:prstGeom prst="rect">
            <a:avLst/>
          </a:prstGeom>
          <a:noFill/>
          <a:ln/>
        </p:spPr>
        <p:txBody>
          <a:bodyPr wrap="square" lIns="0" tIns="0" rIns="0" bIns="0" rtlCol="0" anchor="t"/>
          <a:lstStyle/>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Arrancar la captura al mismo tiempo en todos los nodos</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Muestrear a un ritmo fijo</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Llevar cada muestra a memoria sin perder ninguna</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Guardar el registro y entregarlo después</a:t>
            </a:r>
            <a:endParaRPr lang="en-US" sz="1170" dirty="0"/>
          </a:p>
        </p:txBody>
      </p:sp>
      <p:sp>
        <p:nvSpPr>
          <p:cNvPr id="8" name="Obj [o605]"/>
          <p:cNvSpPr/>
          <p:nvPr/>
        </p:nvSpPr>
        <p:spPr>
          <a:xfrm>
            <a:off x="4652130" y="1561458"/>
            <a:ext cx="3525734" cy="320521"/>
          </a:xfrm>
          <a:prstGeom prst="rect">
            <a:avLst/>
          </a:prstGeom>
          <a:solidFill>
            <a:srgbClr val="C55A11"/>
          </a:solidFill>
          <a:ln w="6350">
            <a:solidFill>
              <a:srgbClr val="C55A11"/>
            </a:solidFill>
            <a:prstDash val="solid"/>
          </a:ln>
        </p:spPr>
      </p:sp>
      <p:sp>
        <p:nvSpPr>
          <p:cNvPr id="9" name="Obj [o606]"/>
          <p:cNvSpPr txBox="1"/>
          <p:nvPr/>
        </p:nvSpPr>
        <p:spPr>
          <a:xfrm>
            <a:off x="4692195" y="1561458"/>
            <a:ext cx="344560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Por qué no lo decide el procesador</a:t>
            </a:r>
            <a:endParaRPr lang="en-US" sz="1260" dirty="0"/>
          </a:p>
        </p:txBody>
      </p:sp>
      <p:sp>
        <p:nvSpPr>
          <p:cNvPr id="10" name="Obj [o607]"/>
          <p:cNvSpPr/>
          <p:nvPr/>
        </p:nvSpPr>
        <p:spPr>
          <a:xfrm>
            <a:off x="4652130" y="1881980"/>
            <a:ext cx="3525734" cy="1242020"/>
          </a:xfrm>
          <a:prstGeom prst="rect">
            <a:avLst/>
          </a:prstGeom>
          <a:solidFill>
            <a:srgbClr val="FFFFFF"/>
          </a:solidFill>
          <a:ln w="16694">
            <a:solidFill>
              <a:srgbClr val="C55A11"/>
            </a:solidFill>
            <a:prstDash val="solid"/>
          </a:ln>
        </p:spPr>
      </p:sp>
      <p:sp>
        <p:nvSpPr>
          <p:cNvPr id="11" name="Obj [o608]"/>
          <p:cNvSpPr txBox="1"/>
          <p:nvPr/>
        </p:nvSpPr>
        <p:spPr>
          <a:xfrm>
            <a:off x="4748287" y="1946084"/>
            <a:ext cx="3333421" cy="1113811"/>
          </a:xfrm>
          <a:prstGeom prst="rect">
            <a:avLst/>
          </a:prstGeom>
          <a:noFill/>
          <a:ln/>
        </p:spPr>
        <p:txBody>
          <a:bodyPr wrap="square" lIns="0" tIns="0" rIns="0" bIns="0" rtlCol="0" anchor="t"/>
          <a:lstStyle/>
          <a:p>
            <a:pPr algn="l" indent="0" marL="0">
              <a:buNone/>
            </a:pPr>
            <a:endParaRPr lang="en-US" sz="1170" dirty="0"/>
          </a:p>
        </p:txBody>
      </p:sp>
      <p:sp>
        <p:nvSpPr>
          <p:cNvPr id="12" name="Obj [o609]"/>
          <p:cNvSpPr txBox="1"/>
          <p:nvPr/>
        </p:nvSpPr>
        <p:spPr>
          <a:xfrm>
            <a:off x="4748287" y="1946084"/>
            <a:ext cx="3333421" cy="440717"/>
          </a:xfrm>
          <a:prstGeom prst="rect">
            <a:avLst/>
          </a:prstGeom>
          <a:noFill/>
          <a:ln/>
        </p:spPr>
        <p:txBody>
          <a:bodyPr wrap="square" lIns="0" tIns="0" rIns="0" bIns="0" rtlCol="0" anchor="t"/>
          <a:lstStyle/>
          <a:p>
            <a:pPr indent="0" marL="0">
              <a:buNone/>
            </a:pPr>
            <a:r>
              <a:rPr lang="en-US" sz="108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080" dirty="0"/>
          </a:p>
        </p:txBody>
      </p:sp>
      <p:sp>
        <p:nvSpPr>
          <p:cNvPr id="13" name="Obj [o610]"/>
          <p:cNvSpPr/>
          <p:nvPr/>
        </p:nvSpPr>
        <p:spPr>
          <a:xfrm>
            <a:off x="4892521" y="2426866"/>
            <a:ext cx="2884691" cy="40065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4" name="Obj [o611]"/>
              <p:cNvSpPr txBox="1"/>
              <p:nvPr/>
            </p:nvSpPr>
            <p:spPr>
              <a:xfrm>
                <a:off x="4892521" y="2426866"/>
                <a:ext cx="2884691" cy="40065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Δφ=360°·f·Δt</m:t>
                      </m:r>
                    </m:oMath>
                  </m:oMathPara>
                </a14:m>
                <a:endParaRPr lang="es-ES"/>
              </a:p>
            </p:txBody>
          </p:sp>
        </mc:Choice>
        <mc:Fallback>
          <p:sp>
            <p:nvSpPr>
              <p:cNvPr id="14" name="Obj [o611]"/>
              <p:cNvSpPr txBox="1"/>
              <p:nvPr/>
            </p:nvSpPr>
            <p:spPr>
              <a:xfrm>
                <a:off x="4892521" y="2426866"/>
                <a:ext cx="2884691" cy="40065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Δφ = 360° · f · Δt</a:t>
                </a:r>
                <a:endParaRPr lang="en-US" sz="2159" dirty="0"/>
              </a:p>
            </p:txBody>
          </p:sp>
        </mc:Fallback>
      </mc:AlternateContent>
      <p:sp>
        <p:nvSpPr>
          <p:cNvPr id="15" name="Obj [o612]"/>
          <p:cNvSpPr txBox="1"/>
          <p:nvPr/>
        </p:nvSpPr>
        <p:spPr>
          <a:xfrm>
            <a:off x="4748287" y="2867582"/>
            <a:ext cx="3333421" cy="200326"/>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y, con ella, error en la velocidad de fase</a:t>
            </a:r>
            <a:endParaRPr lang="en-US" sz="1080" dirty="0"/>
          </a:p>
        </p:txBody>
      </p:sp>
      <p:sp>
        <p:nvSpPr>
          <p:cNvPr id="16" name="Obj [o613]"/>
          <p:cNvSpPr/>
          <p:nvPr/>
        </p:nvSpPr>
        <p:spPr>
          <a:xfrm>
            <a:off x="966136" y="3244195"/>
            <a:ext cx="3525734" cy="280456"/>
          </a:xfrm>
          <a:prstGeom prst="rect">
            <a:avLst/>
          </a:prstGeom>
          <a:solidFill>
            <a:srgbClr val="1F4E79"/>
          </a:solidFill>
          <a:ln w="6350">
            <a:solidFill>
              <a:srgbClr val="1F4E79"/>
            </a:solidFill>
            <a:prstDash val="solid"/>
          </a:ln>
        </p:spPr>
      </p:sp>
      <p:sp>
        <p:nvSpPr>
          <p:cNvPr id="17" name="Obj [o614]"/>
          <p:cNvSpPr txBox="1"/>
          <p:nvPr/>
        </p:nvSpPr>
        <p:spPr>
          <a:xfrm>
            <a:off x="1006201" y="3244195"/>
            <a:ext cx="3445604" cy="280456"/>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Hardware: decide cuándo</a:t>
            </a:r>
            <a:endParaRPr lang="en-US" sz="1170" dirty="0"/>
          </a:p>
        </p:txBody>
      </p:sp>
      <p:sp>
        <p:nvSpPr>
          <p:cNvPr id="18" name="Obj [o615]"/>
          <p:cNvSpPr/>
          <p:nvPr/>
        </p:nvSpPr>
        <p:spPr>
          <a:xfrm>
            <a:off x="966136" y="3524651"/>
            <a:ext cx="3525734" cy="921499"/>
          </a:xfrm>
          <a:prstGeom prst="rect">
            <a:avLst/>
          </a:prstGeom>
          <a:solidFill>
            <a:srgbClr val="FFFFFF"/>
          </a:solidFill>
          <a:ln w="16694">
            <a:solidFill>
              <a:srgbClr val="1F4E79"/>
            </a:solidFill>
            <a:prstDash val="solid"/>
          </a:ln>
        </p:spPr>
      </p:sp>
      <p:sp>
        <p:nvSpPr>
          <p:cNvPr id="19" name="Obj [o616]"/>
          <p:cNvSpPr txBox="1"/>
          <p:nvPr/>
        </p:nvSpPr>
        <p:spPr>
          <a:xfrm>
            <a:off x="1062292" y="3588755"/>
            <a:ext cx="3333421" cy="793290"/>
          </a:xfrm>
          <a:prstGeom prst="rect">
            <a:avLst/>
          </a:prstGeom>
          <a:noFill/>
          <a:ln/>
        </p:spPr>
        <p:txBody>
          <a:bodyPr wrap="square" lIns="0" tIns="0" rIns="0" bIns="0" rtlCol="0" anchor="t"/>
          <a:lstStyle/>
          <a:p>
            <a:pPr algn="l" indent="0" marL="0">
              <a:buNone/>
            </a:pPr>
            <a:r>
              <a:rPr lang="en-US" sz="1125"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125" dirty="0"/>
          </a:p>
        </p:txBody>
      </p:sp>
      <p:sp>
        <p:nvSpPr>
          <p:cNvPr id="20" name="Obj [o617]"/>
          <p:cNvSpPr/>
          <p:nvPr/>
        </p:nvSpPr>
        <p:spPr>
          <a:xfrm>
            <a:off x="4652130" y="3244195"/>
            <a:ext cx="3525734" cy="280456"/>
          </a:xfrm>
          <a:prstGeom prst="rect">
            <a:avLst/>
          </a:prstGeom>
          <a:solidFill>
            <a:srgbClr val="2E75B6"/>
          </a:solidFill>
          <a:ln w="6350">
            <a:solidFill>
              <a:srgbClr val="2E75B6"/>
            </a:solidFill>
            <a:prstDash val="solid"/>
          </a:ln>
        </p:spPr>
      </p:sp>
      <p:sp>
        <p:nvSpPr>
          <p:cNvPr id="21" name="Obj [o618]"/>
          <p:cNvSpPr txBox="1"/>
          <p:nvPr/>
        </p:nvSpPr>
        <p:spPr>
          <a:xfrm>
            <a:off x="4692195" y="3244195"/>
            <a:ext cx="3445604" cy="280456"/>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Software: decide qué valores</a:t>
            </a:r>
            <a:endParaRPr lang="en-US" sz="1170" dirty="0"/>
          </a:p>
        </p:txBody>
      </p:sp>
      <p:sp>
        <p:nvSpPr>
          <p:cNvPr id="22" name="Obj [o619]"/>
          <p:cNvSpPr/>
          <p:nvPr/>
        </p:nvSpPr>
        <p:spPr>
          <a:xfrm>
            <a:off x="4652130" y="3524651"/>
            <a:ext cx="3525734" cy="921499"/>
          </a:xfrm>
          <a:prstGeom prst="rect">
            <a:avLst/>
          </a:prstGeom>
          <a:solidFill>
            <a:srgbClr val="FFFFFF"/>
          </a:solidFill>
          <a:ln w="16694">
            <a:solidFill>
              <a:srgbClr val="2E75B6"/>
            </a:solidFill>
            <a:prstDash val="solid"/>
          </a:ln>
        </p:spPr>
      </p:sp>
      <p:sp>
        <p:nvSpPr>
          <p:cNvPr id="23" name="Obj [o620]"/>
          <p:cNvSpPr txBox="1"/>
          <p:nvPr/>
        </p:nvSpPr>
        <p:spPr>
          <a:xfrm>
            <a:off x="4748287" y="3588755"/>
            <a:ext cx="3333421" cy="793290"/>
          </a:xfrm>
          <a:prstGeom prst="rect">
            <a:avLst/>
          </a:prstGeom>
          <a:noFill/>
          <a:ln/>
        </p:spPr>
        <p:txBody>
          <a:bodyPr wrap="square" lIns="0" tIns="0" rIns="0" bIns="0" rtlCol="0" anchor="t"/>
          <a:lstStyle/>
          <a:p>
            <a:pPr algn="l" indent="0" marL="0">
              <a:buNone/>
            </a:pPr>
            <a:r>
              <a:rPr lang="en-US" sz="1125"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125" dirty="0"/>
          </a:p>
        </p:txBody>
      </p:sp>
      <p:sp>
        <p:nvSpPr>
          <p:cNvPr id="24" name="Obj [o62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(criterio de reparto); resumen firmado, sec. 4.6.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φ</m:t>
                    </m:r>
                    <m:r>
                      <m:rPr>
                        <m:sty m:val="p"/>
                      </m:rPr>
                      <a:rPr lang="es-ES" sz="800">
                        <a:solidFill>
                          <a:srgbClr val="6B6B6B"/>
                        </a:solidFill>
                        <a:latin typeface="Cambria Math" panose="02040503050406030204" pitchFamily="18" charset="0"/>
                      </a:rPr>
                      <m:t xml:space="preserve">=</m:t>
                    </m:r>
                    <m:r>
                      <m:rPr>
                        <m:sty m:val="p"/>
                      </m:rPr>
                      <a:rPr lang="es-ES" sz="800">
                        <a:solidFill>
                          <a:srgbClr val="6B6B6B"/>
                        </a:solidFill>
                        <a:latin typeface="Cambria Math" panose="02040503050406030204" pitchFamily="18" charset="0"/>
                      </a:rPr>
                      <m:t xml:space="preserve">360</m:t>
                    </m:r>
                  </m:oMath>
                </a14:m>
              </mc:Choice>
              <mc:Fallback>
                <a:r>
                  <a:rPr lang="en-US" sz="800" dirty="0">
                    <a:solidFill>
                      <a:srgbClr val="6B6B6B"/>
                    </a:solidFill>
                    <a:latin typeface="Arial" pitchFamily="34" charset="0"/>
                    <a:ea typeface="Arial" pitchFamily="34" charset="-122"/>
                    <a:cs typeface="Arial" pitchFamily="34" charset="-120"/>
                  </a:rPr>
                  <a:t>Δφ = 360</a:t>
                </a:r>
              </mc:Fallback>
            </mc:AlternateContent>
            <a:r>
              <a:rPr lang="en-US" sz="800" dirty="0">
                <a:solidFill>
                  <a:srgbClr val="6B6B6B"/>
                </a:solidFill>
                <a:latin typeface="Arial" pitchFamily="34" charset="0"/>
                <a:ea typeface="Arial" pitchFamily="34" charset="-122"/>
                <a:cs typeface="Arial" pitchFamily="34" charset="-120"/>
              </a:rPr>
              <a:t>°·f·</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t</m:t>
                    </m:r>
                  </m:oMath>
                </a14:m>
              </mc:Choice>
              <mc:Fallback>
                <a:r>
                  <a:rPr lang="en-US" sz="800" dirty="0">
                    <a:solidFill>
                      <a:srgbClr val="6B6B6B"/>
                    </a:solidFill>
                    <a:latin typeface="Arial" pitchFamily="34" charset="0"/>
                    <a:ea typeface="Arial" pitchFamily="34" charset="-122"/>
                    <a:cs typeface="Arial" pitchFamily="34" charset="-120"/>
                  </a:rPr>
                  <a:t>Δt</a:t>
                </a:r>
              </mc:Fallback>
            </mc:AlternateContent>
            <a:r>
              <a:rPr lang="en-US" sz="800" dirty="0">
                <a:solidFill>
                  <a:srgbClr val="6B6B6B"/>
                </a:solidFill>
                <a:latin typeface="Arial" pitchFamily="34" charset="0"/>
                <a:ea typeface="Arial" pitchFamily="34" charset="-122"/>
                <a:cs typeface="Arial" pitchFamily="34" charset="-120"/>
              </a:rPr>
              <a:t>: relación estándar entre retardo y fase.</a:t>
            </a:r>
            <a:endParaRPr lang="en-US" sz="800" dirty="0"/>
          </a:p>
        </p:txBody>
      </p:sp>
      <p:sp>
        <p:nvSpPr>
          <p:cNvPr id="25" name="Obj [o62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Camino digital en PSoC Creator</a:t>
            </a:r>
            <a:endParaRPr lang="en-US" sz="1400" dirty="0"/>
          </a:p>
        </p:txBody>
      </p:sp>
      <p:pic>
        <p:nvPicPr>
          <p:cNvPr id="26" name="Obj [o623]"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1126396" y="1481328"/>
            <a:ext cx="6891207" cy="2997675"/>
          </a:xfrm>
          <a:prstGeom prst="rect">
            <a:avLst/>
          </a:prstGeom>
        </p:spPr>
      </p:pic>
      <p:sp>
        <p:nvSpPr>
          <p:cNvPr id="27" name="Obj [o624]"/>
          <p:cNvSpPr txBox="1"/>
          <p:nvPr/>
        </p:nvSpPr>
        <p:spPr>
          <a:xfrm>
            <a:off x="4972652" y="4406085"/>
            <a:ext cx="3205213"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CAPTURA CON ETIQUETAS EN INGLÉS (PSoC Creator)</a:t>
            </a:r>
            <a:endParaRPr lang="en-US" sz="900" dirty="0"/>
          </a:p>
        </p:txBody>
      </p:sp>
      <p:sp>
        <p:nvSpPr>
          <p:cNvPr id="28" name="Obj [o62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Elaboración propia en PSoC Creator (resumen firmado, fig. 10 y sec. 4.6).</a:t>
            </a:r>
            <a:endParaRPr lang="en-US" sz="800" dirty="0"/>
          </a:p>
        </p:txBody>
      </p:sp>
      <p:sp>
        <p:nvSpPr>
          <p:cNvPr id="29" name="Obj [o62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Camino lógico de los datos y del control en el PSoC</a:t>
            </a:r>
            <a:endParaRPr lang="en-US" sz="1400" dirty="0"/>
          </a:p>
        </p:txBody>
      </p:sp>
      <p:pic>
        <p:nvPicPr>
          <p:cNvPr id="30" name="Obj [o627]" descr="Vista del PSoC 5LP: acondicionamiento y conversión, camino digital de muestras por DMA con ruta cruda y ruta FIR, control con superMaquina y enlace con el ESP32 esclavo">    </p:cNvPr>
          <p:cNvPicPr>
            <a:picLocks noChangeAspect="1"/>
          </p:cNvPicPr>
          <p:nvPr/>
        </p:nvPicPr>
        <p:blipFill>
          <a:blip r:embed="rId2"/>
          <a:stretch>
            <a:fillRect/>
          </a:stretch>
        </p:blipFill>
        <p:spPr>
          <a:xfrm>
            <a:off x="900963" y="1215208"/>
            <a:ext cx="5924754" cy="3041374"/>
          </a:xfrm>
          <a:prstGeom prst="rect">
            <a:avLst/>
          </a:prstGeom>
        </p:spPr>
      </p:pic>
      <p:sp>
        <p:nvSpPr>
          <p:cNvPr id="31" name="Obj [o62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18); resumen firmado, sec. 4.6 y fig. 10.</a:t>
            </a:r>
            <a:endParaRPr lang="en-US" sz="800" dirty="0"/>
          </a:p>
        </p:txBody>
      </p:sp>
      <p:sp>
        <p:nvSpPr>
          <p:cNvPr id="32" name="Obj [o62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Selección del tipo de ADC: por qué delta-sigma</a:t>
            </a:r>
            <a:endParaRPr lang="en-US" sz="1400" dirty="0"/>
          </a:p>
        </p:txBody>
      </p:sp>
      <p:pic>
        <p:nvPicPr>
          <p:cNvPr id="33" name="Obj [o630]" descr="Sobremuestreo y conformación del ruido delta-sigma: el ruido de cuantización sube con la frecuencia y el filtro digital rechaza la mayor parte">    </p:cNvPr>
          <p:cNvPicPr>
            <a:picLocks noChangeAspect="1"/>
          </p:cNvPicPr>
          <p:nvPr/>
        </p:nvPicPr>
        <p:blipFill>
          <a:blip r:embed="rId3"/>
          <a:stretch>
            <a:fillRect/>
          </a:stretch>
        </p:blipFill>
        <p:spPr>
          <a:xfrm>
            <a:off x="365760" y="1595380"/>
            <a:ext cx="4257923" cy="1790536"/>
          </a:xfrm>
          <a:prstGeom prst="rect">
            <a:avLst/>
          </a:prstGeom>
        </p:spPr>
      </p:pic>
      <p:sp>
        <p:nvSpPr>
          <p:cNvPr id="34" name="Obj [o631]"/>
          <p:cNvSpPr txBox="1"/>
          <p:nvPr/>
        </p:nvSpPr>
        <p:spPr>
          <a:xfrm>
            <a:off x="365760" y="3420204"/>
            <a:ext cx="4257923"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FIGURA TRADUCIDA: fuente TI por confirmar</a:t>
            </a:r>
            <a:endParaRPr lang="en-US" sz="863" dirty="0"/>
          </a:p>
        </p:txBody>
      </p:sp>
      <p:sp>
        <p:nvSpPr>
          <p:cNvPr id="35" name="Obj [o632]"/>
          <p:cNvSpPr txBox="1"/>
          <p:nvPr/>
        </p:nvSpPr>
        <p:spPr>
          <a:xfrm>
            <a:off x="4775752" y="1633397"/>
            <a:ext cx="2509133" cy="1976893"/>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122" dirty="0"/>
          </a:p>
        </p:txBody>
      </p:sp>
      <p:sp>
        <p:nvSpPr>
          <p:cNvPr id="36" name="Obj [o633]"/>
          <p:cNvSpPr/>
          <p:nvPr/>
        </p:nvSpPr>
        <p:spPr>
          <a:xfrm>
            <a:off x="441794" y="3762358"/>
            <a:ext cx="6843091" cy="456206"/>
          </a:xfrm>
          <a:prstGeom prst="rect">
            <a:avLst/>
          </a:prstGeom>
          <a:solidFill>
            <a:srgbClr val="EAF1F8"/>
          </a:solidFill>
          <a:ln w="6350">
            <a:solidFill>
              <a:srgbClr val="EAF1F8"/>
            </a:solidFill>
            <a:prstDash val="solid"/>
          </a:ln>
        </p:spPr>
      </p:sp>
      <p:sp>
        <p:nvSpPr>
          <p:cNvPr id="37" name="Obj [o634]"/>
          <p:cNvSpPr txBox="1"/>
          <p:nvPr/>
        </p:nvSpPr>
        <p:spPr>
          <a:xfrm>
            <a:off x="555846" y="3762358"/>
            <a:ext cx="6614988" cy="456206"/>
          </a:xfrm>
          <a:prstGeom prst="rect">
            <a:avLst/>
          </a:prstGeom>
          <a:noFill/>
          <a:ln/>
        </p:spPr>
        <p:txBody>
          <a:bodyPr wrap="square" lIns="0" tIns="0" rIns="0" bIns="0" rtlCol="0" anchor="ctr"/>
          <a:lstStyle/>
          <a:p>
            <a:pPr indent="0" marL="0">
              <a:buNone/>
            </a:pPr>
            <a:r>
              <a:rPr lang="en-US" sz="138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380" dirty="0"/>
          </a:p>
        </p:txBody>
      </p:sp>
      <p:sp>
        <p:nvSpPr>
          <p:cNvPr id="38" name="Obj [o63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Texas Instruments, material sobre sobremuestreo y conformación del ruido ΔΣ (documento exacto por confirmar); traducción al español; resumen firmado, sec. 4.6.</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41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fill="hold" nodeType="withEffect">
                                  <p:stCondLst>
                                    <p:cond delay="48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grpId="0" fill="hold" nodeType="withEffect">
                                  <p:stCondLst>
                                    <p:cond delay="55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450"/>
                                        <p:tgtEl>
                                          <p:spTgt spid="7">
                                            <p:txEl>
                                              <p:pRg st="0" end="0"/>
                                            </p:txEl>
                                          </p:spTgt>
                                        </p:tgtEl>
                                      </p:cBhvr>
                                    </p:animEffect>
                                  </p:childTnLst>
                                </p:cTn>
                              </p:par>
                              <p:par>
                                <p:cTn id="20" presetID="10" presetClass="entr" presetSubtype="0" grpId="0" fill="hold" nodeType="withEffect">
                                  <p:stCondLst>
                                    <p:cond delay="875"/>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450"/>
                                        <p:tgtEl>
                                          <p:spTgt spid="7">
                                            <p:txEl>
                                              <p:pRg st="1" end="1"/>
                                            </p:txEl>
                                          </p:spTgt>
                                        </p:tgtEl>
                                      </p:cBhvr>
                                    </p:animEffect>
                                  </p:childTnLst>
                                </p:cTn>
                              </p:par>
                              <p:par>
                                <p:cTn id="23" presetID="10" presetClass="entr" presetSubtype="0" grpId="0" fill="hold" nodeType="withEffect">
                                  <p:stCondLst>
                                    <p:cond delay="12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450"/>
                                        <p:tgtEl>
                                          <p:spTgt spid="7">
                                            <p:txEl>
                                              <p:pRg st="2" end="2"/>
                                            </p:txEl>
                                          </p:spTgt>
                                        </p:tgtEl>
                                      </p:cBhvr>
                                    </p:animEffect>
                                  </p:childTnLst>
                                </p:cTn>
                              </p:par>
                              <p:par>
                                <p:cTn id="26" presetID="10" presetClass="entr" presetSubtype="0" grpId="0" fill="hold" nodeType="withEffect">
                                  <p:stCondLst>
                                    <p:cond delay="1525"/>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450"/>
                                        <p:tgtEl>
                                          <p:spTgt spid="7">
                                            <p:txEl>
                                              <p:pRg st="3" end="3"/>
                                            </p:txEl>
                                          </p:spTgt>
                                        </p:tgtEl>
                                      </p:cBhvr>
                                    </p:animEffect>
                                  </p:childTnLst>
                                </p:cTn>
                              </p:par>
                              <p:par>
                                <p:cTn id="29" presetID="10" presetClass="entr" presetSubtype="0" fill="hold" nodeType="withEffect">
                                  <p:stCondLst>
                                    <p:cond delay="6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par>
                                <p:cTn id="32" presetID="22" presetClass="entr" presetSubtype="8" fill="hold" nodeType="withEffect">
                                  <p:stCondLst>
                                    <p:cond delay="69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par>
                                <p:cTn id="35" presetID="10" presetClass="entr" presetSubtype="0" fill="hold" nodeType="withEffect">
                                  <p:stCondLst>
                                    <p:cond delay="76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childTnLst>
                                </p:cTn>
                              </p:par>
                              <p:par>
                                <p:cTn id="38" presetID="22" presetClass="entr" presetSubtype="8" fill="hold" nodeType="withEffect">
                                  <p:stCondLst>
                                    <p:cond delay="83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par>
                                <p:cTn id="41" presetID="22" presetClass="entr" presetSubtype="8" fill="hold" nodeType="withEffect">
                                  <p:stCondLst>
                                    <p:cond delay="90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par>
                                <p:cTn id="44" presetID="10" presetClass="entr" presetSubtype="0" fill="hold" nodeType="withEffect">
                                  <p:stCondLst>
                                    <p:cond delay="97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50"/>
                                        <p:tgtEl>
                                          <p:spTgt spid="13"/>
                                        </p:tgtEl>
                                      </p:cBhvr>
                                    </p:animEffect>
                                  </p:childTnLst>
                                </p:cTn>
                              </p:par>
                              <p:par>
                                <p:cTn id="47" presetID="22" presetClass="entr" presetSubtype="8" fill="hold" nodeType="withEffect">
                                  <p:stCondLst>
                                    <p:cond delay="97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par>
                                <p:cTn id="50" presetID="22" presetClass="entr" presetSubtype="8" fill="hold" nodeType="withEffect">
                                  <p:stCondLst>
                                    <p:cond delay="104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par>
                                <p:cTn id="53" presetID="10" presetClass="entr" presetSubtype="0" fill="hold" nodeType="withEffect">
                                  <p:stCondLst>
                                    <p:cond delay="111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450"/>
                                        <p:tgtEl>
                                          <p:spTgt spid="16"/>
                                        </p:tgtEl>
                                      </p:cBhvr>
                                    </p:animEffect>
                                  </p:childTnLst>
                                </p:cTn>
                              </p:par>
                              <p:par>
                                <p:cTn id="56" presetID="22" presetClass="entr" presetSubtype="8" fill="hold" nodeType="withEffect">
                                  <p:stCondLst>
                                    <p:cond delay="118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par>
                                <p:cTn id="59" presetID="10" presetClass="entr" presetSubtype="0" fill="hold" nodeType="withEffect">
                                  <p:stCondLst>
                                    <p:cond delay="125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childTnLst>
                                </p:cTn>
                              </p:par>
                              <p:par>
                                <p:cTn id="62" presetID="22" presetClass="entr" presetSubtype="8" fill="hold" nodeType="withEffect">
                                  <p:stCondLst>
                                    <p:cond delay="130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par>
                                <p:cTn id="65" presetID="10" presetClass="entr" presetSubtype="0" fill="hold" nodeType="withEffect">
                                  <p:stCondLst>
                                    <p:cond delay="130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450"/>
                                        <p:tgtEl>
                                          <p:spTgt spid="20"/>
                                        </p:tgtEl>
                                      </p:cBhvr>
                                    </p:animEffect>
                                  </p:childTnLst>
                                </p:cTn>
                              </p:par>
                              <p:par>
                                <p:cTn id="68" presetID="22" presetClass="entr" presetSubtype="8" fill="hold" nodeType="withEffect">
                                  <p:stCondLst>
                                    <p:cond delay="1300"/>
                                  </p:stCondLst>
                                  <p:childTnLst>
                                    <p:set>
                                      <p:cBhvr>
                                        <p:cTn id="69" dur="1" fill="hold">
                                          <p:stCondLst>
                                            <p:cond delay="0"/>
                                          </p:stCondLst>
                                        </p:cTn>
                                        <p:tgtEl>
                                          <p:spTgt spid="21"/>
                                        </p:tgtEl>
                                        <p:attrNameLst>
                                          <p:attrName>style.visibility</p:attrName>
                                        </p:attrNameLst>
                                      </p:cBhvr>
                                      <p:to>
                                        <p:strVal val="visible"/>
                                      </p:to>
                                    </p:set>
                                    <p:animEffect transition="in" filter="wipe(left)">
                                      <p:cBhvr>
                                        <p:cTn id="70" dur="500"/>
                                        <p:tgtEl>
                                          <p:spTgt spid="21"/>
                                        </p:tgtEl>
                                      </p:cBhvr>
                                    </p:animEffect>
                                  </p:childTnLst>
                                </p:cTn>
                              </p:par>
                              <p:par>
                                <p:cTn id="71" presetID="10" presetClass="entr" presetSubtype="0" fill="hold" nodeType="withEffect">
                                  <p:stCondLst>
                                    <p:cond delay="13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50"/>
                                        <p:tgtEl>
                                          <p:spTgt spid="22"/>
                                        </p:tgtEl>
                                      </p:cBhvr>
                                    </p:animEffect>
                                  </p:childTnLst>
                                </p:cTn>
                              </p:par>
                              <p:par>
                                <p:cTn id="74" presetID="22" presetClass="entr" presetSubtype="8" fill="hold" nodeType="withEffect">
                                  <p:stCondLst>
                                    <p:cond delay="1300"/>
                                  </p:stCondLst>
                                  <p:childTnLst>
                                    <p:set>
                                      <p:cBhvr>
                                        <p:cTn id="75" dur="1" fill="hold">
                                          <p:stCondLst>
                                            <p:cond delay="0"/>
                                          </p:stCondLst>
                                        </p:cTn>
                                        <p:tgtEl>
                                          <p:spTgt spid="23"/>
                                        </p:tgtEl>
                                        <p:attrNameLst>
                                          <p:attrName>style.visibility</p:attrName>
                                        </p:attrNameLst>
                                      </p:cBhvr>
                                      <p:to>
                                        <p:strVal val="visible"/>
                                      </p:to>
                                    </p:set>
                                    <p:animEffect transition="in" filter="wipe(left)">
                                      <p:cBhvr>
                                        <p:cTn id="76" dur="500"/>
                                        <p:tgtEl>
                                          <p:spTgt spid="23"/>
                                        </p:tgtEl>
                                      </p:cBhvr>
                                    </p:animEffect>
                                  </p:childTnLst>
                                </p:cTn>
                              </p:par>
                              <p:par>
                                <p:cTn id="77" presetID="10" presetClass="entr" presetSubtype="0" fill="hold" nodeType="withEffect">
                                  <p:stCondLst>
                                    <p:cond delay="40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450"/>
                                        <p:tgtEl>
                                          <p:spTgt spid="2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350"/>
                                        <p:tgtEl>
                                          <p:spTgt spid="3"/>
                                        </p:tgtEl>
                                      </p:cBhvr>
                                    </p:animEffect>
                                    <p:set>
                                      <p:cBhvr>
                                        <p:cTn id="84" dur="1" fill="hold">
                                          <p:stCondLst>
                                            <p:cond delay="349"/>
                                          </p:stCondLst>
                                        </p:cTn>
                                        <p:tgtEl>
                                          <p:spTgt spid="3"/>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350"/>
                                        <p:tgtEl>
                                          <p:spTgt spid="4"/>
                                        </p:tgtEl>
                                      </p:cBhvr>
                                    </p:animEffect>
                                    <p:set>
                                      <p:cBhvr>
                                        <p:cTn id="87" dur="1" fill="hold">
                                          <p:stCondLst>
                                            <p:cond delay="349"/>
                                          </p:stCondLst>
                                        </p:cTn>
                                        <p:tgtEl>
                                          <p:spTgt spid="4"/>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5"/>
                                        </p:tgtEl>
                                      </p:cBhvr>
                                    </p:animEffect>
                                    <p:set>
                                      <p:cBhvr>
                                        <p:cTn id="90" dur="1" fill="hold">
                                          <p:stCondLst>
                                            <p:cond delay="349"/>
                                          </p:stCondLst>
                                        </p:cTn>
                                        <p:tgtEl>
                                          <p:spTgt spid="5"/>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350"/>
                                        <p:tgtEl>
                                          <p:spTgt spid="6"/>
                                        </p:tgtEl>
                                      </p:cBhvr>
                                    </p:animEffect>
                                    <p:set>
                                      <p:cBhvr>
                                        <p:cTn id="93" dur="1" fill="hold">
                                          <p:stCondLst>
                                            <p:cond delay="349"/>
                                          </p:stCondLst>
                                        </p:cTn>
                                        <p:tgtEl>
                                          <p:spTgt spid="6"/>
                                        </p:tgtEl>
                                        <p:attrNameLst>
                                          <p:attrName>style.visibility</p:attrName>
                                        </p:attrNameLst>
                                      </p:cBhvr>
                                      <p:to>
                                        <p:strVal val="hidden"/>
                                      </p:to>
                                    </p:set>
                                  </p:childTnLst>
                                </p:cTn>
                              </p:par>
                              <p:par>
                                <p:cTn id="94" presetID="10" presetClass="exit" presetSubtype="0" grpId="0" fill="hold" nodeType="withEffect">
                                  <p:stCondLst>
                                    <p:cond delay="0"/>
                                  </p:stCondLst>
                                  <p:childTnLst>
                                    <p:animEffect transition="out" filter="fade">
                                      <p:cBhvr>
                                        <p:cTn id="95" dur="350"/>
                                        <p:tgtEl>
                                          <p:spTgt spid="7">
                                            <p:txEl>
                                              <p:pRg st="0" end="0"/>
                                            </p:txEl>
                                          </p:spTgt>
                                        </p:tgtEl>
                                      </p:cBhvr>
                                    </p:animEffect>
                                    <p:set>
                                      <p:cBhvr>
                                        <p:cTn id="96" dur="1" fill="hold">
                                          <p:stCondLst>
                                            <p:cond delay="349"/>
                                          </p:stCondLst>
                                        </p:cTn>
                                        <p:tgtEl>
                                          <p:spTgt spid="7">
                                            <p:txEl>
                                              <p:pRg st="0" end="0"/>
                                            </p:txEl>
                                          </p:spTgt>
                                        </p:tgtEl>
                                        <p:attrNameLst>
                                          <p:attrName>style.visibility</p:attrName>
                                        </p:attrNameLst>
                                      </p:cBhvr>
                                      <p:to>
                                        <p:strVal val="hidden"/>
                                      </p:to>
                                    </p:set>
                                  </p:childTnLst>
                                </p:cTn>
                              </p:par>
                              <p:par>
                                <p:cTn id="97" presetID="10" presetClass="exit" presetSubtype="0" grpId="0" fill="hold" nodeType="withEffect">
                                  <p:stCondLst>
                                    <p:cond delay="0"/>
                                  </p:stCondLst>
                                  <p:childTnLst>
                                    <p:animEffect transition="out" filter="fade">
                                      <p:cBhvr>
                                        <p:cTn id="98" dur="350"/>
                                        <p:tgtEl>
                                          <p:spTgt spid="7">
                                            <p:txEl>
                                              <p:pRg st="1" end="1"/>
                                            </p:txEl>
                                          </p:spTgt>
                                        </p:tgtEl>
                                      </p:cBhvr>
                                    </p:animEffect>
                                    <p:set>
                                      <p:cBhvr>
                                        <p:cTn id="99" dur="1" fill="hold">
                                          <p:stCondLst>
                                            <p:cond delay="349"/>
                                          </p:stCondLst>
                                        </p:cTn>
                                        <p:tgtEl>
                                          <p:spTgt spid="7">
                                            <p:txEl>
                                              <p:pRg st="1" end="1"/>
                                            </p:txEl>
                                          </p:spTgt>
                                        </p:tgtEl>
                                        <p:attrNameLst>
                                          <p:attrName>style.visibility</p:attrName>
                                        </p:attrNameLst>
                                      </p:cBhvr>
                                      <p:to>
                                        <p:strVal val="hidden"/>
                                      </p:to>
                                    </p:set>
                                  </p:childTnLst>
                                </p:cTn>
                              </p:par>
                              <p:par>
                                <p:cTn id="100" presetID="10" presetClass="exit" presetSubtype="0" grpId="0" fill="hold" nodeType="withEffect">
                                  <p:stCondLst>
                                    <p:cond delay="0"/>
                                  </p:stCondLst>
                                  <p:childTnLst>
                                    <p:animEffect transition="out" filter="fade">
                                      <p:cBhvr>
                                        <p:cTn id="101" dur="350"/>
                                        <p:tgtEl>
                                          <p:spTgt spid="7">
                                            <p:txEl>
                                              <p:pRg st="2" end="2"/>
                                            </p:txEl>
                                          </p:spTgt>
                                        </p:tgtEl>
                                      </p:cBhvr>
                                    </p:animEffect>
                                    <p:set>
                                      <p:cBhvr>
                                        <p:cTn id="102" dur="1" fill="hold">
                                          <p:stCondLst>
                                            <p:cond delay="349"/>
                                          </p:stCondLst>
                                        </p:cTn>
                                        <p:tgtEl>
                                          <p:spTgt spid="7">
                                            <p:txEl>
                                              <p:pRg st="2" end="2"/>
                                            </p:txEl>
                                          </p:spTgt>
                                        </p:tgtEl>
                                        <p:attrNameLst>
                                          <p:attrName>style.visibility</p:attrName>
                                        </p:attrNameLst>
                                      </p:cBhvr>
                                      <p:to>
                                        <p:strVal val="hidden"/>
                                      </p:to>
                                    </p:set>
                                  </p:childTnLst>
                                </p:cTn>
                              </p:par>
                              <p:par>
                                <p:cTn id="103" presetID="10" presetClass="exit" presetSubtype="0" grpId="0" fill="hold" nodeType="withEffect">
                                  <p:stCondLst>
                                    <p:cond delay="0"/>
                                  </p:stCondLst>
                                  <p:childTnLst>
                                    <p:animEffect transition="out" filter="fade">
                                      <p:cBhvr>
                                        <p:cTn id="104" dur="350"/>
                                        <p:tgtEl>
                                          <p:spTgt spid="7">
                                            <p:txEl>
                                              <p:pRg st="3" end="3"/>
                                            </p:txEl>
                                          </p:spTgt>
                                        </p:tgtEl>
                                      </p:cBhvr>
                                    </p:animEffect>
                                    <p:set>
                                      <p:cBhvr>
                                        <p:cTn id="105" dur="1" fill="hold">
                                          <p:stCondLst>
                                            <p:cond delay="349"/>
                                          </p:stCondLst>
                                        </p:cTn>
                                        <p:tgtEl>
                                          <p:spTgt spid="7">
                                            <p:txEl>
                                              <p:pRg st="3" end="3"/>
                                            </p:txEl>
                                          </p:spTgt>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350"/>
                                        <p:tgtEl>
                                          <p:spTgt spid="8"/>
                                        </p:tgtEl>
                                      </p:cBhvr>
                                    </p:animEffect>
                                    <p:set>
                                      <p:cBhvr>
                                        <p:cTn id="108" dur="1" fill="hold">
                                          <p:stCondLst>
                                            <p:cond delay="349"/>
                                          </p:stCondLst>
                                        </p:cTn>
                                        <p:tgtEl>
                                          <p:spTgt spid="8"/>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350"/>
                                        <p:tgtEl>
                                          <p:spTgt spid="9"/>
                                        </p:tgtEl>
                                      </p:cBhvr>
                                    </p:animEffect>
                                    <p:set>
                                      <p:cBhvr>
                                        <p:cTn id="111" dur="1" fill="hold">
                                          <p:stCondLst>
                                            <p:cond delay="349"/>
                                          </p:stCondLst>
                                        </p:cTn>
                                        <p:tgtEl>
                                          <p:spTgt spid="9"/>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350"/>
                                        <p:tgtEl>
                                          <p:spTgt spid="10"/>
                                        </p:tgtEl>
                                      </p:cBhvr>
                                    </p:animEffect>
                                    <p:set>
                                      <p:cBhvr>
                                        <p:cTn id="114" dur="1" fill="hold">
                                          <p:stCondLst>
                                            <p:cond delay="349"/>
                                          </p:stCondLst>
                                        </p:cTn>
                                        <p:tgtEl>
                                          <p:spTgt spid="10"/>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350"/>
                                        <p:tgtEl>
                                          <p:spTgt spid="11"/>
                                        </p:tgtEl>
                                      </p:cBhvr>
                                    </p:animEffect>
                                    <p:set>
                                      <p:cBhvr>
                                        <p:cTn id="117" dur="1" fill="hold">
                                          <p:stCondLst>
                                            <p:cond delay="349"/>
                                          </p:stCondLst>
                                        </p:cTn>
                                        <p:tgtEl>
                                          <p:spTgt spid="11"/>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350"/>
                                        <p:tgtEl>
                                          <p:spTgt spid="12"/>
                                        </p:tgtEl>
                                      </p:cBhvr>
                                    </p:animEffect>
                                    <p:set>
                                      <p:cBhvr>
                                        <p:cTn id="120" dur="1" fill="hold">
                                          <p:stCondLst>
                                            <p:cond delay="349"/>
                                          </p:stCondLst>
                                        </p:cTn>
                                        <p:tgtEl>
                                          <p:spTgt spid="12"/>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350"/>
                                        <p:tgtEl>
                                          <p:spTgt spid="13"/>
                                        </p:tgtEl>
                                      </p:cBhvr>
                                    </p:animEffect>
                                    <p:set>
                                      <p:cBhvr>
                                        <p:cTn id="123" dur="1" fill="hold">
                                          <p:stCondLst>
                                            <p:cond delay="349"/>
                                          </p:stCondLst>
                                        </p:cTn>
                                        <p:tgtEl>
                                          <p:spTgt spid="13"/>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350"/>
                                        <p:tgtEl>
                                          <p:spTgt spid="14"/>
                                        </p:tgtEl>
                                      </p:cBhvr>
                                    </p:animEffect>
                                    <p:set>
                                      <p:cBhvr>
                                        <p:cTn id="126" dur="1" fill="hold">
                                          <p:stCondLst>
                                            <p:cond delay="349"/>
                                          </p:stCondLst>
                                        </p:cTn>
                                        <p:tgtEl>
                                          <p:spTgt spid="14"/>
                                        </p:tgtEl>
                                        <p:attrNameLst>
                                          <p:attrName>style.visibility</p:attrName>
                                        </p:attrNameLst>
                                      </p:cBhvr>
                                      <p:to>
                                        <p:strVal val="hidden"/>
                                      </p:to>
                                    </p:set>
                                  </p:childTnLst>
                                </p:cTn>
                              </p:par>
                              <p:par>
                                <p:cTn id="127" presetID="10" presetClass="exit" presetSubtype="0" fill="hold" nodeType="withEffect">
                                  <p:stCondLst>
                                    <p:cond delay="0"/>
                                  </p:stCondLst>
                                  <p:childTnLst>
                                    <p:animEffect transition="out" filter="fade">
                                      <p:cBhvr>
                                        <p:cTn id="128" dur="350"/>
                                        <p:tgtEl>
                                          <p:spTgt spid="15"/>
                                        </p:tgtEl>
                                      </p:cBhvr>
                                    </p:animEffect>
                                    <p:set>
                                      <p:cBhvr>
                                        <p:cTn id="129" dur="1" fill="hold">
                                          <p:stCondLst>
                                            <p:cond delay="349"/>
                                          </p:stCondLst>
                                        </p:cTn>
                                        <p:tgtEl>
                                          <p:spTgt spid="15"/>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350"/>
                                        <p:tgtEl>
                                          <p:spTgt spid="16"/>
                                        </p:tgtEl>
                                      </p:cBhvr>
                                    </p:animEffect>
                                    <p:set>
                                      <p:cBhvr>
                                        <p:cTn id="132" dur="1" fill="hold">
                                          <p:stCondLst>
                                            <p:cond delay="349"/>
                                          </p:stCondLst>
                                        </p:cTn>
                                        <p:tgtEl>
                                          <p:spTgt spid="16"/>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350"/>
                                        <p:tgtEl>
                                          <p:spTgt spid="17"/>
                                        </p:tgtEl>
                                      </p:cBhvr>
                                    </p:animEffect>
                                    <p:set>
                                      <p:cBhvr>
                                        <p:cTn id="135" dur="1" fill="hold">
                                          <p:stCondLst>
                                            <p:cond delay="349"/>
                                          </p:stCondLst>
                                        </p:cTn>
                                        <p:tgtEl>
                                          <p:spTgt spid="17"/>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350"/>
                                        <p:tgtEl>
                                          <p:spTgt spid="18"/>
                                        </p:tgtEl>
                                      </p:cBhvr>
                                    </p:animEffect>
                                    <p:set>
                                      <p:cBhvr>
                                        <p:cTn id="138" dur="1" fill="hold">
                                          <p:stCondLst>
                                            <p:cond delay="349"/>
                                          </p:stCondLst>
                                        </p:cTn>
                                        <p:tgtEl>
                                          <p:spTgt spid="18"/>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350"/>
                                        <p:tgtEl>
                                          <p:spTgt spid="19"/>
                                        </p:tgtEl>
                                      </p:cBhvr>
                                    </p:animEffect>
                                    <p:set>
                                      <p:cBhvr>
                                        <p:cTn id="141" dur="1" fill="hold">
                                          <p:stCondLst>
                                            <p:cond delay="349"/>
                                          </p:stCondLst>
                                        </p:cTn>
                                        <p:tgtEl>
                                          <p:spTgt spid="19"/>
                                        </p:tgtEl>
                                        <p:attrNameLst>
                                          <p:attrName>style.visibility</p:attrName>
                                        </p:attrNameLst>
                                      </p:cBhvr>
                                      <p:to>
                                        <p:strVal val="hidden"/>
                                      </p:to>
                                    </p:set>
                                  </p:childTnLst>
                                </p:cTn>
                              </p:par>
                              <p:par>
                                <p:cTn id="142" presetID="10" presetClass="exit" presetSubtype="0" fill="hold" nodeType="withEffect">
                                  <p:stCondLst>
                                    <p:cond delay="0"/>
                                  </p:stCondLst>
                                  <p:childTnLst>
                                    <p:animEffect transition="out" filter="fade">
                                      <p:cBhvr>
                                        <p:cTn id="143" dur="350"/>
                                        <p:tgtEl>
                                          <p:spTgt spid="20"/>
                                        </p:tgtEl>
                                      </p:cBhvr>
                                    </p:animEffect>
                                    <p:set>
                                      <p:cBhvr>
                                        <p:cTn id="144" dur="1" fill="hold">
                                          <p:stCondLst>
                                            <p:cond delay="349"/>
                                          </p:stCondLst>
                                        </p:cTn>
                                        <p:tgtEl>
                                          <p:spTgt spid="20"/>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350"/>
                                        <p:tgtEl>
                                          <p:spTgt spid="21"/>
                                        </p:tgtEl>
                                      </p:cBhvr>
                                    </p:animEffect>
                                    <p:set>
                                      <p:cBhvr>
                                        <p:cTn id="147" dur="1" fill="hold">
                                          <p:stCondLst>
                                            <p:cond delay="349"/>
                                          </p:stCondLst>
                                        </p:cTn>
                                        <p:tgtEl>
                                          <p:spTgt spid="21"/>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350"/>
                                        <p:tgtEl>
                                          <p:spTgt spid="22"/>
                                        </p:tgtEl>
                                      </p:cBhvr>
                                    </p:animEffect>
                                    <p:set>
                                      <p:cBhvr>
                                        <p:cTn id="150" dur="1" fill="hold">
                                          <p:stCondLst>
                                            <p:cond delay="349"/>
                                          </p:stCondLst>
                                        </p:cTn>
                                        <p:tgtEl>
                                          <p:spTgt spid="22"/>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350"/>
                                        <p:tgtEl>
                                          <p:spTgt spid="23"/>
                                        </p:tgtEl>
                                      </p:cBhvr>
                                    </p:animEffect>
                                    <p:set>
                                      <p:cBhvr>
                                        <p:cTn id="153" dur="1" fill="hold">
                                          <p:stCondLst>
                                            <p:cond delay="349"/>
                                          </p:stCondLst>
                                        </p:cTn>
                                        <p:tgtEl>
                                          <p:spTgt spid="23"/>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350"/>
                                        <p:tgtEl>
                                          <p:spTgt spid="24"/>
                                        </p:tgtEl>
                                      </p:cBhvr>
                                    </p:animEffect>
                                    <p:set>
                                      <p:cBhvr>
                                        <p:cTn id="156" dur="1" fill="hold">
                                          <p:stCondLst>
                                            <p:cond delay="349"/>
                                          </p:stCondLst>
                                        </p:cTn>
                                        <p:tgtEl>
                                          <p:spTgt spid="24"/>
                                        </p:tgtEl>
                                        <p:attrNameLst>
                                          <p:attrName>style.visibility</p:attrName>
                                        </p:attrNameLst>
                                      </p:cBhvr>
                                      <p:to>
                                        <p:strVal val="hidden"/>
                                      </p:to>
                                    </p:set>
                                  </p:childTnLst>
                                </p:cTn>
                              </p:par>
                              <p:par>
                                <p:cTn id="157" presetID="10" presetClass="entr" presetSubtype="0" fill="hold" nodeType="withEffect">
                                  <p:stCondLst>
                                    <p:cond delay="450"/>
                                  </p:stCondLst>
                                  <p:childTnLst>
                                    <p:set>
                                      <p:cBhvr>
                                        <p:cTn id="158" dur="1" fill="hold">
                                          <p:stCondLst>
                                            <p:cond delay="0"/>
                                          </p:stCondLst>
                                        </p:cTn>
                                        <p:tgtEl>
                                          <p:spTgt spid="25"/>
                                        </p:tgtEl>
                                        <p:attrNameLst>
                                          <p:attrName>style.visibility</p:attrName>
                                        </p:attrNameLst>
                                      </p:cBhvr>
                                      <p:to>
                                        <p:strVal val="visible"/>
                                      </p:to>
                                    </p:set>
                                    <p:animEffect transition="in" filter="fade">
                                      <p:cBhvr>
                                        <p:cTn id="159" dur="450"/>
                                        <p:tgtEl>
                                          <p:spTgt spid="25"/>
                                        </p:tgtEl>
                                      </p:cBhvr>
                                    </p:animEffect>
                                  </p:childTnLst>
                                </p:cTn>
                              </p:par>
                              <p:par>
                                <p:cTn id="160" presetID="53" presetClass="entr" presetSubtype="16" fill="hold" nodeType="withEffect">
                                  <p:stCondLst>
                                    <p:cond delay="520"/>
                                  </p:stCondLst>
                                  <p:childTnLst>
                                    <p:set>
                                      <p:cBhvr>
                                        <p:cTn id="161" dur="1" fill="hold">
                                          <p:stCondLst>
                                            <p:cond delay="0"/>
                                          </p:stCondLst>
                                        </p:cTn>
                                        <p:tgtEl>
                                          <p:spTgt spid="26"/>
                                        </p:tgtEl>
                                        <p:attrNameLst>
                                          <p:attrName>style.visibility</p:attrName>
                                        </p:attrNameLst>
                                      </p:cBhvr>
                                      <p:to>
                                        <p:strVal val="visible"/>
                                      </p:to>
                                    </p:set>
                                    <p:anim calcmode="lin" valueType="num">
                                      <p:cBhvr>
                                        <p:cTn id="162" dur="600" fill="hold"/>
                                        <p:tgtEl>
                                          <p:spTgt spid="26"/>
                                        </p:tgtEl>
                                        <p:attrNameLst>
                                          <p:attrName>ppt_w</p:attrName>
                                        </p:attrNameLst>
                                      </p:cBhvr>
                                      <p:tavLst>
                                        <p:tav tm="0">
                                          <p:val>
                                            <p:fltVal val="0"/>
                                          </p:val>
                                        </p:tav>
                                        <p:tav tm="100000">
                                          <p:val>
                                            <p:strVal val="#ppt_w"/>
                                          </p:val>
                                        </p:tav>
                                      </p:tavLst>
                                    </p:anim>
                                    <p:anim calcmode="lin" valueType="num">
                                      <p:cBhvr>
                                        <p:cTn id="163" dur="600" fill="hold"/>
                                        <p:tgtEl>
                                          <p:spTgt spid="26"/>
                                        </p:tgtEl>
                                        <p:attrNameLst>
                                          <p:attrName>ppt_h</p:attrName>
                                        </p:attrNameLst>
                                      </p:cBhvr>
                                      <p:tavLst>
                                        <p:tav tm="0">
                                          <p:val>
                                            <p:fltVal val="0"/>
                                          </p:val>
                                        </p:tav>
                                        <p:tav tm="100000">
                                          <p:val>
                                            <p:strVal val="#ppt_h"/>
                                          </p:val>
                                        </p:tav>
                                      </p:tavLst>
                                    </p:anim>
                                    <p:animEffect transition="in" filter="fade">
                                      <p:cBhvr>
                                        <p:cTn id="164" dur="600"/>
                                        <p:tgtEl>
                                          <p:spTgt spid="26"/>
                                        </p:tgtEl>
                                      </p:cBhvr>
                                    </p:animEffect>
                                  </p:childTnLst>
                                </p:cTn>
                              </p:par>
                              <p:par>
                                <p:cTn id="165" presetID="22" presetClass="entr" presetSubtype="4" fill="hold" nodeType="withEffect">
                                  <p:stCondLst>
                                    <p:cond delay="590"/>
                                  </p:stCondLst>
                                  <p:childTnLst>
                                    <p:set>
                                      <p:cBhvr>
                                        <p:cTn id="166" dur="1" fill="hold">
                                          <p:stCondLst>
                                            <p:cond delay="0"/>
                                          </p:stCondLst>
                                        </p:cTn>
                                        <p:tgtEl>
                                          <p:spTgt spid="27"/>
                                        </p:tgtEl>
                                        <p:attrNameLst>
                                          <p:attrName>style.visibility</p:attrName>
                                        </p:attrNameLst>
                                      </p:cBhvr>
                                      <p:to>
                                        <p:strVal val="visible"/>
                                      </p:to>
                                    </p:set>
                                    <p:animEffect transition="in" filter="wipe(down)">
                                      <p:cBhvr>
                                        <p:cTn id="167" dur="500"/>
                                        <p:tgtEl>
                                          <p:spTgt spid="27"/>
                                        </p:tgtEl>
                                      </p:cBhvr>
                                    </p:animEffect>
                                  </p:childTnLst>
                                </p:cTn>
                              </p:par>
                              <p:par>
                                <p:cTn id="168" presetID="10" presetClass="entr" presetSubtype="0" fill="hold" nodeType="withEffect">
                                  <p:stCondLst>
                                    <p:cond delay="580"/>
                                  </p:stCondLst>
                                  <p:childTnLst>
                                    <p:set>
                                      <p:cBhvr>
                                        <p:cTn id="169" dur="1" fill="hold">
                                          <p:stCondLst>
                                            <p:cond delay="0"/>
                                          </p:stCondLst>
                                        </p:cTn>
                                        <p:tgtEl>
                                          <p:spTgt spid="28"/>
                                        </p:tgtEl>
                                        <p:attrNameLst>
                                          <p:attrName>style.visibility</p:attrName>
                                        </p:attrNameLst>
                                      </p:cBhvr>
                                      <p:to>
                                        <p:strVal val="visible"/>
                                      </p:to>
                                    </p:set>
                                    <p:animEffect transition="in" filter="fade">
                                      <p:cBhvr>
                                        <p:cTn id="170" dur="450"/>
                                        <p:tgtEl>
                                          <p:spTgt spid="28"/>
                                        </p:tgtEl>
                                      </p:cBhvr>
                                    </p:animEffect>
                                  </p:childTnLst>
                                </p:cTn>
                              </p:par>
                            </p:childTnLst>
                          </p:cTn>
                        </p:par>
                      </p:childTnLst>
                    </p:cTn>
                  </p:par>
                  <p:par>
                    <p:cTn id="171" fill="hold">
                      <p:stCondLst>
                        <p:cond delay="indefinite"/>
                      </p:stCondLst>
                      <p:childTnLst>
                        <p:par>
                          <p:cTn id="172" fill="hold">
                            <p:stCondLst>
                              <p:cond delay="0"/>
                            </p:stCondLst>
                            <p:childTnLst>
                              <p:par>
                                <p:cTn id="173" presetID="10" presetClass="exit" presetSubtype="0" fill="hold" nodeType="clickEffect">
                                  <p:stCondLst>
                                    <p:cond delay="0"/>
                                  </p:stCondLst>
                                  <p:childTnLst>
                                    <p:animEffect transition="out" filter="fade">
                                      <p:cBhvr>
                                        <p:cTn id="174" dur="350"/>
                                        <p:tgtEl>
                                          <p:spTgt spid="25"/>
                                        </p:tgtEl>
                                      </p:cBhvr>
                                    </p:animEffect>
                                    <p:set>
                                      <p:cBhvr>
                                        <p:cTn id="175" dur="1" fill="hold">
                                          <p:stCondLst>
                                            <p:cond delay="349"/>
                                          </p:stCondLst>
                                        </p:cTn>
                                        <p:tgtEl>
                                          <p:spTgt spid="25"/>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350"/>
                                        <p:tgtEl>
                                          <p:spTgt spid="27"/>
                                        </p:tgtEl>
                                      </p:cBhvr>
                                    </p:animEffect>
                                    <p:set>
                                      <p:cBhvr>
                                        <p:cTn id="178" dur="1" fill="hold">
                                          <p:stCondLst>
                                            <p:cond delay="349"/>
                                          </p:stCondLst>
                                        </p:cTn>
                                        <p:tgtEl>
                                          <p:spTgt spid="27"/>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350"/>
                                        <p:tgtEl>
                                          <p:spTgt spid="28"/>
                                        </p:tgtEl>
                                      </p:cBhvr>
                                    </p:animEffect>
                                    <p:set>
                                      <p:cBhvr>
                                        <p:cTn id="181" dur="1" fill="hold">
                                          <p:stCondLst>
                                            <p:cond delay="349"/>
                                          </p:stCondLst>
                                        </p:cTn>
                                        <p:tgtEl>
                                          <p:spTgt spid="28"/>
                                        </p:tgtEl>
                                        <p:attrNameLst>
                                          <p:attrName>style.visibility</p:attrName>
                                        </p:attrNameLst>
                                      </p:cBhvr>
                                      <p:to>
                                        <p:strVal val="hidden"/>
                                      </p:to>
                                    </p:set>
                                  </p:childTnLst>
                                </p:cTn>
                              </p:par>
                              <p:par>
                                <p:cTn id="182" presetID="0" presetClass="path" presetSubtype="0" accel="50000" decel="50000" fill="hold" nodeType="withEffect">
                                  <p:stCondLst>
                                    <p:cond delay="0"/>
                                  </p:stCondLst>
                                  <p:childTnLst>
                                    <p:animMotion origin="layout" path="M 0 0 L 0.39250 -0.21140 E" pathEditMode="relative" rAng="0" ptsTypes="AA">
                                      <p:cBhvr>
                                        <p:cTn id="183" dur="750" fill="hold"/>
                                        <p:tgtEl>
                                          <p:spTgt spid="26"/>
                                        </p:tgtEl>
                                        <p:attrNameLst>
                                          <p:attrName>ppt_x</p:attrName>
                                          <p:attrName>ppt_y</p:attrName>
                                        </p:attrNameLst>
                                      </p:cBhvr>
                                      <p:rCtr x="19625" y="-10570"/>
                                    </p:animMotion>
                                  </p:childTnLst>
                                </p:cTn>
                              </p:par>
                              <p:par>
                                <p:cTn id="184" presetID="6" presetClass="emph" presetSubtype="0" accel="50000" decel="50000" fill="hold" nodeType="withEffect">
                                  <p:stCondLst>
                                    <p:cond delay="0"/>
                                  </p:stCondLst>
                                  <p:childTnLst>
                                    <p:animScale>
                                      <p:cBhvr>
                                        <p:cTn id="185" dur="750" fill="hold"/>
                                        <p:tgtEl>
                                          <p:spTgt spid="26"/>
                                        </p:tgtEl>
                                      </p:cBhvr>
                                      <p:by x="17913" y="17913"/>
                                    </p:animScale>
                                  </p:childTnLst>
                                </p:cTn>
                              </p:par>
                              <p:par>
                                <p:cTn id="186" presetID="10" presetClass="entr" presetSubtype="0" fill="hold" nodeType="withEffect">
                                  <p:stCondLst>
                                    <p:cond delay="450"/>
                                  </p:stCondLst>
                                  <p:childTnLst>
                                    <p:set>
                                      <p:cBhvr>
                                        <p:cTn id="187" dur="1" fill="hold">
                                          <p:stCondLst>
                                            <p:cond delay="0"/>
                                          </p:stCondLst>
                                        </p:cTn>
                                        <p:tgtEl>
                                          <p:spTgt spid="29"/>
                                        </p:tgtEl>
                                        <p:attrNameLst>
                                          <p:attrName>style.visibility</p:attrName>
                                        </p:attrNameLst>
                                      </p:cBhvr>
                                      <p:to>
                                        <p:strVal val="visible"/>
                                      </p:to>
                                    </p:set>
                                    <p:animEffect transition="in" filter="fade">
                                      <p:cBhvr>
                                        <p:cTn id="188" dur="450"/>
                                        <p:tgtEl>
                                          <p:spTgt spid="29"/>
                                        </p:tgtEl>
                                      </p:cBhvr>
                                    </p:animEffect>
                                  </p:childTnLst>
                                </p:cTn>
                              </p:par>
                              <p:par>
                                <p:cTn id="189" presetID="53" presetClass="entr" presetSubtype="16" fill="hold" nodeType="withEffect">
                                  <p:stCondLst>
                                    <p:cond delay="520"/>
                                  </p:stCondLst>
                                  <p:childTnLst>
                                    <p:set>
                                      <p:cBhvr>
                                        <p:cTn id="190" dur="1" fill="hold">
                                          <p:stCondLst>
                                            <p:cond delay="0"/>
                                          </p:stCondLst>
                                        </p:cTn>
                                        <p:tgtEl>
                                          <p:spTgt spid="30"/>
                                        </p:tgtEl>
                                        <p:attrNameLst>
                                          <p:attrName>style.visibility</p:attrName>
                                        </p:attrNameLst>
                                      </p:cBhvr>
                                      <p:to>
                                        <p:strVal val="visible"/>
                                      </p:to>
                                    </p:set>
                                    <p:anim calcmode="lin" valueType="num">
                                      <p:cBhvr>
                                        <p:cTn id="191" dur="600" fill="hold"/>
                                        <p:tgtEl>
                                          <p:spTgt spid="30"/>
                                        </p:tgtEl>
                                        <p:attrNameLst>
                                          <p:attrName>ppt_w</p:attrName>
                                        </p:attrNameLst>
                                      </p:cBhvr>
                                      <p:tavLst>
                                        <p:tav tm="0">
                                          <p:val>
                                            <p:fltVal val="0"/>
                                          </p:val>
                                        </p:tav>
                                        <p:tav tm="100000">
                                          <p:val>
                                            <p:strVal val="#ppt_w"/>
                                          </p:val>
                                        </p:tav>
                                      </p:tavLst>
                                    </p:anim>
                                    <p:anim calcmode="lin" valueType="num">
                                      <p:cBhvr>
                                        <p:cTn id="192" dur="600" fill="hold"/>
                                        <p:tgtEl>
                                          <p:spTgt spid="30"/>
                                        </p:tgtEl>
                                        <p:attrNameLst>
                                          <p:attrName>ppt_h</p:attrName>
                                        </p:attrNameLst>
                                      </p:cBhvr>
                                      <p:tavLst>
                                        <p:tav tm="0">
                                          <p:val>
                                            <p:fltVal val="0"/>
                                          </p:val>
                                        </p:tav>
                                        <p:tav tm="100000">
                                          <p:val>
                                            <p:strVal val="#ppt_h"/>
                                          </p:val>
                                        </p:tav>
                                      </p:tavLst>
                                    </p:anim>
                                    <p:animEffect transition="in" filter="fade">
                                      <p:cBhvr>
                                        <p:cTn id="193" dur="600"/>
                                        <p:tgtEl>
                                          <p:spTgt spid="30"/>
                                        </p:tgtEl>
                                      </p:cBhvr>
                                    </p:animEffect>
                                  </p:childTnLst>
                                </p:cTn>
                              </p:par>
                              <p:par>
                                <p:cTn id="194" presetID="10" presetClass="entr" presetSubtype="0" fill="hold" nodeType="withEffect">
                                  <p:stCondLst>
                                    <p:cond delay="580"/>
                                  </p:stCondLst>
                                  <p:childTnLst>
                                    <p:set>
                                      <p:cBhvr>
                                        <p:cTn id="195" dur="1" fill="hold">
                                          <p:stCondLst>
                                            <p:cond delay="0"/>
                                          </p:stCondLst>
                                        </p:cTn>
                                        <p:tgtEl>
                                          <p:spTgt spid="31"/>
                                        </p:tgtEl>
                                        <p:attrNameLst>
                                          <p:attrName>style.visibility</p:attrName>
                                        </p:attrNameLst>
                                      </p:cBhvr>
                                      <p:to>
                                        <p:strVal val="visible"/>
                                      </p:to>
                                    </p:set>
                                    <p:animEffect transition="in" filter="fade">
                                      <p:cBhvr>
                                        <p:cTn id="196" dur="450"/>
                                        <p:tgtEl>
                                          <p:spTgt spid="31"/>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xit" presetSubtype="0" fill="hold" nodeType="clickEffect">
                                  <p:stCondLst>
                                    <p:cond delay="0"/>
                                  </p:stCondLst>
                                  <p:childTnLst>
                                    <p:animEffect transition="out" filter="fade">
                                      <p:cBhvr>
                                        <p:cTn id="200" dur="350"/>
                                        <p:tgtEl>
                                          <p:spTgt spid="29"/>
                                        </p:tgtEl>
                                      </p:cBhvr>
                                    </p:animEffect>
                                    <p:set>
                                      <p:cBhvr>
                                        <p:cTn id="201" dur="1" fill="hold">
                                          <p:stCondLst>
                                            <p:cond delay="349"/>
                                          </p:stCondLst>
                                        </p:cTn>
                                        <p:tgtEl>
                                          <p:spTgt spid="29"/>
                                        </p:tgtEl>
                                        <p:attrNameLst>
                                          <p:attrName>style.visibility</p:attrName>
                                        </p:attrNameLst>
                                      </p:cBhvr>
                                      <p:to>
                                        <p:strVal val="hidden"/>
                                      </p:to>
                                    </p:set>
                                  </p:childTnLst>
                                </p:cTn>
                              </p:par>
                              <p:par>
                                <p:cTn id="202" presetID="10" presetClass="exit" presetSubtype="0" fill="hold" nodeType="withEffect">
                                  <p:stCondLst>
                                    <p:cond delay="0"/>
                                  </p:stCondLst>
                                  <p:childTnLst>
                                    <p:animEffect transition="out" filter="fade">
                                      <p:cBhvr>
                                        <p:cTn id="203" dur="350"/>
                                        <p:tgtEl>
                                          <p:spTgt spid="31"/>
                                        </p:tgtEl>
                                      </p:cBhvr>
                                    </p:animEffect>
                                    <p:set>
                                      <p:cBhvr>
                                        <p:cTn id="204" dur="1" fill="hold">
                                          <p:stCondLst>
                                            <p:cond delay="349"/>
                                          </p:stCondLst>
                                        </p:cTn>
                                        <p:tgtEl>
                                          <p:spTgt spid="31"/>
                                        </p:tgtEl>
                                        <p:attrNameLst>
                                          <p:attrName>style.visibility</p:attrName>
                                        </p:attrNameLst>
                                      </p:cBhvr>
                                      <p:to>
                                        <p:strVal val="hidden"/>
                                      </p:to>
                                    </p:set>
                                  </p:childTnLst>
                                </p:cTn>
                              </p:par>
                              <p:par>
                                <p:cTn id="205" presetID="0" presetClass="path" presetSubtype="0" accel="50000" decel="50000" fill="hold" nodeType="withEffect">
                                  <p:stCondLst>
                                    <p:cond delay="0"/>
                                  </p:stCondLst>
                                  <p:childTnLst>
                                    <p:animMotion origin="layout" path="M 0 0 L 0.47000 0.03164 E" pathEditMode="relative" rAng="0" ptsTypes="AA">
                                      <p:cBhvr>
                                        <p:cTn id="206" dur="750" fill="hold"/>
                                        <p:tgtEl>
                                          <p:spTgt spid="30"/>
                                        </p:tgtEl>
                                        <p:attrNameLst>
                                          <p:attrName>ppt_x</p:attrName>
                                          <p:attrName>ppt_y</p:attrName>
                                        </p:attrNameLst>
                                      </p:cBhvr>
                                      <p:rCtr x="23500" y="1582"/>
                                    </p:animMotion>
                                  </p:childTnLst>
                                </p:cTn>
                              </p:par>
                              <p:par>
                                <p:cTn id="207" presetID="6" presetClass="emph" presetSubtype="0" accel="50000" decel="50000" fill="hold" nodeType="withEffect">
                                  <p:stCondLst>
                                    <p:cond delay="0"/>
                                  </p:stCondLst>
                                  <p:childTnLst>
                                    <p:animScale>
                                      <p:cBhvr>
                                        <p:cTn id="208" dur="750" fill="hold"/>
                                        <p:tgtEl>
                                          <p:spTgt spid="30"/>
                                        </p:tgtEl>
                                      </p:cBhvr>
                                      <p:by x="20835" y="20835"/>
                                    </p:animScale>
                                  </p:childTnLst>
                                </p:cTn>
                              </p:par>
                              <p:par>
                                <p:cTn id="209" presetID="10" presetClass="entr" presetSubtype="0" fill="hold" nodeType="withEffect">
                                  <p:stCondLst>
                                    <p:cond delay="450"/>
                                  </p:stCondLst>
                                  <p:childTnLst>
                                    <p:set>
                                      <p:cBhvr>
                                        <p:cTn id="210" dur="1" fill="hold">
                                          <p:stCondLst>
                                            <p:cond delay="0"/>
                                          </p:stCondLst>
                                        </p:cTn>
                                        <p:tgtEl>
                                          <p:spTgt spid="32"/>
                                        </p:tgtEl>
                                        <p:attrNameLst>
                                          <p:attrName>style.visibility</p:attrName>
                                        </p:attrNameLst>
                                      </p:cBhvr>
                                      <p:to>
                                        <p:strVal val="visible"/>
                                      </p:to>
                                    </p:set>
                                    <p:animEffect transition="in" filter="fade">
                                      <p:cBhvr>
                                        <p:cTn id="211" dur="450"/>
                                        <p:tgtEl>
                                          <p:spTgt spid="32"/>
                                        </p:tgtEl>
                                      </p:cBhvr>
                                    </p:animEffect>
                                  </p:childTnLst>
                                </p:cTn>
                              </p:par>
                              <p:par>
                                <p:cTn id="212" presetID="53" presetClass="entr" presetSubtype="16" fill="hold" nodeType="withEffect">
                                  <p:stCondLst>
                                    <p:cond delay="520"/>
                                  </p:stCondLst>
                                  <p:childTnLst>
                                    <p:set>
                                      <p:cBhvr>
                                        <p:cTn id="213" dur="1" fill="hold">
                                          <p:stCondLst>
                                            <p:cond delay="0"/>
                                          </p:stCondLst>
                                        </p:cTn>
                                        <p:tgtEl>
                                          <p:spTgt spid="33"/>
                                        </p:tgtEl>
                                        <p:attrNameLst>
                                          <p:attrName>style.visibility</p:attrName>
                                        </p:attrNameLst>
                                      </p:cBhvr>
                                      <p:to>
                                        <p:strVal val="visible"/>
                                      </p:to>
                                    </p:set>
                                    <p:anim calcmode="lin" valueType="num">
                                      <p:cBhvr>
                                        <p:cTn id="214" dur="600" fill="hold"/>
                                        <p:tgtEl>
                                          <p:spTgt spid="33"/>
                                        </p:tgtEl>
                                        <p:attrNameLst>
                                          <p:attrName>ppt_w</p:attrName>
                                        </p:attrNameLst>
                                      </p:cBhvr>
                                      <p:tavLst>
                                        <p:tav tm="0">
                                          <p:val>
                                            <p:fltVal val="0"/>
                                          </p:val>
                                        </p:tav>
                                        <p:tav tm="100000">
                                          <p:val>
                                            <p:strVal val="#ppt_w"/>
                                          </p:val>
                                        </p:tav>
                                      </p:tavLst>
                                    </p:anim>
                                    <p:anim calcmode="lin" valueType="num">
                                      <p:cBhvr>
                                        <p:cTn id="215" dur="600" fill="hold"/>
                                        <p:tgtEl>
                                          <p:spTgt spid="33"/>
                                        </p:tgtEl>
                                        <p:attrNameLst>
                                          <p:attrName>ppt_h</p:attrName>
                                        </p:attrNameLst>
                                      </p:cBhvr>
                                      <p:tavLst>
                                        <p:tav tm="0">
                                          <p:val>
                                            <p:fltVal val="0"/>
                                          </p:val>
                                        </p:tav>
                                        <p:tav tm="100000">
                                          <p:val>
                                            <p:strVal val="#ppt_h"/>
                                          </p:val>
                                        </p:tav>
                                      </p:tavLst>
                                    </p:anim>
                                    <p:animEffect transition="in" filter="fade">
                                      <p:cBhvr>
                                        <p:cTn id="216" dur="600"/>
                                        <p:tgtEl>
                                          <p:spTgt spid="33"/>
                                        </p:tgtEl>
                                      </p:cBhvr>
                                    </p:animEffect>
                                  </p:childTnLst>
                                </p:cTn>
                              </p:par>
                              <p:par>
                                <p:cTn id="217" presetID="22" presetClass="entr" presetSubtype="4" fill="hold" nodeType="withEffect">
                                  <p:stCondLst>
                                    <p:cond delay="590"/>
                                  </p:stCondLst>
                                  <p:childTnLst>
                                    <p:set>
                                      <p:cBhvr>
                                        <p:cTn id="218" dur="1" fill="hold">
                                          <p:stCondLst>
                                            <p:cond delay="0"/>
                                          </p:stCondLst>
                                        </p:cTn>
                                        <p:tgtEl>
                                          <p:spTgt spid="34"/>
                                        </p:tgtEl>
                                        <p:attrNameLst>
                                          <p:attrName>style.visibility</p:attrName>
                                        </p:attrNameLst>
                                      </p:cBhvr>
                                      <p:to>
                                        <p:strVal val="visible"/>
                                      </p:to>
                                    </p:set>
                                    <p:animEffect transition="in" filter="wipe(down)">
                                      <p:cBhvr>
                                        <p:cTn id="219" dur="500"/>
                                        <p:tgtEl>
                                          <p:spTgt spid="34"/>
                                        </p:tgtEl>
                                      </p:cBhvr>
                                    </p:animEffect>
                                  </p:childTnLst>
                                </p:cTn>
                              </p:par>
                              <p:par>
                                <p:cTn id="220" presetID="10" presetClass="entr" presetSubtype="0" grpId="0" fill="hold" nodeType="withEffect">
                                  <p:stCondLst>
                                    <p:cond delay="660"/>
                                  </p:stCondLst>
                                  <p:childTnLst>
                                    <p:set>
                                      <p:cBhvr>
                                        <p:cTn id="221" dur="1" fill="hold">
                                          <p:stCondLst>
                                            <p:cond delay="0"/>
                                          </p:stCondLst>
                                        </p:cTn>
                                        <p:tgtEl>
                                          <p:spTgt spid="35">
                                            <p:txEl>
                                              <p:pRg st="0" end="0"/>
                                            </p:txEl>
                                          </p:spTgt>
                                        </p:tgtEl>
                                        <p:attrNameLst>
                                          <p:attrName>style.visibility</p:attrName>
                                        </p:attrNameLst>
                                      </p:cBhvr>
                                      <p:to>
                                        <p:strVal val="visible"/>
                                      </p:to>
                                    </p:set>
                                    <p:animEffect transition="in" filter="fade">
                                      <p:cBhvr>
                                        <p:cTn id="222" dur="450"/>
                                        <p:tgtEl>
                                          <p:spTgt spid="35">
                                            <p:txEl>
                                              <p:pRg st="0" end="0"/>
                                            </p:txEl>
                                          </p:spTgt>
                                        </p:tgtEl>
                                      </p:cBhvr>
                                    </p:animEffect>
                                  </p:childTnLst>
                                </p:cTn>
                              </p:par>
                              <p:par>
                                <p:cTn id="223" presetID="10" presetClass="entr" presetSubtype="0" grpId="0" fill="hold" nodeType="withEffect">
                                  <p:stCondLst>
                                    <p:cond delay="1040"/>
                                  </p:stCondLst>
                                  <p:childTnLst>
                                    <p:set>
                                      <p:cBhvr>
                                        <p:cTn id="224" dur="1" fill="hold">
                                          <p:stCondLst>
                                            <p:cond delay="0"/>
                                          </p:stCondLst>
                                        </p:cTn>
                                        <p:tgtEl>
                                          <p:spTgt spid="35">
                                            <p:txEl>
                                              <p:pRg st="1" end="1"/>
                                            </p:txEl>
                                          </p:spTgt>
                                        </p:tgtEl>
                                        <p:attrNameLst>
                                          <p:attrName>style.visibility</p:attrName>
                                        </p:attrNameLst>
                                      </p:cBhvr>
                                      <p:to>
                                        <p:strVal val="visible"/>
                                      </p:to>
                                    </p:set>
                                    <p:animEffect transition="in" filter="fade">
                                      <p:cBhvr>
                                        <p:cTn id="225" dur="450"/>
                                        <p:tgtEl>
                                          <p:spTgt spid="35">
                                            <p:txEl>
                                              <p:pRg st="1" end="1"/>
                                            </p:txEl>
                                          </p:spTgt>
                                        </p:tgtEl>
                                      </p:cBhvr>
                                    </p:animEffect>
                                  </p:childTnLst>
                                </p:cTn>
                              </p:par>
                              <p:par>
                                <p:cTn id="226" presetID="10" presetClass="entr" presetSubtype="0" grpId="0" fill="hold" nodeType="withEffect">
                                  <p:stCondLst>
                                    <p:cond delay="1420"/>
                                  </p:stCondLst>
                                  <p:childTnLst>
                                    <p:set>
                                      <p:cBhvr>
                                        <p:cTn id="227" dur="1" fill="hold">
                                          <p:stCondLst>
                                            <p:cond delay="0"/>
                                          </p:stCondLst>
                                        </p:cTn>
                                        <p:tgtEl>
                                          <p:spTgt spid="35">
                                            <p:txEl>
                                              <p:pRg st="2" end="2"/>
                                            </p:txEl>
                                          </p:spTgt>
                                        </p:tgtEl>
                                        <p:attrNameLst>
                                          <p:attrName>style.visibility</p:attrName>
                                        </p:attrNameLst>
                                      </p:cBhvr>
                                      <p:to>
                                        <p:strVal val="visible"/>
                                      </p:to>
                                    </p:set>
                                    <p:animEffect transition="in" filter="fade">
                                      <p:cBhvr>
                                        <p:cTn id="228" dur="450"/>
                                        <p:tgtEl>
                                          <p:spTgt spid="35">
                                            <p:txEl>
                                              <p:pRg st="2" end="2"/>
                                            </p:txEl>
                                          </p:spTgt>
                                        </p:tgtEl>
                                      </p:cBhvr>
                                    </p:animEffect>
                                  </p:childTnLst>
                                </p:cTn>
                              </p:par>
                              <p:par>
                                <p:cTn id="229" presetID="10" presetClass="entr" presetSubtype="0" fill="hold" nodeType="withEffect">
                                  <p:stCondLst>
                                    <p:cond delay="730"/>
                                  </p:stCondLst>
                                  <p:childTnLst>
                                    <p:set>
                                      <p:cBhvr>
                                        <p:cTn id="230" dur="1" fill="hold">
                                          <p:stCondLst>
                                            <p:cond delay="0"/>
                                          </p:stCondLst>
                                        </p:cTn>
                                        <p:tgtEl>
                                          <p:spTgt spid="36"/>
                                        </p:tgtEl>
                                        <p:attrNameLst>
                                          <p:attrName>style.visibility</p:attrName>
                                        </p:attrNameLst>
                                      </p:cBhvr>
                                      <p:to>
                                        <p:strVal val="visible"/>
                                      </p:to>
                                    </p:set>
                                    <p:animEffect transition="in" filter="fade">
                                      <p:cBhvr>
                                        <p:cTn id="231" dur="450"/>
                                        <p:tgtEl>
                                          <p:spTgt spid="36"/>
                                        </p:tgtEl>
                                      </p:cBhvr>
                                    </p:animEffect>
                                  </p:childTnLst>
                                </p:cTn>
                              </p:par>
                              <p:par>
                                <p:cTn id="232" presetID="22" presetClass="entr" presetSubtype="4" fill="hold" nodeType="withEffect">
                                  <p:stCondLst>
                                    <p:cond delay="800"/>
                                  </p:stCondLst>
                                  <p:childTnLst>
                                    <p:set>
                                      <p:cBhvr>
                                        <p:cTn id="233" dur="1" fill="hold">
                                          <p:stCondLst>
                                            <p:cond delay="0"/>
                                          </p:stCondLst>
                                        </p:cTn>
                                        <p:tgtEl>
                                          <p:spTgt spid="37"/>
                                        </p:tgtEl>
                                        <p:attrNameLst>
                                          <p:attrName>style.visibility</p:attrName>
                                        </p:attrNameLst>
                                      </p:cBhvr>
                                      <p:to>
                                        <p:strVal val="visible"/>
                                      </p:to>
                                    </p:set>
                                    <p:animEffect transition="in" filter="wipe(down)">
                                      <p:cBhvr>
                                        <p:cTn id="234" dur="500"/>
                                        <p:tgtEl>
                                          <p:spTgt spid="37"/>
                                        </p:tgtEl>
                                      </p:cBhvr>
                                    </p:animEffect>
                                  </p:childTnLst>
                                </p:cTn>
                              </p:par>
                              <p:par>
                                <p:cTn id="235" presetID="10" presetClass="entr" presetSubtype="0" fill="hold" nodeType="withEffect">
                                  <p:stCondLst>
                                    <p:cond delay="580"/>
                                  </p:stCondLst>
                                  <p:childTnLst>
                                    <p:set>
                                      <p:cBhvr>
                                        <p:cTn id="236" dur="1" fill="hold">
                                          <p:stCondLst>
                                            <p:cond delay="0"/>
                                          </p:stCondLst>
                                        </p:cTn>
                                        <p:tgtEl>
                                          <p:spTgt spid="38"/>
                                        </p:tgtEl>
                                        <p:attrNameLst>
                                          <p:attrName>style.visibility</p:attrName>
                                        </p:attrNameLst>
                                      </p:cBhvr>
                                      <p:to>
                                        <p:strVal val="visible"/>
                                      </p:to>
                                    </p:set>
                                    <p:animEffect transition="in" filter="fade">
                                      <p:cBhvr>
                                        <p:cTn id="237"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ADC, diezmado, máquina de estados y memoria definen cómo se captura</a:t>
            </a:r>
            <a:endParaRPr lang="en-US" sz="2200" dirty="0"/>
          </a:p>
        </p:txBody>
      </p:sp>
      <p:sp>
        <p:nvSpPr>
          <p:cNvPr id="3" name="Obj [o636]"/>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ADC tiene cuatro rangos de entrada, y el rango y la ganancia se eligen juntos</a:t>
            </a:r>
            <a:endParaRPr lang="en-US" sz="1400" dirty="0"/>
          </a:p>
        </p:txBody>
      </p:sp>
      <p:sp>
        <p:nvSpPr>
          <p:cNvPr id="4" name="Obj [o637]"/>
          <p:cNvSpPr/>
          <p:nvPr/>
        </p:nvSpPr>
        <p:spPr>
          <a:xfrm>
            <a:off x="966136" y="1561458"/>
            <a:ext cx="721172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 name="Obj [o638]"/>
              <p:cNvSpPr txBox="1"/>
              <p:nvPr/>
            </p:nvSpPr>
            <p:spPr>
              <a:xfrm>
                <a:off x="966136" y="1561458"/>
                <a:ext cx="721172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q</m:t>
                          </m:r>
                        </m:e>
                        <m:sub>
                          <m:r>
                            <m:rPr>
                              <m:sty m:val="p"/>
                            </m:rPr>
                            <a:rPr lang="es-ES" sz="2500">
                              <a:solidFill>
                                <a:srgbClr val="1F4E79"/>
                              </a:solidFill>
                              <a:latin typeface="Cambria Math" panose="02040503050406030204" pitchFamily="18" charset="0"/>
                            </a:rPr>
                            <m:t xml:space="preserve">ADC</m:t>
                          </m:r>
                        </m:sub>
                      </m:sSub>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m:rPr>
                                  <m:sty m:val="p"/>
                                </m:rPr>
                                <a:rPr lang="es-ES" sz="2500">
                                  <a:solidFill>
                                    <a:srgbClr val="1F4E79"/>
                                  </a:solidFill>
                                  <a:latin typeface="Cambria Math" panose="02040503050406030204" pitchFamily="18" charset="0"/>
                                </a:rPr>
                                <m:t xml:space="preserve">span</m:t>
                              </m:r>
                            </m:sub>
                          </m:sSub>
                        </m:num>
                        <m:den>
                          <m:sSup>
                            <m:sSupPr>
                              <m:ctrlPr>
                                <a:rPr lang="es-ES" sz="2500" i="1">
                                  <a:latin typeface="Cambria Math" panose="02040503050406030204" pitchFamily="18" charset="0"/>
                                </a:rPr>
                              </m:ctrlPr>
                            </m:sSupPr>
                            <m:e>
                              <m:r>
                                <a:rPr lang="es-ES" sz="2500" i="1">
                                  <a:solidFill>
                                    <a:srgbClr val="1F4E79"/>
                                  </a:solidFill>
                                  <a:latin typeface="Cambria Math" panose="02040503050406030204" pitchFamily="18" charset="0"/>
                                </a:rPr>
                                <m:t xml:space="preserve">2</m:t>
                              </m:r>
                            </m:e>
                            <m:sup>
                              <m:r>
                                <a:rPr lang="es-ES" sz="2500" i="1">
                                  <a:solidFill>
                                    <a:srgbClr val="1F4E79"/>
                                  </a:solidFill>
                                  <a:latin typeface="Cambria Math" panose="02040503050406030204" pitchFamily="18" charset="0"/>
                                </a:rPr>
                                <m:t xml:space="preserve">18</m:t>
                              </m:r>
                            </m:sup>
                          </m:sSup>
                        </m:den>
                      </m:f>
                      <m:r>
                        <a:rPr lang="es-ES" sz="2500" i="1">
                          <a:solidFill>
                            <a:srgbClr val="1F4E79"/>
                          </a:solidFill>
                          <a:latin typeface="Cambria Math" panose="02040503050406030204" pitchFamily="18" charset="0"/>
                        </a:rPr>
                        <m:t xml:space="preserve">≈19,1 </m:t>
                      </m:r>
                      <m:r>
                        <m:rPr>
                          <m:sty m:val="p"/>
                        </m:rPr>
                        <a:rPr lang="es-ES" sz="2500">
                          <a:solidFill>
                            <a:srgbClr val="1F4E79"/>
                          </a:solidFill>
                          <a:latin typeface="Cambria Math" panose="02040503050406030204" pitchFamily="18" charset="0"/>
                        </a:rPr>
                        <m:t xml:space="preserve">µV</m:t>
                      </m:r>
                    </m:oMath>
                  </m:oMathPara>
                </a14:m>
                <a:endParaRPr lang="es-ES"/>
              </a:p>
            </p:txBody>
          </p:sp>
        </mc:Choice>
        <mc:Fallback>
          <p:sp>
            <p:nvSpPr>
              <p:cNvPr id="5" name="Obj [o638]"/>
              <p:cNvSpPr txBox="1"/>
              <p:nvPr/>
            </p:nvSpPr>
            <p:spPr>
              <a:xfrm>
                <a:off x="966136" y="1561458"/>
                <a:ext cx="721172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q_ADC = V_span / 2¹⁸ ≈ 19,1 µV</a:t>
                </a:r>
                <a:endParaRPr lang="en-US" sz="2159" dirty="0"/>
              </a:p>
            </p:txBody>
          </p:sp>
        </mc:Fallback>
      </mc:AlternateContent>
      <p:graphicFrame>
        <p:nvGraphicFramePr>
          <p:cNvPr id="19" name="Obj [o639]"/>
          <p:cNvGraphicFramePr>
            <a:graphicFrameLocks noGrp="1"/>
          </p:cNvGraphicFramePr>
          <p:nvPr>
            <p:extLst>
              <p:ext uri="{D42A27DB-BD31-4B8C-83A1-F6EECF244321}">
                <p14:modId xmlns:p14="http://schemas.microsoft.com/office/powerpoint/2010/main" val="1579011935"/>
              </p:ext>
            </p:extLst>
          </p:nvPr>
        </p:nvGraphicFramePr>
        <p:xfrm>
          <a:off x="966136" y="2442892"/>
          <a:ext cx="3525734" cy="914400"/>
        </p:xfrm>
        <a:graphic>
          <a:graphicData uri="http://schemas.openxmlformats.org/drawingml/2006/table">
            <a:tbl>
              <a:tblPr/>
              <a:tblGrid>
                <a:gridCol w="1121824"/>
                <a:gridCol w="1282085"/>
                <a:gridCol w="1121824"/>
              </a:tblGrid>
              <a:tr h="304495">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Rango</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Fondo de escala</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LSB nominal</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±2,5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5,000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19,1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±1,024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2,048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7,81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±0,625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1,250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4,77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±0,512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1,024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3,91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Obj [o640]"/>
          <p:cNvSpPr txBox="1"/>
          <p:nvPr/>
        </p:nvSpPr>
        <p:spPr>
          <a:xfrm>
            <a:off x="966136" y="4045498"/>
            <a:ext cx="3525734" cy="240391"/>
          </a:xfrm>
          <a:prstGeom prst="rect">
            <a:avLst/>
          </a:prstGeom>
          <a:noFill/>
          <a:ln/>
        </p:spPr>
        <p:txBody>
          <a:bodyPr wrap="square" lIns="0" tIns="0" rIns="0" bIns="0" rtlCol="0" anchor="t"/>
          <a:lstStyle/>
          <a:p>
            <a:pPr indent="0" marL="0">
              <a:buNone/>
            </a:pPr>
            <a:r>
              <a:rPr lang="en-US" sz="1080" dirty="0">
                <a:solidFill>
                  <a:srgbClr val="6B6B6B"/>
                </a:solidFill>
                <a:latin typeface="Arial" pitchFamily="34" charset="0"/>
                <a:ea typeface="Arial" pitchFamily="34" charset="-122"/>
                <a:cs typeface="Arial" pitchFamily="34" charset="-120"/>
              </a:rPr>
              <a:t>Todos a 2604 muestras/s y 18 bits nominales.</a:t>
            </a:r>
            <a:endParaRPr lang="en-US" sz="1080" dirty="0"/>
          </a:p>
        </p:txBody>
      </p:sp>
      <p:sp>
        <p:nvSpPr>
          <p:cNvPr id="8" name="Obj [o641]"/>
          <p:cNvSpPr txBox="1"/>
          <p:nvPr/>
        </p:nvSpPr>
        <p:spPr>
          <a:xfrm>
            <a:off x="4732261" y="2442892"/>
            <a:ext cx="3445604" cy="1923128"/>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Por eso el rango se elige junto con la ganancia del PGA</a:t>
            </a:r>
            <a:endParaRPr lang="en-US" sz="1260" dirty="0"/>
          </a:p>
        </p:txBody>
      </p:sp>
      <p:sp>
        <p:nvSpPr>
          <p:cNvPr id="9" name="Obj [o64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documento de tesis, 04_arquitectura.tex (rangos del ADC). Los 13,8 dB son 20·log10(5/1,024), cálculo propio.</a:t>
            </a:r>
            <a:endParaRPr lang="en-US" sz="800" dirty="0"/>
          </a:p>
        </p:txBody>
      </p:sp>
      <p:sp>
        <p:nvSpPr>
          <p:cNvPr id="10" name="Obj [o64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Diezmamos con una media móvil: registros más chicos y mejor vista de las señales lentas</a:t>
            </a:r>
            <a:endParaRPr lang="en-US" sz="1400" dirty="0"/>
          </a:p>
        </p:txBody>
      </p:sp>
      <p:pic>
        <p:nvPicPr>
          <p:cNvPr id="11" name="Obj [o644]"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886005" y="1641589"/>
            <a:ext cx="4166776" cy="2361173"/>
          </a:xfrm>
          <a:prstGeom prst="rect">
            <a:avLst/>
          </a:prstGeom>
        </p:spPr>
      </p:pic>
      <p:sp>
        <p:nvSpPr>
          <p:cNvPr id="12" name="Obj [o645]"/>
          <p:cNvSpPr/>
          <p:nvPr/>
        </p:nvSpPr>
        <p:spPr>
          <a:xfrm>
            <a:off x="5293173" y="1641589"/>
            <a:ext cx="2884691"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646]"/>
              <p:cNvSpPr txBox="1"/>
              <p:nvPr/>
            </p:nvSpPr>
            <p:spPr>
              <a:xfrm>
                <a:off x="5293173" y="1641589"/>
                <a:ext cx="2884691"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500" i="1">
                              <a:latin typeface="Cambria Math" panose="02040503050406030204" pitchFamily="18" charset="0"/>
                            </a:rPr>
                          </m:ctrlPr>
                        </m:sSubSupPr>
                        <m:e>
                          <m:r>
                            <a:rPr lang="es-ES" sz="2500" i="1">
                              <a:solidFill>
                                <a:srgbClr val="1F4E79"/>
                              </a:solidFill>
                              <a:latin typeface="Cambria Math" panose="02040503050406030204" pitchFamily="18" charset="0"/>
                            </a:rPr>
                            <m:t xml:space="preserve">f</m:t>
                          </m:r>
                        </m:e>
                        <m:sub>
                          <m:r>
                            <a:rPr lang="es-ES" sz="2500" i="1">
                              <a:solidFill>
                                <a:srgbClr val="1F4E79"/>
                              </a:solidFill>
                              <a:latin typeface="Cambria Math" panose="02040503050406030204" pitchFamily="18" charset="0"/>
                            </a:rPr>
                            <m:t xml:space="preserve">s</m:t>
                          </m:r>
                        </m:sub>
                        <m:sup>
                          <m:r>
                            <a:rPr lang="es-ES" sz="2500" i="1">
                              <a:solidFill>
                                <a:srgbClr val="1F4E79"/>
                              </a:solidFill>
                              <a:latin typeface="Cambria Math" panose="02040503050406030204" pitchFamily="18" charset="0"/>
                            </a:rPr>
                            <m:t xml:space="preserve">′</m:t>
                          </m:r>
                        </m:sup>
                      </m:sSubSup>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2604 </m:t>
                          </m:r>
                          <m:r>
                            <m:rPr>
                              <m:sty m:val="p"/>
                            </m:rPr>
                            <a:rPr lang="es-ES" sz="2500">
                              <a:solidFill>
                                <a:srgbClr val="1F4E79"/>
                              </a:solidFill>
                              <a:latin typeface="Cambria Math" panose="02040503050406030204" pitchFamily="18" charset="0"/>
                            </a:rPr>
                            <m:t xml:space="preserve">Hz</m:t>
                          </m:r>
                        </m:num>
                        <m:den>
                          <m:r>
                            <a:rPr lang="es-ES" sz="2500" i="1">
                              <a:solidFill>
                                <a:srgbClr val="1F4E79"/>
                              </a:solidFill>
                              <a:latin typeface="Cambria Math" panose="02040503050406030204" pitchFamily="18" charset="0"/>
                            </a:rPr>
                            <m:t xml:space="preserve">D</m:t>
                          </m:r>
                        </m:den>
                      </m:f>
                    </m:oMath>
                  </m:oMathPara>
                </a14:m>
                <a:endParaRPr lang="es-ES"/>
              </a:p>
            </p:txBody>
          </p:sp>
        </mc:Choice>
        <mc:Fallback>
          <p:sp>
            <p:nvSpPr>
              <p:cNvPr id="13" name="Obj [o646]"/>
              <p:cNvSpPr txBox="1"/>
              <p:nvPr/>
            </p:nvSpPr>
            <p:spPr>
              <a:xfrm>
                <a:off x="5293173" y="1641589"/>
                <a:ext cx="2884691"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fs′ = 2604 Hz / D</a:t>
                </a:r>
                <a:endParaRPr lang="en-US" sz="2159" dirty="0"/>
              </a:p>
            </p:txBody>
          </p:sp>
        </mc:Fallback>
      </mc:AlternateContent>
      <p:sp>
        <p:nvSpPr>
          <p:cNvPr id="14" name="Obj [o647]"/>
          <p:cNvSpPr txBox="1"/>
          <p:nvPr/>
        </p:nvSpPr>
        <p:spPr>
          <a:xfrm>
            <a:off x="5293173" y="2442892"/>
            <a:ext cx="2884691" cy="1602606"/>
          </a:xfrm>
          <a:prstGeom prst="rect">
            <a:avLst/>
          </a:prstGeom>
          <a:noFill/>
          <a:ln/>
        </p:spPr>
        <p:txBody>
          <a:bodyPr wrap="square" lIns="0" tIns="0" rIns="0" bIns="0" rtlCol="0" anchor="t"/>
          <a:lstStyle/>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170" dirty="0"/>
          </a:p>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 ven mejor las señales de baja frecuencia</a:t>
            </a:r>
            <a:endParaRPr lang="en-US" sz="1170" dirty="0"/>
          </a:p>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170" dirty="0"/>
          </a:p>
        </p:txBody>
      </p:sp>
      <p:sp>
        <p:nvSpPr>
          <p:cNvPr id="15" name="Obj [o648]"/>
          <p:cNvSpPr txBox="1"/>
          <p:nvPr/>
        </p:nvSpPr>
        <p:spPr>
          <a:xfrm>
            <a:off x="966136" y="4125628"/>
            <a:ext cx="7211728" cy="240391"/>
          </a:xfrm>
          <a:prstGeom prst="rect">
            <a:avLst/>
          </a:prstGeom>
          <a:noFill/>
          <a:ln/>
        </p:spPr>
        <p:txBody>
          <a:bodyPr wrap="square" lIns="0" tIns="0" rIns="0" bIns="0" rtlCol="0" anchor="t"/>
          <a:lstStyle/>
          <a:p>
            <a:pPr indent="0" marL="0">
              <a:buNone/>
            </a:pPr>
            <a:r>
              <a:rPr lang="en-US" sz="1170" dirty="0">
                <a:solidFill>
                  <a:srgbClr val="6B6B6B"/>
                </a:solidFill>
                <a:latin typeface="Arial" pitchFamily="34" charset="0"/>
                <a:ea typeface="Arial" pitchFamily="34" charset="-122"/>
                <a:cs typeface="Arial" pitchFamily="34" charset="-120"/>
              </a:rPr>
              <a:t>No reemplaza un antialias: se verifica para cada D elegido.</a:t>
            </a:r>
            <a:endParaRPr lang="en-US" sz="1170" dirty="0"/>
          </a:p>
        </p:txBody>
      </p:sp>
      <p:sp>
        <p:nvSpPr>
          <p:cNvPr id="16" name="Obj [o64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ec. 15; documento de tesis, 04_arquitectura.tex. Curva ilustrativa: cálculo propio de la respuesta de una media móvil.</a:t>
            </a:r>
            <a:endParaRPr lang="en-US" sz="800" dirty="0"/>
          </a:p>
        </p:txBody>
      </p:sp>
      <p:sp>
        <p:nvSpPr>
          <p:cNvPr id="17" name="Obj [o65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máquina de estados en hardware dispara, cuenta y cierra la captura</a:t>
            </a:r>
            <a:endParaRPr lang="en-US" sz="1400" dirty="0"/>
          </a:p>
        </p:txBody>
      </p:sp>
      <p:pic>
        <p:nvPicPr>
          <p:cNvPr id="18" name="Obj [o651]" descr="Máquina de estados superMaquina: IDLE, ARMED, SAMPLING, DONE y ERROR, con las órdenes del firmware, los disparos de DMA y la interrupción única">    </p:cNvPr>
          <p:cNvPicPr>
            <a:picLocks noChangeAspect="1"/>
          </p:cNvPicPr>
          <p:nvPr/>
        </p:nvPicPr>
        <p:blipFill>
          <a:blip r:embed="rId2"/>
          <a:stretch>
            <a:fillRect/>
          </a:stretch>
        </p:blipFill>
        <p:spPr>
          <a:xfrm>
            <a:off x="517829" y="1481328"/>
            <a:ext cx="6691023" cy="2834790"/>
          </a:xfrm>
          <a:prstGeom prst="rect">
            <a:avLst/>
          </a:prstGeom>
        </p:spPr>
      </p:pic>
      <p:sp>
        <p:nvSpPr>
          <p:cNvPr id="19" name="Obj [o65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17); resumen firmado, fig. 10; documento de tesis, 04_arquitectura.tex.</a:t>
            </a:r>
            <a:endParaRPr lang="en-US" sz="800" dirty="0"/>
          </a:p>
        </p:txBody>
      </p:sp>
      <p:sp>
        <p:nvSpPr>
          <p:cNvPr id="20" name="Obj [o65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nodo guarda sus muestras en la RAM del ESP32 o, si hay tarjeta, en la SD del PSoC</a:t>
            </a:r>
            <a:endParaRPr lang="en-US" sz="1400" dirty="0"/>
          </a:p>
        </p:txBody>
      </p:sp>
      <p:pic>
        <p:nvPicPr>
          <p:cNvPr id="21" name="Obj [o654]" descr="Secuencia PRESTART: con microSD activa el PSoC escribe secuencialmente en la tarjeta; sin microSD el ESP32 esclavo reserva páginas en la arena de RAM">    </p:cNvPr>
          <p:cNvPicPr>
            <a:picLocks noChangeAspect="1"/>
          </p:cNvPicPr>
          <p:nvPr/>
        </p:nvPicPr>
        <p:blipFill>
          <a:blip r:embed="rId3"/>
          <a:stretch>
            <a:fillRect/>
          </a:stretch>
        </p:blipFill>
        <p:spPr>
          <a:xfrm>
            <a:off x="593863" y="1557362"/>
            <a:ext cx="6538954" cy="2267540"/>
          </a:xfrm>
          <a:prstGeom prst="rect">
            <a:avLst/>
          </a:prstGeom>
        </p:spPr>
      </p:pic>
      <p:sp>
        <p:nvSpPr>
          <p:cNvPr id="22" name="Obj [o655]"/>
          <p:cNvSpPr txBox="1"/>
          <p:nvPr/>
        </p:nvSpPr>
        <p:spPr>
          <a:xfrm>
            <a:off x="441794" y="3952444"/>
            <a:ext cx="6843091" cy="266120"/>
          </a:xfrm>
          <a:prstGeom prst="rect">
            <a:avLst/>
          </a:prstGeom>
          <a:noFill/>
          <a:ln/>
        </p:spPr>
        <p:txBody>
          <a:bodyPr wrap="square" lIns="0" tIns="0" rIns="0" bIns="0" rtlCol="0" anchor="t"/>
          <a:lstStyle/>
          <a:p>
            <a:pPr indent="0" marL="0">
              <a:buNone/>
            </a:pPr>
            <a:r>
              <a:rPr lang="en-US" sz="1294"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294" dirty="0"/>
          </a:p>
        </p:txBody>
      </p:sp>
      <p:sp>
        <p:nvSpPr>
          <p:cNvPr id="23" name="Obj [o65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11); documento de tesis, 04_arquitectura.tex (jerarquía de memoria).</a:t>
            </a:r>
            <a:endParaRPr lang="en-US" sz="800" dirty="0"/>
          </a:p>
        </p:txBody>
      </p:sp>
      <p:sp>
        <p:nvSpPr>
          <p:cNvPr id="24" name="Obj [o65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Sin SD, el diezmado define cuánto dura el registro, a costa de ancho de banda</a:t>
            </a:r>
            <a:endParaRPr lang="en-US" sz="1400" dirty="0"/>
          </a:p>
        </p:txBody>
      </p:sp>
      <p:graphicFrame>
        <p:nvGraphicFramePr>
          <p:cNvPr id="25" name="Obj [o658]" descr=""/>
          <p:cNvGraphicFramePr/>
          <p:nvPr/>
        </p:nvGraphicFramePr>
        <p:xfrm>
          <a:off x="365760" y="1595380"/>
          <a:ext cx="4257923" cy="2357065"/>
        </p:xfrm>
        <a:graphic xmlns:a="http://schemas.openxmlformats.org/drawingml/2006/main">
          <a:graphicData uri="http://schemas.openxmlformats.org/drawingml/2006/chart">
            <c:chart xmlns:c="http://schemas.openxmlformats.org/drawingml/2006/chart" r:id="rId4"/>
          </a:graphicData>
        </a:graphic>
      </p:graphicFrame>
      <p:sp>
        <p:nvSpPr>
          <p:cNvPr id="26" name="Obj [o659]"/>
          <p:cNvSpPr/>
          <p:nvPr/>
        </p:nvSpPr>
        <p:spPr>
          <a:xfrm>
            <a:off x="4775752" y="1595380"/>
            <a:ext cx="2509133" cy="68430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7" name="Obj [o660]"/>
              <p:cNvSpPr txBox="1"/>
              <p:nvPr/>
            </p:nvSpPr>
            <p:spPr>
              <a:xfrm>
                <a:off x="4775752" y="1595380"/>
                <a:ext cx="2509133" cy="68430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t</m:t>
                          </m:r>
                        </m:e>
                        <m:sub>
                          <m:r>
                            <m:rPr>
                              <m:sty m:val="p"/>
                            </m:rPr>
                            <a:rPr lang="es-ES" sz="2100">
                              <a:solidFill>
                                <a:srgbClr val="1F4E79"/>
                              </a:solidFill>
                              <a:latin typeface="Cambria Math" panose="02040503050406030204" pitchFamily="18" charset="0"/>
                            </a:rPr>
                            <m:t xml:space="preserve">max</m:t>
                          </m:r>
                        </m:sub>
                      </m:sSub>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512·30·D</m:t>
                          </m:r>
                        </m:num>
                        <m:den>
                          <m:r>
                            <a:rPr lang="es-ES" sz="2100" i="1">
                              <a:solidFill>
                                <a:srgbClr val="1F4E79"/>
                              </a:solidFill>
                              <a:latin typeface="Cambria Math" panose="02040503050406030204" pitchFamily="18" charset="0"/>
                            </a:rPr>
                            <m:t xml:space="preserve">2604 </m:t>
                          </m:r>
                          <m:r>
                            <m:rPr>
                              <m:sty m:val="p"/>
                            </m:rPr>
                            <a:rPr lang="es-ES" sz="2100">
                              <a:solidFill>
                                <a:srgbClr val="1F4E79"/>
                              </a:solidFill>
                              <a:latin typeface="Cambria Math" panose="02040503050406030204" pitchFamily="18" charset="0"/>
                            </a:rPr>
                            <m:t xml:space="preserve">Hz</m:t>
                          </m:r>
                        </m:den>
                      </m:f>
                      <m:r>
                        <a:rPr lang="es-ES" sz="2100" i="1">
                          <a:solidFill>
                            <a:srgbClr val="1F4E79"/>
                          </a:solidFill>
                          <a:latin typeface="Cambria Math" panose="02040503050406030204" pitchFamily="18" charset="0"/>
                        </a:rPr>
                        <m:t xml:space="preserve">≈5,9 </m:t>
                      </m:r>
                      <m:r>
                        <m:rPr>
                          <m:sty m:val="p"/>
                        </m:rPr>
                        <a:rPr lang="es-ES" sz="2100">
                          <a:solidFill>
                            <a:srgbClr val="1F4E79"/>
                          </a:solidFill>
                          <a:latin typeface="Cambria Math" panose="02040503050406030204" pitchFamily="18" charset="0"/>
                        </a:rPr>
                        <m:t xml:space="preserve">s</m:t>
                      </m:r>
                      <m:r>
                        <a:rPr lang="es-ES" sz="2100" i="1">
                          <a:solidFill>
                            <a:srgbClr val="1F4E79"/>
                          </a:solidFill>
                          <a:latin typeface="Cambria Math" panose="02040503050406030204" pitchFamily="18" charset="0"/>
                        </a:rPr>
                        <m:t xml:space="preserve">·D</m:t>
                      </m:r>
                    </m:oMath>
                  </m:oMathPara>
                </a14:m>
                <a:endParaRPr lang="es-ES"/>
              </a:p>
            </p:txBody>
          </p:sp>
        </mc:Choice>
        <mc:Fallback>
          <p:sp>
            <p:nvSpPr>
              <p:cNvPr id="27" name="Obj [o660]"/>
              <p:cNvSpPr txBox="1"/>
              <p:nvPr/>
            </p:nvSpPr>
            <p:spPr>
              <a:xfrm>
                <a:off x="4775752" y="1595380"/>
                <a:ext cx="2509133" cy="68430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t_max = 512·30·D / 2604 Hz ≈ 5,9 s · D</a:t>
                </a:r>
                <a:endParaRPr lang="en-US" sz="2071" dirty="0"/>
              </a:p>
            </p:txBody>
          </p:sp>
        </mc:Fallback>
      </mc:AlternateContent>
      <p:sp>
        <p:nvSpPr>
          <p:cNvPr id="28" name="Obj [o661]"/>
          <p:cNvSpPr txBox="1"/>
          <p:nvPr/>
        </p:nvSpPr>
        <p:spPr>
          <a:xfrm>
            <a:off x="4775752" y="2393740"/>
            <a:ext cx="2509133" cy="1292584"/>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Las mismas 15 360 muestras cubren D veces más tiempo</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Pero el Nyquist baja a 1302/D Hz: duración y banda compiten</a:t>
            </a:r>
            <a:endParaRPr lang="en-US" sz="1122" dirty="0"/>
          </a:p>
        </p:txBody>
      </p:sp>
      <p:sp>
        <p:nvSpPr>
          <p:cNvPr id="29" name="Obj [o662]"/>
          <p:cNvSpPr txBox="1"/>
          <p:nvPr/>
        </p:nvSpPr>
        <p:spPr>
          <a:xfrm>
            <a:off x="441794" y="4028479"/>
            <a:ext cx="6843091" cy="228103"/>
          </a:xfrm>
          <a:prstGeom prst="rect">
            <a:avLst/>
          </a:prstGeom>
          <a:noFill/>
          <a:ln/>
        </p:spPr>
        <p:txBody>
          <a:bodyPr wrap="square" lIns="0" tIns="0" rIns="0" bIns="0" rtlCol="0" anchor="t"/>
          <a:lstStyle/>
          <a:p>
            <a:pPr indent="0" marL="0">
              <a:buNone/>
            </a:pPr>
            <a:r>
              <a:rPr lang="en-US" sz="949"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949" dirty="0"/>
          </a:p>
        </p:txBody>
      </p:sp>
      <p:sp>
        <p:nvSpPr>
          <p:cNvPr id="30" name="Obj [o66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512 lotes de 30 muestras y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f</m:t>
                        </m:r>
                      </m:e>
                      <m:sub>
                        <m:r>
                          <a:rPr lang="es-ES" sz="800" i="1">
                            <a:solidFill>
                              <a:srgbClr val="6B6B6B"/>
                            </a:solidFill>
                            <a:latin typeface="Cambria Math" panose="02040503050406030204" pitchFamily="18" charset="0"/>
                          </a:rPr>
                          <m:t xml:space="preserve">s</m:t>
                        </m:r>
                      </m:sub>
                    </m:sSub>
                    <m:r>
                      <m:rPr>
                        <m:sty m:val="p"/>
                      </m:rPr>
                      <a:rPr lang="es-ES" sz="800">
                        <a:solidFill>
                          <a:srgbClr val="6B6B6B"/>
                        </a:solidFill>
                        <a:latin typeface="Cambria Math" panose="02040503050406030204" pitchFamily="18" charset="0"/>
                      </a:rPr>
                      <m:t xml:space="preserve">=</m:t>
                    </m:r>
                    <m:r>
                      <m:rPr>
                        <m:sty m:val="p"/>
                      </m:rPr>
                      <a:rPr lang="es-ES" sz="800">
                        <a:solidFill>
                          <a:srgbClr val="6B6B6B"/>
                        </a:solidFill>
                        <a:latin typeface="Cambria Math" panose="02040503050406030204" pitchFamily="18" charset="0"/>
                      </a:rPr>
                      <m:t xml:space="preserve">2604</m:t>
                    </m:r>
                  </m:oMath>
                </a14:m>
              </mc:Choice>
              <mc:Fallback>
                <a:r>
                  <a:rPr lang="en-US" sz="800" dirty="0">
                    <a:solidFill>
                      <a:srgbClr val="6B6B6B"/>
                    </a:solidFill>
                    <a:latin typeface="Arial" pitchFamily="34" charset="0"/>
                    <a:ea typeface="Arial" pitchFamily="34" charset="-122"/>
                    <a:cs typeface="Arial" pitchFamily="34" charset="-120"/>
                  </a:rPr>
                  <a:t>fs = 2604</a:t>
                </a:r>
              </mc:Fallback>
            </mc:AlternateContent>
            <a:r>
              <a:rPr lang="en-US" sz="800" dirty="0">
                <a:solidFill>
                  <a:srgbClr val="6B6B6B"/>
                </a:solidFill>
                <a:latin typeface="Arial" pitchFamily="34" charset="0"/>
                <a:ea typeface="Arial" pitchFamily="34" charset="-122"/>
                <a:cs typeface="Arial" pitchFamily="34" charset="-120"/>
              </a:rPr>
              <a:t> Hz; documento de tesis, 04_arquitectura.tex.</a:t>
            </a:r>
            <a:endParaRPr lang="en-US" sz="800" dirty="0"/>
          </a:p>
        </p:txBody>
      </p:sp>
      <p:sp>
        <p:nvSpPr>
          <p:cNvPr id="31" name="Obj [o66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registro guarda sus metadatos y su integridad, y el original permanece en el nodo</a:t>
            </a:r>
            <a:endParaRPr lang="en-US" sz="1400" dirty="0"/>
          </a:p>
        </p:txBody>
      </p:sp>
      <p:sp>
        <p:nvSpPr>
          <p:cNvPr id="32" name="Obj [o665]"/>
          <p:cNvSpPr/>
          <p:nvPr/>
        </p:nvSpPr>
        <p:spPr>
          <a:xfrm>
            <a:off x="441794" y="1557362"/>
            <a:ext cx="3345511" cy="342155"/>
          </a:xfrm>
          <a:prstGeom prst="rect">
            <a:avLst/>
          </a:prstGeom>
          <a:solidFill>
            <a:srgbClr val="1F4E79"/>
          </a:solidFill>
          <a:ln w="6350">
            <a:solidFill>
              <a:srgbClr val="1F4E79"/>
            </a:solidFill>
            <a:prstDash val="solid"/>
          </a:ln>
        </p:spPr>
      </p:sp>
      <p:sp>
        <p:nvSpPr>
          <p:cNvPr id="33" name="Obj [o666]"/>
          <p:cNvSpPr txBox="1"/>
          <p:nvPr/>
        </p:nvSpPr>
        <p:spPr>
          <a:xfrm>
            <a:off x="479812" y="1557362"/>
            <a:ext cx="326947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Metadatos del registro</a:t>
            </a:r>
            <a:endParaRPr lang="en-US" sz="1208" dirty="0"/>
          </a:p>
        </p:txBody>
      </p:sp>
      <p:sp>
        <p:nvSpPr>
          <p:cNvPr id="34" name="Obj [o667]"/>
          <p:cNvSpPr/>
          <p:nvPr/>
        </p:nvSpPr>
        <p:spPr>
          <a:xfrm>
            <a:off x="441794" y="1899517"/>
            <a:ext cx="3345511" cy="1748790"/>
          </a:xfrm>
          <a:prstGeom prst="rect">
            <a:avLst/>
          </a:prstGeom>
          <a:solidFill>
            <a:srgbClr val="FFFFFF"/>
          </a:solidFill>
          <a:ln w="15840">
            <a:solidFill>
              <a:srgbClr val="1F4E79"/>
            </a:solidFill>
            <a:prstDash val="solid"/>
          </a:ln>
        </p:spPr>
      </p:sp>
      <p:sp>
        <p:nvSpPr>
          <p:cNvPr id="35" name="Obj [o668]"/>
          <p:cNvSpPr txBox="1"/>
          <p:nvPr/>
        </p:nvSpPr>
        <p:spPr>
          <a:xfrm>
            <a:off x="533036" y="1960344"/>
            <a:ext cx="3163029" cy="1627135"/>
          </a:xfrm>
          <a:prstGeom prst="rect">
            <a:avLst/>
          </a:prstGeom>
          <a:noFill/>
          <a:ln/>
        </p:spPr>
        <p:txBody>
          <a:bodyPr wrap="square" lIns="0" tIns="0" rIns="0" bIns="0" rtlCol="0" anchor="t"/>
          <a:lstStyle/>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Identificador y posición del nodo</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Frecuencia de muestreo y factor D</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Rango del ADC, ganancia y ruta de señal</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Número de muestras</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Estado del ajuste de offset</a:t>
            </a:r>
            <a:endParaRPr lang="en-US" sz="1294" dirty="0"/>
          </a:p>
        </p:txBody>
      </p:sp>
      <p:sp>
        <p:nvSpPr>
          <p:cNvPr id="36" name="Obj [o669]"/>
          <p:cNvSpPr/>
          <p:nvPr/>
        </p:nvSpPr>
        <p:spPr>
          <a:xfrm>
            <a:off x="3939374" y="1557362"/>
            <a:ext cx="3345511" cy="342155"/>
          </a:xfrm>
          <a:prstGeom prst="rect">
            <a:avLst/>
          </a:prstGeom>
          <a:solidFill>
            <a:srgbClr val="2E75B6"/>
          </a:solidFill>
          <a:ln w="6350">
            <a:solidFill>
              <a:srgbClr val="2E75B6"/>
            </a:solidFill>
            <a:prstDash val="solid"/>
          </a:ln>
        </p:spPr>
      </p:sp>
      <p:sp>
        <p:nvSpPr>
          <p:cNvPr id="37" name="Obj [o670]"/>
          <p:cNvSpPr txBox="1"/>
          <p:nvPr/>
        </p:nvSpPr>
        <p:spPr>
          <a:xfrm>
            <a:off x="3977392" y="1557362"/>
            <a:ext cx="326947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Integridad</a:t>
            </a:r>
            <a:endParaRPr lang="en-US" sz="1208" dirty="0"/>
          </a:p>
        </p:txBody>
      </p:sp>
      <p:sp>
        <p:nvSpPr>
          <p:cNvPr id="38" name="Obj [o671]"/>
          <p:cNvSpPr/>
          <p:nvPr/>
        </p:nvSpPr>
        <p:spPr>
          <a:xfrm>
            <a:off x="3939374" y="1899517"/>
            <a:ext cx="3345511" cy="1748790"/>
          </a:xfrm>
          <a:prstGeom prst="rect">
            <a:avLst/>
          </a:prstGeom>
          <a:solidFill>
            <a:srgbClr val="FFFFFF"/>
          </a:solidFill>
          <a:ln w="15840">
            <a:solidFill>
              <a:srgbClr val="2E75B6"/>
            </a:solidFill>
            <a:prstDash val="solid"/>
          </a:ln>
        </p:spPr>
      </p:sp>
      <p:sp>
        <p:nvSpPr>
          <p:cNvPr id="39" name="Obj [o672]"/>
          <p:cNvSpPr txBox="1"/>
          <p:nvPr/>
        </p:nvSpPr>
        <p:spPr>
          <a:xfrm>
            <a:off x="4030616" y="1960344"/>
            <a:ext cx="3163029" cy="1627135"/>
          </a:xfrm>
          <a:prstGeom prst="rect">
            <a:avLst/>
          </a:prstGeom>
          <a:noFill/>
          <a:ln/>
        </p:spPr>
        <p:txBody>
          <a:bodyPr wrap="square" lIns="0" tIns="0" rIns="0" bIns="0" rtlCol="0" anchor="t"/>
          <a:lstStyle/>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Versión y CRC</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Número de muestras</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Indicadores de desbordamiento o de cierre incompleto</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Verificación en el servidor sin modificar el original</a:t>
            </a:r>
            <a:endParaRPr lang="en-US" sz="1294" dirty="0"/>
          </a:p>
        </p:txBody>
      </p:sp>
      <p:sp>
        <p:nvSpPr>
          <p:cNvPr id="40" name="Obj [o673]"/>
          <p:cNvSpPr/>
          <p:nvPr/>
        </p:nvSpPr>
        <p:spPr>
          <a:xfrm>
            <a:off x="441794" y="3838393"/>
            <a:ext cx="1976893" cy="418189"/>
          </a:xfrm>
          <a:prstGeom prst="roundRect">
            <a:avLst>
              <a:gd name="adj" fmla="val 17493"/>
            </a:avLst>
          </a:prstGeom>
          <a:solidFill>
            <a:srgbClr val="1F4E79"/>
          </a:solidFill>
          <a:ln w="6350">
            <a:solidFill>
              <a:srgbClr val="1F4E79"/>
            </a:solidFill>
            <a:prstDash val="solid"/>
          </a:ln>
        </p:spPr>
      </p:sp>
      <p:sp>
        <p:nvSpPr>
          <p:cNvPr id="41" name="Obj [o674]"/>
          <p:cNvSpPr txBox="1"/>
          <p:nvPr/>
        </p:nvSpPr>
        <p:spPr>
          <a:xfrm>
            <a:off x="441794" y="3838393"/>
            <a:ext cx="1976893" cy="418189"/>
          </a:xfrm>
          <a:prstGeom prst="rect">
            <a:avLst/>
          </a:prstGeom>
          <a:noFill/>
          <a:ln/>
        </p:spPr>
        <p:txBody>
          <a:bodyPr wrap="square" lIns="50800" tIns="50800" rIns="50800" bIns="50800" rtlCol="0" anchor="ctr"/>
          <a:lstStyle/>
          <a:p>
            <a:pPr algn="ctr" indent="0" marL="0">
              <a:buNone/>
            </a:pPr>
            <a:r>
              <a:rPr lang="en-US" sz="1122" b="1" dirty="0">
                <a:solidFill>
                  <a:srgbClr val="FFFFFF"/>
                </a:solidFill>
                <a:latin typeface="Arial" pitchFamily="34" charset="0"/>
                <a:ea typeface="Arial" pitchFamily="34" charset="-122"/>
                <a:cs typeface="Arial" pitchFamily="34" charset="-120"/>
              </a:rPr>
              <a:t>Se guarda en el nodo</a:t>
            </a:r>
            <a:endParaRPr lang="en-US" sz="1122" dirty="0"/>
          </a:p>
        </p:txBody>
      </p:sp>
      <p:sp>
        <p:nvSpPr>
          <p:cNvPr id="42" name="Obj [o675]"/>
          <p:cNvSpPr/>
          <p:nvPr/>
        </p:nvSpPr>
        <p:spPr>
          <a:xfrm>
            <a:off x="2874893" y="3838393"/>
            <a:ext cx="1976893" cy="418189"/>
          </a:xfrm>
          <a:prstGeom prst="roundRect">
            <a:avLst>
              <a:gd name="adj" fmla="val 17493"/>
            </a:avLst>
          </a:prstGeom>
          <a:solidFill>
            <a:srgbClr val="2E75B6"/>
          </a:solidFill>
          <a:ln w="6350">
            <a:solidFill>
              <a:srgbClr val="2E75B6"/>
            </a:solidFill>
            <a:prstDash val="solid"/>
          </a:ln>
        </p:spPr>
      </p:sp>
      <p:sp>
        <p:nvSpPr>
          <p:cNvPr id="43" name="Obj [o676]"/>
          <p:cNvSpPr txBox="1"/>
          <p:nvPr/>
        </p:nvSpPr>
        <p:spPr>
          <a:xfrm>
            <a:off x="2874893" y="3838393"/>
            <a:ext cx="1976893" cy="418189"/>
          </a:xfrm>
          <a:prstGeom prst="rect">
            <a:avLst/>
          </a:prstGeom>
          <a:noFill/>
          <a:ln/>
        </p:spPr>
        <p:txBody>
          <a:bodyPr wrap="square" lIns="50800" tIns="50800" rIns="50800" bIns="50800" rtlCol="0" anchor="ctr"/>
          <a:lstStyle/>
          <a:p>
            <a:pPr algn="ctr" indent="0" marL="0">
              <a:buNone/>
            </a:pPr>
            <a:r>
              <a:rPr lang="en-US" sz="1122" b="1" dirty="0">
                <a:solidFill>
                  <a:srgbClr val="FFFFFF"/>
                </a:solidFill>
                <a:latin typeface="Arial" pitchFamily="34" charset="0"/>
                <a:ea typeface="Arial" pitchFamily="34" charset="-122"/>
                <a:cs typeface="Arial" pitchFamily="34" charset="-120"/>
              </a:rPr>
              <a:t>Lotes numerados</a:t>
            </a:r>
            <a:endParaRPr lang="en-US" sz="1122" dirty="0"/>
          </a:p>
        </p:txBody>
      </p:sp>
      <p:sp>
        <p:nvSpPr>
          <p:cNvPr id="44" name="Obj [o677]"/>
          <p:cNvSpPr/>
          <p:nvPr/>
        </p:nvSpPr>
        <p:spPr>
          <a:xfrm>
            <a:off x="5307993" y="3838393"/>
            <a:ext cx="1976893" cy="418189"/>
          </a:xfrm>
          <a:prstGeom prst="roundRect">
            <a:avLst>
              <a:gd name="adj" fmla="val 17493"/>
            </a:avLst>
          </a:prstGeom>
          <a:solidFill>
            <a:srgbClr val="C55A11"/>
          </a:solidFill>
          <a:ln w="6350">
            <a:solidFill>
              <a:srgbClr val="C55A11"/>
            </a:solidFill>
            <a:prstDash val="solid"/>
          </a:ln>
        </p:spPr>
      </p:sp>
      <p:sp>
        <p:nvSpPr>
          <p:cNvPr id="45" name="Obj [o678]"/>
          <p:cNvSpPr txBox="1"/>
          <p:nvPr/>
        </p:nvSpPr>
        <p:spPr>
          <a:xfrm>
            <a:off x="5307993" y="3838393"/>
            <a:ext cx="1976893" cy="418189"/>
          </a:xfrm>
          <a:prstGeom prst="rect">
            <a:avLst/>
          </a:prstGeom>
          <a:noFill/>
          <a:ln/>
        </p:spPr>
        <p:txBody>
          <a:bodyPr wrap="square" lIns="50800" tIns="50800" rIns="50800" bIns="50800" rtlCol="0" anchor="ctr"/>
          <a:lstStyle/>
          <a:p>
            <a:pPr algn="ctr" indent="0" marL="0">
              <a:buNone/>
            </a:pPr>
            <a:r>
              <a:rPr lang="en-US" sz="1122" b="1" dirty="0">
                <a:solidFill>
                  <a:srgbClr val="FFFFFF"/>
                </a:solidFill>
                <a:latin typeface="Arial" pitchFamily="34" charset="0"/>
                <a:ea typeface="Arial" pitchFamily="34" charset="-122"/>
                <a:cs typeface="Arial" pitchFamily="34" charset="-120"/>
              </a:rPr>
              <a:t>Reintento si hay pérdida</a:t>
            </a:r>
            <a:endParaRPr lang="en-US" sz="1122" dirty="0"/>
          </a:p>
        </p:txBody>
      </p:sp>
      <p:sp>
        <p:nvSpPr>
          <p:cNvPr id="46" name="Obj [o679]"/>
          <p:cNvSpPr/>
          <p:nvPr/>
        </p:nvSpPr>
        <p:spPr>
          <a:xfrm>
            <a:off x="2433894" y="4051289"/>
            <a:ext cx="425792" cy="0"/>
          </a:xfrm>
          <a:prstGeom prst="line">
            <a:avLst/>
          </a:prstGeom>
          <a:noFill/>
          <a:ln w="26401">
            <a:solidFill>
              <a:srgbClr val="1F4E79"/>
            </a:solidFill>
            <a:prstDash val="solid"/>
            <a:tailEnd type="triangle"/>
          </a:ln>
        </p:spPr>
      </p:sp>
      <p:sp>
        <p:nvSpPr>
          <p:cNvPr id="47" name="Obj [o680]"/>
          <p:cNvSpPr/>
          <p:nvPr/>
        </p:nvSpPr>
        <p:spPr>
          <a:xfrm>
            <a:off x="4866993" y="4051289"/>
            <a:ext cx="425792" cy="0"/>
          </a:xfrm>
          <a:prstGeom prst="line">
            <a:avLst/>
          </a:prstGeom>
          <a:noFill/>
          <a:ln w="26401">
            <a:solidFill>
              <a:srgbClr val="1F4E79"/>
            </a:solidFill>
            <a:prstDash val="solid"/>
            <a:tailEnd type="triangle"/>
          </a:ln>
        </p:spPr>
      </p:sp>
      <p:sp>
        <p:nvSpPr>
          <p:cNvPr id="48" name="Obj [o68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a 4.8 (metadatos, lotes, integridad); documento de tesis, 04_arquitectura.tex.</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3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41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10" presetClass="entr" presetSubtype="0" grpId="0" fill="hold" nodeType="withEffect">
                                  <p:stCondLst>
                                    <p:cond delay="48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fade">
                                      <p:cBhvr>
                                        <p:cTn id="19" dur="450"/>
                                        <p:tgtEl>
                                          <p:spTgt spid="8">
                                            <p:txEl>
                                              <p:pRg st="0" end="0"/>
                                            </p:txEl>
                                          </p:spTgt>
                                        </p:tgtEl>
                                      </p:cBhvr>
                                    </p:animEffect>
                                  </p:childTnLst>
                                </p:cTn>
                              </p:par>
                              <p:par>
                                <p:cTn id="20" presetID="10" presetClass="entr" presetSubtype="0" grpId="0" fill="hold" nodeType="withEffect">
                                  <p:stCondLst>
                                    <p:cond delay="860"/>
                                  </p:stCondLst>
                                  <p:childTnLst>
                                    <p:set>
                                      <p:cBhvr>
                                        <p:cTn id="21" dur="1" fill="hold">
                                          <p:stCondLst>
                                            <p:cond delay="0"/>
                                          </p:stCondLst>
                                        </p:cTn>
                                        <p:tgtEl>
                                          <p:spTgt spid="8">
                                            <p:txEl>
                                              <p:pRg st="1" end="1"/>
                                            </p:txEl>
                                          </p:spTgt>
                                        </p:tgtEl>
                                        <p:attrNameLst>
                                          <p:attrName>style.visibility</p:attrName>
                                        </p:attrNameLst>
                                      </p:cBhvr>
                                      <p:to>
                                        <p:strVal val="visible"/>
                                      </p:to>
                                    </p:set>
                                    <p:animEffect transition="in" filter="fade">
                                      <p:cBhvr>
                                        <p:cTn id="22" dur="450"/>
                                        <p:tgtEl>
                                          <p:spTgt spid="8">
                                            <p:txEl>
                                              <p:pRg st="1" end="1"/>
                                            </p:txEl>
                                          </p:spTgt>
                                        </p:tgtEl>
                                      </p:cBhvr>
                                    </p:animEffect>
                                  </p:childTnLst>
                                </p:cTn>
                              </p:par>
                              <p:par>
                                <p:cTn id="23" presetID="10" presetClass="entr" presetSubtype="0" grpId="0" fill="hold" nodeType="withEffect">
                                  <p:stCondLst>
                                    <p:cond delay="1240"/>
                                  </p:stCondLst>
                                  <p:childTnLst>
                                    <p:set>
                                      <p:cBhvr>
                                        <p:cTn id="24" dur="1" fill="hold">
                                          <p:stCondLst>
                                            <p:cond delay="0"/>
                                          </p:stCondLst>
                                        </p:cTn>
                                        <p:tgtEl>
                                          <p:spTgt spid="8">
                                            <p:txEl>
                                              <p:pRg st="2" end="2"/>
                                            </p:txEl>
                                          </p:spTgt>
                                        </p:tgtEl>
                                        <p:attrNameLst>
                                          <p:attrName>style.visibility</p:attrName>
                                        </p:attrNameLst>
                                      </p:cBhvr>
                                      <p:to>
                                        <p:strVal val="visible"/>
                                      </p:to>
                                    </p:set>
                                    <p:animEffect transition="in" filter="fade">
                                      <p:cBhvr>
                                        <p:cTn id="25" dur="450"/>
                                        <p:tgtEl>
                                          <p:spTgt spid="8">
                                            <p:txEl>
                                              <p:pRg st="2" end="2"/>
                                            </p:txEl>
                                          </p:spTgt>
                                        </p:tgtEl>
                                      </p:cBhvr>
                                    </p:animEffect>
                                  </p:childTnLst>
                                </p:cTn>
                              </p:par>
                              <p:par>
                                <p:cTn id="26" presetID="22" presetClass="entr" presetSubtype="8" fill="hold" nodeType="withEffect">
                                  <p:stCondLst>
                                    <p:cond delay="55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par>
                                <p:cTn id="29" presetID="10" presetClass="entr" presetSubtype="0" fill="hold" nodeType="withEffect">
                                  <p:stCondLst>
                                    <p:cond delay="4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5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350"/>
                                        <p:tgtEl>
                                          <p:spTgt spid="3"/>
                                        </p:tgtEl>
                                      </p:cBhvr>
                                    </p:animEffect>
                                    <p:set>
                                      <p:cBhvr>
                                        <p:cTn id="36" dur="1" fill="hold">
                                          <p:stCondLst>
                                            <p:cond delay="349"/>
                                          </p:stCondLst>
                                        </p:cTn>
                                        <p:tgtEl>
                                          <p:spTgt spid="3"/>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350"/>
                                        <p:tgtEl>
                                          <p:spTgt spid="4"/>
                                        </p:tgtEl>
                                      </p:cBhvr>
                                    </p:animEffect>
                                    <p:set>
                                      <p:cBhvr>
                                        <p:cTn id="39" dur="1" fill="hold">
                                          <p:stCondLst>
                                            <p:cond delay="349"/>
                                          </p:stCondLst>
                                        </p:cTn>
                                        <p:tgtEl>
                                          <p:spTgt spid="4"/>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350"/>
                                        <p:tgtEl>
                                          <p:spTgt spid="5"/>
                                        </p:tgtEl>
                                      </p:cBhvr>
                                    </p:animEffect>
                                    <p:set>
                                      <p:cBhvr>
                                        <p:cTn id="42" dur="1" fill="hold">
                                          <p:stCondLst>
                                            <p:cond delay="349"/>
                                          </p:stCondLst>
                                        </p:cTn>
                                        <p:tgtEl>
                                          <p:spTgt spid="5"/>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350"/>
                                        <p:tgtEl>
                                          <p:spTgt spid="19"/>
                                        </p:tgtEl>
                                      </p:cBhvr>
                                    </p:animEffect>
                                    <p:set>
                                      <p:cBhvr>
                                        <p:cTn id="45" dur="1" fill="hold">
                                          <p:stCondLst>
                                            <p:cond delay="349"/>
                                          </p:stCondLst>
                                        </p:cTn>
                                        <p:tgtEl>
                                          <p:spTgt spid="19"/>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350"/>
                                        <p:tgtEl>
                                          <p:spTgt spid="7"/>
                                        </p:tgtEl>
                                      </p:cBhvr>
                                    </p:animEffect>
                                    <p:set>
                                      <p:cBhvr>
                                        <p:cTn id="48" dur="1" fill="hold">
                                          <p:stCondLst>
                                            <p:cond delay="349"/>
                                          </p:stCondLst>
                                        </p:cTn>
                                        <p:tgtEl>
                                          <p:spTgt spid="7"/>
                                        </p:tgtEl>
                                        <p:attrNameLst>
                                          <p:attrName>style.visibility</p:attrName>
                                        </p:attrNameLst>
                                      </p:cBhvr>
                                      <p:to>
                                        <p:strVal val="hidden"/>
                                      </p:to>
                                    </p:set>
                                  </p:childTnLst>
                                </p:cTn>
                              </p:par>
                              <p:par>
                                <p:cTn id="49" presetID="10" presetClass="exit" presetSubtype="0" grpId="0" fill="hold" nodeType="withEffect">
                                  <p:stCondLst>
                                    <p:cond delay="0"/>
                                  </p:stCondLst>
                                  <p:childTnLst>
                                    <p:animEffect transition="out" filter="fade">
                                      <p:cBhvr>
                                        <p:cTn id="50" dur="350"/>
                                        <p:tgtEl>
                                          <p:spTgt spid="8">
                                            <p:txEl>
                                              <p:pRg st="0" end="0"/>
                                            </p:txEl>
                                          </p:spTgt>
                                        </p:tgtEl>
                                      </p:cBhvr>
                                    </p:animEffect>
                                    <p:set>
                                      <p:cBhvr>
                                        <p:cTn id="51" dur="1" fill="hold">
                                          <p:stCondLst>
                                            <p:cond delay="349"/>
                                          </p:stCondLst>
                                        </p:cTn>
                                        <p:tgtEl>
                                          <p:spTgt spid="8">
                                            <p:txEl>
                                              <p:pRg st="0" end="0"/>
                                            </p:txEl>
                                          </p:spTgt>
                                        </p:tgtEl>
                                        <p:attrNameLst>
                                          <p:attrName>style.visibility</p:attrName>
                                        </p:attrNameLst>
                                      </p:cBhvr>
                                      <p:to>
                                        <p:strVal val="hidden"/>
                                      </p:to>
                                    </p:set>
                                  </p:childTnLst>
                                </p:cTn>
                              </p:par>
                              <p:par>
                                <p:cTn id="52" presetID="10" presetClass="exit" presetSubtype="0" grpId="0" fill="hold" nodeType="withEffect">
                                  <p:stCondLst>
                                    <p:cond delay="0"/>
                                  </p:stCondLst>
                                  <p:childTnLst>
                                    <p:animEffect transition="out" filter="fade">
                                      <p:cBhvr>
                                        <p:cTn id="53" dur="350"/>
                                        <p:tgtEl>
                                          <p:spTgt spid="8">
                                            <p:txEl>
                                              <p:pRg st="1" end="1"/>
                                            </p:txEl>
                                          </p:spTgt>
                                        </p:tgtEl>
                                      </p:cBhvr>
                                    </p:animEffect>
                                    <p:set>
                                      <p:cBhvr>
                                        <p:cTn id="54" dur="1" fill="hold">
                                          <p:stCondLst>
                                            <p:cond delay="349"/>
                                          </p:stCondLst>
                                        </p:cTn>
                                        <p:tgtEl>
                                          <p:spTgt spid="8">
                                            <p:txEl>
                                              <p:pRg st="1" end="1"/>
                                            </p:txEl>
                                          </p:spTgt>
                                        </p:tgtEl>
                                        <p:attrNameLst>
                                          <p:attrName>style.visibility</p:attrName>
                                        </p:attrNameLst>
                                      </p:cBhvr>
                                      <p:to>
                                        <p:strVal val="hidden"/>
                                      </p:to>
                                    </p:set>
                                  </p:childTnLst>
                                </p:cTn>
                              </p:par>
                              <p:par>
                                <p:cTn id="55" presetID="10" presetClass="exit" presetSubtype="0" grpId="0" fill="hold" nodeType="withEffect">
                                  <p:stCondLst>
                                    <p:cond delay="0"/>
                                  </p:stCondLst>
                                  <p:childTnLst>
                                    <p:animEffect transition="out" filter="fade">
                                      <p:cBhvr>
                                        <p:cTn id="56" dur="350"/>
                                        <p:tgtEl>
                                          <p:spTgt spid="8">
                                            <p:txEl>
                                              <p:pRg st="2" end="2"/>
                                            </p:txEl>
                                          </p:spTgt>
                                        </p:tgtEl>
                                      </p:cBhvr>
                                    </p:animEffect>
                                    <p:set>
                                      <p:cBhvr>
                                        <p:cTn id="57" dur="1" fill="hold">
                                          <p:stCondLst>
                                            <p:cond delay="349"/>
                                          </p:stCondLst>
                                        </p:cTn>
                                        <p:tgtEl>
                                          <p:spTgt spid="8">
                                            <p:txEl>
                                              <p:pRg st="2" end="2"/>
                                            </p:txEl>
                                          </p:spTgt>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350"/>
                                        <p:tgtEl>
                                          <p:spTgt spid="9"/>
                                        </p:tgtEl>
                                      </p:cBhvr>
                                    </p:animEffect>
                                    <p:set>
                                      <p:cBhvr>
                                        <p:cTn id="60" dur="1" fill="hold">
                                          <p:stCondLst>
                                            <p:cond delay="349"/>
                                          </p:stCondLst>
                                        </p:cTn>
                                        <p:tgtEl>
                                          <p:spTgt spid="9"/>
                                        </p:tgtEl>
                                        <p:attrNameLst>
                                          <p:attrName>style.visibility</p:attrName>
                                        </p:attrNameLst>
                                      </p:cBhvr>
                                      <p:to>
                                        <p:strVal val="hidden"/>
                                      </p:to>
                                    </p:set>
                                  </p:childTnLst>
                                </p:cTn>
                              </p:par>
                              <p:par>
                                <p:cTn id="61" presetID="10" presetClass="entr" presetSubtype="0" fill="hold" nodeType="withEffect">
                                  <p:stCondLst>
                                    <p:cond delay="45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450"/>
                                        <p:tgtEl>
                                          <p:spTgt spid="10"/>
                                        </p:tgtEl>
                                      </p:cBhvr>
                                    </p:animEffect>
                                  </p:childTnLst>
                                </p:cTn>
                              </p:par>
                              <p:par>
                                <p:cTn id="64" presetID="53" presetClass="entr" presetSubtype="16" fill="hold" nodeType="withEffect">
                                  <p:stCondLst>
                                    <p:cond delay="520"/>
                                  </p:stCondLst>
                                  <p:childTnLst>
                                    <p:set>
                                      <p:cBhvr>
                                        <p:cTn id="65" dur="1" fill="hold">
                                          <p:stCondLst>
                                            <p:cond delay="0"/>
                                          </p:stCondLst>
                                        </p:cTn>
                                        <p:tgtEl>
                                          <p:spTgt spid="11"/>
                                        </p:tgtEl>
                                        <p:attrNameLst>
                                          <p:attrName>style.visibility</p:attrName>
                                        </p:attrNameLst>
                                      </p:cBhvr>
                                      <p:to>
                                        <p:strVal val="visible"/>
                                      </p:to>
                                    </p:set>
                                    <p:anim calcmode="lin" valueType="num">
                                      <p:cBhvr>
                                        <p:cTn id="66" dur="600" fill="hold"/>
                                        <p:tgtEl>
                                          <p:spTgt spid="11"/>
                                        </p:tgtEl>
                                        <p:attrNameLst>
                                          <p:attrName>ppt_w</p:attrName>
                                        </p:attrNameLst>
                                      </p:cBhvr>
                                      <p:tavLst>
                                        <p:tav tm="0">
                                          <p:val>
                                            <p:fltVal val="0"/>
                                          </p:val>
                                        </p:tav>
                                        <p:tav tm="100000">
                                          <p:val>
                                            <p:strVal val="#ppt_w"/>
                                          </p:val>
                                        </p:tav>
                                      </p:tavLst>
                                    </p:anim>
                                    <p:anim calcmode="lin" valueType="num">
                                      <p:cBhvr>
                                        <p:cTn id="67" dur="600" fill="hold"/>
                                        <p:tgtEl>
                                          <p:spTgt spid="11"/>
                                        </p:tgtEl>
                                        <p:attrNameLst>
                                          <p:attrName>ppt_h</p:attrName>
                                        </p:attrNameLst>
                                      </p:cBhvr>
                                      <p:tavLst>
                                        <p:tav tm="0">
                                          <p:val>
                                            <p:fltVal val="0"/>
                                          </p:val>
                                        </p:tav>
                                        <p:tav tm="100000">
                                          <p:val>
                                            <p:strVal val="#ppt_h"/>
                                          </p:val>
                                        </p:tav>
                                      </p:tavLst>
                                    </p:anim>
                                    <p:animEffect transition="in" filter="fade">
                                      <p:cBhvr>
                                        <p:cTn id="68" dur="600"/>
                                        <p:tgtEl>
                                          <p:spTgt spid="11"/>
                                        </p:tgtEl>
                                      </p:cBhvr>
                                    </p:animEffect>
                                  </p:childTnLst>
                                </p:cTn>
                              </p:par>
                              <p:par>
                                <p:cTn id="69" presetID="10" presetClass="entr" presetSubtype="0" fill="hold" nodeType="withEffect">
                                  <p:stCondLst>
                                    <p:cond delay="59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450"/>
                                        <p:tgtEl>
                                          <p:spTgt spid="12"/>
                                        </p:tgtEl>
                                      </p:cBhvr>
                                    </p:animEffect>
                                  </p:childTnLst>
                                </p:cTn>
                              </p:par>
                              <p:par>
                                <p:cTn id="72" presetID="22" presetClass="entr" presetSubtype="4" fill="hold" nodeType="withEffect">
                                  <p:stCondLst>
                                    <p:cond delay="590"/>
                                  </p:stCondLst>
                                  <p:childTnLst>
                                    <p:set>
                                      <p:cBhvr>
                                        <p:cTn id="73" dur="1" fill="hold">
                                          <p:stCondLst>
                                            <p:cond delay="0"/>
                                          </p:stCondLst>
                                        </p:cTn>
                                        <p:tgtEl>
                                          <p:spTgt spid="13"/>
                                        </p:tgtEl>
                                        <p:attrNameLst>
                                          <p:attrName>style.visibility</p:attrName>
                                        </p:attrNameLst>
                                      </p:cBhvr>
                                      <p:to>
                                        <p:strVal val="visible"/>
                                      </p:to>
                                    </p:set>
                                    <p:animEffect transition="in" filter="wipe(down)">
                                      <p:cBhvr>
                                        <p:cTn id="74" dur="500"/>
                                        <p:tgtEl>
                                          <p:spTgt spid="13"/>
                                        </p:tgtEl>
                                      </p:cBhvr>
                                    </p:animEffect>
                                  </p:childTnLst>
                                </p:cTn>
                              </p:par>
                              <p:par>
                                <p:cTn id="75" presetID="10" presetClass="entr" presetSubtype="0" grpId="0" fill="hold" nodeType="withEffect">
                                  <p:stCondLst>
                                    <p:cond delay="660"/>
                                  </p:stCondLst>
                                  <p:childTnLst>
                                    <p:set>
                                      <p:cBhvr>
                                        <p:cTn id="76" dur="1" fill="hold">
                                          <p:stCondLst>
                                            <p:cond delay="0"/>
                                          </p:stCondLst>
                                        </p:cTn>
                                        <p:tgtEl>
                                          <p:spTgt spid="14">
                                            <p:txEl>
                                              <p:pRg st="0" end="0"/>
                                            </p:txEl>
                                          </p:spTgt>
                                        </p:tgtEl>
                                        <p:attrNameLst>
                                          <p:attrName>style.visibility</p:attrName>
                                        </p:attrNameLst>
                                      </p:cBhvr>
                                      <p:to>
                                        <p:strVal val="visible"/>
                                      </p:to>
                                    </p:set>
                                    <p:animEffect transition="in" filter="fade">
                                      <p:cBhvr>
                                        <p:cTn id="77" dur="450"/>
                                        <p:tgtEl>
                                          <p:spTgt spid="14">
                                            <p:txEl>
                                              <p:pRg st="0" end="0"/>
                                            </p:txEl>
                                          </p:spTgt>
                                        </p:tgtEl>
                                      </p:cBhvr>
                                    </p:animEffect>
                                  </p:childTnLst>
                                </p:cTn>
                              </p:par>
                              <p:par>
                                <p:cTn id="78" presetID="10" presetClass="entr" presetSubtype="0" grpId="0" fill="hold" nodeType="withEffect">
                                  <p:stCondLst>
                                    <p:cond delay="1040"/>
                                  </p:stCondLst>
                                  <p:childTnLst>
                                    <p:set>
                                      <p:cBhvr>
                                        <p:cTn id="79" dur="1" fill="hold">
                                          <p:stCondLst>
                                            <p:cond delay="0"/>
                                          </p:stCondLst>
                                        </p:cTn>
                                        <p:tgtEl>
                                          <p:spTgt spid="14">
                                            <p:txEl>
                                              <p:pRg st="1" end="1"/>
                                            </p:txEl>
                                          </p:spTgt>
                                        </p:tgtEl>
                                        <p:attrNameLst>
                                          <p:attrName>style.visibility</p:attrName>
                                        </p:attrNameLst>
                                      </p:cBhvr>
                                      <p:to>
                                        <p:strVal val="visible"/>
                                      </p:to>
                                    </p:set>
                                    <p:animEffect transition="in" filter="fade">
                                      <p:cBhvr>
                                        <p:cTn id="80" dur="450"/>
                                        <p:tgtEl>
                                          <p:spTgt spid="14">
                                            <p:txEl>
                                              <p:pRg st="1" end="1"/>
                                            </p:txEl>
                                          </p:spTgt>
                                        </p:tgtEl>
                                      </p:cBhvr>
                                    </p:animEffect>
                                  </p:childTnLst>
                                </p:cTn>
                              </p:par>
                              <p:par>
                                <p:cTn id="81" presetID="10" presetClass="entr" presetSubtype="0" grpId="0" fill="hold" nodeType="withEffect">
                                  <p:stCondLst>
                                    <p:cond delay="1420"/>
                                  </p:stCondLst>
                                  <p:childTnLst>
                                    <p:set>
                                      <p:cBhvr>
                                        <p:cTn id="82" dur="1" fill="hold">
                                          <p:stCondLst>
                                            <p:cond delay="0"/>
                                          </p:stCondLst>
                                        </p:cTn>
                                        <p:tgtEl>
                                          <p:spTgt spid="14">
                                            <p:txEl>
                                              <p:pRg st="2" end="2"/>
                                            </p:txEl>
                                          </p:spTgt>
                                        </p:tgtEl>
                                        <p:attrNameLst>
                                          <p:attrName>style.visibility</p:attrName>
                                        </p:attrNameLst>
                                      </p:cBhvr>
                                      <p:to>
                                        <p:strVal val="visible"/>
                                      </p:to>
                                    </p:set>
                                    <p:animEffect transition="in" filter="fade">
                                      <p:cBhvr>
                                        <p:cTn id="83" dur="450"/>
                                        <p:tgtEl>
                                          <p:spTgt spid="14">
                                            <p:txEl>
                                              <p:pRg st="2" end="2"/>
                                            </p:txEl>
                                          </p:spTgt>
                                        </p:tgtEl>
                                      </p:cBhvr>
                                    </p:animEffect>
                                  </p:childTnLst>
                                </p:cTn>
                              </p:par>
                              <p:par>
                                <p:cTn id="84" presetID="22" presetClass="entr" presetSubtype="4" fill="hold" nodeType="withEffect">
                                  <p:stCondLst>
                                    <p:cond delay="730"/>
                                  </p:stCondLst>
                                  <p:childTnLst>
                                    <p:set>
                                      <p:cBhvr>
                                        <p:cTn id="85" dur="1" fill="hold">
                                          <p:stCondLst>
                                            <p:cond delay="0"/>
                                          </p:stCondLst>
                                        </p:cTn>
                                        <p:tgtEl>
                                          <p:spTgt spid="15"/>
                                        </p:tgtEl>
                                        <p:attrNameLst>
                                          <p:attrName>style.visibility</p:attrName>
                                        </p:attrNameLst>
                                      </p:cBhvr>
                                      <p:to>
                                        <p:strVal val="visible"/>
                                      </p:to>
                                    </p:set>
                                    <p:animEffect transition="in" filter="wipe(down)">
                                      <p:cBhvr>
                                        <p:cTn id="86" dur="500"/>
                                        <p:tgtEl>
                                          <p:spTgt spid="15"/>
                                        </p:tgtEl>
                                      </p:cBhvr>
                                    </p:animEffect>
                                  </p:childTnLst>
                                </p:cTn>
                              </p:par>
                              <p:par>
                                <p:cTn id="87" presetID="10" presetClass="entr" presetSubtype="0" fill="hold" nodeType="withEffect">
                                  <p:stCondLst>
                                    <p:cond delay="58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450"/>
                                        <p:tgtEl>
                                          <p:spTgt spid="16"/>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xit" presetSubtype="0" fill="hold" nodeType="clickEffect">
                                  <p:stCondLst>
                                    <p:cond delay="0"/>
                                  </p:stCondLst>
                                  <p:childTnLst>
                                    <p:animEffect transition="out" filter="fade">
                                      <p:cBhvr>
                                        <p:cTn id="93" dur="350"/>
                                        <p:tgtEl>
                                          <p:spTgt spid="10"/>
                                        </p:tgtEl>
                                      </p:cBhvr>
                                    </p:animEffect>
                                    <p:set>
                                      <p:cBhvr>
                                        <p:cTn id="94" dur="1" fill="hold">
                                          <p:stCondLst>
                                            <p:cond delay="349"/>
                                          </p:stCondLst>
                                        </p:cTn>
                                        <p:tgtEl>
                                          <p:spTgt spid="10"/>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350"/>
                                        <p:tgtEl>
                                          <p:spTgt spid="12"/>
                                        </p:tgtEl>
                                      </p:cBhvr>
                                    </p:animEffect>
                                    <p:set>
                                      <p:cBhvr>
                                        <p:cTn id="97" dur="1" fill="hold">
                                          <p:stCondLst>
                                            <p:cond delay="349"/>
                                          </p:stCondLst>
                                        </p:cTn>
                                        <p:tgtEl>
                                          <p:spTgt spid="12"/>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350"/>
                                        <p:tgtEl>
                                          <p:spTgt spid="13"/>
                                        </p:tgtEl>
                                      </p:cBhvr>
                                    </p:animEffect>
                                    <p:set>
                                      <p:cBhvr>
                                        <p:cTn id="100" dur="1" fill="hold">
                                          <p:stCondLst>
                                            <p:cond delay="349"/>
                                          </p:stCondLst>
                                        </p:cTn>
                                        <p:tgtEl>
                                          <p:spTgt spid="13"/>
                                        </p:tgtEl>
                                        <p:attrNameLst>
                                          <p:attrName>style.visibility</p:attrName>
                                        </p:attrNameLst>
                                      </p:cBhvr>
                                      <p:to>
                                        <p:strVal val="hidden"/>
                                      </p:to>
                                    </p:set>
                                  </p:childTnLst>
                                </p:cTn>
                              </p:par>
                              <p:par>
                                <p:cTn id="101" presetID="10" presetClass="exit" presetSubtype="0" grpId="0" fill="hold" nodeType="withEffect">
                                  <p:stCondLst>
                                    <p:cond delay="0"/>
                                  </p:stCondLst>
                                  <p:childTnLst>
                                    <p:animEffect transition="out" filter="fade">
                                      <p:cBhvr>
                                        <p:cTn id="102" dur="350"/>
                                        <p:tgtEl>
                                          <p:spTgt spid="14">
                                            <p:txEl>
                                              <p:pRg st="0" end="0"/>
                                            </p:txEl>
                                          </p:spTgt>
                                        </p:tgtEl>
                                      </p:cBhvr>
                                    </p:animEffect>
                                    <p:set>
                                      <p:cBhvr>
                                        <p:cTn id="103" dur="1" fill="hold">
                                          <p:stCondLst>
                                            <p:cond delay="349"/>
                                          </p:stCondLst>
                                        </p:cTn>
                                        <p:tgtEl>
                                          <p:spTgt spid="14">
                                            <p:txEl>
                                              <p:pRg st="0" end="0"/>
                                            </p:txEl>
                                          </p:spTgt>
                                        </p:tgtEl>
                                        <p:attrNameLst>
                                          <p:attrName>style.visibility</p:attrName>
                                        </p:attrNameLst>
                                      </p:cBhvr>
                                      <p:to>
                                        <p:strVal val="hidden"/>
                                      </p:to>
                                    </p:set>
                                  </p:childTnLst>
                                </p:cTn>
                              </p:par>
                              <p:par>
                                <p:cTn id="104" presetID="10" presetClass="exit" presetSubtype="0" grpId="0" fill="hold" nodeType="withEffect">
                                  <p:stCondLst>
                                    <p:cond delay="0"/>
                                  </p:stCondLst>
                                  <p:childTnLst>
                                    <p:animEffect transition="out" filter="fade">
                                      <p:cBhvr>
                                        <p:cTn id="105" dur="350"/>
                                        <p:tgtEl>
                                          <p:spTgt spid="14">
                                            <p:txEl>
                                              <p:pRg st="1" end="1"/>
                                            </p:txEl>
                                          </p:spTgt>
                                        </p:tgtEl>
                                      </p:cBhvr>
                                    </p:animEffect>
                                    <p:set>
                                      <p:cBhvr>
                                        <p:cTn id="106" dur="1" fill="hold">
                                          <p:stCondLst>
                                            <p:cond delay="349"/>
                                          </p:stCondLst>
                                        </p:cTn>
                                        <p:tgtEl>
                                          <p:spTgt spid="14">
                                            <p:txEl>
                                              <p:pRg st="1" end="1"/>
                                            </p:txEl>
                                          </p:spTgt>
                                        </p:tgtEl>
                                        <p:attrNameLst>
                                          <p:attrName>style.visibility</p:attrName>
                                        </p:attrNameLst>
                                      </p:cBhvr>
                                      <p:to>
                                        <p:strVal val="hidden"/>
                                      </p:to>
                                    </p:set>
                                  </p:childTnLst>
                                </p:cTn>
                              </p:par>
                              <p:par>
                                <p:cTn id="107" presetID="10" presetClass="exit" presetSubtype="0" grpId="0" fill="hold" nodeType="withEffect">
                                  <p:stCondLst>
                                    <p:cond delay="0"/>
                                  </p:stCondLst>
                                  <p:childTnLst>
                                    <p:animEffect transition="out" filter="fade">
                                      <p:cBhvr>
                                        <p:cTn id="108" dur="350"/>
                                        <p:tgtEl>
                                          <p:spTgt spid="14">
                                            <p:txEl>
                                              <p:pRg st="2" end="2"/>
                                            </p:txEl>
                                          </p:spTgt>
                                        </p:tgtEl>
                                      </p:cBhvr>
                                    </p:animEffect>
                                    <p:set>
                                      <p:cBhvr>
                                        <p:cTn id="109" dur="1" fill="hold">
                                          <p:stCondLst>
                                            <p:cond delay="349"/>
                                          </p:stCondLst>
                                        </p:cTn>
                                        <p:tgtEl>
                                          <p:spTgt spid="14">
                                            <p:txEl>
                                              <p:pRg st="2" end="2"/>
                                            </p:txEl>
                                          </p:spTgt>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350"/>
                                        <p:tgtEl>
                                          <p:spTgt spid="15"/>
                                        </p:tgtEl>
                                      </p:cBhvr>
                                    </p:animEffect>
                                    <p:set>
                                      <p:cBhvr>
                                        <p:cTn id="112" dur="1" fill="hold">
                                          <p:stCondLst>
                                            <p:cond delay="349"/>
                                          </p:stCondLst>
                                        </p:cTn>
                                        <p:tgtEl>
                                          <p:spTgt spid="15"/>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6"/>
                                        </p:tgtEl>
                                      </p:cBhvr>
                                    </p:animEffect>
                                    <p:set>
                                      <p:cBhvr>
                                        <p:cTn id="115" dur="1" fill="hold">
                                          <p:stCondLst>
                                            <p:cond delay="349"/>
                                          </p:stCondLst>
                                        </p:cTn>
                                        <p:tgtEl>
                                          <p:spTgt spid="16"/>
                                        </p:tgtEl>
                                        <p:attrNameLst>
                                          <p:attrName>style.visibility</p:attrName>
                                        </p:attrNameLst>
                                      </p:cBhvr>
                                      <p:to>
                                        <p:strVal val="hidden"/>
                                      </p:to>
                                    </p:set>
                                  </p:childTnLst>
                                </p:cTn>
                              </p:par>
                              <p:par>
                                <p:cTn id="116" presetID="0" presetClass="path" presetSubtype="0" accel="50000" decel="50000" fill="hold" nodeType="withEffect">
                                  <p:stCondLst>
                                    <p:cond delay="0"/>
                                  </p:stCondLst>
                                  <p:childTnLst>
                                    <p:animMotion origin="layout" path="M 0 0 L 0.56776 -0.18069 E" pathEditMode="relative" rAng="0" ptsTypes="AA">
                                      <p:cBhvr>
                                        <p:cTn id="117" dur="750" fill="hold"/>
                                        <p:tgtEl>
                                          <p:spTgt spid="11"/>
                                        </p:tgtEl>
                                        <p:attrNameLst>
                                          <p:attrName>ppt_x</p:attrName>
                                          <p:attrName>ppt_y</p:attrName>
                                        </p:attrNameLst>
                                      </p:cBhvr>
                                      <p:rCtr x="28388" y="-9034"/>
                                    </p:animMotion>
                                  </p:childTnLst>
                                </p:cTn>
                              </p:par>
                              <p:par>
                                <p:cTn id="118" presetID="6" presetClass="emph" presetSubtype="0" accel="50000" decel="50000" fill="hold" nodeType="withEffect">
                                  <p:stCondLst>
                                    <p:cond delay="0"/>
                                  </p:stCondLst>
                                  <p:childTnLst>
                                    <p:animScale>
                                      <p:cBhvr>
                                        <p:cTn id="119" dur="750" fill="hold"/>
                                        <p:tgtEl>
                                          <p:spTgt spid="11"/>
                                        </p:tgtEl>
                                      </p:cBhvr>
                                      <p:by x="29626" y="29626"/>
                                    </p:animScale>
                                  </p:childTnLst>
                                </p:cTn>
                              </p:par>
                              <p:par>
                                <p:cTn id="120" presetID="10" presetClass="entr" presetSubtype="0" fill="hold" nodeType="withEffect">
                                  <p:stCondLst>
                                    <p:cond delay="450"/>
                                  </p:stCondLst>
                                  <p:childTnLst>
                                    <p:set>
                                      <p:cBhvr>
                                        <p:cTn id="121" dur="1" fill="hold">
                                          <p:stCondLst>
                                            <p:cond delay="0"/>
                                          </p:stCondLst>
                                        </p:cTn>
                                        <p:tgtEl>
                                          <p:spTgt spid="17"/>
                                        </p:tgtEl>
                                        <p:attrNameLst>
                                          <p:attrName>style.visibility</p:attrName>
                                        </p:attrNameLst>
                                      </p:cBhvr>
                                      <p:to>
                                        <p:strVal val="visible"/>
                                      </p:to>
                                    </p:set>
                                    <p:animEffect transition="in" filter="fade">
                                      <p:cBhvr>
                                        <p:cTn id="122" dur="450"/>
                                        <p:tgtEl>
                                          <p:spTgt spid="17"/>
                                        </p:tgtEl>
                                      </p:cBhvr>
                                    </p:animEffect>
                                  </p:childTnLst>
                                </p:cTn>
                              </p:par>
                              <p:par>
                                <p:cTn id="123" presetID="53" presetClass="entr" presetSubtype="16" fill="hold" nodeType="withEffect">
                                  <p:stCondLst>
                                    <p:cond delay="520"/>
                                  </p:stCondLst>
                                  <p:childTnLst>
                                    <p:set>
                                      <p:cBhvr>
                                        <p:cTn id="124" dur="1" fill="hold">
                                          <p:stCondLst>
                                            <p:cond delay="0"/>
                                          </p:stCondLst>
                                        </p:cTn>
                                        <p:tgtEl>
                                          <p:spTgt spid="18"/>
                                        </p:tgtEl>
                                        <p:attrNameLst>
                                          <p:attrName>style.visibility</p:attrName>
                                        </p:attrNameLst>
                                      </p:cBhvr>
                                      <p:to>
                                        <p:strVal val="visible"/>
                                      </p:to>
                                    </p:set>
                                    <p:anim calcmode="lin" valueType="num">
                                      <p:cBhvr>
                                        <p:cTn id="125" dur="600" fill="hold"/>
                                        <p:tgtEl>
                                          <p:spTgt spid="18"/>
                                        </p:tgtEl>
                                        <p:attrNameLst>
                                          <p:attrName>ppt_w</p:attrName>
                                        </p:attrNameLst>
                                      </p:cBhvr>
                                      <p:tavLst>
                                        <p:tav tm="0">
                                          <p:val>
                                            <p:fltVal val="0"/>
                                          </p:val>
                                        </p:tav>
                                        <p:tav tm="100000">
                                          <p:val>
                                            <p:strVal val="#ppt_w"/>
                                          </p:val>
                                        </p:tav>
                                      </p:tavLst>
                                    </p:anim>
                                    <p:anim calcmode="lin" valueType="num">
                                      <p:cBhvr>
                                        <p:cTn id="126" dur="600" fill="hold"/>
                                        <p:tgtEl>
                                          <p:spTgt spid="18"/>
                                        </p:tgtEl>
                                        <p:attrNameLst>
                                          <p:attrName>ppt_h</p:attrName>
                                        </p:attrNameLst>
                                      </p:cBhvr>
                                      <p:tavLst>
                                        <p:tav tm="0">
                                          <p:val>
                                            <p:fltVal val="0"/>
                                          </p:val>
                                        </p:tav>
                                        <p:tav tm="100000">
                                          <p:val>
                                            <p:strVal val="#ppt_h"/>
                                          </p:val>
                                        </p:tav>
                                      </p:tavLst>
                                    </p:anim>
                                    <p:animEffect transition="in" filter="fade">
                                      <p:cBhvr>
                                        <p:cTn id="127" dur="600"/>
                                        <p:tgtEl>
                                          <p:spTgt spid="18"/>
                                        </p:tgtEl>
                                      </p:cBhvr>
                                    </p:animEffect>
                                  </p:childTnLst>
                                </p:cTn>
                              </p:par>
                              <p:par>
                                <p:cTn id="128" presetID="10" presetClass="entr" presetSubtype="0" fill="hold" nodeType="withEffect">
                                  <p:stCondLst>
                                    <p:cond delay="580"/>
                                  </p:stCondLst>
                                  <p:childTnLst>
                                    <p:set>
                                      <p:cBhvr>
                                        <p:cTn id="129" dur="1" fill="hold">
                                          <p:stCondLst>
                                            <p:cond delay="0"/>
                                          </p:stCondLst>
                                        </p:cTn>
                                        <p:tgtEl>
                                          <p:spTgt spid="19"/>
                                        </p:tgtEl>
                                        <p:attrNameLst>
                                          <p:attrName>style.visibility</p:attrName>
                                        </p:attrNameLst>
                                      </p:cBhvr>
                                      <p:to>
                                        <p:strVal val="visible"/>
                                      </p:to>
                                    </p:set>
                                    <p:animEffect transition="in" filter="fade">
                                      <p:cBhvr>
                                        <p:cTn id="130" dur="450"/>
                                        <p:tgtEl>
                                          <p:spTgt spid="19"/>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xit" presetSubtype="0" fill="hold" nodeType="clickEffect">
                                  <p:stCondLst>
                                    <p:cond delay="0"/>
                                  </p:stCondLst>
                                  <p:childTnLst>
                                    <p:animEffect transition="out" filter="fade">
                                      <p:cBhvr>
                                        <p:cTn id="134" dur="350"/>
                                        <p:tgtEl>
                                          <p:spTgt spid="17"/>
                                        </p:tgtEl>
                                      </p:cBhvr>
                                    </p:animEffect>
                                    <p:set>
                                      <p:cBhvr>
                                        <p:cTn id="135" dur="1" fill="hold">
                                          <p:stCondLst>
                                            <p:cond delay="349"/>
                                          </p:stCondLst>
                                        </p:cTn>
                                        <p:tgtEl>
                                          <p:spTgt spid="17"/>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350"/>
                                        <p:tgtEl>
                                          <p:spTgt spid="19"/>
                                        </p:tgtEl>
                                      </p:cBhvr>
                                    </p:animEffect>
                                    <p:set>
                                      <p:cBhvr>
                                        <p:cTn id="138" dur="1" fill="hold">
                                          <p:stCondLst>
                                            <p:cond delay="349"/>
                                          </p:stCondLst>
                                        </p:cTn>
                                        <p:tgtEl>
                                          <p:spTgt spid="19"/>
                                        </p:tgtEl>
                                        <p:attrNameLst>
                                          <p:attrName>style.visibility</p:attrName>
                                        </p:attrNameLst>
                                      </p:cBhvr>
                                      <p:to>
                                        <p:strVal val="hidden"/>
                                      </p:to>
                                    </p:set>
                                  </p:childTnLst>
                                </p:cTn>
                              </p:par>
                              <p:par>
                                <p:cTn id="139" presetID="0" presetClass="path" presetSubtype="0" accel="50000" decel="50000" fill="hold" nodeType="withEffect">
                                  <p:stCondLst>
                                    <p:cond delay="0"/>
                                  </p:stCondLst>
                                  <p:childTnLst>
                                    <p:animMotion origin="layout" path="M 0 0 L 0.47000 -0.00001 E" pathEditMode="relative" rAng="0" ptsTypes="AA">
                                      <p:cBhvr>
                                        <p:cTn id="140" dur="750" fill="hold"/>
                                        <p:tgtEl>
                                          <p:spTgt spid="18"/>
                                        </p:tgtEl>
                                        <p:attrNameLst>
                                          <p:attrName>ppt_x</p:attrName>
                                          <p:attrName>ppt_y</p:attrName>
                                        </p:attrNameLst>
                                      </p:cBhvr>
                                      <p:rCtr x="23500" y="0"/>
                                    </p:animMotion>
                                  </p:childTnLst>
                                </p:cTn>
                              </p:par>
                              <p:par>
                                <p:cTn id="141" presetID="6" presetClass="emph" presetSubtype="0" accel="50000" decel="50000" fill="hold" nodeType="withEffect">
                                  <p:stCondLst>
                                    <p:cond delay="0"/>
                                  </p:stCondLst>
                                  <p:childTnLst>
                                    <p:animScale>
                                      <p:cBhvr>
                                        <p:cTn id="142" dur="750" fill="hold"/>
                                        <p:tgtEl>
                                          <p:spTgt spid="18"/>
                                        </p:tgtEl>
                                      </p:cBhvr>
                                      <p:by x="18449" y="18449"/>
                                    </p:animScale>
                                  </p:childTnLst>
                                </p:cTn>
                              </p:par>
                              <p:par>
                                <p:cTn id="143" presetID="10" presetClass="entr" presetSubtype="0" fill="hold" nodeType="withEffect">
                                  <p:stCondLst>
                                    <p:cond delay="450"/>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450"/>
                                        <p:tgtEl>
                                          <p:spTgt spid="20"/>
                                        </p:tgtEl>
                                      </p:cBhvr>
                                    </p:animEffect>
                                  </p:childTnLst>
                                </p:cTn>
                              </p:par>
                              <p:par>
                                <p:cTn id="146" presetID="53" presetClass="entr" presetSubtype="16" fill="hold" nodeType="withEffect">
                                  <p:stCondLst>
                                    <p:cond delay="520"/>
                                  </p:stCondLst>
                                  <p:childTnLst>
                                    <p:set>
                                      <p:cBhvr>
                                        <p:cTn id="147" dur="1" fill="hold">
                                          <p:stCondLst>
                                            <p:cond delay="0"/>
                                          </p:stCondLst>
                                        </p:cTn>
                                        <p:tgtEl>
                                          <p:spTgt spid="21"/>
                                        </p:tgtEl>
                                        <p:attrNameLst>
                                          <p:attrName>style.visibility</p:attrName>
                                        </p:attrNameLst>
                                      </p:cBhvr>
                                      <p:to>
                                        <p:strVal val="visible"/>
                                      </p:to>
                                    </p:set>
                                    <p:anim calcmode="lin" valueType="num">
                                      <p:cBhvr>
                                        <p:cTn id="148" dur="600" fill="hold"/>
                                        <p:tgtEl>
                                          <p:spTgt spid="21"/>
                                        </p:tgtEl>
                                        <p:attrNameLst>
                                          <p:attrName>ppt_w</p:attrName>
                                        </p:attrNameLst>
                                      </p:cBhvr>
                                      <p:tavLst>
                                        <p:tav tm="0">
                                          <p:val>
                                            <p:fltVal val="0"/>
                                          </p:val>
                                        </p:tav>
                                        <p:tav tm="100000">
                                          <p:val>
                                            <p:strVal val="#ppt_w"/>
                                          </p:val>
                                        </p:tav>
                                      </p:tavLst>
                                    </p:anim>
                                    <p:anim calcmode="lin" valueType="num">
                                      <p:cBhvr>
                                        <p:cTn id="149" dur="600" fill="hold"/>
                                        <p:tgtEl>
                                          <p:spTgt spid="21"/>
                                        </p:tgtEl>
                                        <p:attrNameLst>
                                          <p:attrName>ppt_h</p:attrName>
                                        </p:attrNameLst>
                                      </p:cBhvr>
                                      <p:tavLst>
                                        <p:tav tm="0">
                                          <p:val>
                                            <p:fltVal val="0"/>
                                          </p:val>
                                        </p:tav>
                                        <p:tav tm="100000">
                                          <p:val>
                                            <p:strVal val="#ppt_h"/>
                                          </p:val>
                                        </p:tav>
                                      </p:tavLst>
                                    </p:anim>
                                    <p:animEffect transition="in" filter="fade">
                                      <p:cBhvr>
                                        <p:cTn id="150" dur="600"/>
                                        <p:tgtEl>
                                          <p:spTgt spid="21"/>
                                        </p:tgtEl>
                                      </p:cBhvr>
                                    </p:animEffect>
                                  </p:childTnLst>
                                </p:cTn>
                              </p:par>
                              <p:par>
                                <p:cTn id="151" presetID="22" presetClass="entr" presetSubtype="4" fill="hold" nodeType="withEffect">
                                  <p:stCondLst>
                                    <p:cond delay="590"/>
                                  </p:stCondLst>
                                  <p:childTnLst>
                                    <p:set>
                                      <p:cBhvr>
                                        <p:cTn id="152" dur="1" fill="hold">
                                          <p:stCondLst>
                                            <p:cond delay="0"/>
                                          </p:stCondLst>
                                        </p:cTn>
                                        <p:tgtEl>
                                          <p:spTgt spid="22"/>
                                        </p:tgtEl>
                                        <p:attrNameLst>
                                          <p:attrName>style.visibility</p:attrName>
                                        </p:attrNameLst>
                                      </p:cBhvr>
                                      <p:to>
                                        <p:strVal val="visible"/>
                                      </p:to>
                                    </p:set>
                                    <p:animEffect transition="in" filter="wipe(down)">
                                      <p:cBhvr>
                                        <p:cTn id="153" dur="500"/>
                                        <p:tgtEl>
                                          <p:spTgt spid="22"/>
                                        </p:tgtEl>
                                      </p:cBhvr>
                                    </p:animEffect>
                                  </p:childTnLst>
                                </p:cTn>
                              </p:par>
                              <p:par>
                                <p:cTn id="154" presetID="10" presetClass="entr" presetSubtype="0" fill="hold" nodeType="withEffect">
                                  <p:stCondLst>
                                    <p:cond delay="580"/>
                                  </p:stCondLst>
                                  <p:childTnLst>
                                    <p:set>
                                      <p:cBhvr>
                                        <p:cTn id="155" dur="1" fill="hold">
                                          <p:stCondLst>
                                            <p:cond delay="0"/>
                                          </p:stCondLst>
                                        </p:cTn>
                                        <p:tgtEl>
                                          <p:spTgt spid="23"/>
                                        </p:tgtEl>
                                        <p:attrNameLst>
                                          <p:attrName>style.visibility</p:attrName>
                                        </p:attrNameLst>
                                      </p:cBhvr>
                                      <p:to>
                                        <p:strVal val="visible"/>
                                      </p:to>
                                    </p:set>
                                    <p:animEffect transition="in" filter="fade">
                                      <p:cBhvr>
                                        <p:cTn id="156" dur="450"/>
                                        <p:tgtEl>
                                          <p:spTgt spid="23"/>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xit" presetSubtype="0" fill="hold" nodeType="clickEffect">
                                  <p:stCondLst>
                                    <p:cond delay="0"/>
                                  </p:stCondLst>
                                  <p:childTnLst>
                                    <p:animEffect transition="out" filter="fade">
                                      <p:cBhvr>
                                        <p:cTn id="160" dur="350"/>
                                        <p:tgtEl>
                                          <p:spTgt spid="20"/>
                                        </p:tgtEl>
                                      </p:cBhvr>
                                    </p:animEffect>
                                    <p:set>
                                      <p:cBhvr>
                                        <p:cTn id="161" dur="1" fill="hold">
                                          <p:stCondLst>
                                            <p:cond delay="349"/>
                                          </p:stCondLst>
                                        </p:cTn>
                                        <p:tgtEl>
                                          <p:spTgt spid="20"/>
                                        </p:tgtEl>
                                        <p:attrNameLst>
                                          <p:attrName>style.visibility</p:attrName>
                                        </p:attrNameLst>
                                      </p:cBhvr>
                                      <p:to>
                                        <p:strVal val="hidden"/>
                                      </p:to>
                                    </p:set>
                                  </p:childTnLst>
                                </p:cTn>
                              </p:par>
                              <p:par>
                                <p:cTn id="162" presetID="10" presetClass="exit" presetSubtype="0" fill="hold" nodeType="withEffect">
                                  <p:stCondLst>
                                    <p:cond delay="0"/>
                                  </p:stCondLst>
                                  <p:childTnLst>
                                    <p:animEffect transition="out" filter="fade">
                                      <p:cBhvr>
                                        <p:cTn id="163" dur="350"/>
                                        <p:tgtEl>
                                          <p:spTgt spid="22"/>
                                        </p:tgtEl>
                                      </p:cBhvr>
                                    </p:animEffect>
                                    <p:set>
                                      <p:cBhvr>
                                        <p:cTn id="164" dur="1" fill="hold">
                                          <p:stCondLst>
                                            <p:cond delay="349"/>
                                          </p:stCondLst>
                                        </p:cTn>
                                        <p:tgtEl>
                                          <p:spTgt spid="22"/>
                                        </p:tgtEl>
                                        <p:attrNameLst>
                                          <p:attrName>style.visibility</p:attrName>
                                        </p:attrNameLst>
                                      </p:cBhvr>
                                      <p:to>
                                        <p:strVal val="hidden"/>
                                      </p:to>
                                    </p:set>
                                  </p:childTnLst>
                                </p:cTn>
                              </p:par>
                              <p:par>
                                <p:cTn id="165" presetID="10" presetClass="exit" presetSubtype="0" fill="hold" nodeType="withEffect">
                                  <p:stCondLst>
                                    <p:cond delay="0"/>
                                  </p:stCondLst>
                                  <p:childTnLst>
                                    <p:animEffect transition="out" filter="fade">
                                      <p:cBhvr>
                                        <p:cTn id="166" dur="350"/>
                                        <p:tgtEl>
                                          <p:spTgt spid="23"/>
                                        </p:tgtEl>
                                      </p:cBhvr>
                                    </p:animEffect>
                                    <p:set>
                                      <p:cBhvr>
                                        <p:cTn id="167" dur="1" fill="hold">
                                          <p:stCondLst>
                                            <p:cond delay="349"/>
                                          </p:stCondLst>
                                        </p:cTn>
                                        <p:tgtEl>
                                          <p:spTgt spid="23"/>
                                        </p:tgtEl>
                                        <p:attrNameLst>
                                          <p:attrName>style.visibility</p:attrName>
                                        </p:attrNameLst>
                                      </p:cBhvr>
                                      <p:to>
                                        <p:strVal val="hidden"/>
                                      </p:to>
                                    </p:set>
                                  </p:childTnLst>
                                </p:cTn>
                              </p:par>
                              <p:par>
                                <p:cTn id="168" presetID="0" presetClass="path" presetSubtype="0" accel="50000" decel="50000" fill="hold" nodeType="withEffect">
                                  <p:stCondLst>
                                    <p:cond delay="0"/>
                                  </p:stCondLst>
                                  <p:childTnLst>
                                    <p:animMotion origin="layout" path="M 0 0 L 0.47000 0.23590 E" pathEditMode="relative" rAng="0" ptsTypes="AA">
                                      <p:cBhvr>
                                        <p:cTn id="169" dur="750" fill="hold"/>
                                        <p:tgtEl>
                                          <p:spTgt spid="21"/>
                                        </p:tgtEl>
                                        <p:attrNameLst>
                                          <p:attrName>ppt_x</p:attrName>
                                          <p:attrName>ppt_y</p:attrName>
                                        </p:attrNameLst>
                                      </p:cBhvr>
                                      <p:rCtr x="23500" y="11795"/>
                                    </p:animMotion>
                                  </p:childTnLst>
                                </p:cTn>
                              </p:par>
                              <p:par>
                                <p:cTn id="170" presetID="6" presetClass="emph" presetSubtype="0" accel="50000" decel="50000" fill="hold" nodeType="withEffect">
                                  <p:stCondLst>
                                    <p:cond delay="0"/>
                                  </p:stCondLst>
                                  <p:childTnLst>
                                    <p:animScale>
                                      <p:cBhvr>
                                        <p:cTn id="171" dur="750" fill="hold"/>
                                        <p:tgtEl>
                                          <p:spTgt spid="21"/>
                                        </p:tgtEl>
                                      </p:cBhvr>
                                      <p:by x="18878" y="18878"/>
                                    </p:animScale>
                                  </p:childTnLst>
                                </p:cTn>
                              </p:par>
                              <p:par>
                                <p:cTn id="172" presetID="10" presetClass="entr" presetSubtype="0" fill="hold" nodeType="withEffect">
                                  <p:stCondLst>
                                    <p:cond delay="450"/>
                                  </p:stCondLst>
                                  <p:childTnLst>
                                    <p:set>
                                      <p:cBhvr>
                                        <p:cTn id="173" dur="1" fill="hold">
                                          <p:stCondLst>
                                            <p:cond delay="0"/>
                                          </p:stCondLst>
                                        </p:cTn>
                                        <p:tgtEl>
                                          <p:spTgt spid="24"/>
                                        </p:tgtEl>
                                        <p:attrNameLst>
                                          <p:attrName>style.visibility</p:attrName>
                                        </p:attrNameLst>
                                      </p:cBhvr>
                                      <p:to>
                                        <p:strVal val="visible"/>
                                      </p:to>
                                    </p:set>
                                    <p:animEffect transition="in" filter="fade">
                                      <p:cBhvr>
                                        <p:cTn id="174" dur="450"/>
                                        <p:tgtEl>
                                          <p:spTgt spid="24"/>
                                        </p:tgtEl>
                                      </p:cBhvr>
                                    </p:animEffect>
                                  </p:childTnLst>
                                </p:cTn>
                              </p:par>
                              <p:par>
                                <p:cTn id="175" presetID="10" presetClass="entr" presetSubtype="0" fill="hold" nodeType="withEffect">
                                  <p:stCondLst>
                                    <p:cond delay="520"/>
                                  </p:stCondLst>
                                  <p:childTnLst>
                                    <p:set>
                                      <p:cBhvr>
                                        <p:cTn id="176" dur="1" fill="hold">
                                          <p:stCondLst>
                                            <p:cond delay="0"/>
                                          </p:stCondLst>
                                        </p:cTn>
                                        <p:tgtEl>
                                          <p:spTgt spid="26"/>
                                        </p:tgtEl>
                                        <p:attrNameLst>
                                          <p:attrName>style.visibility</p:attrName>
                                        </p:attrNameLst>
                                      </p:cBhvr>
                                      <p:to>
                                        <p:strVal val="visible"/>
                                      </p:to>
                                    </p:set>
                                    <p:animEffect transition="in" filter="fade">
                                      <p:cBhvr>
                                        <p:cTn id="177" dur="450"/>
                                        <p:tgtEl>
                                          <p:spTgt spid="26"/>
                                        </p:tgtEl>
                                      </p:cBhvr>
                                    </p:animEffect>
                                  </p:childTnLst>
                                </p:cTn>
                              </p:par>
                              <p:par>
                                <p:cTn id="178" presetID="22" presetClass="entr" presetSubtype="8" fill="hold" nodeType="withEffect">
                                  <p:stCondLst>
                                    <p:cond delay="520"/>
                                  </p:stCondLst>
                                  <p:childTnLst>
                                    <p:set>
                                      <p:cBhvr>
                                        <p:cTn id="179" dur="1" fill="hold">
                                          <p:stCondLst>
                                            <p:cond delay="0"/>
                                          </p:stCondLst>
                                        </p:cTn>
                                        <p:tgtEl>
                                          <p:spTgt spid="27"/>
                                        </p:tgtEl>
                                        <p:attrNameLst>
                                          <p:attrName>style.visibility</p:attrName>
                                        </p:attrNameLst>
                                      </p:cBhvr>
                                      <p:to>
                                        <p:strVal val="visible"/>
                                      </p:to>
                                    </p:set>
                                    <p:animEffect transition="in" filter="wipe(left)">
                                      <p:cBhvr>
                                        <p:cTn id="180" dur="500"/>
                                        <p:tgtEl>
                                          <p:spTgt spid="27"/>
                                        </p:tgtEl>
                                      </p:cBhvr>
                                    </p:animEffect>
                                  </p:childTnLst>
                                </p:cTn>
                              </p:par>
                              <p:par>
                                <p:cTn id="181" presetID="10" presetClass="entr" presetSubtype="0" grpId="0" fill="hold" nodeType="withEffect">
                                  <p:stCondLst>
                                    <p:cond delay="590"/>
                                  </p:stCondLst>
                                  <p:childTnLst>
                                    <p:set>
                                      <p:cBhvr>
                                        <p:cTn id="182" dur="1" fill="hold">
                                          <p:stCondLst>
                                            <p:cond delay="0"/>
                                          </p:stCondLst>
                                        </p:cTn>
                                        <p:tgtEl>
                                          <p:spTgt spid="28">
                                            <p:txEl>
                                              <p:pRg st="0" end="0"/>
                                            </p:txEl>
                                          </p:spTgt>
                                        </p:tgtEl>
                                        <p:attrNameLst>
                                          <p:attrName>style.visibility</p:attrName>
                                        </p:attrNameLst>
                                      </p:cBhvr>
                                      <p:to>
                                        <p:strVal val="visible"/>
                                      </p:to>
                                    </p:set>
                                    <p:animEffect transition="in" filter="fade">
                                      <p:cBhvr>
                                        <p:cTn id="183" dur="450"/>
                                        <p:tgtEl>
                                          <p:spTgt spid="28">
                                            <p:txEl>
                                              <p:pRg st="0" end="0"/>
                                            </p:txEl>
                                          </p:spTgt>
                                        </p:tgtEl>
                                      </p:cBhvr>
                                    </p:animEffect>
                                  </p:childTnLst>
                                </p:cTn>
                              </p:par>
                              <p:par>
                                <p:cTn id="184" presetID="10" presetClass="entr" presetSubtype="0" grpId="0" fill="hold" nodeType="withEffect">
                                  <p:stCondLst>
                                    <p:cond delay="970"/>
                                  </p:stCondLst>
                                  <p:childTnLst>
                                    <p:set>
                                      <p:cBhvr>
                                        <p:cTn id="185" dur="1" fill="hold">
                                          <p:stCondLst>
                                            <p:cond delay="0"/>
                                          </p:stCondLst>
                                        </p:cTn>
                                        <p:tgtEl>
                                          <p:spTgt spid="28">
                                            <p:txEl>
                                              <p:pRg st="1" end="1"/>
                                            </p:txEl>
                                          </p:spTgt>
                                        </p:tgtEl>
                                        <p:attrNameLst>
                                          <p:attrName>style.visibility</p:attrName>
                                        </p:attrNameLst>
                                      </p:cBhvr>
                                      <p:to>
                                        <p:strVal val="visible"/>
                                      </p:to>
                                    </p:set>
                                    <p:animEffect transition="in" filter="fade">
                                      <p:cBhvr>
                                        <p:cTn id="186" dur="450"/>
                                        <p:tgtEl>
                                          <p:spTgt spid="28">
                                            <p:txEl>
                                              <p:pRg st="1" end="1"/>
                                            </p:txEl>
                                          </p:spTgt>
                                        </p:tgtEl>
                                      </p:cBhvr>
                                    </p:animEffect>
                                  </p:childTnLst>
                                </p:cTn>
                              </p:par>
                              <p:par>
                                <p:cTn id="187" presetID="22" presetClass="entr" presetSubtype="8" fill="hold" nodeType="withEffect">
                                  <p:stCondLst>
                                    <p:cond delay="660"/>
                                  </p:stCondLst>
                                  <p:childTnLst>
                                    <p:set>
                                      <p:cBhvr>
                                        <p:cTn id="188" dur="1" fill="hold">
                                          <p:stCondLst>
                                            <p:cond delay="0"/>
                                          </p:stCondLst>
                                        </p:cTn>
                                        <p:tgtEl>
                                          <p:spTgt spid="29"/>
                                        </p:tgtEl>
                                        <p:attrNameLst>
                                          <p:attrName>style.visibility</p:attrName>
                                        </p:attrNameLst>
                                      </p:cBhvr>
                                      <p:to>
                                        <p:strVal val="visible"/>
                                      </p:to>
                                    </p:set>
                                    <p:animEffect transition="in" filter="wipe(left)">
                                      <p:cBhvr>
                                        <p:cTn id="189" dur="500"/>
                                        <p:tgtEl>
                                          <p:spTgt spid="29"/>
                                        </p:tgtEl>
                                      </p:cBhvr>
                                    </p:animEffect>
                                  </p:childTnLst>
                                </p:cTn>
                              </p:par>
                              <p:par>
                                <p:cTn id="190" presetID="22" presetClass="entr" presetSubtype="8" fill="hold" nodeType="withEffect">
                                  <p:stCondLst>
                                    <p:cond delay="730"/>
                                  </p:stCondLst>
                                  <p:childTnLst>
                                    <p:set>
                                      <p:cBhvr>
                                        <p:cTn id="191" dur="1" fill="hold">
                                          <p:stCondLst>
                                            <p:cond delay="0"/>
                                          </p:stCondLst>
                                        </p:cTn>
                                        <p:tgtEl>
                                          <p:spTgt spid="25"/>
                                        </p:tgtEl>
                                        <p:attrNameLst>
                                          <p:attrName>style.visibility</p:attrName>
                                        </p:attrNameLst>
                                      </p:cBhvr>
                                      <p:to>
                                        <p:strVal val="visible"/>
                                      </p:to>
                                    </p:set>
                                    <p:animEffect transition="in" filter="wipe(left)">
                                      <p:cBhvr>
                                        <p:cTn id="192" dur="500"/>
                                        <p:tgtEl>
                                          <p:spTgt spid="25"/>
                                        </p:tgtEl>
                                      </p:cBhvr>
                                    </p:animEffect>
                                  </p:childTnLst>
                                </p:cTn>
                              </p:par>
                              <p:par>
                                <p:cTn id="193" presetID="10" presetClass="entr" presetSubtype="0" fill="hold" nodeType="withEffect">
                                  <p:stCondLst>
                                    <p:cond delay="580"/>
                                  </p:stCondLst>
                                  <p:childTnLst>
                                    <p:set>
                                      <p:cBhvr>
                                        <p:cTn id="194" dur="1" fill="hold">
                                          <p:stCondLst>
                                            <p:cond delay="0"/>
                                          </p:stCondLst>
                                        </p:cTn>
                                        <p:tgtEl>
                                          <p:spTgt spid="30"/>
                                        </p:tgtEl>
                                        <p:attrNameLst>
                                          <p:attrName>style.visibility</p:attrName>
                                        </p:attrNameLst>
                                      </p:cBhvr>
                                      <p:to>
                                        <p:strVal val="visible"/>
                                      </p:to>
                                    </p:set>
                                    <p:animEffect transition="in" filter="fade">
                                      <p:cBhvr>
                                        <p:cTn id="195" dur="450"/>
                                        <p:tgtEl>
                                          <p:spTgt spid="30"/>
                                        </p:tgtEl>
                                      </p:cBhvr>
                                    </p:animEffect>
                                  </p:childTnLst>
                                </p:cTn>
                              </p:par>
                            </p:childTnLst>
                          </p:cTn>
                        </p:par>
                      </p:childTnLst>
                    </p:cTn>
                  </p:par>
                  <p:par>
                    <p:cTn id="196" fill="hold">
                      <p:stCondLst>
                        <p:cond delay="indefinite"/>
                      </p:stCondLst>
                      <p:childTnLst>
                        <p:par>
                          <p:cTn id="197" fill="hold">
                            <p:stCondLst>
                              <p:cond delay="0"/>
                            </p:stCondLst>
                            <p:childTnLst>
                              <p:par>
                                <p:cTn id="198" presetID="10" presetClass="exit" presetSubtype="0" fill="hold" nodeType="clickEffect">
                                  <p:stCondLst>
                                    <p:cond delay="0"/>
                                  </p:stCondLst>
                                  <p:childTnLst>
                                    <p:animEffect transition="out" filter="fade">
                                      <p:cBhvr>
                                        <p:cTn id="199" dur="350"/>
                                        <p:tgtEl>
                                          <p:spTgt spid="24"/>
                                        </p:tgtEl>
                                      </p:cBhvr>
                                    </p:animEffect>
                                    <p:set>
                                      <p:cBhvr>
                                        <p:cTn id="200" dur="1" fill="hold">
                                          <p:stCondLst>
                                            <p:cond delay="349"/>
                                          </p:stCondLst>
                                        </p:cTn>
                                        <p:tgtEl>
                                          <p:spTgt spid="24"/>
                                        </p:tgtEl>
                                        <p:attrNameLst>
                                          <p:attrName>style.visibility</p:attrName>
                                        </p:attrNameLst>
                                      </p:cBhvr>
                                      <p:to>
                                        <p:strVal val="hidden"/>
                                      </p:to>
                                    </p:set>
                                  </p:childTnLst>
                                </p:cTn>
                              </p:par>
                              <p:par>
                                <p:cTn id="201" presetID="10" presetClass="exit" presetSubtype="0" fill="hold" nodeType="withEffect">
                                  <p:stCondLst>
                                    <p:cond delay="0"/>
                                  </p:stCondLst>
                                  <p:childTnLst>
                                    <p:animEffect transition="out" filter="fade">
                                      <p:cBhvr>
                                        <p:cTn id="202" dur="350"/>
                                        <p:tgtEl>
                                          <p:spTgt spid="25"/>
                                        </p:tgtEl>
                                      </p:cBhvr>
                                    </p:animEffect>
                                    <p:set>
                                      <p:cBhvr>
                                        <p:cTn id="203" dur="1" fill="hold">
                                          <p:stCondLst>
                                            <p:cond delay="349"/>
                                          </p:stCondLst>
                                        </p:cTn>
                                        <p:tgtEl>
                                          <p:spTgt spid="25"/>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350"/>
                                        <p:tgtEl>
                                          <p:spTgt spid="26"/>
                                        </p:tgtEl>
                                      </p:cBhvr>
                                    </p:animEffect>
                                    <p:set>
                                      <p:cBhvr>
                                        <p:cTn id="206" dur="1" fill="hold">
                                          <p:stCondLst>
                                            <p:cond delay="349"/>
                                          </p:stCondLst>
                                        </p:cTn>
                                        <p:tgtEl>
                                          <p:spTgt spid="26"/>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350"/>
                                        <p:tgtEl>
                                          <p:spTgt spid="27"/>
                                        </p:tgtEl>
                                      </p:cBhvr>
                                    </p:animEffect>
                                    <p:set>
                                      <p:cBhvr>
                                        <p:cTn id="209" dur="1" fill="hold">
                                          <p:stCondLst>
                                            <p:cond delay="349"/>
                                          </p:stCondLst>
                                        </p:cTn>
                                        <p:tgtEl>
                                          <p:spTgt spid="27"/>
                                        </p:tgtEl>
                                        <p:attrNameLst>
                                          <p:attrName>style.visibility</p:attrName>
                                        </p:attrNameLst>
                                      </p:cBhvr>
                                      <p:to>
                                        <p:strVal val="hidden"/>
                                      </p:to>
                                    </p:set>
                                  </p:childTnLst>
                                </p:cTn>
                              </p:par>
                              <p:par>
                                <p:cTn id="210" presetID="10" presetClass="exit" presetSubtype="0" grpId="0" fill="hold" nodeType="withEffect">
                                  <p:stCondLst>
                                    <p:cond delay="0"/>
                                  </p:stCondLst>
                                  <p:childTnLst>
                                    <p:animEffect transition="out" filter="fade">
                                      <p:cBhvr>
                                        <p:cTn id="211" dur="350"/>
                                        <p:tgtEl>
                                          <p:spTgt spid="28">
                                            <p:txEl>
                                              <p:pRg st="0" end="0"/>
                                            </p:txEl>
                                          </p:spTgt>
                                        </p:tgtEl>
                                      </p:cBhvr>
                                    </p:animEffect>
                                    <p:set>
                                      <p:cBhvr>
                                        <p:cTn id="212" dur="1" fill="hold">
                                          <p:stCondLst>
                                            <p:cond delay="349"/>
                                          </p:stCondLst>
                                        </p:cTn>
                                        <p:tgtEl>
                                          <p:spTgt spid="28">
                                            <p:txEl>
                                              <p:pRg st="0" end="0"/>
                                            </p:txEl>
                                          </p:spTgt>
                                        </p:tgtEl>
                                        <p:attrNameLst>
                                          <p:attrName>style.visibility</p:attrName>
                                        </p:attrNameLst>
                                      </p:cBhvr>
                                      <p:to>
                                        <p:strVal val="hidden"/>
                                      </p:to>
                                    </p:set>
                                  </p:childTnLst>
                                </p:cTn>
                              </p:par>
                              <p:par>
                                <p:cTn id="213" presetID="10" presetClass="exit" presetSubtype="0" grpId="0" fill="hold" nodeType="withEffect">
                                  <p:stCondLst>
                                    <p:cond delay="0"/>
                                  </p:stCondLst>
                                  <p:childTnLst>
                                    <p:animEffect transition="out" filter="fade">
                                      <p:cBhvr>
                                        <p:cTn id="214" dur="350"/>
                                        <p:tgtEl>
                                          <p:spTgt spid="28">
                                            <p:txEl>
                                              <p:pRg st="1" end="1"/>
                                            </p:txEl>
                                          </p:spTgt>
                                        </p:tgtEl>
                                      </p:cBhvr>
                                    </p:animEffect>
                                    <p:set>
                                      <p:cBhvr>
                                        <p:cTn id="215" dur="1" fill="hold">
                                          <p:stCondLst>
                                            <p:cond delay="349"/>
                                          </p:stCondLst>
                                        </p:cTn>
                                        <p:tgtEl>
                                          <p:spTgt spid="28">
                                            <p:txEl>
                                              <p:pRg st="1" end="1"/>
                                            </p:txEl>
                                          </p:spTgt>
                                        </p:tgtEl>
                                        <p:attrNameLst>
                                          <p:attrName>style.visibility</p:attrName>
                                        </p:attrNameLst>
                                      </p:cBhvr>
                                      <p:to>
                                        <p:strVal val="hidden"/>
                                      </p:to>
                                    </p:set>
                                  </p:childTnLst>
                                </p:cTn>
                              </p:par>
                              <p:par>
                                <p:cTn id="216" presetID="10" presetClass="exit" presetSubtype="0" fill="hold" nodeType="withEffect">
                                  <p:stCondLst>
                                    <p:cond delay="0"/>
                                  </p:stCondLst>
                                  <p:childTnLst>
                                    <p:animEffect transition="out" filter="fade">
                                      <p:cBhvr>
                                        <p:cTn id="217" dur="350"/>
                                        <p:tgtEl>
                                          <p:spTgt spid="29"/>
                                        </p:tgtEl>
                                      </p:cBhvr>
                                    </p:animEffect>
                                    <p:set>
                                      <p:cBhvr>
                                        <p:cTn id="218" dur="1" fill="hold">
                                          <p:stCondLst>
                                            <p:cond delay="349"/>
                                          </p:stCondLst>
                                        </p:cTn>
                                        <p:tgtEl>
                                          <p:spTgt spid="29"/>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350"/>
                                        <p:tgtEl>
                                          <p:spTgt spid="30"/>
                                        </p:tgtEl>
                                      </p:cBhvr>
                                    </p:animEffect>
                                    <p:set>
                                      <p:cBhvr>
                                        <p:cTn id="221" dur="1" fill="hold">
                                          <p:stCondLst>
                                            <p:cond delay="349"/>
                                          </p:stCondLst>
                                        </p:cTn>
                                        <p:tgtEl>
                                          <p:spTgt spid="30"/>
                                        </p:tgtEl>
                                        <p:attrNameLst>
                                          <p:attrName>style.visibility</p:attrName>
                                        </p:attrNameLst>
                                      </p:cBhvr>
                                      <p:to>
                                        <p:strVal val="hidden"/>
                                      </p:to>
                                    </p:set>
                                  </p:childTnLst>
                                </p:cTn>
                              </p:par>
                              <p:par>
                                <p:cTn id="222" presetID="10" presetClass="entr" presetSubtype="0" fill="hold" nodeType="withEffect">
                                  <p:stCondLst>
                                    <p:cond delay="450"/>
                                  </p:stCondLst>
                                  <p:childTnLst>
                                    <p:set>
                                      <p:cBhvr>
                                        <p:cTn id="223" dur="1" fill="hold">
                                          <p:stCondLst>
                                            <p:cond delay="0"/>
                                          </p:stCondLst>
                                        </p:cTn>
                                        <p:tgtEl>
                                          <p:spTgt spid="31"/>
                                        </p:tgtEl>
                                        <p:attrNameLst>
                                          <p:attrName>style.visibility</p:attrName>
                                        </p:attrNameLst>
                                      </p:cBhvr>
                                      <p:to>
                                        <p:strVal val="visible"/>
                                      </p:to>
                                    </p:set>
                                    <p:animEffect transition="in" filter="fade">
                                      <p:cBhvr>
                                        <p:cTn id="224" dur="450"/>
                                        <p:tgtEl>
                                          <p:spTgt spid="31"/>
                                        </p:tgtEl>
                                      </p:cBhvr>
                                    </p:animEffect>
                                  </p:childTnLst>
                                </p:cTn>
                              </p:par>
                              <p:par>
                                <p:cTn id="225" presetID="10" presetClass="entr" presetSubtype="0" fill="hold" nodeType="withEffect">
                                  <p:stCondLst>
                                    <p:cond delay="520"/>
                                  </p:stCondLst>
                                  <p:childTnLst>
                                    <p:set>
                                      <p:cBhvr>
                                        <p:cTn id="226" dur="1" fill="hold">
                                          <p:stCondLst>
                                            <p:cond delay="0"/>
                                          </p:stCondLst>
                                        </p:cTn>
                                        <p:tgtEl>
                                          <p:spTgt spid="32"/>
                                        </p:tgtEl>
                                        <p:attrNameLst>
                                          <p:attrName>style.visibility</p:attrName>
                                        </p:attrNameLst>
                                      </p:cBhvr>
                                      <p:to>
                                        <p:strVal val="visible"/>
                                      </p:to>
                                    </p:set>
                                    <p:animEffect transition="in" filter="fade">
                                      <p:cBhvr>
                                        <p:cTn id="227" dur="450"/>
                                        <p:tgtEl>
                                          <p:spTgt spid="32"/>
                                        </p:tgtEl>
                                      </p:cBhvr>
                                    </p:animEffect>
                                  </p:childTnLst>
                                </p:cTn>
                              </p:par>
                              <p:par>
                                <p:cTn id="228" presetID="22" presetClass="entr" presetSubtype="4" fill="hold" nodeType="withEffect">
                                  <p:stCondLst>
                                    <p:cond delay="590"/>
                                  </p:stCondLst>
                                  <p:childTnLst>
                                    <p:set>
                                      <p:cBhvr>
                                        <p:cTn id="229" dur="1" fill="hold">
                                          <p:stCondLst>
                                            <p:cond delay="0"/>
                                          </p:stCondLst>
                                        </p:cTn>
                                        <p:tgtEl>
                                          <p:spTgt spid="33"/>
                                        </p:tgtEl>
                                        <p:attrNameLst>
                                          <p:attrName>style.visibility</p:attrName>
                                        </p:attrNameLst>
                                      </p:cBhvr>
                                      <p:to>
                                        <p:strVal val="visible"/>
                                      </p:to>
                                    </p:set>
                                    <p:animEffect transition="in" filter="wipe(down)">
                                      <p:cBhvr>
                                        <p:cTn id="230" dur="500"/>
                                        <p:tgtEl>
                                          <p:spTgt spid="33"/>
                                        </p:tgtEl>
                                      </p:cBhvr>
                                    </p:animEffect>
                                  </p:childTnLst>
                                </p:cTn>
                              </p:par>
                              <p:par>
                                <p:cTn id="231" presetID="10" presetClass="entr" presetSubtype="0" fill="hold" nodeType="withEffect">
                                  <p:stCondLst>
                                    <p:cond delay="660"/>
                                  </p:stCondLst>
                                  <p:childTnLst>
                                    <p:set>
                                      <p:cBhvr>
                                        <p:cTn id="232" dur="1" fill="hold">
                                          <p:stCondLst>
                                            <p:cond delay="0"/>
                                          </p:stCondLst>
                                        </p:cTn>
                                        <p:tgtEl>
                                          <p:spTgt spid="34"/>
                                        </p:tgtEl>
                                        <p:attrNameLst>
                                          <p:attrName>style.visibility</p:attrName>
                                        </p:attrNameLst>
                                      </p:cBhvr>
                                      <p:to>
                                        <p:strVal val="visible"/>
                                      </p:to>
                                    </p:set>
                                    <p:animEffect transition="in" filter="fade">
                                      <p:cBhvr>
                                        <p:cTn id="233" dur="450"/>
                                        <p:tgtEl>
                                          <p:spTgt spid="34"/>
                                        </p:tgtEl>
                                      </p:cBhvr>
                                    </p:animEffect>
                                  </p:childTnLst>
                                </p:cTn>
                              </p:par>
                              <p:par>
                                <p:cTn id="234" presetID="10" presetClass="entr" presetSubtype="0" grpId="0" fill="hold" nodeType="withEffect">
                                  <p:stCondLst>
                                    <p:cond delay="730"/>
                                  </p:stCondLst>
                                  <p:childTnLst>
                                    <p:set>
                                      <p:cBhvr>
                                        <p:cTn id="235" dur="1" fill="hold">
                                          <p:stCondLst>
                                            <p:cond delay="0"/>
                                          </p:stCondLst>
                                        </p:cTn>
                                        <p:tgtEl>
                                          <p:spTgt spid="35">
                                            <p:txEl>
                                              <p:pRg st="0" end="0"/>
                                            </p:txEl>
                                          </p:spTgt>
                                        </p:tgtEl>
                                        <p:attrNameLst>
                                          <p:attrName>style.visibility</p:attrName>
                                        </p:attrNameLst>
                                      </p:cBhvr>
                                      <p:to>
                                        <p:strVal val="visible"/>
                                      </p:to>
                                    </p:set>
                                    <p:animEffect transition="in" filter="fade">
                                      <p:cBhvr>
                                        <p:cTn id="236" dur="450"/>
                                        <p:tgtEl>
                                          <p:spTgt spid="35">
                                            <p:txEl>
                                              <p:pRg st="0" end="0"/>
                                            </p:txEl>
                                          </p:spTgt>
                                        </p:tgtEl>
                                      </p:cBhvr>
                                    </p:animEffect>
                                  </p:childTnLst>
                                </p:cTn>
                              </p:par>
                              <p:par>
                                <p:cTn id="237" presetID="10" presetClass="entr" presetSubtype="0" grpId="0" fill="hold" nodeType="withEffect">
                                  <p:stCondLst>
                                    <p:cond delay="990"/>
                                  </p:stCondLst>
                                  <p:childTnLst>
                                    <p:set>
                                      <p:cBhvr>
                                        <p:cTn id="238" dur="1" fill="hold">
                                          <p:stCondLst>
                                            <p:cond delay="0"/>
                                          </p:stCondLst>
                                        </p:cTn>
                                        <p:tgtEl>
                                          <p:spTgt spid="35">
                                            <p:txEl>
                                              <p:pRg st="1" end="1"/>
                                            </p:txEl>
                                          </p:spTgt>
                                        </p:tgtEl>
                                        <p:attrNameLst>
                                          <p:attrName>style.visibility</p:attrName>
                                        </p:attrNameLst>
                                      </p:cBhvr>
                                      <p:to>
                                        <p:strVal val="visible"/>
                                      </p:to>
                                    </p:set>
                                    <p:animEffect transition="in" filter="fade">
                                      <p:cBhvr>
                                        <p:cTn id="239" dur="450"/>
                                        <p:tgtEl>
                                          <p:spTgt spid="35">
                                            <p:txEl>
                                              <p:pRg st="1" end="1"/>
                                            </p:txEl>
                                          </p:spTgt>
                                        </p:tgtEl>
                                      </p:cBhvr>
                                    </p:animEffect>
                                  </p:childTnLst>
                                </p:cTn>
                              </p:par>
                              <p:par>
                                <p:cTn id="240" presetID="10" presetClass="entr" presetSubtype="0" grpId="0" fill="hold" nodeType="withEffect">
                                  <p:stCondLst>
                                    <p:cond delay="1250"/>
                                  </p:stCondLst>
                                  <p:childTnLst>
                                    <p:set>
                                      <p:cBhvr>
                                        <p:cTn id="241" dur="1" fill="hold">
                                          <p:stCondLst>
                                            <p:cond delay="0"/>
                                          </p:stCondLst>
                                        </p:cTn>
                                        <p:tgtEl>
                                          <p:spTgt spid="35">
                                            <p:txEl>
                                              <p:pRg st="2" end="2"/>
                                            </p:txEl>
                                          </p:spTgt>
                                        </p:tgtEl>
                                        <p:attrNameLst>
                                          <p:attrName>style.visibility</p:attrName>
                                        </p:attrNameLst>
                                      </p:cBhvr>
                                      <p:to>
                                        <p:strVal val="visible"/>
                                      </p:to>
                                    </p:set>
                                    <p:animEffect transition="in" filter="fade">
                                      <p:cBhvr>
                                        <p:cTn id="242" dur="450"/>
                                        <p:tgtEl>
                                          <p:spTgt spid="35">
                                            <p:txEl>
                                              <p:pRg st="2" end="2"/>
                                            </p:txEl>
                                          </p:spTgt>
                                        </p:tgtEl>
                                      </p:cBhvr>
                                    </p:animEffect>
                                  </p:childTnLst>
                                </p:cTn>
                              </p:par>
                              <p:par>
                                <p:cTn id="243" presetID="10" presetClass="entr" presetSubtype="0" grpId="0" fill="hold" nodeType="withEffect">
                                  <p:stCondLst>
                                    <p:cond delay="1510"/>
                                  </p:stCondLst>
                                  <p:childTnLst>
                                    <p:set>
                                      <p:cBhvr>
                                        <p:cTn id="244" dur="1" fill="hold">
                                          <p:stCondLst>
                                            <p:cond delay="0"/>
                                          </p:stCondLst>
                                        </p:cTn>
                                        <p:tgtEl>
                                          <p:spTgt spid="35">
                                            <p:txEl>
                                              <p:pRg st="3" end="3"/>
                                            </p:txEl>
                                          </p:spTgt>
                                        </p:tgtEl>
                                        <p:attrNameLst>
                                          <p:attrName>style.visibility</p:attrName>
                                        </p:attrNameLst>
                                      </p:cBhvr>
                                      <p:to>
                                        <p:strVal val="visible"/>
                                      </p:to>
                                    </p:set>
                                    <p:animEffect transition="in" filter="fade">
                                      <p:cBhvr>
                                        <p:cTn id="245" dur="450"/>
                                        <p:tgtEl>
                                          <p:spTgt spid="35">
                                            <p:txEl>
                                              <p:pRg st="3" end="3"/>
                                            </p:txEl>
                                          </p:spTgt>
                                        </p:tgtEl>
                                      </p:cBhvr>
                                    </p:animEffect>
                                  </p:childTnLst>
                                </p:cTn>
                              </p:par>
                              <p:par>
                                <p:cTn id="246" presetID="10" presetClass="entr" presetSubtype="0" grpId="0" fill="hold" nodeType="withEffect">
                                  <p:stCondLst>
                                    <p:cond delay="1770"/>
                                  </p:stCondLst>
                                  <p:childTnLst>
                                    <p:set>
                                      <p:cBhvr>
                                        <p:cTn id="247" dur="1" fill="hold">
                                          <p:stCondLst>
                                            <p:cond delay="0"/>
                                          </p:stCondLst>
                                        </p:cTn>
                                        <p:tgtEl>
                                          <p:spTgt spid="35">
                                            <p:txEl>
                                              <p:pRg st="4" end="4"/>
                                            </p:txEl>
                                          </p:spTgt>
                                        </p:tgtEl>
                                        <p:attrNameLst>
                                          <p:attrName>style.visibility</p:attrName>
                                        </p:attrNameLst>
                                      </p:cBhvr>
                                      <p:to>
                                        <p:strVal val="visible"/>
                                      </p:to>
                                    </p:set>
                                    <p:animEffect transition="in" filter="fade">
                                      <p:cBhvr>
                                        <p:cTn id="248" dur="450"/>
                                        <p:tgtEl>
                                          <p:spTgt spid="35">
                                            <p:txEl>
                                              <p:pRg st="4" end="4"/>
                                            </p:txEl>
                                          </p:spTgt>
                                        </p:tgtEl>
                                      </p:cBhvr>
                                    </p:animEffect>
                                  </p:childTnLst>
                                </p:cTn>
                              </p:par>
                              <p:par>
                                <p:cTn id="249" presetID="10" presetClass="entr" presetSubtype="0" fill="hold" nodeType="withEffect">
                                  <p:stCondLst>
                                    <p:cond delay="800"/>
                                  </p:stCondLst>
                                  <p:childTnLst>
                                    <p:set>
                                      <p:cBhvr>
                                        <p:cTn id="250" dur="1" fill="hold">
                                          <p:stCondLst>
                                            <p:cond delay="0"/>
                                          </p:stCondLst>
                                        </p:cTn>
                                        <p:tgtEl>
                                          <p:spTgt spid="36"/>
                                        </p:tgtEl>
                                        <p:attrNameLst>
                                          <p:attrName>style.visibility</p:attrName>
                                        </p:attrNameLst>
                                      </p:cBhvr>
                                      <p:to>
                                        <p:strVal val="visible"/>
                                      </p:to>
                                    </p:set>
                                    <p:animEffect transition="in" filter="fade">
                                      <p:cBhvr>
                                        <p:cTn id="251" dur="450"/>
                                        <p:tgtEl>
                                          <p:spTgt spid="36"/>
                                        </p:tgtEl>
                                      </p:cBhvr>
                                    </p:animEffect>
                                  </p:childTnLst>
                                </p:cTn>
                              </p:par>
                              <p:par>
                                <p:cTn id="252" presetID="22" presetClass="entr" presetSubtype="4" fill="hold" nodeType="withEffect">
                                  <p:stCondLst>
                                    <p:cond delay="870"/>
                                  </p:stCondLst>
                                  <p:childTnLst>
                                    <p:set>
                                      <p:cBhvr>
                                        <p:cTn id="253" dur="1" fill="hold">
                                          <p:stCondLst>
                                            <p:cond delay="0"/>
                                          </p:stCondLst>
                                        </p:cTn>
                                        <p:tgtEl>
                                          <p:spTgt spid="37"/>
                                        </p:tgtEl>
                                        <p:attrNameLst>
                                          <p:attrName>style.visibility</p:attrName>
                                        </p:attrNameLst>
                                      </p:cBhvr>
                                      <p:to>
                                        <p:strVal val="visible"/>
                                      </p:to>
                                    </p:set>
                                    <p:animEffect transition="in" filter="wipe(down)">
                                      <p:cBhvr>
                                        <p:cTn id="254" dur="500"/>
                                        <p:tgtEl>
                                          <p:spTgt spid="37"/>
                                        </p:tgtEl>
                                      </p:cBhvr>
                                    </p:animEffect>
                                  </p:childTnLst>
                                </p:cTn>
                              </p:par>
                              <p:par>
                                <p:cTn id="255" presetID="10" presetClass="entr" presetSubtype="0" fill="hold" nodeType="withEffect">
                                  <p:stCondLst>
                                    <p:cond delay="940"/>
                                  </p:stCondLst>
                                  <p:childTnLst>
                                    <p:set>
                                      <p:cBhvr>
                                        <p:cTn id="256" dur="1" fill="hold">
                                          <p:stCondLst>
                                            <p:cond delay="0"/>
                                          </p:stCondLst>
                                        </p:cTn>
                                        <p:tgtEl>
                                          <p:spTgt spid="38"/>
                                        </p:tgtEl>
                                        <p:attrNameLst>
                                          <p:attrName>style.visibility</p:attrName>
                                        </p:attrNameLst>
                                      </p:cBhvr>
                                      <p:to>
                                        <p:strVal val="visible"/>
                                      </p:to>
                                    </p:set>
                                    <p:animEffect transition="in" filter="fade">
                                      <p:cBhvr>
                                        <p:cTn id="257" dur="450"/>
                                        <p:tgtEl>
                                          <p:spTgt spid="38"/>
                                        </p:tgtEl>
                                      </p:cBhvr>
                                    </p:animEffect>
                                  </p:childTnLst>
                                </p:cTn>
                              </p:par>
                              <p:par>
                                <p:cTn id="258" presetID="10" presetClass="entr" presetSubtype="0" grpId="0" fill="hold" nodeType="withEffect">
                                  <p:stCondLst>
                                    <p:cond delay="1010"/>
                                  </p:stCondLst>
                                  <p:childTnLst>
                                    <p:set>
                                      <p:cBhvr>
                                        <p:cTn id="259" dur="1" fill="hold">
                                          <p:stCondLst>
                                            <p:cond delay="0"/>
                                          </p:stCondLst>
                                        </p:cTn>
                                        <p:tgtEl>
                                          <p:spTgt spid="39">
                                            <p:txEl>
                                              <p:pRg st="0" end="0"/>
                                            </p:txEl>
                                          </p:spTgt>
                                        </p:tgtEl>
                                        <p:attrNameLst>
                                          <p:attrName>style.visibility</p:attrName>
                                        </p:attrNameLst>
                                      </p:cBhvr>
                                      <p:to>
                                        <p:strVal val="visible"/>
                                      </p:to>
                                    </p:set>
                                    <p:animEffect transition="in" filter="fade">
                                      <p:cBhvr>
                                        <p:cTn id="260" dur="450"/>
                                        <p:tgtEl>
                                          <p:spTgt spid="39">
                                            <p:txEl>
                                              <p:pRg st="0" end="0"/>
                                            </p:txEl>
                                          </p:spTgt>
                                        </p:tgtEl>
                                      </p:cBhvr>
                                    </p:animEffect>
                                  </p:childTnLst>
                                </p:cTn>
                              </p:par>
                              <p:par>
                                <p:cTn id="261" presetID="10" presetClass="entr" presetSubtype="0" grpId="0" fill="hold" nodeType="withEffect">
                                  <p:stCondLst>
                                    <p:cond delay="1335"/>
                                  </p:stCondLst>
                                  <p:childTnLst>
                                    <p:set>
                                      <p:cBhvr>
                                        <p:cTn id="262" dur="1" fill="hold">
                                          <p:stCondLst>
                                            <p:cond delay="0"/>
                                          </p:stCondLst>
                                        </p:cTn>
                                        <p:tgtEl>
                                          <p:spTgt spid="39">
                                            <p:txEl>
                                              <p:pRg st="1" end="1"/>
                                            </p:txEl>
                                          </p:spTgt>
                                        </p:tgtEl>
                                        <p:attrNameLst>
                                          <p:attrName>style.visibility</p:attrName>
                                        </p:attrNameLst>
                                      </p:cBhvr>
                                      <p:to>
                                        <p:strVal val="visible"/>
                                      </p:to>
                                    </p:set>
                                    <p:animEffect transition="in" filter="fade">
                                      <p:cBhvr>
                                        <p:cTn id="263" dur="450"/>
                                        <p:tgtEl>
                                          <p:spTgt spid="39">
                                            <p:txEl>
                                              <p:pRg st="1" end="1"/>
                                            </p:txEl>
                                          </p:spTgt>
                                        </p:tgtEl>
                                      </p:cBhvr>
                                    </p:animEffect>
                                  </p:childTnLst>
                                </p:cTn>
                              </p:par>
                              <p:par>
                                <p:cTn id="264" presetID="10" presetClass="entr" presetSubtype="0" grpId="0" fill="hold" nodeType="withEffect">
                                  <p:stCondLst>
                                    <p:cond delay="1660"/>
                                  </p:stCondLst>
                                  <p:childTnLst>
                                    <p:set>
                                      <p:cBhvr>
                                        <p:cTn id="265" dur="1" fill="hold">
                                          <p:stCondLst>
                                            <p:cond delay="0"/>
                                          </p:stCondLst>
                                        </p:cTn>
                                        <p:tgtEl>
                                          <p:spTgt spid="39">
                                            <p:txEl>
                                              <p:pRg st="2" end="2"/>
                                            </p:txEl>
                                          </p:spTgt>
                                        </p:tgtEl>
                                        <p:attrNameLst>
                                          <p:attrName>style.visibility</p:attrName>
                                        </p:attrNameLst>
                                      </p:cBhvr>
                                      <p:to>
                                        <p:strVal val="visible"/>
                                      </p:to>
                                    </p:set>
                                    <p:animEffect transition="in" filter="fade">
                                      <p:cBhvr>
                                        <p:cTn id="266" dur="450"/>
                                        <p:tgtEl>
                                          <p:spTgt spid="39">
                                            <p:txEl>
                                              <p:pRg st="2" end="2"/>
                                            </p:txEl>
                                          </p:spTgt>
                                        </p:tgtEl>
                                      </p:cBhvr>
                                    </p:animEffect>
                                  </p:childTnLst>
                                </p:cTn>
                              </p:par>
                              <p:par>
                                <p:cTn id="267" presetID="10" presetClass="entr" presetSubtype="0" grpId="0" fill="hold" nodeType="withEffect">
                                  <p:stCondLst>
                                    <p:cond delay="1985"/>
                                  </p:stCondLst>
                                  <p:childTnLst>
                                    <p:set>
                                      <p:cBhvr>
                                        <p:cTn id="268" dur="1" fill="hold">
                                          <p:stCondLst>
                                            <p:cond delay="0"/>
                                          </p:stCondLst>
                                        </p:cTn>
                                        <p:tgtEl>
                                          <p:spTgt spid="39">
                                            <p:txEl>
                                              <p:pRg st="3" end="3"/>
                                            </p:txEl>
                                          </p:spTgt>
                                        </p:tgtEl>
                                        <p:attrNameLst>
                                          <p:attrName>style.visibility</p:attrName>
                                        </p:attrNameLst>
                                      </p:cBhvr>
                                      <p:to>
                                        <p:strVal val="visible"/>
                                      </p:to>
                                    </p:set>
                                    <p:animEffect transition="in" filter="fade">
                                      <p:cBhvr>
                                        <p:cTn id="269" dur="450"/>
                                        <p:tgtEl>
                                          <p:spTgt spid="39">
                                            <p:txEl>
                                              <p:pRg st="3" end="3"/>
                                            </p:txEl>
                                          </p:spTgt>
                                        </p:tgtEl>
                                      </p:cBhvr>
                                    </p:animEffect>
                                  </p:childTnLst>
                                </p:cTn>
                              </p:par>
                              <p:par>
                                <p:cTn id="270" presetID="10" presetClass="entr" presetSubtype="0" fill="hold" nodeType="withEffect">
                                  <p:stCondLst>
                                    <p:cond delay="1080"/>
                                  </p:stCondLst>
                                  <p:childTnLst>
                                    <p:set>
                                      <p:cBhvr>
                                        <p:cTn id="271" dur="1" fill="hold">
                                          <p:stCondLst>
                                            <p:cond delay="0"/>
                                          </p:stCondLst>
                                        </p:cTn>
                                        <p:tgtEl>
                                          <p:spTgt spid="40"/>
                                        </p:tgtEl>
                                        <p:attrNameLst>
                                          <p:attrName>style.visibility</p:attrName>
                                        </p:attrNameLst>
                                      </p:cBhvr>
                                      <p:to>
                                        <p:strVal val="visible"/>
                                      </p:to>
                                    </p:set>
                                    <p:animEffect transition="in" filter="fade">
                                      <p:cBhvr>
                                        <p:cTn id="272" dur="450"/>
                                        <p:tgtEl>
                                          <p:spTgt spid="40"/>
                                        </p:tgtEl>
                                      </p:cBhvr>
                                    </p:animEffect>
                                  </p:childTnLst>
                                </p:cTn>
                              </p:par>
                              <p:par>
                                <p:cTn id="273" presetID="22" presetClass="entr" presetSubtype="4" fill="hold" nodeType="withEffect">
                                  <p:stCondLst>
                                    <p:cond delay="1080"/>
                                  </p:stCondLst>
                                  <p:childTnLst>
                                    <p:set>
                                      <p:cBhvr>
                                        <p:cTn id="274" dur="1" fill="hold">
                                          <p:stCondLst>
                                            <p:cond delay="0"/>
                                          </p:stCondLst>
                                        </p:cTn>
                                        <p:tgtEl>
                                          <p:spTgt spid="41"/>
                                        </p:tgtEl>
                                        <p:attrNameLst>
                                          <p:attrName>style.visibility</p:attrName>
                                        </p:attrNameLst>
                                      </p:cBhvr>
                                      <p:to>
                                        <p:strVal val="visible"/>
                                      </p:to>
                                    </p:set>
                                    <p:animEffect transition="in" filter="wipe(down)">
                                      <p:cBhvr>
                                        <p:cTn id="275" dur="500"/>
                                        <p:tgtEl>
                                          <p:spTgt spid="41"/>
                                        </p:tgtEl>
                                      </p:cBhvr>
                                    </p:animEffect>
                                  </p:childTnLst>
                                </p:cTn>
                              </p:par>
                              <p:par>
                                <p:cTn id="276" presetID="10" presetClass="entr" presetSubtype="0" fill="hold" nodeType="withEffect">
                                  <p:stCondLst>
                                    <p:cond delay="1150"/>
                                  </p:stCondLst>
                                  <p:childTnLst>
                                    <p:set>
                                      <p:cBhvr>
                                        <p:cTn id="277" dur="1" fill="hold">
                                          <p:stCondLst>
                                            <p:cond delay="0"/>
                                          </p:stCondLst>
                                        </p:cTn>
                                        <p:tgtEl>
                                          <p:spTgt spid="42"/>
                                        </p:tgtEl>
                                        <p:attrNameLst>
                                          <p:attrName>style.visibility</p:attrName>
                                        </p:attrNameLst>
                                      </p:cBhvr>
                                      <p:to>
                                        <p:strVal val="visible"/>
                                      </p:to>
                                    </p:set>
                                    <p:animEffect transition="in" filter="fade">
                                      <p:cBhvr>
                                        <p:cTn id="278" dur="450"/>
                                        <p:tgtEl>
                                          <p:spTgt spid="42"/>
                                        </p:tgtEl>
                                      </p:cBhvr>
                                    </p:animEffect>
                                  </p:childTnLst>
                                </p:cTn>
                              </p:par>
                              <p:par>
                                <p:cTn id="279" presetID="22" presetClass="entr" presetSubtype="4" fill="hold" nodeType="withEffect">
                                  <p:stCondLst>
                                    <p:cond delay="1150"/>
                                  </p:stCondLst>
                                  <p:childTnLst>
                                    <p:set>
                                      <p:cBhvr>
                                        <p:cTn id="280" dur="1" fill="hold">
                                          <p:stCondLst>
                                            <p:cond delay="0"/>
                                          </p:stCondLst>
                                        </p:cTn>
                                        <p:tgtEl>
                                          <p:spTgt spid="43"/>
                                        </p:tgtEl>
                                        <p:attrNameLst>
                                          <p:attrName>style.visibility</p:attrName>
                                        </p:attrNameLst>
                                      </p:cBhvr>
                                      <p:to>
                                        <p:strVal val="visible"/>
                                      </p:to>
                                    </p:set>
                                    <p:animEffect transition="in" filter="wipe(down)">
                                      <p:cBhvr>
                                        <p:cTn id="281" dur="500"/>
                                        <p:tgtEl>
                                          <p:spTgt spid="43"/>
                                        </p:tgtEl>
                                      </p:cBhvr>
                                    </p:animEffect>
                                  </p:childTnLst>
                                </p:cTn>
                              </p:par>
                              <p:par>
                                <p:cTn id="282" presetID="10" presetClass="entr" presetSubtype="0" fill="hold" nodeType="withEffect">
                                  <p:stCondLst>
                                    <p:cond delay="1220"/>
                                  </p:stCondLst>
                                  <p:childTnLst>
                                    <p:set>
                                      <p:cBhvr>
                                        <p:cTn id="283" dur="1" fill="hold">
                                          <p:stCondLst>
                                            <p:cond delay="0"/>
                                          </p:stCondLst>
                                        </p:cTn>
                                        <p:tgtEl>
                                          <p:spTgt spid="44"/>
                                        </p:tgtEl>
                                        <p:attrNameLst>
                                          <p:attrName>style.visibility</p:attrName>
                                        </p:attrNameLst>
                                      </p:cBhvr>
                                      <p:to>
                                        <p:strVal val="visible"/>
                                      </p:to>
                                    </p:set>
                                    <p:animEffect transition="in" filter="fade">
                                      <p:cBhvr>
                                        <p:cTn id="284" dur="450"/>
                                        <p:tgtEl>
                                          <p:spTgt spid="44"/>
                                        </p:tgtEl>
                                      </p:cBhvr>
                                    </p:animEffect>
                                  </p:childTnLst>
                                </p:cTn>
                              </p:par>
                              <p:par>
                                <p:cTn id="285" presetID="22" presetClass="entr" presetSubtype="4" fill="hold" nodeType="withEffect">
                                  <p:stCondLst>
                                    <p:cond delay="1220"/>
                                  </p:stCondLst>
                                  <p:childTnLst>
                                    <p:set>
                                      <p:cBhvr>
                                        <p:cTn id="286" dur="1" fill="hold">
                                          <p:stCondLst>
                                            <p:cond delay="0"/>
                                          </p:stCondLst>
                                        </p:cTn>
                                        <p:tgtEl>
                                          <p:spTgt spid="45"/>
                                        </p:tgtEl>
                                        <p:attrNameLst>
                                          <p:attrName>style.visibility</p:attrName>
                                        </p:attrNameLst>
                                      </p:cBhvr>
                                      <p:to>
                                        <p:strVal val="visible"/>
                                      </p:to>
                                    </p:set>
                                    <p:animEffect transition="in" filter="wipe(down)">
                                      <p:cBhvr>
                                        <p:cTn id="287" dur="500"/>
                                        <p:tgtEl>
                                          <p:spTgt spid="45"/>
                                        </p:tgtEl>
                                      </p:cBhvr>
                                    </p:animEffect>
                                  </p:childTnLst>
                                </p:cTn>
                              </p:par>
                              <p:par>
                                <p:cTn id="288" presetID="10" presetClass="entr" presetSubtype="0" fill="hold" nodeType="withEffect">
                                  <p:stCondLst>
                                    <p:cond delay="1290"/>
                                  </p:stCondLst>
                                  <p:childTnLst>
                                    <p:set>
                                      <p:cBhvr>
                                        <p:cTn id="289" dur="1" fill="hold">
                                          <p:stCondLst>
                                            <p:cond delay="0"/>
                                          </p:stCondLst>
                                        </p:cTn>
                                        <p:tgtEl>
                                          <p:spTgt spid="46"/>
                                        </p:tgtEl>
                                        <p:attrNameLst>
                                          <p:attrName>style.visibility</p:attrName>
                                        </p:attrNameLst>
                                      </p:cBhvr>
                                      <p:to>
                                        <p:strVal val="visible"/>
                                      </p:to>
                                    </p:set>
                                    <p:animEffect transition="in" filter="fade">
                                      <p:cBhvr>
                                        <p:cTn id="290" dur="450"/>
                                        <p:tgtEl>
                                          <p:spTgt spid="46"/>
                                        </p:tgtEl>
                                      </p:cBhvr>
                                    </p:animEffect>
                                  </p:childTnLst>
                                </p:cTn>
                              </p:par>
                              <p:par>
                                <p:cTn id="291" presetID="10" presetClass="entr" presetSubtype="0" fill="hold" nodeType="withEffect">
                                  <p:stCondLst>
                                    <p:cond delay="1360"/>
                                  </p:stCondLst>
                                  <p:childTnLst>
                                    <p:set>
                                      <p:cBhvr>
                                        <p:cTn id="292" dur="1" fill="hold">
                                          <p:stCondLst>
                                            <p:cond delay="0"/>
                                          </p:stCondLst>
                                        </p:cTn>
                                        <p:tgtEl>
                                          <p:spTgt spid="47"/>
                                        </p:tgtEl>
                                        <p:attrNameLst>
                                          <p:attrName>style.visibility</p:attrName>
                                        </p:attrNameLst>
                                      </p:cBhvr>
                                      <p:to>
                                        <p:strVal val="visible"/>
                                      </p:to>
                                    </p:set>
                                    <p:animEffect transition="in" filter="fade">
                                      <p:cBhvr>
                                        <p:cTn id="293" dur="450"/>
                                        <p:tgtEl>
                                          <p:spTgt spid="47"/>
                                        </p:tgtEl>
                                      </p:cBhvr>
                                    </p:animEffect>
                                  </p:childTnLst>
                                </p:cTn>
                              </p:par>
                              <p:par>
                                <p:cTn id="294" presetID="10" presetClass="entr" presetSubtype="0" fill="hold" nodeType="withEffect">
                                  <p:stCondLst>
                                    <p:cond delay="580"/>
                                  </p:stCondLst>
                                  <p:childTnLst>
                                    <p:set>
                                      <p:cBhvr>
                                        <p:cTn id="295" dur="1" fill="hold">
                                          <p:stCondLst>
                                            <p:cond delay="0"/>
                                          </p:stCondLst>
                                        </p:cTn>
                                        <p:tgtEl>
                                          <p:spTgt spid="48"/>
                                        </p:tgtEl>
                                        <p:attrNameLst>
                                          <p:attrName>style.visibility</p:attrName>
                                        </p:attrNameLst>
                                      </p:cBhvr>
                                      <p:to>
                                        <p:strVal val="visible"/>
                                      </p:to>
                                    </p:set>
                                    <p:animEffect transition="in" filter="fade">
                                      <p:cBhvr>
                                        <p:cTn id="296"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4" grpId="0" build="p"/>
      <p:bldP spid="28" grpId="0" build="p"/>
      <p:bldP spid="35" grpId="0" build="p"/>
      <p:bldP spid="3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Elegimos ESP-NOW por costo y simplicidad; el error de fase fija el presupuesto</a:t>
            </a:r>
            <a:endParaRPr lang="en-US" sz="2200" dirty="0"/>
          </a:p>
        </p:txBody>
      </p:sp>
      <p:sp>
        <p:nvSpPr>
          <p:cNvPr id="3" name="Obj [o68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maestro coordina por ESP-NOW y cada nodo une su ESP32 con su PSoC</a:t>
            </a:r>
            <a:endParaRPr lang="en-US" sz="1400" dirty="0"/>
          </a:p>
        </p:txBody>
      </p:sp>
      <p:pic>
        <p:nvPicPr>
          <p:cNvPr id="4" name="Obj [o683]" descr="Esquema del maestro ESP32 con su página web, coordinador y transporte ESP-NOW, y de los nodos GEO y HAMMER, cada uno con ESP32 esclavo, PSoC, arena de RAM y microSD">    </p:cNvPr>
          <p:cNvPicPr>
            <a:picLocks noChangeAspect="1"/>
          </p:cNvPicPr>
          <p:nvPr/>
        </p:nvPicPr>
        <p:blipFill>
          <a:blip r:embed="rId1"/>
          <a:stretch>
            <a:fillRect/>
          </a:stretch>
        </p:blipFill>
        <p:spPr>
          <a:xfrm>
            <a:off x="1663651" y="1481328"/>
            <a:ext cx="5816698" cy="2964822"/>
          </a:xfrm>
          <a:prstGeom prst="rect">
            <a:avLst/>
          </a:prstGeom>
        </p:spPr>
      </p:pic>
      <p:sp>
        <p:nvSpPr>
          <p:cNvPr id="5" name="Obj [o68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5); resumen firmado, sec. 4.8.</a:t>
            </a:r>
            <a:endParaRPr lang="en-US" sz="800" dirty="0"/>
          </a:p>
        </p:txBody>
      </p:sp>
      <p:sp>
        <p:nvSpPr>
          <p:cNvPr id="6" name="Obj [o68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Elegimos ESP-NOW por costo y simplicidad, no por ser la opción más precisa</a:t>
            </a:r>
            <a:endParaRPr lang="en-US" sz="1400" dirty="0"/>
          </a:p>
        </p:txBody>
      </p:sp>
      <p:graphicFrame>
        <p:nvGraphicFramePr>
          <p:cNvPr id="20" name="Obj [o686]"/>
          <p:cNvGraphicFramePr>
            <a:graphicFrameLocks noGrp="1"/>
          </p:cNvGraphicFramePr>
          <p:nvPr>
            <p:extLst>
              <p:ext uri="{D42A27DB-BD31-4B8C-83A1-F6EECF244321}">
                <p14:modId xmlns:p14="http://schemas.microsoft.com/office/powerpoint/2010/main" val="1579011935"/>
              </p:ext>
            </p:extLst>
          </p:nvPr>
        </p:nvGraphicFramePr>
        <p:xfrm>
          <a:off x="441794" y="1557362"/>
          <a:ext cx="6843091" cy="914400"/>
        </p:xfrm>
        <a:graphic>
          <a:graphicData uri="http://schemas.openxmlformats.org/drawingml/2006/table">
            <a:tbl>
              <a:tblPr/>
              <a:tblGrid>
                <a:gridCol w="1444653"/>
                <a:gridCol w="1520687"/>
                <a:gridCol w="1900859"/>
                <a:gridCol w="1976893"/>
              </a:tblGrid>
              <a:tr h="342155">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Opción</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Infraestructura</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Inicio coordinado</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Observación</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Cable de sincronismo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Tendido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Determinista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Se usó y se retiró: es el cableado que se quiere evitar</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Wi-Fi con punto de acceso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Punto de acceso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Variable (ACK, reintentos, CSMA/CA)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Latencia distinta en cada nodo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LoRa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Ninguna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Tiempo en el aire de decenas de ms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Tasa de datos muy baja para descargar registros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GPS / PPS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Receptor y cielo abierto por nodo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Referencia absoluta, muy buena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Lo usan equipos comerciales; costo y cobertura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1F4E79"/>
                          </a:solidFill>
                          <a:latin typeface="Arial" pitchFamily="34" charset="0"/>
                          <a:ea typeface="Arial" pitchFamily="34" charset="-122"/>
                          <a:cs typeface="Arial" pitchFamily="34" charset="-120"/>
                        </a:rPr>
                        <a:t>ESP-NOW (broadcast)</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1F4E79"/>
                          </a:solidFill>
                          <a:latin typeface="Arial" pitchFamily="34" charset="0"/>
                          <a:ea typeface="Arial" pitchFamily="34" charset="-122"/>
                          <a:cs typeface="Arial" pitchFamily="34" charset="-120"/>
                        </a:rPr>
                        <a:t>Ninguna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b="1" dirty="0">
                          <a:solidFill>
                            <a:srgbClr val="1F4E79"/>
                          </a:solidFill>
                          <a:latin typeface="Arial" pitchFamily="34" charset="0"/>
                          <a:ea typeface="Arial" pitchFamily="34" charset="-122"/>
                          <a:cs typeface="Arial" pitchFamily="34" charset="-120"/>
                        </a:rPr>
                        <a:t>≈ 200–400 µs medido con 3 nodos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1F4E79"/>
                          </a:solidFill>
                          <a:latin typeface="Arial" pitchFamily="34" charset="0"/>
                          <a:ea typeface="Arial" pitchFamily="34" charset="-122"/>
                          <a:cs typeface="Arial" pitchFamily="34" charset="-120"/>
                        </a:rPr>
                        <a:t>Sin ACK; barato y ya integrado en el ESP32</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UWB (DWM1000)</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Ninguna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±4 ns reportado (Korsimaa, 2025)</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Trabajo futuro, sin implementar</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Obj [o687]"/>
          <p:cNvSpPr txBox="1"/>
          <p:nvPr/>
        </p:nvSpPr>
        <p:spPr>
          <a:xfrm>
            <a:off x="441794" y="4028479"/>
            <a:ext cx="6843091" cy="266120"/>
          </a:xfrm>
          <a:prstGeom prst="rect">
            <a:avLst/>
          </a:prstGeom>
          <a:noFill/>
          <a:ln/>
        </p:spPr>
        <p:txBody>
          <a:bodyPr wrap="square" lIns="0" tIns="0" rIns="0" bIns="0" rtlCol="0" anchor="t"/>
          <a:lstStyle/>
          <a:p>
            <a:pPr indent="0" marL="0">
              <a:buNone/>
            </a:pPr>
            <a:r>
              <a:rPr lang="en-US" sz="1122" b="1" dirty="0">
                <a:solidFill>
                  <a:srgbClr val="C55A11"/>
                </a:solidFill>
                <a:latin typeface="Arial" pitchFamily="34" charset="0"/>
                <a:ea typeface="Arial" pitchFamily="34" charset="-122"/>
                <a:cs typeface="Arial" pitchFamily="34" charset="-120"/>
              </a:rPr>
              <a:t>Con 400 µs el presupuesto de 5° a 50 Hz (278 µs) no se cumple: es la razón del trabajo futuro con UWB.</a:t>
            </a:r>
            <a:endParaRPr lang="en-US" sz="1122" dirty="0"/>
          </a:p>
        </p:txBody>
      </p:sp>
      <p:sp>
        <p:nvSpPr>
          <p:cNvPr id="9" name="Obj [o68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08_trabajos_futuros.tex (UWB, Korsimaa 2025), 01_problema_modelado.tex (GPS). Wi-Fi, LoRa y GPS: propiedades generales, no medidas propias.</a:t>
            </a:r>
            <a:endParaRPr lang="en-US" sz="800" dirty="0"/>
          </a:p>
        </p:txBody>
      </p:sp>
      <p:sp>
        <p:nvSpPr>
          <p:cNvPr id="10" name="Obj [o68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desfase de tiempo entre nodos se convierte en un error de fase que crece con la frecuencia</a:t>
            </a:r>
            <a:endParaRPr lang="en-US" sz="1400" dirty="0"/>
          </a:p>
        </p:txBody>
      </p:sp>
      <p:pic>
        <p:nvPicPr>
          <p:cNvPr id="11" name="Obj [o690]" descr="Error de fase en función del desfasaje temporal entre nodos para 20, 50 y 100 Hz, con el presupuesto de 5 grados y la observación preliminar de 400 microsegundos">    </p:cNvPr>
          <p:cNvPicPr>
            <a:picLocks noChangeAspect="1"/>
          </p:cNvPicPr>
          <p:nvPr/>
        </p:nvPicPr>
        <p:blipFill>
          <a:blip r:embed="rId2"/>
          <a:stretch>
            <a:fillRect/>
          </a:stretch>
        </p:blipFill>
        <p:spPr>
          <a:xfrm>
            <a:off x="365760" y="1557362"/>
            <a:ext cx="3664099" cy="2699219"/>
          </a:xfrm>
          <a:prstGeom prst="rect">
            <a:avLst/>
          </a:prstGeom>
        </p:spPr>
      </p:pic>
      <p:sp>
        <p:nvSpPr>
          <p:cNvPr id="12" name="Obj [o691]"/>
          <p:cNvSpPr/>
          <p:nvPr/>
        </p:nvSpPr>
        <p:spPr>
          <a:xfrm>
            <a:off x="4243512" y="1557362"/>
            <a:ext cx="3041374"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692]"/>
              <p:cNvSpPr txBox="1"/>
              <p:nvPr/>
            </p:nvSpPr>
            <p:spPr>
              <a:xfrm>
                <a:off x="4243512" y="1557362"/>
                <a:ext cx="3041374"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Δφ=360°·f·Δt</m:t>
                      </m:r>
                    </m:oMath>
                  </m:oMathPara>
                </a14:m>
                <a:endParaRPr lang="es-ES"/>
              </a:p>
            </p:txBody>
          </p:sp>
        </mc:Choice>
        <mc:Fallback>
          <p:sp>
            <p:nvSpPr>
              <p:cNvPr id="13" name="Obj [o692]"/>
              <p:cNvSpPr txBox="1"/>
              <p:nvPr/>
            </p:nvSpPr>
            <p:spPr>
              <a:xfrm>
                <a:off x="4243512" y="1557362"/>
                <a:ext cx="3041374"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Δφ = 360° · f · Δt</a:t>
                </a:r>
                <a:endParaRPr lang="en-US" sz="2071" dirty="0"/>
              </a:p>
            </p:txBody>
          </p:sp>
        </mc:Fallback>
      </mc:AlternateContent>
      <p:sp>
        <p:nvSpPr>
          <p:cNvPr id="14" name="Obj [o693]"/>
          <p:cNvSpPr txBox="1"/>
          <p:nvPr/>
        </p:nvSpPr>
        <p:spPr>
          <a:xfrm>
            <a:off x="4243512" y="2317706"/>
            <a:ext cx="3041374" cy="1824824"/>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Para limitar el error a 5°: 278 µs a 50 Hz y 139 µs a 100 Hz</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Con 400 µs: 7,2° a 50 Hz y 14,4° a 100 Hz</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Con 400 µs, los 5° se cumplen hasta unos 35 Hz (cálculo propio)</a:t>
            </a:r>
            <a:endParaRPr lang="en-US" sz="1208" dirty="0"/>
          </a:p>
        </p:txBody>
      </p:sp>
      <p:sp>
        <p:nvSpPr>
          <p:cNvPr id="15" name="Obj [o69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ec. 18; documento de tesis, 04_arquitectura.tex y fig. sincronizacion_fase. Los 35 Hz: 5°/(360°·400 µs).</a:t>
            </a:r>
            <a:endParaRPr lang="en-US" sz="800" dirty="0"/>
          </a:p>
        </p:txBody>
      </p:sp>
      <p:sp>
        <p:nvSpPr>
          <p:cNvPr id="16" name="Obj [o69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velocidad de fase, el error depende del espaciamiento entre receptores y no de la frecuencia</a:t>
            </a:r>
            <a:endParaRPr lang="en-US" sz="1400" dirty="0"/>
          </a:p>
        </p:txBody>
      </p:sp>
      <p:pic>
        <p:nvPicPr>
          <p:cNvPr id="17" name="Obj [o696]" descr="Error de velocidad de fase en porcentaje en función del desalineamiento temporal entre nodos, para velocidades de Rayleigh de 120, 150 y 200 m/s con receptores separados 2 m">    </p:cNvPr>
          <p:cNvPicPr>
            <a:picLocks noChangeAspect="1"/>
          </p:cNvPicPr>
          <p:nvPr/>
        </p:nvPicPr>
        <p:blipFill>
          <a:blip r:embed="rId3"/>
          <a:stretch>
            <a:fillRect/>
          </a:stretch>
        </p:blipFill>
        <p:spPr>
          <a:xfrm>
            <a:off x="365760" y="1595380"/>
            <a:ext cx="3953786" cy="2272109"/>
          </a:xfrm>
          <a:prstGeom prst="rect">
            <a:avLst/>
          </a:prstGeom>
        </p:spPr>
      </p:pic>
      <p:sp>
        <p:nvSpPr>
          <p:cNvPr id="18" name="Obj [o697]"/>
          <p:cNvSpPr/>
          <p:nvPr/>
        </p:nvSpPr>
        <p:spPr>
          <a:xfrm>
            <a:off x="4471615" y="1595380"/>
            <a:ext cx="2813271"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9" name="Obj [o698]"/>
              <p:cNvSpPr txBox="1"/>
              <p:nvPr/>
            </p:nvSpPr>
            <p:spPr>
              <a:xfrm>
                <a:off x="4471615" y="1595380"/>
                <a:ext cx="2813271"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Δc</m:t>
                          </m:r>
                        </m:num>
                        <m:den>
                          <m:r>
                            <a:rPr lang="es-ES" sz="2400" i="1">
                              <a:solidFill>
                                <a:srgbClr val="1F4E79"/>
                              </a:solidFill>
                              <a:latin typeface="Cambria Math" panose="02040503050406030204" pitchFamily="18" charset="0"/>
                            </a:rPr>
                            <m:t xml:space="preserve">c</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c·Δt</m:t>
                          </m:r>
                        </m:num>
                        <m:den>
                          <m:r>
                            <a:rPr lang="es-ES" sz="2400" i="1">
                              <a:solidFill>
                                <a:srgbClr val="1F4E79"/>
                              </a:solidFill>
                              <a:latin typeface="Cambria Math" panose="02040503050406030204" pitchFamily="18" charset="0"/>
                            </a:rPr>
                            <m:t xml:space="preserve">Δx</m:t>
                          </m:r>
                        </m:den>
                      </m:f>
                    </m:oMath>
                  </m:oMathPara>
                </a14:m>
                <a:endParaRPr lang="es-ES"/>
              </a:p>
            </p:txBody>
          </p:sp>
        </mc:Choice>
        <mc:Fallback>
          <p:sp>
            <p:nvSpPr>
              <p:cNvPr id="19" name="Obj [o698]"/>
              <p:cNvSpPr txBox="1"/>
              <p:nvPr/>
            </p:nvSpPr>
            <p:spPr>
              <a:xfrm>
                <a:off x="4471615" y="1595380"/>
                <a:ext cx="2813271"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Δc/c = c·Δt / Δx</a:t>
                </a:r>
                <a:endParaRPr lang="en-US" sz="2071" dirty="0"/>
              </a:p>
            </p:txBody>
          </p:sp>
        </mc:Fallback>
      </mc:AlternateContent>
      <p:sp>
        <p:nvSpPr>
          <p:cNvPr id="20" name="Obj [o699]"/>
          <p:cNvSpPr txBox="1"/>
          <p:nvPr/>
        </p:nvSpPr>
        <p:spPr>
          <a:xfrm>
            <a:off x="4471615" y="2469775"/>
            <a:ext cx="2813271" cy="1748790"/>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122" i="1">
                        <a:solidFill>
                          <a:srgbClr val="2D2D2D"/>
                        </a:solidFill>
                        <a:latin typeface="Cambria Math" panose="02040503050406030204" pitchFamily="18" charset="0"/>
                      </a:rPr>
                      <m:t xml:space="preserve">Δ</m:t>
                    </m:r>
                    <m:r>
                      <a:rPr lang="es-ES" sz="1122" i="1">
                        <a:solidFill>
                          <a:srgbClr val="2D2D2D"/>
                        </a:solidFill>
                        <a:latin typeface="Cambria Math" panose="02040503050406030204" pitchFamily="18" charset="0"/>
                      </a:rPr>
                      <m:t xml:space="preserve">x</m:t>
                    </m:r>
                    <m:r>
                      <m:rPr>
                        <m:sty m:val="p"/>
                      </m:rPr>
                      <a:rPr lang="es-ES" sz="1122">
                        <a:solidFill>
                          <a:srgbClr val="2D2D2D"/>
                        </a:solidFill>
                        <a:latin typeface="Cambria Math" panose="02040503050406030204" pitchFamily="18" charset="0"/>
                      </a:rPr>
                      <m:t xml:space="preserve">=</m:t>
                    </m:r>
                    <m:r>
                      <m:rPr>
                        <m:sty m:val="p"/>
                      </m:rPr>
                      <a:rPr lang="es-ES" sz="1122">
                        <a:solidFill>
                          <a:srgbClr val="2D2D2D"/>
                        </a:solidFill>
                        <a:latin typeface="Cambria Math" panose="02040503050406030204" pitchFamily="18" charset="0"/>
                      </a:rPr>
                      <m:t xml:space="preserve">2</m:t>
                    </m:r>
                  </m:oMath>
                </a14:m>
              </mc:Choice>
              <mc:Fallback>
                <a:r>
                  <a:rPr lang="en-US" sz="1122" dirty="0">
                    <a:solidFill>
                      <a:srgbClr val="2D2D2D"/>
                    </a:solidFill>
                    <a:latin typeface="Arial" pitchFamily="34" charset="0"/>
                    <a:ea typeface="Arial" pitchFamily="34" charset="-122"/>
                    <a:cs typeface="Arial" pitchFamily="34" charset="-120"/>
                  </a:rPr>
                  <a:t>Δx = 2</a:t>
                </a:r>
              </mc:Fallback>
            </mc:AlternateContent>
            <a:r>
              <a:rPr lang="en-US" sz="1122" dirty="0">
                <a:solidFill>
                  <a:srgbClr val="2D2D2D"/>
                </a:solidFill>
                <a:latin typeface="Arial" pitchFamily="34" charset="0"/>
                <a:ea typeface="Arial" pitchFamily="34" charset="-122"/>
                <a:cs typeface="Arial" pitchFamily="34" charset="-120"/>
              </a:rPr>
              <a:t> m y c = 150 m/s, 5 % de error llega a 667 µs</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Con 400 µs el error sería de 3 %</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Un </a:t>
            </a:r>
            <mc:AlternateContent xmlns:mc="http://schemas.openxmlformats.org/markup-compatibility/2006">
              <mc:Choice xmlns:a14="http://schemas.microsoft.com/office/drawing/2010/main" Requires="a14">
                <a14:m>
                  <m:oMath xmlns:m="http://schemas.openxmlformats.org/officeDocument/2006/math">
                    <m:r>
                      <a:rPr lang="es-ES" sz="1122" i="1">
                        <a:solidFill>
                          <a:srgbClr val="2D2D2D"/>
                        </a:solidFill>
                        <a:latin typeface="Cambria Math" panose="02040503050406030204" pitchFamily="18" charset="0"/>
                      </a:rPr>
                      <m:t xml:space="preserve">Δ</m:t>
                    </m:r>
                    <m:r>
                      <a:rPr lang="es-ES" sz="1122" i="1">
                        <a:solidFill>
                          <a:srgbClr val="2D2D2D"/>
                        </a:solidFill>
                        <a:latin typeface="Cambria Math" panose="02040503050406030204" pitchFamily="18" charset="0"/>
                      </a:rPr>
                      <m:t xml:space="preserve">x</m:t>
                    </m:r>
                  </m:oMath>
                </a14:m>
              </mc:Choice>
              <mc:Fallback>
                <a:r>
                  <a:rPr lang="en-US" sz="1122" dirty="0">
                    <a:solidFill>
                      <a:srgbClr val="2D2D2D"/>
                    </a:solidFill>
                    <a:latin typeface="Arial" pitchFamily="34" charset="0"/>
                    <a:ea typeface="Arial" pitchFamily="34" charset="-122"/>
                    <a:cs typeface="Arial" pitchFamily="34" charset="-120"/>
                  </a:rPr>
                  <a:t>Δx</a:t>
                </a:r>
              </mc:Fallback>
            </mc:AlternateContent>
            <a:r>
              <a:rPr lang="en-US" sz="1122" dirty="0">
                <a:solidFill>
                  <a:srgbClr val="2D2D2D"/>
                </a:solidFill>
                <a:latin typeface="Arial" pitchFamily="34" charset="0"/>
                <a:ea typeface="Arial" pitchFamily="34" charset="-122"/>
                <a:cs typeface="Arial" pitchFamily="34" charset="-120"/>
              </a:rPr>
              <a:t> menor hace que el mismo </a:t>
            </a:r>
            <mc:AlternateContent xmlns:mc="http://schemas.openxmlformats.org/markup-compatibility/2006">
              <mc:Choice xmlns:a14="http://schemas.microsoft.com/office/drawing/2010/main" Requires="a14">
                <a14:m>
                  <m:oMath xmlns:m="http://schemas.openxmlformats.org/officeDocument/2006/math">
                    <m:r>
                      <a:rPr lang="es-ES" sz="1122" i="1">
                        <a:solidFill>
                          <a:srgbClr val="2D2D2D"/>
                        </a:solidFill>
                        <a:latin typeface="Cambria Math" panose="02040503050406030204" pitchFamily="18" charset="0"/>
                      </a:rPr>
                      <m:t xml:space="preserve">Δ</m:t>
                    </m:r>
                    <m:r>
                      <a:rPr lang="es-ES" sz="1122" i="1">
                        <a:solidFill>
                          <a:srgbClr val="2D2D2D"/>
                        </a:solidFill>
                        <a:latin typeface="Cambria Math" panose="02040503050406030204" pitchFamily="18" charset="0"/>
                      </a:rPr>
                      <m:t xml:space="preserve">t</m:t>
                    </m:r>
                  </m:oMath>
                </a14:m>
              </mc:Choice>
              <mc:Fallback>
                <a:r>
                  <a:rPr lang="en-US" sz="1122" dirty="0">
                    <a:solidFill>
                      <a:srgbClr val="2D2D2D"/>
                    </a:solidFill>
                    <a:latin typeface="Arial" pitchFamily="34" charset="0"/>
                    <a:ea typeface="Arial" pitchFamily="34" charset="-122"/>
                    <a:cs typeface="Arial" pitchFamily="34" charset="-120"/>
                  </a:rPr>
                  <a:t>Δt</a:t>
                </a:r>
              </mc:Fallback>
            </mc:AlternateContent>
            <a:r>
              <a:rPr lang="en-US" sz="1122" dirty="0">
                <a:solidFill>
                  <a:srgbClr val="2D2D2D"/>
                </a:solidFill>
                <a:latin typeface="Arial" pitchFamily="34" charset="0"/>
                <a:ea typeface="Arial" pitchFamily="34" charset="-122"/>
                <a:cs typeface="Arial" pitchFamily="34" charset="-120"/>
              </a:rPr>
              <a:t> pese más</a:t>
            </a:r>
            <a:endParaRPr lang="en-US" sz="1122" dirty="0"/>
          </a:p>
        </p:txBody>
      </p:sp>
      <p:sp>
        <p:nvSpPr>
          <p:cNvPr id="21" name="Obj [o70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Figura propia (f_presupuesto_sincronizacion). Relación derivada de c = 2πf·</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x</m:t>
                    </m:r>
                    <m:r>
                      <m:rPr>
                        <m:sty m:val="p"/>
                      </m:rPr>
                      <a:rPr lang="es-ES" sz="800">
                        <a:solidFill>
                          <a:srgbClr val="6B6B6B"/>
                        </a:solidFill>
                        <a:latin typeface="Cambria Math" panose="02040503050406030204" pitchFamily="18" charset="0"/>
                      </a:rPr>
                      <m:t xml:space="preserve">/</m:t>
                    </m:r>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φ</m:t>
                    </m:r>
                  </m:oMath>
                </a14:m>
              </mc:Choice>
              <mc:Fallback>
                <a:r>
                  <a:rPr lang="en-US" sz="800" dirty="0">
                    <a:solidFill>
                      <a:srgbClr val="6B6B6B"/>
                    </a:solidFill>
                    <a:latin typeface="Arial" pitchFamily="34" charset="0"/>
                    <a:ea typeface="Arial" pitchFamily="34" charset="-122"/>
                    <a:cs typeface="Arial" pitchFamily="34" charset="-120"/>
                  </a:rPr>
                  <a:t>Δx/Δφ</a:t>
                </a:r>
              </mc:Fallback>
            </mc:AlternateContent>
            <a:r>
              <a:rPr lang="en-US" sz="800" dirty="0">
                <a:solidFill>
                  <a:srgbClr val="6B6B6B"/>
                </a:solidFill>
                <a:latin typeface="Arial" pitchFamily="34" charset="0"/>
                <a:ea typeface="Arial" pitchFamily="34" charset="-122"/>
                <a:cs typeface="Arial" pitchFamily="34" charset="-120"/>
              </a:rPr>
              <a:t>: inferencia propia, no tomada de una fuente.</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350"/>
                                        <p:tgtEl>
                                          <p:spTgt spid="3"/>
                                        </p:tgtEl>
                                      </p:cBhvr>
                                    </p:animEffect>
                                    <p:set>
                                      <p:cBhvr>
                                        <p:cTn id="20" dur="1" fill="hold">
                                          <p:stCondLst>
                                            <p:cond delay="349"/>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350"/>
                                        <p:tgtEl>
                                          <p:spTgt spid="5"/>
                                        </p:tgtEl>
                                      </p:cBhvr>
                                    </p:animEffect>
                                    <p:set>
                                      <p:cBhvr>
                                        <p:cTn id="23" dur="1" fill="hold">
                                          <p:stCondLst>
                                            <p:cond delay="349"/>
                                          </p:stCondLst>
                                        </p:cTn>
                                        <p:tgtEl>
                                          <p:spTgt spid="5"/>
                                        </p:tgtEl>
                                        <p:attrNameLst>
                                          <p:attrName>style.visibility</p:attrName>
                                        </p:attrNameLst>
                                      </p:cBhvr>
                                      <p:to>
                                        <p:strVal val="hidden"/>
                                      </p:to>
                                    </p:set>
                                  </p:childTnLst>
                                </p:cTn>
                              </p:par>
                              <p:par>
                                <p:cTn id="24" presetID="0" presetClass="path" presetSubtype="0" accel="50000" decel="50000" fill="hold" nodeType="withEffect">
                                  <p:stCondLst>
                                    <p:cond delay="0"/>
                                  </p:stCondLst>
                                  <p:childTnLst>
                                    <p:animMotion origin="layout" path="M 0 0 L 0.39250 -0.20821 E" pathEditMode="relative" rAng="0" ptsTypes="AA">
                                      <p:cBhvr>
                                        <p:cTn id="25" dur="750" fill="hold"/>
                                        <p:tgtEl>
                                          <p:spTgt spid="4"/>
                                        </p:tgtEl>
                                        <p:attrNameLst>
                                          <p:attrName>ppt_x</p:attrName>
                                          <p:attrName>ppt_y</p:attrName>
                                        </p:attrNameLst>
                                      </p:cBhvr>
                                      <p:rCtr x="19625" y="-10410"/>
                                    </p:animMotion>
                                  </p:childTnLst>
                                </p:cTn>
                              </p:par>
                              <p:par>
                                <p:cTn id="26" presetID="6" presetClass="emph" presetSubtype="0" accel="50000" decel="50000" fill="hold" nodeType="withEffect">
                                  <p:stCondLst>
                                    <p:cond delay="0"/>
                                  </p:stCondLst>
                                  <p:childTnLst>
                                    <p:animScale>
                                      <p:cBhvr>
                                        <p:cTn id="27" dur="750" fill="hold"/>
                                        <p:tgtEl>
                                          <p:spTgt spid="4"/>
                                        </p:tgtEl>
                                      </p:cBhvr>
                                      <p:by x="21222" y="21222"/>
                                    </p:animScale>
                                  </p:childTnLst>
                                </p:cTn>
                              </p:par>
                              <p:par>
                                <p:cTn id="28" presetID="10" presetClass="entr" presetSubtype="0" fill="hold" nodeType="withEffect">
                                  <p:stCondLst>
                                    <p:cond delay="45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childTnLst>
                                </p:cTn>
                              </p:par>
                              <p:par>
                                <p:cTn id="31" presetID="22" presetClass="entr" presetSubtype="4" fill="hold" nodeType="withEffect">
                                  <p:stCondLst>
                                    <p:cond delay="520"/>
                                  </p:stCondLst>
                                  <p:childTnLst>
                                    <p:set>
                                      <p:cBhvr>
                                        <p:cTn id="32" dur="1" fill="hold">
                                          <p:stCondLst>
                                            <p:cond delay="0"/>
                                          </p:stCondLst>
                                        </p:cTn>
                                        <p:tgtEl>
                                          <p:spTgt spid="8"/>
                                        </p:tgtEl>
                                        <p:attrNameLst>
                                          <p:attrName>style.visibility</p:attrName>
                                        </p:attrNameLst>
                                      </p:cBhvr>
                                      <p:to>
                                        <p:strVal val="visible"/>
                                      </p:to>
                                    </p:set>
                                    <p:animEffect transition="in" filter="wipe(down)">
                                      <p:cBhvr>
                                        <p:cTn id="33" dur="500"/>
                                        <p:tgtEl>
                                          <p:spTgt spid="8"/>
                                        </p:tgtEl>
                                      </p:cBhvr>
                                    </p:animEffect>
                                  </p:childTnLst>
                                </p:cTn>
                              </p:par>
                              <p:par>
                                <p:cTn id="34" presetID="22" presetClass="entr" presetSubtype="8" fill="hold" nodeType="withEffect">
                                  <p:stCondLst>
                                    <p:cond delay="59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par>
                                <p:cTn id="37" presetID="10" presetClass="entr" presetSubtype="0" fill="hold" nodeType="withEffect">
                                  <p:stCondLst>
                                    <p:cond delay="58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350"/>
                                        <p:tgtEl>
                                          <p:spTgt spid="6"/>
                                        </p:tgtEl>
                                      </p:cBhvr>
                                    </p:animEffect>
                                    <p:set>
                                      <p:cBhvr>
                                        <p:cTn id="44" dur="1" fill="hold">
                                          <p:stCondLst>
                                            <p:cond delay="349"/>
                                          </p:stCondLst>
                                        </p:cTn>
                                        <p:tgtEl>
                                          <p:spTgt spid="6"/>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20"/>
                                        </p:tgtEl>
                                      </p:cBhvr>
                                    </p:animEffect>
                                    <p:set>
                                      <p:cBhvr>
                                        <p:cTn id="47" dur="1" fill="hold">
                                          <p:stCondLst>
                                            <p:cond delay="349"/>
                                          </p:stCondLst>
                                        </p:cTn>
                                        <p:tgtEl>
                                          <p:spTgt spid="20"/>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350"/>
                                        <p:tgtEl>
                                          <p:spTgt spid="8"/>
                                        </p:tgtEl>
                                      </p:cBhvr>
                                    </p:animEffect>
                                    <p:set>
                                      <p:cBhvr>
                                        <p:cTn id="50" dur="1" fill="hold">
                                          <p:stCondLst>
                                            <p:cond delay="349"/>
                                          </p:stCondLst>
                                        </p:cTn>
                                        <p:tgtEl>
                                          <p:spTgt spid="8"/>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9"/>
                                        </p:tgtEl>
                                      </p:cBhvr>
                                    </p:animEffect>
                                    <p:set>
                                      <p:cBhvr>
                                        <p:cTn id="53" dur="1" fill="hold">
                                          <p:stCondLst>
                                            <p:cond delay="349"/>
                                          </p:stCondLst>
                                        </p:cTn>
                                        <p:tgtEl>
                                          <p:spTgt spid="9"/>
                                        </p:tgtEl>
                                        <p:attrNameLst>
                                          <p:attrName>style.visibility</p:attrName>
                                        </p:attrNameLst>
                                      </p:cBhvr>
                                      <p:to>
                                        <p:strVal val="hidden"/>
                                      </p:to>
                                    </p:set>
                                  </p:childTnLst>
                                </p:cTn>
                              </p:par>
                              <p:par>
                                <p:cTn id="54" presetID="10" presetClass="entr" presetSubtype="0" fill="hold" nodeType="withEffect">
                                  <p:stCondLst>
                                    <p:cond delay="45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450"/>
                                        <p:tgtEl>
                                          <p:spTgt spid="10"/>
                                        </p:tgtEl>
                                      </p:cBhvr>
                                    </p:animEffect>
                                  </p:childTnLst>
                                </p:cTn>
                              </p:par>
                              <p:par>
                                <p:cTn id="57" presetID="53" presetClass="entr" presetSubtype="16" fill="hold" nodeType="withEffect">
                                  <p:stCondLst>
                                    <p:cond delay="520"/>
                                  </p:stCondLst>
                                  <p:childTnLst>
                                    <p:set>
                                      <p:cBhvr>
                                        <p:cTn id="58" dur="1" fill="hold">
                                          <p:stCondLst>
                                            <p:cond delay="0"/>
                                          </p:stCondLst>
                                        </p:cTn>
                                        <p:tgtEl>
                                          <p:spTgt spid="11"/>
                                        </p:tgtEl>
                                        <p:attrNameLst>
                                          <p:attrName>style.visibility</p:attrName>
                                        </p:attrNameLst>
                                      </p:cBhvr>
                                      <p:to>
                                        <p:strVal val="visible"/>
                                      </p:to>
                                    </p:set>
                                    <p:anim calcmode="lin" valueType="num">
                                      <p:cBhvr>
                                        <p:cTn id="59" dur="600" fill="hold"/>
                                        <p:tgtEl>
                                          <p:spTgt spid="11"/>
                                        </p:tgtEl>
                                        <p:attrNameLst>
                                          <p:attrName>ppt_w</p:attrName>
                                        </p:attrNameLst>
                                      </p:cBhvr>
                                      <p:tavLst>
                                        <p:tav tm="0">
                                          <p:val>
                                            <p:fltVal val="0"/>
                                          </p:val>
                                        </p:tav>
                                        <p:tav tm="100000">
                                          <p:val>
                                            <p:strVal val="#ppt_w"/>
                                          </p:val>
                                        </p:tav>
                                      </p:tavLst>
                                    </p:anim>
                                    <p:anim calcmode="lin" valueType="num">
                                      <p:cBhvr>
                                        <p:cTn id="60" dur="600" fill="hold"/>
                                        <p:tgtEl>
                                          <p:spTgt spid="11"/>
                                        </p:tgtEl>
                                        <p:attrNameLst>
                                          <p:attrName>ppt_h</p:attrName>
                                        </p:attrNameLst>
                                      </p:cBhvr>
                                      <p:tavLst>
                                        <p:tav tm="0">
                                          <p:val>
                                            <p:fltVal val="0"/>
                                          </p:val>
                                        </p:tav>
                                        <p:tav tm="100000">
                                          <p:val>
                                            <p:strVal val="#ppt_h"/>
                                          </p:val>
                                        </p:tav>
                                      </p:tavLst>
                                    </p:anim>
                                    <p:animEffect transition="in" filter="fade">
                                      <p:cBhvr>
                                        <p:cTn id="61" dur="600"/>
                                        <p:tgtEl>
                                          <p:spTgt spid="11"/>
                                        </p:tgtEl>
                                      </p:cBhvr>
                                    </p:animEffect>
                                  </p:childTnLst>
                                </p:cTn>
                              </p:par>
                              <p:par>
                                <p:cTn id="62" presetID="10" presetClass="entr" presetSubtype="0" fill="hold" nodeType="withEffect">
                                  <p:stCondLst>
                                    <p:cond delay="59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450"/>
                                        <p:tgtEl>
                                          <p:spTgt spid="12"/>
                                        </p:tgtEl>
                                      </p:cBhvr>
                                    </p:animEffect>
                                  </p:childTnLst>
                                </p:cTn>
                              </p:par>
                              <p:par>
                                <p:cTn id="65" presetID="22" presetClass="entr" presetSubtype="8" fill="hold" nodeType="withEffect">
                                  <p:stCondLst>
                                    <p:cond delay="590"/>
                                  </p:stCondLst>
                                  <p:childTnLst>
                                    <p:set>
                                      <p:cBhvr>
                                        <p:cTn id="66" dur="1" fill="hold">
                                          <p:stCondLst>
                                            <p:cond delay="0"/>
                                          </p:stCondLst>
                                        </p:cTn>
                                        <p:tgtEl>
                                          <p:spTgt spid="13"/>
                                        </p:tgtEl>
                                        <p:attrNameLst>
                                          <p:attrName>style.visibility</p:attrName>
                                        </p:attrNameLst>
                                      </p:cBhvr>
                                      <p:to>
                                        <p:strVal val="visible"/>
                                      </p:to>
                                    </p:set>
                                    <p:animEffect transition="in" filter="wipe(left)">
                                      <p:cBhvr>
                                        <p:cTn id="67" dur="500"/>
                                        <p:tgtEl>
                                          <p:spTgt spid="13"/>
                                        </p:tgtEl>
                                      </p:cBhvr>
                                    </p:animEffect>
                                  </p:childTnLst>
                                </p:cTn>
                              </p:par>
                              <p:par>
                                <p:cTn id="68" presetID="10" presetClass="entr" presetSubtype="0" grpId="0" fill="hold" nodeType="withEffect">
                                  <p:stCondLst>
                                    <p:cond delay="660"/>
                                  </p:stCondLst>
                                  <p:childTnLst>
                                    <p:set>
                                      <p:cBhvr>
                                        <p:cTn id="69" dur="1" fill="hold">
                                          <p:stCondLst>
                                            <p:cond delay="0"/>
                                          </p:stCondLst>
                                        </p:cTn>
                                        <p:tgtEl>
                                          <p:spTgt spid="14">
                                            <p:txEl>
                                              <p:pRg st="0" end="0"/>
                                            </p:txEl>
                                          </p:spTgt>
                                        </p:tgtEl>
                                        <p:attrNameLst>
                                          <p:attrName>style.visibility</p:attrName>
                                        </p:attrNameLst>
                                      </p:cBhvr>
                                      <p:to>
                                        <p:strVal val="visible"/>
                                      </p:to>
                                    </p:set>
                                    <p:animEffect transition="in" filter="fade">
                                      <p:cBhvr>
                                        <p:cTn id="70" dur="450"/>
                                        <p:tgtEl>
                                          <p:spTgt spid="14">
                                            <p:txEl>
                                              <p:pRg st="0" end="0"/>
                                            </p:txEl>
                                          </p:spTgt>
                                        </p:tgtEl>
                                      </p:cBhvr>
                                    </p:animEffect>
                                  </p:childTnLst>
                                </p:cTn>
                              </p:par>
                              <p:par>
                                <p:cTn id="71" presetID="10" presetClass="entr" presetSubtype="0" grpId="0" fill="hold" nodeType="withEffect">
                                  <p:stCondLst>
                                    <p:cond delay="1040"/>
                                  </p:stCondLst>
                                  <p:childTnLst>
                                    <p:set>
                                      <p:cBhvr>
                                        <p:cTn id="72" dur="1" fill="hold">
                                          <p:stCondLst>
                                            <p:cond delay="0"/>
                                          </p:stCondLst>
                                        </p:cTn>
                                        <p:tgtEl>
                                          <p:spTgt spid="14">
                                            <p:txEl>
                                              <p:pRg st="1" end="1"/>
                                            </p:txEl>
                                          </p:spTgt>
                                        </p:tgtEl>
                                        <p:attrNameLst>
                                          <p:attrName>style.visibility</p:attrName>
                                        </p:attrNameLst>
                                      </p:cBhvr>
                                      <p:to>
                                        <p:strVal val="visible"/>
                                      </p:to>
                                    </p:set>
                                    <p:animEffect transition="in" filter="fade">
                                      <p:cBhvr>
                                        <p:cTn id="73" dur="450"/>
                                        <p:tgtEl>
                                          <p:spTgt spid="14">
                                            <p:txEl>
                                              <p:pRg st="1" end="1"/>
                                            </p:txEl>
                                          </p:spTgt>
                                        </p:tgtEl>
                                      </p:cBhvr>
                                    </p:animEffect>
                                  </p:childTnLst>
                                </p:cTn>
                              </p:par>
                              <p:par>
                                <p:cTn id="74" presetID="10" presetClass="entr" presetSubtype="0" grpId="0" fill="hold" nodeType="withEffect">
                                  <p:stCondLst>
                                    <p:cond delay="1420"/>
                                  </p:stCondLst>
                                  <p:childTnLst>
                                    <p:set>
                                      <p:cBhvr>
                                        <p:cTn id="75" dur="1" fill="hold">
                                          <p:stCondLst>
                                            <p:cond delay="0"/>
                                          </p:stCondLst>
                                        </p:cTn>
                                        <p:tgtEl>
                                          <p:spTgt spid="14">
                                            <p:txEl>
                                              <p:pRg st="2" end="2"/>
                                            </p:txEl>
                                          </p:spTgt>
                                        </p:tgtEl>
                                        <p:attrNameLst>
                                          <p:attrName>style.visibility</p:attrName>
                                        </p:attrNameLst>
                                      </p:cBhvr>
                                      <p:to>
                                        <p:strVal val="visible"/>
                                      </p:to>
                                    </p:set>
                                    <p:animEffect transition="in" filter="fade">
                                      <p:cBhvr>
                                        <p:cTn id="76" dur="450"/>
                                        <p:tgtEl>
                                          <p:spTgt spid="14">
                                            <p:txEl>
                                              <p:pRg st="2" end="2"/>
                                            </p:txEl>
                                          </p:spTgt>
                                        </p:tgtEl>
                                      </p:cBhvr>
                                    </p:animEffect>
                                  </p:childTnLst>
                                </p:cTn>
                              </p:par>
                              <p:par>
                                <p:cTn id="77" presetID="10" presetClass="entr" presetSubtype="0" fill="hold" nodeType="withEffect">
                                  <p:stCondLst>
                                    <p:cond delay="58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45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350"/>
                                        <p:tgtEl>
                                          <p:spTgt spid="10"/>
                                        </p:tgtEl>
                                      </p:cBhvr>
                                    </p:animEffect>
                                    <p:set>
                                      <p:cBhvr>
                                        <p:cTn id="84" dur="1" fill="hold">
                                          <p:stCondLst>
                                            <p:cond delay="349"/>
                                          </p:stCondLst>
                                        </p:cTn>
                                        <p:tgtEl>
                                          <p:spTgt spid="10"/>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350"/>
                                        <p:tgtEl>
                                          <p:spTgt spid="12"/>
                                        </p:tgtEl>
                                      </p:cBhvr>
                                    </p:animEffect>
                                    <p:set>
                                      <p:cBhvr>
                                        <p:cTn id="87" dur="1" fill="hold">
                                          <p:stCondLst>
                                            <p:cond delay="349"/>
                                          </p:stCondLst>
                                        </p:cTn>
                                        <p:tgtEl>
                                          <p:spTgt spid="12"/>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13"/>
                                        </p:tgtEl>
                                      </p:cBhvr>
                                    </p:animEffect>
                                    <p:set>
                                      <p:cBhvr>
                                        <p:cTn id="90" dur="1" fill="hold">
                                          <p:stCondLst>
                                            <p:cond delay="349"/>
                                          </p:stCondLst>
                                        </p:cTn>
                                        <p:tgtEl>
                                          <p:spTgt spid="13"/>
                                        </p:tgtEl>
                                        <p:attrNameLst>
                                          <p:attrName>style.visibility</p:attrName>
                                        </p:attrNameLst>
                                      </p:cBhvr>
                                      <p:to>
                                        <p:strVal val="hidden"/>
                                      </p:to>
                                    </p:set>
                                  </p:childTnLst>
                                </p:cTn>
                              </p:par>
                              <p:par>
                                <p:cTn id="91" presetID="10" presetClass="exit" presetSubtype="0" grpId="0" fill="hold" nodeType="withEffect">
                                  <p:stCondLst>
                                    <p:cond delay="0"/>
                                  </p:stCondLst>
                                  <p:childTnLst>
                                    <p:animEffect transition="out" filter="fade">
                                      <p:cBhvr>
                                        <p:cTn id="92" dur="350"/>
                                        <p:tgtEl>
                                          <p:spTgt spid="14">
                                            <p:txEl>
                                              <p:pRg st="0" end="0"/>
                                            </p:txEl>
                                          </p:spTgt>
                                        </p:tgtEl>
                                      </p:cBhvr>
                                    </p:animEffect>
                                    <p:set>
                                      <p:cBhvr>
                                        <p:cTn id="93" dur="1" fill="hold">
                                          <p:stCondLst>
                                            <p:cond delay="349"/>
                                          </p:stCondLst>
                                        </p:cTn>
                                        <p:tgtEl>
                                          <p:spTgt spid="14">
                                            <p:txEl>
                                              <p:pRg st="0" end="0"/>
                                            </p:txEl>
                                          </p:spTgt>
                                        </p:tgtEl>
                                        <p:attrNameLst>
                                          <p:attrName>style.visibility</p:attrName>
                                        </p:attrNameLst>
                                      </p:cBhvr>
                                      <p:to>
                                        <p:strVal val="hidden"/>
                                      </p:to>
                                    </p:set>
                                  </p:childTnLst>
                                </p:cTn>
                              </p:par>
                              <p:par>
                                <p:cTn id="94" presetID="10" presetClass="exit" presetSubtype="0" grpId="0" fill="hold" nodeType="withEffect">
                                  <p:stCondLst>
                                    <p:cond delay="0"/>
                                  </p:stCondLst>
                                  <p:childTnLst>
                                    <p:animEffect transition="out" filter="fade">
                                      <p:cBhvr>
                                        <p:cTn id="95" dur="350"/>
                                        <p:tgtEl>
                                          <p:spTgt spid="14">
                                            <p:txEl>
                                              <p:pRg st="1" end="1"/>
                                            </p:txEl>
                                          </p:spTgt>
                                        </p:tgtEl>
                                      </p:cBhvr>
                                    </p:animEffect>
                                    <p:set>
                                      <p:cBhvr>
                                        <p:cTn id="96" dur="1" fill="hold">
                                          <p:stCondLst>
                                            <p:cond delay="349"/>
                                          </p:stCondLst>
                                        </p:cTn>
                                        <p:tgtEl>
                                          <p:spTgt spid="14">
                                            <p:txEl>
                                              <p:pRg st="1" end="1"/>
                                            </p:txEl>
                                          </p:spTgt>
                                        </p:tgtEl>
                                        <p:attrNameLst>
                                          <p:attrName>style.visibility</p:attrName>
                                        </p:attrNameLst>
                                      </p:cBhvr>
                                      <p:to>
                                        <p:strVal val="hidden"/>
                                      </p:to>
                                    </p:set>
                                  </p:childTnLst>
                                </p:cTn>
                              </p:par>
                              <p:par>
                                <p:cTn id="97" presetID="10" presetClass="exit" presetSubtype="0" grpId="0" fill="hold" nodeType="withEffect">
                                  <p:stCondLst>
                                    <p:cond delay="0"/>
                                  </p:stCondLst>
                                  <p:childTnLst>
                                    <p:animEffect transition="out" filter="fade">
                                      <p:cBhvr>
                                        <p:cTn id="98" dur="350"/>
                                        <p:tgtEl>
                                          <p:spTgt spid="14">
                                            <p:txEl>
                                              <p:pRg st="2" end="2"/>
                                            </p:txEl>
                                          </p:spTgt>
                                        </p:tgtEl>
                                      </p:cBhvr>
                                    </p:animEffect>
                                    <p:set>
                                      <p:cBhvr>
                                        <p:cTn id="99" dur="1" fill="hold">
                                          <p:stCondLst>
                                            <p:cond delay="349"/>
                                          </p:stCondLst>
                                        </p:cTn>
                                        <p:tgtEl>
                                          <p:spTgt spid="14">
                                            <p:txEl>
                                              <p:pRg st="2" end="2"/>
                                            </p:txEl>
                                          </p:spTgt>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350"/>
                                        <p:tgtEl>
                                          <p:spTgt spid="15"/>
                                        </p:tgtEl>
                                      </p:cBhvr>
                                    </p:animEffect>
                                    <p:set>
                                      <p:cBhvr>
                                        <p:cTn id="102" dur="1" fill="hold">
                                          <p:stCondLst>
                                            <p:cond delay="349"/>
                                          </p:stCondLst>
                                        </p:cTn>
                                        <p:tgtEl>
                                          <p:spTgt spid="15"/>
                                        </p:tgtEl>
                                        <p:attrNameLst>
                                          <p:attrName>style.visibility</p:attrName>
                                        </p:attrNameLst>
                                      </p:cBhvr>
                                      <p:to>
                                        <p:strVal val="hidden"/>
                                      </p:to>
                                    </p:set>
                                  </p:childTnLst>
                                </p:cTn>
                              </p:par>
                              <p:par>
                                <p:cTn id="103" presetID="0" presetClass="path" presetSubtype="0" accel="50000" decel="50000" fill="hold" nodeType="withEffect">
                                  <p:stCondLst>
                                    <p:cond delay="0"/>
                                  </p:stCondLst>
                                  <p:childTnLst>
                                    <p:animMotion origin="layout" path="M 0 0 L 0.65214 -0.00162 E" pathEditMode="relative" rAng="0" ptsTypes="AA">
                                      <p:cBhvr>
                                        <p:cTn id="104" dur="750" fill="hold"/>
                                        <p:tgtEl>
                                          <p:spTgt spid="11"/>
                                        </p:tgtEl>
                                        <p:attrNameLst>
                                          <p:attrName>ppt_x</p:attrName>
                                          <p:attrName>ppt_y</p:attrName>
                                        </p:attrNameLst>
                                      </p:cBhvr>
                                      <p:rCtr x="32607" y="-80"/>
                                    </p:animMotion>
                                  </p:childTnLst>
                                </p:cTn>
                              </p:par>
                              <p:par>
                                <p:cTn id="105" presetID="6" presetClass="emph" presetSubtype="0" accel="50000" decel="50000" fill="hold" nodeType="withEffect">
                                  <p:stCondLst>
                                    <p:cond delay="0"/>
                                  </p:stCondLst>
                                  <p:childTnLst>
                                    <p:animScale>
                                      <p:cBhvr>
                                        <p:cTn id="106" dur="750" fill="hold"/>
                                        <p:tgtEl>
                                          <p:spTgt spid="11"/>
                                        </p:tgtEl>
                                      </p:cBhvr>
                                      <p:by x="30489" y="30489"/>
                                    </p:animScale>
                                  </p:childTnLst>
                                </p:cTn>
                              </p:par>
                              <p:par>
                                <p:cTn id="107" presetID="10" presetClass="entr" presetSubtype="0" fill="hold" nodeType="withEffect">
                                  <p:stCondLst>
                                    <p:cond delay="450"/>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450"/>
                                        <p:tgtEl>
                                          <p:spTgt spid="16"/>
                                        </p:tgtEl>
                                      </p:cBhvr>
                                    </p:animEffect>
                                  </p:childTnLst>
                                </p:cTn>
                              </p:par>
                              <p:par>
                                <p:cTn id="110" presetID="53" presetClass="entr" presetSubtype="16" fill="hold" nodeType="withEffect">
                                  <p:stCondLst>
                                    <p:cond delay="520"/>
                                  </p:stCondLst>
                                  <p:childTnLst>
                                    <p:set>
                                      <p:cBhvr>
                                        <p:cTn id="111" dur="1" fill="hold">
                                          <p:stCondLst>
                                            <p:cond delay="0"/>
                                          </p:stCondLst>
                                        </p:cTn>
                                        <p:tgtEl>
                                          <p:spTgt spid="17"/>
                                        </p:tgtEl>
                                        <p:attrNameLst>
                                          <p:attrName>style.visibility</p:attrName>
                                        </p:attrNameLst>
                                      </p:cBhvr>
                                      <p:to>
                                        <p:strVal val="visible"/>
                                      </p:to>
                                    </p:set>
                                    <p:anim calcmode="lin" valueType="num">
                                      <p:cBhvr>
                                        <p:cTn id="112" dur="600" fill="hold"/>
                                        <p:tgtEl>
                                          <p:spTgt spid="17"/>
                                        </p:tgtEl>
                                        <p:attrNameLst>
                                          <p:attrName>ppt_w</p:attrName>
                                        </p:attrNameLst>
                                      </p:cBhvr>
                                      <p:tavLst>
                                        <p:tav tm="0">
                                          <p:val>
                                            <p:fltVal val="0"/>
                                          </p:val>
                                        </p:tav>
                                        <p:tav tm="100000">
                                          <p:val>
                                            <p:strVal val="#ppt_w"/>
                                          </p:val>
                                        </p:tav>
                                      </p:tavLst>
                                    </p:anim>
                                    <p:anim calcmode="lin" valueType="num">
                                      <p:cBhvr>
                                        <p:cTn id="113" dur="600" fill="hold"/>
                                        <p:tgtEl>
                                          <p:spTgt spid="17"/>
                                        </p:tgtEl>
                                        <p:attrNameLst>
                                          <p:attrName>ppt_h</p:attrName>
                                        </p:attrNameLst>
                                      </p:cBhvr>
                                      <p:tavLst>
                                        <p:tav tm="0">
                                          <p:val>
                                            <p:fltVal val="0"/>
                                          </p:val>
                                        </p:tav>
                                        <p:tav tm="100000">
                                          <p:val>
                                            <p:strVal val="#ppt_h"/>
                                          </p:val>
                                        </p:tav>
                                      </p:tavLst>
                                    </p:anim>
                                    <p:animEffect transition="in" filter="fade">
                                      <p:cBhvr>
                                        <p:cTn id="114" dur="600"/>
                                        <p:tgtEl>
                                          <p:spTgt spid="17"/>
                                        </p:tgtEl>
                                      </p:cBhvr>
                                    </p:animEffect>
                                  </p:childTnLst>
                                </p:cTn>
                              </p:par>
                              <p:par>
                                <p:cTn id="115" presetID="10" presetClass="entr" presetSubtype="0" fill="hold" nodeType="withEffect">
                                  <p:stCondLst>
                                    <p:cond delay="590"/>
                                  </p:stCondLst>
                                  <p:childTnLst>
                                    <p:set>
                                      <p:cBhvr>
                                        <p:cTn id="116" dur="1" fill="hold">
                                          <p:stCondLst>
                                            <p:cond delay="0"/>
                                          </p:stCondLst>
                                        </p:cTn>
                                        <p:tgtEl>
                                          <p:spTgt spid="18"/>
                                        </p:tgtEl>
                                        <p:attrNameLst>
                                          <p:attrName>style.visibility</p:attrName>
                                        </p:attrNameLst>
                                      </p:cBhvr>
                                      <p:to>
                                        <p:strVal val="visible"/>
                                      </p:to>
                                    </p:set>
                                    <p:animEffect transition="in" filter="fade">
                                      <p:cBhvr>
                                        <p:cTn id="117" dur="450"/>
                                        <p:tgtEl>
                                          <p:spTgt spid="18"/>
                                        </p:tgtEl>
                                      </p:cBhvr>
                                    </p:animEffect>
                                  </p:childTnLst>
                                </p:cTn>
                              </p:par>
                              <p:par>
                                <p:cTn id="118" presetID="22" presetClass="entr" presetSubtype="4" fill="hold" nodeType="withEffect">
                                  <p:stCondLst>
                                    <p:cond delay="590"/>
                                  </p:stCondLst>
                                  <p:childTnLst>
                                    <p:set>
                                      <p:cBhvr>
                                        <p:cTn id="119" dur="1" fill="hold">
                                          <p:stCondLst>
                                            <p:cond delay="0"/>
                                          </p:stCondLst>
                                        </p:cTn>
                                        <p:tgtEl>
                                          <p:spTgt spid="19"/>
                                        </p:tgtEl>
                                        <p:attrNameLst>
                                          <p:attrName>style.visibility</p:attrName>
                                        </p:attrNameLst>
                                      </p:cBhvr>
                                      <p:to>
                                        <p:strVal val="visible"/>
                                      </p:to>
                                    </p:set>
                                    <p:animEffect transition="in" filter="wipe(down)">
                                      <p:cBhvr>
                                        <p:cTn id="120" dur="500"/>
                                        <p:tgtEl>
                                          <p:spTgt spid="19"/>
                                        </p:tgtEl>
                                      </p:cBhvr>
                                    </p:animEffect>
                                  </p:childTnLst>
                                </p:cTn>
                              </p:par>
                              <p:par>
                                <p:cTn id="121" presetID="10" presetClass="entr" presetSubtype="0" grpId="0" fill="hold" nodeType="withEffect">
                                  <p:stCondLst>
                                    <p:cond delay="660"/>
                                  </p:stCondLst>
                                  <p:childTnLst>
                                    <p:set>
                                      <p:cBhvr>
                                        <p:cTn id="122" dur="1" fill="hold">
                                          <p:stCondLst>
                                            <p:cond delay="0"/>
                                          </p:stCondLst>
                                        </p:cTn>
                                        <p:tgtEl>
                                          <p:spTgt spid="20">
                                            <p:txEl>
                                              <p:pRg st="0" end="0"/>
                                            </p:txEl>
                                          </p:spTgt>
                                        </p:tgtEl>
                                        <p:attrNameLst>
                                          <p:attrName>style.visibility</p:attrName>
                                        </p:attrNameLst>
                                      </p:cBhvr>
                                      <p:to>
                                        <p:strVal val="visible"/>
                                      </p:to>
                                    </p:set>
                                    <p:animEffect transition="in" filter="fade">
                                      <p:cBhvr>
                                        <p:cTn id="123" dur="450"/>
                                        <p:tgtEl>
                                          <p:spTgt spid="20">
                                            <p:txEl>
                                              <p:pRg st="0" end="0"/>
                                            </p:txEl>
                                          </p:spTgt>
                                        </p:tgtEl>
                                      </p:cBhvr>
                                    </p:animEffect>
                                  </p:childTnLst>
                                </p:cTn>
                              </p:par>
                              <p:par>
                                <p:cTn id="124" presetID="10" presetClass="entr" presetSubtype="0" grpId="0" fill="hold" nodeType="withEffect">
                                  <p:stCondLst>
                                    <p:cond delay="1040"/>
                                  </p:stCondLst>
                                  <p:childTnLst>
                                    <p:set>
                                      <p:cBhvr>
                                        <p:cTn id="125" dur="1" fill="hold">
                                          <p:stCondLst>
                                            <p:cond delay="0"/>
                                          </p:stCondLst>
                                        </p:cTn>
                                        <p:tgtEl>
                                          <p:spTgt spid="20">
                                            <p:txEl>
                                              <p:pRg st="1" end="1"/>
                                            </p:txEl>
                                          </p:spTgt>
                                        </p:tgtEl>
                                        <p:attrNameLst>
                                          <p:attrName>style.visibility</p:attrName>
                                        </p:attrNameLst>
                                      </p:cBhvr>
                                      <p:to>
                                        <p:strVal val="visible"/>
                                      </p:to>
                                    </p:set>
                                    <p:animEffect transition="in" filter="fade">
                                      <p:cBhvr>
                                        <p:cTn id="126" dur="450"/>
                                        <p:tgtEl>
                                          <p:spTgt spid="20">
                                            <p:txEl>
                                              <p:pRg st="1" end="1"/>
                                            </p:txEl>
                                          </p:spTgt>
                                        </p:tgtEl>
                                      </p:cBhvr>
                                    </p:animEffect>
                                  </p:childTnLst>
                                </p:cTn>
                              </p:par>
                              <p:par>
                                <p:cTn id="127" presetID="10" presetClass="entr" presetSubtype="0" grpId="0" fill="hold" nodeType="withEffect">
                                  <p:stCondLst>
                                    <p:cond delay="1420"/>
                                  </p:stCondLst>
                                  <p:childTnLst>
                                    <p:set>
                                      <p:cBhvr>
                                        <p:cTn id="128" dur="1" fill="hold">
                                          <p:stCondLst>
                                            <p:cond delay="0"/>
                                          </p:stCondLst>
                                        </p:cTn>
                                        <p:tgtEl>
                                          <p:spTgt spid="20">
                                            <p:txEl>
                                              <p:pRg st="2" end="2"/>
                                            </p:txEl>
                                          </p:spTgt>
                                        </p:tgtEl>
                                        <p:attrNameLst>
                                          <p:attrName>style.visibility</p:attrName>
                                        </p:attrNameLst>
                                      </p:cBhvr>
                                      <p:to>
                                        <p:strVal val="visible"/>
                                      </p:to>
                                    </p:set>
                                    <p:animEffect transition="in" filter="fade">
                                      <p:cBhvr>
                                        <p:cTn id="129" dur="450"/>
                                        <p:tgtEl>
                                          <p:spTgt spid="20">
                                            <p:txEl>
                                              <p:pRg st="2" end="2"/>
                                            </p:txEl>
                                          </p:spTgt>
                                        </p:tgtEl>
                                      </p:cBhvr>
                                    </p:animEffect>
                                  </p:childTnLst>
                                </p:cTn>
                              </p:par>
                              <p:par>
                                <p:cTn id="130" presetID="10" presetClass="entr" presetSubtype="0" fill="hold" nodeType="withEffect">
                                  <p:stCondLst>
                                    <p:cond delay="580"/>
                                  </p:stCondLst>
                                  <p:childTnLst>
                                    <p:set>
                                      <p:cBhvr>
                                        <p:cTn id="131" dur="1" fill="hold">
                                          <p:stCondLst>
                                            <p:cond delay="0"/>
                                          </p:stCondLst>
                                        </p:cTn>
                                        <p:tgtEl>
                                          <p:spTgt spid="21"/>
                                        </p:tgtEl>
                                        <p:attrNameLst>
                                          <p:attrName>style.visibility</p:attrName>
                                        </p:attrNameLst>
                                      </p:cBhvr>
                                      <p:to>
                                        <p:strVal val="visible"/>
                                      </p:to>
                                    </p:set>
                                    <p:animEffect transition="in" filter="fade">
                                      <p:cBhvr>
                                        <p:cTn id="132"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disparo va por broadcast; se midió su jitter y se declaran sus límites</a:t>
            </a:r>
            <a:endParaRPr lang="en-US" sz="2200" dirty="0"/>
          </a:p>
        </p:txBody>
      </p:sp>
      <p:sp>
        <p:nvSpPr>
          <p:cNvPr id="3" name="Obj [o70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disparo se prepara en dos pasos y se ejecuta con una sola orden por broadcast</a:t>
            </a:r>
            <a:endParaRPr lang="en-US" sz="1400" dirty="0"/>
          </a:p>
        </p:txBody>
      </p:sp>
      <p:pic>
        <p:nvPicPr>
          <p:cNvPr id="4" name="Obj [o702]" descr="Secuencia de adquisición: ARM, PRESTART, espera de confirmaciones y CMD_START por broadcast que eleva el flanco SYNC_TO_PSOC, con retorno store-and-forward">    </p:cNvPr>
          <p:cNvPicPr>
            <a:picLocks noChangeAspect="1"/>
          </p:cNvPicPr>
          <p:nvPr/>
        </p:nvPicPr>
        <p:blipFill>
          <a:blip r:embed="rId1"/>
          <a:stretch>
            <a:fillRect/>
          </a:stretch>
        </p:blipFill>
        <p:spPr>
          <a:xfrm>
            <a:off x="1046266" y="1561458"/>
            <a:ext cx="7051468" cy="2856118"/>
          </a:xfrm>
          <a:prstGeom prst="rect">
            <a:avLst/>
          </a:prstGeom>
        </p:spPr>
      </p:pic>
      <p:sp>
        <p:nvSpPr>
          <p:cNvPr id="5" name="Obj [o70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10); resumen firmado, sec. 4.8 y fig. 12.</a:t>
            </a:r>
            <a:endParaRPr lang="en-US" sz="800" dirty="0"/>
          </a:p>
        </p:txBody>
      </p:sp>
      <p:sp>
        <p:nvSpPr>
          <p:cNvPr id="6" name="Obj [o70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disparo va por broadcast: el unicast agrega retransmisiones distintas en cada nodo</a:t>
            </a:r>
            <a:endParaRPr lang="en-US" sz="1400" dirty="0"/>
          </a:p>
        </p:txBody>
      </p:sp>
      <p:sp>
        <p:nvSpPr>
          <p:cNvPr id="7" name="Obj [o705]"/>
          <p:cNvSpPr/>
          <p:nvPr/>
        </p:nvSpPr>
        <p:spPr>
          <a:xfrm>
            <a:off x="441794" y="1557362"/>
            <a:ext cx="2128962" cy="380172"/>
          </a:xfrm>
          <a:prstGeom prst="rect">
            <a:avLst/>
          </a:prstGeom>
          <a:solidFill>
            <a:srgbClr val="1F4E79"/>
          </a:solidFill>
          <a:ln w="6350">
            <a:solidFill>
              <a:srgbClr val="1F4E79"/>
            </a:solidFill>
            <a:prstDash val="solid"/>
          </a:ln>
        </p:spPr>
      </p:sp>
      <p:sp>
        <p:nvSpPr>
          <p:cNvPr id="8" name="Obj [o706]"/>
          <p:cNvSpPr txBox="1"/>
          <p:nvPr/>
        </p:nvSpPr>
        <p:spPr>
          <a:xfrm>
            <a:off x="479812" y="1557362"/>
            <a:ext cx="2052927" cy="380172"/>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Sin ACK ni reintentos</a:t>
            </a:r>
            <a:endParaRPr lang="en-US" sz="1294" dirty="0"/>
          </a:p>
        </p:txBody>
      </p:sp>
      <p:sp>
        <p:nvSpPr>
          <p:cNvPr id="9" name="Obj [o707]"/>
          <p:cNvSpPr/>
          <p:nvPr/>
        </p:nvSpPr>
        <p:spPr>
          <a:xfrm>
            <a:off x="441794" y="1937534"/>
            <a:ext cx="2128962" cy="1596721"/>
          </a:xfrm>
          <a:prstGeom prst="rect">
            <a:avLst/>
          </a:prstGeom>
          <a:solidFill>
            <a:srgbClr val="FFFFFF"/>
          </a:solidFill>
          <a:ln w="15840">
            <a:solidFill>
              <a:srgbClr val="1F4E79"/>
            </a:solidFill>
            <a:prstDash val="solid"/>
          </a:ln>
        </p:spPr>
      </p:sp>
      <p:sp>
        <p:nvSpPr>
          <p:cNvPr id="10" name="Obj [o708]"/>
          <p:cNvSpPr txBox="1"/>
          <p:nvPr/>
        </p:nvSpPr>
        <p:spPr>
          <a:xfrm>
            <a:off x="533036" y="1998362"/>
            <a:ext cx="1946479" cy="1475066"/>
          </a:xfrm>
          <a:prstGeom prst="rect">
            <a:avLst/>
          </a:prstGeom>
          <a:noFill/>
          <a:ln/>
        </p:spPr>
        <p:txBody>
          <a:bodyPr wrap="square" lIns="0" tIns="0" rIns="0" bIns="0" rtlCol="0" anchor="t"/>
          <a:lstStyle/>
          <a:p>
            <a:pPr algn="l" indent="0" marL="0">
              <a:buNone/>
            </a:pPr>
            <a:r>
              <a:rPr lang="en-US" sz="1122" dirty="0">
                <a:solidFill>
                  <a:srgbClr val="2D2D2D"/>
                </a:solidFill>
                <a:latin typeface="Arial" pitchFamily="34" charset="0"/>
                <a:ea typeface="Arial" pitchFamily="34" charset="-122"/>
                <a:cs typeface="Arial" pitchFamily="34" charset="-120"/>
              </a:rPr>
              <a:t>El unicast espera confirmación y reintenta, y el reintento es distinto en cada nodo. El broadcast se emite una vez, o no llega.</a:t>
            </a:r>
            <a:endParaRPr lang="en-US" sz="1122" dirty="0"/>
          </a:p>
        </p:txBody>
      </p:sp>
      <p:sp>
        <p:nvSpPr>
          <p:cNvPr id="11" name="Obj [o709]"/>
          <p:cNvSpPr/>
          <p:nvPr/>
        </p:nvSpPr>
        <p:spPr>
          <a:xfrm>
            <a:off x="2798859" y="1557362"/>
            <a:ext cx="2128962" cy="380172"/>
          </a:xfrm>
          <a:prstGeom prst="rect">
            <a:avLst/>
          </a:prstGeom>
          <a:solidFill>
            <a:srgbClr val="2E75B6"/>
          </a:solidFill>
          <a:ln w="6350">
            <a:solidFill>
              <a:srgbClr val="2E75B6"/>
            </a:solidFill>
            <a:prstDash val="solid"/>
          </a:ln>
        </p:spPr>
      </p:sp>
      <p:sp>
        <p:nvSpPr>
          <p:cNvPr id="12" name="Obj [o710]"/>
          <p:cNvSpPr txBox="1"/>
          <p:nvPr/>
        </p:nvSpPr>
        <p:spPr>
          <a:xfrm>
            <a:off x="2836876" y="1557362"/>
            <a:ext cx="2052927" cy="380172"/>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Una emisión, no N</a:t>
            </a:r>
            <a:endParaRPr lang="en-US" sz="1294" dirty="0"/>
          </a:p>
        </p:txBody>
      </p:sp>
      <p:sp>
        <p:nvSpPr>
          <p:cNvPr id="13" name="Obj [o711]"/>
          <p:cNvSpPr/>
          <p:nvPr/>
        </p:nvSpPr>
        <p:spPr>
          <a:xfrm>
            <a:off x="2798859" y="1937534"/>
            <a:ext cx="2128962" cy="1596721"/>
          </a:xfrm>
          <a:prstGeom prst="rect">
            <a:avLst/>
          </a:prstGeom>
          <a:solidFill>
            <a:srgbClr val="FFFFFF"/>
          </a:solidFill>
          <a:ln w="15840">
            <a:solidFill>
              <a:srgbClr val="2E75B6"/>
            </a:solidFill>
            <a:prstDash val="solid"/>
          </a:ln>
        </p:spPr>
      </p:sp>
      <p:sp>
        <p:nvSpPr>
          <p:cNvPr id="14" name="Obj [o712]"/>
          <p:cNvSpPr txBox="1"/>
          <p:nvPr/>
        </p:nvSpPr>
        <p:spPr>
          <a:xfrm>
            <a:off x="2890100" y="1998362"/>
            <a:ext cx="1946479" cy="1475066"/>
          </a:xfrm>
          <a:prstGeom prst="rect">
            <a:avLst/>
          </a:prstGeom>
          <a:noFill/>
          <a:ln/>
        </p:spPr>
        <p:txBody>
          <a:bodyPr wrap="square" lIns="0" tIns="0" rIns="0" bIns="0" rtlCol="0" anchor="t"/>
          <a:lstStyle/>
          <a:p>
            <a:pPr algn="l" indent="0" marL="0">
              <a:buNone/>
            </a:pPr>
            <a:r>
              <a:rPr lang="en-US" sz="1122" dirty="0">
                <a:solidFill>
                  <a:srgbClr val="2D2D2D"/>
                </a:solidFill>
                <a:latin typeface="Arial" pitchFamily="34" charset="0"/>
                <a:ea typeface="Arial" pitchFamily="34" charset="-122"/>
                <a:cs typeface="Arial" pitchFamily="34" charset="-120"/>
              </a:rPr>
              <a:t>Con unicast el último nodo recibe después del primero. El broadcast es un solo evento en el aire para todos los receptores.</a:t>
            </a:r>
            <a:endParaRPr lang="en-US" sz="1122" dirty="0"/>
          </a:p>
        </p:txBody>
      </p:sp>
      <p:sp>
        <p:nvSpPr>
          <p:cNvPr id="15" name="Obj [o713]"/>
          <p:cNvSpPr/>
          <p:nvPr/>
        </p:nvSpPr>
        <p:spPr>
          <a:xfrm>
            <a:off x="5155924" y="1557362"/>
            <a:ext cx="2128962" cy="380172"/>
          </a:xfrm>
          <a:prstGeom prst="rect">
            <a:avLst/>
          </a:prstGeom>
          <a:solidFill>
            <a:srgbClr val="C55A11"/>
          </a:solidFill>
          <a:ln w="6350">
            <a:solidFill>
              <a:srgbClr val="C55A11"/>
            </a:solidFill>
            <a:prstDash val="solid"/>
          </a:ln>
        </p:spPr>
      </p:sp>
      <p:sp>
        <p:nvSpPr>
          <p:cNvPr id="16" name="Obj [o714]"/>
          <p:cNvSpPr txBox="1"/>
          <p:nvPr/>
        </p:nvSpPr>
        <p:spPr>
          <a:xfrm>
            <a:off x="5193941" y="1557362"/>
            <a:ext cx="2052927" cy="380172"/>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Retardo común</a:t>
            </a:r>
            <a:endParaRPr lang="en-US" sz="1294" dirty="0"/>
          </a:p>
        </p:txBody>
      </p:sp>
      <p:sp>
        <p:nvSpPr>
          <p:cNvPr id="17" name="Obj [o715]"/>
          <p:cNvSpPr/>
          <p:nvPr/>
        </p:nvSpPr>
        <p:spPr>
          <a:xfrm>
            <a:off x="5155924" y="1937534"/>
            <a:ext cx="2128962" cy="1596721"/>
          </a:xfrm>
          <a:prstGeom prst="rect">
            <a:avLst/>
          </a:prstGeom>
          <a:solidFill>
            <a:srgbClr val="FFFFFF"/>
          </a:solidFill>
          <a:ln w="15840">
            <a:solidFill>
              <a:srgbClr val="C55A11"/>
            </a:solidFill>
            <a:prstDash val="solid"/>
          </a:ln>
        </p:spPr>
      </p:sp>
      <p:sp>
        <p:nvSpPr>
          <p:cNvPr id="18" name="Obj [o716]"/>
          <p:cNvSpPr txBox="1"/>
          <p:nvPr/>
        </p:nvSpPr>
        <p:spPr>
          <a:xfrm>
            <a:off x="5247165" y="1998362"/>
            <a:ext cx="1946479" cy="1475066"/>
          </a:xfrm>
          <a:prstGeom prst="rect">
            <a:avLst/>
          </a:prstGeom>
          <a:noFill/>
          <a:ln/>
        </p:spPr>
        <p:txBody>
          <a:bodyPr wrap="square" lIns="0" tIns="0" rIns="0" bIns="0" rtlCol="0" anchor="t"/>
          <a:lstStyle/>
          <a:p>
            <a:pPr algn="l" indent="0" marL="0">
              <a:buNone/>
            </a:pPr>
            <a:r>
              <a:rPr lang="en-US" sz="1122" dirty="0">
                <a:solidFill>
                  <a:srgbClr val="2D2D2D"/>
                </a:solidFill>
                <a:latin typeface="Arial" pitchFamily="34" charset="0"/>
                <a:ea typeface="Arial" pitchFamily="34" charset="-122"/>
                <a:cs typeface="Arial" pitchFamily="34" charset="-120"/>
              </a:rPr>
              <a:t>La latencia entre el código y la antena varía, pero ocurre una vez en el emisor y es igual para todos: se cancela entre canales.</a:t>
            </a:r>
            <a:endParaRPr lang="en-US" sz="1122" dirty="0"/>
          </a:p>
        </p:txBody>
      </p:sp>
      <p:sp>
        <p:nvSpPr>
          <p:cNvPr id="19" name="Obj [o717]"/>
          <p:cNvSpPr txBox="1"/>
          <p:nvPr/>
        </p:nvSpPr>
        <p:spPr>
          <a:xfrm>
            <a:off x="441794" y="3648307"/>
            <a:ext cx="6843091" cy="418189"/>
          </a:xfrm>
          <a:prstGeom prst="rect">
            <a:avLst/>
          </a:prstGeom>
          <a:noFill/>
          <a:ln/>
        </p:spPr>
        <p:txBody>
          <a:bodyPr wrap="square" lIns="0" tIns="0" rIns="0" bIns="0" rtlCol="0" anchor="t"/>
          <a:lstStyle/>
          <a:p>
            <a:pPr indent="0" marL="0">
              <a:buNone/>
            </a:pPr>
            <a:r>
              <a:rPr lang="en-US" sz="1208" b="1" dirty="0">
                <a:solidFill>
                  <a:srgbClr val="1F4E79"/>
                </a:solidFill>
                <a:latin typeface="Arial" pitchFamily="34" charset="0"/>
                <a:ea typeface="Arial" pitchFamily="34" charset="-122"/>
                <a:cs typeface="Arial" pitchFamily="34" charset="-120"/>
              </a:rPr>
              <a:t>Se cambia fiabilidad por determinismo: una captura que no dispara se repite; una desalineada da un perfil erróneo sin avisar.</a:t>
            </a:r>
            <a:endParaRPr lang="en-US" sz="1208" dirty="0"/>
          </a:p>
        </p:txBody>
      </p:sp>
      <p:sp>
        <p:nvSpPr>
          <p:cNvPr id="20" name="Obj [o718]"/>
          <p:cNvSpPr txBox="1"/>
          <p:nvPr/>
        </p:nvSpPr>
        <p:spPr>
          <a:xfrm>
            <a:off x="441794" y="4104513"/>
            <a:ext cx="6843091"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Evidencia: pruebas de banco, sin medición comparativa publicada</a:t>
            </a:r>
            <a:endParaRPr lang="en-US" sz="863" dirty="0"/>
          </a:p>
        </p:txBody>
      </p:sp>
      <p:sp>
        <p:nvSpPr>
          <p:cNvPr id="21" name="Obj [o71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(sec. broadcast vs unicast); comportamiento de ACK en unicast: estándar 802.11.</a:t>
            </a:r>
            <a:endParaRPr lang="en-US" sz="800" dirty="0"/>
          </a:p>
        </p:txBody>
      </p:sp>
      <p:sp>
        <p:nvSpPr>
          <p:cNvPr id="22" name="Obj [o72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jitter se mide con un disparo falso y un osciloscopio: 128 órdenes, 200 a 400 µs</a:t>
            </a:r>
            <a:endParaRPr lang="en-US" sz="1400" dirty="0"/>
          </a:p>
        </p:txBody>
      </p:sp>
      <p:sp>
        <p:nvSpPr>
          <p:cNvPr id="23" name="Obj [o721]"/>
          <p:cNvSpPr/>
          <p:nvPr/>
        </p:nvSpPr>
        <p:spPr>
          <a:xfrm>
            <a:off x="441794" y="1557362"/>
            <a:ext cx="3953786" cy="342155"/>
          </a:xfrm>
          <a:prstGeom prst="rect">
            <a:avLst/>
          </a:prstGeom>
          <a:solidFill>
            <a:srgbClr val="1F4E79"/>
          </a:solidFill>
          <a:ln w="6350">
            <a:solidFill>
              <a:srgbClr val="1F4E79"/>
            </a:solidFill>
            <a:prstDash val="solid"/>
          </a:ln>
        </p:spPr>
      </p:sp>
      <p:sp>
        <p:nvSpPr>
          <p:cNvPr id="24" name="Obj [o722]"/>
          <p:cNvSpPr txBox="1"/>
          <p:nvPr/>
        </p:nvSpPr>
        <p:spPr>
          <a:xfrm>
            <a:off x="479812" y="1557362"/>
            <a:ext cx="3877752"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Método</a:t>
            </a:r>
            <a:endParaRPr lang="en-US" sz="1294" dirty="0"/>
          </a:p>
        </p:txBody>
      </p:sp>
      <p:sp>
        <p:nvSpPr>
          <p:cNvPr id="25" name="Obj [o723]"/>
          <p:cNvSpPr/>
          <p:nvPr/>
        </p:nvSpPr>
        <p:spPr>
          <a:xfrm>
            <a:off x="441794" y="1899517"/>
            <a:ext cx="3953786" cy="1976893"/>
          </a:xfrm>
          <a:prstGeom prst="rect">
            <a:avLst/>
          </a:prstGeom>
          <a:solidFill>
            <a:srgbClr val="FFFFFF"/>
          </a:solidFill>
          <a:ln w="15840">
            <a:solidFill>
              <a:srgbClr val="1F4E79"/>
            </a:solidFill>
            <a:prstDash val="solid"/>
          </a:ln>
        </p:spPr>
      </p:sp>
      <p:sp>
        <p:nvSpPr>
          <p:cNvPr id="26" name="Obj [o724]"/>
          <p:cNvSpPr txBox="1"/>
          <p:nvPr/>
        </p:nvSpPr>
        <p:spPr>
          <a:xfrm>
            <a:off x="533036" y="1960344"/>
            <a:ext cx="3771304" cy="1855238"/>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CMD_SCOPE_START: cada nodo emite un pulso de 1 ms por un GPIO, sin muestrear ni responder por radio</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El osciloscopio mide la separación entre los flancos del maestro y de los esclavos</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SCOPE_MULTI repite el disparo 128 veces, separado 1 s</a:t>
            </a:r>
            <a:endParaRPr lang="en-US" sz="1122" dirty="0"/>
          </a:p>
        </p:txBody>
      </p:sp>
      <p:sp>
        <p:nvSpPr>
          <p:cNvPr id="27" name="Obj [o725]"/>
          <p:cNvSpPr/>
          <p:nvPr/>
        </p:nvSpPr>
        <p:spPr>
          <a:xfrm>
            <a:off x="4623683" y="1557362"/>
            <a:ext cx="2661202" cy="2319048"/>
          </a:xfrm>
          <a:prstGeom prst="rect">
            <a:avLst/>
          </a:prstGeom>
          <a:solidFill>
            <a:srgbClr val="EAF1F8"/>
          </a:solidFill>
          <a:ln w="6350">
            <a:solidFill>
              <a:srgbClr val="EAF1F8"/>
            </a:solidFill>
            <a:prstDash val="solid"/>
          </a:ln>
        </p:spPr>
      </p:sp>
      <p:sp>
        <p:nvSpPr>
          <p:cNvPr id="28" name="Obj [o726]"/>
          <p:cNvSpPr txBox="1"/>
          <p:nvPr/>
        </p:nvSpPr>
        <p:spPr>
          <a:xfrm>
            <a:off x="4623683" y="1709431"/>
            <a:ext cx="2661202" cy="608275"/>
          </a:xfrm>
          <a:prstGeom prst="rect">
            <a:avLst/>
          </a:prstGeom>
          <a:noFill/>
          <a:ln/>
        </p:spPr>
        <p:txBody>
          <a:bodyPr wrap="square" lIns="0" tIns="0" rIns="0" bIns="0" rtlCol="0" anchor="ctr"/>
          <a:lstStyle/>
          <a:p>
            <a:pPr algn="ctr" indent="0" marL="0">
              <a:buNone/>
            </a:pPr>
            <a:r>
              <a:rPr lang="en-US" sz="3106" b="1" dirty="0">
                <a:solidFill>
                  <a:srgbClr val="1F4E79"/>
                </a:solidFill>
                <a:latin typeface="Arial" pitchFamily="34" charset="0"/>
                <a:ea typeface="Arial" pitchFamily="34" charset="-122"/>
                <a:cs typeface="Arial" pitchFamily="34" charset="-120"/>
              </a:rPr>
              <a:t>200–400 µs</a:t>
            </a:r>
            <a:endParaRPr lang="en-US" sz="3106" dirty="0"/>
          </a:p>
        </p:txBody>
      </p:sp>
      <p:sp>
        <p:nvSpPr>
          <p:cNvPr id="29" name="Obj [o727]"/>
          <p:cNvSpPr txBox="1"/>
          <p:nvPr/>
        </p:nvSpPr>
        <p:spPr>
          <a:xfrm>
            <a:off x="4737735" y="2393740"/>
            <a:ext cx="2433099" cy="684309"/>
          </a:xfrm>
          <a:prstGeom prst="rect">
            <a:avLst/>
          </a:prstGeom>
          <a:noFill/>
          <a:ln/>
        </p:spPr>
        <p:txBody>
          <a:bodyPr wrap="square" lIns="0" tIns="0" rIns="0" bIns="0" rtlCol="0" anchor="t"/>
          <a:lstStyle/>
          <a:p>
            <a:pPr algn="ctr" indent="0" marL="0">
              <a:buNone/>
            </a:pPr>
            <a:r>
              <a:rPr lang="en-US" sz="1122" dirty="0">
                <a:solidFill>
                  <a:srgbClr val="2D2D2D"/>
                </a:solidFill>
                <a:latin typeface="Arial" pitchFamily="34" charset="0"/>
                <a:ea typeface="Arial" pitchFamily="34" charset="-122"/>
                <a:cs typeface="Arial" pitchFamily="34" charset="-120"/>
              </a:rPr>
              <a:t>separación entre flancos GPIO, 3 nodos, 128 órdenes START por broadcast</a:t>
            </a:r>
            <a:endParaRPr lang="en-US" sz="1122" dirty="0"/>
          </a:p>
        </p:txBody>
      </p:sp>
      <p:sp>
        <p:nvSpPr>
          <p:cNvPr id="30" name="Obj [o728]"/>
          <p:cNvSpPr txBox="1"/>
          <p:nvPr/>
        </p:nvSpPr>
        <p:spPr>
          <a:xfrm>
            <a:off x="4737735" y="3116066"/>
            <a:ext cx="2433099" cy="684309"/>
          </a:xfrm>
          <a:prstGeom prst="rect">
            <a:avLst/>
          </a:prstGeom>
          <a:noFill/>
          <a:ln/>
        </p:spPr>
        <p:txBody>
          <a:bodyPr wrap="square" lIns="0" tIns="0" rIns="0" bIns="0" rtlCol="0" anchor="t"/>
          <a:lstStyle/>
          <a:p>
            <a:pPr algn="ctr" indent="0" marL="0">
              <a:buNone/>
            </a:pPr>
            <a:r>
              <a:rPr lang="en-US" sz="1035" dirty="0">
                <a:solidFill>
                  <a:srgbClr val="6B6B6B"/>
                </a:solidFill>
                <a:latin typeface="Arial" pitchFamily="34" charset="0"/>
                <a:ea typeface="Arial" pitchFamily="34" charset="-122"/>
                <a:cs typeface="Arial" pitchFamily="34" charset="-120"/>
              </a:rPr>
              <a:t>Sin relación con la posición relativa entre maestro y esclavos (maestro a ≈ 5 m)</a:t>
            </a:r>
            <a:endParaRPr lang="en-US" sz="1035" dirty="0"/>
          </a:p>
        </p:txBody>
      </p:sp>
      <p:sp>
        <p:nvSpPr>
          <p:cNvPr id="31" name="Obj [o729]"/>
          <p:cNvSpPr txBox="1"/>
          <p:nvPr/>
        </p:nvSpPr>
        <p:spPr>
          <a:xfrm>
            <a:off x="441794" y="3990461"/>
            <a:ext cx="6843091" cy="266120"/>
          </a:xfrm>
          <a:prstGeom prst="rect">
            <a:avLst/>
          </a:prstGeom>
          <a:noFill/>
          <a:ln/>
        </p:spPr>
        <p:txBody>
          <a:bodyPr wrap="square" lIns="0" tIns="0" rIns="0" bIns="0" rtlCol="0" anchor="t"/>
          <a:lstStyle/>
          <a:p>
            <a:pPr indent="0" marL="0">
              <a:buNone/>
            </a:pPr>
            <a:r>
              <a:rPr lang="en-US" sz="1208" b="1" dirty="0">
                <a:solidFill>
                  <a:srgbClr val="C55A11"/>
                </a:solidFill>
                <a:latin typeface="Arial" pitchFamily="34" charset="0"/>
                <a:ea typeface="Arial" pitchFamily="34" charset="-122"/>
                <a:cs typeface="Arial" pitchFamily="34" charset="-120"/>
              </a:rPr>
              <a:t>Resultado preliminar: no es una especificación garantizada.</a:t>
            </a:r>
            <a:endParaRPr lang="en-US" sz="1208" dirty="0"/>
          </a:p>
        </p:txBody>
      </p:sp>
      <p:sp>
        <p:nvSpPr>
          <p:cNvPr id="32" name="Obj [o73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documento de tesis, 04_arquitectura.tex (método, resultado y límites).</a:t>
            </a:r>
            <a:endParaRPr lang="en-US" sz="800" dirty="0"/>
          </a:p>
        </p:txBody>
      </p:sp>
      <p:sp>
        <p:nvSpPr>
          <p:cNvPr id="33" name="Obj [o73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Esta medición no incluye el inicio real del ADC ni la deriva posterior</a:t>
            </a:r>
            <a:endParaRPr lang="en-US" sz="1400" dirty="0"/>
          </a:p>
        </p:txBody>
      </p:sp>
      <p:sp>
        <p:nvSpPr>
          <p:cNvPr id="34" name="Obj [o732]"/>
          <p:cNvSpPr/>
          <p:nvPr/>
        </p:nvSpPr>
        <p:spPr>
          <a:xfrm>
            <a:off x="441794" y="1557362"/>
            <a:ext cx="2128962" cy="342155"/>
          </a:xfrm>
          <a:prstGeom prst="rect">
            <a:avLst/>
          </a:prstGeom>
          <a:solidFill>
            <a:srgbClr val="1F4E79"/>
          </a:solidFill>
          <a:ln w="6350">
            <a:solidFill>
              <a:srgbClr val="1F4E79"/>
            </a:solidFill>
            <a:prstDash val="solid"/>
          </a:ln>
        </p:spPr>
      </p:sp>
      <p:sp>
        <p:nvSpPr>
          <p:cNvPr id="35" name="Obj [o733]"/>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Qué mide</a:t>
            </a:r>
            <a:endParaRPr lang="en-US" sz="1208" dirty="0"/>
          </a:p>
        </p:txBody>
      </p:sp>
      <p:sp>
        <p:nvSpPr>
          <p:cNvPr id="36" name="Obj [o734]"/>
          <p:cNvSpPr/>
          <p:nvPr/>
        </p:nvSpPr>
        <p:spPr>
          <a:xfrm>
            <a:off x="441794" y="1899517"/>
            <a:ext cx="2128962" cy="2090945"/>
          </a:xfrm>
          <a:prstGeom prst="rect">
            <a:avLst/>
          </a:prstGeom>
          <a:solidFill>
            <a:srgbClr val="FFFFFF"/>
          </a:solidFill>
          <a:ln w="15840">
            <a:solidFill>
              <a:srgbClr val="1F4E79"/>
            </a:solidFill>
            <a:prstDash val="solid"/>
          </a:ln>
        </p:spPr>
      </p:sp>
      <p:sp>
        <p:nvSpPr>
          <p:cNvPr id="37" name="Obj [o735]"/>
          <p:cNvSpPr txBox="1"/>
          <p:nvPr/>
        </p:nvSpPr>
        <p:spPr>
          <a:xfrm>
            <a:off x="533036" y="1960344"/>
            <a:ext cx="1946479" cy="1969290"/>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Llegada de la orden y flanco GPIO en cada ESP32</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Con los nodos juntos, por el alcance de las puntas</a:t>
            </a:r>
            <a:endParaRPr lang="en-US" sz="1078" dirty="0"/>
          </a:p>
        </p:txBody>
      </p:sp>
      <p:sp>
        <p:nvSpPr>
          <p:cNvPr id="38" name="Obj [o736]"/>
          <p:cNvSpPr/>
          <p:nvPr/>
        </p:nvSpPr>
        <p:spPr>
          <a:xfrm>
            <a:off x="2798859" y="1557362"/>
            <a:ext cx="2128962" cy="342155"/>
          </a:xfrm>
          <a:prstGeom prst="rect">
            <a:avLst/>
          </a:prstGeom>
          <a:solidFill>
            <a:srgbClr val="C55A11"/>
          </a:solidFill>
          <a:ln w="6350">
            <a:solidFill>
              <a:srgbClr val="C55A11"/>
            </a:solidFill>
            <a:prstDash val="solid"/>
          </a:ln>
        </p:spPr>
      </p:sp>
      <p:sp>
        <p:nvSpPr>
          <p:cNvPr id="39" name="Obj [o737]"/>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Qué falta</a:t>
            </a:r>
            <a:endParaRPr lang="en-US" sz="1208" dirty="0"/>
          </a:p>
        </p:txBody>
      </p:sp>
      <p:sp>
        <p:nvSpPr>
          <p:cNvPr id="40" name="Obj [o738]"/>
          <p:cNvSpPr/>
          <p:nvPr/>
        </p:nvSpPr>
        <p:spPr>
          <a:xfrm>
            <a:off x="2798859" y="1899517"/>
            <a:ext cx="2128962" cy="2090945"/>
          </a:xfrm>
          <a:prstGeom prst="rect">
            <a:avLst/>
          </a:prstGeom>
          <a:solidFill>
            <a:srgbClr val="FFFFFF"/>
          </a:solidFill>
          <a:ln w="15840">
            <a:solidFill>
              <a:srgbClr val="C55A11"/>
            </a:solidFill>
            <a:prstDash val="solid"/>
          </a:ln>
        </p:spPr>
      </p:sp>
      <p:sp>
        <p:nvSpPr>
          <p:cNvPr id="41" name="Obj [o739]"/>
          <p:cNvSpPr txBox="1"/>
          <p:nvPr/>
        </p:nvSpPr>
        <p:spPr>
          <a:xfrm>
            <a:off x="2890100" y="1960344"/>
            <a:ext cx="1946479" cy="1969290"/>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Inicio efectivo del ADC: al entrar en muestreo se reinicia el modulador ΔΣ, con un retardo fijo y común nunca calibrado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Deriva relativa de los relojes durante la captura</a:t>
            </a:r>
            <a:endParaRPr lang="en-US" sz="1078" dirty="0"/>
          </a:p>
        </p:txBody>
      </p:sp>
      <p:sp>
        <p:nvSpPr>
          <p:cNvPr id="42" name="Obj [o740]"/>
          <p:cNvSpPr/>
          <p:nvPr/>
        </p:nvSpPr>
        <p:spPr>
          <a:xfrm>
            <a:off x="5155924" y="1557362"/>
            <a:ext cx="2128962" cy="342155"/>
          </a:xfrm>
          <a:prstGeom prst="rect">
            <a:avLst/>
          </a:prstGeom>
          <a:solidFill>
            <a:srgbClr val="2E75B6"/>
          </a:solidFill>
          <a:ln w="6350">
            <a:solidFill>
              <a:srgbClr val="2E75B6"/>
            </a:solidFill>
            <a:prstDash val="solid"/>
          </a:ln>
        </p:spPr>
      </p:sp>
      <p:sp>
        <p:nvSpPr>
          <p:cNvPr id="43" name="Obj [o741]"/>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Experimentos pendientes</a:t>
            </a:r>
            <a:endParaRPr lang="en-US" sz="1208" dirty="0"/>
          </a:p>
        </p:txBody>
      </p:sp>
      <p:sp>
        <p:nvSpPr>
          <p:cNvPr id="44" name="Obj [o742]"/>
          <p:cNvSpPr/>
          <p:nvPr/>
        </p:nvSpPr>
        <p:spPr>
          <a:xfrm>
            <a:off x="5155924" y="1899517"/>
            <a:ext cx="2128962" cy="2090945"/>
          </a:xfrm>
          <a:prstGeom prst="rect">
            <a:avLst/>
          </a:prstGeom>
          <a:solidFill>
            <a:srgbClr val="FFFFFF"/>
          </a:solidFill>
          <a:ln w="15840">
            <a:solidFill>
              <a:srgbClr val="2E75B6"/>
            </a:solidFill>
            <a:prstDash val="solid"/>
          </a:ln>
        </p:spPr>
      </p:sp>
      <p:sp>
        <p:nvSpPr>
          <p:cNvPr id="45" name="Obj [o743]"/>
          <p:cNvSpPr txBox="1"/>
          <p:nvPr/>
        </p:nvSpPr>
        <p:spPr>
          <a:xfrm>
            <a:off x="5247165" y="1960344"/>
            <a:ext cx="1946479" cy="1969290"/>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Señal de referencia común a todos los nodos y fase relativa entre trazas</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Nodos separados decenas de metros</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Repetibilidad, nº de nodos, temperatura, canal Wi-Fi</a:t>
            </a:r>
            <a:endParaRPr lang="en-US" sz="1078" dirty="0"/>
          </a:p>
        </p:txBody>
      </p:sp>
      <p:sp>
        <p:nvSpPr>
          <p:cNvPr id="46" name="Obj [o74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y 5; documento de tesis, 04_arquitectura.tex (limitaciones). La señal de referencia común es propuesta propia.</a:t>
            </a:r>
            <a:endParaRPr lang="en-US" sz="800" dirty="0"/>
          </a:p>
        </p:txBody>
      </p:sp>
      <p:sp>
        <p:nvSpPr>
          <p:cNvPr id="47" name="Obj [o74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Tras el disparo, cada nodo muestrea con su reloj local y la deriva se acumula</a:t>
            </a:r>
            <a:endParaRPr lang="en-US" sz="1400" dirty="0"/>
          </a:p>
        </p:txBody>
      </p:sp>
      <p:sp>
        <p:nvSpPr>
          <p:cNvPr id="48" name="Obj [o746]"/>
          <p:cNvSpPr/>
          <p:nvPr/>
        </p:nvSpPr>
        <p:spPr>
          <a:xfrm>
            <a:off x="441794" y="1557362"/>
            <a:ext cx="3345511"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9" name="Obj [o747]"/>
              <p:cNvSpPr txBox="1"/>
              <p:nvPr/>
            </p:nvSpPr>
            <p:spPr>
              <a:xfrm>
                <a:off x="441794" y="1557362"/>
                <a:ext cx="3345511"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(1+</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ε</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49" name="Obj [o747]"/>
              <p:cNvSpPr txBox="1"/>
              <p:nvPr/>
            </p:nvSpPr>
            <p:spPr>
              <a:xfrm>
                <a:off x="441794" y="1557362"/>
                <a:ext cx="3345511"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fs,i = fs(1 + εi)</a:t>
                </a:r>
                <a:endParaRPr lang="en-US" sz="2071" dirty="0"/>
              </a:p>
            </p:txBody>
          </p:sp>
        </mc:Fallback>
      </mc:AlternateContent>
      <p:sp>
        <p:nvSpPr>
          <p:cNvPr id="50" name="Obj [o748]"/>
          <p:cNvSpPr/>
          <p:nvPr/>
        </p:nvSpPr>
        <p:spPr>
          <a:xfrm>
            <a:off x="3939374" y="1557362"/>
            <a:ext cx="3345511"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1" name="Obj [o749]"/>
              <p:cNvSpPr txBox="1"/>
              <p:nvPr/>
            </p:nvSpPr>
            <p:spPr>
              <a:xfrm>
                <a:off x="3939374" y="1557362"/>
                <a:ext cx="3345511"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0,i</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n</m:t>
                          </m:r>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(1+</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ε</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51" name="Obj [o749]"/>
              <p:cNvSpPr txBox="1"/>
              <p:nvPr/>
            </p:nvSpPr>
            <p:spPr>
              <a:xfrm>
                <a:off x="3939374" y="1557362"/>
                <a:ext cx="3345511"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ti[n] = t0,i + n / (fs(1 + εi))</a:t>
                </a:r>
                <a:endParaRPr lang="en-US" sz="2071" dirty="0"/>
              </a:p>
            </p:txBody>
          </p:sp>
        </mc:Fallback>
      </mc:AlternateContent>
      <p:sp>
        <p:nvSpPr>
          <p:cNvPr id="52" name="Obj [o750]"/>
          <p:cNvSpPr/>
          <p:nvPr/>
        </p:nvSpPr>
        <p:spPr>
          <a:xfrm>
            <a:off x="441794" y="2317706"/>
            <a:ext cx="3345511"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3" name="Obj [o751]"/>
              <p:cNvSpPr txBox="1"/>
              <p:nvPr/>
            </p:nvSpPr>
            <p:spPr>
              <a:xfrm>
                <a:off x="441794" y="2317706"/>
                <a:ext cx="3345511"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Δt=</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ε</m:t>
                          </m:r>
                        </m:e>
                        <m:sub>
                          <m:r>
                            <m:rPr>
                              <m:sty m:val="p"/>
                            </m:rPr>
                            <a:rPr lang="es-ES" sz="2400">
                              <a:solidFill>
                                <a:srgbClr val="1F4E79"/>
                              </a:solidFill>
                              <a:latin typeface="Cambria Math" panose="02040503050406030204" pitchFamily="18" charset="0"/>
                            </a:rPr>
                            <m:t xml:space="preserve">rel</m:t>
                          </m:r>
                        </m:sub>
                      </m:sSub>
                      <m:r>
                        <a:rPr lang="es-ES" sz="2400" i="1">
                          <a:solidFill>
                            <a:srgbClr val="1F4E79"/>
                          </a:solidFill>
                          <a:latin typeface="Cambria Math" panose="02040503050406030204" pitchFamily="18" charset="0"/>
                        </a:rPr>
                        <m:t xml:space="preserve">·T</m:t>
                      </m:r>
                    </m:oMath>
                  </m:oMathPara>
                </a14:m>
                <a:endParaRPr lang="es-ES"/>
              </a:p>
            </p:txBody>
          </p:sp>
        </mc:Choice>
        <mc:Fallback>
          <p:sp>
            <p:nvSpPr>
              <p:cNvPr id="53" name="Obj [o751]"/>
              <p:cNvSpPr txBox="1"/>
              <p:nvPr/>
            </p:nvSpPr>
            <p:spPr>
              <a:xfrm>
                <a:off x="441794" y="2317706"/>
                <a:ext cx="3345511"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Δt = ε_rel · T</a:t>
                </a:r>
                <a:endParaRPr lang="en-US" sz="2071" dirty="0"/>
              </a:p>
            </p:txBody>
          </p:sp>
        </mc:Fallback>
      </mc:AlternateContent>
      <p:graphicFrame>
        <p:nvGraphicFramePr>
          <p:cNvPr id="21" name="Obj [o752]"/>
          <p:cNvGraphicFramePr>
            <a:graphicFrameLocks noGrp="1"/>
          </p:cNvGraphicFramePr>
          <p:nvPr>
            <p:extLst>
              <p:ext uri="{D42A27DB-BD31-4B8C-83A1-F6EECF244321}">
                <p14:modId xmlns:p14="http://schemas.microsoft.com/office/powerpoint/2010/main" val="1579011935"/>
              </p:ext>
            </p:extLst>
          </p:nvPr>
        </p:nvGraphicFramePr>
        <p:xfrm>
          <a:off x="3939374" y="2317706"/>
          <a:ext cx="3345511" cy="914400"/>
        </p:xfrm>
        <a:graphic>
          <a:graphicData uri="http://schemas.openxmlformats.org/drawingml/2006/table">
            <a:tbl>
              <a:tblPr/>
              <a:tblGrid>
                <a:gridCol w="1064481"/>
                <a:gridCol w="1140515"/>
                <a:gridCol w="1140515"/>
              </a:tblGrid>
              <a:tr h="228103">
                <a:tc>
                  <a:txBody>
                    <a:bodyPr/>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035" i="1">
                                  <a:solidFill>
                                    <a:srgbClr val="FFFFFF"/>
                                  </a:solidFill>
                                  <a:latin typeface="Cambria Math" panose="02040503050406030204" pitchFamily="18" charset="0"/>
                                </a:rPr>
                                <m:t xml:space="preserve">ε</m:t>
                              </m:r>
                            </m:oMath>
                          </a14:m>
                        </mc:Choice>
                        <mc:Fallback>
                          <a:r>
                            <a:rPr lang="en-US" sz="1035" b="1" dirty="0">
                              <a:solidFill>
                                <a:srgbClr val="FFFFFF"/>
                              </a:solidFill>
                              <a:latin typeface="Arial" pitchFamily="34" charset="0"/>
                              <a:ea typeface="Arial" pitchFamily="34" charset="-122"/>
                              <a:cs typeface="Arial" pitchFamily="34" charset="-120"/>
                            </a:rPr>
                            <a:t>ε</a:t>
                          </a:r>
                        </mc:Fallback>
                      </mc:AlternateContent>
                      <a:r>
                        <a:rPr lang="en-US" sz="1035" b="1" dirty="0">
                          <a:solidFill>
                            <a:srgbClr val="FFFFFF"/>
                          </a:solidFill>
                          <a:latin typeface="Arial" pitchFamily="34" charset="0"/>
                          <a:ea typeface="Arial" pitchFamily="34" charset="-122"/>
                          <a:cs typeface="Arial" pitchFamily="34" charset="-120"/>
                        </a:rPr>
                        <a:t> relativo</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T = 1 s</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T = 10 s</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28103">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10 ppm</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10 µs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100 µs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28103">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50 ppm</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50 µs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500 µs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5" name="Obj [o753]"/>
          <p:cNvSpPr txBox="1"/>
          <p:nvPr/>
        </p:nvSpPr>
        <p:spPr>
          <a:xfrm>
            <a:off x="441794" y="3382187"/>
            <a:ext cx="6843091" cy="912412"/>
          </a:xfrm>
          <a:prstGeom prst="rect">
            <a:avLst/>
          </a:prstGeom>
          <a:noFill/>
          <a:ln/>
        </p:spPr>
        <p:txBody>
          <a:bodyPr wrap="square" lIns="0" tIns="0" rIns="0" bIns="0" rtlCol="0" anchor="t"/>
          <a:lstStyle/>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Dos relojes que difieren en </a:t>
            </a:r>
            <mc:AlternateContent xmlns:mc="http://schemas.openxmlformats.org/markup-compatibility/2006">
              <mc:Choice xmlns:a14="http://schemas.microsoft.com/office/drawing/2010/main" Requires="a14">
                <a14:m>
                  <m:oMath xmlns:m="http://schemas.openxmlformats.org/officeDocument/2006/math">
                    <m:r>
                      <a:rPr lang="es-ES" sz="1208" i="1">
                        <a:solidFill>
                          <a:srgbClr val="2D2D2D"/>
                        </a:solidFill>
                        <a:latin typeface="Cambria Math" panose="02040503050406030204" pitchFamily="18" charset="0"/>
                      </a:rPr>
                      <m:t xml:space="preserve">ε</m:t>
                    </m:r>
                  </m:oMath>
                </a14:m>
              </mc:Choice>
              <mc:Fallback>
                <a:r>
                  <a:rPr lang="en-US" sz="1208" dirty="0">
                    <a:solidFill>
                      <a:srgbClr val="2D2D2D"/>
                    </a:solidFill>
                    <a:latin typeface="Arial" pitchFamily="34" charset="0"/>
                    <a:ea typeface="Arial" pitchFamily="34" charset="-122"/>
                    <a:cs typeface="Arial" pitchFamily="34" charset="-120"/>
                  </a:rPr>
                  <a:t>ε</a:t>
                </a:r>
              </mc:Fallback>
            </mc:AlternateContent>
            <a:r>
              <a:rPr lang="en-US" sz="1208" dirty="0">
                <a:solidFill>
                  <a:srgbClr val="2D2D2D"/>
                </a:solidFill>
                <a:latin typeface="Arial" pitchFamily="34" charset="0"/>
                <a:ea typeface="Arial" pitchFamily="34" charset="-122"/>
                <a:cs typeface="Arial" pitchFamily="34" charset="-120"/>
              </a:rPr>
              <a:t> se separan </a:t>
            </a:r>
            <mc:AlternateContent xmlns:mc="http://schemas.openxmlformats.org/markup-compatibility/2006">
              <mc:Choice xmlns:a14="http://schemas.microsoft.com/office/drawing/2010/main" Requires="a14">
                <a14:m>
                  <m:oMath xmlns:m="http://schemas.openxmlformats.org/officeDocument/2006/math">
                    <m:r>
                      <a:rPr lang="es-ES" sz="1208" i="1">
                        <a:solidFill>
                          <a:srgbClr val="2D2D2D"/>
                        </a:solidFill>
                        <a:latin typeface="Cambria Math" panose="02040503050406030204" pitchFamily="18" charset="0"/>
                      </a:rPr>
                      <m:t xml:space="preserve">ε</m:t>
                    </m:r>
                  </m:oMath>
                </a14:m>
              </mc:Choice>
              <mc:Fallback>
                <a:r>
                  <a:rPr lang="en-US" sz="1208" dirty="0">
                    <a:solidFill>
                      <a:srgbClr val="2D2D2D"/>
                    </a:solidFill>
                    <a:latin typeface="Arial" pitchFamily="34" charset="0"/>
                    <a:ea typeface="Arial" pitchFamily="34" charset="-122"/>
                    <a:cs typeface="Arial" pitchFamily="34" charset="-120"/>
                  </a:rPr>
                  <a:t>ε</a:t>
                </a:r>
              </mc:Fallback>
            </mc:AlternateContent>
            <a:r>
              <a:rPr lang="en-US" sz="1208" dirty="0">
                <a:solidFill>
                  <a:srgbClr val="2D2D2D"/>
                </a:solidFill>
                <a:latin typeface="Arial" pitchFamily="34" charset="0"/>
                <a:ea typeface="Arial" pitchFamily="34" charset="-122"/>
                <a:cs typeface="Arial" pitchFamily="34" charset="-120"/>
              </a:rPr>
              <a:t>·T al cabo de T</a:t>
            </a:r>
            <a:endParaRPr lang="en-US" sz="1208" dirty="0"/>
          </a:p>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Con 50 ppm y 10 s, la deriva (500 µs) supera al jitter de inicio</a:t>
            </a:r>
            <a:endParaRPr lang="en-US" sz="1208" dirty="0"/>
          </a:p>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Falta saber si el reloj del ADC es un cristal o el oscilador interno</a:t>
            </a:r>
            <a:endParaRPr lang="en-US" sz="1208" dirty="0"/>
          </a:p>
        </p:txBody>
      </p:sp>
      <p:sp>
        <p:nvSpPr>
          <p:cNvPr id="56" name="Obj [o754]"/>
          <p:cNvSpPr txBox="1"/>
          <p:nvPr/>
        </p:nvSpPr>
        <p:spPr>
          <a:xfrm>
            <a:off x="3939374" y="3078049"/>
            <a:ext cx="3345511"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TABLA ILUSTRATIVA: </a:t>
            </a:r>
            <mc:AlternateContent xmlns:mc="http://schemas.openxmlformats.org/markup-compatibility/2006">
              <mc:Choice xmlns:a14="http://schemas.microsoft.com/office/drawing/2010/main" Requires="a14">
                <a14:m>
                  <m:oMath xmlns:m="http://schemas.openxmlformats.org/officeDocument/2006/math">
                    <m:r>
                      <a:rPr lang="es-ES" sz="863" i="1">
                        <a:solidFill>
                          <a:srgbClr val="C55A11"/>
                        </a:solidFill>
                        <a:latin typeface="Cambria Math" panose="02040503050406030204" pitchFamily="18" charset="0"/>
                      </a:rPr>
                      <m:t xml:space="preserve">ε</m:t>
                    </m:r>
                  </m:oMath>
                </a14:m>
              </mc:Choice>
              <mc:Fallback>
                <a:r>
                  <a:rPr lang="en-US" sz="863" b="1" dirty="0">
                    <a:solidFill>
                      <a:srgbClr val="C55A11"/>
                    </a:solidFill>
                    <a:latin typeface="Arial" pitchFamily="34" charset="0"/>
                    <a:ea typeface="Arial" pitchFamily="34" charset="-122"/>
                    <a:cs typeface="Arial" pitchFamily="34" charset="-120"/>
                  </a:rPr>
                  <a:t>ε</a:t>
                </a:r>
              </mc:Fallback>
            </mc:AlternateContent>
            <a:r>
              <a:rPr lang="en-US" sz="863" b="1" dirty="0">
                <a:solidFill>
                  <a:srgbClr val="C55A11"/>
                </a:solidFill>
                <a:latin typeface="Arial" pitchFamily="34" charset="0"/>
                <a:ea typeface="Arial" pitchFamily="34" charset="-122"/>
                <a:cs typeface="Arial" pitchFamily="34" charset="-120"/>
              </a:rPr>
              <a:t> NO MEDIDO</a:t>
            </a:r>
            <a:endParaRPr lang="en-US" sz="863" dirty="0"/>
          </a:p>
        </p:txBody>
      </p:sp>
      <p:sp>
        <p:nvSpPr>
          <p:cNvPr id="57" name="Obj [o75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ec. 16 y 17. Valores de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ε</m:t>
                    </m:r>
                  </m:oMath>
                </a14:m>
              </mc:Choice>
              <mc:Fallback>
                <a:r>
                  <a:rPr lang="en-US" sz="800" dirty="0">
                    <a:solidFill>
                      <a:srgbClr val="6B6B6B"/>
                    </a:solidFill>
                    <a:latin typeface="Arial" pitchFamily="34" charset="0"/>
                    <a:ea typeface="Arial" pitchFamily="34" charset="-122"/>
                    <a:cs typeface="Arial" pitchFamily="34" charset="-120"/>
                  </a:rPr>
                  <a:t>ε</a:t>
                </a:r>
              </mc:Fallback>
            </mc:AlternateContent>
            <a:r>
              <a:rPr lang="en-US" sz="800" dirty="0">
                <a:solidFill>
                  <a:srgbClr val="6B6B6B"/>
                </a:solidFill>
                <a:latin typeface="Arial" pitchFamily="34" charset="0"/>
                <a:ea typeface="Arial" pitchFamily="34" charset="-122"/>
                <a:cs typeface="Arial" pitchFamily="34" charset="-120"/>
              </a:rPr>
              <a:t>: ilustrativos (cristales típicos de decenas de ppm), no medidos en el sistema.</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350"/>
                                        <p:tgtEl>
                                          <p:spTgt spid="3"/>
                                        </p:tgtEl>
                                      </p:cBhvr>
                                    </p:animEffect>
                                    <p:set>
                                      <p:cBhvr>
                                        <p:cTn id="20" dur="1" fill="hold">
                                          <p:stCondLst>
                                            <p:cond delay="349"/>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350"/>
                                        <p:tgtEl>
                                          <p:spTgt spid="5"/>
                                        </p:tgtEl>
                                      </p:cBhvr>
                                    </p:animEffect>
                                    <p:set>
                                      <p:cBhvr>
                                        <p:cTn id="23" dur="1" fill="hold">
                                          <p:stCondLst>
                                            <p:cond delay="349"/>
                                          </p:stCondLst>
                                        </p:cTn>
                                        <p:tgtEl>
                                          <p:spTgt spid="5"/>
                                        </p:tgtEl>
                                        <p:attrNameLst>
                                          <p:attrName>style.visibility</p:attrName>
                                        </p:attrNameLst>
                                      </p:cBhvr>
                                      <p:to>
                                        <p:strVal val="hidden"/>
                                      </p:to>
                                    </p:set>
                                  </p:childTnLst>
                                </p:cTn>
                              </p:par>
                              <p:par>
                                <p:cTn id="24" presetID="0" presetClass="path" presetSubtype="0" accel="50000" decel="50000" fill="hold" nodeType="withEffect">
                                  <p:stCondLst>
                                    <p:cond delay="0"/>
                                  </p:stCondLst>
                                  <p:childTnLst>
                                    <p:animMotion origin="layout" path="M 0 0 L 0.39250 -0.21322 E" pathEditMode="relative" rAng="0" ptsTypes="AA">
                                      <p:cBhvr>
                                        <p:cTn id="25" dur="750" fill="hold"/>
                                        <p:tgtEl>
                                          <p:spTgt spid="4"/>
                                        </p:tgtEl>
                                        <p:attrNameLst>
                                          <p:attrName>ppt_x</p:attrName>
                                          <p:attrName>ppt_y</p:attrName>
                                        </p:attrNameLst>
                                      </p:cBhvr>
                                      <p:rCtr x="19625" y="-10661"/>
                                    </p:animMotion>
                                  </p:childTnLst>
                                </p:cTn>
                              </p:par>
                              <p:par>
                                <p:cTn id="26" presetID="6" presetClass="emph" presetSubtype="0" accel="50000" decel="50000" fill="hold" nodeType="withEffect">
                                  <p:stCondLst>
                                    <p:cond delay="0"/>
                                  </p:stCondLst>
                                  <p:childTnLst>
                                    <p:animScale>
                                      <p:cBhvr>
                                        <p:cTn id="27" dur="750" fill="hold"/>
                                        <p:tgtEl>
                                          <p:spTgt spid="4"/>
                                        </p:tgtEl>
                                      </p:cBhvr>
                                      <p:by x="17506" y="17506"/>
                                    </p:animScale>
                                  </p:childTnLst>
                                </p:cTn>
                              </p:par>
                              <p:par>
                                <p:cTn id="28" presetID="10" presetClass="entr" presetSubtype="0" fill="hold" nodeType="withEffect">
                                  <p:stCondLst>
                                    <p:cond delay="45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childTnLst>
                                </p:cTn>
                              </p:par>
                              <p:par>
                                <p:cTn id="31" presetID="10" presetClass="entr" presetSubtype="0" fill="hold" nodeType="withEffect">
                                  <p:stCondLst>
                                    <p:cond delay="52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50"/>
                                        <p:tgtEl>
                                          <p:spTgt spid="7"/>
                                        </p:tgtEl>
                                      </p:cBhvr>
                                    </p:animEffect>
                                  </p:childTnLst>
                                </p:cTn>
                              </p:par>
                              <p:par>
                                <p:cTn id="34" presetID="22" presetClass="entr" presetSubtype="4" fill="hold" nodeType="withEffect">
                                  <p:stCondLst>
                                    <p:cond delay="59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10" presetClass="entr" presetSubtype="0" fill="hold" nodeType="withEffect">
                                  <p:stCondLst>
                                    <p:cond delay="66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childTnLst>
                                </p:cTn>
                              </p:par>
                              <p:par>
                                <p:cTn id="40" presetID="22" presetClass="entr" presetSubtype="4" fill="hold" nodeType="withEffect">
                                  <p:stCondLst>
                                    <p:cond delay="730"/>
                                  </p:stCondLst>
                                  <p:childTnLst>
                                    <p:set>
                                      <p:cBhvr>
                                        <p:cTn id="41" dur="1" fill="hold">
                                          <p:stCondLst>
                                            <p:cond delay="0"/>
                                          </p:stCondLst>
                                        </p:cTn>
                                        <p:tgtEl>
                                          <p:spTgt spid="10"/>
                                        </p:tgtEl>
                                        <p:attrNameLst>
                                          <p:attrName>style.visibility</p:attrName>
                                        </p:attrNameLst>
                                      </p:cBhvr>
                                      <p:to>
                                        <p:strVal val="visible"/>
                                      </p:to>
                                    </p:set>
                                    <p:animEffect transition="in" filter="wipe(down)">
                                      <p:cBhvr>
                                        <p:cTn id="42" dur="500"/>
                                        <p:tgtEl>
                                          <p:spTgt spid="10"/>
                                        </p:tgtEl>
                                      </p:cBhvr>
                                    </p:animEffect>
                                  </p:childTnLst>
                                </p:cTn>
                              </p:par>
                              <p:par>
                                <p:cTn id="43" presetID="10" presetClass="entr" presetSubtype="0" fill="hold" nodeType="withEffect">
                                  <p:stCondLst>
                                    <p:cond delay="80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450"/>
                                        <p:tgtEl>
                                          <p:spTgt spid="11"/>
                                        </p:tgtEl>
                                      </p:cBhvr>
                                    </p:animEffect>
                                  </p:childTnLst>
                                </p:cTn>
                              </p:par>
                              <p:par>
                                <p:cTn id="46" presetID="22" presetClass="entr" presetSubtype="4" fill="hold" nodeType="withEffect">
                                  <p:stCondLst>
                                    <p:cond delay="870"/>
                                  </p:stCondLst>
                                  <p:childTnLst>
                                    <p:set>
                                      <p:cBhvr>
                                        <p:cTn id="47" dur="1" fill="hold">
                                          <p:stCondLst>
                                            <p:cond delay="0"/>
                                          </p:stCondLst>
                                        </p:cTn>
                                        <p:tgtEl>
                                          <p:spTgt spid="12"/>
                                        </p:tgtEl>
                                        <p:attrNameLst>
                                          <p:attrName>style.visibility</p:attrName>
                                        </p:attrNameLst>
                                      </p:cBhvr>
                                      <p:to>
                                        <p:strVal val="visible"/>
                                      </p:to>
                                    </p:set>
                                    <p:animEffect transition="in" filter="wipe(down)">
                                      <p:cBhvr>
                                        <p:cTn id="48" dur="500"/>
                                        <p:tgtEl>
                                          <p:spTgt spid="12"/>
                                        </p:tgtEl>
                                      </p:cBhvr>
                                    </p:animEffect>
                                  </p:childTnLst>
                                </p:cTn>
                              </p:par>
                              <p:par>
                                <p:cTn id="49" presetID="10" presetClass="entr" presetSubtype="0" fill="hold" nodeType="withEffect">
                                  <p:stCondLst>
                                    <p:cond delay="94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50"/>
                                        <p:tgtEl>
                                          <p:spTgt spid="13"/>
                                        </p:tgtEl>
                                      </p:cBhvr>
                                    </p:animEffect>
                                  </p:childTnLst>
                                </p:cTn>
                              </p:par>
                              <p:par>
                                <p:cTn id="52" presetID="22" presetClass="entr" presetSubtype="4" fill="hold" nodeType="withEffect">
                                  <p:stCondLst>
                                    <p:cond delay="1010"/>
                                  </p:stCondLst>
                                  <p:childTnLst>
                                    <p:set>
                                      <p:cBhvr>
                                        <p:cTn id="53" dur="1" fill="hold">
                                          <p:stCondLst>
                                            <p:cond delay="0"/>
                                          </p:stCondLst>
                                        </p:cTn>
                                        <p:tgtEl>
                                          <p:spTgt spid="14"/>
                                        </p:tgtEl>
                                        <p:attrNameLst>
                                          <p:attrName>style.visibility</p:attrName>
                                        </p:attrNameLst>
                                      </p:cBhvr>
                                      <p:to>
                                        <p:strVal val="visible"/>
                                      </p:to>
                                    </p:set>
                                    <p:animEffect transition="in" filter="wipe(down)">
                                      <p:cBhvr>
                                        <p:cTn id="54" dur="500"/>
                                        <p:tgtEl>
                                          <p:spTgt spid="14"/>
                                        </p:tgtEl>
                                      </p:cBhvr>
                                    </p:animEffect>
                                  </p:childTnLst>
                                </p:cTn>
                              </p:par>
                              <p:par>
                                <p:cTn id="55" presetID="10" presetClass="entr" presetSubtype="0" fill="hold" nodeType="withEffect">
                                  <p:stCondLst>
                                    <p:cond delay="108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50"/>
                                        <p:tgtEl>
                                          <p:spTgt spid="15"/>
                                        </p:tgtEl>
                                      </p:cBhvr>
                                    </p:animEffect>
                                  </p:childTnLst>
                                </p:cTn>
                              </p:par>
                              <p:par>
                                <p:cTn id="58" presetID="22" presetClass="entr" presetSubtype="4" fill="hold" nodeType="withEffect">
                                  <p:stCondLst>
                                    <p:cond delay="1150"/>
                                  </p:stCondLst>
                                  <p:childTnLst>
                                    <p:set>
                                      <p:cBhvr>
                                        <p:cTn id="59" dur="1" fill="hold">
                                          <p:stCondLst>
                                            <p:cond delay="0"/>
                                          </p:stCondLst>
                                        </p:cTn>
                                        <p:tgtEl>
                                          <p:spTgt spid="16"/>
                                        </p:tgtEl>
                                        <p:attrNameLst>
                                          <p:attrName>style.visibility</p:attrName>
                                        </p:attrNameLst>
                                      </p:cBhvr>
                                      <p:to>
                                        <p:strVal val="visible"/>
                                      </p:to>
                                    </p:set>
                                    <p:animEffect transition="in" filter="wipe(down)">
                                      <p:cBhvr>
                                        <p:cTn id="60" dur="500"/>
                                        <p:tgtEl>
                                          <p:spTgt spid="16"/>
                                        </p:tgtEl>
                                      </p:cBhvr>
                                    </p:animEffect>
                                  </p:childTnLst>
                                </p:cTn>
                              </p:par>
                              <p:par>
                                <p:cTn id="61" presetID="10" presetClass="entr" presetSubtype="0" fill="hold" nodeType="withEffect">
                                  <p:stCondLst>
                                    <p:cond delay="122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450"/>
                                        <p:tgtEl>
                                          <p:spTgt spid="17"/>
                                        </p:tgtEl>
                                      </p:cBhvr>
                                    </p:animEffect>
                                  </p:childTnLst>
                                </p:cTn>
                              </p:par>
                              <p:par>
                                <p:cTn id="64" presetID="22" presetClass="entr" presetSubtype="4" fill="hold" nodeType="withEffect">
                                  <p:stCondLst>
                                    <p:cond delay="1290"/>
                                  </p:stCondLst>
                                  <p:childTnLst>
                                    <p:set>
                                      <p:cBhvr>
                                        <p:cTn id="65" dur="1" fill="hold">
                                          <p:stCondLst>
                                            <p:cond delay="0"/>
                                          </p:stCondLst>
                                        </p:cTn>
                                        <p:tgtEl>
                                          <p:spTgt spid="18"/>
                                        </p:tgtEl>
                                        <p:attrNameLst>
                                          <p:attrName>style.visibility</p:attrName>
                                        </p:attrNameLst>
                                      </p:cBhvr>
                                      <p:to>
                                        <p:strVal val="visible"/>
                                      </p:to>
                                    </p:set>
                                    <p:animEffect transition="in" filter="wipe(down)">
                                      <p:cBhvr>
                                        <p:cTn id="66" dur="500"/>
                                        <p:tgtEl>
                                          <p:spTgt spid="18"/>
                                        </p:tgtEl>
                                      </p:cBhvr>
                                    </p:animEffect>
                                  </p:childTnLst>
                                </p:cTn>
                              </p:par>
                              <p:par>
                                <p:cTn id="67" presetID="22" presetClass="entr" presetSubtype="4" fill="hold" nodeType="withEffect">
                                  <p:stCondLst>
                                    <p:cond delay="1360"/>
                                  </p:stCondLst>
                                  <p:childTnLst>
                                    <p:set>
                                      <p:cBhvr>
                                        <p:cTn id="68" dur="1" fill="hold">
                                          <p:stCondLst>
                                            <p:cond delay="0"/>
                                          </p:stCondLst>
                                        </p:cTn>
                                        <p:tgtEl>
                                          <p:spTgt spid="19"/>
                                        </p:tgtEl>
                                        <p:attrNameLst>
                                          <p:attrName>style.visibility</p:attrName>
                                        </p:attrNameLst>
                                      </p:cBhvr>
                                      <p:to>
                                        <p:strVal val="visible"/>
                                      </p:to>
                                    </p:set>
                                    <p:animEffect transition="in" filter="wipe(down)">
                                      <p:cBhvr>
                                        <p:cTn id="69" dur="500"/>
                                        <p:tgtEl>
                                          <p:spTgt spid="19"/>
                                        </p:tgtEl>
                                      </p:cBhvr>
                                    </p:animEffect>
                                  </p:childTnLst>
                                </p:cTn>
                              </p:par>
                              <p:par>
                                <p:cTn id="70" presetID="22" presetClass="entr" presetSubtype="4" fill="hold" nodeType="withEffect">
                                  <p:stCondLst>
                                    <p:cond delay="1430"/>
                                  </p:stCondLst>
                                  <p:childTnLst>
                                    <p:set>
                                      <p:cBhvr>
                                        <p:cTn id="71" dur="1" fill="hold">
                                          <p:stCondLst>
                                            <p:cond delay="0"/>
                                          </p:stCondLst>
                                        </p:cTn>
                                        <p:tgtEl>
                                          <p:spTgt spid="20"/>
                                        </p:tgtEl>
                                        <p:attrNameLst>
                                          <p:attrName>style.visibility</p:attrName>
                                        </p:attrNameLst>
                                      </p:cBhvr>
                                      <p:to>
                                        <p:strVal val="visible"/>
                                      </p:to>
                                    </p:set>
                                    <p:animEffect transition="in" filter="wipe(down)">
                                      <p:cBhvr>
                                        <p:cTn id="72" dur="500"/>
                                        <p:tgtEl>
                                          <p:spTgt spid="20"/>
                                        </p:tgtEl>
                                      </p:cBhvr>
                                    </p:animEffect>
                                  </p:childTnLst>
                                </p:cTn>
                              </p:par>
                              <p:par>
                                <p:cTn id="73" presetID="10" presetClass="entr" presetSubtype="0" fill="hold" nodeType="withEffect">
                                  <p:stCondLst>
                                    <p:cond delay="58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450"/>
                                        <p:tgtEl>
                                          <p:spTgt spid="2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nodeType="clickEffect">
                                  <p:stCondLst>
                                    <p:cond delay="0"/>
                                  </p:stCondLst>
                                  <p:childTnLst>
                                    <p:animEffect transition="out" filter="fade">
                                      <p:cBhvr>
                                        <p:cTn id="79" dur="350"/>
                                        <p:tgtEl>
                                          <p:spTgt spid="6"/>
                                        </p:tgtEl>
                                      </p:cBhvr>
                                    </p:animEffect>
                                    <p:set>
                                      <p:cBhvr>
                                        <p:cTn id="80" dur="1" fill="hold">
                                          <p:stCondLst>
                                            <p:cond delay="349"/>
                                          </p:stCondLst>
                                        </p:cTn>
                                        <p:tgtEl>
                                          <p:spTgt spid="6"/>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350"/>
                                        <p:tgtEl>
                                          <p:spTgt spid="7"/>
                                        </p:tgtEl>
                                      </p:cBhvr>
                                    </p:animEffect>
                                    <p:set>
                                      <p:cBhvr>
                                        <p:cTn id="83" dur="1" fill="hold">
                                          <p:stCondLst>
                                            <p:cond delay="349"/>
                                          </p:stCondLst>
                                        </p:cTn>
                                        <p:tgtEl>
                                          <p:spTgt spid="7"/>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350"/>
                                        <p:tgtEl>
                                          <p:spTgt spid="8"/>
                                        </p:tgtEl>
                                      </p:cBhvr>
                                    </p:animEffect>
                                    <p:set>
                                      <p:cBhvr>
                                        <p:cTn id="86" dur="1" fill="hold">
                                          <p:stCondLst>
                                            <p:cond delay="349"/>
                                          </p:stCondLst>
                                        </p:cTn>
                                        <p:tgtEl>
                                          <p:spTgt spid="8"/>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350"/>
                                        <p:tgtEl>
                                          <p:spTgt spid="9"/>
                                        </p:tgtEl>
                                      </p:cBhvr>
                                    </p:animEffect>
                                    <p:set>
                                      <p:cBhvr>
                                        <p:cTn id="89" dur="1" fill="hold">
                                          <p:stCondLst>
                                            <p:cond delay="349"/>
                                          </p:stCondLst>
                                        </p:cTn>
                                        <p:tgtEl>
                                          <p:spTgt spid="9"/>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350"/>
                                        <p:tgtEl>
                                          <p:spTgt spid="10"/>
                                        </p:tgtEl>
                                      </p:cBhvr>
                                    </p:animEffect>
                                    <p:set>
                                      <p:cBhvr>
                                        <p:cTn id="92" dur="1" fill="hold">
                                          <p:stCondLst>
                                            <p:cond delay="349"/>
                                          </p:stCondLst>
                                        </p:cTn>
                                        <p:tgtEl>
                                          <p:spTgt spid="10"/>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350"/>
                                        <p:tgtEl>
                                          <p:spTgt spid="11"/>
                                        </p:tgtEl>
                                      </p:cBhvr>
                                    </p:animEffect>
                                    <p:set>
                                      <p:cBhvr>
                                        <p:cTn id="95" dur="1" fill="hold">
                                          <p:stCondLst>
                                            <p:cond delay="349"/>
                                          </p:stCondLst>
                                        </p:cTn>
                                        <p:tgtEl>
                                          <p:spTgt spid="11"/>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350"/>
                                        <p:tgtEl>
                                          <p:spTgt spid="12"/>
                                        </p:tgtEl>
                                      </p:cBhvr>
                                    </p:animEffect>
                                    <p:set>
                                      <p:cBhvr>
                                        <p:cTn id="98" dur="1" fill="hold">
                                          <p:stCondLst>
                                            <p:cond delay="349"/>
                                          </p:stCondLst>
                                        </p:cTn>
                                        <p:tgtEl>
                                          <p:spTgt spid="12"/>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350"/>
                                        <p:tgtEl>
                                          <p:spTgt spid="13"/>
                                        </p:tgtEl>
                                      </p:cBhvr>
                                    </p:animEffect>
                                    <p:set>
                                      <p:cBhvr>
                                        <p:cTn id="101" dur="1" fill="hold">
                                          <p:stCondLst>
                                            <p:cond delay="349"/>
                                          </p:stCondLst>
                                        </p:cTn>
                                        <p:tgtEl>
                                          <p:spTgt spid="13"/>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4"/>
                                        </p:tgtEl>
                                      </p:cBhvr>
                                    </p:animEffect>
                                    <p:set>
                                      <p:cBhvr>
                                        <p:cTn id="104" dur="1" fill="hold">
                                          <p:stCondLst>
                                            <p:cond delay="349"/>
                                          </p:stCondLst>
                                        </p:cTn>
                                        <p:tgtEl>
                                          <p:spTgt spid="14"/>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5"/>
                                        </p:tgtEl>
                                      </p:cBhvr>
                                    </p:animEffect>
                                    <p:set>
                                      <p:cBhvr>
                                        <p:cTn id="107" dur="1" fill="hold">
                                          <p:stCondLst>
                                            <p:cond delay="349"/>
                                          </p:stCondLst>
                                        </p:cTn>
                                        <p:tgtEl>
                                          <p:spTgt spid="15"/>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6"/>
                                        </p:tgtEl>
                                      </p:cBhvr>
                                    </p:animEffect>
                                    <p:set>
                                      <p:cBhvr>
                                        <p:cTn id="110" dur="1" fill="hold">
                                          <p:stCondLst>
                                            <p:cond delay="349"/>
                                          </p:stCondLst>
                                        </p:cTn>
                                        <p:tgtEl>
                                          <p:spTgt spid="16"/>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17"/>
                                        </p:tgtEl>
                                      </p:cBhvr>
                                    </p:animEffect>
                                    <p:set>
                                      <p:cBhvr>
                                        <p:cTn id="113" dur="1" fill="hold">
                                          <p:stCondLst>
                                            <p:cond delay="349"/>
                                          </p:stCondLst>
                                        </p:cTn>
                                        <p:tgtEl>
                                          <p:spTgt spid="17"/>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350"/>
                                        <p:tgtEl>
                                          <p:spTgt spid="18"/>
                                        </p:tgtEl>
                                      </p:cBhvr>
                                    </p:animEffect>
                                    <p:set>
                                      <p:cBhvr>
                                        <p:cTn id="116" dur="1" fill="hold">
                                          <p:stCondLst>
                                            <p:cond delay="349"/>
                                          </p:stCondLst>
                                        </p:cTn>
                                        <p:tgtEl>
                                          <p:spTgt spid="18"/>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350"/>
                                        <p:tgtEl>
                                          <p:spTgt spid="19"/>
                                        </p:tgtEl>
                                      </p:cBhvr>
                                    </p:animEffect>
                                    <p:set>
                                      <p:cBhvr>
                                        <p:cTn id="119" dur="1" fill="hold">
                                          <p:stCondLst>
                                            <p:cond delay="349"/>
                                          </p:stCondLst>
                                        </p:cTn>
                                        <p:tgtEl>
                                          <p:spTgt spid="19"/>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20"/>
                                        </p:tgtEl>
                                      </p:cBhvr>
                                    </p:animEffect>
                                    <p:set>
                                      <p:cBhvr>
                                        <p:cTn id="122" dur="1" fill="hold">
                                          <p:stCondLst>
                                            <p:cond delay="349"/>
                                          </p:stCondLst>
                                        </p:cTn>
                                        <p:tgtEl>
                                          <p:spTgt spid="20"/>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350"/>
                                        <p:tgtEl>
                                          <p:spTgt spid="21"/>
                                        </p:tgtEl>
                                      </p:cBhvr>
                                    </p:animEffect>
                                    <p:set>
                                      <p:cBhvr>
                                        <p:cTn id="125" dur="1" fill="hold">
                                          <p:stCondLst>
                                            <p:cond delay="349"/>
                                          </p:stCondLst>
                                        </p:cTn>
                                        <p:tgtEl>
                                          <p:spTgt spid="21"/>
                                        </p:tgtEl>
                                        <p:attrNameLst>
                                          <p:attrName>style.visibility</p:attrName>
                                        </p:attrNameLst>
                                      </p:cBhvr>
                                      <p:to>
                                        <p:strVal val="hidden"/>
                                      </p:to>
                                    </p:set>
                                  </p:childTnLst>
                                </p:cTn>
                              </p:par>
                              <p:par>
                                <p:cTn id="126" presetID="10" presetClass="entr" presetSubtype="0" fill="hold" nodeType="withEffect">
                                  <p:stCondLst>
                                    <p:cond delay="450"/>
                                  </p:stCondLst>
                                  <p:childTnLst>
                                    <p:set>
                                      <p:cBhvr>
                                        <p:cTn id="127" dur="1" fill="hold">
                                          <p:stCondLst>
                                            <p:cond delay="0"/>
                                          </p:stCondLst>
                                        </p:cTn>
                                        <p:tgtEl>
                                          <p:spTgt spid="22"/>
                                        </p:tgtEl>
                                        <p:attrNameLst>
                                          <p:attrName>style.visibility</p:attrName>
                                        </p:attrNameLst>
                                      </p:cBhvr>
                                      <p:to>
                                        <p:strVal val="visible"/>
                                      </p:to>
                                    </p:set>
                                    <p:animEffect transition="in" filter="fade">
                                      <p:cBhvr>
                                        <p:cTn id="128" dur="450"/>
                                        <p:tgtEl>
                                          <p:spTgt spid="22"/>
                                        </p:tgtEl>
                                      </p:cBhvr>
                                    </p:animEffect>
                                  </p:childTnLst>
                                </p:cTn>
                              </p:par>
                              <p:par>
                                <p:cTn id="129" presetID="10" presetClass="entr" presetSubtype="0" fill="hold" nodeType="withEffect">
                                  <p:stCondLst>
                                    <p:cond delay="520"/>
                                  </p:stCondLst>
                                  <p:childTnLst>
                                    <p:set>
                                      <p:cBhvr>
                                        <p:cTn id="130" dur="1" fill="hold">
                                          <p:stCondLst>
                                            <p:cond delay="0"/>
                                          </p:stCondLst>
                                        </p:cTn>
                                        <p:tgtEl>
                                          <p:spTgt spid="23"/>
                                        </p:tgtEl>
                                        <p:attrNameLst>
                                          <p:attrName>style.visibility</p:attrName>
                                        </p:attrNameLst>
                                      </p:cBhvr>
                                      <p:to>
                                        <p:strVal val="visible"/>
                                      </p:to>
                                    </p:set>
                                    <p:animEffect transition="in" filter="fade">
                                      <p:cBhvr>
                                        <p:cTn id="131" dur="450"/>
                                        <p:tgtEl>
                                          <p:spTgt spid="23"/>
                                        </p:tgtEl>
                                      </p:cBhvr>
                                    </p:animEffect>
                                  </p:childTnLst>
                                </p:cTn>
                              </p:par>
                              <p:par>
                                <p:cTn id="132" presetID="22" presetClass="entr" presetSubtype="8" fill="hold" nodeType="withEffect">
                                  <p:stCondLst>
                                    <p:cond delay="590"/>
                                  </p:stCondLst>
                                  <p:childTnLst>
                                    <p:set>
                                      <p:cBhvr>
                                        <p:cTn id="133" dur="1" fill="hold">
                                          <p:stCondLst>
                                            <p:cond delay="0"/>
                                          </p:stCondLst>
                                        </p:cTn>
                                        <p:tgtEl>
                                          <p:spTgt spid="24"/>
                                        </p:tgtEl>
                                        <p:attrNameLst>
                                          <p:attrName>style.visibility</p:attrName>
                                        </p:attrNameLst>
                                      </p:cBhvr>
                                      <p:to>
                                        <p:strVal val="visible"/>
                                      </p:to>
                                    </p:set>
                                    <p:animEffect transition="in" filter="wipe(left)">
                                      <p:cBhvr>
                                        <p:cTn id="134" dur="500"/>
                                        <p:tgtEl>
                                          <p:spTgt spid="24"/>
                                        </p:tgtEl>
                                      </p:cBhvr>
                                    </p:animEffect>
                                  </p:childTnLst>
                                </p:cTn>
                              </p:par>
                              <p:par>
                                <p:cTn id="135" presetID="10" presetClass="entr" presetSubtype="0" fill="hold" nodeType="withEffect">
                                  <p:stCondLst>
                                    <p:cond delay="660"/>
                                  </p:stCondLst>
                                  <p:childTnLst>
                                    <p:set>
                                      <p:cBhvr>
                                        <p:cTn id="136" dur="1" fill="hold">
                                          <p:stCondLst>
                                            <p:cond delay="0"/>
                                          </p:stCondLst>
                                        </p:cTn>
                                        <p:tgtEl>
                                          <p:spTgt spid="25"/>
                                        </p:tgtEl>
                                        <p:attrNameLst>
                                          <p:attrName>style.visibility</p:attrName>
                                        </p:attrNameLst>
                                      </p:cBhvr>
                                      <p:to>
                                        <p:strVal val="visible"/>
                                      </p:to>
                                    </p:set>
                                    <p:animEffect transition="in" filter="fade">
                                      <p:cBhvr>
                                        <p:cTn id="137" dur="450"/>
                                        <p:tgtEl>
                                          <p:spTgt spid="25"/>
                                        </p:tgtEl>
                                      </p:cBhvr>
                                    </p:animEffect>
                                  </p:childTnLst>
                                </p:cTn>
                              </p:par>
                              <p:par>
                                <p:cTn id="138" presetID="10" presetClass="entr" presetSubtype="0" grpId="0" fill="hold" nodeType="withEffect">
                                  <p:stCondLst>
                                    <p:cond delay="730"/>
                                  </p:stCondLst>
                                  <p:childTnLst>
                                    <p:set>
                                      <p:cBhvr>
                                        <p:cTn id="139" dur="1" fill="hold">
                                          <p:stCondLst>
                                            <p:cond delay="0"/>
                                          </p:stCondLst>
                                        </p:cTn>
                                        <p:tgtEl>
                                          <p:spTgt spid="26">
                                            <p:txEl>
                                              <p:pRg st="0" end="0"/>
                                            </p:txEl>
                                          </p:spTgt>
                                        </p:tgtEl>
                                        <p:attrNameLst>
                                          <p:attrName>style.visibility</p:attrName>
                                        </p:attrNameLst>
                                      </p:cBhvr>
                                      <p:to>
                                        <p:strVal val="visible"/>
                                      </p:to>
                                    </p:set>
                                    <p:animEffect transition="in" filter="fade">
                                      <p:cBhvr>
                                        <p:cTn id="140" dur="450"/>
                                        <p:tgtEl>
                                          <p:spTgt spid="26">
                                            <p:txEl>
                                              <p:pRg st="0" end="0"/>
                                            </p:txEl>
                                          </p:spTgt>
                                        </p:tgtEl>
                                      </p:cBhvr>
                                    </p:animEffect>
                                  </p:childTnLst>
                                </p:cTn>
                              </p:par>
                              <p:par>
                                <p:cTn id="141" presetID="10" presetClass="entr" presetSubtype="0" grpId="0" fill="hold" nodeType="withEffect">
                                  <p:stCondLst>
                                    <p:cond delay="1110"/>
                                  </p:stCondLst>
                                  <p:childTnLst>
                                    <p:set>
                                      <p:cBhvr>
                                        <p:cTn id="142" dur="1" fill="hold">
                                          <p:stCondLst>
                                            <p:cond delay="0"/>
                                          </p:stCondLst>
                                        </p:cTn>
                                        <p:tgtEl>
                                          <p:spTgt spid="26">
                                            <p:txEl>
                                              <p:pRg st="1" end="1"/>
                                            </p:txEl>
                                          </p:spTgt>
                                        </p:tgtEl>
                                        <p:attrNameLst>
                                          <p:attrName>style.visibility</p:attrName>
                                        </p:attrNameLst>
                                      </p:cBhvr>
                                      <p:to>
                                        <p:strVal val="visible"/>
                                      </p:to>
                                    </p:set>
                                    <p:animEffect transition="in" filter="fade">
                                      <p:cBhvr>
                                        <p:cTn id="143" dur="450"/>
                                        <p:tgtEl>
                                          <p:spTgt spid="26">
                                            <p:txEl>
                                              <p:pRg st="1" end="1"/>
                                            </p:txEl>
                                          </p:spTgt>
                                        </p:tgtEl>
                                      </p:cBhvr>
                                    </p:animEffect>
                                  </p:childTnLst>
                                </p:cTn>
                              </p:par>
                              <p:par>
                                <p:cTn id="144" presetID="10" presetClass="entr" presetSubtype="0" grpId="0" fill="hold" nodeType="withEffect">
                                  <p:stCondLst>
                                    <p:cond delay="1490"/>
                                  </p:stCondLst>
                                  <p:childTnLst>
                                    <p:set>
                                      <p:cBhvr>
                                        <p:cTn id="145" dur="1" fill="hold">
                                          <p:stCondLst>
                                            <p:cond delay="0"/>
                                          </p:stCondLst>
                                        </p:cTn>
                                        <p:tgtEl>
                                          <p:spTgt spid="26">
                                            <p:txEl>
                                              <p:pRg st="2" end="2"/>
                                            </p:txEl>
                                          </p:spTgt>
                                        </p:tgtEl>
                                        <p:attrNameLst>
                                          <p:attrName>style.visibility</p:attrName>
                                        </p:attrNameLst>
                                      </p:cBhvr>
                                      <p:to>
                                        <p:strVal val="visible"/>
                                      </p:to>
                                    </p:set>
                                    <p:animEffect transition="in" filter="fade">
                                      <p:cBhvr>
                                        <p:cTn id="146" dur="450"/>
                                        <p:tgtEl>
                                          <p:spTgt spid="26">
                                            <p:txEl>
                                              <p:pRg st="2" end="2"/>
                                            </p:txEl>
                                          </p:spTgt>
                                        </p:tgtEl>
                                      </p:cBhvr>
                                    </p:animEffect>
                                  </p:childTnLst>
                                </p:cTn>
                              </p:par>
                              <p:par>
                                <p:cTn id="147" presetID="10" presetClass="entr" presetSubtype="0" fill="hold" nodeType="withEffect">
                                  <p:stCondLst>
                                    <p:cond delay="800"/>
                                  </p:stCondLst>
                                  <p:childTnLst>
                                    <p:set>
                                      <p:cBhvr>
                                        <p:cTn id="148" dur="1" fill="hold">
                                          <p:stCondLst>
                                            <p:cond delay="0"/>
                                          </p:stCondLst>
                                        </p:cTn>
                                        <p:tgtEl>
                                          <p:spTgt spid="27"/>
                                        </p:tgtEl>
                                        <p:attrNameLst>
                                          <p:attrName>style.visibility</p:attrName>
                                        </p:attrNameLst>
                                      </p:cBhvr>
                                      <p:to>
                                        <p:strVal val="visible"/>
                                      </p:to>
                                    </p:set>
                                    <p:animEffect transition="in" filter="fade">
                                      <p:cBhvr>
                                        <p:cTn id="149" dur="450"/>
                                        <p:tgtEl>
                                          <p:spTgt spid="27"/>
                                        </p:tgtEl>
                                      </p:cBhvr>
                                    </p:animEffect>
                                  </p:childTnLst>
                                </p:cTn>
                              </p:par>
                              <p:par>
                                <p:cTn id="150" presetID="22" presetClass="entr" presetSubtype="8" fill="hold" nodeType="withEffect">
                                  <p:stCondLst>
                                    <p:cond delay="870"/>
                                  </p:stCondLst>
                                  <p:childTnLst>
                                    <p:set>
                                      <p:cBhvr>
                                        <p:cTn id="151" dur="1" fill="hold">
                                          <p:stCondLst>
                                            <p:cond delay="0"/>
                                          </p:stCondLst>
                                        </p:cTn>
                                        <p:tgtEl>
                                          <p:spTgt spid="28"/>
                                        </p:tgtEl>
                                        <p:attrNameLst>
                                          <p:attrName>style.visibility</p:attrName>
                                        </p:attrNameLst>
                                      </p:cBhvr>
                                      <p:to>
                                        <p:strVal val="visible"/>
                                      </p:to>
                                    </p:set>
                                    <p:animEffect transition="in" filter="wipe(left)">
                                      <p:cBhvr>
                                        <p:cTn id="152" dur="500"/>
                                        <p:tgtEl>
                                          <p:spTgt spid="28"/>
                                        </p:tgtEl>
                                      </p:cBhvr>
                                    </p:animEffect>
                                  </p:childTnLst>
                                </p:cTn>
                              </p:par>
                              <p:par>
                                <p:cTn id="153" presetID="22" presetClass="entr" presetSubtype="8" fill="hold" nodeType="withEffect">
                                  <p:stCondLst>
                                    <p:cond delay="940"/>
                                  </p:stCondLst>
                                  <p:childTnLst>
                                    <p:set>
                                      <p:cBhvr>
                                        <p:cTn id="154" dur="1" fill="hold">
                                          <p:stCondLst>
                                            <p:cond delay="0"/>
                                          </p:stCondLst>
                                        </p:cTn>
                                        <p:tgtEl>
                                          <p:spTgt spid="29"/>
                                        </p:tgtEl>
                                        <p:attrNameLst>
                                          <p:attrName>style.visibility</p:attrName>
                                        </p:attrNameLst>
                                      </p:cBhvr>
                                      <p:to>
                                        <p:strVal val="visible"/>
                                      </p:to>
                                    </p:set>
                                    <p:animEffect transition="in" filter="wipe(left)">
                                      <p:cBhvr>
                                        <p:cTn id="155" dur="500"/>
                                        <p:tgtEl>
                                          <p:spTgt spid="29"/>
                                        </p:tgtEl>
                                      </p:cBhvr>
                                    </p:animEffect>
                                  </p:childTnLst>
                                </p:cTn>
                              </p:par>
                              <p:par>
                                <p:cTn id="156" presetID="22" presetClass="entr" presetSubtype="8" fill="hold" nodeType="withEffect">
                                  <p:stCondLst>
                                    <p:cond delay="1010"/>
                                  </p:stCondLst>
                                  <p:childTnLst>
                                    <p:set>
                                      <p:cBhvr>
                                        <p:cTn id="157" dur="1" fill="hold">
                                          <p:stCondLst>
                                            <p:cond delay="0"/>
                                          </p:stCondLst>
                                        </p:cTn>
                                        <p:tgtEl>
                                          <p:spTgt spid="30"/>
                                        </p:tgtEl>
                                        <p:attrNameLst>
                                          <p:attrName>style.visibility</p:attrName>
                                        </p:attrNameLst>
                                      </p:cBhvr>
                                      <p:to>
                                        <p:strVal val="visible"/>
                                      </p:to>
                                    </p:set>
                                    <p:animEffect transition="in" filter="wipe(left)">
                                      <p:cBhvr>
                                        <p:cTn id="158" dur="500"/>
                                        <p:tgtEl>
                                          <p:spTgt spid="30"/>
                                        </p:tgtEl>
                                      </p:cBhvr>
                                    </p:animEffect>
                                  </p:childTnLst>
                                </p:cTn>
                              </p:par>
                              <p:par>
                                <p:cTn id="159" presetID="22" presetClass="entr" presetSubtype="8" fill="hold" nodeType="withEffect">
                                  <p:stCondLst>
                                    <p:cond delay="1080"/>
                                  </p:stCondLst>
                                  <p:childTnLst>
                                    <p:set>
                                      <p:cBhvr>
                                        <p:cTn id="160" dur="1" fill="hold">
                                          <p:stCondLst>
                                            <p:cond delay="0"/>
                                          </p:stCondLst>
                                        </p:cTn>
                                        <p:tgtEl>
                                          <p:spTgt spid="31"/>
                                        </p:tgtEl>
                                        <p:attrNameLst>
                                          <p:attrName>style.visibility</p:attrName>
                                        </p:attrNameLst>
                                      </p:cBhvr>
                                      <p:to>
                                        <p:strVal val="visible"/>
                                      </p:to>
                                    </p:set>
                                    <p:animEffect transition="in" filter="wipe(left)">
                                      <p:cBhvr>
                                        <p:cTn id="161" dur="500"/>
                                        <p:tgtEl>
                                          <p:spTgt spid="31"/>
                                        </p:tgtEl>
                                      </p:cBhvr>
                                    </p:animEffect>
                                  </p:childTnLst>
                                </p:cTn>
                              </p:par>
                              <p:par>
                                <p:cTn id="162" presetID="10" presetClass="entr" presetSubtype="0" fill="hold" nodeType="withEffect">
                                  <p:stCondLst>
                                    <p:cond delay="580"/>
                                  </p:stCondLst>
                                  <p:childTnLst>
                                    <p:set>
                                      <p:cBhvr>
                                        <p:cTn id="163" dur="1" fill="hold">
                                          <p:stCondLst>
                                            <p:cond delay="0"/>
                                          </p:stCondLst>
                                        </p:cTn>
                                        <p:tgtEl>
                                          <p:spTgt spid="32"/>
                                        </p:tgtEl>
                                        <p:attrNameLst>
                                          <p:attrName>style.visibility</p:attrName>
                                        </p:attrNameLst>
                                      </p:cBhvr>
                                      <p:to>
                                        <p:strVal val="visible"/>
                                      </p:to>
                                    </p:set>
                                    <p:animEffect transition="in" filter="fade">
                                      <p:cBhvr>
                                        <p:cTn id="164" dur="450"/>
                                        <p:tgtEl>
                                          <p:spTgt spid="32"/>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xit" presetSubtype="0" fill="hold" nodeType="clickEffect">
                                  <p:stCondLst>
                                    <p:cond delay="0"/>
                                  </p:stCondLst>
                                  <p:childTnLst>
                                    <p:animEffect transition="out" filter="fade">
                                      <p:cBhvr>
                                        <p:cTn id="168" dur="350"/>
                                        <p:tgtEl>
                                          <p:spTgt spid="22"/>
                                        </p:tgtEl>
                                      </p:cBhvr>
                                    </p:animEffect>
                                    <p:set>
                                      <p:cBhvr>
                                        <p:cTn id="169" dur="1" fill="hold">
                                          <p:stCondLst>
                                            <p:cond delay="349"/>
                                          </p:stCondLst>
                                        </p:cTn>
                                        <p:tgtEl>
                                          <p:spTgt spid="22"/>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350"/>
                                        <p:tgtEl>
                                          <p:spTgt spid="23"/>
                                        </p:tgtEl>
                                      </p:cBhvr>
                                    </p:animEffect>
                                    <p:set>
                                      <p:cBhvr>
                                        <p:cTn id="172" dur="1" fill="hold">
                                          <p:stCondLst>
                                            <p:cond delay="349"/>
                                          </p:stCondLst>
                                        </p:cTn>
                                        <p:tgtEl>
                                          <p:spTgt spid="23"/>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350"/>
                                        <p:tgtEl>
                                          <p:spTgt spid="24"/>
                                        </p:tgtEl>
                                      </p:cBhvr>
                                    </p:animEffect>
                                    <p:set>
                                      <p:cBhvr>
                                        <p:cTn id="175" dur="1" fill="hold">
                                          <p:stCondLst>
                                            <p:cond delay="349"/>
                                          </p:stCondLst>
                                        </p:cTn>
                                        <p:tgtEl>
                                          <p:spTgt spid="24"/>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350"/>
                                        <p:tgtEl>
                                          <p:spTgt spid="25"/>
                                        </p:tgtEl>
                                      </p:cBhvr>
                                    </p:animEffect>
                                    <p:set>
                                      <p:cBhvr>
                                        <p:cTn id="178" dur="1" fill="hold">
                                          <p:stCondLst>
                                            <p:cond delay="349"/>
                                          </p:stCondLst>
                                        </p:cTn>
                                        <p:tgtEl>
                                          <p:spTgt spid="25"/>
                                        </p:tgtEl>
                                        <p:attrNameLst>
                                          <p:attrName>style.visibility</p:attrName>
                                        </p:attrNameLst>
                                      </p:cBhvr>
                                      <p:to>
                                        <p:strVal val="hidden"/>
                                      </p:to>
                                    </p:set>
                                  </p:childTnLst>
                                </p:cTn>
                              </p:par>
                              <p:par>
                                <p:cTn id="179" presetID="10" presetClass="exit" presetSubtype="0" grpId="0" fill="hold" nodeType="withEffect">
                                  <p:stCondLst>
                                    <p:cond delay="0"/>
                                  </p:stCondLst>
                                  <p:childTnLst>
                                    <p:animEffect transition="out" filter="fade">
                                      <p:cBhvr>
                                        <p:cTn id="180" dur="350"/>
                                        <p:tgtEl>
                                          <p:spTgt spid="26">
                                            <p:txEl>
                                              <p:pRg st="0" end="0"/>
                                            </p:txEl>
                                          </p:spTgt>
                                        </p:tgtEl>
                                      </p:cBhvr>
                                    </p:animEffect>
                                    <p:set>
                                      <p:cBhvr>
                                        <p:cTn id="181" dur="1" fill="hold">
                                          <p:stCondLst>
                                            <p:cond delay="349"/>
                                          </p:stCondLst>
                                        </p:cTn>
                                        <p:tgtEl>
                                          <p:spTgt spid="26">
                                            <p:txEl>
                                              <p:pRg st="0" end="0"/>
                                            </p:txEl>
                                          </p:spTgt>
                                        </p:tgtEl>
                                        <p:attrNameLst>
                                          <p:attrName>style.visibility</p:attrName>
                                        </p:attrNameLst>
                                      </p:cBhvr>
                                      <p:to>
                                        <p:strVal val="hidden"/>
                                      </p:to>
                                    </p:set>
                                  </p:childTnLst>
                                </p:cTn>
                              </p:par>
                              <p:par>
                                <p:cTn id="182" presetID="10" presetClass="exit" presetSubtype="0" grpId="0" fill="hold" nodeType="withEffect">
                                  <p:stCondLst>
                                    <p:cond delay="0"/>
                                  </p:stCondLst>
                                  <p:childTnLst>
                                    <p:animEffect transition="out" filter="fade">
                                      <p:cBhvr>
                                        <p:cTn id="183" dur="350"/>
                                        <p:tgtEl>
                                          <p:spTgt spid="26">
                                            <p:txEl>
                                              <p:pRg st="1" end="1"/>
                                            </p:txEl>
                                          </p:spTgt>
                                        </p:tgtEl>
                                      </p:cBhvr>
                                    </p:animEffect>
                                    <p:set>
                                      <p:cBhvr>
                                        <p:cTn id="184" dur="1" fill="hold">
                                          <p:stCondLst>
                                            <p:cond delay="349"/>
                                          </p:stCondLst>
                                        </p:cTn>
                                        <p:tgtEl>
                                          <p:spTgt spid="26">
                                            <p:txEl>
                                              <p:pRg st="1" end="1"/>
                                            </p:txEl>
                                          </p:spTgt>
                                        </p:tgtEl>
                                        <p:attrNameLst>
                                          <p:attrName>style.visibility</p:attrName>
                                        </p:attrNameLst>
                                      </p:cBhvr>
                                      <p:to>
                                        <p:strVal val="hidden"/>
                                      </p:to>
                                    </p:set>
                                  </p:childTnLst>
                                </p:cTn>
                              </p:par>
                              <p:par>
                                <p:cTn id="185" presetID="10" presetClass="exit" presetSubtype="0" grpId="0" fill="hold" nodeType="withEffect">
                                  <p:stCondLst>
                                    <p:cond delay="0"/>
                                  </p:stCondLst>
                                  <p:childTnLst>
                                    <p:animEffect transition="out" filter="fade">
                                      <p:cBhvr>
                                        <p:cTn id="186" dur="350"/>
                                        <p:tgtEl>
                                          <p:spTgt spid="26">
                                            <p:txEl>
                                              <p:pRg st="2" end="2"/>
                                            </p:txEl>
                                          </p:spTgt>
                                        </p:tgtEl>
                                      </p:cBhvr>
                                    </p:animEffect>
                                    <p:set>
                                      <p:cBhvr>
                                        <p:cTn id="187" dur="1" fill="hold">
                                          <p:stCondLst>
                                            <p:cond delay="349"/>
                                          </p:stCondLst>
                                        </p:cTn>
                                        <p:tgtEl>
                                          <p:spTgt spid="26">
                                            <p:txEl>
                                              <p:pRg st="2" end="2"/>
                                            </p:txEl>
                                          </p:spTgt>
                                        </p:tgtEl>
                                        <p:attrNameLst>
                                          <p:attrName>style.visibility</p:attrName>
                                        </p:attrNameLst>
                                      </p:cBhvr>
                                      <p:to>
                                        <p:strVal val="hidden"/>
                                      </p:to>
                                    </p:set>
                                  </p:childTnLst>
                                </p:cTn>
                              </p:par>
                              <p:par>
                                <p:cTn id="188" presetID="10" presetClass="exit" presetSubtype="0" fill="hold" nodeType="withEffect">
                                  <p:stCondLst>
                                    <p:cond delay="0"/>
                                  </p:stCondLst>
                                  <p:childTnLst>
                                    <p:animEffect transition="out" filter="fade">
                                      <p:cBhvr>
                                        <p:cTn id="189" dur="350"/>
                                        <p:tgtEl>
                                          <p:spTgt spid="27"/>
                                        </p:tgtEl>
                                      </p:cBhvr>
                                    </p:animEffect>
                                    <p:set>
                                      <p:cBhvr>
                                        <p:cTn id="190" dur="1" fill="hold">
                                          <p:stCondLst>
                                            <p:cond delay="349"/>
                                          </p:stCondLst>
                                        </p:cTn>
                                        <p:tgtEl>
                                          <p:spTgt spid="27"/>
                                        </p:tgtEl>
                                        <p:attrNameLst>
                                          <p:attrName>style.visibility</p:attrName>
                                        </p:attrNameLst>
                                      </p:cBhvr>
                                      <p:to>
                                        <p:strVal val="hidden"/>
                                      </p:to>
                                    </p:set>
                                  </p:childTnLst>
                                </p:cTn>
                              </p:par>
                              <p:par>
                                <p:cTn id="191" presetID="10" presetClass="exit" presetSubtype="0" fill="hold" nodeType="withEffect">
                                  <p:stCondLst>
                                    <p:cond delay="0"/>
                                  </p:stCondLst>
                                  <p:childTnLst>
                                    <p:animEffect transition="out" filter="fade">
                                      <p:cBhvr>
                                        <p:cTn id="192" dur="350"/>
                                        <p:tgtEl>
                                          <p:spTgt spid="28"/>
                                        </p:tgtEl>
                                      </p:cBhvr>
                                    </p:animEffect>
                                    <p:set>
                                      <p:cBhvr>
                                        <p:cTn id="193" dur="1" fill="hold">
                                          <p:stCondLst>
                                            <p:cond delay="349"/>
                                          </p:stCondLst>
                                        </p:cTn>
                                        <p:tgtEl>
                                          <p:spTgt spid="28"/>
                                        </p:tgtEl>
                                        <p:attrNameLst>
                                          <p:attrName>style.visibility</p:attrName>
                                        </p:attrNameLst>
                                      </p:cBhvr>
                                      <p:to>
                                        <p:strVal val="hidden"/>
                                      </p:to>
                                    </p:set>
                                  </p:childTnLst>
                                </p:cTn>
                              </p:par>
                              <p:par>
                                <p:cTn id="194" presetID="10" presetClass="exit" presetSubtype="0" fill="hold" nodeType="withEffect">
                                  <p:stCondLst>
                                    <p:cond delay="0"/>
                                  </p:stCondLst>
                                  <p:childTnLst>
                                    <p:animEffect transition="out" filter="fade">
                                      <p:cBhvr>
                                        <p:cTn id="195" dur="350"/>
                                        <p:tgtEl>
                                          <p:spTgt spid="29"/>
                                        </p:tgtEl>
                                      </p:cBhvr>
                                    </p:animEffect>
                                    <p:set>
                                      <p:cBhvr>
                                        <p:cTn id="196" dur="1" fill="hold">
                                          <p:stCondLst>
                                            <p:cond delay="349"/>
                                          </p:stCondLst>
                                        </p:cTn>
                                        <p:tgtEl>
                                          <p:spTgt spid="29"/>
                                        </p:tgtEl>
                                        <p:attrNameLst>
                                          <p:attrName>style.visibility</p:attrName>
                                        </p:attrNameLst>
                                      </p:cBhvr>
                                      <p:to>
                                        <p:strVal val="hidden"/>
                                      </p:to>
                                    </p:set>
                                  </p:childTnLst>
                                </p:cTn>
                              </p:par>
                              <p:par>
                                <p:cTn id="197" presetID="10" presetClass="exit" presetSubtype="0" fill="hold" nodeType="withEffect">
                                  <p:stCondLst>
                                    <p:cond delay="0"/>
                                  </p:stCondLst>
                                  <p:childTnLst>
                                    <p:animEffect transition="out" filter="fade">
                                      <p:cBhvr>
                                        <p:cTn id="198" dur="350"/>
                                        <p:tgtEl>
                                          <p:spTgt spid="30"/>
                                        </p:tgtEl>
                                      </p:cBhvr>
                                    </p:animEffect>
                                    <p:set>
                                      <p:cBhvr>
                                        <p:cTn id="199" dur="1" fill="hold">
                                          <p:stCondLst>
                                            <p:cond delay="349"/>
                                          </p:stCondLst>
                                        </p:cTn>
                                        <p:tgtEl>
                                          <p:spTgt spid="30"/>
                                        </p:tgtEl>
                                        <p:attrNameLst>
                                          <p:attrName>style.visibility</p:attrName>
                                        </p:attrNameLst>
                                      </p:cBhvr>
                                      <p:to>
                                        <p:strVal val="hidden"/>
                                      </p:to>
                                    </p:set>
                                  </p:childTnLst>
                                </p:cTn>
                              </p:par>
                              <p:par>
                                <p:cTn id="200" presetID="10" presetClass="exit" presetSubtype="0" fill="hold" nodeType="withEffect">
                                  <p:stCondLst>
                                    <p:cond delay="0"/>
                                  </p:stCondLst>
                                  <p:childTnLst>
                                    <p:animEffect transition="out" filter="fade">
                                      <p:cBhvr>
                                        <p:cTn id="201" dur="350"/>
                                        <p:tgtEl>
                                          <p:spTgt spid="31"/>
                                        </p:tgtEl>
                                      </p:cBhvr>
                                    </p:animEffect>
                                    <p:set>
                                      <p:cBhvr>
                                        <p:cTn id="202" dur="1" fill="hold">
                                          <p:stCondLst>
                                            <p:cond delay="349"/>
                                          </p:stCondLst>
                                        </p:cTn>
                                        <p:tgtEl>
                                          <p:spTgt spid="31"/>
                                        </p:tgtEl>
                                        <p:attrNameLst>
                                          <p:attrName>style.visibility</p:attrName>
                                        </p:attrNameLst>
                                      </p:cBhvr>
                                      <p:to>
                                        <p:strVal val="hidden"/>
                                      </p:to>
                                    </p:set>
                                  </p:childTnLst>
                                </p:cTn>
                              </p:par>
                              <p:par>
                                <p:cTn id="203" presetID="10" presetClass="exit" presetSubtype="0" fill="hold" nodeType="withEffect">
                                  <p:stCondLst>
                                    <p:cond delay="0"/>
                                  </p:stCondLst>
                                  <p:childTnLst>
                                    <p:animEffect transition="out" filter="fade">
                                      <p:cBhvr>
                                        <p:cTn id="204" dur="350"/>
                                        <p:tgtEl>
                                          <p:spTgt spid="32"/>
                                        </p:tgtEl>
                                      </p:cBhvr>
                                    </p:animEffect>
                                    <p:set>
                                      <p:cBhvr>
                                        <p:cTn id="205" dur="1" fill="hold">
                                          <p:stCondLst>
                                            <p:cond delay="349"/>
                                          </p:stCondLst>
                                        </p:cTn>
                                        <p:tgtEl>
                                          <p:spTgt spid="32"/>
                                        </p:tgtEl>
                                        <p:attrNameLst>
                                          <p:attrName>style.visibility</p:attrName>
                                        </p:attrNameLst>
                                      </p:cBhvr>
                                      <p:to>
                                        <p:strVal val="hidden"/>
                                      </p:to>
                                    </p:set>
                                  </p:childTnLst>
                                </p:cTn>
                              </p:par>
                              <p:par>
                                <p:cTn id="206" presetID="10" presetClass="entr" presetSubtype="0" fill="hold" nodeType="withEffect">
                                  <p:stCondLst>
                                    <p:cond delay="450"/>
                                  </p:stCondLst>
                                  <p:childTnLst>
                                    <p:set>
                                      <p:cBhvr>
                                        <p:cTn id="207" dur="1" fill="hold">
                                          <p:stCondLst>
                                            <p:cond delay="0"/>
                                          </p:stCondLst>
                                        </p:cTn>
                                        <p:tgtEl>
                                          <p:spTgt spid="33"/>
                                        </p:tgtEl>
                                        <p:attrNameLst>
                                          <p:attrName>style.visibility</p:attrName>
                                        </p:attrNameLst>
                                      </p:cBhvr>
                                      <p:to>
                                        <p:strVal val="visible"/>
                                      </p:to>
                                    </p:set>
                                    <p:animEffect transition="in" filter="fade">
                                      <p:cBhvr>
                                        <p:cTn id="208" dur="450"/>
                                        <p:tgtEl>
                                          <p:spTgt spid="33"/>
                                        </p:tgtEl>
                                      </p:cBhvr>
                                    </p:animEffect>
                                  </p:childTnLst>
                                </p:cTn>
                              </p:par>
                              <p:par>
                                <p:cTn id="209" presetID="10" presetClass="entr" presetSubtype="0" fill="hold" nodeType="withEffect">
                                  <p:stCondLst>
                                    <p:cond delay="520"/>
                                  </p:stCondLst>
                                  <p:childTnLst>
                                    <p:set>
                                      <p:cBhvr>
                                        <p:cTn id="210" dur="1" fill="hold">
                                          <p:stCondLst>
                                            <p:cond delay="0"/>
                                          </p:stCondLst>
                                        </p:cTn>
                                        <p:tgtEl>
                                          <p:spTgt spid="34"/>
                                        </p:tgtEl>
                                        <p:attrNameLst>
                                          <p:attrName>style.visibility</p:attrName>
                                        </p:attrNameLst>
                                      </p:cBhvr>
                                      <p:to>
                                        <p:strVal val="visible"/>
                                      </p:to>
                                    </p:set>
                                    <p:animEffect transition="in" filter="fade">
                                      <p:cBhvr>
                                        <p:cTn id="211" dur="450"/>
                                        <p:tgtEl>
                                          <p:spTgt spid="34"/>
                                        </p:tgtEl>
                                      </p:cBhvr>
                                    </p:animEffect>
                                  </p:childTnLst>
                                </p:cTn>
                              </p:par>
                              <p:par>
                                <p:cTn id="212" presetID="22" presetClass="entr" presetSubtype="4" fill="hold" nodeType="withEffect">
                                  <p:stCondLst>
                                    <p:cond delay="590"/>
                                  </p:stCondLst>
                                  <p:childTnLst>
                                    <p:set>
                                      <p:cBhvr>
                                        <p:cTn id="213" dur="1" fill="hold">
                                          <p:stCondLst>
                                            <p:cond delay="0"/>
                                          </p:stCondLst>
                                        </p:cTn>
                                        <p:tgtEl>
                                          <p:spTgt spid="35"/>
                                        </p:tgtEl>
                                        <p:attrNameLst>
                                          <p:attrName>style.visibility</p:attrName>
                                        </p:attrNameLst>
                                      </p:cBhvr>
                                      <p:to>
                                        <p:strVal val="visible"/>
                                      </p:to>
                                    </p:set>
                                    <p:animEffect transition="in" filter="wipe(down)">
                                      <p:cBhvr>
                                        <p:cTn id="214" dur="500"/>
                                        <p:tgtEl>
                                          <p:spTgt spid="35"/>
                                        </p:tgtEl>
                                      </p:cBhvr>
                                    </p:animEffect>
                                  </p:childTnLst>
                                </p:cTn>
                              </p:par>
                              <p:par>
                                <p:cTn id="215" presetID="10" presetClass="entr" presetSubtype="0" fill="hold" nodeType="withEffect">
                                  <p:stCondLst>
                                    <p:cond delay="660"/>
                                  </p:stCondLst>
                                  <p:childTnLst>
                                    <p:set>
                                      <p:cBhvr>
                                        <p:cTn id="216" dur="1" fill="hold">
                                          <p:stCondLst>
                                            <p:cond delay="0"/>
                                          </p:stCondLst>
                                        </p:cTn>
                                        <p:tgtEl>
                                          <p:spTgt spid="36"/>
                                        </p:tgtEl>
                                        <p:attrNameLst>
                                          <p:attrName>style.visibility</p:attrName>
                                        </p:attrNameLst>
                                      </p:cBhvr>
                                      <p:to>
                                        <p:strVal val="visible"/>
                                      </p:to>
                                    </p:set>
                                    <p:animEffect transition="in" filter="fade">
                                      <p:cBhvr>
                                        <p:cTn id="217" dur="450"/>
                                        <p:tgtEl>
                                          <p:spTgt spid="36"/>
                                        </p:tgtEl>
                                      </p:cBhvr>
                                    </p:animEffect>
                                  </p:childTnLst>
                                </p:cTn>
                              </p:par>
                              <p:par>
                                <p:cTn id="218" presetID="10" presetClass="entr" presetSubtype="0" grpId="0" fill="hold" nodeType="withEffect">
                                  <p:stCondLst>
                                    <p:cond delay="730"/>
                                  </p:stCondLst>
                                  <p:childTnLst>
                                    <p:set>
                                      <p:cBhvr>
                                        <p:cTn id="219" dur="1" fill="hold">
                                          <p:stCondLst>
                                            <p:cond delay="0"/>
                                          </p:stCondLst>
                                        </p:cTn>
                                        <p:tgtEl>
                                          <p:spTgt spid="37">
                                            <p:txEl>
                                              <p:pRg st="0" end="0"/>
                                            </p:txEl>
                                          </p:spTgt>
                                        </p:tgtEl>
                                        <p:attrNameLst>
                                          <p:attrName>style.visibility</p:attrName>
                                        </p:attrNameLst>
                                      </p:cBhvr>
                                      <p:to>
                                        <p:strVal val="visible"/>
                                      </p:to>
                                    </p:set>
                                    <p:animEffect transition="in" filter="fade">
                                      <p:cBhvr>
                                        <p:cTn id="220" dur="450"/>
                                        <p:tgtEl>
                                          <p:spTgt spid="37">
                                            <p:txEl>
                                              <p:pRg st="0" end="0"/>
                                            </p:txEl>
                                          </p:spTgt>
                                        </p:tgtEl>
                                      </p:cBhvr>
                                    </p:animEffect>
                                  </p:childTnLst>
                                </p:cTn>
                              </p:par>
                              <p:par>
                                <p:cTn id="221" presetID="10" presetClass="entr" presetSubtype="0" grpId="0" fill="hold" nodeType="withEffect">
                                  <p:stCondLst>
                                    <p:cond delay="1110"/>
                                  </p:stCondLst>
                                  <p:childTnLst>
                                    <p:set>
                                      <p:cBhvr>
                                        <p:cTn id="222" dur="1" fill="hold">
                                          <p:stCondLst>
                                            <p:cond delay="0"/>
                                          </p:stCondLst>
                                        </p:cTn>
                                        <p:tgtEl>
                                          <p:spTgt spid="37">
                                            <p:txEl>
                                              <p:pRg st="1" end="1"/>
                                            </p:txEl>
                                          </p:spTgt>
                                        </p:tgtEl>
                                        <p:attrNameLst>
                                          <p:attrName>style.visibility</p:attrName>
                                        </p:attrNameLst>
                                      </p:cBhvr>
                                      <p:to>
                                        <p:strVal val="visible"/>
                                      </p:to>
                                    </p:set>
                                    <p:animEffect transition="in" filter="fade">
                                      <p:cBhvr>
                                        <p:cTn id="223" dur="450"/>
                                        <p:tgtEl>
                                          <p:spTgt spid="37">
                                            <p:txEl>
                                              <p:pRg st="1" end="1"/>
                                            </p:txEl>
                                          </p:spTgt>
                                        </p:tgtEl>
                                      </p:cBhvr>
                                    </p:animEffect>
                                  </p:childTnLst>
                                </p:cTn>
                              </p:par>
                              <p:par>
                                <p:cTn id="224" presetID="10" presetClass="entr" presetSubtype="0" fill="hold" nodeType="withEffect">
                                  <p:stCondLst>
                                    <p:cond delay="800"/>
                                  </p:stCondLst>
                                  <p:childTnLst>
                                    <p:set>
                                      <p:cBhvr>
                                        <p:cTn id="225" dur="1" fill="hold">
                                          <p:stCondLst>
                                            <p:cond delay="0"/>
                                          </p:stCondLst>
                                        </p:cTn>
                                        <p:tgtEl>
                                          <p:spTgt spid="38"/>
                                        </p:tgtEl>
                                        <p:attrNameLst>
                                          <p:attrName>style.visibility</p:attrName>
                                        </p:attrNameLst>
                                      </p:cBhvr>
                                      <p:to>
                                        <p:strVal val="visible"/>
                                      </p:to>
                                    </p:set>
                                    <p:animEffect transition="in" filter="fade">
                                      <p:cBhvr>
                                        <p:cTn id="226" dur="450"/>
                                        <p:tgtEl>
                                          <p:spTgt spid="38"/>
                                        </p:tgtEl>
                                      </p:cBhvr>
                                    </p:animEffect>
                                  </p:childTnLst>
                                </p:cTn>
                              </p:par>
                              <p:par>
                                <p:cTn id="227" presetID="22" presetClass="entr" presetSubtype="4" fill="hold" nodeType="withEffect">
                                  <p:stCondLst>
                                    <p:cond delay="870"/>
                                  </p:stCondLst>
                                  <p:childTnLst>
                                    <p:set>
                                      <p:cBhvr>
                                        <p:cTn id="228" dur="1" fill="hold">
                                          <p:stCondLst>
                                            <p:cond delay="0"/>
                                          </p:stCondLst>
                                        </p:cTn>
                                        <p:tgtEl>
                                          <p:spTgt spid="39"/>
                                        </p:tgtEl>
                                        <p:attrNameLst>
                                          <p:attrName>style.visibility</p:attrName>
                                        </p:attrNameLst>
                                      </p:cBhvr>
                                      <p:to>
                                        <p:strVal val="visible"/>
                                      </p:to>
                                    </p:set>
                                    <p:animEffect transition="in" filter="wipe(down)">
                                      <p:cBhvr>
                                        <p:cTn id="229" dur="500"/>
                                        <p:tgtEl>
                                          <p:spTgt spid="39"/>
                                        </p:tgtEl>
                                      </p:cBhvr>
                                    </p:animEffect>
                                  </p:childTnLst>
                                </p:cTn>
                              </p:par>
                              <p:par>
                                <p:cTn id="230" presetID="10" presetClass="entr" presetSubtype="0" fill="hold" nodeType="withEffect">
                                  <p:stCondLst>
                                    <p:cond delay="940"/>
                                  </p:stCondLst>
                                  <p:childTnLst>
                                    <p:set>
                                      <p:cBhvr>
                                        <p:cTn id="231" dur="1" fill="hold">
                                          <p:stCondLst>
                                            <p:cond delay="0"/>
                                          </p:stCondLst>
                                        </p:cTn>
                                        <p:tgtEl>
                                          <p:spTgt spid="40"/>
                                        </p:tgtEl>
                                        <p:attrNameLst>
                                          <p:attrName>style.visibility</p:attrName>
                                        </p:attrNameLst>
                                      </p:cBhvr>
                                      <p:to>
                                        <p:strVal val="visible"/>
                                      </p:to>
                                    </p:set>
                                    <p:animEffect transition="in" filter="fade">
                                      <p:cBhvr>
                                        <p:cTn id="232" dur="450"/>
                                        <p:tgtEl>
                                          <p:spTgt spid="40"/>
                                        </p:tgtEl>
                                      </p:cBhvr>
                                    </p:animEffect>
                                  </p:childTnLst>
                                </p:cTn>
                              </p:par>
                              <p:par>
                                <p:cTn id="233" presetID="10" presetClass="entr" presetSubtype="0" grpId="0" fill="hold" nodeType="withEffect">
                                  <p:stCondLst>
                                    <p:cond delay="1010"/>
                                  </p:stCondLst>
                                  <p:childTnLst>
                                    <p:set>
                                      <p:cBhvr>
                                        <p:cTn id="234" dur="1" fill="hold">
                                          <p:stCondLst>
                                            <p:cond delay="0"/>
                                          </p:stCondLst>
                                        </p:cTn>
                                        <p:tgtEl>
                                          <p:spTgt spid="41">
                                            <p:txEl>
                                              <p:pRg st="0" end="0"/>
                                            </p:txEl>
                                          </p:spTgt>
                                        </p:tgtEl>
                                        <p:attrNameLst>
                                          <p:attrName>style.visibility</p:attrName>
                                        </p:attrNameLst>
                                      </p:cBhvr>
                                      <p:to>
                                        <p:strVal val="visible"/>
                                      </p:to>
                                    </p:set>
                                    <p:animEffect transition="in" filter="fade">
                                      <p:cBhvr>
                                        <p:cTn id="235" dur="450"/>
                                        <p:tgtEl>
                                          <p:spTgt spid="41">
                                            <p:txEl>
                                              <p:pRg st="0" end="0"/>
                                            </p:txEl>
                                          </p:spTgt>
                                        </p:tgtEl>
                                      </p:cBhvr>
                                    </p:animEffect>
                                  </p:childTnLst>
                                </p:cTn>
                              </p:par>
                              <p:par>
                                <p:cTn id="236" presetID="10" presetClass="entr" presetSubtype="0" grpId="0" fill="hold" nodeType="withEffect">
                                  <p:stCondLst>
                                    <p:cond delay="1390"/>
                                  </p:stCondLst>
                                  <p:childTnLst>
                                    <p:set>
                                      <p:cBhvr>
                                        <p:cTn id="237" dur="1" fill="hold">
                                          <p:stCondLst>
                                            <p:cond delay="0"/>
                                          </p:stCondLst>
                                        </p:cTn>
                                        <p:tgtEl>
                                          <p:spTgt spid="41">
                                            <p:txEl>
                                              <p:pRg st="1" end="1"/>
                                            </p:txEl>
                                          </p:spTgt>
                                        </p:tgtEl>
                                        <p:attrNameLst>
                                          <p:attrName>style.visibility</p:attrName>
                                        </p:attrNameLst>
                                      </p:cBhvr>
                                      <p:to>
                                        <p:strVal val="visible"/>
                                      </p:to>
                                    </p:set>
                                    <p:animEffect transition="in" filter="fade">
                                      <p:cBhvr>
                                        <p:cTn id="238" dur="450"/>
                                        <p:tgtEl>
                                          <p:spTgt spid="41">
                                            <p:txEl>
                                              <p:pRg st="1" end="1"/>
                                            </p:txEl>
                                          </p:spTgt>
                                        </p:tgtEl>
                                      </p:cBhvr>
                                    </p:animEffect>
                                  </p:childTnLst>
                                </p:cTn>
                              </p:par>
                              <p:par>
                                <p:cTn id="239" presetID="10" presetClass="entr" presetSubtype="0" fill="hold" nodeType="withEffect">
                                  <p:stCondLst>
                                    <p:cond delay="1080"/>
                                  </p:stCondLst>
                                  <p:childTnLst>
                                    <p:set>
                                      <p:cBhvr>
                                        <p:cTn id="240" dur="1" fill="hold">
                                          <p:stCondLst>
                                            <p:cond delay="0"/>
                                          </p:stCondLst>
                                        </p:cTn>
                                        <p:tgtEl>
                                          <p:spTgt spid="42"/>
                                        </p:tgtEl>
                                        <p:attrNameLst>
                                          <p:attrName>style.visibility</p:attrName>
                                        </p:attrNameLst>
                                      </p:cBhvr>
                                      <p:to>
                                        <p:strVal val="visible"/>
                                      </p:to>
                                    </p:set>
                                    <p:animEffect transition="in" filter="fade">
                                      <p:cBhvr>
                                        <p:cTn id="241" dur="450"/>
                                        <p:tgtEl>
                                          <p:spTgt spid="42"/>
                                        </p:tgtEl>
                                      </p:cBhvr>
                                    </p:animEffect>
                                  </p:childTnLst>
                                </p:cTn>
                              </p:par>
                              <p:par>
                                <p:cTn id="242" presetID="22" presetClass="entr" presetSubtype="4" fill="hold" nodeType="withEffect">
                                  <p:stCondLst>
                                    <p:cond delay="1150"/>
                                  </p:stCondLst>
                                  <p:childTnLst>
                                    <p:set>
                                      <p:cBhvr>
                                        <p:cTn id="243" dur="1" fill="hold">
                                          <p:stCondLst>
                                            <p:cond delay="0"/>
                                          </p:stCondLst>
                                        </p:cTn>
                                        <p:tgtEl>
                                          <p:spTgt spid="43"/>
                                        </p:tgtEl>
                                        <p:attrNameLst>
                                          <p:attrName>style.visibility</p:attrName>
                                        </p:attrNameLst>
                                      </p:cBhvr>
                                      <p:to>
                                        <p:strVal val="visible"/>
                                      </p:to>
                                    </p:set>
                                    <p:animEffect transition="in" filter="wipe(down)">
                                      <p:cBhvr>
                                        <p:cTn id="244" dur="500"/>
                                        <p:tgtEl>
                                          <p:spTgt spid="43"/>
                                        </p:tgtEl>
                                      </p:cBhvr>
                                    </p:animEffect>
                                  </p:childTnLst>
                                </p:cTn>
                              </p:par>
                              <p:par>
                                <p:cTn id="245" presetID="10" presetClass="entr" presetSubtype="0" fill="hold" nodeType="withEffect">
                                  <p:stCondLst>
                                    <p:cond delay="1220"/>
                                  </p:stCondLst>
                                  <p:childTnLst>
                                    <p:set>
                                      <p:cBhvr>
                                        <p:cTn id="246" dur="1" fill="hold">
                                          <p:stCondLst>
                                            <p:cond delay="0"/>
                                          </p:stCondLst>
                                        </p:cTn>
                                        <p:tgtEl>
                                          <p:spTgt spid="44"/>
                                        </p:tgtEl>
                                        <p:attrNameLst>
                                          <p:attrName>style.visibility</p:attrName>
                                        </p:attrNameLst>
                                      </p:cBhvr>
                                      <p:to>
                                        <p:strVal val="visible"/>
                                      </p:to>
                                    </p:set>
                                    <p:animEffect transition="in" filter="fade">
                                      <p:cBhvr>
                                        <p:cTn id="247" dur="450"/>
                                        <p:tgtEl>
                                          <p:spTgt spid="44"/>
                                        </p:tgtEl>
                                      </p:cBhvr>
                                    </p:animEffect>
                                  </p:childTnLst>
                                </p:cTn>
                              </p:par>
                              <p:par>
                                <p:cTn id="248" presetID="10" presetClass="entr" presetSubtype="0" grpId="0" fill="hold" nodeType="withEffect">
                                  <p:stCondLst>
                                    <p:cond delay="1290"/>
                                  </p:stCondLst>
                                  <p:childTnLst>
                                    <p:set>
                                      <p:cBhvr>
                                        <p:cTn id="249" dur="1" fill="hold">
                                          <p:stCondLst>
                                            <p:cond delay="0"/>
                                          </p:stCondLst>
                                        </p:cTn>
                                        <p:tgtEl>
                                          <p:spTgt spid="45">
                                            <p:txEl>
                                              <p:pRg st="0" end="0"/>
                                            </p:txEl>
                                          </p:spTgt>
                                        </p:tgtEl>
                                        <p:attrNameLst>
                                          <p:attrName>style.visibility</p:attrName>
                                        </p:attrNameLst>
                                      </p:cBhvr>
                                      <p:to>
                                        <p:strVal val="visible"/>
                                      </p:to>
                                    </p:set>
                                    <p:animEffect transition="in" filter="fade">
                                      <p:cBhvr>
                                        <p:cTn id="250" dur="450"/>
                                        <p:tgtEl>
                                          <p:spTgt spid="45">
                                            <p:txEl>
                                              <p:pRg st="0" end="0"/>
                                            </p:txEl>
                                          </p:spTgt>
                                        </p:tgtEl>
                                      </p:cBhvr>
                                    </p:animEffect>
                                  </p:childTnLst>
                                </p:cTn>
                              </p:par>
                              <p:par>
                                <p:cTn id="251" presetID="10" presetClass="entr" presetSubtype="0" grpId="0" fill="hold" nodeType="withEffect">
                                  <p:stCondLst>
                                    <p:cond delay="1670"/>
                                  </p:stCondLst>
                                  <p:childTnLst>
                                    <p:set>
                                      <p:cBhvr>
                                        <p:cTn id="252" dur="1" fill="hold">
                                          <p:stCondLst>
                                            <p:cond delay="0"/>
                                          </p:stCondLst>
                                        </p:cTn>
                                        <p:tgtEl>
                                          <p:spTgt spid="45">
                                            <p:txEl>
                                              <p:pRg st="1" end="1"/>
                                            </p:txEl>
                                          </p:spTgt>
                                        </p:tgtEl>
                                        <p:attrNameLst>
                                          <p:attrName>style.visibility</p:attrName>
                                        </p:attrNameLst>
                                      </p:cBhvr>
                                      <p:to>
                                        <p:strVal val="visible"/>
                                      </p:to>
                                    </p:set>
                                    <p:animEffect transition="in" filter="fade">
                                      <p:cBhvr>
                                        <p:cTn id="253" dur="450"/>
                                        <p:tgtEl>
                                          <p:spTgt spid="45">
                                            <p:txEl>
                                              <p:pRg st="1" end="1"/>
                                            </p:txEl>
                                          </p:spTgt>
                                        </p:tgtEl>
                                      </p:cBhvr>
                                    </p:animEffect>
                                  </p:childTnLst>
                                </p:cTn>
                              </p:par>
                              <p:par>
                                <p:cTn id="254" presetID="10" presetClass="entr" presetSubtype="0" grpId="0" fill="hold" nodeType="withEffect">
                                  <p:stCondLst>
                                    <p:cond delay="2050"/>
                                  </p:stCondLst>
                                  <p:childTnLst>
                                    <p:set>
                                      <p:cBhvr>
                                        <p:cTn id="255" dur="1" fill="hold">
                                          <p:stCondLst>
                                            <p:cond delay="0"/>
                                          </p:stCondLst>
                                        </p:cTn>
                                        <p:tgtEl>
                                          <p:spTgt spid="45">
                                            <p:txEl>
                                              <p:pRg st="2" end="2"/>
                                            </p:txEl>
                                          </p:spTgt>
                                        </p:tgtEl>
                                        <p:attrNameLst>
                                          <p:attrName>style.visibility</p:attrName>
                                        </p:attrNameLst>
                                      </p:cBhvr>
                                      <p:to>
                                        <p:strVal val="visible"/>
                                      </p:to>
                                    </p:set>
                                    <p:animEffect transition="in" filter="fade">
                                      <p:cBhvr>
                                        <p:cTn id="256" dur="450"/>
                                        <p:tgtEl>
                                          <p:spTgt spid="45">
                                            <p:txEl>
                                              <p:pRg st="2" end="2"/>
                                            </p:txEl>
                                          </p:spTgt>
                                        </p:tgtEl>
                                      </p:cBhvr>
                                    </p:animEffect>
                                  </p:childTnLst>
                                </p:cTn>
                              </p:par>
                              <p:par>
                                <p:cTn id="257" presetID="10" presetClass="entr" presetSubtype="0" fill="hold" nodeType="withEffect">
                                  <p:stCondLst>
                                    <p:cond delay="580"/>
                                  </p:stCondLst>
                                  <p:childTnLst>
                                    <p:set>
                                      <p:cBhvr>
                                        <p:cTn id="258" dur="1" fill="hold">
                                          <p:stCondLst>
                                            <p:cond delay="0"/>
                                          </p:stCondLst>
                                        </p:cTn>
                                        <p:tgtEl>
                                          <p:spTgt spid="46"/>
                                        </p:tgtEl>
                                        <p:attrNameLst>
                                          <p:attrName>style.visibility</p:attrName>
                                        </p:attrNameLst>
                                      </p:cBhvr>
                                      <p:to>
                                        <p:strVal val="visible"/>
                                      </p:to>
                                    </p:set>
                                    <p:animEffect transition="in" filter="fade">
                                      <p:cBhvr>
                                        <p:cTn id="259" dur="450"/>
                                        <p:tgtEl>
                                          <p:spTgt spid="46"/>
                                        </p:tgtEl>
                                      </p:cBhvr>
                                    </p:animEffect>
                                  </p:childTnLst>
                                </p:cTn>
                              </p:par>
                            </p:childTnLst>
                          </p:cTn>
                        </p:par>
                      </p:childTnLst>
                    </p:cTn>
                  </p:par>
                  <p:par>
                    <p:cTn id="260" fill="hold">
                      <p:stCondLst>
                        <p:cond delay="indefinite"/>
                      </p:stCondLst>
                      <p:childTnLst>
                        <p:par>
                          <p:cTn id="261" fill="hold">
                            <p:stCondLst>
                              <p:cond delay="0"/>
                            </p:stCondLst>
                            <p:childTnLst>
                              <p:par>
                                <p:cTn id="262" presetID="10" presetClass="exit" presetSubtype="0" fill="hold" nodeType="clickEffect">
                                  <p:stCondLst>
                                    <p:cond delay="0"/>
                                  </p:stCondLst>
                                  <p:childTnLst>
                                    <p:animEffect transition="out" filter="fade">
                                      <p:cBhvr>
                                        <p:cTn id="263" dur="350"/>
                                        <p:tgtEl>
                                          <p:spTgt spid="33"/>
                                        </p:tgtEl>
                                      </p:cBhvr>
                                    </p:animEffect>
                                    <p:set>
                                      <p:cBhvr>
                                        <p:cTn id="264" dur="1" fill="hold">
                                          <p:stCondLst>
                                            <p:cond delay="349"/>
                                          </p:stCondLst>
                                        </p:cTn>
                                        <p:tgtEl>
                                          <p:spTgt spid="33"/>
                                        </p:tgtEl>
                                        <p:attrNameLst>
                                          <p:attrName>style.visibility</p:attrName>
                                        </p:attrNameLst>
                                      </p:cBhvr>
                                      <p:to>
                                        <p:strVal val="hidden"/>
                                      </p:to>
                                    </p:set>
                                  </p:childTnLst>
                                </p:cTn>
                              </p:par>
                              <p:par>
                                <p:cTn id="265" presetID="10" presetClass="exit" presetSubtype="0" fill="hold" nodeType="withEffect">
                                  <p:stCondLst>
                                    <p:cond delay="0"/>
                                  </p:stCondLst>
                                  <p:childTnLst>
                                    <p:animEffect transition="out" filter="fade">
                                      <p:cBhvr>
                                        <p:cTn id="266" dur="350"/>
                                        <p:tgtEl>
                                          <p:spTgt spid="34"/>
                                        </p:tgtEl>
                                      </p:cBhvr>
                                    </p:animEffect>
                                    <p:set>
                                      <p:cBhvr>
                                        <p:cTn id="267" dur="1" fill="hold">
                                          <p:stCondLst>
                                            <p:cond delay="349"/>
                                          </p:stCondLst>
                                        </p:cTn>
                                        <p:tgtEl>
                                          <p:spTgt spid="34"/>
                                        </p:tgtEl>
                                        <p:attrNameLst>
                                          <p:attrName>style.visibility</p:attrName>
                                        </p:attrNameLst>
                                      </p:cBhvr>
                                      <p:to>
                                        <p:strVal val="hidden"/>
                                      </p:to>
                                    </p:set>
                                  </p:childTnLst>
                                </p:cTn>
                              </p:par>
                              <p:par>
                                <p:cTn id="268" presetID="10" presetClass="exit" presetSubtype="0" fill="hold" nodeType="withEffect">
                                  <p:stCondLst>
                                    <p:cond delay="0"/>
                                  </p:stCondLst>
                                  <p:childTnLst>
                                    <p:animEffect transition="out" filter="fade">
                                      <p:cBhvr>
                                        <p:cTn id="269" dur="350"/>
                                        <p:tgtEl>
                                          <p:spTgt spid="35"/>
                                        </p:tgtEl>
                                      </p:cBhvr>
                                    </p:animEffect>
                                    <p:set>
                                      <p:cBhvr>
                                        <p:cTn id="270" dur="1" fill="hold">
                                          <p:stCondLst>
                                            <p:cond delay="349"/>
                                          </p:stCondLst>
                                        </p:cTn>
                                        <p:tgtEl>
                                          <p:spTgt spid="35"/>
                                        </p:tgtEl>
                                        <p:attrNameLst>
                                          <p:attrName>style.visibility</p:attrName>
                                        </p:attrNameLst>
                                      </p:cBhvr>
                                      <p:to>
                                        <p:strVal val="hidden"/>
                                      </p:to>
                                    </p:set>
                                  </p:childTnLst>
                                </p:cTn>
                              </p:par>
                              <p:par>
                                <p:cTn id="271" presetID="10" presetClass="exit" presetSubtype="0" fill="hold" nodeType="withEffect">
                                  <p:stCondLst>
                                    <p:cond delay="0"/>
                                  </p:stCondLst>
                                  <p:childTnLst>
                                    <p:animEffect transition="out" filter="fade">
                                      <p:cBhvr>
                                        <p:cTn id="272" dur="350"/>
                                        <p:tgtEl>
                                          <p:spTgt spid="36"/>
                                        </p:tgtEl>
                                      </p:cBhvr>
                                    </p:animEffect>
                                    <p:set>
                                      <p:cBhvr>
                                        <p:cTn id="273" dur="1" fill="hold">
                                          <p:stCondLst>
                                            <p:cond delay="349"/>
                                          </p:stCondLst>
                                        </p:cTn>
                                        <p:tgtEl>
                                          <p:spTgt spid="36"/>
                                        </p:tgtEl>
                                        <p:attrNameLst>
                                          <p:attrName>style.visibility</p:attrName>
                                        </p:attrNameLst>
                                      </p:cBhvr>
                                      <p:to>
                                        <p:strVal val="hidden"/>
                                      </p:to>
                                    </p:set>
                                  </p:childTnLst>
                                </p:cTn>
                              </p:par>
                              <p:par>
                                <p:cTn id="274" presetID="10" presetClass="exit" presetSubtype="0" grpId="0" fill="hold" nodeType="withEffect">
                                  <p:stCondLst>
                                    <p:cond delay="0"/>
                                  </p:stCondLst>
                                  <p:childTnLst>
                                    <p:animEffect transition="out" filter="fade">
                                      <p:cBhvr>
                                        <p:cTn id="275" dur="350"/>
                                        <p:tgtEl>
                                          <p:spTgt spid="37">
                                            <p:txEl>
                                              <p:pRg st="0" end="0"/>
                                            </p:txEl>
                                          </p:spTgt>
                                        </p:tgtEl>
                                      </p:cBhvr>
                                    </p:animEffect>
                                    <p:set>
                                      <p:cBhvr>
                                        <p:cTn id="276" dur="1" fill="hold">
                                          <p:stCondLst>
                                            <p:cond delay="349"/>
                                          </p:stCondLst>
                                        </p:cTn>
                                        <p:tgtEl>
                                          <p:spTgt spid="37">
                                            <p:txEl>
                                              <p:pRg st="0" end="0"/>
                                            </p:txEl>
                                          </p:spTgt>
                                        </p:tgtEl>
                                        <p:attrNameLst>
                                          <p:attrName>style.visibility</p:attrName>
                                        </p:attrNameLst>
                                      </p:cBhvr>
                                      <p:to>
                                        <p:strVal val="hidden"/>
                                      </p:to>
                                    </p:set>
                                  </p:childTnLst>
                                </p:cTn>
                              </p:par>
                              <p:par>
                                <p:cTn id="277" presetID="10" presetClass="exit" presetSubtype="0" grpId="0" fill="hold" nodeType="withEffect">
                                  <p:stCondLst>
                                    <p:cond delay="0"/>
                                  </p:stCondLst>
                                  <p:childTnLst>
                                    <p:animEffect transition="out" filter="fade">
                                      <p:cBhvr>
                                        <p:cTn id="278" dur="350"/>
                                        <p:tgtEl>
                                          <p:spTgt spid="37">
                                            <p:txEl>
                                              <p:pRg st="1" end="1"/>
                                            </p:txEl>
                                          </p:spTgt>
                                        </p:tgtEl>
                                      </p:cBhvr>
                                    </p:animEffect>
                                    <p:set>
                                      <p:cBhvr>
                                        <p:cTn id="279" dur="1" fill="hold">
                                          <p:stCondLst>
                                            <p:cond delay="349"/>
                                          </p:stCondLst>
                                        </p:cTn>
                                        <p:tgtEl>
                                          <p:spTgt spid="37">
                                            <p:txEl>
                                              <p:pRg st="1" end="1"/>
                                            </p:txEl>
                                          </p:spTgt>
                                        </p:tgtEl>
                                        <p:attrNameLst>
                                          <p:attrName>style.visibility</p:attrName>
                                        </p:attrNameLst>
                                      </p:cBhvr>
                                      <p:to>
                                        <p:strVal val="hidden"/>
                                      </p:to>
                                    </p:set>
                                  </p:childTnLst>
                                </p:cTn>
                              </p:par>
                              <p:par>
                                <p:cTn id="280" presetID="10" presetClass="exit" presetSubtype="0" fill="hold" nodeType="withEffect">
                                  <p:stCondLst>
                                    <p:cond delay="0"/>
                                  </p:stCondLst>
                                  <p:childTnLst>
                                    <p:animEffect transition="out" filter="fade">
                                      <p:cBhvr>
                                        <p:cTn id="281" dur="350"/>
                                        <p:tgtEl>
                                          <p:spTgt spid="38"/>
                                        </p:tgtEl>
                                      </p:cBhvr>
                                    </p:animEffect>
                                    <p:set>
                                      <p:cBhvr>
                                        <p:cTn id="282" dur="1" fill="hold">
                                          <p:stCondLst>
                                            <p:cond delay="349"/>
                                          </p:stCondLst>
                                        </p:cTn>
                                        <p:tgtEl>
                                          <p:spTgt spid="38"/>
                                        </p:tgtEl>
                                        <p:attrNameLst>
                                          <p:attrName>style.visibility</p:attrName>
                                        </p:attrNameLst>
                                      </p:cBhvr>
                                      <p:to>
                                        <p:strVal val="hidden"/>
                                      </p:to>
                                    </p:set>
                                  </p:childTnLst>
                                </p:cTn>
                              </p:par>
                              <p:par>
                                <p:cTn id="283" presetID="10" presetClass="exit" presetSubtype="0" fill="hold" nodeType="withEffect">
                                  <p:stCondLst>
                                    <p:cond delay="0"/>
                                  </p:stCondLst>
                                  <p:childTnLst>
                                    <p:animEffect transition="out" filter="fade">
                                      <p:cBhvr>
                                        <p:cTn id="284" dur="350"/>
                                        <p:tgtEl>
                                          <p:spTgt spid="39"/>
                                        </p:tgtEl>
                                      </p:cBhvr>
                                    </p:animEffect>
                                    <p:set>
                                      <p:cBhvr>
                                        <p:cTn id="285" dur="1" fill="hold">
                                          <p:stCondLst>
                                            <p:cond delay="349"/>
                                          </p:stCondLst>
                                        </p:cTn>
                                        <p:tgtEl>
                                          <p:spTgt spid="39"/>
                                        </p:tgtEl>
                                        <p:attrNameLst>
                                          <p:attrName>style.visibility</p:attrName>
                                        </p:attrNameLst>
                                      </p:cBhvr>
                                      <p:to>
                                        <p:strVal val="hidden"/>
                                      </p:to>
                                    </p:set>
                                  </p:childTnLst>
                                </p:cTn>
                              </p:par>
                              <p:par>
                                <p:cTn id="286" presetID="10" presetClass="exit" presetSubtype="0" fill="hold" nodeType="withEffect">
                                  <p:stCondLst>
                                    <p:cond delay="0"/>
                                  </p:stCondLst>
                                  <p:childTnLst>
                                    <p:animEffect transition="out" filter="fade">
                                      <p:cBhvr>
                                        <p:cTn id="287" dur="350"/>
                                        <p:tgtEl>
                                          <p:spTgt spid="40"/>
                                        </p:tgtEl>
                                      </p:cBhvr>
                                    </p:animEffect>
                                    <p:set>
                                      <p:cBhvr>
                                        <p:cTn id="288" dur="1" fill="hold">
                                          <p:stCondLst>
                                            <p:cond delay="349"/>
                                          </p:stCondLst>
                                        </p:cTn>
                                        <p:tgtEl>
                                          <p:spTgt spid="40"/>
                                        </p:tgtEl>
                                        <p:attrNameLst>
                                          <p:attrName>style.visibility</p:attrName>
                                        </p:attrNameLst>
                                      </p:cBhvr>
                                      <p:to>
                                        <p:strVal val="hidden"/>
                                      </p:to>
                                    </p:set>
                                  </p:childTnLst>
                                </p:cTn>
                              </p:par>
                              <p:par>
                                <p:cTn id="289" presetID="10" presetClass="exit" presetSubtype="0" grpId="0" fill="hold" nodeType="withEffect">
                                  <p:stCondLst>
                                    <p:cond delay="0"/>
                                  </p:stCondLst>
                                  <p:childTnLst>
                                    <p:animEffect transition="out" filter="fade">
                                      <p:cBhvr>
                                        <p:cTn id="290" dur="350"/>
                                        <p:tgtEl>
                                          <p:spTgt spid="41">
                                            <p:txEl>
                                              <p:pRg st="0" end="0"/>
                                            </p:txEl>
                                          </p:spTgt>
                                        </p:tgtEl>
                                      </p:cBhvr>
                                    </p:animEffect>
                                    <p:set>
                                      <p:cBhvr>
                                        <p:cTn id="291" dur="1" fill="hold">
                                          <p:stCondLst>
                                            <p:cond delay="349"/>
                                          </p:stCondLst>
                                        </p:cTn>
                                        <p:tgtEl>
                                          <p:spTgt spid="41">
                                            <p:txEl>
                                              <p:pRg st="0" end="0"/>
                                            </p:txEl>
                                          </p:spTgt>
                                        </p:tgtEl>
                                        <p:attrNameLst>
                                          <p:attrName>style.visibility</p:attrName>
                                        </p:attrNameLst>
                                      </p:cBhvr>
                                      <p:to>
                                        <p:strVal val="hidden"/>
                                      </p:to>
                                    </p:set>
                                  </p:childTnLst>
                                </p:cTn>
                              </p:par>
                              <p:par>
                                <p:cTn id="292" presetID="10" presetClass="exit" presetSubtype="0" grpId="0" fill="hold" nodeType="withEffect">
                                  <p:stCondLst>
                                    <p:cond delay="0"/>
                                  </p:stCondLst>
                                  <p:childTnLst>
                                    <p:animEffect transition="out" filter="fade">
                                      <p:cBhvr>
                                        <p:cTn id="293" dur="350"/>
                                        <p:tgtEl>
                                          <p:spTgt spid="41">
                                            <p:txEl>
                                              <p:pRg st="1" end="1"/>
                                            </p:txEl>
                                          </p:spTgt>
                                        </p:tgtEl>
                                      </p:cBhvr>
                                    </p:animEffect>
                                    <p:set>
                                      <p:cBhvr>
                                        <p:cTn id="294" dur="1" fill="hold">
                                          <p:stCondLst>
                                            <p:cond delay="349"/>
                                          </p:stCondLst>
                                        </p:cTn>
                                        <p:tgtEl>
                                          <p:spTgt spid="41">
                                            <p:txEl>
                                              <p:pRg st="1" end="1"/>
                                            </p:txEl>
                                          </p:spTgt>
                                        </p:tgtEl>
                                        <p:attrNameLst>
                                          <p:attrName>style.visibility</p:attrName>
                                        </p:attrNameLst>
                                      </p:cBhvr>
                                      <p:to>
                                        <p:strVal val="hidden"/>
                                      </p:to>
                                    </p:set>
                                  </p:childTnLst>
                                </p:cTn>
                              </p:par>
                              <p:par>
                                <p:cTn id="295" presetID="10" presetClass="exit" presetSubtype="0" fill="hold" nodeType="withEffect">
                                  <p:stCondLst>
                                    <p:cond delay="0"/>
                                  </p:stCondLst>
                                  <p:childTnLst>
                                    <p:animEffect transition="out" filter="fade">
                                      <p:cBhvr>
                                        <p:cTn id="296" dur="350"/>
                                        <p:tgtEl>
                                          <p:spTgt spid="42"/>
                                        </p:tgtEl>
                                      </p:cBhvr>
                                    </p:animEffect>
                                    <p:set>
                                      <p:cBhvr>
                                        <p:cTn id="297" dur="1" fill="hold">
                                          <p:stCondLst>
                                            <p:cond delay="349"/>
                                          </p:stCondLst>
                                        </p:cTn>
                                        <p:tgtEl>
                                          <p:spTgt spid="42"/>
                                        </p:tgtEl>
                                        <p:attrNameLst>
                                          <p:attrName>style.visibility</p:attrName>
                                        </p:attrNameLst>
                                      </p:cBhvr>
                                      <p:to>
                                        <p:strVal val="hidden"/>
                                      </p:to>
                                    </p:set>
                                  </p:childTnLst>
                                </p:cTn>
                              </p:par>
                              <p:par>
                                <p:cTn id="298" presetID="10" presetClass="exit" presetSubtype="0" fill="hold" nodeType="withEffect">
                                  <p:stCondLst>
                                    <p:cond delay="0"/>
                                  </p:stCondLst>
                                  <p:childTnLst>
                                    <p:animEffect transition="out" filter="fade">
                                      <p:cBhvr>
                                        <p:cTn id="299" dur="350"/>
                                        <p:tgtEl>
                                          <p:spTgt spid="43"/>
                                        </p:tgtEl>
                                      </p:cBhvr>
                                    </p:animEffect>
                                    <p:set>
                                      <p:cBhvr>
                                        <p:cTn id="300" dur="1" fill="hold">
                                          <p:stCondLst>
                                            <p:cond delay="349"/>
                                          </p:stCondLst>
                                        </p:cTn>
                                        <p:tgtEl>
                                          <p:spTgt spid="43"/>
                                        </p:tgtEl>
                                        <p:attrNameLst>
                                          <p:attrName>style.visibility</p:attrName>
                                        </p:attrNameLst>
                                      </p:cBhvr>
                                      <p:to>
                                        <p:strVal val="hidden"/>
                                      </p:to>
                                    </p:set>
                                  </p:childTnLst>
                                </p:cTn>
                              </p:par>
                              <p:par>
                                <p:cTn id="301" presetID="10" presetClass="exit" presetSubtype="0" fill="hold" nodeType="withEffect">
                                  <p:stCondLst>
                                    <p:cond delay="0"/>
                                  </p:stCondLst>
                                  <p:childTnLst>
                                    <p:animEffect transition="out" filter="fade">
                                      <p:cBhvr>
                                        <p:cTn id="302" dur="350"/>
                                        <p:tgtEl>
                                          <p:spTgt spid="44"/>
                                        </p:tgtEl>
                                      </p:cBhvr>
                                    </p:animEffect>
                                    <p:set>
                                      <p:cBhvr>
                                        <p:cTn id="303" dur="1" fill="hold">
                                          <p:stCondLst>
                                            <p:cond delay="349"/>
                                          </p:stCondLst>
                                        </p:cTn>
                                        <p:tgtEl>
                                          <p:spTgt spid="44"/>
                                        </p:tgtEl>
                                        <p:attrNameLst>
                                          <p:attrName>style.visibility</p:attrName>
                                        </p:attrNameLst>
                                      </p:cBhvr>
                                      <p:to>
                                        <p:strVal val="hidden"/>
                                      </p:to>
                                    </p:set>
                                  </p:childTnLst>
                                </p:cTn>
                              </p:par>
                              <p:par>
                                <p:cTn id="304" presetID="10" presetClass="exit" presetSubtype="0" grpId="0" fill="hold" nodeType="withEffect">
                                  <p:stCondLst>
                                    <p:cond delay="0"/>
                                  </p:stCondLst>
                                  <p:childTnLst>
                                    <p:animEffect transition="out" filter="fade">
                                      <p:cBhvr>
                                        <p:cTn id="305" dur="350"/>
                                        <p:tgtEl>
                                          <p:spTgt spid="45">
                                            <p:txEl>
                                              <p:pRg st="0" end="0"/>
                                            </p:txEl>
                                          </p:spTgt>
                                        </p:tgtEl>
                                      </p:cBhvr>
                                    </p:animEffect>
                                    <p:set>
                                      <p:cBhvr>
                                        <p:cTn id="306" dur="1" fill="hold">
                                          <p:stCondLst>
                                            <p:cond delay="349"/>
                                          </p:stCondLst>
                                        </p:cTn>
                                        <p:tgtEl>
                                          <p:spTgt spid="45">
                                            <p:txEl>
                                              <p:pRg st="0" end="0"/>
                                            </p:txEl>
                                          </p:spTgt>
                                        </p:tgtEl>
                                        <p:attrNameLst>
                                          <p:attrName>style.visibility</p:attrName>
                                        </p:attrNameLst>
                                      </p:cBhvr>
                                      <p:to>
                                        <p:strVal val="hidden"/>
                                      </p:to>
                                    </p:set>
                                  </p:childTnLst>
                                </p:cTn>
                              </p:par>
                              <p:par>
                                <p:cTn id="307" presetID="10" presetClass="exit" presetSubtype="0" grpId="0" fill="hold" nodeType="withEffect">
                                  <p:stCondLst>
                                    <p:cond delay="0"/>
                                  </p:stCondLst>
                                  <p:childTnLst>
                                    <p:animEffect transition="out" filter="fade">
                                      <p:cBhvr>
                                        <p:cTn id="308" dur="350"/>
                                        <p:tgtEl>
                                          <p:spTgt spid="45">
                                            <p:txEl>
                                              <p:pRg st="1" end="1"/>
                                            </p:txEl>
                                          </p:spTgt>
                                        </p:tgtEl>
                                      </p:cBhvr>
                                    </p:animEffect>
                                    <p:set>
                                      <p:cBhvr>
                                        <p:cTn id="309" dur="1" fill="hold">
                                          <p:stCondLst>
                                            <p:cond delay="349"/>
                                          </p:stCondLst>
                                        </p:cTn>
                                        <p:tgtEl>
                                          <p:spTgt spid="45">
                                            <p:txEl>
                                              <p:pRg st="1" end="1"/>
                                            </p:txEl>
                                          </p:spTgt>
                                        </p:tgtEl>
                                        <p:attrNameLst>
                                          <p:attrName>style.visibility</p:attrName>
                                        </p:attrNameLst>
                                      </p:cBhvr>
                                      <p:to>
                                        <p:strVal val="hidden"/>
                                      </p:to>
                                    </p:set>
                                  </p:childTnLst>
                                </p:cTn>
                              </p:par>
                              <p:par>
                                <p:cTn id="310" presetID="10" presetClass="exit" presetSubtype="0" grpId="0" fill="hold" nodeType="withEffect">
                                  <p:stCondLst>
                                    <p:cond delay="0"/>
                                  </p:stCondLst>
                                  <p:childTnLst>
                                    <p:animEffect transition="out" filter="fade">
                                      <p:cBhvr>
                                        <p:cTn id="311" dur="350"/>
                                        <p:tgtEl>
                                          <p:spTgt spid="45">
                                            <p:txEl>
                                              <p:pRg st="2" end="2"/>
                                            </p:txEl>
                                          </p:spTgt>
                                        </p:tgtEl>
                                      </p:cBhvr>
                                    </p:animEffect>
                                    <p:set>
                                      <p:cBhvr>
                                        <p:cTn id="312" dur="1" fill="hold">
                                          <p:stCondLst>
                                            <p:cond delay="349"/>
                                          </p:stCondLst>
                                        </p:cTn>
                                        <p:tgtEl>
                                          <p:spTgt spid="45">
                                            <p:txEl>
                                              <p:pRg st="2" end="2"/>
                                            </p:txEl>
                                          </p:spTgt>
                                        </p:tgtEl>
                                        <p:attrNameLst>
                                          <p:attrName>style.visibility</p:attrName>
                                        </p:attrNameLst>
                                      </p:cBhvr>
                                      <p:to>
                                        <p:strVal val="hidden"/>
                                      </p:to>
                                    </p:set>
                                  </p:childTnLst>
                                </p:cTn>
                              </p:par>
                              <p:par>
                                <p:cTn id="313" presetID="10" presetClass="exit" presetSubtype="0" fill="hold" nodeType="withEffect">
                                  <p:stCondLst>
                                    <p:cond delay="0"/>
                                  </p:stCondLst>
                                  <p:childTnLst>
                                    <p:animEffect transition="out" filter="fade">
                                      <p:cBhvr>
                                        <p:cTn id="314" dur="350"/>
                                        <p:tgtEl>
                                          <p:spTgt spid="46"/>
                                        </p:tgtEl>
                                      </p:cBhvr>
                                    </p:animEffect>
                                    <p:set>
                                      <p:cBhvr>
                                        <p:cTn id="315" dur="1" fill="hold">
                                          <p:stCondLst>
                                            <p:cond delay="349"/>
                                          </p:stCondLst>
                                        </p:cTn>
                                        <p:tgtEl>
                                          <p:spTgt spid="46"/>
                                        </p:tgtEl>
                                        <p:attrNameLst>
                                          <p:attrName>style.visibility</p:attrName>
                                        </p:attrNameLst>
                                      </p:cBhvr>
                                      <p:to>
                                        <p:strVal val="hidden"/>
                                      </p:to>
                                    </p:set>
                                  </p:childTnLst>
                                </p:cTn>
                              </p:par>
                              <p:par>
                                <p:cTn id="316" presetID="10" presetClass="entr" presetSubtype="0" fill="hold" nodeType="withEffect">
                                  <p:stCondLst>
                                    <p:cond delay="450"/>
                                  </p:stCondLst>
                                  <p:childTnLst>
                                    <p:set>
                                      <p:cBhvr>
                                        <p:cTn id="317" dur="1" fill="hold">
                                          <p:stCondLst>
                                            <p:cond delay="0"/>
                                          </p:stCondLst>
                                        </p:cTn>
                                        <p:tgtEl>
                                          <p:spTgt spid="47"/>
                                        </p:tgtEl>
                                        <p:attrNameLst>
                                          <p:attrName>style.visibility</p:attrName>
                                        </p:attrNameLst>
                                      </p:cBhvr>
                                      <p:to>
                                        <p:strVal val="visible"/>
                                      </p:to>
                                    </p:set>
                                    <p:animEffect transition="in" filter="fade">
                                      <p:cBhvr>
                                        <p:cTn id="318" dur="450"/>
                                        <p:tgtEl>
                                          <p:spTgt spid="47"/>
                                        </p:tgtEl>
                                      </p:cBhvr>
                                    </p:animEffect>
                                  </p:childTnLst>
                                </p:cTn>
                              </p:par>
                              <p:par>
                                <p:cTn id="319" presetID="10" presetClass="entr" presetSubtype="0" fill="hold" nodeType="withEffect">
                                  <p:stCondLst>
                                    <p:cond delay="520"/>
                                  </p:stCondLst>
                                  <p:childTnLst>
                                    <p:set>
                                      <p:cBhvr>
                                        <p:cTn id="320" dur="1" fill="hold">
                                          <p:stCondLst>
                                            <p:cond delay="0"/>
                                          </p:stCondLst>
                                        </p:cTn>
                                        <p:tgtEl>
                                          <p:spTgt spid="48"/>
                                        </p:tgtEl>
                                        <p:attrNameLst>
                                          <p:attrName>style.visibility</p:attrName>
                                        </p:attrNameLst>
                                      </p:cBhvr>
                                      <p:to>
                                        <p:strVal val="visible"/>
                                      </p:to>
                                    </p:set>
                                    <p:animEffect transition="in" filter="fade">
                                      <p:cBhvr>
                                        <p:cTn id="321" dur="450"/>
                                        <p:tgtEl>
                                          <p:spTgt spid="48"/>
                                        </p:tgtEl>
                                      </p:cBhvr>
                                    </p:animEffect>
                                  </p:childTnLst>
                                </p:cTn>
                              </p:par>
                              <p:par>
                                <p:cTn id="322" presetID="22" presetClass="entr" presetSubtype="8" fill="hold" nodeType="withEffect">
                                  <p:stCondLst>
                                    <p:cond delay="520"/>
                                  </p:stCondLst>
                                  <p:childTnLst>
                                    <p:set>
                                      <p:cBhvr>
                                        <p:cTn id="323" dur="1" fill="hold">
                                          <p:stCondLst>
                                            <p:cond delay="0"/>
                                          </p:stCondLst>
                                        </p:cTn>
                                        <p:tgtEl>
                                          <p:spTgt spid="49"/>
                                        </p:tgtEl>
                                        <p:attrNameLst>
                                          <p:attrName>style.visibility</p:attrName>
                                        </p:attrNameLst>
                                      </p:cBhvr>
                                      <p:to>
                                        <p:strVal val="visible"/>
                                      </p:to>
                                    </p:set>
                                    <p:animEffect transition="in" filter="wipe(left)">
                                      <p:cBhvr>
                                        <p:cTn id="324" dur="500"/>
                                        <p:tgtEl>
                                          <p:spTgt spid="49"/>
                                        </p:tgtEl>
                                      </p:cBhvr>
                                    </p:animEffect>
                                  </p:childTnLst>
                                </p:cTn>
                              </p:par>
                              <p:par>
                                <p:cTn id="325" presetID="10" presetClass="entr" presetSubtype="0" fill="hold" nodeType="withEffect">
                                  <p:stCondLst>
                                    <p:cond delay="590"/>
                                  </p:stCondLst>
                                  <p:childTnLst>
                                    <p:set>
                                      <p:cBhvr>
                                        <p:cTn id="326" dur="1" fill="hold">
                                          <p:stCondLst>
                                            <p:cond delay="0"/>
                                          </p:stCondLst>
                                        </p:cTn>
                                        <p:tgtEl>
                                          <p:spTgt spid="50"/>
                                        </p:tgtEl>
                                        <p:attrNameLst>
                                          <p:attrName>style.visibility</p:attrName>
                                        </p:attrNameLst>
                                      </p:cBhvr>
                                      <p:to>
                                        <p:strVal val="visible"/>
                                      </p:to>
                                    </p:set>
                                    <p:animEffect transition="in" filter="fade">
                                      <p:cBhvr>
                                        <p:cTn id="327" dur="450"/>
                                        <p:tgtEl>
                                          <p:spTgt spid="50"/>
                                        </p:tgtEl>
                                      </p:cBhvr>
                                    </p:animEffect>
                                  </p:childTnLst>
                                </p:cTn>
                              </p:par>
                              <p:par>
                                <p:cTn id="328" presetID="22" presetClass="entr" presetSubtype="8" fill="hold" nodeType="withEffect">
                                  <p:stCondLst>
                                    <p:cond delay="590"/>
                                  </p:stCondLst>
                                  <p:childTnLst>
                                    <p:set>
                                      <p:cBhvr>
                                        <p:cTn id="329" dur="1" fill="hold">
                                          <p:stCondLst>
                                            <p:cond delay="0"/>
                                          </p:stCondLst>
                                        </p:cTn>
                                        <p:tgtEl>
                                          <p:spTgt spid="51"/>
                                        </p:tgtEl>
                                        <p:attrNameLst>
                                          <p:attrName>style.visibility</p:attrName>
                                        </p:attrNameLst>
                                      </p:cBhvr>
                                      <p:to>
                                        <p:strVal val="visible"/>
                                      </p:to>
                                    </p:set>
                                    <p:animEffect transition="in" filter="wipe(left)">
                                      <p:cBhvr>
                                        <p:cTn id="330" dur="500"/>
                                        <p:tgtEl>
                                          <p:spTgt spid="51"/>
                                        </p:tgtEl>
                                      </p:cBhvr>
                                    </p:animEffect>
                                  </p:childTnLst>
                                </p:cTn>
                              </p:par>
                              <p:par>
                                <p:cTn id="331" presetID="10" presetClass="entr" presetSubtype="0" fill="hold" nodeType="withEffect">
                                  <p:stCondLst>
                                    <p:cond delay="660"/>
                                  </p:stCondLst>
                                  <p:childTnLst>
                                    <p:set>
                                      <p:cBhvr>
                                        <p:cTn id="332" dur="1" fill="hold">
                                          <p:stCondLst>
                                            <p:cond delay="0"/>
                                          </p:stCondLst>
                                        </p:cTn>
                                        <p:tgtEl>
                                          <p:spTgt spid="52"/>
                                        </p:tgtEl>
                                        <p:attrNameLst>
                                          <p:attrName>style.visibility</p:attrName>
                                        </p:attrNameLst>
                                      </p:cBhvr>
                                      <p:to>
                                        <p:strVal val="visible"/>
                                      </p:to>
                                    </p:set>
                                    <p:animEffect transition="in" filter="fade">
                                      <p:cBhvr>
                                        <p:cTn id="333" dur="450"/>
                                        <p:tgtEl>
                                          <p:spTgt spid="52"/>
                                        </p:tgtEl>
                                      </p:cBhvr>
                                    </p:animEffect>
                                  </p:childTnLst>
                                </p:cTn>
                              </p:par>
                              <p:par>
                                <p:cTn id="334" presetID="22" presetClass="entr" presetSubtype="8" fill="hold" nodeType="withEffect">
                                  <p:stCondLst>
                                    <p:cond delay="660"/>
                                  </p:stCondLst>
                                  <p:childTnLst>
                                    <p:set>
                                      <p:cBhvr>
                                        <p:cTn id="335" dur="1" fill="hold">
                                          <p:stCondLst>
                                            <p:cond delay="0"/>
                                          </p:stCondLst>
                                        </p:cTn>
                                        <p:tgtEl>
                                          <p:spTgt spid="53"/>
                                        </p:tgtEl>
                                        <p:attrNameLst>
                                          <p:attrName>style.visibility</p:attrName>
                                        </p:attrNameLst>
                                      </p:cBhvr>
                                      <p:to>
                                        <p:strVal val="visible"/>
                                      </p:to>
                                    </p:set>
                                    <p:animEffect transition="in" filter="wipe(left)">
                                      <p:cBhvr>
                                        <p:cTn id="336" dur="500"/>
                                        <p:tgtEl>
                                          <p:spTgt spid="53"/>
                                        </p:tgtEl>
                                      </p:cBhvr>
                                    </p:animEffect>
                                  </p:childTnLst>
                                </p:cTn>
                              </p:par>
                              <p:par>
                                <p:cTn id="337" presetID="10" presetClass="entr" presetSubtype="0" grpId="0" fill="hold" nodeType="withEffect">
                                  <p:stCondLst>
                                    <p:cond delay="730"/>
                                  </p:stCondLst>
                                  <p:childTnLst>
                                    <p:set>
                                      <p:cBhvr>
                                        <p:cTn id="338" dur="1" fill="hold">
                                          <p:stCondLst>
                                            <p:cond delay="0"/>
                                          </p:stCondLst>
                                        </p:cTn>
                                        <p:tgtEl>
                                          <p:spTgt spid="55">
                                            <p:txEl>
                                              <p:pRg st="0" end="0"/>
                                            </p:txEl>
                                          </p:spTgt>
                                        </p:tgtEl>
                                        <p:attrNameLst>
                                          <p:attrName>style.visibility</p:attrName>
                                        </p:attrNameLst>
                                      </p:cBhvr>
                                      <p:to>
                                        <p:strVal val="visible"/>
                                      </p:to>
                                    </p:set>
                                    <p:animEffect transition="in" filter="fade">
                                      <p:cBhvr>
                                        <p:cTn id="339" dur="450"/>
                                        <p:tgtEl>
                                          <p:spTgt spid="55">
                                            <p:txEl>
                                              <p:pRg st="0" end="0"/>
                                            </p:txEl>
                                          </p:spTgt>
                                        </p:tgtEl>
                                      </p:cBhvr>
                                    </p:animEffect>
                                  </p:childTnLst>
                                </p:cTn>
                              </p:par>
                              <p:par>
                                <p:cTn id="340" presetID="10" presetClass="entr" presetSubtype="0" grpId="0" fill="hold" nodeType="withEffect">
                                  <p:stCondLst>
                                    <p:cond delay="1110"/>
                                  </p:stCondLst>
                                  <p:childTnLst>
                                    <p:set>
                                      <p:cBhvr>
                                        <p:cTn id="341" dur="1" fill="hold">
                                          <p:stCondLst>
                                            <p:cond delay="0"/>
                                          </p:stCondLst>
                                        </p:cTn>
                                        <p:tgtEl>
                                          <p:spTgt spid="55">
                                            <p:txEl>
                                              <p:pRg st="1" end="1"/>
                                            </p:txEl>
                                          </p:spTgt>
                                        </p:tgtEl>
                                        <p:attrNameLst>
                                          <p:attrName>style.visibility</p:attrName>
                                        </p:attrNameLst>
                                      </p:cBhvr>
                                      <p:to>
                                        <p:strVal val="visible"/>
                                      </p:to>
                                    </p:set>
                                    <p:animEffect transition="in" filter="fade">
                                      <p:cBhvr>
                                        <p:cTn id="342" dur="450"/>
                                        <p:tgtEl>
                                          <p:spTgt spid="55">
                                            <p:txEl>
                                              <p:pRg st="1" end="1"/>
                                            </p:txEl>
                                          </p:spTgt>
                                        </p:tgtEl>
                                      </p:cBhvr>
                                    </p:animEffect>
                                  </p:childTnLst>
                                </p:cTn>
                              </p:par>
                              <p:par>
                                <p:cTn id="343" presetID="10" presetClass="entr" presetSubtype="0" grpId="0" fill="hold" nodeType="withEffect">
                                  <p:stCondLst>
                                    <p:cond delay="1490"/>
                                  </p:stCondLst>
                                  <p:childTnLst>
                                    <p:set>
                                      <p:cBhvr>
                                        <p:cTn id="344" dur="1" fill="hold">
                                          <p:stCondLst>
                                            <p:cond delay="0"/>
                                          </p:stCondLst>
                                        </p:cTn>
                                        <p:tgtEl>
                                          <p:spTgt spid="55">
                                            <p:txEl>
                                              <p:pRg st="2" end="2"/>
                                            </p:txEl>
                                          </p:spTgt>
                                        </p:tgtEl>
                                        <p:attrNameLst>
                                          <p:attrName>style.visibility</p:attrName>
                                        </p:attrNameLst>
                                      </p:cBhvr>
                                      <p:to>
                                        <p:strVal val="visible"/>
                                      </p:to>
                                    </p:set>
                                    <p:animEffect transition="in" filter="fade">
                                      <p:cBhvr>
                                        <p:cTn id="345" dur="450"/>
                                        <p:tgtEl>
                                          <p:spTgt spid="55">
                                            <p:txEl>
                                              <p:pRg st="2" end="2"/>
                                            </p:txEl>
                                          </p:spTgt>
                                        </p:tgtEl>
                                      </p:cBhvr>
                                    </p:animEffect>
                                  </p:childTnLst>
                                </p:cTn>
                              </p:par>
                              <p:par>
                                <p:cTn id="346" presetID="22" presetClass="entr" presetSubtype="8" fill="hold" nodeType="withEffect">
                                  <p:stCondLst>
                                    <p:cond delay="800"/>
                                  </p:stCondLst>
                                  <p:childTnLst>
                                    <p:set>
                                      <p:cBhvr>
                                        <p:cTn id="347" dur="1" fill="hold">
                                          <p:stCondLst>
                                            <p:cond delay="0"/>
                                          </p:stCondLst>
                                        </p:cTn>
                                        <p:tgtEl>
                                          <p:spTgt spid="56"/>
                                        </p:tgtEl>
                                        <p:attrNameLst>
                                          <p:attrName>style.visibility</p:attrName>
                                        </p:attrNameLst>
                                      </p:cBhvr>
                                      <p:to>
                                        <p:strVal val="visible"/>
                                      </p:to>
                                    </p:set>
                                    <p:animEffect transition="in" filter="wipe(left)">
                                      <p:cBhvr>
                                        <p:cTn id="348" dur="500"/>
                                        <p:tgtEl>
                                          <p:spTgt spid="56"/>
                                        </p:tgtEl>
                                      </p:cBhvr>
                                    </p:animEffect>
                                  </p:childTnLst>
                                </p:cTn>
                              </p:par>
                              <p:par>
                                <p:cTn id="349" presetID="22" presetClass="entr" presetSubtype="8" fill="hold" nodeType="withEffect">
                                  <p:stCondLst>
                                    <p:cond delay="870"/>
                                  </p:stCondLst>
                                  <p:childTnLst>
                                    <p:set>
                                      <p:cBhvr>
                                        <p:cTn id="350" dur="1" fill="hold">
                                          <p:stCondLst>
                                            <p:cond delay="0"/>
                                          </p:stCondLst>
                                        </p:cTn>
                                        <p:tgtEl>
                                          <p:spTgt spid="21"/>
                                        </p:tgtEl>
                                        <p:attrNameLst>
                                          <p:attrName>style.visibility</p:attrName>
                                        </p:attrNameLst>
                                      </p:cBhvr>
                                      <p:to>
                                        <p:strVal val="visible"/>
                                      </p:to>
                                    </p:set>
                                    <p:animEffect transition="in" filter="wipe(left)">
                                      <p:cBhvr>
                                        <p:cTn id="351" dur="500"/>
                                        <p:tgtEl>
                                          <p:spTgt spid="21"/>
                                        </p:tgtEl>
                                      </p:cBhvr>
                                    </p:animEffect>
                                  </p:childTnLst>
                                </p:cTn>
                              </p:par>
                              <p:par>
                                <p:cTn id="352" presetID="10" presetClass="entr" presetSubtype="0" fill="hold" nodeType="withEffect">
                                  <p:stCondLst>
                                    <p:cond delay="580"/>
                                  </p:stCondLst>
                                  <p:childTnLst>
                                    <p:set>
                                      <p:cBhvr>
                                        <p:cTn id="353" dur="1" fill="hold">
                                          <p:stCondLst>
                                            <p:cond delay="0"/>
                                          </p:stCondLst>
                                        </p:cTn>
                                        <p:tgtEl>
                                          <p:spTgt spid="57"/>
                                        </p:tgtEl>
                                        <p:attrNameLst>
                                          <p:attrName>style.visibility</p:attrName>
                                        </p:attrNameLst>
                                      </p:cBhvr>
                                      <p:to>
                                        <p:strVal val="visible"/>
                                      </p:to>
                                    </p:set>
                                    <p:animEffect transition="in" filter="fade">
                                      <p:cBhvr>
                                        <p:cTn id="354" dur="45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P spid="37" grpId="0" build="p"/>
      <p:bldP spid="41" grpId="0" build="p"/>
      <p:bldP spid="45" grpId="0" build="p"/>
      <p:bldP spid="5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Descarga en lotes, escalabilidad y nodo HAMMER</a:t>
            </a:r>
            <a:endParaRPr lang="en-US" sz="2200" dirty="0"/>
          </a:p>
        </p:txBody>
      </p:sp>
      <p:sp>
        <p:nvSpPr>
          <p:cNvPr id="3" name="Obj [o756]"/>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Los registros se descargan en lotes numerados, con CRC y reintento si algo falla</a:t>
            </a:r>
            <a:endParaRPr lang="en-US" sz="1400" dirty="0"/>
          </a:p>
        </p:txBody>
      </p:sp>
      <p:pic>
        <p:nvPicPr>
          <p:cNvPr id="4" name="Obj [o757]" descr="Descarga de lotes: el maestro pide cada lote por nodo y secuencia, el esclavo lo recupera de la microSD o de la arena de RAM y lo envía con CRC; sin acuse se repite">    </p:cNvPr>
          <p:cNvPicPr>
            <a:picLocks noChangeAspect="1"/>
          </p:cNvPicPr>
          <p:nvPr/>
        </p:nvPicPr>
        <p:blipFill>
          <a:blip r:embed="rId1"/>
          <a:stretch>
            <a:fillRect/>
          </a:stretch>
        </p:blipFill>
        <p:spPr>
          <a:xfrm>
            <a:off x="1046266" y="1561458"/>
            <a:ext cx="7051468" cy="2839427"/>
          </a:xfrm>
          <a:prstGeom prst="rect">
            <a:avLst/>
          </a:prstGeom>
        </p:spPr>
      </p:pic>
      <p:sp>
        <p:nvSpPr>
          <p:cNvPr id="5" name="Obj [o75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12); resumen firmado, sec. 4.8; documento de tesis, 04_arquitectura.tex.</a:t>
            </a:r>
            <a:endParaRPr lang="en-US" sz="800" dirty="0"/>
          </a:p>
        </p:txBody>
      </p:sp>
      <p:sp>
        <p:nvSpPr>
          <p:cNvPr id="6" name="Obj [o75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número de nodos está limitado por los pares de ESP-NOW y por la descarga secuencial</a:t>
            </a:r>
            <a:endParaRPr lang="en-US" sz="1400" dirty="0"/>
          </a:p>
        </p:txBody>
      </p:sp>
      <p:sp>
        <p:nvSpPr>
          <p:cNvPr id="7" name="Obj [o760]"/>
          <p:cNvSpPr/>
          <p:nvPr/>
        </p:nvSpPr>
        <p:spPr>
          <a:xfrm>
            <a:off x="441794" y="1557362"/>
            <a:ext cx="2128962" cy="342155"/>
          </a:xfrm>
          <a:prstGeom prst="rect">
            <a:avLst/>
          </a:prstGeom>
          <a:solidFill>
            <a:srgbClr val="1F4E79"/>
          </a:solidFill>
          <a:ln w="6350">
            <a:solidFill>
              <a:srgbClr val="1F4E79"/>
            </a:solidFill>
            <a:prstDash val="solid"/>
          </a:ln>
        </p:spPr>
      </p:sp>
      <p:sp>
        <p:nvSpPr>
          <p:cNvPr id="8" name="Obj [o761]"/>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Verificado</a:t>
            </a:r>
            <a:endParaRPr lang="en-US" sz="1294" dirty="0"/>
          </a:p>
        </p:txBody>
      </p:sp>
      <p:sp>
        <p:nvSpPr>
          <p:cNvPr id="9" name="Obj [o762]"/>
          <p:cNvSpPr/>
          <p:nvPr/>
        </p:nvSpPr>
        <p:spPr>
          <a:xfrm>
            <a:off x="441794" y="1899517"/>
            <a:ext cx="2128962" cy="2052927"/>
          </a:xfrm>
          <a:prstGeom prst="rect">
            <a:avLst/>
          </a:prstGeom>
          <a:solidFill>
            <a:srgbClr val="FFFFFF"/>
          </a:solidFill>
          <a:ln w="15840">
            <a:solidFill>
              <a:srgbClr val="1F4E79"/>
            </a:solidFill>
            <a:prstDash val="solid"/>
          </a:ln>
        </p:spPr>
      </p:sp>
      <p:sp>
        <p:nvSpPr>
          <p:cNvPr id="10" name="Obj [o763]"/>
          <p:cNvSpPr txBox="1"/>
          <p:nvPr/>
        </p:nvSpPr>
        <p:spPr>
          <a:xfrm>
            <a:off x="533036"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ESP-IDF v5.5: hasta 20 pares; cifrados: hasta 17, 7 por defecto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Carga útil por trama: 250 B (v1.0) o 1470 B (v2.0)</a:t>
            </a:r>
            <a:endParaRPr lang="en-US" sz="1078" dirty="0"/>
          </a:p>
        </p:txBody>
      </p:sp>
      <p:sp>
        <p:nvSpPr>
          <p:cNvPr id="11" name="Obj [o764]"/>
          <p:cNvSpPr/>
          <p:nvPr/>
        </p:nvSpPr>
        <p:spPr>
          <a:xfrm>
            <a:off x="2798859" y="1557362"/>
            <a:ext cx="2128962" cy="342155"/>
          </a:xfrm>
          <a:prstGeom prst="rect">
            <a:avLst/>
          </a:prstGeom>
          <a:solidFill>
            <a:srgbClr val="2E75B6"/>
          </a:solidFill>
          <a:ln w="6350">
            <a:solidFill>
              <a:srgbClr val="2E75B6"/>
            </a:solidFill>
            <a:prstDash val="solid"/>
          </a:ln>
        </p:spPr>
      </p:sp>
      <p:sp>
        <p:nvSpPr>
          <p:cNvPr id="12" name="Obj [o765]"/>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Inferencia</a:t>
            </a:r>
            <a:endParaRPr lang="en-US" sz="1294" dirty="0"/>
          </a:p>
        </p:txBody>
      </p:sp>
      <p:sp>
        <p:nvSpPr>
          <p:cNvPr id="13" name="Obj [o766]"/>
          <p:cNvSpPr/>
          <p:nvPr/>
        </p:nvSpPr>
        <p:spPr>
          <a:xfrm>
            <a:off x="2798859" y="1899517"/>
            <a:ext cx="2128962" cy="2052927"/>
          </a:xfrm>
          <a:prstGeom prst="rect">
            <a:avLst/>
          </a:prstGeom>
          <a:solidFill>
            <a:srgbClr val="FFFFFF"/>
          </a:solidFill>
          <a:ln w="15840">
            <a:solidFill>
              <a:srgbClr val="2E75B6"/>
            </a:solidFill>
            <a:prstDash val="solid"/>
          </a:ln>
        </p:spPr>
      </p:sp>
      <p:sp>
        <p:nvSpPr>
          <p:cNvPr id="14" name="Obj [o767]"/>
          <p:cNvSpPr txBox="1"/>
          <p:nvPr/>
        </p:nvSpPr>
        <p:spPr>
          <a:xfrm>
            <a:off x="2890100"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Con un par para el broadcast, quedarían unos 19 nodos por maestro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La descarga recorre un nodo por vez: el tiempo crece con N</a:t>
            </a:r>
            <a:endParaRPr lang="en-US" sz="1078" dirty="0"/>
          </a:p>
        </p:txBody>
      </p:sp>
      <p:sp>
        <p:nvSpPr>
          <p:cNvPr id="15" name="Obj [o768]"/>
          <p:cNvSpPr/>
          <p:nvPr/>
        </p:nvSpPr>
        <p:spPr>
          <a:xfrm>
            <a:off x="5155924" y="1557362"/>
            <a:ext cx="2128962" cy="342155"/>
          </a:xfrm>
          <a:prstGeom prst="rect">
            <a:avLst/>
          </a:prstGeom>
          <a:solidFill>
            <a:srgbClr val="C55A11"/>
          </a:solidFill>
          <a:ln w="6350">
            <a:solidFill>
              <a:srgbClr val="C55A11"/>
            </a:solidFill>
            <a:prstDash val="solid"/>
          </a:ln>
        </p:spPr>
      </p:sp>
      <p:sp>
        <p:nvSpPr>
          <p:cNvPr id="16" name="Obj [o769]"/>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Sin medir</a:t>
            </a:r>
            <a:endParaRPr lang="en-US" sz="1294" dirty="0"/>
          </a:p>
        </p:txBody>
      </p:sp>
      <p:sp>
        <p:nvSpPr>
          <p:cNvPr id="17" name="Obj [o770]"/>
          <p:cNvSpPr/>
          <p:nvPr/>
        </p:nvSpPr>
        <p:spPr>
          <a:xfrm>
            <a:off x="5155924" y="1899517"/>
            <a:ext cx="2128962" cy="2052927"/>
          </a:xfrm>
          <a:prstGeom prst="rect">
            <a:avLst/>
          </a:prstGeom>
          <a:solidFill>
            <a:srgbClr val="FFFFFF"/>
          </a:solidFill>
          <a:ln w="15840">
            <a:solidFill>
              <a:srgbClr val="C55A11"/>
            </a:solidFill>
            <a:prstDash val="solid"/>
          </a:ln>
        </p:spPr>
      </p:sp>
      <p:sp>
        <p:nvSpPr>
          <p:cNvPr id="18" name="Obj [o771]"/>
          <p:cNvSpPr txBox="1"/>
          <p:nvPr/>
        </p:nvSpPr>
        <p:spPr>
          <a:xfrm>
            <a:off x="5247165"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Jitter y descarga con más de 3 nodos</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Efecto de la ocupación del canal Wi-Fi</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Qué versión de ESP-NOW usa el firmware</a:t>
            </a:r>
            <a:endParaRPr lang="en-US" sz="1078" dirty="0"/>
          </a:p>
        </p:txBody>
      </p:sp>
      <p:sp>
        <p:nvSpPr>
          <p:cNvPr id="19" name="Obj [o77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Espressif, ESP-IDF v5.5, API de ESP-NOW (docs.espressif.com); documento de tesis, 04_arquitectura.tex (experimentos pendientes). Inferencias propias.</a:t>
            </a:r>
            <a:endParaRPr lang="en-US" sz="800" dirty="0"/>
          </a:p>
        </p:txBody>
      </p:sp>
      <p:sp>
        <p:nvSpPr>
          <p:cNvPr id="20" name="Obj [o77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nodo HAMMER registra el impacto con un sensor ICP y el mismo firmware que los nodos GEO</a:t>
            </a:r>
            <a:endParaRPr lang="en-US" sz="1400" dirty="0"/>
          </a:p>
        </p:txBody>
      </p:sp>
      <p:pic>
        <p:nvPicPr>
          <p:cNvPr id="21" name="Obj [o774]" descr="Principio de alimentación ICP: sensor de cuarzo con amplificador interno, cable, fuente de corriente constante y capacitor de desacople">    </p:cNvPr>
          <p:cNvPicPr>
            <a:picLocks noChangeAspect="1"/>
          </p:cNvPicPr>
          <p:nvPr/>
        </p:nvPicPr>
        <p:blipFill>
          <a:blip r:embed="rId2"/>
          <a:stretch>
            <a:fillRect/>
          </a:stretch>
        </p:blipFill>
        <p:spPr>
          <a:xfrm>
            <a:off x="365760" y="1595380"/>
            <a:ext cx="1672756" cy="1417660"/>
          </a:xfrm>
          <a:prstGeom prst="rect">
            <a:avLst/>
          </a:prstGeom>
        </p:spPr>
      </p:pic>
      <p:pic>
        <p:nvPicPr>
          <p:cNvPr id="22" name="Obj [o775]" descr="Acondicionamiento del martillo en PSoC Creator: fuente de corriente con LM7805, desacople y protección, PGA, pasa-bajos y ADC delta-sigma">    </p:cNvPr>
          <p:cNvPicPr>
            <a:picLocks noChangeAspect="1"/>
          </p:cNvPicPr>
          <p:nvPr/>
        </p:nvPicPr>
        <p:blipFill>
          <a:blip r:embed="rId3"/>
          <a:stretch>
            <a:fillRect/>
          </a:stretch>
        </p:blipFill>
        <p:spPr>
          <a:xfrm>
            <a:off x="2494722" y="1595380"/>
            <a:ext cx="4714130" cy="1785084"/>
          </a:xfrm>
          <a:prstGeom prst="rect">
            <a:avLst/>
          </a:prstGeom>
        </p:spPr>
      </p:pic>
      <p:sp>
        <p:nvSpPr>
          <p:cNvPr id="23" name="Obj [o776]"/>
          <p:cNvSpPr txBox="1"/>
          <p:nvPr/>
        </p:nvSpPr>
        <p:spPr>
          <a:xfrm>
            <a:off x="2494722" y="3397394"/>
            <a:ext cx="4714130"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ETIQUETAS EN INGLÉS (figuras originales)</a:t>
            </a:r>
            <a:endParaRPr lang="en-US" sz="863" dirty="0"/>
          </a:p>
        </p:txBody>
      </p:sp>
      <p:sp>
        <p:nvSpPr>
          <p:cNvPr id="24" name="Obj [o777]"/>
          <p:cNvSpPr txBox="1"/>
          <p:nvPr/>
        </p:nvSpPr>
        <p:spPr>
          <a:xfrm>
            <a:off x="441794" y="3610290"/>
            <a:ext cx="6843091" cy="684309"/>
          </a:xfrm>
          <a:prstGeom prst="rect">
            <a:avLst/>
          </a:prstGeom>
          <a:noFill/>
          <a:ln/>
        </p:spPr>
        <p:txBody>
          <a:bodyPr wrap="square" lIns="0" tIns="0" rIns="0" bIns="0" rtlCol="0" anchor="t"/>
          <a:lstStyle/>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Sensor de impacto PCB 086D20, alimentado con corriente constante; luego desacople, protección, PGA, pasa-bajos y ADC</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Da el instante y la forma del impacto: alinea trazas, mide repetibilidad y detecta rebotes</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Misma estructura de control, adquisición y almacenamiento que el nodo GEO</a:t>
            </a:r>
            <a:endParaRPr lang="en-US" sz="1122" dirty="0"/>
          </a:p>
        </p:txBody>
      </p:sp>
      <p:sp>
        <p:nvSpPr>
          <p:cNvPr id="25" name="Obj [o77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4.7 y fig. 13; PCB Piezotronics (2025); documento de tesis, 03_excitacion.tex (principio ICP, esquema en PSoC Creator).</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350"/>
                                        <p:tgtEl>
                                          <p:spTgt spid="3"/>
                                        </p:tgtEl>
                                      </p:cBhvr>
                                    </p:animEffect>
                                    <p:set>
                                      <p:cBhvr>
                                        <p:cTn id="20" dur="1" fill="hold">
                                          <p:stCondLst>
                                            <p:cond delay="349"/>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350"/>
                                        <p:tgtEl>
                                          <p:spTgt spid="5"/>
                                        </p:tgtEl>
                                      </p:cBhvr>
                                    </p:animEffect>
                                    <p:set>
                                      <p:cBhvr>
                                        <p:cTn id="23" dur="1" fill="hold">
                                          <p:stCondLst>
                                            <p:cond delay="349"/>
                                          </p:stCondLst>
                                        </p:cTn>
                                        <p:tgtEl>
                                          <p:spTgt spid="5"/>
                                        </p:tgtEl>
                                        <p:attrNameLst>
                                          <p:attrName>style.visibility</p:attrName>
                                        </p:attrNameLst>
                                      </p:cBhvr>
                                      <p:to>
                                        <p:strVal val="hidden"/>
                                      </p:to>
                                    </p:set>
                                  </p:childTnLst>
                                </p:cTn>
                              </p:par>
                              <p:par>
                                <p:cTn id="24" presetID="0" presetClass="path" presetSubtype="0" accel="50000" decel="50000" fill="hold" nodeType="withEffect">
                                  <p:stCondLst>
                                    <p:cond delay="0"/>
                                  </p:stCondLst>
                                  <p:childTnLst>
                                    <p:animMotion origin="layout" path="M 0 0 L 0.39250 -0.21160 E" pathEditMode="relative" rAng="0" ptsTypes="AA">
                                      <p:cBhvr>
                                        <p:cTn id="25" dur="750" fill="hold"/>
                                        <p:tgtEl>
                                          <p:spTgt spid="4"/>
                                        </p:tgtEl>
                                        <p:attrNameLst>
                                          <p:attrName>ppt_x</p:attrName>
                                          <p:attrName>ppt_y</p:attrName>
                                        </p:attrNameLst>
                                      </p:cBhvr>
                                      <p:rCtr x="19625" y="-10579"/>
                                    </p:animMotion>
                                  </p:childTnLst>
                                </p:cTn>
                              </p:par>
                              <p:par>
                                <p:cTn id="26" presetID="6" presetClass="emph" presetSubtype="0" accel="50000" decel="50000" fill="hold" nodeType="withEffect">
                                  <p:stCondLst>
                                    <p:cond delay="0"/>
                                  </p:stCondLst>
                                  <p:childTnLst>
                                    <p:animScale>
                                      <p:cBhvr>
                                        <p:cTn id="27" dur="750" fill="hold"/>
                                        <p:tgtEl>
                                          <p:spTgt spid="4"/>
                                        </p:tgtEl>
                                      </p:cBhvr>
                                      <p:by x="17506" y="17506"/>
                                    </p:animScale>
                                  </p:childTnLst>
                                </p:cTn>
                              </p:par>
                              <p:par>
                                <p:cTn id="28" presetID="10" presetClass="entr" presetSubtype="0" fill="hold" nodeType="withEffect">
                                  <p:stCondLst>
                                    <p:cond delay="45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childTnLst>
                                </p:cTn>
                              </p:par>
                              <p:par>
                                <p:cTn id="31" presetID="10" presetClass="entr" presetSubtype="0" fill="hold" nodeType="withEffect">
                                  <p:stCondLst>
                                    <p:cond delay="52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50"/>
                                        <p:tgtEl>
                                          <p:spTgt spid="7"/>
                                        </p:tgtEl>
                                      </p:cBhvr>
                                    </p:animEffect>
                                  </p:childTnLst>
                                </p:cTn>
                              </p:par>
                              <p:par>
                                <p:cTn id="34" presetID="22" presetClass="entr" presetSubtype="4" fill="hold" nodeType="withEffect">
                                  <p:stCondLst>
                                    <p:cond delay="59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10" presetClass="entr" presetSubtype="0" fill="hold" nodeType="withEffect">
                                  <p:stCondLst>
                                    <p:cond delay="66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childTnLst>
                                </p:cTn>
                              </p:par>
                              <p:par>
                                <p:cTn id="40" presetID="10" presetClass="entr" presetSubtype="0" grpId="0" fill="hold" nodeType="withEffect">
                                  <p:stCondLst>
                                    <p:cond delay="73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fade">
                                      <p:cBhvr>
                                        <p:cTn id="42" dur="450"/>
                                        <p:tgtEl>
                                          <p:spTgt spid="10">
                                            <p:txEl>
                                              <p:pRg st="0" end="0"/>
                                            </p:txEl>
                                          </p:spTgt>
                                        </p:tgtEl>
                                      </p:cBhvr>
                                    </p:animEffect>
                                  </p:childTnLst>
                                </p:cTn>
                              </p:par>
                              <p:par>
                                <p:cTn id="43" presetID="10" presetClass="entr" presetSubtype="0" grpId="0" fill="hold" nodeType="withEffect">
                                  <p:stCondLst>
                                    <p:cond delay="1110"/>
                                  </p:stCondLst>
                                  <p:childTnLst>
                                    <p:set>
                                      <p:cBhvr>
                                        <p:cTn id="44" dur="1" fill="hold">
                                          <p:stCondLst>
                                            <p:cond delay="0"/>
                                          </p:stCondLst>
                                        </p:cTn>
                                        <p:tgtEl>
                                          <p:spTgt spid="10">
                                            <p:txEl>
                                              <p:pRg st="1" end="1"/>
                                            </p:txEl>
                                          </p:spTgt>
                                        </p:tgtEl>
                                        <p:attrNameLst>
                                          <p:attrName>style.visibility</p:attrName>
                                        </p:attrNameLst>
                                      </p:cBhvr>
                                      <p:to>
                                        <p:strVal val="visible"/>
                                      </p:to>
                                    </p:set>
                                    <p:animEffect transition="in" filter="fade">
                                      <p:cBhvr>
                                        <p:cTn id="45" dur="450"/>
                                        <p:tgtEl>
                                          <p:spTgt spid="10">
                                            <p:txEl>
                                              <p:pRg st="1" end="1"/>
                                            </p:txEl>
                                          </p:spTgt>
                                        </p:tgtEl>
                                      </p:cBhvr>
                                    </p:animEffect>
                                  </p:childTnLst>
                                </p:cTn>
                              </p:par>
                              <p:par>
                                <p:cTn id="46" presetID="10" presetClass="entr" presetSubtype="0" fill="hold" nodeType="withEffect">
                                  <p:stCondLst>
                                    <p:cond delay="8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50"/>
                                        <p:tgtEl>
                                          <p:spTgt spid="11"/>
                                        </p:tgtEl>
                                      </p:cBhvr>
                                    </p:animEffect>
                                  </p:childTnLst>
                                </p:cTn>
                              </p:par>
                              <p:par>
                                <p:cTn id="49" presetID="22" presetClass="entr" presetSubtype="4" fill="hold" nodeType="withEffect">
                                  <p:stCondLst>
                                    <p:cond delay="870"/>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500"/>
                                        <p:tgtEl>
                                          <p:spTgt spid="12"/>
                                        </p:tgtEl>
                                      </p:cBhvr>
                                    </p:animEffect>
                                  </p:childTnLst>
                                </p:cTn>
                              </p:par>
                              <p:par>
                                <p:cTn id="52" presetID="10" presetClass="entr" presetSubtype="0" fill="hold" nodeType="withEffect">
                                  <p:stCondLst>
                                    <p:cond delay="94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450"/>
                                        <p:tgtEl>
                                          <p:spTgt spid="13"/>
                                        </p:tgtEl>
                                      </p:cBhvr>
                                    </p:animEffect>
                                  </p:childTnLst>
                                </p:cTn>
                              </p:par>
                              <p:par>
                                <p:cTn id="55" presetID="10" presetClass="entr" presetSubtype="0" grpId="0" fill="hold" nodeType="withEffect">
                                  <p:stCondLst>
                                    <p:cond delay="1010"/>
                                  </p:stCondLst>
                                  <p:childTnLst>
                                    <p:set>
                                      <p:cBhvr>
                                        <p:cTn id="56" dur="1" fill="hold">
                                          <p:stCondLst>
                                            <p:cond delay="0"/>
                                          </p:stCondLst>
                                        </p:cTn>
                                        <p:tgtEl>
                                          <p:spTgt spid="14">
                                            <p:txEl>
                                              <p:pRg st="0" end="0"/>
                                            </p:txEl>
                                          </p:spTgt>
                                        </p:tgtEl>
                                        <p:attrNameLst>
                                          <p:attrName>style.visibility</p:attrName>
                                        </p:attrNameLst>
                                      </p:cBhvr>
                                      <p:to>
                                        <p:strVal val="visible"/>
                                      </p:to>
                                    </p:set>
                                    <p:animEffect transition="in" filter="fade">
                                      <p:cBhvr>
                                        <p:cTn id="57" dur="450"/>
                                        <p:tgtEl>
                                          <p:spTgt spid="14">
                                            <p:txEl>
                                              <p:pRg st="0" end="0"/>
                                            </p:txEl>
                                          </p:spTgt>
                                        </p:tgtEl>
                                      </p:cBhvr>
                                    </p:animEffect>
                                  </p:childTnLst>
                                </p:cTn>
                              </p:par>
                              <p:par>
                                <p:cTn id="58" presetID="10" presetClass="entr" presetSubtype="0" grpId="0" fill="hold" nodeType="withEffect">
                                  <p:stCondLst>
                                    <p:cond delay="1390"/>
                                  </p:stCondLst>
                                  <p:childTnLst>
                                    <p:set>
                                      <p:cBhvr>
                                        <p:cTn id="59" dur="1" fill="hold">
                                          <p:stCondLst>
                                            <p:cond delay="0"/>
                                          </p:stCondLst>
                                        </p:cTn>
                                        <p:tgtEl>
                                          <p:spTgt spid="14">
                                            <p:txEl>
                                              <p:pRg st="1" end="1"/>
                                            </p:txEl>
                                          </p:spTgt>
                                        </p:tgtEl>
                                        <p:attrNameLst>
                                          <p:attrName>style.visibility</p:attrName>
                                        </p:attrNameLst>
                                      </p:cBhvr>
                                      <p:to>
                                        <p:strVal val="visible"/>
                                      </p:to>
                                    </p:set>
                                    <p:animEffect transition="in" filter="fade">
                                      <p:cBhvr>
                                        <p:cTn id="60" dur="450"/>
                                        <p:tgtEl>
                                          <p:spTgt spid="14">
                                            <p:txEl>
                                              <p:pRg st="1" end="1"/>
                                            </p:txEl>
                                          </p:spTgt>
                                        </p:tgtEl>
                                      </p:cBhvr>
                                    </p:animEffect>
                                  </p:childTnLst>
                                </p:cTn>
                              </p:par>
                              <p:par>
                                <p:cTn id="61" presetID="10" presetClass="entr" presetSubtype="0" fill="hold" nodeType="withEffect">
                                  <p:stCondLst>
                                    <p:cond delay="108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450"/>
                                        <p:tgtEl>
                                          <p:spTgt spid="15"/>
                                        </p:tgtEl>
                                      </p:cBhvr>
                                    </p:animEffect>
                                  </p:childTnLst>
                                </p:cTn>
                              </p:par>
                              <p:par>
                                <p:cTn id="64" presetID="22" presetClass="entr" presetSubtype="4" fill="hold" nodeType="withEffect">
                                  <p:stCondLst>
                                    <p:cond delay="1150"/>
                                  </p:stCondLst>
                                  <p:childTnLst>
                                    <p:set>
                                      <p:cBhvr>
                                        <p:cTn id="65" dur="1" fill="hold">
                                          <p:stCondLst>
                                            <p:cond delay="0"/>
                                          </p:stCondLst>
                                        </p:cTn>
                                        <p:tgtEl>
                                          <p:spTgt spid="16"/>
                                        </p:tgtEl>
                                        <p:attrNameLst>
                                          <p:attrName>style.visibility</p:attrName>
                                        </p:attrNameLst>
                                      </p:cBhvr>
                                      <p:to>
                                        <p:strVal val="visible"/>
                                      </p:to>
                                    </p:set>
                                    <p:animEffect transition="in" filter="wipe(down)">
                                      <p:cBhvr>
                                        <p:cTn id="66" dur="500"/>
                                        <p:tgtEl>
                                          <p:spTgt spid="16"/>
                                        </p:tgtEl>
                                      </p:cBhvr>
                                    </p:animEffect>
                                  </p:childTnLst>
                                </p:cTn>
                              </p:par>
                              <p:par>
                                <p:cTn id="67" presetID="10" presetClass="entr" presetSubtype="0" fill="hold" nodeType="withEffect">
                                  <p:stCondLst>
                                    <p:cond delay="122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450"/>
                                        <p:tgtEl>
                                          <p:spTgt spid="17"/>
                                        </p:tgtEl>
                                      </p:cBhvr>
                                    </p:animEffect>
                                  </p:childTnLst>
                                </p:cTn>
                              </p:par>
                              <p:par>
                                <p:cTn id="70" presetID="10" presetClass="entr" presetSubtype="0" grpId="0" fill="hold" nodeType="withEffect">
                                  <p:stCondLst>
                                    <p:cond delay="1290"/>
                                  </p:stCondLst>
                                  <p:childTnLst>
                                    <p:set>
                                      <p:cBhvr>
                                        <p:cTn id="71" dur="1" fill="hold">
                                          <p:stCondLst>
                                            <p:cond delay="0"/>
                                          </p:stCondLst>
                                        </p:cTn>
                                        <p:tgtEl>
                                          <p:spTgt spid="18">
                                            <p:txEl>
                                              <p:pRg st="0" end="0"/>
                                            </p:txEl>
                                          </p:spTgt>
                                        </p:tgtEl>
                                        <p:attrNameLst>
                                          <p:attrName>style.visibility</p:attrName>
                                        </p:attrNameLst>
                                      </p:cBhvr>
                                      <p:to>
                                        <p:strVal val="visible"/>
                                      </p:to>
                                    </p:set>
                                    <p:animEffect transition="in" filter="fade">
                                      <p:cBhvr>
                                        <p:cTn id="72" dur="450"/>
                                        <p:tgtEl>
                                          <p:spTgt spid="18">
                                            <p:txEl>
                                              <p:pRg st="0" end="0"/>
                                            </p:txEl>
                                          </p:spTgt>
                                        </p:tgtEl>
                                      </p:cBhvr>
                                    </p:animEffect>
                                  </p:childTnLst>
                                </p:cTn>
                              </p:par>
                              <p:par>
                                <p:cTn id="73" presetID="10" presetClass="entr" presetSubtype="0" grpId="0" fill="hold" nodeType="withEffect">
                                  <p:stCondLst>
                                    <p:cond delay="1670"/>
                                  </p:stCondLst>
                                  <p:childTnLst>
                                    <p:set>
                                      <p:cBhvr>
                                        <p:cTn id="74" dur="1" fill="hold">
                                          <p:stCondLst>
                                            <p:cond delay="0"/>
                                          </p:stCondLst>
                                        </p:cTn>
                                        <p:tgtEl>
                                          <p:spTgt spid="18">
                                            <p:txEl>
                                              <p:pRg st="1" end="1"/>
                                            </p:txEl>
                                          </p:spTgt>
                                        </p:tgtEl>
                                        <p:attrNameLst>
                                          <p:attrName>style.visibility</p:attrName>
                                        </p:attrNameLst>
                                      </p:cBhvr>
                                      <p:to>
                                        <p:strVal val="visible"/>
                                      </p:to>
                                    </p:set>
                                    <p:animEffect transition="in" filter="fade">
                                      <p:cBhvr>
                                        <p:cTn id="75" dur="450"/>
                                        <p:tgtEl>
                                          <p:spTgt spid="18">
                                            <p:txEl>
                                              <p:pRg st="1" end="1"/>
                                            </p:txEl>
                                          </p:spTgt>
                                        </p:tgtEl>
                                      </p:cBhvr>
                                    </p:animEffect>
                                  </p:childTnLst>
                                </p:cTn>
                              </p:par>
                              <p:par>
                                <p:cTn id="76" presetID="10" presetClass="entr" presetSubtype="0" grpId="0" fill="hold" nodeType="withEffect">
                                  <p:stCondLst>
                                    <p:cond delay="2050"/>
                                  </p:stCondLst>
                                  <p:childTnLst>
                                    <p:set>
                                      <p:cBhvr>
                                        <p:cTn id="77" dur="1" fill="hold">
                                          <p:stCondLst>
                                            <p:cond delay="0"/>
                                          </p:stCondLst>
                                        </p:cTn>
                                        <p:tgtEl>
                                          <p:spTgt spid="18">
                                            <p:txEl>
                                              <p:pRg st="2" end="2"/>
                                            </p:txEl>
                                          </p:spTgt>
                                        </p:tgtEl>
                                        <p:attrNameLst>
                                          <p:attrName>style.visibility</p:attrName>
                                        </p:attrNameLst>
                                      </p:cBhvr>
                                      <p:to>
                                        <p:strVal val="visible"/>
                                      </p:to>
                                    </p:set>
                                    <p:animEffect transition="in" filter="fade">
                                      <p:cBhvr>
                                        <p:cTn id="78" dur="450"/>
                                        <p:tgtEl>
                                          <p:spTgt spid="18">
                                            <p:txEl>
                                              <p:pRg st="2" end="2"/>
                                            </p:txEl>
                                          </p:spTgt>
                                        </p:tgtEl>
                                      </p:cBhvr>
                                    </p:animEffect>
                                  </p:childTnLst>
                                </p:cTn>
                              </p:par>
                              <p:par>
                                <p:cTn id="79" presetID="10" presetClass="entr" presetSubtype="0" fill="hold" nodeType="withEffect">
                                  <p:stCondLst>
                                    <p:cond delay="58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450"/>
                                        <p:tgtEl>
                                          <p:spTgt spid="1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xit" presetSubtype="0" fill="hold" nodeType="clickEffect">
                                  <p:stCondLst>
                                    <p:cond delay="0"/>
                                  </p:stCondLst>
                                  <p:childTnLst>
                                    <p:animEffect transition="out" filter="fade">
                                      <p:cBhvr>
                                        <p:cTn id="85" dur="350"/>
                                        <p:tgtEl>
                                          <p:spTgt spid="6"/>
                                        </p:tgtEl>
                                      </p:cBhvr>
                                    </p:animEffect>
                                    <p:set>
                                      <p:cBhvr>
                                        <p:cTn id="86" dur="1" fill="hold">
                                          <p:stCondLst>
                                            <p:cond delay="349"/>
                                          </p:stCondLst>
                                        </p:cTn>
                                        <p:tgtEl>
                                          <p:spTgt spid="6"/>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350"/>
                                        <p:tgtEl>
                                          <p:spTgt spid="7"/>
                                        </p:tgtEl>
                                      </p:cBhvr>
                                    </p:animEffect>
                                    <p:set>
                                      <p:cBhvr>
                                        <p:cTn id="89" dur="1" fill="hold">
                                          <p:stCondLst>
                                            <p:cond delay="349"/>
                                          </p:stCondLst>
                                        </p:cTn>
                                        <p:tgtEl>
                                          <p:spTgt spid="7"/>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350"/>
                                        <p:tgtEl>
                                          <p:spTgt spid="8"/>
                                        </p:tgtEl>
                                      </p:cBhvr>
                                    </p:animEffect>
                                    <p:set>
                                      <p:cBhvr>
                                        <p:cTn id="92" dur="1" fill="hold">
                                          <p:stCondLst>
                                            <p:cond delay="349"/>
                                          </p:stCondLst>
                                        </p:cTn>
                                        <p:tgtEl>
                                          <p:spTgt spid="8"/>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350"/>
                                        <p:tgtEl>
                                          <p:spTgt spid="9"/>
                                        </p:tgtEl>
                                      </p:cBhvr>
                                    </p:animEffect>
                                    <p:set>
                                      <p:cBhvr>
                                        <p:cTn id="95" dur="1" fill="hold">
                                          <p:stCondLst>
                                            <p:cond delay="349"/>
                                          </p:stCondLst>
                                        </p:cTn>
                                        <p:tgtEl>
                                          <p:spTgt spid="9"/>
                                        </p:tgtEl>
                                        <p:attrNameLst>
                                          <p:attrName>style.visibility</p:attrName>
                                        </p:attrNameLst>
                                      </p:cBhvr>
                                      <p:to>
                                        <p:strVal val="hidden"/>
                                      </p:to>
                                    </p:set>
                                  </p:childTnLst>
                                </p:cTn>
                              </p:par>
                              <p:par>
                                <p:cTn id="96" presetID="10" presetClass="exit" presetSubtype="0" grpId="0" fill="hold" nodeType="withEffect">
                                  <p:stCondLst>
                                    <p:cond delay="0"/>
                                  </p:stCondLst>
                                  <p:childTnLst>
                                    <p:animEffect transition="out" filter="fade">
                                      <p:cBhvr>
                                        <p:cTn id="97" dur="350"/>
                                        <p:tgtEl>
                                          <p:spTgt spid="10">
                                            <p:txEl>
                                              <p:pRg st="0" end="0"/>
                                            </p:txEl>
                                          </p:spTgt>
                                        </p:tgtEl>
                                      </p:cBhvr>
                                    </p:animEffect>
                                    <p:set>
                                      <p:cBhvr>
                                        <p:cTn id="98" dur="1" fill="hold">
                                          <p:stCondLst>
                                            <p:cond delay="349"/>
                                          </p:stCondLst>
                                        </p:cTn>
                                        <p:tgtEl>
                                          <p:spTgt spid="10">
                                            <p:txEl>
                                              <p:pRg st="0" end="0"/>
                                            </p:txEl>
                                          </p:spTgt>
                                        </p:tgtEl>
                                        <p:attrNameLst>
                                          <p:attrName>style.visibility</p:attrName>
                                        </p:attrNameLst>
                                      </p:cBhvr>
                                      <p:to>
                                        <p:strVal val="hidden"/>
                                      </p:to>
                                    </p:set>
                                  </p:childTnLst>
                                </p:cTn>
                              </p:par>
                              <p:par>
                                <p:cTn id="99" presetID="10" presetClass="exit" presetSubtype="0" grpId="0" fill="hold" nodeType="withEffect">
                                  <p:stCondLst>
                                    <p:cond delay="0"/>
                                  </p:stCondLst>
                                  <p:childTnLst>
                                    <p:animEffect transition="out" filter="fade">
                                      <p:cBhvr>
                                        <p:cTn id="100" dur="350"/>
                                        <p:tgtEl>
                                          <p:spTgt spid="10">
                                            <p:txEl>
                                              <p:pRg st="1" end="1"/>
                                            </p:txEl>
                                          </p:spTgt>
                                        </p:tgtEl>
                                      </p:cBhvr>
                                    </p:animEffect>
                                    <p:set>
                                      <p:cBhvr>
                                        <p:cTn id="101" dur="1" fill="hold">
                                          <p:stCondLst>
                                            <p:cond delay="349"/>
                                          </p:stCondLst>
                                        </p:cTn>
                                        <p:tgtEl>
                                          <p:spTgt spid="10">
                                            <p:txEl>
                                              <p:pRg st="1" end="1"/>
                                            </p:txEl>
                                          </p:spTgt>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1"/>
                                        </p:tgtEl>
                                      </p:cBhvr>
                                    </p:animEffect>
                                    <p:set>
                                      <p:cBhvr>
                                        <p:cTn id="104" dur="1" fill="hold">
                                          <p:stCondLst>
                                            <p:cond delay="349"/>
                                          </p:stCondLst>
                                        </p:cTn>
                                        <p:tgtEl>
                                          <p:spTgt spid="11"/>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2"/>
                                        </p:tgtEl>
                                      </p:cBhvr>
                                    </p:animEffect>
                                    <p:set>
                                      <p:cBhvr>
                                        <p:cTn id="107" dur="1" fill="hold">
                                          <p:stCondLst>
                                            <p:cond delay="349"/>
                                          </p:stCondLst>
                                        </p:cTn>
                                        <p:tgtEl>
                                          <p:spTgt spid="12"/>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3"/>
                                        </p:tgtEl>
                                      </p:cBhvr>
                                    </p:animEffect>
                                    <p:set>
                                      <p:cBhvr>
                                        <p:cTn id="110" dur="1" fill="hold">
                                          <p:stCondLst>
                                            <p:cond delay="349"/>
                                          </p:stCondLst>
                                        </p:cTn>
                                        <p:tgtEl>
                                          <p:spTgt spid="13"/>
                                        </p:tgtEl>
                                        <p:attrNameLst>
                                          <p:attrName>style.visibility</p:attrName>
                                        </p:attrNameLst>
                                      </p:cBhvr>
                                      <p:to>
                                        <p:strVal val="hidden"/>
                                      </p:to>
                                    </p:set>
                                  </p:childTnLst>
                                </p:cTn>
                              </p:par>
                              <p:par>
                                <p:cTn id="111" presetID="10" presetClass="exit" presetSubtype="0" grpId="0" fill="hold" nodeType="withEffect">
                                  <p:stCondLst>
                                    <p:cond delay="0"/>
                                  </p:stCondLst>
                                  <p:childTnLst>
                                    <p:animEffect transition="out" filter="fade">
                                      <p:cBhvr>
                                        <p:cTn id="112" dur="350"/>
                                        <p:tgtEl>
                                          <p:spTgt spid="14">
                                            <p:txEl>
                                              <p:pRg st="0" end="0"/>
                                            </p:txEl>
                                          </p:spTgt>
                                        </p:tgtEl>
                                      </p:cBhvr>
                                    </p:animEffect>
                                    <p:set>
                                      <p:cBhvr>
                                        <p:cTn id="113" dur="1" fill="hold">
                                          <p:stCondLst>
                                            <p:cond delay="349"/>
                                          </p:stCondLst>
                                        </p:cTn>
                                        <p:tgtEl>
                                          <p:spTgt spid="14">
                                            <p:txEl>
                                              <p:pRg st="0" end="0"/>
                                            </p:txEl>
                                          </p:spTgt>
                                        </p:tgtEl>
                                        <p:attrNameLst>
                                          <p:attrName>style.visibility</p:attrName>
                                        </p:attrNameLst>
                                      </p:cBhvr>
                                      <p:to>
                                        <p:strVal val="hidden"/>
                                      </p:to>
                                    </p:set>
                                  </p:childTnLst>
                                </p:cTn>
                              </p:par>
                              <p:par>
                                <p:cTn id="114" presetID="10" presetClass="exit" presetSubtype="0" grpId="0" fill="hold" nodeType="withEffect">
                                  <p:stCondLst>
                                    <p:cond delay="0"/>
                                  </p:stCondLst>
                                  <p:childTnLst>
                                    <p:animEffect transition="out" filter="fade">
                                      <p:cBhvr>
                                        <p:cTn id="115" dur="350"/>
                                        <p:tgtEl>
                                          <p:spTgt spid="14">
                                            <p:txEl>
                                              <p:pRg st="1" end="1"/>
                                            </p:txEl>
                                          </p:spTgt>
                                        </p:tgtEl>
                                      </p:cBhvr>
                                    </p:animEffect>
                                    <p:set>
                                      <p:cBhvr>
                                        <p:cTn id="116" dur="1" fill="hold">
                                          <p:stCondLst>
                                            <p:cond delay="349"/>
                                          </p:stCondLst>
                                        </p:cTn>
                                        <p:tgtEl>
                                          <p:spTgt spid="14">
                                            <p:txEl>
                                              <p:pRg st="1" end="1"/>
                                            </p:txEl>
                                          </p:spTgt>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350"/>
                                        <p:tgtEl>
                                          <p:spTgt spid="15"/>
                                        </p:tgtEl>
                                      </p:cBhvr>
                                    </p:animEffect>
                                    <p:set>
                                      <p:cBhvr>
                                        <p:cTn id="119" dur="1" fill="hold">
                                          <p:stCondLst>
                                            <p:cond delay="349"/>
                                          </p:stCondLst>
                                        </p:cTn>
                                        <p:tgtEl>
                                          <p:spTgt spid="15"/>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16"/>
                                        </p:tgtEl>
                                      </p:cBhvr>
                                    </p:animEffect>
                                    <p:set>
                                      <p:cBhvr>
                                        <p:cTn id="122" dur="1" fill="hold">
                                          <p:stCondLst>
                                            <p:cond delay="349"/>
                                          </p:stCondLst>
                                        </p:cTn>
                                        <p:tgtEl>
                                          <p:spTgt spid="16"/>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350"/>
                                        <p:tgtEl>
                                          <p:spTgt spid="17"/>
                                        </p:tgtEl>
                                      </p:cBhvr>
                                    </p:animEffect>
                                    <p:set>
                                      <p:cBhvr>
                                        <p:cTn id="125" dur="1" fill="hold">
                                          <p:stCondLst>
                                            <p:cond delay="349"/>
                                          </p:stCondLst>
                                        </p:cTn>
                                        <p:tgtEl>
                                          <p:spTgt spid="17"/>
                                        </p:tgtEl>
                                        <p:attrNameLst>
                                          <p:attrName>style.visibility</p:attrName>
                                        </p:attrNameLst>
                                      </p:cBhvr>
                                      <p:to>
                                        <p:strVal val="hidden"/>
                                      </p:to>
                                    </p:set>
                                  </p:childTnLst>
                                </p:cTn>
                              </p:par>
                              <p:par>
                                <p:cTn id="126" presetID="10" presetClass="exit" presetSubtype="0" grpId="0" fill="hold" nodeType="withEffect">
                                  <p:stCondLst>
                                    <p:cond delay="0"/>
                                  </p:stCondLst>
                                  <p:childTnLst>
                                    <p:animEffect transition="out" filter="fade">
                                      <p:cBhvr>
                                        <p:cTn id="127" dur="350"/>
                                        <p:tgtEl>
                                          <p:spTgt spid="18">
                                            <p:txEl>
                                              <p:pRg st="0" end="0"/>
                                            </p:txEl>
                                          </p:spTgt>
                                        </p:tgtEl>
                                      </p:cBhvr>
                                    </p:animEffect>
                                    <p:set>
                                      <p:cBhvr>
                                        <p:cTn id="128" dur="1" fill="hold">
                                          <p:stCondLst>
                                            <p:cond delay="349"/>
                                          </p:stCondLst>
                                        </p:cTn>
                                        <p:tgtEl>
                                          <p:spTgt spid="18">
                                            <p:txEl>
                                              <p:pRg st="0" end="0"/>
                                            </p:txEl>
                                          </p:spTgt>
                                        </p:tgtEl>
                                        <p:attrNameLst>
                                          <p:attrName>style.visibility</p:attrName>
                                        </p:attrNameLst>
                                      </p:cBhvr>
                                      <p:to>
                                        <p:strVal val="hidden"/>
                                      </p:to>
                                    </p:set>
                                  </p:childTnLst>
                                </p:cTn>
                              </p:par>
                              <p:par>
                                <p:cTn id="129" presetID="10" presetClass="exit" presetSubtype="0" grpId="0" fill="hold" nodeType="withEffect">
                                  <p:stCondLst>
                                    <p:cond delay="0"/>
                                  </p:stCondLst>
                                  <p:childTnLst>
                                    <p:animEffect transition="out" filter="fade">
                                      <p:cBhvr>
                                        <p:cTn id="130" dur="350"/>
                                        <p:tgtEl>
                                          <p:spTgt spid="18">
                                            <p:txEl>
                                              <p:pRg st="1" end="1"/>
                                            </p:txEl>
                                          </p:spTgt>
                                        </p:tgtEl>
                                      </p:cBhvr>
                                    </p:animEffect>
                                    <p:set>
                                      <p:cBhvr>
                                        <p:cTn id="131" dur="1" fill="hold">
                                          <p:stCondLst>
                                            <p:cond delay="349"/>
                                          </p:stCondLst>
                                        </p:cTn>
                                        <p:tgtEl>
                                          <p:spTgt spid="18">
                                            <p:txEl>
                                              <p:pRg st="1" end="1"/>
                                            </p:txEl>
                                          </p:spTgt>
                                        </p:tgtEl>
                                        <p:attrNameLst>
                                          <p:attrName>style.visibility</p:attrName>
                                        </p:attrNameLst>
                                      </p:cBhvr>
                                      <p:to>
                                        <p:strVal val="hidden"/>
                                      </p:to>
                                    </p:set>
                                  </p:childTnLst>
                                </p:cTn>
                              </p:par>
                              <p:par>
                                <p:cTn id="132" presetID="10" presetClass="exit" presetSubtype="0" grpId="0" fill="hold" nodeType="withEffect">
                                  <p:stCondLst>
                                    <p:cond delay="0"/>
                                  </p:stCondLst>
                                  <p:childTnLst>
                                    <p:animEffect transition="out" filter="fade">
                                      <p:cBhvr>
                                        <p:cTn id="133" dur="350"/>
                                        <p:tgtEl>
                                          <p:spTgt spid="18">
                                            <p:txEl>
                                              <p:pRg st="2" end="2"/>
                                            </p:txEl>
                                          </p:spTgt>
                                        </p:tgtEl>
                                      </p:cBhvr>
                                    </p:animEffect>
                                    <p:set>
                                      <p:cBhvr>
                                        <p:cTn id="134" dur="1" fill="hold">
                                          <p:stCondLst>
                                            <p:cond delay="349"/>
                                          </p:stCondLst>
                                        </p:cTn>
                                        <p:tgtEl>
                                          <p:spTgt spid="18">
                                            <p:txEl>
                                              <p:pRg st="2" end="2"/>
                                            </p:txEl>
                                          </p:spTgt>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350"/>
                                        <p:tgtEl>
                                          <p:spTgt spid="19"/>
                                        </p:tgtEl>
                                      </p:cBhvr>
                                    </p:animEffect>
                                    <p:set>
                                      <p:cBhvr>
                                        <p:cTn id="137" dur="1" fill="hold">
                                          <p:stCondLst>
                                            <p:cond delay="349"/>
                                          </p:stCondLst>
                                        </p:cTn>
                                        <p:tgtEl>
                                          <p:spTgt spid="19"/>
                                        </p:tgtEl>
                                        <p:attrNameLst>
                                          <p:attrName>style.visibility</p:attrName>
                                        </p:attrNameLst>
                                      </p:cBhvr>
                                      <p:to>
                                        <p:strVal val="hidden"/>
                                      </p:to>
                                    </p:set>
                                  </p:childTnLst>
                                </p:cTn>
                              </p:par>
                              <p:par>
                                <p:cTn id="138" presetID="10" presetClass="entr" presetSubtype="0" fill="hold" nodeType="withEffect">
                                  <p:stCondLst>
                                    <p:cond delay="450"/>
                                  </p:stCondLst>
                                  <p:childTnLst>
                                    <p:set>
                                      <p:cBhvr>
                                        <p:cTn id="139" dur="1" fill="hold">
                                          <p:stCondLst>
                                            <p:cond delay="0"/>
                                          </p:stCondLst>
                                        </p:cTn>
                                        <p:tgtEl>
                                          <p:spTgt spid="20"/>
                                        </p:tgtEl>
                                        <p:attrNameLst>
                                          <p:attrName>style.visibility</p:attrName>
                                        </p:attrNameLst>
                                      </p:cBhvr>
                                      <p:to>
                                        <p:strVal val="visible"/>
                                      </p:to>
                                    </p:set>
                                    <p:animEffect transition="in" filter="fade">
                                      <p:cBhvr>
                                        <p:cTn id="140" dur="450"/>
                                        <p:tgtEl>
                                          <p:spTgt spid="20"/>
                                        </p:tgtEl>
                                      </p:cBhvr>
                                    </p:animEffect>
                                  </p:childTnLst>
                                </p:cTn>
                              </p:par>
                              <p:par>
                                <p:cTn id="141" presetID="53" presetClass="entr" presetSubtype="16" fill="hold" nodeType="withEffect">
                                  <p:stCondLst>
                                    <p:cond delay="520"/>
                                  </p:stCondLst>
                                  <p:childTnLst>
                                    <p:set>
                                      <p:cBhvr>
                                        <p:cTn id="142" dur="1" fill="hold">
                                          <p:stCondLst>
                                            <p:cond delay="0"/>
                                          </p:stCondLst>
                                        </p:cTn>
                                        <p:tgtEl>
                                          <p:spTgt spid="21"/>
                                        </p:tgtEl>
                                        <p:attrNameLst>
                                          <p:attrName>style.visibility</p:attrName>
                                        </p:attrNameLst>
                                      </p:cBhvr>
                                      <p:to>
                                        <p:strVal val="visible"/>
                                      </p:to>
                                    </p:set>
                                    <p:anim calcmode="lin" valueType="num">
                                      <p:cBhvr>
                                        <p:cTn id="143" dur="600" fill="hold"/>
                                        <p:tgtEl>
                                          <p:spTgt spid="21"/>
                                        </p:tgtEl>
                                        <p:attrNameLst>
                                          <p:attrName>ppt_w</p:attrName>
                                        </p:attrNameLst>
                                      </p:cBhvr>
                                      <p:tavLst>
                                        <p:tav tm="0">
                                          <p:val>
                                            <p:fltVal val="0"/>
                                          </p:val>
                                        </p:tav>
                                        <p:tav tm="100000">
                                          <p:val>
                                            <p:strVal val="#ppt_w"/>
                                          </p:val>
                                        </p:tav>
                                      </p:tavLst>
                                    </p:anim>
                                    <p:anim calcmode="lin" valueType="num">
                                      <p:cBhvr>
                                        <p:cTn id="144" dur="600" fill="hold"/>
                                        <p:tgtEl>
                                          <p:spTgt spid="21"/>
                                        </p:tgtEl>
                                        <p:attrNameLst>
                                          <p:attrName>ppt_h</p:attrName>
                                        </p:attrNameLst>
                                      </p:cBhvr>
                                      <p:tavLst>
                                        <p:tav tm="0">
                                          <p:val>
                                            <p:fltVal val="0"/>
                                          </p:val>
                                        </p:tav>
                                        <p:tav tm="100000">
                                          <p:val>
                                            <p:strVal val="#ppt_h"/>
                                          </p:val>
                                        </p:tav>
                                      </p:tavLst>
                                    </p:anim>
                                    <p:animEffect transition="in" filter="fade">
                                      <p:cBhvr>
                                        <p:cTn id="145" dur="600"/>
                                        <p:tgtEl>
                                          <p:spTgt spid="21"/>
                                        </p:tgtEl>
                                      </p:cBhvr>
                                    </p:animEffect>
                                  </p:childTnLst>
                                </p:cTn>
                              </p:par>
                              <p:par>
                                <p:cTn id="146" presetID="53" presetClass="entr" presetSubtype="16" fill="hold" nodeType="withEffect">
                                  <p:stCondLst>
                                    <p:cond delay="590"/>
                                  </p:stCondLst>
                                  <p:childTnLst>
                                    <p:set>
                                      <p:cBhvr>
                                        <p:cTn id="147" dur="1" fill="hold">
                                          <p:stCondLst>
                                            <p:cond delay="0"/>
                                          </p:stCondLst>
                                        </p:cTn>
                                        <p:tgtEl>
                                          <p:spTgt spid="22"/>
                                        </p:tgtEl>
                                        <p:attrNameLst>
                                          <p:attrName>style.visibility</p:attrName>
                                        </p:attrNameLst>
                                      </p:cBhvr>
                                      <p:to>
                                        <p:strVal val="visible"/>
                                      </p:to>
                                    </p:set>
                                    <p:anim calcmode="lin" valueType="num">
                                      <p:cBhvr>
                                        <p:cTn id="148" dur="600" fill="hold"/>
                                        <p:tgtEl>
                                          <p:spTgt spid="22"/>
                                        </p:tgtEl>
                                        <p:attrNameLst>
                                          <p:attrName>ppt_w</p:attrName>
                                        </p:attrNameLst>
                                      </p:cBhvr>
                                      <p:tavLst>
                                        <p:tav tm="0">
                                          <p:val>
                                            <p:fltVal val="0"/>
                                          </p:val>
                                        </p:tav>
                                        <p:tav tm="100000">
                                          <p:val>
                                            <p:strVal val="#ppt_w"/>
                                          </p:val>
                                        </p:tav>
                                      </p:tavLst>
                                    </p:anim>
                                    <p:anim calcmode="lin" valueType="num">
                                      <p:cBhvr>
                                        <p:cTn id="149" dur="600" fill="hold"/>
                                        <p:tgtEl>
                                          <p:spTgt spid="22"/>
                                        </p:tgtEl>
                                        <p:attrNameLst>
                                          <p:attrName>ppt_h</p:attrName>
                                        </p:attrNameLst>
                                      </p:cBhvr>
                                      <p:tavLst>
                                        <p:tav tm="0">
                                          <p:val>
                                            <p:fltVal val="0"/>
                                          </p:val>
                                        </p:tav>
                                        <p:tav tm="100000">
                                          <p:val>
                                            <p:strVal val="#ppt_h"/>
                                          </p:val>
                                        </p:tav>
                                      </p:tavLst>
                                    </p:anim>
                                    <p:animEffect transition="in" filter="fade">
                                      <p:cBhvr>
                                        <p:cTn id="150" dur="600"/>
                                        <p:tgtEl>
                                          <p:spTgt spid="22"/>
                                        </p:tgtEl>
                                      </p:cBhvr>
                                    </p:animEffect>
                                  </p:childTnLst>
                                </p:cTn>
                              </p:par>
                              <p:par>
                                <p:cTn id="151" presetID="22" presetClass="entr" presetSubtype="8" fill="hold" nodeType="withEffect">
                                  <p:stCondLst>
                                    <p:cond delay="660"/>
                                  </p:stCondLst>
                                  <p:childTnLst>
                                    <p:set>
                                      <p:cBhvr>
                                        <p:cTn id="152" dur="1" fill="hold">
                                          <p:stCondLst>
                                            <p:cond delay="0"/>
                                          </p:stCondLst>
                                        </p:cTn>
                                        <p:tgtEl>
                                          <p:spTgt spid="23"/>
                                        </p:tgtEl>
                                        <p:attrNameLst>
                                          <p:attrName>style.visibility</p:attrName>
                                        </p:attrNameLst>
                                      </p:cBhvr>
                                      <p:to>
                                        <p:strVal val="visible"/>
                                      </p:to>
                                    </p:set>
                                    <p:animEffect transition="in" filter="wipe(left)">
                                      <p:cBhvr>
                                        <p:cTn id="153" dur="500"/>
                                        <p:tgtEl>
                                          <p:spTgt spid="23"/>
                                        </p:tgtEl>
                                      </p:cBhvr>
                                    </p:animEffect>
                                  </p:childTnLst>
                                </p:cTn>
                              </p:par>
                              <p:par>
                                <p:cTn id="154" presetID="10" presetClass="entr" presetSubtype="0" grpId="0" fill="hold" nodeType="withEffect">
                                  <p:stCondLst>
                                    <p:cond delay="730"/>
                                  </p:stCondLst>
                                  <p:childTnLst>
                                    <p:set>
                                      <p:cBhvr>
                                        <p:cTn id="155" dur="1" fill="hold">
                                          <p:stCondLst>
                                            <p:cond delay="0"/>
                                          </p:stCondLst>
                                        </p:cTn>
                                        <p:tgtEl>
                                          <p:spTgt spid="24">
                                            <p:txEl>
                                              <p:pRg st="0" end="0"/>
                                            </p:txEl>
                                          </p:spTgt>
                                        </p:tgtEl>
                                        <p:attrNameLst>
                                          <p:attrName>style.visibility</p:attrName>
                                        </p:attrNameLst>
                                      </p:cBhvr>
                                      <p:to>
                                        <p:strVal val="visible"/>
                                      </p:to>
                                    </p:set>
                                    <p:animEffect transition="in" filter="fade">
                                      <p:cBhvr>
                                        <p:cTn id="156" dur="450"/>
                                        <p:tgtEl>
                                          <p:spTgt spid="24">
                                            <p:txEl>
                                              <p:pRg st="0" end="0"/>
                                            </p:txEl>
                                          </p:spTgt>
                                        </p:tgtEl>
                                      </p:cBhvr>
                                    </p:animEffect>
                                  </p:childTnLst>
                                </p:cTn>
                              </p:par>
                              <p:par>
                                <p:cTn id="157" presetID="10" presetClass="entr" presetSubtype="0" grpId="0" fill="hold" nodeType="withEffect">
                                  <p:stCondLst>
                                    <p:cond delay="1110"/>
                                  </p:stCondLst>
                                  <p:childTnLst>
                                    <p:set>
                                      <p:cBhvr>
                                        <p:cTn id="158" dur="1" fill="hold">
                                          <p:stCondLst>
                                            <p:cond delay="0"/>
                                          </p:stCondLst>
                                        </p:cTn>
                                        <p:tgtEl>
                                          <p:spTgt spid="24">
                                            <p:txEl>
                                              <p:pRg st="1" end="1"/>
                                            </p:txEl>
                                          </p:spTgt>
                                        </p:tgtEl>
                                        <p:attrNameLst>
                                          <p:attrName>style.visibility</p:attrName>
                                        </p:attrNameLst>
                                      </p:cBhvr>
                                      <p:to>
                                        <p:strVal val="visible"/>
                                      </p:to>
                                    </p:set>
                                    <p:animEffect transition="in" filter="fade">
                                      <p:cBhvr>
                                        <p:cTn id="159" dur="450"/>
                                        <p:tgtEl>
                                          <p:spTgt spid="24">
                                            <p:txEl>
                                              <p:pRg st="1" end="1"/>
                                            </p:txEl>
                                          </p:spTgt>
                                        </p:tgtEl>
                                      </p:cBhvr>
                                    </p:animEffect>
                                  </p:childTnLst>
                                </p:cTn>
                              </p:par>
                              <p:par>
                                <p:cTn id="160" presetID="10" presetClass="entr" presetSubtype="0" grpId="0" fill="hold" nodeType="withEffect">
                                  <p:stCondLst>
                                    <p:cond delay="1490"/>
                                  </p:stCondLst>
                                  <p:childTnLst>
                                    <p:set>
                                      <p:cBhvr>
                                        <p:cTn id="161" dur="1" fill="hold">
                                          <p:stCondLst>
                                            <p:cond delay="0"/>
                                          </p:stCondLst>
                                        </p:cTn>
                                        <p:tgtEl>
                                          <p:spTgt spid="24">
                                            <p:txEl>
                                              <p:pRg st="2" end="2"/>
                                            </p:txEl>
                                          </p:spTgt>
                                        </p:tgtEl>
                                        <p:attrNameLst>
                                          <p:attrName>style.visibility</p:attrName>
                                        </p:attrNameLst>
                                      </p:cBhvr>
                                      <p:to>
                                        <p:strVal val="visible"/>
                                      </p:to>
                                    </p:set>
                                    <p:animEffect transition="in" filter="fade">
                                      <p:cBhvr>
                                        <p:cTn id="162" dur="450"/>
                                        <p:tgtEl>
                                          <p:spTgt spid="24">
                                            <p:txEl>
                                              <p:pRg st="2" end="2"/>
                                            </p:txEl>
                                          </p:spTgt>
                                        </p:tgtEl>
                                      </p:cBhvr>
                                    </p:animEffect>
                                  </p:childTnLst>
                                </p:cTn>
                              </p:par>
                              <p:par>
                                <p:cTn id="163" presetID="10" presetClass="entr" presetSubtype="0" fill="hold" nodeType="withEffect">
                                  <p:stCondLst>
                                    <p:cond delay="580"/>
                                  </p:stCondLst>
                                  <p:childTnLst>
                                    <p:set>
                                      <p:cBhvr>
                                        <p:cTn id="164" dur="1" fill="hold">
                                          <p:stCondLst>
                                            <p:cond delay="0"/>
                                          </p:stCondLst>
                                        </p:cTn>
                                        <p:tgtEl>
                                          <p:spTgt spid="25"/>
                                        </p:tgtEl>
                                        <p:attrNameLst>
                                          <p:attrName>style.visibility</p:attrName>
                                        </p:attrNameLst>
                                      </p:cBhvr>
                                      <p:to>
                                        <p:strVal val="visible"/>
                                      </p:to>
                                    </p:set>
                                    <p:animEffect transition="in" filter="fade">
                                      <p:cBhvr>
                                        <p:cTn id="165"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4" grpId="0" build="p"/>
      <p:bldP spid="18" grpId="0" build="p"/>
      <p:bldP spid="2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Del flujo completo del sistema a la operación de campo</a:t>
            </a:r>
            <a:endParaRPr lang="en-US" sz="2200" dirty="0"/>
          </a:p>
        </p:txBody>
      </p:sp>
      <p:sp>
        <p:nvSpPr>
          <p:cNvPr id="3" name="Obj [o77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Del impacto al perfil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(z): el flujo completo del sistema</a:t>
            </a:r>
            <a:endParaRPr lang="en-US" sz="1400" dirty="0"/>
          </a:p>
        </p:txBody>
      </p:sp>
      <p:pic>
        <p:nvPicPr>
          <p:cNvPr id="4" name="Obj [o780]" descr="Flujo: fuente, suelo estratificado, nodos esclavos, captura local, ESP32 maestro, navegador de campo, servidor FastAPI, control de calidad y MASW, perfil Vs de z">    </p:cNvPr>
          <p:cNvPicPr>
            <a:picLocks noChangeAspect="1"/>
          </p:cNvPicPr>
          <p:nvPr/>
        </p:nvPicPr>
        <p:blipFill>
          <a:blip r:embed="rId1"/>
          <a:stretch>
            <a:fillRect/>
          </a:stretch>
        </p:blipFill>
        <p:spPr>
          <a:xfrm>
            <a:off x="966136" y="1521393"/>
            <a:ext cx="7211728" cy="1453132"/>
          </a:xfrm>
          <a:prstGeom prst="rect">
            <a:avLst/>
          </a:prstGeom>
        </p:spPr>
      </p:pic>
      <p:sp>
        <p:nvSpPr>
          <p:cNvPr id="5" name="Obj [o781]"/>
          <p:cNvSpPr/>
          <p:nvPr/>
        </p:nvSpPr>
        <p:spPr>
          <a:xfrm>
            <a:off x="966136" y="3123999"/>
            <a:ext cx="2283714" cy="320521"/>
          </a:xfrm>
          <a:prstGeom prst="rect">
            <a:avLst/>
          </a:prstGeom>
          <a:solidFill>
            <a:srgbClr val="1F4E79"/>
          </a:solidFill>
          <a:ln w="6350">
            <a:solidFill>
              <a:srgbClr val="1F4E79"/>
            </a:solidFill>
            <a:prstDash val="solid"/>
          </a:ln>
        </p:spPr>
      </p:sp>
      <p:sp>
        <p:nvSpPr>
          <p:cNvPr id="6" name="Obj [o782]"/>
          <p:cNvSpPr txBox="1"/>
          <p:nvPr/>
        </p:nvSpPr>
        <p:spPr>
          <a:xfrm>
            <a:off x="1006201"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En el campo</a:t>
            </a:r>
            <a:endParaRPr lang="en-US" sz="1260" dirty="0"/>
          </a:p>
        </p:txBody>
      </p:sp>
      <p:sp>
        <p:nvSpPr>
          <p:cNvPr id="7" name="Obj [o783]"/>
          <p:cNvSpPr/>
          <p:nvPr/>
        </p:nvSpPr>
        <p:spPr>
          <a:xfrm>
            <a:off x="966136" y="3444521"/>
            <a:ext cx="2283714" cy="961564"/>
          </a:xfrm>
          <a:prstGeom prst="rect">
            <a:avLst/>
          </a:prstGeom>
          <a:solidFill>
            <a:srgbClr val="FFFFFF"/>
          </a:solidFill>
          <a:ln w="16694">
            <a:solidFill>
              <a:srgbClr val="1F4E79"/>
            </a:solidFill>
            <a:prstDash val="solid"/>
          </a:ln>
        </p:spPr>
      </p:sp>
      <p:sp>
        <p:nvSpPr>
          <p:cNvPr id="8" name="Obj [o784]"/>
          <p:cNvSpPr txBox="1"/>
          <p:nvPr/>
        </p:nvSpPr>
        <p:spPr>
          <a:xfrm>
            <a:off x="1062292"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Impacto, ondas Rayleigh, nodos con SM-24, AFE y ADC; captura y registro local</a:t>
            </a:r>
            <a:endParaRPr lang="en-US" sz="1170" dirty="0"/>
          </a:p>
        </p:txBody>
      </p:sp>
      <p:sp>
        <p:nvSpPr>
          <p:cNvPr id="9" name="Obj [o785]"/>
          <p:cNvSpPr/>
          <p:nvPr/>
        </p:nvSpPr>
        <p:spPr>
          <a:xfrm>
            <a:off x="3430143" y="3123999"/>
            <a:ext cx="2283714" cy="320521"/>
          </a:xfrm>
          <a:prstGeom prst="rect">
            <a:avLst/>
          </a:prstGeom>
          <a:solidFill>
            <a:srgbClr val="2E75B6"/>
          </a:solidFill>
          <a:ln w="6350">
            <a:solidFill>
              <a:srgbClr val="2E75B6"/>
            </a:solidFill>
            <a:prstDash val="solid"/>
          </a:ln>
        </p:spPr>
      </p:sp>
      <p:sp>
        <p:nvSpPr>
          <p:cNvPr id="10" name="Obj [o786]"/>
          <p:cNvSpPr txBox="1"/>
          <p:nvPr/>
        </p:nvSpPr>
        <p:spPr>
          <a:xfrm>
            <a:off x="3470208"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En el camino</a:t>
            </a:r>
            <a:endParaRPr lang="en-US" sz="1260" dirty="0"/>
          </a:p>
        </p:txBody>
      </p:sp>
      <p:sp>
        <p:nvSpPr>
          <p:cNvPr id="11" name="Obj [o787]"/>
          <p:cNvSpPr/>
          <p:nvPr/>
        </p:nvSpPr>
        <p:spPr>
          <a:xfrm>
            <a:off x="3430143" y="3444521"/>
            <a:ext cx="2283714" cy="961564"/>
          </a:xfrm>
          <a:prstGeom prst="rect">
            <a:avLst/>
          </a:prstGeom>
          <a:solidFill>
            <a:srgbClr val="FFFFFF"/>
          </a:solidFill>
          <a:ln w="16694">
            <a:solidFill>
              <a:srgbClr val="2E75B6"/>
            </a:solidFill>
            <a:prstDash val="solid"/>
          </a:ln>
        </p:spPr>
      </p:sp>
      <p:sp>
        <p:nvSpPr>
          <p:cNvPr id="12" name="Obj [o788]"/>
          <p:cNvSpPr txBox="1"/>
          <p:nvPr/>
        </p:nvSpPr>
        <p:spPr>
          <a:xfrm>
            <a:off x="3526299"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El maestro reensambla las trazas; el navegador arma un ZIP y lo envía por Tailscale</a:t>
            </a:r>
            <a:endParaRPr lang="en-US" sz="1170" dirty="0"/>
          </a:p>
        </p:txBody>
      </p:sp>
      <p:sp>
        <p:nvSpPr>
          <p:cNvPr id="13" name="Obj [o789]"/>
          <p:cNvSpPr/>
          <p:nvPr/>
        </p:nvSpPr>
        <p:spPr>
          <a:xfrm>
            <a:off x="5894150" y="3123999"/>
            <a:ext cx="2283714" cy="320521"/>
          </a:xfrm>
          <a:prstGeom prst="rect">
            <a:avLst/>
          </a:prstGeom>
          <a:solidFill>
            <a:srgbClr val="C55A11"/>
          </a:solidFill>
          <a:ln w="6350">
            <a:solidFill>
              <a:srgbClr val="C55A11"/>
            </a:solidFill>
            <a:prstDash val="solid"/>
          </a:ln>
        </p:spPr>
      </p:sp>
      <p:sp>
        <p:nvSpPr>
          <p:cNvPr id="14" name="Obj [o790]"/>
          <p:cNvSpPr txBox="1"/>
          <p:nvPr/>
        </p:nvSpPr>
        <p:spPr>
          <a:xfrm>
            <a:off x="5934215"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Análisis (en parte pendiente)</a:t>
            </a:r>
            <a:endParaRPr lang="en-US" sz="1260" dirty="0"/>
          </a:p>
        </p:txBody>
      </p:sp>
      <p:sp>
        <p:nvSpPr>
          <p:cNvPr id="15" name="Obj [o791]"/>
          <p:cNvSpPr/>
          <p:nvPr/>
        </p:nvSpPr>
        <p:spPr>
          <a:xfrm>
            <a:off x="5894150" y="3444521"/>
            <a:ext cx="2283714" cy="961564"/>
          </a:xfrm>
          <a:prstGeom prst="rect">
            <a:avLst/>
          </a:prstGeom>
          <a:solidFill>
            <a:srgbClr val="FFFFFF"/>
          </a:solidFill>
          <a:ln w="16694">
            <a:solidFill>
              <a:srgbClr val="C55A11"/>
            </a:solidFill>
            <a:prstDash val="solid"/>
          </a:ln>
        </p:spPr>
      </p:sp>
      <p:sp>
        <p:nvSpPr>
          <p:cNvPr id="16" name="Obj [o792]"/>
          <p:cNvSpPr txBox="1"/>
          <p:nvPr/>
        </p:nvSpPr>
        <p:spPr>
          <a:xfrm>
            <a:off x="5990307"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Servidor, alineación, apilado y dispersión están diseñados; picking e inversión son trabajo futuro</a:t>
            </a:r>
            <a:endParaRPr lang="en-US" sz="1170" dirty="0"/>
          </a:p>
        </p:txBody>
      </p:sp>
      <p:sp>
        <p:nvSpPr>
          <p:cNvPr id="17" name="Obj [o79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 resumen firmado, sec. 4.9 y 6.</a:t>
            </a:r>
            <a:endParaRPr lang="en-US" sz="800" dirty="0"/>
          </a:p>
        </p:txBody>
      </p:sp>
      <p:sp>
        <p:nvSpPr>
          <p:cNvPr id="18" name="Obj [o79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interfaz web del maestro configura, revisa y decide cada captura</a:t>
            </a:r>
            <a:endParaRPr lang="en-US" sz="1400" dirty="0"/>
          </a:p>
        </p:txBody>
      </p:sp>
      <p:pic>
        <p:nvPicPr>
          <p:cNvPr id="19" name="Obj [o795]" descr="Interfaz web Gephone Scope: configuración de captura, gráficas de las señales del HAMMER y del geófono, y botones para guardar o subir al servidor">    </p:cNvPr>
          <p:cNvPicPr>
            <a:picLocks noChangeAspect="1"/>
          </p:cNvPicPr>
          <p:nvPr/>
        </p:nvPicPr>
        <p:blipFill>
          <a:blip r:embed="rId2"/>
          <a:stretch>
            <a:fillRect/>
          </a:stretch>
        </p:blipFill>
        <p:spPr>
          <a:xfrm>
            <a:off x="365760" y="1557362"/>
            <a:ext cx="4181889" cy="2353759"/>
          </a:xfrm>
          <a:prstGeom prst="rect">
            <a:avLst/>
          </a:prstGeom>
        </p:spPr>
      </p:pic>
      <p:sp>
        <p:nvSpPr>
          <p:cNvPr id="20" name="Obj [o796]"/>
          <p:cNvSpPr txBox="1"/>
          <p:nvPr/>
        </p:nvSpPr>
        <p:spPr>
          <a:xfrm>
            <a:off x="4737735" y="1557362"/>
            <a:ext cx="2585168" cy="2281030"/>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Se configuran ganancia, rango del ADC, duración y ruta de señal</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Se preparan los nodos, se inicia la captura y se ven las señales del HAMMER y del geófono</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Cada captura se conserva, se descarta o se envía</a:t>
            </a:r>
            <a:endParaRPr lang="en-US" sz="1208" dirty="0"/>
          </a:p>
        </p:txBody>
      </p:sp>
      <p:sp>
        <p:nvSpPr>
          <p:cNvPr id="21" name="Obj [o797]"/>
          <p:cNvSpPr/>
          <p:nvPr/>
        </p:nvSpPr>
        <p:spPr>
          <a:xfrm>
            <a:off x="441794" y="3914427"/>
            <a:ext cx="6843091" cy="342155"/>
          </a:xfrm>
          <a:prstGeom prst="rect">
            <a:avLst/>
          </a:prstGeom>
          <a:solidFill>
            <a:srgbClr val="EAF1F8"/>
          </a:solidFill>
          <a:ln w="6350">
            <a:solidFill>
              <a:srgbClr val="EAF1F8"/>
            </a:solidFill>
            <a:prstDash val="solid"/>
          </a:ln>
        </p:spPr>
      </p:sp>
      <p:sp>
        <p:nvSpPr>
          <p:cNvPr id="22" name="Obj [o798]"/>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Se detecta mal acople, impactos múltiples o ruido antes de mover el receptor.</a:t>
            </a:r>
            <a:endParaRPr lang="en-US" sz="1208" dirty="0"/>
          </a:p>
        </p:txBody>
      </p:sp>
      <p:sp>
        <p:nvSpPr>
          <p:cNvPr id="23" name="Obj [o79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fig. 15.</a:t>
            </a:r>
            <a:endParaRPr lang="en-US" sz="800" dirty="0"/>
          </a:p>
        </p:txBody>
      </p:sp>
      <p:sp>
        <p:nvSpPr>
          <p:cNvPr id="24" name="Obj [o80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sesión de campo: del navegador al servidor, con el maestro en el medio</a:t>
            </a:r>
            <a:endParaRPr lang="en-US" sz="1400" dirty="0"/>
          </a:p>
        </p:txBody>
      </p:sp>
      <p:pic>
        <p:nvPicPr>
          <p:cNvPr id="25" name="Obj [o801]" descr="Diagrama de carriles: usuario o navegador, ESP32 maestro, nodos esclavos y servidor de análisis, desde iniciar el punto de acceso hasta publicar la captura como raw aceptado">    </p:cNvPr>
          <p:cNvPicPr>
            <a:picLocks noChangeAspect="1"/>
          </p:cNvPicPr>
          <p:nvPr/>
        </p:nvPicPr>
        <p:blipFill>
          <a:blip r:embed="rId3"/>
          <a:stretch>
            <a:fillRect/>
          </a:stretch>
        </p:blipFill>
        <p:spPr>
          <a:xfrm>
            <a:off x="365760" y="1519345"/>
            <a:ext cx="4608535" cy="2775254"/>
          </a:xfrm>
          <a:prstGeom prst="rect">
            <a:avLst/>
          </a:prstGeom>
        </p:spPr>
      </p:pic>
      <p:sp>
        <p:nvSpPr>
          <p:cNvPr id="26" name="Obj [o802]"/>
          <p:cNvSpPr txBox="1"/>
          <p:nvPr/>
        </p:nvSpPr>
        <p:spPr>
          <a:xfrm>
            <a:off x="5117907" y="1557362"/>
            <a:ext cx="2204996" cy="2585168"/>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El maestro crea su propio punto de acceso: no hace falta infraestructura</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Calibración y captura se coordinan por ESP-NOW</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Se revisa, se decide y recién entonces se envía por la red del cliente y Tailscale</a:t>
            </a:r>
            <a:endParaRPr lang="en-US" sz="1122" dirty="0"/>
          </a:p>
        </p:txBody>
      </p:sp>
      <p:sp>
        <p:nvSpPr>
          <p:cNvPr id="27" name="Obj [o80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fig. 14; diagrama propio (drawio, p. 2).</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22" presetClass="entr" presetSubtype="8"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10" presetClass="entr" presetSubtype="0" fill="hold" nodeType="withEffect">
                                  <p:stCondLst>
                                    <p:cond delay="5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par>
                                <p:cTn id="22" presetID="22" presetClass="entr" presetSubtype="8" fill="hold" nodeType="withEffect">
                                  <p:stCondLst>
                                    <p:cond delay="62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10" presetClass="entr" presetSubtype="0" fill="hold" nodeType="withEffect">
                                  <p:stCondLst>
                                    <p:cond delay="69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22" presetClass="entr" presetSubtype="8" fill="hold" nodeType="withEffect">
                                  <p:stCondLst>
                                    <p:cond delay="76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10" presetClass="entr" presetSubtype="0" fill="hold" nodeType="withEffect">
                                  <p:stCondLst>
                                    <p:cond delay="83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22" presetClass="entr" presetSubtype="8" fill="hold" nodeType="withEffect">
                                  <p:stCondLst>
                                    <p:cond delay="90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par>
                                <p:cTn id="37" presetID="10" presetClass="entr" presetSubtype="0" fill="hold" nodeType="withEffect">
                                  <p:stCondLst>
                                    <p:cond delay="97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par>
                                <p:cTn id="40" presetID="22" presetClass="entr" presetSubtype="8" fill="hold" nodeType="withEffect">
                                  <p:stCondLst>
                                    <p:cond delay="104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par>
                                <p:cTn id="43" presetID="10" presetClass="entr" presetSubtype="0" fill="hold" nodeType="withEffect">
                                  <p:stCondLst>
                                    <p:cond delay="111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50"/>
                                        <p:tgtEl>
                                          <p:spTgt spid="15"/>
                                        </p:tgtEl>
                                      </p:cBhvr>
                                    </p:animEffect>
                                  </p:childTnLst>
                                </p:cTn>
                              </p:par>
                              <p:par>
                                <p:cTn id="46" presetID="22" presetClass="entr" presetSubtype="8" fill="hold" nodeType="withEffect">
                                  <p:stCondLst>
                                    <p:cond delay="118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par>
                                <p:cTn id="49" presetID="10" presetClass="entr" presetSubtype="0" fill="hold" nodeType="withEffect">
                                  <p:stCondLst>
                                    <p:cond delay="4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5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0"/>
                                  </p:stCondLst>
                                  <p:childTnLst>
                                    <p:animEffect transition="out" filter="fade">
                                      <p:cBhvr>
                                        <p:cTn id="55" dur="350"/>
                                        <p:tgtEl>
                                          <p:spTgt spid="3"/>
                                        </p:tgtEl>
                                      </p:cBhvr>
                                    </p:animEffect>
                                    <p:set>
                                      <p:cBhvr>
                                        <p:cTn id="56" dur="1" fill="hold">
                                          <p:stCondLst>
                                            <p:cond delay="349"/>
                                          </p:stCondLst>
                                        </p:cTn>
                                        <p:tgtEl>
                                          <p:spTgt spid="3"/>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350"/>
                                        <p:tgtEl>
                                          <p:spTgt spid="5"/>
                                        </p:tgtEl>
                                      </p:cBhvr>
                                    </p:animEffect>
                                    <p:set>
                                      <p:cBhvr>
                                        <p:cTn id="59" dur="1" fill="hold">
                                          <p:stCondLst>
                                            <p:cond delay="349"/>
                                          </p:stCondLst>
                                        </p:cTn>
                                        <p:tgtEl>
                                          <p:spTgt spid="5"/>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350"/>
                                        <p:tgtEl>
                                          <p:spTgt spid="6"/>
                                        </p:tgtEl>
                                      </p:cBhvr>
                                    </p:animEffect>
                                    <p:set>
                                      <p:cBhvr>
                                        <p:cTn id="62" dur="1" fill="hold">
                                          <p:stCondLst>
                                            <p:cond delay="349"/>
                                          </p:stCondLst>
                                        </p:cTn>
                                        <p:tgtEl>
                                          <p:spTgt spid="6"/>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350"/>
                                        <p:tgtEl>
                                          <p:spTgt spid="7"/>
                                        </p:tgtEl>
                                      </p:cBhvr>
                                    </p:animEffect>
                                    <p:set>
                                      <p:cBhvr>
                                        <p:cTn id="65" dur="1" fill="hold">
                                          <p:stCondLst>
                                            <p:cond delay="349"/>
                                          </p:stCondLst>
                                        </p:cTn>
                                        <p:tgtEl>
                                          <p:spTgt spid="7"/>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350"/>
                                        <p:tgtEl>
                                          <p:spTgt spid="8"/>
                                        </p:tgtEl>
                                      </p:cBhvr>
                                    </p:animEffect>
                                    <p:set>
                                      <p:cBhvr>
                                        <p:cTn id="68" dur="1" fill="hold">
                                          <p:stCondLst>
                                            <p:cond delay="349"/>
                                          </p:stCondLst>
                                        </p:cTn>
                                        <p:tgtEl>
                                          <p:spTgt spid="8"/>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350"/>
                                        <p:tgtEl>
                                          <p:spTgt spid="9"/>
                                        </p:tgtEl>
                                      </p:cBhvr>
                                    </p:animEffect>
                                    <p:set>
                                      <p:cBhvr>
                                        <p:cTn id="71" dur="1" fill="hold">
                                          <p:stCondLst>
                                            <p:cond delay="349"/>
                                          </p:stCondLst>
                                        </p:cTn>
                                        <p:tgtEl>
                                          <p:spTgt spid="9"/>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350"/>
                                        <p:tgtEl>
                                          <p:spTgt spid="10"/>
                                        </p:tgtEl>
                                      </p:cBhvr>
                                    </p:animEffect>
                                    <p:set>
                                      <p:cBhvr>
                                        <p:cTn id="74" dur="1" fill="hold">
                                          <p:stCondLst>
                                            <p:cond delay="349"/>
                                          </p:stCondLst>
                                        </p:cTn>
                                        <p:tgtEl>
                                          <p:spTgt spid="10"/>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350"/>
                                        <p:tgtEl>
                                          <p:spTgt spid="11"/>
                                        </p:tgtEl>
                                      </p:cBhvr>
                                    </p:animEffect>
                                    <p:set>
                                      <p:cBhvr>
                                        <p:cTn id="77" dur="1" fill="hold">
                                          <p:stCondLst>
                                            <p:cond delay="349"/>
                                          </p:stCondLst>
                                        </p:cTn>
                                        <p:tgtEl>
                                          <p:spTgt spid="11"/>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350"/>
                                        <p:tgtEl>
                                          <p:spTgt spid="12"/>
                                        </p:tgtEl>
                                      </p:cBhvr>
                                    </p:animEffect>
                                    <p:set>
                                      <p:cBhvr>
                                        <p:cTn id="80" dur="1" fill="hold">
                                          <p:stCondLst>
                                            <p:cond delay="349"/>
                                          </p:stCondLst>
                                        </p:cTn>
                                        <p:tgtEl>
                                          <p:spTgt spid="12"/>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350"/>
                                        <p:tgtEl>
                                          <p:spTgt spid="13"/>
                                        </p:tgtEl>
                                      </p:cBhvr>
                                    </p:animEffect>
                                    <p:set>
                                      <p:cBhvr>
                                        <p:cTn id="83" dur="1" fill="hold">
                                          <p:stCondLst>
                                            <p:cond delay="349"/>
                                          </p:stCondLst>
                                        </p:cTn>
                                        <p:tgtEl>
                                          <p:spTgt spid="13"/>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350"/>
                                        <p:tgtEl>
                                          <p:spTgt spid="14"/>
                                        </p:tgtEl>
                                      </p:cBhvr>
                                    </p:animEffect>
                                    <p:set>
                                      <p:cBhvr>
                                        <p:cTn id="86" dur="1" fill="hold">
                                          <p:stCondLst>
                                            <p:cond delay="349"/>
                                          </p:stCondLst>
                                        </p:cTn>
                                        <p:tgtEl>
                                          <p:spTgt spid="14"/>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350"/>
                                        <p:tgtEl>
                                          <p:spTgt spid="15"/>
                                        </p:tgtEl>
                                      </p:cBhvr>
                                    </p:animEffect>
                                    <p:set>
                                      <p:cBhvr>
                                        <p:cTn id="89" dur="1" fill="hold">
                                          <p:stCondLst>
                                            <p:cond delay="349"/>
                                          </p:stCondLst>
                                        </p:cTn>
                                        <p:tgtEl>
                                          <p:spTgt spid="15"/>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350"/>
                                        <p:tgtEl>
                                          <p:spTgt spid="16"/>
                                        </p:tgtEl>
                                      </p:cBhvr>
                                    </p:animEffect>
                                    <p:set>
                                      <p:cBhvr>
                                        <p:cTn id="92" dur="1" fill="hold">
                                          <p:stCondLst>
                                            <p:cond delay="349"/>
                                          </p:stCondLst>
                                        </p:cTn>
                                        <p:tgtEl>
                                          <p:spTgt spid="16"/>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350"/>
                                        <p:tgtEl>
                                          <p:spTgt spid="17"/>
                                        </p:tgtEl>
                                      </p:cBhvr>
                                    </p:animEffect>
                                    <p:set>
                                      <p:cBhvr>
                                        <p:cTn id="95" dur="1" fill="hold">
                                          <p:stCondLst>
                                            <p:cond delay="349"/>
                                          </p:stCondLst>
                                        </p:cTn>
                                        <p:tgtEl>
                                          <p:spTgt spid="17"/>
                                        </p:tgtEl>
                                        <p:attrNameLst>
                                          <p:attrName>style.visibility</p:attrName>
                                        </p:attrNameLst>
                                      </p:cBhvr>
                                      <p:to>
                                        <p:strVal val="hidden"/>
                                      </p:to>
                                    </p:set>
                                  </p:childTnLst>
                                </p:cTn>
                              </p:par>
                              <p:par>
                                <p:cTn id="96" presetID="0" presetClass="path" presetSubtype="0" accel="50000" decel="50000" fill="hold" nodeType="withEffect">
                                  <p:stCondLst>
                                    <p:cond delay="0"/>
                                  </p:stCondLst>
                                  <p:childTnLst>
                                    <p:animMotion origin="layout" path="M 0 0 L 0.39250 -0.06905 E" pathEditMode="relative" rAng="0" ptsTypes="AA">
                                      <p:cBhvr>
                                        <p:cTn id="97" dur="750" fill="hold"/>
                                        <p:tgtEl>
                                          <p:spTgt spid="4"/>
                                        </p:tgtEl>
                                        <p:attrNameLst>
                                          <p:attrName>ppt_x</p:attrName>
                                          <p:attrName>ppt_y</p:attrName>
                                        </p:attrNameLst>
                                      </p:cBhvr>
                                      <p:rCtr x="19625" y="-3452"/>
                                    </p:animMotion>
                                  </p:childTnLst>
                                </p:cTn>
                              </p:par>
                              <p:par>
                                <p:cTn id="98" presetID="6" presetClass="emph" presetSubtype="0" accel="50000" decel="50000" fill="hold" nodeType="withEffect">
                                  <p:stCondLst>
                                    <p:cond delay="0"/>
                                  </p:stCondLst>
                                  <p:childTnLst>
                                    <p:animScale>
                                      <p:cBhvr>
                                        <p:cTn id="99" dur="750" fill="hold"/>
                                        <p:tgtEl>
                                          <p:spTgt spid="4"/>
                                        </p:tgtEl>
                                      </p:cBhvr>
                                      <p:by x="17117" y="17117"/>
                                    </p:animScale>
                                  </p:childTnLst>
                                </p:cTn>
                              </p:par>
                              <p:par>
                                <p:cTn id="100" presetID="10" presetClass="entr" presetSubtype="0" fill="hold" nodeType="withEffect">
                                  <p:stCondLst>
                                    <p:cond delay="450"/>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450"/>
                                        <p:tgtEl>
                                          <p:spTgt spid="18"/>
                                        </p:tgtEl>
                                      </p:cBhvr>
                                    </p:animEffect>
                                  </p:childTnLst>
                                </p:cTn>
                              </p:par>
                              <p:par>
                                <p:cTn id="103" presetID="53" presetClass="entr" presetSubtype="16" fill="hold" nodeType="withEffect">
                                  <p:stCondLst>
                                    <p:cond delay="520"/>
                                  </p:stCondLst>
                                  <p:childTnLst>
                                    <p:set>
                                      <p:cBhvr>
                                        <p:cTn id="104" dur="1" fill="hold">
                                          <p:stCondLst>
                                            <p:cond delay="0"/>
                                          </p:stCondLst>
                                        </p:cTn>
                                        <p:tgtEl>
                                          <p:spTgt spid="19"/>
                                        </p:tgtEl>
                                        <p:attrNameLst>
                                          <p:attrName>style.visibility</p:attrName>
                                        </p:attrNameLst>
                                      </p:cBhvr>
                                      <p:to>
                                        <p:strVal val="visible"/>
                                      </p:to>
                                    </p:set>
                                    <p:anim calcmode="lin" valueType="num">
                                      <p:cBhvr>
                                        <p:cTn id="105" dur="600" fill="hold"/>
                                        <p:tgtEl>
                                          <p:spTgt spid="19"/>
                                        </p:tgtEl>
                                        <p:attrNameLst>
                                          <p:attrName>ppt_w</p:attrName>
                                        </p:attrNameLst>
                                      </p:cBhvr>
                                      <p:tavLst>
                                        <p:tav tm="0">
                                          <p:val>
                                            <p:fltVal val="0"/>
                                          </p:val>
                                        </p:tav>
                                        <p:tav tm="100000">
                                          <p:val>
                                            <p:strVal val="#ppt_w"/>
                                          </p:val>
                                        </p:tav>
                                      </p:tavLst>
                                    </p:anim>
                                    <p:anim calcmode="lin" valueType="num">
                                      <p:cBhvr>
                                        <p:cTn id="106" dur="600" fill="hold"/>
                                        <p:tgtEl>
                                          <p:spTgt spid="19"/>
                                        </p:tgtEl>
                                        <p:attrNameLst>
                                          <p:attrName>ppt_h</p:attrName>
                                        </p:attrNameLst>
                                      </p:cBhvr>
                                      <p:tavLst>
                                        <p:tav tm="0">
                                          <p:val>
                                            <p:fltVal val="0"/>
                                          </p:val>
                                        </p:tav>
                                        <p:tav tm="100000">
                                          <p:val>
                                            <p:strVal val="#ppt_h"/>
                                          </p:val>
                                        </p:tav>
                                      </p:tavLst>
                                    </p:anim>
                                    <p:animEffect transition="in" filter="fade">
                                      <p:cBhvr>
                                        <p:cTn id="107" dur="600"/>
                                        <p:tgtEl>
                                          <p:spTgt spid="19"/>
                                        </p:tgtEl>
                                      </p:cBhvr>
                                    </p:animEffect>
                                  </p:childTnLst>
                                </p:cTn>
                              </p:par>
                              <p:par>
                                <p:cTn id="108" presetID="10" presetClass="entr" presetSubtype="0" grpId="0" fill="hold" nodeType="withEffect">
                                  <p:stCondLst>
                                    <p:cond delay="590"/>
                                  </p:stCondLst>
                                  <p:childTnLst>
                                    <p:set>
                                      <p:cBhvr>
                                        <p:cTn id="109" dur="1" fill="hold">
                                          <p:stCondLst>
                                            <p:cond delay="0"/>
                                          </p:stCondLst>
                                        </p:cTn>
                                        <p:tgtEl>
                                          <p:spTgt spid="20">
                                            <p:txEl>
                                              <p:pRg st="0" end="0"/>
                                            </p:txEl>
                                          </p:spTgt>
                                        </p:tgtEl>
                                        <p:attrNameLst>
                                          <p:attrName>style.visibility</p:attrName>
                                        </p:attrNameLst>
                                      </p:cBhvr>
                                      <p:to>
                                        <p:strVal val="visible"/>
                                      </p:to>
                                    </p:set>
                                    <p:animEffect transition="in" filter="fade">
                                      <p:cBhvr>
                                        <p:cTn id="110" dur="450"/>
                                        <p:tgtEl>
                                          <p:spTgt spid="20">
                                            <p:txEl>
                                              <p:pRg st="0" end="0"/>
                                            </p:txEl>
                                          </p:spTgt>
                                        </p:tgtEl>
                                      </p:cBhvr>
                                    </p:animEffect>
                                  </p:childTnLst>
                                </p:cTn>
                              </p:par>
                              <p:par>
                                <p:cTn id="111" presetID="10" presetClass="entr" presetSubtype="0" grpId="0" fill="hold" nodeType="withEffect">
                                  <p:stCondLst>
                                    <p:cond delay="970"/>
                                  </p:stCondLst>
                                  <p:childTnLst>
                                    <p:set>
                                      <p:cBhvr>
                                        <p:cTn id="112" dur="1" fill="hold">
                                          <p:stCondLst>
                                            <p:cond delay="0"/>
                                          </p:stCondLst>
                                        </p:cTn>
                                        <p:tgtEl>
                                          <p:spTgt spid="20">
                                            <p:txEl>
                                              <p:pRg st="1" end="1"/>
                                            </p:txEl>
                                          </p:spTgt>
                                        </p:tgtEl>
                                        <p:attrNameLst>
                                          <p:attrName>style.visibility</p:attrName>
                                        </p:attrNameLst>
                                      </p:cBhvr>
                                      <p:to>
                                        <p:strVal val="visible"/>
                                      </p:to>
                                    </p:set>
                                    <p:animEffect transition="in" filter="fade">
                                      <p:cBhvr>
                                        <p:cTn id="113" dur="450"/>
                                        <p:tgtEl>
                                          <p:spTgt spid="20">
                                            <p:txEl>
                                              <p:pRg st="1" end="1"/>
                                            </p:txEl>
                                          </p:spTgt>
                                        </p:tgtEl>
                                      </p:cBhvr>
                                    </p:animEffect>
                                  </p:childTnLst>
                                </p:cTn>
                              </p:par>
                              <p:par>
                                <p:cTn id="114" presetID="10" presetClass="entr" presetSubtype="0" grpId="0" fill="hold" nodeType="withEffect">
                                  <p:stCondLst>
                                    <p:cond delay="1350"/>
                                  </p:stCondLst>
                                  <p:childTnLst>
                                    <p:set>
                                      <p:cBhvr>
                                        <p:cTn id="115" dur="1" fill="hold">
                                          <p:stCondLst>
                                            <p:cond delay="0"/>
                                          </p:stCondLst>
                                        </p:cTn>
                                        <p:tgtEl>
                                          <p:spTgt spid="20">
                                            <p:txEl>
                                              <p:pRg st="2" end="2"/>
                                            </p:txEl>
                                          </p:spTgt>
                                        </p:tgtEl>
                                        <p:attrNameLst>
                                          <p:attrName>style.visibility</p:attrName>
                                        </p:attrNameLst>
                                      </p:cBhvr>
                                      <p:to>
                                        <p:strVal val="visible"/>
                                      </p:to>
                                    </p:set>
                                    <p:animEffect transition="in" filter="fade">
                                      <p:cBhvr>
                                        <p:cTn id="116" dur="450"/>
                                        <p:tgtEl>
                                          <p:spTgt spid="20">
                                            <p:txEl>
                                              <p:pRg st="2" end="2"/>
                                            </p:txEl>
                                          </p:spTgt>
                                        </p:tgtEl>
                                      </p:cBhvr>
                                    </p:animEffect>
                                  </p:childTnLst>
                                </p:cTn>
                              </p:par>
                              <p:par>
                                <p:cTn id="117" presetID="10" presetClass="entr" presetSubtype="0" fill="hold" nodeType="withEffect">
                                  <p:stCondLst>
                                    <p:cond delay="660"/>
                                  </p:stCondLst>
                                  <p:childTnLst>
                                    <p:set>
                                      <p:cBhvr>
                                        <p:cTn id="118" dur="1" fill="hold">
                                          <p:stCondLst>
                                            <p:cond delay="0"/>
                                          </p:stCondLst>
                                        </p:cTn>
                                        <p:tgtEl>
                                          <p:spTgt spid="21"/>
                                        </p:tgtEl>
                                        <p:attrNameLst>
                                          <p:attrName>style.visibility</p:attrName>
                                        </p:attrNameLst>
                                      </p:cBhvr>
                                      <p:to>
                                        <p:strVal val="visible"/>
                                      </p:to>
                                    </p:set>
                                    <p:animEffect transition="in" filter="fade">
                                      <p:cBhvr>
                                        <p:cTn id="119" dur="450"/>
                                        <p:tgtEl>
                                          <p:spTgt spid="21"/>
                                        </p:tgtEl>
                                      </p:cBhvr>
                                    </p:animEffect>
                                  </p:childTnLst>
                                </p:cTn>
                              </p:par>
                              <p:par>
                                <p:cTn id="120" presetID="22" presetClass="entr" presetSubtype="4" fill="hold" nodeType="withEffect">
                                  <p:stCondLst>
                                    <p:cond delay="730"/>
                                  </p:stCondLst>
                                  <p:childTnLst>
                                    <p:set>
                                      <p:cBhvr>
                                        <p:cTn id="121" dur="1" fill="hold">
                                          <p:stCondLst>
                                            <p:cond delay="0"/>
                                          </p:stCondLst>
                                        </p:cTn>
                                        <p:tgtEl>
                                          <p:spTgt spid="22"/>
                                        </p:tgtEl>
                                        <p:attrNameLst>
                                          <p:attrName>style.visibility</p:attrName>
                                        </p:attrNameLst>
                                      </p:cBhvr>
                                      <p:to>
                                        <p:strVal val="visible"/>
                                      </p:to>
                                    </p:set>
                                    <p:animEffect transition="in" filter="wipe(down)">
                                      <p:cBhvr>
                                        <p:cTn id="122" dur="500"/>
                                        <p:tgtEl>
                                          <p:spTgt spid="22"/>
                                        </p:tgtEl>
                                      </p:cBhvr>
                                    </p:animEffect>
                                  </p:childTnLst>
                                </p:cTn>
                              </p:par>
                              <p:par>
                                <p:cTn id="123" presetID="10" presetClass="entr" presetSubtype="0" fill="hold" nodeType="withEffect">
                                  <p:stCondLst>
                                    <p:cond delay="580"/>
                                  </p:stCondLst>
                                  <p:childTnLst>
                                    <p:set>
                                      <p:cBhvr>
                                        <p:cTn id="124" dur="1" fill="hold">
                                          <p:stCondLst>
                                            <p:cond delay="0"/>
                                          </p:stCondLst>
                                        </p:cTn>
                                        <p:tgtEl>
                                          <p:spTgt spid="23"/>
                                        </p:tgtEl>
                                        <p:attrNameLst>
                                          <p:attrName>style.visibility</p:attrName>
                                        </p:attrNameLst>
                                      </p:cBhvr>
                                      <p:to>
                                        <p:strVal val="visible"/>
                                      </p:to>
                                    </p:set>
                                    <p:animEffect transition="in" filter="fade">
                                      <p:cBhvr>
                                        <p:cTn id="125" dur="450"/>
                                        <p:tgtEl>
                                          <p:spTgt spid="23"/>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xit" presetSubtype="0" fill="hold" nodeType="clickEffect">
                                  <p:stCondLst>
                                    <p:cond delay="0"/>
                                  </p:stCondLst>
                                  <p:childTnLst>
                                    <p:animEffect transition="out" filter="fade">
                                      <p:cBhvr>
                                        <p:cTn id="129" dur="350"/>
                                        <p:tgtEl>
                                          <p:spTgt spid="18"/>
                                        </p:tgtEl>
                                      </p:cBhvr>
                                    </p:animEffect>
                                    <p:set>
                                      <p:cBhvr>
                                        <p:cTn id="130" dur="1" fill="hold">
                                          <p:stCondLst>
                                            <p:cond delay="349"/>
                                          </p:stCondLst>
                                        </p:cTn>
                                        <p:tgtEl>
                                          <p:spTgt spid="18"/>
                                        </p:tgtEl>
                                        <p:attrNameLst>
                                          <p:attrName>style.visibility</p:attrName>
                                        </p:attrNameLst>
                                      </p:cBhvr>
                                      <p:to>
                                        <p:strVal val="hidden"/>
                                      </p:to>
                                    </p:set>
                                  </p:childTnLst>
                                </p:cTn>
                              </p:par>
                              <p:par>
                                <p:cTn id="131" presetID="10" presetClass="exit" presetSubtype="0" grpId="0" fill="hold" nodeType="withEffect">
                                  <p:stCondLst>
                                    <p:cond delay="0"/>
                                  </p:stCondLst>
                                  <p:childTnLst>
                                    <p:animEffect transition="out" filter="fade">
                                      <p:cBhvr>
                                        <p:cTn id="132" dur="350"/>
                                        <p:tgtEl>
                                          <p:spTgt spid="20">
                                            <p:txEl>
                                              <p:pRg st="0" end="0"/>
                                            </p:txEl>
                                          </p:spTgt>
                                        </p:tgtEl>
                                      </p:cBhvr>
                                    </p:animEffect>
                                    <p:set>
                                      <p:cBhvr>
                                        <p:cTn id="133" dur="1" fill="hold">
                                          <p:stCondLst>
                                            <p:cond delay="349"/>
                                          </p:stCondLst>
                                        </p:cTn>
                                        <p:tgtEl>
                                          <p:spTgt spid="20">
                                            <p:txEl>
                                              <p:pRg st="0" end="0"/>
                                            </p:txEl>
                                          </p:spTgt>
                                        </p:tgtEl>
                                        <p:attrNameLst>
                                          <p:attrName>style.visibility</p:attrName>
                                        </p:attrNameLst>
                                      </p:cBhvr>
                                      <p:to>
                                        <p:strVal val="hidden"/>
                                      </p:to>
                                    </p:set>
                                  </p:childTnLst>
                                </p:cTn>
                              </p:par>
                              <p:par>
                                <p:cTn id="134" presetID="10" presetClass="exit" presetSubtype="0" grpId="0" fill="hold" nodeType="withEffect">
                                  <p:stCondLst>
                                    <p:cond delay="0"/>
                                  </p:stCondLst>
                                  <p:childTnLst>
                                    <p:animEffect transition="out" filter="fade">
                                      <p:cBhvr>
                                        <p:cTn id="135" dur="350"/>
                                        <p:tgtEl>
                                          <p:spTgt spid="20">
                                            <p:txEl>
                                              <p:pRg st="1" end="1"/>
                                            </p:txEl>
                                          </p:spTgt>
                                        </p:tgtEl>
                                      </p:cBhvr>
                                    </p:animEffect>
                                    <p:set>
                                      <p:cBhvr>
                                        <p:cTn id="136" dur="1" fill="hold">
                                          <p:stCondLst>
                                            <p:cond delay="349"/>
                                          </p:stCondLst>
                                        </p:cTn>
                                        <p:tgtEl>
                                          <p:spTgt spid="20">
                                            <p:txEl>
                                              <p:pRg st="1" end="1"/>
                                            </p:txEl>
                                          </p:spTgt>
                                        </p:tgtEl>
                                        <p:attrNameLst>
                                          <p:attrName>style.visibility</p:attrName>
                                        </p:attrNameLst>
                                      </p:cBhvr>
                                      <p:to>
                                        <p:strVal val="hidden"/>
                                      </p:to>
                                    </p:set>
                                  </p:childTnLst>
                                </p:cTn>
                              </p:par>
                              <p:par>
                                <p:cTn id="137" presetID="10" presetClass="exit" presetSubtype="0" grpId="0" fill="hold" nodeType="withEffect">
                                  <p:stCondLst>
                                    <p:cond delay="0"/>
                                  </p:stCondLst>
                                  <p:childTnLst>
                                    <p:animEffect transition="out" filter="fade">
                                      <p:cBhvr>
                                        <p:cTn id="138" dur="350"/>
                                        <p:tgtEl>
                                          <p:spTgt spid="20">
                                            <p:txEl>
                                              <p:pRg st="2" end="2"/>
                                            </p:txEl>
                                          </p:spTgt>
                                        </p:tgtEl>
                                      </p:cBhvr>
                                    </p:animEffect>
                                    <p:set>
                                      <p:cBhvr>
                                        <p:cTn id="139" dur="1" fill="hold">
                                          <p:stCondLst>
                                            <p:cond delay="349"/>
                                          </p:stCondLst>
                                        </p:cTn>
                                        <p:tgtEl>
                                          <p:spTgt spid="20">
                                            <p:txEl>
                                              <p:pRg st="2" end="2"/>
                                            </p:txEl>
                                          </p:spTgt>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350"/>
                                        <p:tgtEl>
                                          <p:spTgt spid="21"/>
                                        </p:tgtEl>
                                      </p:cBhvr>
                                    </p:animEffect>
                                    <p:set>
                                      <p:cBhvr>
                                        <p:cTn id="142" dur="1" fill="hold">
                                          <p:stCondLst>
                                            <p:cond delay="349"/>
                                          </p:stCondLst>
                                        </p:cTn>
                                        <p:tgtEl>
                                          <p:spTgt spid="21"/>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350"/>
                                        <p:tgtEl>
                                          <p:spTgt spid="22"/>
                                        </p:tgtEl>
                                      </p:cBhvr>
                                    </p:animEffect>
                                    <p:set>
                                      <p:cBhvr>
                                        <p:cTn id="145" dur="1" fill="hold">
                                          <p:stCondLst>
                                            <p:cond delay="349"/>
                                          </p:stCondLst>
                                        </p:cTn>
                                        <p:tgtEl>
                                          <p:spTgt spid="22"/>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23"/>
                                        </p:tgtEl>
                                      </p:cBhvr>
                                    </p:animEffect>
                                    <p:set>
                                      <p:cBhvr>
                                        <p:cTn id="148" dur="1" fill="hold">
                                          <p:stCondLst>
                                            <p:cond delay="349"/>
                                          </p:stCondLst>
                                        </p:cTn>
                                        <p:tgtEl>
                                          <p:spTgt spid="23"/>
                                        </p:tgtEl>
                                        <p:attrNameLst>
                                          <p:attrName>style.visibility</p:attrName>
                                        </p:attrNameLst>
                                      </p:cBhvr>
                                      <p:to>
                                        <p:strVal val="hidden"/>
                                      </p:to>
                                    </p:set>
                                  </p:childTnLst>
                                </p:cTn>
                              </p:par>
                              <p:par>
                                <p:cTn id="149" presetID="0" presetClass="path" presetSubtype="0" accel="50000" decel="50000" fill="hold" nodeType="withEffect">
                                  <p:stCondLst>
                                    <p:cond delay="0"/>
                                  </p:stCondLst>
                                  <p:childTnLst>
                                    <p:animMotion origin="layout" path="M 0 0 L 0.62383 0.03196 E" pathEditMode="relative" rAng="0" ptsTypes="AA">
                                      <p:cBhvr>
                                        <p:cTn id="150" dur="750" fill="hold"/>
                                        <p:tgtEl>
                                          <p:spTgt spid="19"/>
                                        </p:tgtEl>
                                        <p:attrNameLst>
                                          <p:attrName>ppt_x</p:attrName>
                                          <p:attrName>ppt_y</p:attrName>
                                        </p:attrNameLst>
                                      </p:cBhvr>
                                      <p:rCtr x="31191" y="1598"/>
                                    </p:animMotion>
                                  </p:childTnLst>
                                </p:cTn>
                              </p:par>
                              <p:par>
                                <p:cTn id="151" presetID="6" presetClass="emph" presetSubtype="0" accel="50000" decel="50000" fill="hold" nodeType="withEffect">
                                  <p:stCondLst>
                                    <p:cond delay="0"/>
                                  </p:stCondLst>
                                  <p:childTnLst>
                                    <p:animScale>
                                      <p:cBhvr>
                                        <p:cTn id="152" dur="750" fill="hold"/>
                                        <p:tgtEl>
                                          <p:spTgt spid="19"/>
                                        </p:tgtEl>
                                      </p:cBhvr>
                                      <p:by x="29519" y="29519"/>
                                    </p:animScale>
                                  </p:childTnLst>
                                </p:cTn>
                              </p:par>
                              <p:par>
                                <p:cTn id="153" presetID="10" presetClass="entr" presetSubtype="0" fill="hold" nodeType="withEffect">
                                  <p:stCondLst>
                                    <p:cond delay="450"/>
                                  </p:stCondLst>
                                  <p:childTnLst>
                                    <p:set>
                                      <p:cBhvr>
                                        <p:cTn id="154" dur="1" fill="hold">
                                          <p:stCondLst>
                                            <p:cond delay="0"/>
                                          </p:stCondLst>
                                        </p:cTn>
                                        <p:tgtEl>
                                          <p:spTgt spid="24"/>
                                        </p:tgtEl>
                                        <p:attrNameLst>
                                          <p:attrName>style.visibility</p:attrName>
                                        </p:attrNameLst>
                                      </p:cBhvr>
                                      <p:to>
                                        <p:strVal val="visible"/>
                                      </p:to>
                                    </p:set>
                                    <p:animEffect transition="in" filter="fade">
                                      <p:cBhvr>
                                        <p:cTn id="155" dur="450"/>
                                        <p:tgtEl>
                                          <p:spTgt spid="24"/>
                                        </p:tgtEl>
                                      </p:cBhvr>
                                    </p:animEffect>
                                  </p:childTnLst>
                                </p:cTn>
                              </p:par>
                              <p:par>
                                <p:cTn id="156" presetID="53" presetClass="entr" presetSubtype="16" fill="hold" nodeType="withEffect">
                                  <p:stCondLst>
                                    <p:cond delay="520"/>
                                  </p:stCondLst>
                                  <p:childTnLst>
                                    <p:set>
                                      <p:cBhvr>
                                        <p:cTn id="157" dur="1" fill="hold">
                                          <p:stCondLst>
                                            <p:cond delay="0"/>
                                          </p:stCondLst>
                                        </p:cTn>
                                        <p:tgtEl>
                                          <p:spTgt spid="25"/>
                                        </p:tgtEl>
                                        <p:attrNameLst>
                                          <p:attrName>style.visibility</p:attrName>
                                        </p:attrNameLst>
                                      </p:cBhvr>
                                      <p:to>
                                        <p:strVal val="visible"/>
                                      </p:to>
                                    </p:set>
                                    <p:anim calcmode="lin" valueType="num">
                                      <p:cBhvr>
                                        <p:cTn id="158" dur="600" fill="hold"/>
                                        <p:tgtEl>
                                          <p:spTgt spid="25"/>
                                        </p:tgtEl>
                                        <p:attrNameLst>
                                          <p:attrName>ppt_w</p:attrName>
                                        </p:attrNameLst>
                                      </p:cBhvr>
                                      <p:tavLst>
                                        <p:tav tm="0">
                                          <p:val>
                                            <p:fltVal val="0"/>
                                          </p:val>
                                        </p:tav>
                                        <p:tav tm="100000">
                                          <p:val>
                                            <p:strVal val="#ppt_w"/>
                                          </p:val>
                                        </p:tav>
                                      </p:tavLst>
                                    </p:anim>
                                    <p:anim calcmode="lin" valueType="num">
                                      <p:cBhvr>
                                        <p:cTn id="159" dur="600" fill="hold"/>
                                        <p:tgtEl>
                                          <p:spTgt spid="25"/>
                                        </p:tgtEl>
                                        <p:attrNameLst>
                                          <p:attrName>ppt_h</p:attrName>
                                        </p:attrNameLst>
                                      </p:cBhvr>
                                      <p:tavLst>
                                        <p:tav tm="0">
                                          <p:val>
                                            <p:fltVal val="0"/>
                                          </p:val>
                                        </p:tav>
                                        <p:tav tm="100000">
                                          <p:val>
                                            <p:strVal val="#ppt_h"/>
                                          </p:val>
                                        </p:tav>
                                      </p:tavLst>
                                    </p:anim>
                                    <p:animEffect transition="in" filter="fade">
                                      <p:cBhvr>
                                        <p:cTn id="160" dur="600"/>
                                        <p:tgtEl>
                                          <p:spTgt spid="25"/>
                                        </p:tgtEl>
                                      </p:cBhvr>
                                    </p:animEffect>
                                  </p:childTnLst>
                                </p:cTn>
                              </p:par>
                              <p:par>
                                <p:cTn id="161" presetID="10" presetClass="entr" presetSubtype="0" grpId="0" fill="hold" nodeType="withEffect">
                                  <p:stCondLst>
                                    <p:cond delay="590"/>
                                  </p:stCondLst>
                                  <p:childTnLst>
                                    <p:set>
                                      <p:cBhvr>
                                        <p:cTn id="162" dur="1" fill="hold">
                                          <p:stCondLst>
                                            <p:cond delay="0"/>
                                          </p:stCondLst>
                                        </p:cTn>
                                        <p:tgtEl>
                                          <p:spTgt spid="26">
                                            <p:txEl>
                                              <p:pRg st="0" end="0"/>
                                            </p:txEl>
                                          </p:spTgt>
                                        </p:tgtEl>
                                        <p:attrNameLst>
                                          <p:attrName>style.visibility</p:attrName>
                                        </p:attrNameLst>
                                      </p:cBhvr>
                                      <p:to>
                                        <p:strVal val="visible"/>
                                      </p:to>
                                    </p:set>
                                    <p:animEffect transition="in" filter="fade">
                                      <p:cBhvr>
                                        <p:cTn id="163" dur="450"/>
                                        <p:tgtEl>
                                          <p:spTgt spid="26">
                                            <p:txEl>
                                              <p:pRg st="0" end="0"/>
                                            </p:txEl>
                                          </p:spTgt>
                                        </p:tgtEl>
                                      </p:cBhvr>
                                    </p:animEffect>
                                  </p:childTnLst>
                                </p:cTn>
                              </p:par>
                              <p:par>
                                <p:cTn id="164" presetID="10" presetClass="entr" presetSubtype="0" grpId="0" fill="hold" nodeType="withEffect">
                                  <p:stCondLst>
                                    <p:cond delay="970"/>
                                  </p:stCondLst>
                                  <p:childTnLst>
                                    <p:set>
                                      <p:cBhvr>
                                        <p:cTn id="165" dur="1" fill="hold">
                                          <p:stCondLst>
                                            <p:cond delay="0"/>
                                          </p:stCondLst>
                                        </p:cTn>
                                        <p:tgtEl>
                                          <p:spTgt spid="26">
                                            <p:txEl>
                                              <p:pRg st="1" end="1"/>
                                            </p:txEl>
                                          </p:spTgt>
                                        </p:tgtEl>
                                        <p:attrNameLst>
                                          <p:attrName>style.visibility</p:attrName>
                                        </p:attrNameLst>
                                      </p:cBhvr>
                                      <p:to>
                                        <p:strVal val="visible"/>
                                      </p:to>
                                    </p:set>
                                    <p:animEffect transition="in" filter="fade">
                                      <p:cBhvr>
                                        <p:cTn id="166" dur="450"/>
                                        <p:tgtEl>
                                          <p:spTgt spid="26">
                                            <p:txEl>
                                              <p:pRg st="1" end="1"/>
                                            </p:txEl>
                                          </p:spTgt>
                                        </p:tgtEl>
                                      </p:cBhvr>
                                    </p:animEffect>
                                  </p:childTnLst>
                                </p:cTn>
                              </p:par>
                              <p:par>
                                <p:cTn id="167" presetID="10" presetClass="entr" presetSubtype="0" grpId="0" fill="hold" nodeType="withEffect">
                                  <p:stCondLst>
                                    <p:cond delay="1350"/>
                                  </p:stCondLst>
                                  <p:childTnLst>
                                    <p:set>
                                      <p:cBhvr>
                                        <p:cTn id="168" dur="1" fill="hold">
                                          <p:stCondLst>
                                            <p:cond delay="0"/>
                                          </p:stCondLst>
                                        </p:cTn>
                                        <p:tgtEl>
                                          <p:spTgt spid="26">
                                            <p:txEl>
                                              <p:pRg st="2" end="2"/>
                                            </p:txEl>
                                          </p:spTgt>
                                        </p:tgtEl>
                                        <p:attrNameLst>
                                          <p:attrName>style.visibility</p:attrName>
                                        </p:attrNameLst>
                                      </p:cBhvr>
                                      <p:to>
                                        <p:strVal val="visible"/>
                                      </p:to>
                                    </p:set>
                                    <p:animEffect transition="in" filter="fade">
                                      <p:cBhvr>
                                        <p:cTn id="169" dur="450"/>
                                        <p:tgtEl>
                                          <p:spTgt spid="26">
                                            <p:txEl>
                                              <p:pRg st="2" end="2"/>
                                            </p:txEl>
                                          </p:spTgt>
                                        </p:tgtEl>
                                      </p:cBhvr>
                                    </p:animEffect>
                                  </p:childTnLst>
                                </p:cTn>
                              </p:par>
                              <p:par>
                                <p:cTn id="170" presetID="10" presetClass="entr" presetSubtype="0" fill="hold" nodeType="withEffect">
                                  <p:stCondLst>
                                    <p:cond delay="580"/>
                                  </p:stCondLst>
                                  <p:childTnLst>
                                    <p:set>
                                      <p:cBhvr>
                                        <p:cTn id="171" dur="1" fill="hold">
                                          <p:stCondLst>
                                            <p:cond delay="0"/>
                                          </p:stCondLst>
                                        </p:cTn>
                                        <p:tgtEl>
                                          <p:spTgt spid="27"/>
                                        </p:tgtEl>
                                        <p:attrNameLst>
                                          <p:attrName>style.visibility</p:attrName>
                                        </p:attrNameLst>
                                      </p:cBhvr>
                                      <p:to>
                                        <p:strVal val="visible"/>
                                      </p:to>
                                    </p:set>
                                    <p:animEffect transition="in" filter="fade">
                                      <p:cBhvr>
                                        <p:cTn id="172"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2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Geometría: 21 posiciones, límites de </a:t>
            </a:r>
            <mc:AlternateContent xmlns:mc="http://schemas.openxmlformats.org/markup-compatibility/2006">
              <mc:Choice xmlns:a14="http://schemas.microsoft.com/office/drawing/2010/main" Requires="a14">
                <a14:m>
                  <m:oMath xmlns:m="http://schemas.openxmlformats.org/officeDocument/2006/math">
                    <m:r>
                      <a:rPr lang="es-ES" sz="2200" i="1">
                        <a:solidFill>
                          <a:srgbClr val="1F4E79"/>
                        </a:solidFill>
                        <a:latin typeface="Cambria Math" panose="02040503050406030204" pitchFamily="18" charset="0"/>
                      </a:rPr>
                      <m:t xml:space="preserve">Δ</m:t>
                    </m:r>
                    <m:r>
                      <a:rPr lang="es-ES" sz="2200" i="1">
                        <a:solidFill>
                          <a:srgbClr val="1F4E79"/>
                        </a:solidFill>
                        <a:latin typeface="Cambria Math" panose="02040503050406030204" pitchFamily="18" charset="0"/>
                      </a:rPr>
                      <m:t xml:space="preserve">x</m:t>
                    </m:r>
                  </m:oMath>
                </a14:m>
              </mc:Choice>
              <mc:Fallback>
                <a:r>
                  <a:rPr lang="en-US" sz="2200" b="1" dirty="0">
                    <a:solidFill>
                      <a:srgbClr val="1F4E79"/>
                    </a:solidFill>
                    <a:latin typeface="Arial" pitchFamily="34" charset="0"/>
                    <a:ea typeface="Arial" pitchFamily="34" charset="-122"/>
                    <a:cs typeface="Arial" pitchFamily="34" charset="-120"/>
                  </a:rPr>
                  <a:t>Δx</a:t>
                </a:r>
              </mc:Fallback>
            </mc:AlternateContent>
            <a:r>
              <a:rPr lang="en-US" sz="2200" b="1" dirty="0">
                <a:solidFill>
                  <a:srgbClr val="1F4E79"/>
                </a:solidFill>
                <a:latin typeface="Arial" pitchFamily="34" charset="0"/>
                <a:ea typeface="Arial" pitchFamily="34" charset="-122"/>
                <a:cs typeface="Arial" pitchFamily="34" charset="-120"/>
              </a:rPr>
              <a:t> y L, y su incertidumbre</a:t>
            </a:r>
            <a:endParaRPr lang="en-US" sz="2200" dirty="0"/>
          </a:p>
        </p:txBody>
      </p:sp>
      <p:sp>
        <p:nvSpPr>
          <p:cNvPr id="3" name="Obj [o80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arreglo: 21 posiciones del receptor, un HAMMER fijo y 40 m de apertura</a:t>
            </a:r>
            <a:endParaRPr lang="en-US" sz="1400" dirty="0"/>
          </a:p>
        </p:txBody>
      </p:sp>
      <p:pic>
        <p:nvPicPr>
          <p:cNvPr id="4" name="Obj [o805]" descr="Esquema de la línea de medición: fuente y HAMMER en el origen, 21 posiciones del receptor GEO entre 10 y 50 m con paso de 2 metros y apertura de 40 metros">    </p:cNvPr>
          <p:cNvPicPr>
            <a:picLocks noChangeAspect="1"/>
          </p:cNvPicPr>
          <p:nvPr/>
        </p:nvPicPr>
        <p:blipFill>
          <a:blip r:embed="rId1"/>
          <a:stretch>
            <a:fillRect/>
          </a:stretch>
        </p:blipFill>
        <p:spPr>
          <a:xfrm>
            <a:off x="1126396" y="1521393"/>
            <a:ext cx="6891207" cy="2163519"/>
          </a:xfrm>
          <a:prstGeom prst="rect">
            <a:avLst/>
          </a:prstGeom>
        </p:spPr>
      </p:pic>
      <p:sp>
        <p:nvSpPr>
          <p:cNvPr id="5" name="Obj [o806]"/>
          <p:cNvSpPr txBox="1"/>
          <p:nvPr/>
        </p:nvSpPr>
        <p:spPr>
          <a:xfrm>
            <a:off x="4972652" y="3668886"/>
            <a:ext cx="3205213"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FIGURA MÍA, A REGENERAR EN EL REPO</a:t>
            </a:r>
            <a:endParaRPr lang="en-US" sz="900" dirty="0"/>
          </a:p>
        </p:txBody>
      </p:sp>
      <p:sp>
        <p:nvSpPr>
          <p:cNvPr id="6" name="Obj [o807]"/>
          <p:cNvSpPr/>
          <p:nvPr/>
        </p:nvSpPr>
        <p:spPr>
          <a:xfrm>
            <a:off x="966136" y="3925303"/>
            <a:ext cx="2884691" cy="48078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7" name="Obj [o808]"/>
              <p:cNvSpPr txBox="1"/>
              <p:nvPr/>
            </p:nvSpPr>
            <p:spPr>
              <a:xfrm>
                <a:off x="966136" y="3925303"/>
                <a:ext cx="2884691" cy="48078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L=(</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N</m:t>
                          </m:r>
                        </m:e>
                        <m:sub>
                          <m:r>
                            <a:rPr lang="es-ES" sz="2500" i="1">
                              <a:solidFill>
                                <a:srgbClr val="1F4E79"/>
                              </a:solidFill>
                              <a:latin typeface="Cambria Math" panose="02040503050406030204" pitchFamily="18" charset="0"/>
                            </a:rPr>
                            <m:t xml:space="preserve">r</m:t>
                          </m:r>
                        </m:sub>
                      </m:sSub>
                      <m:r>
                        <a:rPr lang="es-ES" sz="2500" i="1">
                          <a:solidFill>
                            <a:srgbClr val="1F4E79"/>
                          </a:solidFill>
                          <a:latin typeface="Cambria Math" panose="02040503050406030204" pitchFamily="18" charset="0"/>
                        </a:rPr>
                        <m:t xml:space="preserve">−1)·Δx</m:t>
                      </m:r>
                    </m:oMath>
                  </m:oMathPara>
                </a14:m>
                <a:endParaRPr lang="es-ES"/>
              </a:p>
            </p:txBody>
          </p:sp>
        </mc:Choice>
        <mc:Fallback>
          <p:sp>
            <p:nvSpPr>
              <p:cNvPr id="7" name="Obj [o808]"/>
              <p:cNvSpPr txBox="1"/>
              <p:nvPr/>
            </p:nvSpPr>
            <p:spPr>
              <a:xfrm>
                <a:off x="966136" y="3925303"/>
                <a:ext cx="2884691" cy="48078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L = (Nr − 1)·Δx</a:t>
                </a:r>
                <a:endParaRPr lang="en-US" sz="2159" dirty="0"/>
              </a:p>
            </p:txBody>
          </p:sp>
        </mc:Fallback>
      </mc:AlternateContent>
      <p:sp>
        <p:nvSpPr>
          <p:cNvPr id="8" name="Obj [o809]"/>
          <p:cNvSpPr txBox="1"/>
          <p:nvPr/>
        </p:nvSpPr>
        <p:spPr>
          <a:xfrm>
            <a:off x="4011088" y="3925303"/>
            <a:ext cx="4166776" cy="560912"/>
          </a:xfrm>
          <a:prstGeom prst="rect">
            <a:avLst/>
          </a:prstGeom>
          <a:noFill/>
          <a:ln/>
        </p:spPr>
        <p:txBody>
          <a:bodyPr wrap="square" lIns="0" tIns="0" rIns="0" bIns="0" rtlCol="0" anchor="t"/>
          <a:lstStyle/>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Nr = 21 posiciones, </a:t>
            </a:r>
            <mc:AlternateContent xmlns:mc="http://schemas.openxmlformats.org/markup-compatibility/2006">
              <mc:Choice xmlns:a14="http://schemas.microsoft.com/office/drawing/2010/main" Requires="a14">
                <a14:m>
                  <m:oMath xmlns:m="http://schemas.openxmlformats.org/officeDocument/2006/math">
                    <m:r>
                      <a:rPr lang="es-ES" sz="1080" i="1">
                        <a:solidFill>
                          <a:srgbClr val="2D2D2D"/>
                        </a:solidFill>
                        <a:latin typeface="Cambria Math" panose="02040503050406030204" pitchFamily="18" charset="0"/>
                      </a:rPr>
                      <m:t xml:space="preserve">Δ</m:t>
                    </m:r>
                    <m:r>
                      <a:rPr lang="es-ES" sz="1080" i="1">
                        <a:solidFill>
                          <a:srgbClr val="2D2D2D"/>
                        </a:solidFill>
                        <a:latin typeface="Cambria Math" panose="02040503050406030204" pitchFamily="18" charset="0"/>
                      </a:rPr>
                      <m:t xml:space="preserve">x</m:t>
                    </m:r>
                    <m:r>
                      <m:rPr>
                        <m:sty m:val="p"/>
                      </m:rPr>
                      <a:rPr lang="es-ES" sz="1080">
                        <a:solidFill>
                          <a:srgbClr val="2D2D2D"/>
                        </a:solidFill>
                        <a:latin typeface="Cambria Math" panose="02040503050406030204" pitchFamily="18" charset="0"/>
                      </a:rPr>
                      <m:t xml:space="preserve">=</m:t>
                    </m:r>
                    <m:r>
                      <m:rPr>
                        <m:sty m:val="p"/>
                      </m:rPr>
                      <a:rPr lang="es-ES" sz="1080">
                        <a:solidFill>
                          <a:srgbClr val="2D2D2D"/>
                        </a:solidFill>
                        <a:latin typeface="Cambria Math" panose="02040503050406030204" pitchFamily="18" charset="0"/>
                      </a:rPr>
                      <m:t xml:space="preserve">2</m:t>
                    </m:r>
                  </m:oMath>
                </a14:m>
              </mc:Choice>
              <mc:Fallback>
                <a:r>
                  <a:rPr lang="en-US" sz="1080" dirty="0">
                    <a:solidFill>
                      <a:srgbClr val="2D2D2D"/>
                    </a:solidFill>
                    <a:latin typeface="Arial" pitchFamily="34" charset="0"/>
                    <a:ea typeface="Arial" pitchFamily="34" charset="-122"/>
                    <a:cs typeface="Arial" pitchFamily="34" charset="-120"/>
                  </a:rPr>
                  <a:t>Δx = 2</a:t>
                </a:r>
              </mc:Fallback>
            </mc:AlternateContent>
            <a:r>
              <a:rPr lang="en-US" sz="1080" dirty="0">
                <a:solidFill>
                  <a:srgbClr val="2D2D2D"/>
                </a:solidFill>
                <a:latin typeface="Arial" pitchFamily="34" charset="0"/>
                <a:ea typeface="Arial" pitchFamily="34" charset="-122"/>
                <a:cs typeface="Arial" pitchFamily="34" charset="-120"/>
              </a:rPr>
              <a:t> m: L = 40 m</a:t>
            </a:r>
            <a:endParaRPr lang="en-US" sz="1080" dirty="0"/>
          </a:p>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No se conservaron coordenadas ni azimut de los extremos</a:t>
            </a:r>
            <a:endParaRPr lang="en-US" sz="1080" dirty="0"/>
          </a:p>
        </p:txBody>
      </p:sp>
      <p:sp>
        <p:nvSpPr>
          <p:cNvPr id="9" name="Obj [o81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4.10.2; documento de tesis, 04_validacion.tex (campaña) y 02_requerimientos.tex (ec. de apertura). Esquema: cálculo propio.</a:t>
            </a:r>
            <a:endParaRPr lang="en-US" sz="800" dirty="0"/>
          </a:p>
        </p:txBody>
      </p:sp>
      <p:sp>
        <p:nvSpPr>
          <p:cNvPr id="10" name="Obj [o81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separación y la apertura fijan las longitudes de onda que se pueden medir</a:t>
            </a:r>
            <a:endParaRPr lang="en-US" sz="1400" dirty="0"/>
          </a:p>
        </p:txBody>
      </p:sp>
      <p:sp>
        <p:nvSpPr>
          <p:cNvPr id="11" name="Obj [o812]"/>
          <p:cNvSpPr/>
          <p:nvPr/>
        </p:nvSpPr>
        <p:spPr>
          <a:xfrm>
            <a:off x="441794" y="1519345"/>
            <a:ext cx="2889305" cy="49422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2" name="Obj [o813]"/>
              <p:cNvSpPr txBox="1"/>
              <p:nvPr/>
            </p:nvSpPr>
            <p:spPr>
              <a:xfrm>
                <a:off x="441794" y="1519345"/>
                <a:ext cx="2889305" cy="49422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λ</m:t>
                          </m:r>
                        </m:e>
                        <m:sub>
                          <m:r>
                            <a:rPr lang="es-ES" sz="2400" i="1">
                              <a:solidFill>
                                <a:srgbClr val="1F4E79"/>
                              </a:solidFill>
                              <a:latin typeface="Cambria Math" panose="02040503050406030204" pitchFamily="18" charset="0"/>
                            </a:rPr>
                            <m:t xml:space="preserve">mín</m:t>
                          </m:r>
                        </m:sub>
                      </m:sSub>
                      <m:r>
                        <a:rPr lang="es-ES" sz="2400" i="1">
                          <a:solidFill>
                            <a:srgbClr val="1F4E79"/>
                          </a:solidFill>
                          <a:latin typeface="Cambria Math" panose="02040503050406030204" pitchFamily="18" charset="0"/>
                        </a:rPr>
                        <m:t xml:space="preserve">≳2Δx</m:t>
                      </m:r>
                    </m:oMath>
                  </m:oMathPara>
                </a14:m>
                <a:endParaRPr lang="es-ES"/>
              </a:p>
            </p:txBody>
          </p:sp>
        </mc:Choice>
        <mc:Fallback>
          <p:sp>
            <p:nvSpPr>
              <p:cNvPr id="12" name="Obj [o813]"/>
              <p:cNvSpPr txBox="1"/>
              <p:nvPr/>
            </p:nvSpPr>
            <p:spPr>
              <a:xfrm>
                <a:off x="441794" y="1519345"/>
                <a:ext cx="2889305" cy="49422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λmín ≳ 2Δx</a:t>
                </a:r>
                <a:endParaRPr lang="en-US" sz="2071" dirty="0"/>
              </a:p>
            </p:txBody>
          </p:sp>
        </mc:Fallback>
      </mc:AlternateContent>
      <p:sp>
        <p:nvSpPr>
          <p:cNvPr id="13" name="Obj [o814]"/>
          <p:cNvSpPr txBox="1"/>
          <p:nvPr/>
        </p:nvSpPr>
        <p:spPr>
          <a:xfrm>
            <a:off x="441794" y="2036379"/>
            <a:ext cx="2889305" cy="228103"/>
          </a:xfrm>
          <a:prstGeom prst="rect">
            <a:avLst/>
          </a:prstGeom>
          <a:noFill/>
          <a:ln/>
        </p:spPr>
        <p:txBody>
          <a:bodyPr wrap="square" lIns="0" tIns="0" rIns="0" bIns="0" rtlCol="0" anchor="t"/>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035" i="1">
                        <a:solidFill>
                          <a:srgbClr val="6B6B6B"/>
                        </a:solidFill>
                        <a:latin typeface="Cambria Math" panose="02040503050406030204" pitchFamily="18" charset="0"/>
                      </a:rPr>
                      <m:t xml:space="preserve">Δ</m:t>
                    </m:r>
                    <m:r>
                      <a:rPr lang="es-ES" sz="1035" i="1">
                        <a:solidFill>
                          <a:srgbClr val="6B6B6B"/>
                        </a:solidFill>
                        <a:latin typeface="Cambria Math" panose="02040503050406030204" pitchFamily="18" charset="0"/>
                      </a:rPr>
                      <m:t xml:space="preserve">x</m:t>
                    </m:r>
                  </m:oMath>
                </a14:m>
              </mc:Choice>
              <mc:Fallback>
                <a:r>
                  <a:rPr lang="en-US" sz="1035" dirty="0">
                    <a:solidFill>
                      <a:srgbClr val="6B6B6B"/>
                    </a:solidFill>
                    <a:latin typeface="Arial" pitchFamily="34" charset="0"/>
                    <a:ea typeface="Arial" pitchFamily="34" charset="-122"/>
                    <a:cs typeface="Arial" pitchFamily="34" charset="-120"/>
                  </a:rPr>
                  <a:t>Δx</a:t>
                </a:r>
              </mc:Fallback>
            </mc:AlternateContent>
            <a:r>
              <a:rPr lang="en-US" sz="1035" dirty="0">
                <a:solidFill>
                  <a:srgbClr val="6B6B6B"/>
                </a:solidFill>
                <a:latin typeface="Arial" pitchFamily="34" charset="0"/>
                <a:ea typeface="Arial" pitchFamily="34" charset="-122"/>
                <a:cs typeface="Arial" pitchFamily="34" charset="-120"/>
              </a:rPr>
              <a:t> corto: sin aliasing espacial</a:t>
            </a:r>
            <a:endParaRPr lang="en-US" sz="1035" dirty="0"/>
          </a:p>
        </p:txBody>
      </p:sp>
      <p:sp>
        <p:nvSpPr>
          <p:cNvPr id="14" name="Obj [o815]"/>
          <p:cNvSpPr/>
          <p:nvPr/>
        </p:nvSpPr>
        <p:spPr>
          <a:xfrm>
            <a:off x="441794" y="2317706"/>
            <a:ext cx="2889305" cy="49422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Obj [o816]"/>
              <p:cNvSpPr txBox="1"/>
              <p:nvPr/>
            </p:nvSpPr>
            <p:spPr>
              <a:xfrm>
                <a:off x="441794" y="2317706"/>
                <a:ext cx="2889305" cy="49422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L≳</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λ</m:t>
                          </m:r>
                        </m:e>
                        <m:sub>
                          <m:r>
                            <a:rPr lang="es-ES" sz="2400" i="1">
                              <a:solidFill>
                                <a:srgbClr val="1F4E79"/>
                              </a:solidFill>
                              <a:latin typeface="Cambria Math" panose="02040503050406030204" pitchFamily="18" charset="0"/>
                            </a:rPr>
                            <m:t xml:space="preserve">máx</m:t>
                          </m:r>
                        </m:sub>
                      </m:sSub>
                    </m:oMath>
                  </m:oMathPara>
                </a14:m>
                <a:endParaRPr lang="es-ES"/>
              </a:p>
            </p:txBody>
          </p:sp>
        </mc:Choice>
        <mc:Fallback>
          <p:sp>
            <p:nvSpPr>
              <p:cNvPr id="15" name="Obj [o816]"/>
              <p:cNvSpPr txBox="1"/>
              <p:nvPr/>
            </p:nvSpPr>
            <p:spPr>
              <a:xfrm>
                <a:off x="441794" y="2317706"/>
                <a:ext cx="2889305" cy="49422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L ≳ λmáx</a:t>
                </a:r>
                <a:endParaRPr lang="en-US" sz="2071" dirty="0"/>
              </a:p>
            </p:txBody>
          </p:sp>
        </mc:Fallback>
      </mc:AlternateContent>
      <p:sp>
        <p:nvSpPr>
          <p:cNvPr id="16" name="Obj [o817]"/>
          <p:cNvSpPr txBox="1"/>
          <p:nvPr/>
        </p:nvSpPr>
        <p:spPr>
          <a:xfrm>
            <a:off x="441794" y="2834739"/>
            <a:ext cx="2889305" cy="228103"/>
          </a:xfrm>
          <a:prstGeom prst="rect">
            <a:avLst/>
          </a:prstGeom>
          <a:noFill/>
          <a:ln/>
        </p:spPr>
        <p:txBody>
          <a:bodyPr wrap="square" lIns="0" tIns="0" rIns="0" bIns="0" rtlCol="0" anchor="t"/>
          <a:lstStyle/>
          <a:p>
            <a:pPr algn="ctr" indent="0" marL="0">
              <a:buNone/>
            </a:pPr>
            <a:r>
              <a:rPr lang="en-US" sz="1035" dirty="0">
                <a:solidFill>
                  <a:srgbClr val="6B6B6B"/>
                </a:solidFill>
                <a:latin typeface="Arial" pitchFamily="34" charset="0"/>
                <a:ea typeface="Arial" pitchFamily="34" charset="-122"/>
                <a:cs typeface="Arial" pitchFamily="34" charset="-120"/>
              </a:rPr>
              <a:t>L largo: se resuelven ondas largas</a:t>
            </a:r>
            <a:endParaRPr lang="en-US" sz="1035" dirty="0"/>
          </a:p>
        </p:txBody>
      </p:sp>
      <p:sp>
        <p:nvSpPr>
          <p:cNvPr id="17" name="Obj [o818]"/>
          <p:cNvSpPr txBox="1"/>
          <p:nvPr/>
        </p:nvSpPr>
        <p:spPr>
          <a:xfrm>
            <a:off x="441794" y="3138877"/>
            <a:ext cx="2965340" cy="1178532"/>
          </a:xfrm>
          <a:prstGeom prst="rect">
            <a:avLst/>
          </a:prstGeom>
          <a:noFill/>
          <a:ln/>
        </p:spPr>
        <p:txBody>
          <a:bodyPr wrap="square" lIns="0" tIns="0" rIns="0" bIns="0" rtlCol="0" anchor="t"/>
          <a:lstStyle/>
          <a:p>
            <a:pPr marL="342900" indent="-342900">
              <a:spcAft>
                <a:spcPts val="259"/>
              </a:spcAft>
              <a:buSzPct val="100000"/>
              <a:buChar char="•"/>
            </a:pPr>
            <a:r>
              <a:rPr lang="en-US" sz="992"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992" i="1">
                        <a:solidFill>
                          <a:srgbClr val="2D2D2D"/>
                        </a:solidFill>
                        <a:latin typeface="Cambria Math" panose="02040503050406030204" pitchFamily="18" charset="0"/>
                      </a:rPr>
                      <m:t xml:space="preserve">Δ</m:t>
                    </m:r>
                    <m:r>
                      <a:rPr lang="es-ES" sz="992" i="1">
                        <a:solidFill>
                          <a:srgbClr val="2D2D2D"/>
                        </a:solidFill>
                        <a:latin typeface="Cambria Math" panose="02040503050406030204" pitchFamily="18" charset="0"/>
                      </a:rPr>
                      <m:t xml:space="preserve">x</m:t>
                    </m:r>
                    <m:r>
                      <m:rPr>
                        <m:sty m:val="p"/>
                      </m:rPr>
                      <a:rPr lang="es-ES" sz="992">
                        <a:solidFill>
                          <a:srgbClr val="2D2D2D"/>
                        </a:solidFill>
                        <a:latin typeface="Cambria Math" panose="02040503050406030204" pitchFamily="18" charset="0"/>
                      </a:rPr>
                      <m:t xml:space="preserve">=</m:t>
                    </m:r>
                    <m:r>
                      <m:rPr>
                        <m:sty m:val="p"/>
                      </m:rPr>
                      <a:rPr lang="es-ES" sz="992">
                        <a:solidFill>
                          <a:srgbClr val="2D2D2D"/>
                        </a:solidFill>
                        <a:latin typeface="Cambria Math" panose="02040503050406030204" pitchFamily="18" charset="0"/>
                      </a:rPr>
                      <m:t xml:space="preserve">2</m:t>
                    </m:r>
                  </m:oMath>
                </a14:m>
              </mc:Choice>
              <mc:Fallback>
                <a:r>
                  <a:rPr lang="en-US" sz="992" dirty="0">
                    <a:solidFill>
                      <a:srgbClr val="2D2D2D"/>
                    </a:solidFill>
                    <a:latin typeface="Arial" pitchFamily="34" charset="0"/>
                    <a:ea typeface="Arial" pitchFamily="34" charset="-122"/>
                    <a:cs typeface="Arial" pitchFamily="34" charset="-120"/>
                  </a:rPr>
                  <a:t>Δx = 2</a:t>
                </a:r>
              </mc:Fallback>
            </mc:AlternateContent>
            <a:r>
              <a:rPr lang="en-US" sz="992" dirty="0">
                <a:solidFill>
                  <a:srgbClr val="2D2D2D"/>
                </a:solidFill>
                <a:latin typeface="Arial" pitchFamily="34" charset="0"/>
                <a:ea typeface="Arial" pitchFamily="34" charset="-122"/>
                <a:cs typeface="Arial" pitchFamily="34" charset="-120"/>
              </a:rPr>
              <a:t> m: </a:t>
            </a:r>
            <mc:AlternateContent xmlns:mc="http://schemas.openxmlformats.org/markup-compatibility/2006">
              <mc:Choice xmlns:a14="http://schemas.microsoft.com/office/drawing/2010/main" Requires="a14">
                <a14:m>
                  <m:oMath xmlns:m="http://schemas.openxmlformats.org/officeDocument/2006/math">
                    <m:r>
                      <a:rPr lang="es-ES" sz="992" i="1">
                        <a:solidFill>
                          <a:srgbClr val="2D2D2D"/>
                        </a:solidFill>
                        <a:latin typeface="Cambria Math" panose="02040503050406030204" pitchFamily="18" charset="0"/>
                      </a:rPr>
                      <m:t xml:space="preserve">λ</m:t>
                    </m:r>
                  </m:oMath>
                </a14:m>
              </mc:Choice>
              <mc:Fallback>
                <a:r>
                  <a:rPr lang="en-US" sz="992" dirty="0">
                    <a:solidFill>
                      <a:srgbClr val="2D2D2D"/>
                    </a:solidFill>
                    <a:latin typeface="Arial" pitchFamily="34" charset="0"/>
                    <a:ea typeface="Arial" pitchFamily="34" charset="-122"/>
                    <a:cs typeface="Arial" pitchFamily="34" charset="-120"/>
                  </a:rPr>
                  <a:t>λ</a:t>
                </a:r>
              </mc:Fallback>
            </mc:AlternateContent>
            <a:r>
              <a:rPr lang="en-US" sz="992" dirty="0">
                <a:solidFill>
                  <a:srgbClr val="2D2D2D"/>
                </a:solidFill>
                <a:latin typeface="Arial" pitchFamily="34" charset="0"/>
                <a:ea typeface="Arial" pitchFamily="34" charset="-122"/>
                <a:cs typeface="Arial" pitchFamily="34" charset="-120"/>
              </a:rPr>
              <a:t> ≳ 4 m; a c = 150 m/s, sin aliasing hasta 37,5 Hz</a:t>
            </a:r>
            <a:endParaRPr lang="en-US" sz="992" dirty="0"/>
          </a:p>
          <a:p>
            <a:pPr marL="342900" indent="-342900">
              <a:spcAft>
                <a:spcPts val="259"/>
              </a:spcAft>
              <a:buSzPct val="100000"/>
              <a:buChar char="•"/>
            </a:pPr>
            <a:r>
              <a:rPr lang="en-US" sz="992" dirty="0">
                <a:solidFill>
                  <a:srgbClr val="2D2D2D"/>
                </a:solidFill>
                <a:latin typeface="Arial" pitchFamily="34" charset="0"/>
                <a:ea typeface="Arial" pitchFamily="34" charset="-122"/>
                <a:cs typeface="Arial" pitchFamily="34" charset="-120"/>
              </a:rPr>
              <a:t>Con L = 40 m y L ≳ 1,5·λmáx: f ≳ 5,6 Hz a c = 150 m/s</a:t>
            </a:r>
            <a:endParaRPr lang="en-US" sz="992" dirty="0"/>
          </a:p>
          <a:p>
            <a:pPr marL="342900" indent="-342900">
              <a:spcAft>
                <a:spcPts val="259"/>
              </a:spcAft>
              <a:buSzPct val="100000"/>
              <a:buChar char="•"/>
            </a:pPr>
            <a:r>
              <a:rPr lang="en-US" sz="992" dirty="0">
                <a:solidFill>
                  <a:srgbClr val="2D2D2D"/>
                </a:solidFill>
                <a:latin typeface="Arial" pitchFamily="34" charset="0"/>
                <a:ea typeface="Arial" pitchFamily="34" charset="-122"/>
                <a:cs typeface="Arial" pitchFamily="34" charset="-120"/>
              </a:rPr>
              <a:t>Subarreglo de 22 a 42 m (L = 20 m): 8 Hz (</a:t>
            </a:r>
            <mc:AlternateContent xmlns:mc="http://schemas.openxmlformats.org/markup-compatibility/2006">
              <mc:Choice xmlns:a14="http://schemas.microsoft.com/office/drawing/2010/main" Requires="a14">
                <a14:m>
                  <m:oMath xmlns:m="http://schemas.openxmlformats.org/officeDocument/2006/math">
                    <m:r>
                      <a:rPr lang="es-ES" sz="992" i="1">
                        <a:solidFill>
                          <a:srgbClr val="2D2D2D"/>
                        </a:solidFill>
                        <a:latin typeface="Cambria Math" panose="02040503050406030204" pitchFamily="18" charset="0"/>
                      </a:rPr>
                      <m:t xml:space="preserve">λ</m:t>
                    </m:r>
                    <m:r>
                      <m:rPr>
                        <m:sty m:val="p"/>
                      </m:rPr>
                      <a:rPr lang="es-ES" sz="992">
                        <a:solidFill>
                          <a:srgbClr val="2D2D2D"/>
                        </a:solidFill>
                        <a:latin typeface="Cambria Math" panose="02040503050406030204" pitchFamily="18" charset="0"/>
                      </a:rPr>
                      <m:t xml:space="preserve">=</m:t>
                    </m:r>
                    <m:r>
                      <m:rPr>
                        <m:sty m:val="p"/>
                      </m:rPr>
                      <a:rPr lang="es-ES" sz="992">
                        <a:solidFill>
                          <a:srgbClr val="2D2D2D"/>
                        </a:solidFill>
                        <a:latin typeface="Cambria Math" panose="02040503050406030204" pitchFamily="18" charset="0"/>
                      </a:rPr>
                      <m:t xml:space="preserve">21,5</m:t>
                    </m:r>
                  </m:oMath>
                </a14:m>
              </mc:Choice>
              <mc:Fallback>
                <a:r>
                  <a:rPr lang="en-US" sz="992" dirty="0">
                    <a:solidFill>
                      <a:srgbClr val="2D2D2D"/>
                    </a:solidFill>
                    <a:latin typeface="Arial" pitchFamily="34" charset="0"/>
                    <a:ea typeface="Arial" pitchFamily="34" charset="-122"/>
                    <a:cs typeface="Arial" pitchFamily="34" charset="-120"/>
                  </a:rPr>
                  <a:t>λ = 21,5</a:t>
                </a:r>
              </mc:Fallback>
            </mc:AlternateContent>
            <a:r>
              <a:rPr lang="en-US" sz="992" dirty="0">
                <a:solidFill>
                  <a:srgbClr val="2D2D2D"/>
                </a:solidFill>
                <a:latin typeface="Arial" pitchFamily="34" charset="0"/>
                <a:ea typeface="Arial" pitchFamily="34" charset="-122"/>
                <a:cs typeface="Arial" pitchFamily="34" charset="-120"/>
              </a:rPr>
              <a:t> m) ya es comparable con L</a:t>
            </a:r>
            <a:endParaRPr lang="en-US" sz="992" dirty="0"/>
          </a:p>
        </p:txBody>
      </p:sp>
      <p:pic>
        <p:nvPicPr>
          <p:cNvPr id="18" name="Obj [o819]" descr="Plano frecuencia y velocidad de fase: la región válida queda entre la recta de aliasing espacial c igual a 2 Δx f y las rectas de apertura, para Δx de 2 metros y L de 40 metros">    </p:cNvPr>
          <p:cNvPicPr>
            <a:picLocks noChangeAspect="1"/>
          </p:cNvPicPr>
          <p:nvPr/>
        </p:nvPicPr>
        <p:blipFill>
          <a:blip r:embed="rId2"/>
          <a:stretch>
            <a:fillRect/>
          </a:stretch>
        </p:blipFill>
        <p:spPr>
          <a:xfrm>
            <a:off x="3559203" y="1519345"/>
            <a:ext cx="4027765" cy="2661202"/>
          </a:xfrm>
          <a:prstGeom prst="rect">
            <a:avLst/>
          </a:prstGeom>
        </p:spPr>
      </p:pic>
      <p:sp>
        <p:nvSpPr>
          <p:cNvPr id="19" name="Obj [o820]"/>
          <p:cNvSpPr txBox="1"/>
          <p:nvPr/>
        </p:nvSpPr>
        <p:spPr>
          <a:xfrm>
            <a:off x="4775752" y="4203358"/>
            <a:ext cx="2509133"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FIGURA MÍA (CÁLCULO PROPIO)</a:t>
            </a:r>
            <a:endParaRPr lang="en-US" sz="863" dirty="0"/>
          </a:p>
        </p:txBody>
      </p:sp>
      <p:sp>
        <p:nvSpPr>
          <p:cNvPr id="20" name="Obj [o82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02_requerimientos.tex y 04_validacion.tex (atribuye a Foti et al., 2018: L ≳ λmáx y L ≳ 1,5·λmáx; L ≳ 2·λmáx es criterio de la tesis). Cálculos con c = 150 m/s.</a:t>
            </a:r>
            <a:endParaRPr lang="en-US" sz="800" dirty="0"/>
          </a:p>
        </p:txBody>
      </p:sp>
      <p:sp>
        <p:nvSpPr>
          <p:cNvPr id="21" name="Obj [o82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receptor móvil sintetiza el registro; no equivale a un MASW simultáneo</a:t>
            </a:r>
            <a:endParaRPr lang="en-US" sz="1400" dirty="0"/>
          </a:p>
        </p:txBody>
      </p:sp>
      <p:sp>
        <p:nvSpPr>
          <p:cNvPr id="22" name="Obj [o823]"/>
          <p:cNvSpPr/>
          <p:nvPr/>
        </p:nvSpPr>
        <p:spPr>
          <a:xfrm>
            <a:off x="441794" y="1557362"/>
            <a:ext cx="2128962" cy="342155"/>
          </a:xfrm>
          <a:prstGeom prst="rect">
            <a:avLst/>
          </a:prstGeom>
          <a:solidFill>
            <a:srgbClr val="1F4E79"/>
          </a:solidFill>
          <a:ln w="6350">
            <a:solidFill>
              <a:srgbClr val="1F4E79"/>
            </a:solidFill>
            <a:prstDash val="solid"/>
          </a:ln>
        </p:spPr>
      </p:sp>
      <p:sp>
        <p:nvSpPr>
          <p:cNvPr id="23" name="Obj [o824]"/>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Qué se hace</a:t>
            </a:r>
            <a:endParaRPr lang="en-US" sz="1294" dirty="0"/>
          </a:p>
        </p:txBody>
      </p:sp>
      <p:sp>
        <p:nvSpPr>
          <p:cNvPr id="24" name="Obj [o825]"/>
          <p:cNvSpPr/>
          <p:nvPr/>
        </p:nvSpPr>
        <p:spPr>
          <a:xfrm>
            <a:off x="441794" y="1899517"/>
            <a:ext cx="2128962" cy="1938876"/>
          </a:xfrm>
          <a:prstGeom prst="rect">
            <a:avLst/>
          </a:prstGeom>
          <a:solidFill>
            <a:srgbClr val="FFFFFF"/>
          </a:solidFill>
          <a:ln w="15840">
            <a:solidFill>
              <a:srgbClr val="1F4E79"/>
            </a:solidFill>
            <a:prstDash val="solid"/>
          </a:ln>
        </p:spPr>
      </p:sp>
      <p:sp>
        <p:nvSpPr>
          <p:cNvPr id="25" name="Obj [o826]"/>
          <p:cNvSpPr txBox="1"/>
          <p:nvPr/>
        </p:nvSpPr>
        <p:spPr>
          <a:xfrm>
            <a:off x="533036" y="1960344"/>
            <a:ext cx="1946479" cy="1817221"/>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Un nodo GEO recorre la línea</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El HAMMER fijo registra cada impacto</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Se alinea por el HAMMER y se promedia por posición</a:t>
            </a:r>
            <a:endParaRPr lang="en-US" sz="1122" dirty="0"/>
          </a:p>
        </p:txBody>
      </p:sp>
      <p:sp>
        <p:nvSpPr>
          <p:cNvPr id="26" name="Obj [o827]"/>
          <p:cNvSpPr/>
          <p:nvPr/>
        </p:nvSpPr>
        <p:spPr>
          <a:xfrm>
            <a:off x="2798859" y="1557362"/>
            <a:ext cx="2128962" cy="342155"/>
          </a:xfrm>
          <a:prstGeom prst="rect">
            <a:avLst/>
          </a:prstGeom>
          <a:solidFill>
            <a:srgbClr val="2E75B6"/>
          </a:solidFill>
          <a:ln w="6350">
            <a:solidFill>
              <a:srgbClr val="2E75B6"/>
            </a:solidFill>
            <a:prstDash val="solid"/>
          </a:ln>
        </p:spPr>
      </p:sp>
      <p:sp>
        <p:nvSpPr>
          <p:cNvPr id="27" name="Obj [o828]"/>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Qué supone</a:t>
            </a:r>
            <a:endParaRPr lang="en-US" sz="1294" dirty="0"/>
          </a:p>
        </p:txBody>
      </p:sp>
      <p:sp>
        <p:nvSpPr>
          <p:cNvPr id="28" name="Obj [o829]"/>
          <p:cNvSpPr/>
          <p:nvPr/>
        </p:nvSpPr>
        <p:spPr>
          <a:xfrm>
            <a:off x="2798859" y="1899517"/>
            <a:ext cx="2128962" cy="1938876"/>
          </a:xfrm>
          <a:prstGeom prst="rect">
            <a:avLst/>
          </a:prstGeom>
          <a:solidFill>
            <a:srgbClr val="FFFFFF"/>
          </a:solidFill>
          <a:ln w="15840">
            <a:solidFill>
              <a:srgbClr val="2E75B6"/>
            </a:solidFill>
            <a:prstDash val="solid"/>
          </a:ln>
        </p:spPr>
      </p:sp>
      <p:sp>
        <p:nvSpPr>
          <p:cNvPr id="29" name="Obj [o830]"/>
          <p:cNvSpPr txBox="1"/>
          <p:nvPr/>
        </p:nvSpPr>
        <p:spPr>
          <a:xfrm>
            <a:off x="2890100" y="1960344"/>
            <a:ext cx="1946479" cy="1817221"/>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Fuente repetible entre golpes</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Terreno estable durante la campaña</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Posiciones conocidas</a:t>
            </a:r>
            <a:endParaRPr lang="en-US" sz="1122" dirty="0"/>
          </a:p>
        </p:txBody>
      </p:sp>
      <p:sp>
        <p:nvSpPr>
          <p:cNvPr id="30" name="Obj [o831]"/>
          <p:cNvSpPr/>
          <p:nvPr/>
        </p:nvSpPr>
        <p:spPr>
          <a:xfrm>
            <a:off x="5155924" y="1557362"/>
            <a:ext cx="2128962" cy="342155"/>
          </a:xfrm>
          <a:prstGeom prst="rect">
            <a:avLst/>
          </a:prstGeom>
          <a:solidFill>
            <a:srgbClr val="C55A11"/>
          </a:solidFill>
          <a:ln w="6350">
            <a:solidFill>
              <a:srgbClr val="C55A11"/>
            </a:solidFill>
            <a:prstDash val="solid"/>
          </a:ln>
        </p:spPr>
      </p:sp>
      <p:sp>
        <p:nvSpPr>
          <p:cNvPr id="31" name="Obj [o832]"/>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Qué no demuestra</a:t>
            </a:r>
            <a:endParaRPr lang="en-US" sz="1294" dirty="0"/>
          </a:p>
        </p:txBody>
      </p:sp>
      <p:sp>
        <p:nvSpPr>
          <p:cNvPr id="32" name="Obj [o833]"/>
          <p:cNvSpPr/>
          <p:nvPr/>
        </p:nvSpPr>
        <p:spPr>
          <a:xfrm>
            <a:off x="5155924" y="1899517"/>
            <a:ext cx="2128962" cy="1938876"/>
          </a:xfrm>
          <a:prstGeom prst="rect">
            <a:avLst/>
          </a:prstGeom>
          <a:solidFill>
            <a:srgbClr val="FFFFFF"/>
          </a:solidFill>
          <a:ln w="15840">
            <a:solidFill>
              <a:srgbClr val="C55A11"/>
            </a:solidFill>
            <a:prstDash val="solid"/>
          </a:ln>
        </p:spPr>
      </p:sp>
      <p:sp>
        <p:nvSpPr>
          <p:cNvPr id="33" name="Obj [o834]"/>
          <p:cNvSpPr txBox="1"/>
          <p:nvPr/>
        </p:nvSpPr>
        <p:spPr>
          <a:xfrm>
            <a:off x="5247165" y="1960344"/>
            <a:ext cx="1946479" cy="1817221"/>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Captura simultánea de varios canales</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Sincronización entre nodos en campo</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Igual fase y magnitud entre placas</a:t>
            </a:r>
            <a:endParaRPr lang="en-US" sz="1122" dirty="0"/>
          </a:p>
        </p:txBody>
      </p:sp>
      <p:sp>
        <p:nvSpPr>
          <p:cNvPr id="34" name="Obj [o835]"/>
          <p:cNvSpPr/>
          <p:nvPr/>
        </p:nvSpPr>
        <p:spPr>
          <a:xfrm>
            <a:off x="441794" y="3914427"/>
            <a:ext cx="6843091" cy="342155"/>
          </a:xfrm>
          <a:prstGeom prst="rect">
            <a:avLst/>
          </a:prstGeom>
          <a:solidFill>
            <a:srgbClr val="EAF1F8"/>
          </a:solidFill>
          <a:ln w="6350">
            <a:solidFill>
              <a:srgbClr val="EAF1F8"/>
            </a:solidFill>
            <a:prstDash val="solid"/>
          </a:ln>
        </p:spPr>
      </p:sp>
      <p:sp>
        <p:nvSpPr>
          <p:cNvPr id="35" name="Obj [o836]"/>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Lin y Ashlock (2016) fijan el receptor y mueven la fuente; acá es al revés.</a:t>
            </a:r>
            <a:endParaRPr lang="en-US" sz="1208" dirty="0"/>
          </a:p>
        </p:txBody>
      </p:sp>
      <p:sp>
        <p:nvSpPr>
          <p:cNvPr id="36" name="Obj [o83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3 y 4.10; documento de tesis, 04_validacion.tex (Lin y Ashlock, 2016).</a:t>
            </a:r>
            <a:endParaRPr lang="en-US" sz="800" dirty="0"/>
          </a:p>
        </p:txBody>
      </p:sp>
      <p:sp>
        <p:nvSpPr>
          <p:cNvPr id="37" name="Obj [o83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error en la posición de los receptores se paga en velocidad de fase</a:t>
            </a:r>
            <a:endParaRPr lang="en-US" sz="1400" dirty="0"/>
          </a:p>
        </p:txBody>
      </p:sp>
      <p:sp>
        <p:nvSpPr>
          <p:cNvPr id="38" name="Obj [o839]"/>
          <p:cNvSpPr/>
          <p:nvPr/>
        </p:nvSpPr>
        <p:spPr>
          <a:xfrm>
            <a:off x="441794" y="1557362"/>
            <a:ext cx="3269477"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9" name="Obj [o840]"/>
              <p:cNvSpPr txBox="1"/>
              <p:nvPr/>
            </p:nvSpPr>
            <p:spPr>
              <a:xfrm>
                <a:off x="441794" y="1557362"/>
                <a:ext cx="3269477"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δc</m:t>
                          </m:r>
                        </m:num>
                        <m:den>
                          <m:r>
                            <a:rPr lang="es-ES" sz="2400" i="1">
                              <a:solidFill>
                                <a:srgbClr val="1F4E79"/>
                              </a:solidFill>
                              <a:latin typeface="Cambria Math" panose="02040503050406030204" pitchFamily="18" charset="0"/>
                            </a:rPr>
                            <m:t xml:space="preserve">c</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δ(Δx)</m:t>
                          </m:r>
                        </m:num>
                        <m:den>
                          <m:r>
                            <a:rPr lang="es-ES" sz="2400" i="1">
                              <a:solidFill>
                                <a:srgbClr val="1F4E79"/>
                              </a:solidFill>
                              <a:latin typeface="Cambria Math" panose="02040503050406030204" pitchFamily="18" charset="0"/>
                            </a:rPr>
                            <m:t xml:space="preserve">Δx</m:t>
                          </m:r>
                        </m:den>
                      </m:f>
                    </m:oMath>
                  </m:oMathPara>
                </a14:m>
                <a:endParaRPr lang="es-ES"/>
              </a:p>
            </p:txBody>
          </p:sp>
        </mc:Choice>
        <mc:Fallback>
          <p:sp>
            <p:nvSpPr>
              <p:cNvPr id="39" name="Obj [o840]"/>
              <p:cNvSpPr txBox="1"/>
              <p:nvPr/>
            </p:nvSpPr>
            <p:spPr>
              <a:xfrm>
                <a:off x="441794" y="1557362"/>
                <a:ext cx="3269477"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δc/c ≈ δ(Δx)/Δx</a:t>
                </a:r>
                <a:endParaRPr lang="en-US" sz="2071" dirty="0"/>
              </a:p>
            </p:txBody>
          </p:sp>
        </mc:Fallback>
      </mc:AlternateContent>
      <p:sp>
        <p:nvSpPr>
          <p:cNvPr id="40" name="Obj [o841]"/>
          <p:cNvSpPr txBox="1"/>
          <p:nvPr/>
        </p:nvSpPr>
        <p:spPr>
          <a:xfrm>
            <a:off x="441794" y="2355723"/>
            <a:ext cx="3269477"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INFERENCIA PROPIA</a:t>
            </a:r>
            <a:endParaRPr lang="en-US" sz="863" dirty="0"/>
          </a:p>
        </p:txBody>
      </p:sp>
      <p:sp>
        <p:nvSpPr>
          <p:cNvPr id="41" name="Obj [o842]"/>
          <p:cNvSpPr txBox="1"/>
          <p:nvPr/>
        </p:nvSpPr>
        <p:spPr>
          <a:xfrm>
            <a:off x="3939374" y="1557362"/>
            <a:ext cx="3345511" cy="1976893"/>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208" i="1">
                        <a:solidFill>
                          <a:srgbClr val="2D2D2D"/>
                        </a:solidFill>
                        <a:latin typeface="Cambria Math" panose="02040503050406030204" pitchFamily="18" charset="0"/>
                      </a:rPr>
                      <m:t xml:space="preserve">Δ</m:t>
                    </m:r>
                    <m:r>
                      <a:rPr lang="es-ES" sz="1208" i="1">
                        <a:solidFill>
                          <a:srgbClr val="2D2D2D"/>
                        </a:solidFill>
                        <a:latin typeface="Cambria Math" panose="02040503050406030204" pitchFamily="18" charset="0"/>
                      </a:rPr>
                      <m:t xml:space="preserve">x</m:t>
                    </m:r>
                    <m:r>
                      <m:rPr>
                        <m:sty m:val="p"/>
                      </m:rPr>
                      <a:rPr lang="es-ES" sz="1208">
                        <a:solidFill>
                          <a:srgbClr val="2D2D2D"/>
                        </a:solidFill>
                        <a:latin typeface="Cambria Math" panose="02040503050406030204" pitchFamily="18" charset="0"/>
                      </a:rPr>
                      <m:t xml:space="preserve">=</m:t>
                    </m:r>
                    <m:r>
                      <m:rPr>
                        <m:sty m:val="p"/>
                      </m:rPr>
                      <a:rPr lang="es-ES" sz="1208">
                        <a:solidFill>
                          <a:srgbClr val="2D2D2D"/>
                        </a:solidFill>
                        <a:latin typeface="Cambria Math" panose="02040503050406030204" pitchFamily="18" charset="0"/>
                      </a:rPr>
                      <m:t xml:space="preserve">2</m:t>
                    </m:r>
                  </m:oMath>
                </a14:m>
              </mc:Choice>
              <mc:Fallback>
                <a:r>
                  <a:rPr lang="en-US" sz="1208" dirty="0">
                    <a:solidFill>
                      <a:srgbClr val="2D2D2D"/>
                    </a:solidFill>
                    <a:latin typeface="Arial" pitchFamily="34" charset="0"/>
                    <a:ea typeface="Arial" pitchFamily="34" charset="-122"/>
                    <a:cs typeface="Arial" pitchFamily="34" charset="-120"/>
                  </a:rPr>
                  <a:t>Δx = 2</a:t>
                </a:r>
              </mc:Fallback>
            </mc:AlternateContent>
            <a:r>
              <a:rPr lang="en-US" sz="1208" dirty="0">
                <a:solidFill>
                  <a:srgbClr val="2D2D2D"/>
                </a:solidFill>
                <a:latin typeface="Arial" pitchFamily="34" charset="0"/>
                <a:ea typeface="Arial" pitchFamily="34" charset="-122"/>
                <a:cs typeface="Arial" pitchFamily="34" charset="-120"/>
              </a:rPr>
              <a:t> m, un error de 10 cm es un 5 % en c</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Un error aleatorio se promedia al ajustar 21 posiciones; uno sistemático, como una cinta mal calibrada, no</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Hoy las posiciones se miden con cinta y se anotan a mano; no se conservaron coordenadas ni azimut</a:t>
            </a:r>
            <a:endParaRPr lang="en-US" sz="1208" dirty="0"/>
          </a:p>
        </p:txBody>
      </p:sp>
      <p:sp>
        <p:nvSpPr>
          <p:cNvPr id="42" name="Obj [o843]"/>
          <p:cNvSpPr/>
          <p:nvPr/>
        </p:nvSpPr>
        <p:spPr>
          <a:xfrm>
            <a:off x="441794" y="2735895"/>
            <a:ext cx="3269477" cy="304137"/>
          </a:xfrm>
          <a:prstGeom prst="rect">
            <a:avLst/>
          </a:prstGeom>
          <a:solidFill>
            <a:srgbClr val="2E75B6"/>
          </a:solidFill>
          <a:ln w="6350">
            <a:solidFill>
              <a:srgbClr val="2E75B6"/>
            </a:solidFill>
            <a:prstDash val="solid"/>
          </a:ln>
        </p:spPr>
      </p:sp>
      <p:sp>
        <p:nvSpPr>
          <p:cNvPr id="43" name="Obj [o844]"/>
          <p:cNvSpPr txBox="1"/>
          <p:nvPr/>
        </p:nvSpPr>
        <p:spPr>
          <a:xfrm>
            <a:off x="479812" y="2735895"/>
            <a:ext cx="3193443" cy="304137"/>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Para verificarlo</a:t>
            </a:r>
            <a:endParaRPr lang="en-US" sz="1208" dirty="0"/>
          </a:p>
        </p:txBody>
      </p:sp>
      <p:sp>
        <p:nvSpPr>
          <p:cNvPr id="44" name="Obj [o845]"/>
          <p:cNvSpPr/>
          <p:nvPr/>
        </p:nvSpPr>
        <p:spPr>
          <a:xfrm>
            <a:off x="441794" y="3040032"/>
            <a:ext cx="3269477" cy="760343"/>
          </a:xfrm>
          <a:prstGeom prst="rect">
            <a:avLst/>
          </a:prstGeom>
          <a:solidFill>
            <a:srgbClr val="FFFFFF"/>
          </a:solidFill>
          <a:ln w="15840">
            <a:solidFill>
              <a:srgbClr val="2E75B6"/>
            </a:solidFill>
            <a:prstDash val="solid"/>
          </a:ln>
        </p:spPr>
      </p:sp>
      <p:sp>
        <p:nvSpPr>
          <p:cNvPr id="45" name="Obj [o846]"/>
          <p:cNvSpPr txBox="1"/>
          <p:nvPr/>
        </p:nvSpPr>
        <p:spPr>
          <a:xfrm>
            <a:off x="533036" y="3100860"/>
            <a:ext cx="3086995" cy="638689"/>
          </a:xfrm>
          <a:prstGeom prst="rect">
            <a:avLst/>
          </a:prstGeom>
          <a:noFill/>
          <a:ln/>
        </p:spPr>
        <p:txBody>
          <a:bodyPr wrap="square" lIns="0" tIns="0" rIns="0" bIns="0" rtlCol="0" anchor="t"/>
          <a:lstStyle/>
          <a:p>
            <a:pPr algn="l" indent="0" marL="0">
              <a:buNone/>
            </a:pPr>
            <a:r>
              <a:rPr lang="en-US" sz="1078" dirty="0">
                <a:solidFill>
                  <a:srgbClr val="2D2D2D"/>
                </a:solidFill>
                <a:latin typeface="Arial" pitchFamily="34" charset="0"/>
                <a:ea typeface="Arial" pitchFamily="34" charset="-122"/>
                <a:cs typeface="Arial" pitchFamily="34" charset="-120"/>
              </a:rPr>
              <a:t>Medir las posiciones con cinta y con otro método, tres veces, y propagar la incertidumbre a la curva de dispersión</a:t>
            </a:r>
            <a:endParaRPr lang="en-US" sz="1078" dirty="0"/>
          </a:p>
        </p:txBody>
      </p:sp>
      <p:sp>
        <p:nvSpPr>
          <p:cNvPr id="46" name="Obj [o847]"/>
          <p:cNvSpPr/>
          <p:nvPr/>
        </p:nvSpPr>
        <p:spPr>
          <a:xfrm>
            <a:off x="441794" y="3914427"/>
            <a:ext cx="6843091" cy="342155"/>
          </a:xfrm>
          <a:prstGeom prst="rect">
            <a:avLst/>
          </a:prstGeom>
          <a:solidFill>
            <a:srgbClr val="EAF1F8"/>
          </a:solidFill>
          <a:ln w="6350">
            <a:solidFill>
              <a:srgbClr val="EAF1F8"/>
            </a:solidFill>
            <a:prstDash val="solid"/>
          </a:ln>
        </p:spPr>
      </p:sp>
      <p:sp>
        <p:nvSpPr>
          <p:cNvPr id="47" name="Obj [o848]"/>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Antes de invertir un perfil hay que declarar la incertidumbre de la geometría.</a:t>
            </a:r>
            <a:endParaRPr lang="en-US" sz="1208" dirty="0"/>
          </a:p>
        </p:txBody>
      </p:sp>
      <p:sp>
        <p:nvSpPr>
          <p:cNvPr id="48" name="Obj [o84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Relación SASW: documento de tesis, 01_contexto.tex (c = 2πfΔx/Δφ); campaña: 04_validacion.tex y sec. de limitaciones. Propagación: derivación propia.</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22" presetClass="entr" presetSubtype="8"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par>
                                <p:cTn id="19" presetID="22" presetClass="entr" presetSubtype="8" fill="hold" nodeType="withEffect">
                                  <p:stCondLst>
                                    <p:cond delay="48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par>
                                <p:cTn id="22" presetID="10" presetClass="entr" presetSubtype="0" grpId="0" fill="hold" nodeType="withEffect">
                                  <p:stCondLst>
                                    <p:cond delay="550"/>
                                  </p:stCondLst>
                                  <p:childTnLst>
                                    <p:set>
                                      <p:cBhvr>
                                        <p:cTn id="23" dur="1" fill="hold">
                                          <p:stCondLst>
                                            <p:cond delay="0"/>
                                          </p:stCondLst>
                                        </p:cTn>
                                        <p:tgtEl>
                                          <p:spTgt spid="8">
                                            <p:txEl>
                                              <p:pRg st="0" end="0"/>
                                            </p:txEl>
                                          </p:spTgt>
                                        </p:tgtEl>
                                        <p:attrNameLst>
                                          <p:attrName>style.visibility</p:attrName>
                                        </p:attrNameLst>
                                      </p:cBhvr>
                                      <p:to>
                                        <p:strVal val="visible"/>
                                      </p:to>
                                    </p:set>
                                    <p:animEffect transition="in" filter="fade">
                                      <p:cBhvr>
                                        <p:cTn id="24" dur="450"/>
                                        <p:tgtEl>
                                          <p:spTgt spid="8">
                                            <p:txEl>
                                              <p:pRg st="0" end="0"/>
                                            </p:txEl>
                                          </p:spTgt>
                                        </p:tgtEl>
                                      </p:cBhvr>
                                    </p:animEffect>
                                  </p:childTnLst>
                                </p:cTn>
                              </p:par>
                              <p:par>
                                <p:cTn id="25" presetID="10" presetClass="entr" presetSubtype="0" grpId="0" fill="hold" nodeType="withEffect">
                                  <p:stCondLst>
                                    <p:cond delay="93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fade">
                                      <p:cBhvr>
                                        <p:cTn id="27" dur="450"/>
                                        <p:tgtEl>
                                          <p:spTgt spid="8">
                                            <p:txEl>
                                              <p:pRg st="1" end="1"/>
                                            </p:txEl>
                                          </p:spTgt>
                                        </p:tgtEl>
                                      </p:cBhvr>
                                    </p:animEffect>
                                  </p:childTnLst>
                                </p:cTn>
                              </p:par>
                              <p:par>
                                <p:cTn id="28" presetID="10" presetClass="entr" presetSubtype="0" fill="hold" nodeType="withEffect">
                                  <p:stCondLst>
                                    <p:cond delay="4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5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350"/>
                                        <p:tgtEl>
                                          <p:spTgt spid="3"/>
                                        </p:tgtEl>
                                      </p:cBhvr>
                                    </p:animEffect>
                                    <p:set>
                                      <p:cBhvr>
                                        <p:cTn id="35" dur="1" fill="hold">
                                          <p:stCondLst>
                                            <p:cond delay="349"/>
                                          </p:stCondLst>
                                        </p:cTn>
                                        <p:tgtEl>
                                          <p:spTgt spid="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350"/>
                                        <p:tgtEl>
                                          <p:spTgt spid="5"/>
                                        </p:tgtEl>
                                      </p:cBhvr>
                                    </p:animEffect>
                                    <p:set>
                                      <p:cBhvr>
                                        <p:cTn id="38" dur="1" fill="hold">
                                          <p:stCondLst>
                                            <p:cond delay="349"/>
                                          </p:stCondLst>
                                        </p:cTn>
                                        <p:tgtEl>
                                          <p:spTgt spid="5"/>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350"/>
                                        <p:tgtEl>
                                          <p:spTgt spid="7"/>
                                        </p:tgtEl>
                                      </p:cBhvr>
                                    </p:animEffect>
                                    <p:set>
                                      <p:cBhvr>
                                        <p:cTn id="44" dur="1" fill="hold">
                                          <p:stCondLst>
                                            <p:cond delay="349"/>
                                          </p:stCondLst>
                                        </p:cTn>
                                        <p:tgtEl>
                                          <p:spTgt spid="7"/>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350"/>
                                        <p:tgtEl>
                                          <p:spTgt spid="8">
                                            <p:txEl>
                                              <p:pRg st="0" end="0"/>
                                            </p:txEl>
                                          </p:spTgt>
                                        </p:tgtEl>
                                      </p:cBhvr>
                                    </p:animEffect>
                                    <p:set>
                                      <p:cBhvr>
                                        <p:cTn id="47" dur="1" fill="hold">
                                          <p:stCondLst>
                                            <p:cond delay="349"/>
                                          </p:stCondLst>
                                        </p:cTn>
                                        <p:tgtEl>
                                          <p:spTgt spid="8">
                                            <p:txEl>
                                              <p:pRg st="0" end="0"/>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350"/>
                                        <p:tgtEl>
                                          <p:spTgt spid="8">
                                            <p:txEl>
                                              <p:pRg st="1" end="1"/>
                                            </p:txEl>
                                          </p:spTgt>
                                        </p:tgtEl>
                                      </p:cBhvr>
                                    </p:animEffect>
                                    <p:set>
                                      <p:cBhvr>
                                        <p:cTn id="50" dur="1" fill="hold">
                                          <p:stCondLst>
                                            <p:cond delay="349"/>
                                          </p:stCondLst>
                                        </p:cTn>
                                        <p:tgtEl>
                                          <p:spTgt spid="8">
                                            <p:txEl>
                                              <p:pRg st="1" end="1"/>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9"/>
                                        </p:tgtEl>
                                      </p:cBhvr>
                                    </p:animEffect>
                                    <p:set>
                                      <p:cBhvr>
                                        <p:cTn id="53" dur="1" fill="hold">
                                          <p:stCondLst>
                                            <p:cond delay="349"/>
                                          </p:stCondLst>
                                        </p:cTn>
                                        <p:tgtEl>
                                          <p:spTgt spid="9"/>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39250 -0.13811 E" pathEditMode="relative" rAng="0" ptsTypes="AA">
                                      <p:cBhvr>
                                        <p:cTn id="55" dur="750" fill="hold"/>
                                        <p:tgtEl>
                                          <p:spTgt spid="4"/>
                                        </p:tgtEl>
                                        <p:attrNameLst>
                                          <p:attrName>ppt_x</p:attrName>
                                          <p:attrName>ppt_y</p:attrName>
                                        </p:attrNameLst>
                                      </p:cBhvr>
                                      <p:rCtr x="19625" y="-6905"/>
                                    </p:animMotion>
                                  </p:childTnLst>
                                </p:cTn>
                              </p:par>
                              <p:par>
                                <p:cTn id="56" presetID="6" presetClass="emph" presetSubtype="0" accel="50000" decel="50000" fill="hold" nodeType="withEffect">
                                  <p:stCondLst>
                                    <p:cond delay="0"/>
                                  </p:stCondLst>
                                  <p:childTnLst>
                                    <p:animScale>
                                      <p:cBhvr>
                                        <p:cTn id="57" dur="750" fill="hold"/>
                                        <p:tgtEl>
                                          <p:spTgt spid="4"/>
                                        </p:tgtEl>
                                      </p:cBhvr>
                                      <p:by x="17913" y="17913"/>
                                    </p:animScale>
                                  </p:childTnLst>
                                </p:cTn>
                              </p:par>
                              <p:par>
                                <p:cTn id="58" presetID="10" presetClass="entr" presetSubtype="0" fill="hold" nodeType="withEffect">
                                  <p:stCondLst>
                                    <p:cond delay="45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450"/>
                                        <p:tgtEl>
                                          <p:spTgt spid="10"/>
                                        </p:tgtEl>
                                      </p:cBhvr>
                                    </p:animEffect>
                                  </p:childTnLst>
                                </p:cTn>
                              </p:par>
                              <p:par>
                                <p:cTn id="61" presetID="53" presetClass="entr" presetSubtype="16" fill="hold" nodeType="withEffect">
                                  <p:stCondLst>
                                    <p:cond delay="520"/>
                                  </p:stCondLst>
                                  <p:childTnLst>
                                    <p:set>
                                      <p:cBhvr>
                                        <p:cTn id="62" dur="1" fill="hold">
                                          <p:stCondLst>
                                            <p:cond delay="0"/>
                                          </p:stCondLst>
                                        </p:cTn>
                                        <p:tgtEl>
                                          <p:spTgt spid="18"/>
                                        </p:tgtEl>
                                        <p:attrNameLst>
                                          <p:attrName>style.visibility</p:attrName>
                                        </p:attrNameLst>
                                      </p:cBhvr>
                                      <p:to>
                                        <p:strVal val="visible"/>
                                      </p:to>
                                    </p:set>
                                    <p:anim calcmode="lin" valueType="num">
                                      <p:cBhvr>
                                        <p:cTn id="63" dur="600" fill="hold"/>
                                        <p:tgtEl>
                                          <p:spTgt spid="18"/>
                                        </p:tgtEl>
                                        <p:attrNameLst>
                                          <p:attrName>ppt_w</p:attrName>
                                        </p:attrNameLst>
                                      </p:cBhvr>
                                      <p:tavLst>
                                        <p:tav tm="0">
                                          <p:val>
                                            <p:fltVal val="0"/>
                                          </p:val>
                                        </p:tav>
                                        <p:tav tm="100000">
                                          <p:val>
                                            <p:strVal val="#ppt_w"/>
                                          </p:val>
                                        </p:tav>
                                      </p:tavLst>
                                    </p:anim>
                                    <p:anim calcmode="lin" valueType="num">
                                      <p:cBhvr>
                                        <p:cTn id="64" dur="600" fill="hold"/>
                                        <p:tgtEl>
                                          <p:spTgt spid="18"/>
                                        </p:tgtEl>
                                        <p:attrNameLst>
                                          <p:attrName>ppt_h</p:attrName>
                                        </p:attrNameLst>
                                      </p:cBhvr>
                                      <p:tavLst>
                                        <p:tav tm="0">
                                          <p:val>
                                            <p:fltVal val="0"/>
                                          </p:val>
                                        </p:tav>
                                        <p:tav tm="100000">
                                          <p:val>
                                            <p:strVal val="#ppt_h"/>
                                          </p:val>
                                        </p:tav>
                                      </p:tavLst>
                                    </p:anim>
                                    <p:animEffect transition="in" filter="fade">
                                      <p:cBhvr>
                                        <p:cTn id="65" dur="600"/>
                                        <p:tgtEl>
                                          <p:spTgt spid="18"/>
                                        </p:tgtEl>
                                      </p:cBhvr>
                                    </p:animEffect>
                                  </p:childTnLst>
                                </p:cTn>
                              </p:par>
                              <p:par>
                                <p:cTn id="66" presetID="10" presetClass="entr" presetSubtype="0" fill="hold" nodeType="withEffect">
                                  <p:stCondLst>
                                    <p:cond delay="59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450"/>
                                        <p:tgtEl>
                                          <p:spTgt spid="11"/>
                                        </p:tgtEl>
                                      </p:cBhvr>
                                    </p:animEffect>
                                  </p:childTnLst>
                                </p:cTn>
                              </p:par>
                              <p:par>
                                <p:cTn id="69" presetID="22" presetClass="entr" presetSubtype="4" fill="hold" nodeType="withEffect">
                                  <p:stCondLst>
                                    <p:cond delay="590"/>
                                  </p:stCondLst>
                                  <p:childTnLst>
                                    <p:set>
                                      <p:cBhvr>
                                        <p:cTn id="70" dur="1" fill="hold">
                                          <p:stCondLst>
                                            <p:cond delay="0"/>
                                          </p:stCondLst>
                                        </p:cTn>
                                        <p:tgtEl>
                                          <p:spTgt spid="12"/>
                                        </p:tgtEl>
                                        <p:attrNameLst>
                                          <p:attrName>style.visibility</p:attrName>
                                        </p:attrNameLst>
                                      </p:cBhvr>
                                      <p:to>
                                        <p:strVal val="visible"/>
                                      </p:to>
                                    </p:set>
                                    <p:animEffect transition="in" filter="wipe(down)">
                                      <p:cBhvr>
                                        <p:cTn id="71" dur="500"/>
                                        <p:tgtEl>
                                          <p:spTgt spid="12"/>
                                        </p:tgtEl>
                                      </p:cBhvr>
                                    </p:animEffect>
                                  </p:childTnLst>
                                </p:cTn>
                              </p:par>
                              <p:par>
                                <p:cTn id="72" presetID="22" presetClass="entr" presetSubtype="4" fill="hold" nodeType="withEffect">
                                  <p:stCondLst>
                                    <p:cond delay="660"/>
                                  </p:stCondLst>
                                  <p:childTnLst>
                                    <p:set>
                                      <p:cBhvr>
                                        <p:cTn id="73" dur="1" fill="hold">
                                          <p:stCondLst>
                                            <p:cond delay="0"/>
                                          </p:stCondLst>
                                        </p:cTn>
                                        <p:tgtEl>
                                          <p:spTgt spid="13"/>
                                        </p:tgtEl>
                                        <p:attrNameLst>
                                          <p:attrName>style.visibility</p:attrName>
                                        </p:attrNameLst>
                                      </p:cBhvr>
                                      <p:to>
                                        <p:strVal val="visible"/>
                                      </p:to>
                                    </p:set>
                                    <p:animEffect transition="in" filter="wipe(down)">
                                      <p:cBhvr>
                                        <p:cTn id="74" dur="500"/>
                                        <p:tgtEl>
                                          <p:spTgt spid="13"/>
                                        </p:tgtEl>
                                      </p:cBhvr>
                                    </p:animEffect>
                                  </p:childTnLst>
                                </p:cTn>
                              </p:par>
                              <p:par>
                                <p:cTn id="75" presetID="10" presetClass="entr" presetSubtype="0" fill="hold" nodeType="withEffect">
                                  <p:stCondLst>
                                    <p:cond delay="73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450"/>
                                        <p:tgtEl>
                                          <p:spTgt spid="14"/>
                                        </p:tgtEl>
                                      </p:cBhvr>
                                    </p:animEffect>
                                  </p:childTnLst>
                                </p:cTn>
                              </p:par>
                              <p:par>
                                <p:cTn id="78" presetID="22" presetClass="entr" presetSubtype="4" fill="hold" nodeType="withEffect">
                                  <p:stCondLst>
                                    <p:cond delay="730"/>
                                  </p:stCondLst>
                                  <p:childTnLst>
                                    <p:set>
                                      <p:cBhvr>
                                        <p:cTn id="79" dur="1" fill="hold">
                                          <p:stCondLst>
                                            <p:cond delay="0"/>
                                          </p:stCondLst>
                                        </p:cTn>
                                        <p:tgtEl>
                                          <p:spTgt spid="15"/>
                                        </p:tgtEl>
                                        <p:attrNameLst>
                                          <p:attrName>style.visibility</p:attrName>
                                        </p:attrNameLst>
                                      </p:cBhvr>
                                      <p:to>
                                        <p:strVal val="visible"/>
                                      </p:to>
                                    </p:set>
                                    <p:animEffect transition="in" filter="wipe(down)">
                                      <p:cBhvr>
                                        <p:cTn id="80" dur="500"/>
                                        <p:tgtEl>
                                          <p:spTgt spid="15"/>
                                        </p:tgtEl>
                                      </p:cBhvr>
                                    </p:animEffect>
                                  </p:childTnLst>
                                </p:cTn>
                              </p:par>
                              <p:par>
                                <p:cTn id="81" presetID="22" presetClass="entr" presetSubtype="4" fill="hold" nodeType="withEffect">
                                  <p:stCondLst>
                                    <p:cond delay="800"/>
                                  </p:stCondLst>
                                  <p:childTnLst>
                                    <p:set>
                                      <p:cBhvr>
                                        <p:cTn id="82" dur="1" fill="hold">
                                          <p:stCondLst>
                                            <p:cond delay="0"/>
                                          </p:stCondLst>
                                        </p:cTn>
                                        <p:tgtEl>
                                          <p:spTgt spid="16"/>
                                        </p:tgtEl>
                                        <p:attrNameLst>
                                          <p:attrName>style.visibility</p:attrName>
                                        </p:attrNameLst>
                                      </p:cBhvr>
                                      <p:to>
                                        <p:strVal val="visible"/>
                                      </p:to>
                                    </p:set>
                                    <p:animEffect transition="in" filter="wipe(down)">
                                      <p:cBhvr>
                                        <p:cTn id="83" dur="500"/>
                                        <p:tgtEl>
                                          <p:spTgt spid="16"/>
                                        </p:tgtEl>
                                      </p:cBhvr>
                                    </p:animEffect>
                                  </p:childTnLst>
                                </p:cTn>
                              </p:par>
                              <p:par>
                                <p:cTn id="84" presetID="10" presetClass="entr" presetSubtype="0" grpId="0" fill="hold" nodeType="withEffect">
                                  <p:stCondLst>
                                    <p:cond delay="870"/>
                                  </p:stCondLst>
                                  <p:childTnLst>
                                    <p:set>
                                      <p:cBhvr>
                                        <p:cTn id="85" dur="1" fill="hold">
                                          <p:stCondLst>
                                            <p:cond delay="0"/>
                                          </p:stCondLst>
                                        </p:cTn>
                                        <p:tgtEl>
                                          <p:spTgt spid="17">
                                            <p:txEl>
                                              <p:pRg st="0" end="0"/>
                                            </p:txEl>
                                          </p:spTgt>
                                        </p:tgtEl>
                                        <p:attrNameLst>
                                          <p:attrName>style.visibility</p:attrName>
                                        </p:attrNameLst>
                                      </p:cBhvr>
                                      <p:to>
                                        <p:strVal val="visible"/>
                                      </p:to>
                                    </p:set>
                                    <p:animEffect transition="in" filter="fade">
                                      <p:cBhvr>
                                        <p:cTn id="86" dur="450"/>
                                        <p:tgtEl>
                                          <p:spTgt spid="17">
                                            <p:txEl>
                                              <p:pRg st="0" end="0"/>
                                            </p:txEl>
                                          </p:spTgt>
                                        </p:tgtEl>
                                      </p:cBhvr>
                                    </p:animEffect>
                                  </p:childTnLst>
                                </p:cTn>
                              </p:par>
                              <p:par>
                                <p:cTn id="87" presetID="10" presetClass="entr" presetSubtype="0" grpId="0" fill="hold" nodeType="withEffect">
                                  <p:stCondLst>
                                    <p:cond delay="1250"/>
                                  </p:stCondLst>
                                  <p:childTnLst>
                                    <p:set>
                                      <p:cBhvr>
                                        <p:cTn id="88" dur="1" fill="hold">
                                          <p:stCondLst>
                                            <p:cond delay="0"/>
                                          </p:stCondLst>
                                        </p:cTn>
                                        <p:tgtEl>
                                          <p:spTgt spid="17">
                                            <p:txEl>
                                              <p:pRg st="1" end="1"/>
                                            </p:txEl>
                                          </p:spTgt>
                                        </p:tgtEl>
                                        <p:attrNameLst>
                                          <p:attrName>style.visibility</p:attrName>
                                        </p:attrNameLst>
                                      </p:cBhvr>
                                      <p:to>
                                        <p:strVal val="visible"/>
                                      </p:to>
                                    </p:set>
                                    <p:animEffect transition="in" filter="fade">
                                      <p:cBhvr>
                                        <p:cTn id="89" dur="450"/>
                                        <p:tgtEl>
                                          <p:spTgt spid="17">
                                            <p:txEl>
                                              <p:pRg st="1" end="1"/>
                                            </p:txEl>
                                          </p:spTgt>
                                        </p:tgtEl>
                                      </p:cBhvr>
                                    </p:animEffect>
                                  </p:childTnLst>
                                </p:cTn>
                              </p:par>
                              <p:par>
                                <p:cTn id="90" presetID="10" presetClass="entr" presetSubtype="0" grpId="0" fill="hold" nodeType="withEffect">
                                  <p:stCondLst>
                                    <p:cond delay="1630"/>
                                  </p:stCondLst>
                                  <p:childTnLst>
                                    <p:set>
                                      <p:cBhvr>
                                        <p:cTn id="91" dur="1" fill="hold">
                                          <p:stCondLst>
                                            <p:cond delay="0"/>
                                          </p:stCondLst>
                                        </p:cTn>
                                        <p:tgtEl>
                                          <p:spTgt spid="17">
                                            <p:txEl>
                                              <p:pRg st="2" end="2"/>
                                            </p:txEl>
                                          </p:spTgt>
                                        </p:tgtEl>
                                        <p:attrNameLst>
                                          <p:attrName>style.visibility</p:attrName>
                                        </p:attrNameLst>
                                      </p:cBhvr>
                                      <p:to>
                                        <p:strVal val="visible"/>
                                      </p:to>
                                    </p:set>
                                    <p:animEffect transition="in" filter="fade">
                                      <p:cBhvr>
                                        <p:cTn id="92" dur="450"/>
                                        <p:tgtEl>
                                          <p:spTgt spid="17">
                                            <p:txEl>
                                              <p:pRg st="2" end="2"/>
                                            </p:txEl>
                                          </p:spTgt>
                                        </p:tgtEl>
                                      </p:cBhvr>
                                    </p:animEffect>
                                  </p:childTnLst>
                                </p:cTn>
                              </p:par>
                              <p:par>
                                <p:cTn id="93" presetID="22" presetClass="entr" presetSubtype="4" fill="hold" nodeType="withEffect">
                                  <p:stCondLst>
                                    <p:cond delay="940"/>
                                  </p:stCondLst>
                                  <p:childTnLst>
                                    <p:set>
                                      <p:cBhvr>
                                        <p:cTn id="94" dur="1" fill="hold">
                                          <p:stCondLst>
                                            <p:cond delay="0"/>
                                          </p:stCondLst>
                                        </p:cTn>
                                        <p:tgtEl>
                                          <p:spTgt spid="19"/>
                                        </p:tgtEl>
                                        <p:attrNameLst>
                                          <p:attrName>style.visibility</p:attrName>
                                        </p:attrNameLst>
                                      </p:cBhvr>
                                      <p:to>
                                        <p:strVal val="visible"/>
                                      </p:to>
                                    </p:set>
                                    <p:animEffect transition="in" filter="wipe(down)">
                                      <p:cBhvr>
                                        <p:cTn id="95" dur="500"/>
                                        <p:tgtEl>
                                          <p:spTgt spid="19"/>
                                        </p:tgtEl>
                                      </p:cBhvr>
                                    </p:animEffect>
                                  </p:childTnLst>
                                </p:cTn>
                              </p:par>
                              <p:par>
                                <p:cTn id="96" presetID="10" presetClass="entr" presetSubtype="0" fill="hold" nodeType="withEffect">
                                  <p:stCondLst>
                                    <p:cond delay="580"/>
                                  </p:stCondLst>
                                  <p:childTnLst>
                                    <p:set>
                                      <p:cBhvr>
                                        <p:cTn id="97" dur="1" fill="hold">
                                          <p:stCondLst>
                                            <p:cond delay="0"/>
                                          </p:stCondLst>
                                        </p:cTn>
                                        <p:tgtEl>
                                          <p:spTgt spid="20"/>
                                        </p:tgtEl>
                                        <p:attrNameLst>
                                          <p:attrName>style.visibility</p:attrName>
                                        </p:attrNameLst>
                                      </p:cBhvr>
                                      <p:to>
                                        <p:strVal val="visible"/>
                                      </p:to>
                                    </p:set>
                                    <p:animEffect transition="in" filter="fade">
                                      <p:cBhvr>
                                        <p:cTn id="98" dur="450"/>
                                        <p:tgtEl>
                                          <p:spTgt spid="20"/>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nodeType="clickEffect">
                                  <p:stCondLst>
                                    <p:cond delay="0"/>
                                  </p:stCondLst>
                                  <p:childTnLst>
                                    <p:animEffect transition="out" filter="fade">
                                      <p:cBhvr>
                                        <p:cTn id="102" dur="350"/>
                                        <p:tgtEl>
                                          <p:spTgt spid="10"/>
                                        </p:tgtEl>
                                      </p:cBhvr>
                                    </p:animEffect>
                                    <p:set>
                                      <p:cBhvr>
                                        <p:cTn id="103" dur="1" fill="hold">
                                          <p:stCondLst>
                                            <p:cond delay="349"/>
                                          </p:stCondLst>
                                        </p:cTn>
                                        <p:tgtEl>
                                          <p:spTgt spid="10"/>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350"/>
                                        <p:tgtEl>
                                          <p:spTgt spid="11"/>
                                        </p:tgtEl>
                                      </p:cBhvr>
                                    </p:animEffect>
                                    <p:set>
                                      <p:cBhvr>
                                        <p:cTn id="106" dur="1" fill="hold">
                                          <p:stCondLst>
                                            <p:cond delay="349"/>
                                          </p:stCondLst>
                                        </p:cTn>
                                        <p:tgtEl>
                                          <p:spTgt spid="11"/>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350"/>
                                        <p:tgtEl>
                                          <p:spTgt spid="12"/>
                                        </p:tgtEl>
                                      </p:cBhvr>
                                    </p:animEffect>
                                    <p:set>
                                      <p:cBhvr>
                                        <p:cTn id="109" dur="1" fill="hold">
                                          <p:stCondLst>
                                            <p:cond delay="349"/>
                                          </p:stCondLst>
                                        </p:cTn>
                                        <p:tgtEl>
                                          <p:spTgt spid="12"/>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350"/>
                                        <p:tgtEl>
                                          <p:spTgt spid="13"/>
                                        </p:tgtEl>
                                      </p:cBhvr>
                                    </p:animEffect>
                                    <p:set>
                                      <p:cBhvr>
                                        <p:cTn id="112" dur="1" fill="hold">
                                          <p:stCondLst>
                                            <p:cond delay="349"/>
                                          </p:stCondLst>
                                        </p:cTn>
                                        <p:tgtEl>
                                          <p:spTgt spid="13"/>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4"/>
                                        </p:tgtEl>
                                      </p:cBhvr>
                                    </p:animEffect>
                                    <p:set>
                                      <p:cBhvr>
                                        <p:cTn id="115" dur="1" fill="hold">
                                          <p:stCondLst>
                                            <p:cond delay="349"/>
                                          </p:stCondLst>
                                        </p:cTn>
                                        <p:tgtEl>
                                          <p:spTgt spid="14"/>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5"/>
                                        </p:tgtEl>
                                      </p:cBhvr>
                                    </p:animEffect>
                                    <p:set>
                                      <p:cBhvr>
                                        <p:cTn id="118" dur="1" fill="hold">
                                          <p:stCondLst>
                                            <p:cond delay="349"/>
                                          </p:stCondLst>
                                        </p:cTn>
                                        <p:tgtEl>
                                          <p:spTgt spid="15"/>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350"/>
                                        <p:tgtEl>
                                          <p:spTgt spid="16"/>
                                        </p:tgtEl>
                                      </p:cBhvr>
                                    </p:animEffect>
                                    <p:set>
                                      <p:cBhvr>
                                        <p:cTn id="121" dur="1" fill="hold">
                                          <p:stCondLst>
                                            <p:cond delay="349"/>
                                          </p:stCondLst>
                                        </p:cTn>
                                        <p:tgtEl>
                                          <p:spTgt spid="16"/>
                                        </p:tgtEl>
                                        <p:attrNameLst>
                                          <p:attrName>style.visibility</p:attrName>
                                        </p:attrNameLst>
                                      </p:cBhvr>
                                      <p:to>
                                        <p:strVal val="hidden"/>
                                      </p:to>
                                    </p:set>
                                  </p:childTnLst>
                                </p:cTn>
                              </p:par>
                              <p:par>
                                <p:cTn id="122" presetID="10" presetClass="exit" presetSubtype="0" grpId="0" fill="hold" nodeType="withEffect">
                                  <p:stCondLst>
                                    <p:cond delay="0"/>
                                  </p:stCondLst>
                                  <p:childTnLst>
                                    <p:animEffect transition="out" filter="fade">
                                      <p:cBhvr>
                                        <p:cTn id="123" dur="350"/>
                                        <p:tgtEl>
                                          <p:spTgt spid="17">
                                            <p:txEl>
                                              <p:pRg st="0" end="0"/>
                                            </p:txEl>
                                          </p:spTgt>
                                        </p:tgtEl>
                                      </p:cBhvr>
                                    </p:animEffect>
                                    <p:set>
                                      <p:cBhvr>
                                        <p:cTn id="124" dur="1" fill="hold">
                                          <p:stCondLst>
                                            <p:cond delay="349"/>
                                          </p:stCondLst>
                                        </p:cTn>
                                        <p:tgtEl>
                                          <p:spTgt spid="17">
                                            <p:txEl>
                                              <p:pRg st="0" end="0"/>
                                            </p:txEl>
                                          </p:spTgt>
                                        </p:tgtEl>
                                        <p:attrNameLst>
                                          <p:attrName>style.visibility</p:attrName>
                                        </p:attrNameLst>
                                      </p:cBhvr>
                                      <p:to>
                                        <p:strVal val="hidden"/>
                                      </p:to>
                                    </p:set>
                                  </p:childTnLst>
                                </p:cTn>
                              </p:par>
                              <p:par>
                                <p:cTn id="125" presetID="10" presetClass="exit" presetSubtype="0" grpId="0" fill="hold" nodeType="withEffect">
                                  <p:stCondLst>
                                    <p:cond delay="0"/>
                                  </p:stCondLst>
                                  <p:childTnLst>
                                    <p:animEffect transition="out" filter="fade">
                                      <p:cBhvr>
                                        <p:cTn id="126" dur="350"/>
                                        <p:tgtEl>
                                          <p:spTgt spid="17">
                                            <p:txEl>
                                              <p:pRg st="1" end="1"/>
                                            </p:txEl>
                                          </p:spTgt>
                                        </p:tgtEl>
                                      </p:cBhvr>
                                    </p:animEffect>
                                    <p:set>
                                      <p:cBhvr>
                                        <p:cTn id="127" dur="1" fill="hold">
                                          <p:stCondLst>
                                            <p:cond delay="349"/>
                                          </p:stCondLst>
                                        </p:cTn>
                                        <p:tgtEl>
                                          <p:spTgt spid="17">
                                            <p:txEl>
                                              <p:pRg st="1" end="1"/>
                                            </p:txEl>
                                          </p:spTgt>
                                        </p:tgtEl>
                                        <p:attrNameLst>
                                          <p:attrName>style.visibility</p:attrName>
                                        </p:attrNameLst>
                                      </p:cBhvr>
                                      <p:to>
                                        <p:strVal val="hidden"/>
                                      </p:to>
                                    </p:set>
                                  </p:childTnLst>
                                </p:cTn>
                              </p:par>
                              <p:par>
                                <p:cTn id="128" presetID="10" presetClass="exit" presetSubtype="0" grpId="0" fill="hold" nodeType="withEffect">
                                  <p:stCondLst>
                                    <p:cond delay="0"/>
                                  </p:stCondLst>
                                  <p:childTnLst>
                                    <p:animEffect transition="out" filter="fade">
                                      <p:cBhvr>
                                        <p:cTn id="129" dur="350"/>
                                        <p:tgtEl>
                                          <p:spTgt spid="17">
                                            <p:txEl>
                                              <p:pRg st="2" end="2"/>
                                            </p:txEl>
                                          </p:spTgt>
                                        </p:tgtEl>
                                      </p:cBhvr>
                                    </p:animEffect>
                                    <p:set>
                                      <p:cBhvr>
                                        <p:cTn id="130" dur="1" fill="hold">
                                          <p:stCondLst>
                                            <p:cond delay="349"/>
                                          </p:stCondLst>
                                        </p:cTn>
                                        <p:tgtEl>
                                          <p:spTgt spid="17">
                                            <p:txEl>
                                              <p:pRg st="2" end="2"/>
                                            </p:txEl>
                                          </p:spTgt>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350"/>
                                        <p:tgtEl>
                                          <p:spTgt spid="19"/>
                                        </p:tgtEl>
                                      </p:cBhvr>
                                    </p:animEffect>
                                    <p:set>
                                      <p:cBhvr>
                                        <p:cTn id="133" dur="1" fill="hold">
                                          <p:stCondLst>
                                            <p:cond delay="349"/>
                                          </p:stCondLst>
                                        </p:cTn>
                                        <p:tgtEl>
                                          <p:spTgt spid="19"/>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20"/>
                                        </p:tgtEl>
                                      </p:cBhvr>
                                    </p:animEffect>
                                    <p:set>
                                      <p:cBhvr>
                                        <p:cTn id="136" dur="1" fill="hold">
                                          <p:stCondLst>
                                            <p:cond delay="349"/>
                                          </p:stCondLst>
                                        </p:cTn>
                                        <p:tgtEl>
                                          <p:spTgt spid="20"/>
                                        </p:tgtEl>
                                        <p:attrNameLst>
                                          <p:attrName>style.visibility</p:attrName>
                                        </p:attrNameLst>
                                      </p:cBhvr>
                                      <p:to>
                                        <p:strVal val="hidden"/>
                                      </p:to>
                                    </p:set>
                                  </p:childTnLst>
                                </p:cTn>
                              </p:par>
                              <p:par>
                                <p:cTn id="137" presetID="0" presetClass="path" presetSubtype="0" accel="50000" decel="50000" fill="hold" nodeType="withEffect">
                                  <p:stCondLst>
                                    <p:cond delay="0"/>
                                  </p:stCondLst>
                                  <p:childTnLst>
                                    <p:animMotion origin="layout" path="M 0 0 L 0.28302 0.00947 E" pathEditMode="relative" rAng="0" ptsTypes="AA">
                                      <p:cBhvr>
                                        <p:cTn id="138" dur="750" fill="hold"/>
                                        <p:tgtEl>
                                          <p:spTgt spid="18"/>
                                        </p:tgtEl>
                                        <p:attrNameLst>
                                          <p:attrName>ppt_x</p:attrName>
                                          <p:attrName>ppt_y</p:attrName>
                                        </p:attrNameLst>
                                      </p:cBhvr>
                                      <p:rCtr x="14150" y="473"/>
                                    </p:animMotion>
                                  </p:childTnLst>
                                </p:cTn>
                              </p:par>
                              <p:par>
                                <p:cTn id="139" presetID="6" presetClass="emph" presetSubtype="0" accel="50000" decel="50000" fill="hold" nodeType="withEffect">
                                  <p:stCondLst>
                                    <p:cond delay="0"/>
                                  </p:stCondLst>
                                  <p:childTnLst>
                                    <p:animScale>
                                      <p:cBhvr>
                                        <p:cTn id="140" dur="750" fill="hold"/>
                                        <p:tgtEl>
                                          <p:spTgt spid="18"/>
                                        </p:tgtEl>
                                      </p:cBhvr>
                                      <p:by x="30648" y="30648"/>
                                    </p:animScale>
                                  </p:childTnLst>
                                </p:cTn>
                              </p:par>
                              <p:par>
                                <p:cTn id="141" presetID="10" presetClass="entr" presetSubtype="0" fill="hold" nodeType="withEffect">
                                  <p:stCondLst>
                                    <p:cond delay="450"/>
                                  </p:stCondLst>
                                  <p:childTnLst>
                                    <p:set>
                                      <p:cBhvr>
                                        <p:cTn id="142" dur="1" fill="hold">
                                          <p:stCondLst>
                                            <p:cond delay="0"/>
                                          </p:stCondLst>
                                        </p:cTn>
                                        <p:tgtEl>
                                          <p:spTgt spid="21"/>
                                        </p:tgtEl>
                                        <p:attrNameLst>
                                          <p:attrName>style.visibility</p:attrName>
                                        </p:attrNameLst>
                                      </p:cBhvr>
                                      <p:to>
                                        <p:strVal val="visible"/>
                                      </p:to>
                                    </p:set>
                                    <p:animEffect transition="in" filter="fade">
                                      <p:cBhvr>
                                        <p:cTn id="143" dur="450"/>
                                        <p:tgtEl>
                                          <p:spTgt spid="21"/>
                                        </p:tgtEl>
                                      </p:cBhvr>
                                    </p:animEffect>
                                  </p:childTnLst>
                                </p:cTn>
                              </p:par>
                              <p:par>
                                <p:cTn id="144" presetID="10" presetClass="entr" presetSubtype="0" fill="hold" nodeType="withEffect">
                                  <p:stCondLst>
                                    <p:cond delay="520"/>
                                  </p:stCondLst>
                                  <p:childTnLst>
                                    <p:set>
                                      <p:cBhvr>
                                        <p:cTn id="145" dur="1" fill="hold">
                                          <p:stCondLst>
                                            <p:cond delay="0"/>
                                          </p:stCondLst>
                                        </p:cTn>
                                        <p:tgtEl>
                                          <p:spTgt spid="22"/>
                                        </p:tgtEl>
                                        <p:attrNameLst>
                                          <p:attrName>style.visibility</p:attrName>
                                        </p:attrNameLst>
                                      </p:cBhvr>
                                      <p:to>
                                        <p:strVal val="visible"/>
                                      </p:to>
                                    </p:set>
                                    <p:animEffect transition="in" filter="fade">
                                      <p:cBhvr>
                                        <p:cTn id="146" dur="450"/>
                                        <p:tgtEl>
                                          <p:spTgt spid="22"/>
                                        </p:tgtEl>
                                      </p:cBhvr>
                                    </p:animEffect>
                                  </p:childTnLst>
                                </p:cTn>
                              </p:par>
                              <p:par>
                                <p:cTn id="147" presetID="22" presetClass="entr" presetSubtype="8" fill="hold" nodeType="withEffect">
                                  <p:stCondLst>
                                    <p:cond delay="590"/>
                                  </p:stCondLst>
                                  <p:childTnLst>
                                    <p:set>
                                      <p:cBhvr>
                                        <p:cTn id="148" dur="1" fill="hold">
                                          <p:stCondLst>
                                            <p:cond delay="0"/>
                                          </p:stCondLst>
                                        </p:cTn>
                                        <p:tgtEl>
                                          <p:spTgt spid="23"/>
                                        </p:tgtEl>
                                        <p:attrNameLst>
                                          <p:attrName>style.visibility</p:attrName>
                                        </p:attrNameLst>
                                      </p:cBhvr>
                                      <p:to>
                                        <p:strVal val="visible"/>
                                      </p:to>
                                    </p:set>
                                    <p:animEffect transition="in" filter="wipe(left)">
                                      <p:cBhvr>
                                        <p:cTn id="149" dur="500"/>
                                        <p:tgtEl>
                                          <p:spTgt spid="23"/>
                                        </p:tgtEl>
                                      </p:cBhvr>
                                    </p:animEffect>
                                  </p:childTnLst>
                                </p:cTn>
                              </p:par>
                              <p:par>
                                <p:cTn id="150" presetID="10" presetClass="entr" presetSubtype="0" fill="hold" nodeType="withEffect">
                                  <p:stCondLst>
                                    <p:cond delay="660"/>
                                  </p:stCondLst>
                                  <p:childTnLst>
                                    <p:set>
                                      <p:cBhvr>
                                        <p:cTn id="151" dur="1" fill="hold">
                                          <p:stCondLst>
                                            <p:cond delay="0"/>
                                          </p:stCondLst>
                                        </p:cTn>
                                        <p:tgtEl>
                                          <p:spTgt spid="24"/>
                                        </p:tgtEl>
                                        <p:attrNameLst>
                                          <p:attrName>style.visibility</p:attrName>
                                        </p:attrNameLst>
                                      </p:cBhvr>
                                      <p:to>
                                        <p:strVal val="visible"/>
                                      </p:to>
                                    </p:set>
                                    <p:animEffect transition="in" filter="fade">
                                      <p:cBhvr>
                                        <p:cTn id="152" dur="450"/>
                                        <p:tgtEl>
                                          <p:spTgt spid="24"/>
                                        </p:tgtEl>
                                      </p:cBhvr>
                                    </p:animEffect>
                                  </p:childTnLst>
                                </p:cTn>
                              </p:par>
                              <p:par>
                                <p:cTn id="153" presetID="10" presetClass="entr" presetSubtype="0" grpId="0" fill="hold" nodeType="withEffect">
                                  <p:stCondLst>
                                    <p:cond delay="730"/>
                                  </p:stCondLst>
                                  <p:childTnLst>
                                    <p:set>
                                      <p:cBhvr>
                                        <p:cTn id="154" dur="1" fill="hold">
                                          <p:stCondLst>
                                            <p:cond delay="0"/>
                                          </p:stCondLst>
                                        </p:cTn>
                                        <p:tgtEl>
                                          <p:spTgt spid="25">
                                            <p:txEl>
                                              <p:pRg st="0" end="0"/>
                                            </p:txEl>
                                          </p:spTgt>
                                        </p:tgtEl>
                                        <p:attrNameLst>
                                          <p:attrName>style.visibility</p:attrName>
                                        </p:attrNameLst>
                                      </p:cBhvr>
                                      <p:to>
                                        <p:strVal val="visible"/>
                                      </p:to>
                                    </p:set>
                                    <p:animEffect transition="in" filter="fade">
                                      <p:cBhvr>
                                        <p:cTn id="155" dur="450"/>
                                        <p:tgtEl>
                                          <p:spTgt spid="25">
                                            <p:txEl>
                                              <p:pRg st="0" end="0"/>
                                            </p:txEl>
                                          </p:spTgt>
                                        </p:tgtEl>
                                      </p:cBhvr>
                                    </p:animEffect>
                                  </p:childTnLst>
                                </p:cTn>
                              </p:par>
                              <p:par>
                                <p:cTn id="156" presetID="10" presetClass="entr" presetSubtype="0" grpId="0" fill="hold" nodeType="withEffect">
                                  <p:stCondLst>
                                    <p:cond delay="1110"/>
                                  </p:stCondLst>
                                  <p:childTnLst>
                                    <p:set>
                                      <p:cBhvr>
                                        <p:cTn id="157" dur="1" fill="hold">
                                          <p:stCondLst>
                                            <p:cond delay="0"/>
                                          </p:stCondLst>
                                        </p:cTn>
                                        <p:tgtEl>
                                          <p:spTgt spid="25">
                                            <p:txEl>
                                              <p:pRg st="1" end="1"/>
                                            </p:txEl>
                                          </p:spTgt>
                                        </p:tgtEl>
                                        <p:attrNameLst>
                                          <p:attrName>style.visibility</p:attrName>
                                        </p:attrNameLst>
                                      </p:cBhvr>
                                      <p:to>
                                        <p:strVal val="visible"/>
                                      </p:to>
                                    </p:set>
                                    <p:animEffect transition="in" filter="fade">
                                      <p:cBhvr>
                                        <p:cTn id="158" dur="450"/>
                                        <p:tgtEl>
                                          <p:spTgt spid="25">
                                            <p:txEl>
                                              <p:pRg st="1" end="1"/>
                                            </p:txEl>
                                          </p:spTgt>
                                        </p:tgtEl>
                                      </p:cBhvr>
                                    </p:animEffect>
                                  </p:childTnLst>
                                </p:cTn>
                              </p:par>
                              <p:par>
                                <p:cTn id="159" presetID="10" presetClass="entr" presetSubtype="0" grpId="0" fill="hold" nodeType="withEffect">
                                  <p:stCondLst>
                                    <p:cond delay="1490"/>
                                  </p:stCondLst>
                                  <p:childTnLst>
                                    <p:set>
                                      <p:cBhvr>
                                        <p:cTn id="160" dur="1" fill="hold">
                                          <p:stCondLst>
                                            <p:cond delay="0"/>
                                          </p:stCondLst>
                                        </p:cTn>
                                        <p:tgtEl>
                                          <p:spTgt spid="25">
                                            <p:txEl>
                                              <p:pRg st="2" end="2"/>
                                            </p:txEl>
                                          </p:spTgt>
                                        </p:tgtEl>
                                        <p:attrNameLst>
                                          <p:attrName>style.visibility</p:attrName>
                                        </p:attrNameLst>
                                      </p:cBhvr>
                                      <p:to>
                                        <p:strVal val="visible"/>
                                      </p:to>
                                    </p:set>
                                    <p:animEffect transition="in" filter="fade">
                                      <p:cBhvr>
                                        <p:cTn id="161" dur="450"/>
                                        <p:tgtEl>
                                          <p:spTgt spid="25">
                                            <p:txEl>
                                              <p:pRg st="2" end="2"/>
                                            </p:txEl>
                                          </p:spTgt>
                                        </p:tgtEl>
                                      </p:cBhvr>
                                    </p:animEffect>
                                  </p:childTnLst>
                                </p:cTn>
                              </p:par>
                              <p:par>
                                <p:cTn id="162" presetID="10" presetClass="entr" presetSubtype="0" fill="hold" nodeType="withEffect">
                                  <p:stCondLst>
                                    <p:cond delay="800"/>
                                  </p:stCondLst>
                                  <p:childTnLst>
                                    <p:set>
                                      <p:cBhvr>
                                        <p:cTn id="163" dur="1" fill="hold">
                                          <p:stCondLst>
                                            <p:cond delay="0"/>
                                          </p:stCondLst>
                                        </p:cTn>
                                        <p:tgtEl>
                                          <p:spTgt spid="26"/>
                                        </p:tgtEl>
                                        <p:attrNameLst>
                                          <p:attrName>style.visibility</p:attrName>
                                        </p:attrNameLst>
                                      </p:cBhvr>
                                      <p:to>
                                        <p:strVal val="visible"/>
                                      </p:to>
                                    </p:set>
                                    <p:animEffect transition="in" filter="fade">
                                      <p:cBhvr>
                                        <p:cTn id="164" dur="450"/>
                                        <p:tgtEl>
                                          <p:spTgt spid="26"/>
                                        </p:tgtEl>
                                      </p:cBhvr>
                                    </p:animEffect>
                                  </p:childTnLst>
                                </p:cTn>
                              </p:par>
                              <p:par>
                                <p:cTn id="165" presetID="22" presetClass="entr" presetSubtype="8" fill="hold" nodeType="withEffect">
                                  <p:stCondLst>
                                    <p:cond delay="870"/>
                                  </p:stCondLst>
                                  <p:childTnLst>
                                    <p:set>
                                      <p:cBhvr>
                                        <p:cTn id="166" dur="1" fill="hold">
                                          <p:stCondLst>
                                            <p:cond delay="0"/>
                                          </p:stCondLst>
                                        </p:cTn>
                                        <p:tgtEl>
                                          <p:spTgt spid="27"/>
                                        </p:tgtEl>
                                        <p:attrNameLst>
                                          <p:attrName>style.visibility</p:attrName>
                                        </p:attrNameLst>
                                      </p:cBhvr>
                                      <p:to>
                                        <p:strVal val="visible"/>
                                      </p:to>
                                    </p:set>
                                    <p:animEffect transition="in" filter="wipe(left)">
                                      <p:cBhvr>
                                        <p:cTn id="167" dur="500"/>
                                        <p:tgtEl>
                                          <p:spTgt spid="27"/>
                                        </p:tgtEl>
                                      </p:cBhvr>
                                    </p:animEffect>
                                  </p:childTnLst>
                                </p:cTn>
                              </p:par>
                              <p:par>
                                <p:cTn id="168" presetID="10" presetClass="entr" presetSubtype="0" fill="hold" nodeType="withEffect">
                                  <p:stCondLst>
                                    <p:cond delay="940"/>
                                  </p:stCondLst>
                                  <p:childTnLst>
                                    <p:set>
                                      <p:cBhvr>
                                        <p:cTn id="169" dur="1" fill="hold">
                                          <p:stCondLst>
                                            <p:cond delay="0"/>
                                          </p:stCondLst>
                                        </p:cTn>
                                        <p:tgtEl>
                                          <p:spTgt spid="28"/>
                                        </p:tgtEl>
                                        <p:attrNameLst>
                                          <p:attrName>style.visibility</p:attrName>
                                        </p:attrNameLst>
                                      </p:cBhvr>
                                      <p:to>
                                        <p:strVal val="visible"/>
                                      </p:to>
                                    </p:set>
                                    <p:animEffect transition="in" filter="fade">
                                      <p:cBhvr>
                                        <p:cTn id="170" dur="450"/>
                                        <p:tgtEl>
                                          <p:spTgt spid="28"/>
                                        </p:tgtEl>
                                      </p:cBhvr>
                                    </p:animEffect>
                                  </p:childTnLst>
                                </p:cTn>
                              </p:par>
                              <p:par>
                                <p:cTn id="171" presetID="10" presetClass="entr" presetSubtype="0" grpId="0" fill="hold" nodeType="withEffect">
                                  <p:stCondLst>
                                    <p:cond delay="1010"/>
                                  </p:stCondLst>
                                  <p:childTnLst>
                                    <p:set>
                                      <p:cBhvr>
                                        <p:cTn id="172" dur="1" fill="hold">
                                          <p:stCondLst>
                                            <p:cond delay="0"/>
                                          </p:stCondLst>
                                        </p:cTn>
                                        <p:tgtEl>
                                          <p:spTgt spid="29">
                                            <p:txEl>
                                              <p:pRg st="0" end="0"/>
                                            </p:txEl>
                                          </p:spTgt>
                                        </p:tgtEl>
                                        <p:attrNameLst>
                                          <p:attrName>style.visibility</p:attrName>
                                        </p:attrNameLst>
                                      </p:cBhvr>
                                      <p:to>
                                        <p:strVal val="visible"/>
                                      </p:to>
                                    </p:set>
                                    <p:animEffect transition="in" filter="fade">
                                      <p:cBhvr>
                                        <p:cTn id="173" dur="450"/>
                                        <p:tgtEl>
                                          <p:spTgt spid="29">
                                            <p:txEl>
                                              <p:pRg st="0" end="0"/>
                                            </p:txEl>
                                          </p:spTgt>
                                        </p:tgtEl>
                                      </p:cBhvr>
                                    </p:animEffect>
                                  </p:childTnLst>
                                </p:cTn>
                              </p:par>
                              <p:par>
                                <p:cTn id="174" presetID="10" presetClass="entr" presetSubtype="0" grpId="0" fill="hold" nodeType="withEffect">
                                  <p:stCondLst>
                                    <p:cond delay="1390"/>
                                  </p:stCondLst>
                                  <p:childTnLst>
                                    <p:set>
                                      <p:cBhvr>
                                        <p:cTn id="175" dur="1" fill="hold">
                                          <p:stCondLst>
                                            <p:cond delay="0"/>
                                          </p:stCondLst>
                                        </p:cTn>
                                        <p:tgtEl>
                                          <p:spTgt spid="29">
                                            <p:txEl>
                                              <p:pRg st="1" end="1"/>
                                            </p:txEl>
                                          </p:spTgt>
                                        </p:tgtEl>
                                        <p:attrNameLst>
                                          <p:attrName>style.visibility</p:attrName>
                                        </p:attrNameLst>
                                      </p:cBhvr>
                                      <p:to>
                                        <p:strVal val="visible"/>
                                      </p:to>
                                    </p:set>
                                    <p:animEffect transition="in" filter="fade">
                                      <p:cBhvr>
                                        <p:cTn id="176" dur="450"/>
                                        <p:tgtEl>
                                          <p:spTgt spid="29">
                                            <p:txEl>
                                              <p:pRg st="1" end="1"/>
                                            </p:txEl>
                                          </p:spTgt>
                                        </p:tgtEl>
                                      </p:cBhvr>
                                    </p:animEffect>
                                  </p:childTnLst>
                                </p:cTn>
                              </p:par>
                              <p:par>
                                <p:cTn id="177" presetID="10" presetClass="entr" presetSubtype="0" grpId="0" fill="hold" nodeType="withEffect">
                                  <p:stCondLst>
                                    <p:cond delay="1770"/>
                                  </p:stCondLst>
                                  <p:childTnLst>
                                    <p:set>
                                      <p:cBhvr>
                                        <p:cTn id="178" dur="1" fill="hold">
                                          <p:stCondLst>
                                            <p:cond delay="0"/>
                                          </p:stCondLst>
                                        </p:cTn>
                                        <p:tgtEl>
                                          <p:spTgt spid="29">
                                            <p:txEl>
                                              <p:pRg st="2" end="2"/>
                                            </p:txEl>
                                          </p:spTgt>
                                        </p:tgtEl>
                                        <p:attrNameLst>
                                          <p:attrName>style.visibility</p:attrName>
                                        </p:attrNameLst>
                                      </p:cBhvr>
                                      <p:to>
                                        <p:strVal val="visible"/>
                                      </p:to>
                                    </p:set>
                                    <p:animEffect transition="in" filter="fade">
                                      <p:cBhvr>
                                        <p:cTn id="179" dur="450"/>
                                        <p:tgtEl>
                                          <p:spTgt spid="29">
                                            <p:txEl>
                                              <p:pRg st="2" end="2"/>
                                            </p:txEl>
                                          </p:spTgt>
                                        </p:tgtEl>
                                      </p:cBhvr>
                                    </p:animEffect>
                                  </p:childTnLst>
                                </p:cTn>
                              </p:par>
                              <p:par>
                                <p:cTn id="180" presetID="10" presetClass="entr" presetSubtype="0" fill="hold" nodeType="withEffect">
                                  <p:stCondLst>
                                    <p:cond delay="1080"/>
                                  </p:stCondLst>
                                  <p:childTnLst>
                                    <p:set>
                                      <p:cBhvr>
                                        <p:cTn id="181" dur="1" fill="hold">
                                          <p:stCondLst>
                                            <p:cond delay="0"/>
                                          </p:stCondLst>
                                        </p:cTn>
                                        <p:tgtEl>
                                          <p:spTgt spid="30"/>
                                        </p:tgtEl>
                                        <p:attrNameLst>
                                          <p:attrName>style.visibility</p:attrName>
                                        </p:attrNameLst>
                                      </p:cBhvr>
                                      <p:to>
                                        <p:strVal val="visible"/>
                                      </p:to>
                                    </p:set>
                                    <p:animEffect transition="in" filter="fade">
                                      <p:cBhvr>
                                        <p:cTn id="182" dur="450"/>
                                        <p:tgtEl>
                                          <p:spTgt spid="30"/>
                                        </p:tgtEl>
                                      </p:cBhvr>
                                    </p:animEffect>
                                  </p:childTnLst>
                                </p:cTn>
                              </p:par>
                              <p:par>
                                <p:cTn id="183" presetID="22" presetClass="entr" presetSubtype="8" fill="hold" nodeType="withEffect">
                                  <p:stCondLst>
                                    <p:cond delay="1150"/>
                                  </p:stCondLst>
                                  <p:childTnLst>
                                    <p:set>
                                      <p:cBhvr>
                                        <p:cTn id="184" dur="1" fill="hold">
                                          <p:stCondLst>
                                            <p:cond delay="0"/>
                                          </p:stCondLst>
                                        </p:cTn>
                                        <p:tgtEl>
                                          <p:spTgt spid="31"/>
                                        </p:tgtEl>
                                        <p:attrNameLst>
                                          <p:attrName>style.visibility</p:attrName>
                                        </p:attrNameLst>
                                      </p:cBhvr>
                                      <p:to>
                                        <p:strVal val="visible"/>
                                      </p:to>
                                    </p:set>
                                    <p:animEffect transition="in" filter="wipe(left)">
                                      <p:cBhvr>
                                        <p:cTn id="185" dur="500"/>
                                        <p:tgtEl>
                                          <p:spTgt spid="31"/>
                                        </p:tgtEl>
                                      </p:cBhvr>
                                    </p:animEffect>
                                  </p:childTnLst>
                                </p:cTn>
                              </p:par>
                              <p:par>
                                <p:cTn id="186" presetID="10" presetClass="entr" presetSubtype="0" fill="hold" nodeType="withEffect">
                                  <p:stCondLst>
                                    <p:cond delay="1220"/>
                                  </p:stCondLst>
                                  <p:childTnLst>
                                    <p:set>
                                      <p:cBhvr>
                                        <p:cTn id="187" dur="1" fill="hold">
                                          <p:stCondLst>
                                            <p:cond delay="0"/>
                                          </p:stCondLst>
                                        </p:cTn>
                                        <p:tgtEl>
                                          <p:spTgt spid="32"/>
                                        </p:tgtEl>
                                        <p:attrNameLst>
                                          <p:attrName>style.visibility</p:attrName>
                                        </p:attrNameLst>
                                      </p:cBhvr>
                                      <p:to>
                                        <p:strVal val="visible"/>
                                      </p:to>
                                    </p:set>
                                    <p:animEffect transition="in" filter="fade">
                                      <p:cBhvr>
                                        <p:cTn id="188" dur="450"/>
                                        <p:tgtEl>
                                          <p:spTgt spid="32"/>
                                        </p:tgtEl>
                                      </p:cBhvr>
                                    </p:animEffect>
                                  </p:childTnLst>
                                </p:cTn>
                              </p:par>
                              <p:par>
                                <p:cTn id="189" presetID="10" presetClass="entr" presetSubtype="0" grpId="0" fill="hold" nodeType="withEffect">
                                  <p:stCondLst>
                                    <p:cond delay="1290"/>
                                  </p:stCondLst>
                                  <p:childTnLst>
                                    <p:set>
                                      <p:cBhvr>
                                        <p:cTn id="190" dur="1" fill="hold">
                                          <p:stCondLst>
                                            <p:cond delay="0"/>
                                          </p:stCondLst>
                                        </p:cTn>
                                        <p:tgtEl>
                                          <p:spTgt spid="33">
                                            <p:txEl>
                                              <p:pRg st="0" end="0"/>
                                            </p:txEl>
                                          </p:spTgt>
                                        </p:tgtEl>
                                        <p:attrNameLst>
                                          <p:attrName>style.visibility</p:attrName>
                                        </p:attrNameLst>
                                      </p:cBhvr>
                                      <p:to>
                                        <p:strVal val="visible"/>
                                      </p:to>
                                    </p:set>
                                    <p:animEffect transition="in" filter="fade">
                                      <p:cBhvr>
                                        <p:cTn id="191" dur="450"/>
                                        <p:tgtEl>
                                          <p:spTgt spid="33">
                                            <p:txEl>
                                              <p:pRg st="0" end="0"/>
                                            </p:txEl>
                                          </p:spTgt>
                                        </p:tgtEl>
                                      </p:cBhvr>
                                    </p:animEffect>
                                  </p:childTnLst>
                                </p:cTn>
                              </p:par>
                              <p:par>
                                <p:cTn id="192" presetID="10" presetClass="entr" presetSubtype="0" grpId="0" fill="hold" nodeType="withEffect">
                                  <p:stCondLst>
                                    <p:cond delay="1670"/>
                                  </p:stCondLst>
                                  <p:childTnLst>
                                    <p:set>
                                      <p:cBhvr>
                                        <p:cTn id="193" dur="1" fill="hold">
                                          <p:stCondLst>
                                            <p:cond delay="0"/>
                                          </p:stCondLst>
                                        </p:cTn>
                                        <p:tgtEl>
                                          <p:spTgt spid="33">
                                            <p:txEl>
                                              <p:pRg st="1" end="1"/>
                                            </p:txEl>
                                          </p:spTgt>
                                        </p:tgtEl>
                                        <p:attrNameLst>
                                          <p:attrName>style.visibility</p:attrName>
                                        </p:attrNameLst>
                                      </p:cBhvr>
                                      <p:to>
                                        <p:strVal val="visible"/>
                                      </p:to>
                                    </p:set>
                                    <p:animEffect transition="in" filter="fade">
                                      <p:cBhvr>
                                        <p:cTn id="194" dur="450"/>
                                        <p:tgtEl>
                                          <p:spTgt spid="33">
                                            <p:txEl>
                                              <p:pRg st="1" end="1"/>
                                            </p:txEl>
                                          </p:spTgt>
                                        </p:tgtEl>
                                      </p:cBhvr>
                                    </p:animEffect>
                                  </p:childTnLst>
                                </p:cTn>
                              </p:par>
                              <p:par>
                                <p:cTn id="195" presetID="10" presetClass="entr" presetSubtype="0" grpId="0" fill="hold" nodeType="withEffect">
                                  <p:stCondLst>
                                    <p:cond delay="2050"/>
                                  </p:stCondLst>
                                  <p:childTnLst>
                                    <p:set>
                                      <p:cBhvr>
                                        <p:cTn id="196" dur="1" fill="hold">
                                          <p:stCondLst>
                                            <p:cond delay="0"/>
                                          </p:stCondLst>
                                        </p:cTn>
                                        <p:tgtEl>
                                          <p:spTgt spid="33">
                                            <p:txEl>
                                              <p:pRg st="2" end="2"/>
                                            </p:txEl>
                                          </p:spTgt>
                                        </p:tgtEl>
                                        <p:attrNameLst>
                                          <p:attrName>style.visibility</p:attrName>
                                        </p:attrNameLst>
                                      </p:cBhvr>
                                      <p:to>
                                        <p:strVal val="visible"/>
                                      </p:to>
                                    </p:set>
                                    <p:animEffect transition="in" filter="fade">
                                      <p:cBhvr>
                                        <p:cTn id="197" dur="450"/>
                                        <p:tgtEl>
                                          <p:spTgt spid="33">
                                            <p:txEl>
                                              <p:pRg st="2" end="2"/>
                                            </p:txEl>
                                          </p:spTgt>
                                        </p:tgtEl>
                                      </p:cBhvr>
                                    </p:animEffect>
                                  </p:childTnLst>
                                </p:cTn>
                              </p:par>
                              <p:par>
                                <p:cTn id="198" presetID="10" presetClass="entr" presetSubtype="0" fill="hold" nodeType="withEffect">
                                  <p:stCondLst>
                                    <p:cond delay="1360"/>
                                  </p:stCondLst>
                                  <p:childTnLst>
                                    <p:set>
                                      <p:cBhvr>
                                        <p:cTn id="199" dur="1" fill="hold">
                                          <p:stCondLst>
                                            <p:cond delay="0"/>
                                          </p:stCondLst>
                                        </p:cTn>
                                        <p:tgtEl>
                                          <p:spTgt spid="34"/>
                                        </p:tgtEl>
                                        <p:attrNameLst>
                                          <p:attrName>style.visibility</p:attrName>
                                        </p:attrNameLst>
                                      </p:cBhvr>
                                      <p:to>
                                        <p:strVal val="visible"/>
                                      </p:to>
                                    </p:set>
                                    <p:animEffect transition="in" filter="fade">
                                      <p:cBhvr>
                                        <p:cTn id="200" dur="450"/>
                                        <p:tgtEl>
                                          <p:spTgt spid="34"/>
                                        </p:tgtEl>
                                      </p:cBhvr>
                                    </p:animEffect>
                                  </p:childTnLst>
                                </p:cTn>
                              </p:par>
                              <p:par>
                                <p:cTn id="201" presetID="22" presetClass="entr" presetSubtype="8" fill="hold" nodeType="withEffect">
                                  <p:stCondLst>
                                    <p:cond delay="1430"/>
                                  </p:stCondLst>
                                  <p:childTnLst>
                                    <p:set>
                                      <p:cBhvr>
                                        <p:cTn id="202" dur="1" fill="hold">
                                          <p:stCondLst>
                                            <p:cond delay="0"/>
                                          </p:stCondLst>
                                        </p:cTn>
                                        <p:tgtEl>
                                          <p:spTgt spid="35"/>
                                        </p:tgtEl>
                                        <p:attrNameLst>
                                          <p:attrName>style.visibility</p:attrName>
                                        </p:attrNameLst>
                                      </p:cBhvr>
                                      <p:to>
                                        <p:strVal val="visible"/>
                                      </p:to>
                                    </p:set>
                                    <p:animEffect transition="in" filter="wipe(left)">
                                      <p:cBhvr>
                                        <p:cTn id="203" dur="500"/>
                                        <p:tgtEl>
                                          <p:spTgt spid="35"/>
                                        </p:tgtEl>
                                      </p:cBhvr>
                                    </p:animEffect>
                                  </p:childTnLst>
                                </p:cTn>
                              </p:par>
                              <p:par>
                                <p:cTn id="204" presetID="10" presetClass="entr" presetSubtype="0" fill="hold" nodeType="withEffect">
                                  <p:stCondLst>
                                    <p:cond delay="580"/>
                                  </p:stCondLst>
                                  <p:childTnLst>
                                    <p:set>
                                      <p:cBhvr>
                                        <p:cTn id="205" dur="1" fill="hold">
                                          <p:stCondLst>
                                            <p:cond delay="0"/>
                                          </p:stCondLst>
                                        </p:cTn>
                                        <p:tgtEl>
                                          <p:spTgt spid="36"/>
                                        </p:tgtEl>
                                        <p:attrNameLst>
                                          <p:attrName>style.visibility</p:attrName>
                                        </p:attrNameLst>
                                      </p:cBhvr>
                                      <p:to>
                                        <p:strVal val="visible"/>
                                      </p:to>
                                    </p:set>
                                    <p:animEffect transition="in" filter="fade">
                                      <p:cBhvr>
                                        <p:cTn id="206" dur="450"/>
                                        <p:tgtEl>
                                          <p:spTgt spid="36"/>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xit" presetSubtype="0" fill="hold" nodeType="clickEffect">
                                  <p:stCondLst>
                                    <p:cond delay="0"/>
                                  </p:stCondLst>
                                  <p:childTnLst>
                                    <p:animEffect transition="out" filter="fade">
                                      <p:cBhvr>
                                        <p:cTn id="210" dur="350"/>
                                        <p:tgtEl>
                                          <p:spTgt spid="21"/>
                                        </p:tgtEl>
                                      </p:cBhvr>
                                    </p:animEffect>
                                    <p:set>
                                      <p:cBhvr>
                                        <p:cTn id="211" dur="1" fill="hold">
                                          <p:stCondLst>
                                            <p:cond delay="349"/>
                                          </p:stCondLst>
                                        </p:cTn>
                                        <p:tgtEl>
                                          <p:spTgt spid="21"/>
                                        </p:tgtEl>
                                        <p:attrNameLst>
                                          <p:attrName>style.visibility</p:attrName>
                                        </p:attrNameLst>
                                      </p:cBhvr>
                                      <p:to>
                                        <p:strVal val="hidden"/>
                                      </p:to>
                                    </p:set>
                                  </p:childTnLst>
                                </p:cTn>
                              </p:par>
                              <p:par>
                                <p:cTn id="212" presetID="10" presetClass="exit" presetSubtype="0" fill="hold" nodeType="withEffect">
                                  <p:stCondLst>
                                    <p:cond delay="0"/>
                                  </p:stCondLst>
                                  <p:childTnLst>
                                    <p:animEffect transition="out" filter="fade">
                                      <p:cBhvr>
                                        <p:cTn id="213" dur="350"/>
                                        <p:tgtEl>
                                          <p:spTgt spid="22"/>
                                        </p:tgtEl>
                                      </p:cBhvr>
                                    </p:animEffect>
                                    <p:set>
                                      <p:cBhvr>
                                        <p:cTn id="214" dur="1" fill="hold">
                                          <p:stCondLst>
                                            <p:cond delay="349"/>
                                          </p:stCondLst>
                                        </p:cTn>
                                        <p:tgtEl>
                                          <p:spTgt spid="22"/>
                                        </p:tgtEl>
                                        <p:attrNameLst>
                                          <p:attrName>style.visibility</p:attrName>
                                        </p:attrNameLst>
                                      </p:cBhvr>
                                      <p:to>
                                        <p:strVal val="hidden"/>
                                      </p:to>
                                    </p:set>
                                  </p:childTnLst>
                                </p:cTn>
                              </p:par>
                              <p:par>
                                <p:cTn id="215" presetID="10" presetClass="exit" presetSubtype="0" fill="hold" nodeType="withEffect">
                                  <p:stCondLst>
                                    <p:cond delay="0"/>
                                  </p:stCondLst>
                                  <p:childTnLst>
                                    <p:animEffect transition="out" filter="fade">
                                      <p:cBhvr>
                                        <p:cTn id="216" dur="350"/>
                                        <p:tgtEl>
                                          <p:spTgt spid="23"/>
                                        </p:tgtEl>
                                      </p:cBhvr>
                                    </p:animEffect>
                                    <p:set>
                                      <p:cBhvr>
                                        <p:cTn id="217" dur="1" fill="hold">
                                          <p:stCondLst>
                                            <p:cond delay="349"/>
                                          </p:stCondLst>
                                        </p:cTn>
                                        <p:tgtEl>
                                          <p:spTgt spid="23"/>
                                        </p:tgtEl>
                                        <p:attrNameLst>
                                          <p:attrName>style.visibility</p:attrName>
                                        </p:attrNameLst>
                                      </p:cBhvr>
                                      <p:to>
                                        <p:strVal val="hidden"/>
                                      </p:to>
                                    </p:set>
                                  </p:childTnLst>
                                </p:cTn>
                              </p:par>
                              <p:par>
                                <p:cTn id="218" presetID="10" presetClass="exit" presetSubtype="0" fill="hold" nodeType="withEffect">
                                  <p:stCondLst>
                                    <p:cond delay="0"/>
                                  </p:stCondLst>
                                  <p:childTnLst>
                                    <p:animEffect transition="out" filter="fade">
                                      <p:cBhvr>
                                        <p:cTn id="219" dur="350"/>
                                        <p:tgtEl>
                                          <p:spTgt spid="24"/>
                                        </p:tgtEl>
                                      </p:cBhvr>
                                    </p:animEffect>
                                    <p:set>
                                      <p:cBhvr>
                                        <p:cTn id="220" dur="1" fill="hold">
                                          <p:stCondLst>
                                            <p:cond delay="349"/>
                                          </p:stCondLst>
                                        </p:cTn>
                                        <p:tgtEl>
                                          <p:spTgt spid="24"/>
                                        </p:tgtEl>
                                        <p:attrNameLst>
                                          <p:attrName>style.visibility</p:attrName>
                                        </p:attrNameLst>
                                      </p:cBhvr>
                                      <p:to>
                                        <p:strVal val="hidden"/>
                                      </p:to>
                                    </p:set>
                                  </p:childTnLst>
                                </p:cTn>
                              </p:par>
                              <p:par>
                                <p:cTn id="221" presetID="10" presetClass="exit" presetSubtype="0" grpId="0" fill="hold" nodeType="withEffect">
                                  <p:stCondLst>
                                    <p:cond delay="0"/>
                                  </p:stCondLst>
                                  <p:childTnLst>
                                    <p:animEffect transition="out" filter="fade">
                                      <p:cBhvr>
                                        <p:cTn id="222" dur="350"/>
                                        <p:tgtEl>
                                          <p:spTgt spid="25">
                                            <p:txEl>
                                              <p:pRg st="0" end="0"/>
                                            </p:txEl>
                                          </p:spTgt>
                                        </p:tgtEl>
                                      </p:cBhvr>
                                    </p:animEffect>
                                    <p:set>
                                      <p:cBhvr>
                                        <p:cTn id="223" dur="1" fill="hold">
                                          <p:stCondLst>
                                            <p:cond delay="349"/>
                                          </p:stCondLst>
                                        </p:cTn>
                                        <p:tgtEl>
                                          <p:spTgt spid="25">
                                            <p:txEl>
                                              <p:pRg st="0" end="0"/>
                                            </p:txEl>
                                          </p:spTgt>
                                        </p:tgtEl>
                                        <p:attrNameLst>
                                          <p:attrName>style.visibility</p:attrName>
                                        </p:attrNameLst>
                                      </p:cBhvr>
                                      <p:to>
                                        <p:strVal val="hidden"/>
                                      </p:to>
                                    </p:set>
                                  </p:childTnLst>
                                </p:cTn>
                              </p:par>
                              <p:par>
                                <p:cTn id="224" presetID="10" presetClass="exit" presetSubtype="0" grpId="0" fill="hold" nodeType="withEffect">
                                  <p:stCondLst>
                                    <p:cond delay="0"/>
                                  </p:stCondLst>
                                  <p:childTnLst>
                                    <p:animEffect transition="out" filter="fade">
                                      <p:cBhvr>
                                        <p:cTn id="225" dur="350"/>
                                        <p:tgtEl>
                                          <p:spTgt spid="25">
                                            <p:txEl>
                                              <p:pRg st="1" end="1"/>
                                            </p:txEl>
                                          </p:spTgt>
                                        </p:tgtEl>
                                      </p:cBhvr>
                                    </p:animEffect>
                                    <p:set>
                                      <p:cBhvr>
                                        <p:cTn id="226" dur="1" fill="hold">
                                          <p:stCondLst>
                                            <p:cond delay="349"/>
                                          </p:stCondLst>
                                        </p:cTn>
                                        <p:tgtEl>
                                          <p:spTgt spid="25">
                                            <p:txEl>
                                              <p:pRg st="1" end="1"/>
                                            </p:txEl>
                                          </p:spTgt>
                                        </p:tgtEl>
                                        <p:attrNameLst>
                                          <p:attrName>style.visibility</p:attrName>
                                        </p:attrNameLst>
                                      </p:cBhvr>
                                      <p:to>
                                        <p:strVal val="hidden"/>
                                      </p:to>
                                    </p:set>
                                  </p:childTnLst>
                                </p:cTn>
                              </p:par>
                              <p:par>
                                <p:cTn id="227" presetID="10" presetClass="exit" presetSubtype="0" grpId="0" fill="hold" nodeType="withEffect">
                                  <p:stCondLst>
                                    <p:cond delay="0"/>
                                  </p:stCondLst>
                                  <p:childTnLst>
                                    <p:animEffect transition="out" filter="fade">
                                      <p:cBhvr>
                                        <p:cTn id="228" dur="350"/>
                                        <p:tgtEl>
                                          <p:spTgt spid="25">
                                            <p:txEl>
                                              <p:pRg st="2" end="2"/>
                                            </p:txEl>
                                          </p:spTgt>
                                        </p:tgtEl>
                                      </p:cBhvr>
                                    </p:animEffect>
                                    <p:set>
                                      <p:cBhvr>
                                        <p:cTn id="229" dur="1" fill="hold">
                                          <p:stCondLst>
                                            <p:cond delay="349"/>
                                          </p:stCondLst>
                                        </p:cTn>
                                        <p:tgtEl>
                                          <p:spTgt spid="25">
                                            <p:txEl>
                                              <p:pRg st="2" end="2"/>
                                            </p:txEl>
                                          </p:spTgt>
                                        </p:tgtEl>
                                        <p:attrNameLst>
                                          <p:attrName>style.visibility</p:attrName>
                                        </p:attrNameLst>
                                      </p:cBhvr>
                                      <p:to>
                                        <p:strVal val="hidden"/>
                                      </p:to>
                                    </p:set>
                                  </p:childTnLst>
                                </p:cTn>
                              </p:par>
                              <p:par>
                                <p:cTn id="230" presetID="10" presetClass="exit" presetSubtype="0" fill="hold" nodeType="withEffect">
                                  <p:stCondLst>
                                    <p:cond delay="0"/>
                                  </p:stCondLst>
                                  <p:childTnLst>
                                    <p:animEffect transition="out" filter="fade">
                                      <p:cBhvr>
                                        <p:cTn id="231" dur="350"/>
                                        <p:tgtEl>
                                          <p:spTgt spid="26"/>
                                        </p:tgtEl>
                                      </p:cBhvr>
                                    </p:animEffect>
                                    <p:set>
                                      <p:cBhvr>
                                        <p:cTn id="232" dur="1" fill="hold">
                                          <p:stCondLst>
                                            <p:cond delay="349"/>
                                          </p:stCondLst>
                                        </p:cTn>
                                        <p:tgtEl>
                                          <p:spTgt spid="26"/>
                                        </p:tgtEl>
                                        <p:attrNameLst>
                                          <p:attrName>style.visibility</p:attrName>
                                        </p:attrNameLst>
                                      </p:cBhvr>
                                      <p:to>
                                        <p:strVal val="hidden"/>
                                      </p:to>
                                    </p:set>
                                  </p:childTnLst>
                                </p:cTn>
                              </p:par>
                              <p:par>
                                <p:cTn id="233" presetID="10" presetClass="exit" presetSubtype="0" fill="hold" nodeType="withEffect">
                                  <p:stCondLst>
                                    <p:cond delay="0"/>
                                  </p:stCondLst>
                                  <p:childTnLst>
                                    <p:animEffect transition="out" filter="fade">
                                      <p:cBhvr>
                                        <p:cTn id="234" dur="350"/>
                                        <p:tgtEl>
                                          <p:spTgt spid="27"/>
                                        </p:tgtEl>
                                      </p:cBhvr>
                                    </p:animEffect>
                                    <p:set>
                                      <p:cBhvr>
                                        <p:cTn id="235" dur="1" fill="hold">
                                          <p:stCondLst>
                                            <p:cond delay="349"/>
                                          </p:stCondLst>
                                        </p:cTn>
                                        <p:tgtEl>
                                          <p:spTgt spid="27"/>
                                        </p:tgtEl>
                                        <p:attrNameLst>
                                          <p:attrName>style.visibility</p:attrName>
                                        </p:attrNameLst>
                                      </p:cBhvr>
                                      <p:to>
                                        <p:strVal val="hidden"/>
                                      </p:to>
                                    </p:set>
                                  </p:childTnLst>
                                </p:cTn>
                              </p:par>
                              <p:par>
                                <p:cTn id="236" presetID="10" presetClass="exit" presetSubtype="0" fill="hold" nodeType="withEffect">
                                  <p:stCondLst>
                                    <p:cond delay="0"/>
                                  </p:stCondLst>
                                  <p:childTnLst>
                                    <p:animEffect transition="out" filter="fade">
                                      <p:cBhvr>
                                        <p:cTn id="237" dur="350"/>
                                        <p:tgtEl>
                                          <p:spTgt spid="28"/>
                                        </p:tgtEl>
                                      </p:cBhvr>
                                    </p:animEffect>
                                    <p:set>
                                      <p:cBhvr>
                                        <p:cTn id="238" dur="1" fill="hold">
                                          <p:stCondLst>
                                            <p:cond delay="349"/>
                                          </p:stCondLst>
                                        </p:cTn>
                                        <p:tgtEl>
                                          <p:spTgt spid="28"/>
                                        </p:tgtEl>
                                        <p:attrNameLst>
                                          <p:attrName>style.visibility</p:attrName>
                                        </p:attrNameLst>
                                      </p:cBhvr>
                                      <p:to>
                                        <p:strVal val="hidden"/>
                                      </p:to>
                                    </p:set>
                                  </p:childTnLst>
                                </p:cTn>
                              </p:par>
                              <p:par>
                                <p:cTn id="239" presetID="10" presetClass="exit" presetSubtype="0" grpId="0" fill="hold" nodeType="withEffect">
                                  <p:stCondLst>
                                    <p:cond delay="0"/>
                                  </p:stCondLst>
                                  <p:childTnLst>
                                    <p:animEffect transition="out" filter="fade">
                                      <p:cBhvr>
                                        <p:cTn id="240" dur="350"/>
                                        <p:tgtEl>
                                          <p:spTgt spid="29">
                                            <p:txEl>
                                              <p:pRg st="0" end="0"/>
                                            </p:txEl>
                                          </p:spTgt>
                                        </p:tgtEl>
                                      </p:cBhvr>
                                    </p:animEffect>
                                    <p:set>
                                      <p:cBhvr>
                                        <p:cTn id="241" dur="1" fill="hold">
                                          <p:stCondLst>
                                            <p:cond delay="349"/>
                                          </p:stCondLst>
                                        </p:cTn>
                                        <p:tgtEl>
                                          <p:spTgt spid="29">
                                            <p:txEl>
                                              <p:pRg st="0" end="0"/>
                                            </p:txEl>
                                          </p:spTgt>
                                        </p:tgtEl>
                                        <p:attrNameLst>
                                          <p:attrName>style.visibility</p:attrName>
                                        </p:attrNameLst>
                                      </p:cBhvr>
                                      <p:to>
                                        <p:strVal val="hidden"/>
                                      </p:to>
                                    </p:set>
                                  </p:childTnLst>
                                </p:cTn>
                              </p:par>
                              <p:par>
                                <p:cTn id="242" presetID="10" presetClass="exit" presetSubtype="0" grpId="0" fill="hold" nodeType="withEffect">
                                  <p:stCondLst>
                                    <p:cond delay="0"/>
                                  </p:stCondLst>
                                  <p:childTnLst>
                                    <p:animEffect transition="out" filter="fade">
                                      <p:cBhvr>
                                        <p:cTn id="243" dur="350"/>
                                        <p:tgtEl>
                                          <p:spTgt spid="29">
                                            <p:txEl>
                                              <p:pRg st="1" end="1"/>
                                            </p:txEl>
                                          </p:spTgt>
                                        </p:tgtEl>
                                      </p:cBhvr>
                                    </p:animEffect>
                                    <p:set>
                                      <p:cBhvr>
                                        <p:cTn id="244" dur="1" fill="hold">
                                          <p:stCondLst>
                                            <p:cond delay="349"/>
                                          </p:stCondLst>
                                        </p:cTn>
                                        <p:tgtEl>
                                          <p:spTgt spid="29">
                                            <p:txEl>
                                              <p:pRg st="1" end="1"/>
                                            </p:txEl>
                                          </p:spTgt>
                                        </p:tgtEl>
                                        <p:attrNameLst>
                                          <p:attrName>style.visibility</p:attrName>
                                        </p:attrNameLst>
                                      </p:cBhvr>
                                      <p:to>
                                        <p:strVal val="hidden"/>
                                      </p:to>
                                    </p:set>
                                  </p:childTnLst>
                                </p:cTn>
                              </p:par>
                              <p:par>
                                <p:cTn id="245" presetID="10" presetClass="exit" presetSubtype="0" grpId="0" fill="hold" nodeType="withEffect">
                                  <p:stCondLst>
                                    <p:cond delay="0"/>
                                  </p:stCondLst>
                                  <p:childTnLst>
                                    <p:animEffect transition="out" filter="fade">
                                      <p:cBhvr>
                                        <p:cTn id="246" dur="350"/>
                                        <p:tgtEl>
                                          <p:spTgt spid="29">
                                            <p:txEl>
                                              <p:pRg st="2" end="2"/>
                                            </p:txEl>
                                          </p:spTgt>
                                        </p:tgtEl>
                                      </p:cBhvr>
                                    </p:animEffect>
                                    <p:set>
                                      <p:cBhvr>
                                        <p:cTn id="247" dur="1" fill="hold">
                                          <p:stCondLst>
                                            <p:cond delay="349"/>
                                          </p:stCondLst>
                                        </p:cTn>
                                        <p:tgtEl>
                                          <p:spTgt spid="29">
                                            <p:txEl>
                                              <p:pRg st="2" end="2"/>
                                            </p:txEl>
                                          </p:spTgt>
                                        </p:tgtEl>
                                        <p:attrNameLst>
                                          <p:attrName>style.visibility</p:attrName>
                                        </p:attrNameLst>
                                      </p:cBhvr>
                                      <p:to>
                                        <p:strVal val="hidden"/>
                                      </p:to>
                                    </p:set>
                                  </p:childTnLst>
                                </p:cTn>
                              </p:par>
                              <p:par>
                                <p:cTn id="248" presetID="10" presetClass="exit" presetSubtype="0" fill="hold" nodeType="withEffect">
                                  <p:stCondLst>
                                    <p:cond delay="0"/>
                                  </p:stCondLst>
                                  <p:childTnLst>
                                    <p:animEffect transition="out" filter="fade">
                                      <p:cBhvr>
                                        <p:cTn id="249" dur="350"/>
                                        <p:tgtEl>
                                          <p:spTgt spid="30"/>
                                        </p:tgtEl>
                                      </p:cBhvr>
                                    </p:animEffect>
                                    <p:set>
                                      <p:cBhvr>
                                        <p:cTn id="250" dur="1" fill="hold">
                                          <p:stCondLst>
                                            <p:cond delay="349"/>
                                          </p:stCondLst>
                                        </p:cTn>
                                        <p:tgtEl>
                                          <p:spTgt spid="30"/>
                                        </p:tgtEl>
                                        <p:attrNameLst>
                                          <p:attrName>style.visibility</p:attrName>
                                        </p:attrNameLst>
                                      </p:cBhvr>
                                      <p:to>
                                        <p:strVal val="hidden"/>
                                      </p:to>
                                    </p:set>
                                  </p:childTnLst>
                                </p:cTn>
                              </p:par>
                              <p:par>
                                <p:cTn id="251" presetID="10" presetClass="exit" presetSubtype="0" fill="hold" nodeType="withEffect">
                                  <p:stCondLst>
                                    <p:cond delay="0"/>
                                  </p:stCondLst>
                                  <p:childTnLst>
                                    <p:animEffect transition="out" filter="fade">
                                      <p:cBhvr>
                                        <p:cTn id="252" dur="350"/>
                                        <p:tgtEl>
                                          <p:spTgt spid="31"/>
                                        </p:tgtEl>
                                      </p:cBhvr>
                                    </p:animEffect>
                                    <p:set>
                                      <p:cBhvr>
                                        <p:cTn id="253" dur="1" fill="hold">
                                          <p:stCondLst>
                                            <p:cond delay="349"/>
                                          </p:stCondLst>
                                        </p:cTn>
                                        <p:tgtEl>
                                          <p:spTgt spid="31"/>
                                        </p:tgtEl>
                                        <p:attrNameLst>
                                          <p:attrName>style.visibility</p:attrName>
                                        </p:attrNameLst>
                                      </p:cBhvr>
                                      <p:to>
                                        <p:strVal val="hidden"/>
                                      </p:to>
                                    </p:set>
                                  </p:childTnLst>
                                </p:cTn>
                              </p:par>
                              <p:par>
                                <p:cTn id="254" presetID="10" presetClass="exit" presetSubtype="0" fill="hold" nodeType="withEffect">
                                  <p:stCondLst>
                                    <p:cond delay="0"/>
                                  </p:stCondLst>
                                  <p:childTnLst>
                                    <p:animEffect transition="out" filter="fade">
                                      <p:cBhvr>
                                        <p:cTn id="255" dur="350"/>
                                        <p:tgtEl>
                                          <p:spTgt spid="32"/>
                                        </p:tgtEl>
                                      </p:cBhvr>
                                    </p:animEffect>
                                    <p:set>
                                      <p:cBhvr>
                                        <p:cTn id="256" dur="1" fill="hold">
                                          <p:stCondLst>
                                            <p:cond delay="349"/>
                                          </p:stCondLst>
                                        </p:cTn>
                                        <p:tgtEl>
                                          <p:spTgt spid="32"/>
                                        </p:tgtEl>
                                        <p:attrNameLst>
                                          <p:attrName>style.visibility</p:attrName>
                                        </p:attrNameLst>
                                      </p:cBhvr>
                                      <p:to>
                                        <p:strVal val="hidden"/>
                                      </p:to>
                                    </p:set>
                                  </p:childTnLst>
                                </p:cTn>
                              </p:par>
                              <p:par>
                                <p:cTn id="257" presetID="10" presetClass="exit" presetSubtype="0" grpId="0" fill="hold" nodeType="withEffect">
                                  <p:stCondLst>
                                    <p:cond delay="0"/>
                                  </p:stCondLst>
                                  <p:childTnLst>
                                    <p:animEffect transition="out" filter="fade">
                                      <p:cBhvr>
                                        <p:cTn id="258" dur="350"/>
                                        <p:tgtEl>
                                          <p:spTgt spid="33">
                                            <p:txEl>
                                              <p:pRg st="0" end="0"/>
                                            </p:txEl>
                                          </p:spTgt>
                                        </p:tgtEl>
                                      </p:cBhvr>
                                    </p:animEffect>
                                    <p:set>
                                      <p:cBhvr>
                                        <p:cTn id="259" dur="1" fill="hold">
                                          <p:stCondLst>
                                            <p:cond delay="349"/>
                                          </p:stCondLst>
                                        </p:cTn>
                                        <p:tgtEl>
                                          <p:spTgt spid="33">
                                            <p:txEl>
                                              <p:pRg st="0" end="0"/>
                                            </p:txEl>
                                          </p:spTgt>
                                        </p:tgtEl>
                                        <p:attrNameLst>
                                          <p:attrName>style.visibility</p:attrName>
                                        </p:attrNameLst>
                                      </p:cBhvr>
                                      <p:to>
                                        <p:strVal val="hidden"/>
                                      </p:to>
                                    </p:set>
                                  </p:childTnLst>
                                </p:cTn>
                              </p:par>
                              <p:par>
                                <p:cTn id="260" presetID="10" presetClass="exit" presetSubtype="0" grpId="0" fill="hold" nodeType="withEffect">
                                  <p:stCondLst>
                                    <p:cond delay="0"/>
                                  </p:stCondLst>
                                  <p:childTnLst>
                                    <p:animEffect transition="out" filter="fade">
                                      <p:cBhvr>
                                        <p:cTn id="261" dur="350"/>
                                        <p:tgtEl>
                                          <p:spTgt spid="33">
                                            <p:txEl>
                                              <p:pRg st="1" end="1"/>
                                            </p:txEl>
                                          </p:spTgt>
                                        </p:tgtEl>
                                      </p:cBhvr>
                                    </p:animEffect>
                                    <p:set>
                                      <p:cBhvr>
                                        <p:cTn id="262" dur="1" fill="hold">
                                          <p:stCondLst>
                                            <p:cond delay="349"/>
                                          </p:stCondLst>
                                        </p:cTn>
                                        <p:tgtEl>
                                          <p:spTgt spid="33">
                                            <p:txEl>
                                              <p:pRg st="1" end="1"/>
                                            </p:txEl>
                                          </p:spTgt>
                                        </p:tgtEl>
                                        <p:attrNameLst>
                                          <p:attrName>style.visibility</p:attrName>
                                        </p:attrNameLst>
                                      </p:cBhvr>
                                      <p:to>
                                        <p:strVal val="hidden"/>
                                      </p:to>
                                    </p:set>
                                  </p:childTnLst>
                                </p:cTn>
                              </p:par>
                              <p:par>
                                <p:cTn id="263" presetID="10" presetClass="exit" presetSubtype="0" grpId="0" fill="hold" nodeType="withEffect">
                                  <p:stCondLst>
                                    <p:cond delay="0"/>
                                  </p:stCondLst>
                                  <p:childTnLst>
                                    <p:animEffect transition="out" filter="fade">
                                      <p:cBhvr>
                                        <p:cTn id="264" dur="350"/>
                                        <p:tgtEl>
                                          <p:spTgt spid="33">
                                            <p:txEl>
                                              <p:pRg st="2" end="2"/>
                                            </p:txEl>
                                          </p:spTgt>
                                        </p:tgtEl>
                                      </p:cBhvr>
                                    </p:animEffect>
                                    <p:set>
                                      <p:cBhvr>
                                        <p:cTn id="265" dur="1" fill="hold">
                                          <p:stCondLst>
                                            <p:cond delay="349"/>
                                          </p:stCondLst>
                                        </p:cTn>
                                        <p:tgtEl>
                                          <p:spTgt spid="33">
                                            <p:txEl>
                                              <p:pRg st="2" end="2"/>
                                            </p:txEl>
                                          </p:spTgt>
                                        </p:tgtEl>
                                        <p:attrNameLst>
                                          <p:attrName>style.visibility</p:attrName>
                                        </p:attrNameLst>
                                      </p:cBhvr>
                                      <p:to>
                                        <p:strVal val="hidden"/>
                                      </p:to>
                                    </p:set>
                                  </p:childTnLst>
                                </p:cTn>
                              </p:par>
                              <p:par>
                                <p:cTn id="266" presetID="10" presetClass="exit" presetSubtype="0" fill="hold" nodeType="withEffect">
                                  <p:stCondLst>
                                    <p:cond delay="0"/>
                                  </p:stCondLst>
                                  <p:childTnLst>
                                    <p:animEffect transition="out" filter="fade">
                                      <p:cBhvr>
                                        <p:cTn id="267" dur="350"/>
                                        <p:tgtEl>
                                          <p:spTgt spid="34"/>
                                        </p:tgtEl>
                                      </p:cBhvr>
                                    </p:animEffect>
                                    <p:set>
                                      <p:cBhvr>
                                        <p:cTn id="268" dur="1" fill="hold">
                                          <p:stCondLst>
                                            <p:cond delay="349"/>
                                          </p:stCondLst>
                                        </p:cTn>
                                        <p:tgtEl>
                                          <p:spTgt spid="34"/>
                                        </p:tgtEl>
                                        <p:attrNameLst>
                                          <p:attrName>style.visibility</p:attrName>
                                        </p:attrNameLst>
                                      </p:cBhvr>
                                      <p:to>
                                        <p:strVal val="hidden"/>
                                      </p:to>
                                    </p:set>
                                  </p:childTnLst>
                                </p:cTn>
                              </p:par>
                              <p:par>
                                <p:cTn id="269" presetID="10" presetClass="exit" presetSubtype="0" fill="hold" nodeType="withEffect">
                                  <p:stCondLst>
                                    <p:cond delay="0"/>
                                  </p:stCondLst>
                                  <p:childTnLst>
                                    <p:animEffect transition="out" filter="fade">
                                      <p:cBhvr>
                                        <p:cTn id="270" dur="350"/>
                                        <p:tgtEl>
                                          <p:spTgt spid="35"/>
                                        </p:tgtEl>
                                      </p:cBhvr>
                                    </p:animEffect>
                                    <p:set>
                                      <p:cBhvr>
                                        <p:cTn id="271" dur="1" fill="hold">
                                          <p:stCondLst>
                                            <p:cond delay="349"/>
                                          </p:stCondLst>
                                        </p:cTn>
                                        <p:tgtEl>
                                          <p:spTgt spid="35"/>
                                        </p:tgtEl>
                                        <p:attrNameLst>
                                          <p:attrName>style.visibility</p:attrName>
                                        </p:attrNameLst>
                                      </p:cBhvr>
                                      <p:to>
                                        <p:strVal val="hidden"/>
                                      </p:to>
                                    </p:set>
                                  </p:childTnLst>
                                </p:cTn>
                              </p:par>
                              <p:par>
                                <p:cTn id="272" presetID="10" presetClass="exit" presetSubtype="0" fill="hold" nodeType="withEffect">
                                  <p:stCondLst>
                                    <p:cond delay="0"/>
                                  </p:stCondLst>
                                  <p:childTnLst>
                                    <p:animEffect transition="out" filter="fade">
                                      <p:cBhvr>
                                        <p:cTn id="273" dur="350"/>
                                        <p:tgtEl>
                                          <p:spTgt spid="36"/>
                                        </p:tgtEl>
                                      </p:cBhvr>
                                    </p:animEffect>
                                    <p:set>
                                      <p:cBhvr>
                                        <p:cTn id="274" dur="1" fill="hold">
                                          <p:stCondLst>
                                            <p:cond delay="349"/>
                                          </p:stCondLst>
                                        </p:cTn>
                                        <p:tgtEl>
                                          <p:spTgt spid="36"/>
                                        </p:tgtEl>
                                        <p:attrNameLst>
                                          <p:attrName>style.visibility</p:attrName>
                                        </p:attrNameLst>
                                      </p:cBhvr>
                                      <p:to>
                                        <p:strVal val="hidden"/>
                                      </p:to>
                                    </p:set>
                                  </p:childTnLst>
                                </p:cTn>
                              </p:par>
                              <p:par>
                                <p:cTn id="275" presetID="10" presetClass="entr" presetSubtype="0" fill="hold" nodeType="withEffect">
                                  <p:stCondLst>
                                    <p:cond delay="450"/>
                                  </p:stCondLst>
                                  <p:childTnLst>
                                    <p:set>
                                      <p:cBhvr>
                                        <p:cTn id="276" dur="1" fill="hold">
                                          <p:stCondLst>
                                            <p:cond delay="0"/>
                                          </p:stCondLst>
                                        </p:cTn>
                                        <p:tgtEl>
                                          <p:spTgt spid="37"/>
                                        </p:tgtEl>
                                        <p:attrNameLst>
                                          <p:attrName>style.visibility</p:attrName>
                                        </p:attrNameLst>
                                      </p:cBhvr>
                                      <p:to>
                                        <p:strVal val="visible"/>
                                      </p:to>
                                    </p:set>
                                    <p:animEffect transition="in" filter="fade">
                                      <p:cBhvr>
                                        <p:cTn id="277" dur="450"/>
                                        <p:tgtEl>
                                          <p:spTgt spid="37"/>
                                        </p:tgtEl>
                                      </p:cBhvr>
                                    </p:animEffect>
                                  </p:childTnLst>
                                </p:cTn>
                              </p:par>
                              <p:par>
                                <p:cTn id="278" presetID="10" presetClass="entr" presetSubtype="0" fill="hold" nodeType="withEffect">
                                  <p:stCondLst>
                                    <p:cond delay="520"/>
                                  </p:stCondLst>
                                  <p:childTnLst>
                                    <p:set>
                                      <p:cBhvr>
                                        <p:cTn id="279" dur="1" fill="hold">
                                          <p:stCondLst>
                                            <p:cond delay="0"/>
                                          </p:stCondLst>
                                        </p:cTn>
                                        <p:tgtEl>
                                          <p:spTgt spid="38"/>
                                        </p:tgtEl>
                                        <p:attrNameLst>
                                          <p:attrName>style.visibility</p:attrName>
                                        </p:attrNameLst>
                                      </p:cBhvr>
                                      <p:to>
                                        <p:strVal val="visible"/>
                                      </p:to>
                                    </p:set>
                                    <p:animEffect transition="in" filter="fade">
                                      <p:cBhvr>
                                        <p:cTn id="280" dur="450"/>
                                        <p:tgtEl>
                                          <p:spTgt spid="38"/>
                                        </p:tgtEl>
                                      </p:cBhvr>
                                    </p:animEffect>
                                  </p:childTnLst>
                                </p:cTn>
                              </p:par>
                              <p:par>
                                <p:cTn id="281" presetID="22" presetClass="entr" presetSubtype="4" fill="hold" nodeType="withEffect">
                                  <p:stCondLst>
                                    <p:cond delay="520"/>
                                  </p:stCondLst>
                                  <p:childTnLst>
                                    <p:set>
                                      <p:cBhvr>
                                        <p:cTn id="282" dur="1" fill="hold">
                                          <p:stCondLst>
                                            <p:cond delay="0"/>
                                          </p:stCondLst>
                                        </p:cTn>
                                        <p:tgtEl>
                                          <p:spTgt spid="39"/>
                                        </p:tgtEl>
                                        <p:attrNameLst>
                                          <p:attrName>style.visibility</p:attrName>
                                        </p:attrNameLst>
                                      </p:cBhvr>
                                      <p:to>
                                        <p:strVal val="visible"/>
                                      </p:to>
                                    </p:set>
                                    <p:animEffect transition="in" filter="wipe(down)">
                                      <p:cBhvr>
                                        <p:cTn id="283" dur="500"/>
                                        <p:tgtEl>
                                          <p:spTgt spid="39"/>
                                        </p:tgtEl>
                                      </p:cBhvr>
                                    </p:animEffect>
                                  </p:childTnLst>
                                </p:cTn>
                              </p:par>
                              <p:par>
                                <p:cTn id="284" presetID="22" presetClass="entr" presetSubtype="4" fill="hold" nodeType="withEffect">
                                  <p:stCondLst>
                                    <p:cond delay="590"/>
                                  </p:stCondLst>
                                  <p:childTnLst>
                                    <p:set>
                                      <p:cBhvr>
                                        <p:cTn id="285" dur="1" fill="hold">
                                          <p:stCondLst>
                                            <p:cond delay="0"/>
                                          </p:stCondLst>
                                        </p:cTn>
                                        <p:tgtEl>
                                          <p:spTgt spid="40"/>
                                        </p:tgtEl>
                                        <p:attrNameLst>
                                          <p:attrName>style.visibility</p:attrName>
                                        </p:attrNameLst>
                                      </p:cBhvr>
                                      <p:to>
                                        <p:strVal val="visible"/>
                                      </p:to>
                                    </p:set>
                                    <p:animEffect transition="in" filter="wipe(down)">
                                      <p:cBhvr>
                                        <p:cTn id="286" dur="500"/>
                                        <p:tgtEl>
                                          <p:spTgt spid="40"/>
                                        </p:tgtEl>
                                      </p:cBhvr>
                                    </p:animEffect>
                                  </p:childTnLst>
                                </p:cTn>
                              </p:par>
                              <p:par>
                                <p:cTn id="287" presetID="10" presetClass="entr" presetSubtype="0" grpId="0" fill="hold" nodeType="withEffect">
                                  <p:stCondLst>
                                    <p:cond delay="660"/>
                                  </p:stCondLst>
                                  <p:childTnLst>
                                    <p:set>
                                      <p:cBhvr>
                                        <p:cTn id="288" dur="1" fill="hold">
                                          <p:stCondLst>
                                            <p:cond delay="0"/>
                                          </p:stCondLst>
                                        </p:cTn>
                                        <p:tgtEl>
                                          <p:spTgt spid="41">
                                            <p:txEl>
                                              <p:pRg st="0" end="0"/>
                                            </p:txEl>
                                          </p:spTgt>
                                        </p:tgtEl>
                                        <p:attrNameLst>
                                          <p:attrName>style.visibility</p:attrName>
                                        </p:attrNameLst>
                                      </p:cBhvr>
                                      <p:to>
                                        <p:strVal val="visible"/>
                                      </p:to>
                                    </p:set>
                                    <p:animEffect transition="in" filter="fade">
                                      <p:cBhvr>
                                        <p:cTn id="289" dur="450"/>
                                        <p:tgtEl>
                                          <p:spTgt spid="41">
                                            <p:txEl>
                                              <p:pRg st="0" end="0"/>
                                            </p:txEl>
                                          </p:spTgt>
                                        </p:tgtEl>
                                      </p:cBhvr>
                                    </p:animEffect>
                                  </p:childTnLst>
                                </p:cTn>
                              </p:par>
                              <p:par>
                                <p:cTn id="290" presetID="10" presetClass="entr" presetSubtype="0" grpId="0" fill="hold" nodeType="withEffect">
                                  <p:stCondLst>
                                    <p:cond delay="1040"/>
                                  </p:stCondLst>
                                  <p:childTnLst>
                                    <p:set>
                                      <p:cBhvr>
                                        <p:cTn id="291" dur="1" fill="hold">
                                          <p:stCondLst>
                                            <p:cond delay="0"/>
                                          </p:stCondLst>
                                        </p:cTn>
                                        <p:tgtEl>
                                          <p:spTgt spid="41">
                                            <p:txEl>
                                              <p:pRg st="1" end="1"/>
                                            </p:txEl>
                                          </p:spTgt>
                                        </p:tgtEl>
                                        <p:attrNameLst>
                                          <p:attrName>style.visibility</p:attrName>
                                        </p:attrNameLst>
                                      </p:cBhvr>
                                      <p:to>
                                        <p:strVal val="visible"/>
                                      </p:to>
                                    </p:set>
                                    <p:animEffect transition="in" filter="fade">
                                      <p:cBhvr>
                                        <p:cTn id="292" dur="450"/>
                                        <p:tgtEl>
                                          <p:spTgt spid="41">
                                            <p:txEl>
                                              <p:pRg st="1" end="1"/>
                                            </p:txEl>
                                          </p:spTgt>
                                        </p:tgtEl>
                                      </p:cBhvr>
                                    </p:animEffect>
                                  </p:childTnLst>
                                </p:cTn>
                              </p:par>
                              <p:par>
                                <p:cTn id="293" presetID="10" presetClass="entr" presetSubtype="0" grpId="0" fill="hold" nodeType="withEffect">
                                  <p:stCondLst>
                                    <p:cond delay="1420"/>
                                  </p:stCondLst>
                                  <p:childTnLst>
                                    <p:set>
                                      <p:cBhvr>
                                        <p:cTn id="294" dur="1" fill="hold">
                                          <p:stCondLst>
                                            <p:cond delay="0"/>
                                          </p:stCondLst>
                                        </p:cTn>
                                        <p:tgtEl>
                                          <p:spTgt spid="41">
                                            <p:txEl>
                                              <p:pRg st="2" end="2"/>
                                            </p:txEl>
                                          </p:spTgt>
                                        </p:tgtEl>
                                        <p:attrNameLst>
                                          <p:attrName>style.visibility</p:attrName>
                                        </p:attrNameLst>
                                      </p:cBhvr>
                                      <p:to>
                                        <p:strVal val="visible"/>
                                      </p:to>
                                    </p:set>
                                    <p:animEffect transition="in" filter="fade">
                                      <p:cBhvr>
                                        <p:cTn id="295" dur="450"/>
                                        <p:tgtEl>
                                          <p:spTgt spid="41">
                                            <p:txEl>
                                              <p:pRg st="2" end="2"/>
                                            </p:txEl>
                                          </p:spTgt>
                                        </p:tgtEl>
                                      </p:cBhvr>
                                    </p:animEffect>
                                  </p:childTnLst>
                                </p:cTn>
                              </p:par>
                              <p:par>
                                <p:cTn id="296" presetID="10" presetClass="entr" presetSubtype="0" fill="hold" nodeType="withEffect">
                                  <p:stCondLst>
                                    <p:cond delay="730"/>
                                  </p:stCondLst>
                                  <p:childTnLst>
                                    <p:set>
                                      <p:cBhvr>
                                        <p:cTn id="297" dur="1" fill="hold">
                                          <p:stCondLst>
                                            <p:cond delay="0"/>
                                          </p:stCondLst>
                                        </p:cTn>
                                        <p:tgtEl>
                                          <p:spTgt spid="42"/>
                                        </p:tgtEl>
                                        <p:attrNameLst>
                                          <p:attrName>style.visibility</p:attrName>
                                        </p:attrNameLst>
                                      </p:cBhvr>
                                      <p:to>
                                        <p:strVal val="visible"/>
                                      </p:to>
                                    </p:set>
                                    <p:animEffect transition="in" filter="fade">
                                      <p:cBhvr>
                                        <p:cTn id="298" dur="450"/>
                                        <p:tgtEl>
                                          <p:spTgt spid="42"/>
                                        </p:tgtEl>
                                      </p:cBhvr>
                                    </p:animEffect>
                                  </p:childTnLst>
                                </p:cTn>
                              </p:par>
                              <p:par>
                                <p:cTn id="299" presetID="22" presetClass="entr" presetSubtype="4" fill="hold" nodeType="withEffect">
                                  <p:stCondLst>
                                    <p:cond delay="800"/>
                                  </p:stCondLst>
                                  <p:childTnLst>
                                    <p:set>
                                      <p:cBhvr>
                                        <p:cTn id="300" dur="1" fill="hold">
                                          <p:stCondLst>
                                            <p:cond delay="0"/>
                                          </p:stCondLst>
                                        </p:cTn>
                                        <p:tgtEl>
                                          <p:spTgt spid="43"/>
                                        </p:tgtEl>
                                        <p:attrNameLst>
                                          <p:attrName>style.visibility</p:attrName>
                                        </p:attrNameLst>
                                      </p:cBhvr>
                                      <p:to>
                                        <p:strVal val="visible"/>
                                      </p:to>
                                    </p:set>
                                    <p:animEffect transition="in" filter="wipe(down)">
                                      <p:cBhvr>
                                        <p:cTn id="301" dur="500"/>
                                        <p:tgtEl>
                                          <p:spTgt spid="43"/>
                                        </p:tgtEl>
                                      </p:cBhvr>
                                    </p:animEffect>
                                  </p:childTnLst>
                                </p:cTn>
                              </p:par>
                              <p:par>
                                <p:cTn id="302" presetID="10" presetClass="entr" presetSubtype="0" fill="hold" nodeType="withEffect">
                                  <p:stCondLst>
                                    <p:cond delay="870"/>
                                  </p:stCondLst>
                                  <p:childTnLst>
                                    <p:set>
                                      <p:cBhvr>
                                        <p:cTn id="303" dur="1" fill="hold">
                                          <p:stCondLst>
                                            <p:cond delay="0"/>
                                          </p:stCondLst>
                                        </p:cTn>
                                        <p:tgtEl>
                                          <p:spTgt spid="44"/>
                                        </p:tgtEl>
                                        <p:attrNameLst>
                                          <p:attrName>style.visibility</p:attrName>
                                        </p:attrNameLst>
                                      </p:cBhvr>
                                      <p:to>
                                        <p:strVal val="visible"/>
                                      </p:to>
                                    </p:set>
                                    <p:animEffect transition="in" filter="fade">
                                      <p:cBhvr>
                                        <p:cTn id="304" dur="450"/>
                                        <p:tgtEl>
                                          <p:spTgt spid="44"/>
                                        </p:tgtEl>
                                      </p:cBhvr>
                                    </p:animEffect>
                                  </p:childTnLst>
                                </p:cTn>
                              </p:par>
                              <p:par>
                                <p:cTn id="305" presetID="22" presetClass="entr" presetSubtype="4" fill="hold" nodeType="withEffect">
                                  <p:stCondLst>
                                    <p:cond delay="940"/>
                                  </p:stCondLst>
                                  <p:childTnLst>
                                    <p:set>
                                      <p:cBhvr>
                                        <p:cTn id="306" dur="1" fill="hold">
                                          <p:stCondLst>
                                            <p:cond delay="0"/>
                                          </p:stCondLst>
                                        </p:cTn>
                                        <p:tgtEl>
                                          <p:spTgt spid="45"/>
                                        </p:tgtEl>
                                        <p:attrNameLst>
                                          <p:attrName>style.visibility</p:attrName>
                                        </p:attrNameLst>
                                      </p:cBhvr>
                                      <p:to>
                                        <p:strVal val="visible"/>
                                      </p:to>
                                    </p:set>
                                    <p:animEffect transition="in" filter="wipe(down)">
                                      <p:cBhvr>
                                        <p:cTn id="307" dur="500"/>
                                        <p:tgtEl>
                                          <p:spTgt spid="45"/>
                                        </p:tgtEl>
                                      </p:cBhvr>
                                    </p:animEffect>
                                  </p:childTnLst>
                                </p:cTn>
                              </p:par>
                              <p:par>
                                <p:cTn id="308" presetID="10" presetClass="entr" presetSubtype="0" fill="hold" nodeType="withEffect">
                                  <p:stCondLst>
                                    <p:cond delay="1010"/>
                                  </p:stCondLst>
                                  <p:childTnLst>
                                    <p:set>
                                      <p:cBhvr>
                                        <p:cTn id="309" dur="1" fill="hold">
                                          <p:stCondLst>
                                            <p:cond delay="0"/>
                                          </p:stCondLst>
                                        </p:cTn>
                                        <p:tgtEl>
                                          <p:spTgt spid="46"/>
                                        </p:tgtEl>
                                        <p:attrNameLst>
                                          <p:attrName>style.visibility</p:attrName>
                                        </p:attrNameLst>
                                      </p:cBhvr>
                                      <p:to>
                                        <p:strVal val="visible"/>
                                      </p:to>
                                    </p:set>
                                    <p:animEffect transition="in" filter="fade">
                                      <p:cBhvr>
                                        <p:cTn id="310" dur="450"/>
                                        <p:tgtEl>
                                          <p:spTgt spid="46"/>
                                        </p:tgtEl>
                                      </p:cBhvr>
                                    </p:animEffect>
                                  </p:childTnLst>
                                </p:cTn>
                              </p:par>
                              <p:par>
                                <p:cTn id="311" presetID="22" presetClass="entr" presetSubtype="4" fill="hold" nodeType="withEffect">
                                  <p:stCondLst>
                                    <p:cond delay="1080"/>
                                  </p:stCondLst>
                                  <p:childTnLst>
                                    <p:set>
                                      <p:cBhvr>
                                        <p:cTn id="312" dur="1" fill="hold">
                                          <p:stCondLst>
                                            <p:cond delay="0"/>
                                          </p:stCondLst>
                                        </p:cTn>
                                        <p:tgtEl>
                                          <p:spTgt spid="47"/>
                                        </p:tgtEl>
                                        <p:attrNameLst>
                                          <p:attrName>style.visibility</p:attrName>
                                        </p:attrNameLst>
                                      </p:cBhvr>
                                      <p:to>
                                        <p:strVal val="visible"/>
                                      </p:to>
                                    </p:set>
                                    <p:animEffect transition="in" filter="wipe(down)">
                                      <p:cBhvr>
                                        <p:cTn id="313" dur="500"/>
                                        <p:tgtEl>
                                          <p:spTgt spid="47"/>
                                        </p:tgtEl>
                                      </p:cBhvr>
                                    </p:animEffect>
                                  </p:childTnLst>
                                </p:cTn>
                              </p:par>
                              <p:par>
                                <p:cTn id="314" presetID="10" presetClass="entr" presetSubtype="0" fill="hold" nodeType="withEffect">
                                  <p:stCondLst>
                                    <p:cond delay="580"/>
                                  </p:stCondLst>
                                  <p:childTnLst>
                                    <p:set>
                                      <p:cBhvr>
                                        <p:cTn id="315" dur="1" fill="hold">
                                          <p:stCondLst>
                                            <p:cond delay="0"/>
                                          </p:stCondLst>
                                        </p:cTn>
                                        <p:tgtEl>
                                          <p:spTgt spid="48"/>
                                        </p:tgtEl>
                                        <p:attrNameLst>
                                          <p:attrName>style.visibility</p:attrName>
                                        </p:attrNameLst>
                                      </p:cBhvr>
                                      <p:to>
                                        <p:strVal val="visible"/>
                                      </p:to>
                                    </p:set>
                                    <p:animEffect transition="in" filter="fade">
                                      <p:cBhvr>
                                        <p:cTn id="316"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7" grpId="0" build="p"/>
      <p:bldP spid="25" grpId="0" build="p"/>
      <p:bldP spid="29" grpId="0" build="p"/>
      <p:bldP spid="33" grpId="0" build="p"/>
      <p:bldP spid="4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 la captura al registro espacio–tiempo y al servidor</a:t>
            </a:r>
            <a:endParaRPr lang="en-US" sz="2200" dirty="0"/>
          </a:p>
        </p:txBody>
      </p:sp>
      <p:sp>
        <p:nvSpPr>
          <p:cNvPr id="3" name="Obj [o85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captura real: el impacto del HAMMER marca el tiempo y el geófono lo sigue</a:t>
            </a:r>
            <a:endParaRPr lang="en-US" sz="1400" dirty="0"/>
          </a:p>
        </p:txBody>
      </p:sp>
      <p:pic>
        <p:nvPicPr>
          <p:cNvPr id="4" name="Obj [o851]" descr="Ejemplo de adquisición real a 24 metros: canal crudo del HAMMER con el impacto, registro del geófono con su nivel de continua y vista de trabajo centrada y filtrada">    </p:cNvPr>
          <p:cNvPicPr>
            <a:picLocks noChangeAspect="1"/>
          </p:cNvPicPr>
          <p:nvPr/>
        </p:nvPicPr>
        <p:blipFill>
          <a:blip r:embed="rId1"/>
          <a:stretch>
            <a:fillRect/>
          </a:stretch>
        </p:blipFill>
        <p:spPr>
          <a:xfrm>
            <a:off x="886005" y="1561458"/>
            <a:ext cx="4647558" cy="2828514"/>
          </a:xfrm>
          <a:prstGeom prst="rect">
            <a:avLst/>
          </a:prstGeom>
        </p:spPr>
      </p:pic>
      <p:sp>
        <p:nvSpPr>
          <p:cNvPr id="5" name="Obj [o852]"/>
          <p:cNvSpPr txBox="1"/>
          <p:nvPr/>
        </p:nvSpPr>
        <p:spPr>
          <a:xfrm>
            <a:off x="5693824" y="1561458"/>
            <a:ext cx="2484040" cy="2403909"/>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Arriba: el HAMMER; su pico fija el instante del impacto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Medio: el geófono crudo, con su nivel de continua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Abajo: la vista de trabajo, centrada y filtrada, para alinear</a:t>
            </a:r>
            <a:endParaRPr lang="en-US" sz="1260" dirty="0"/>
          </a:p>
        </p:txBody>
      </p:sp>
      <p:sp>
        <p:nvSpPr>
          <p:cNvPr id="6" name="Obj [o85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06_metodologia_validacion.tex (ejemplo de adquisición real, 24 m). Figura del repo; no está en el resumen firmado.</a:t>
            </a:r>
            <a:endParaRPr lang="en-US" sz="800" dirty="0"/>
          </a:p>
        </p:txBody>
      </p:sp>
      <p:sp>
        <p:nvSpPr>
          <p:cNvPr id="7" name="Obj [o85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posición se alinea con el HAMMER y se promedia traza por traza</a:t>
            </a:r>
            <a:endParaRPr lang="en-US" sz="1400" dirty="0"/>
          </a:p>
        </p:txBody>
      </p:sp>
      <p:pic>
        <p:nvPicPr>
          <p:cNvPr id="8" name="Obj [o855]" descr="Interfaz de escritorio de procesamiento: lista de capturas con distancia y disparo, señal del martillo con el disparo detectado y respuesta del geófono alineada, superpuesta a las demás capturas de la misma posición">    </p:cNvPr>
          <p:cNvPicPr>
            <a:picLocks noChangeAspect="1"/>
          </p:cNvPicPr>
          <p:nvPr/>
        </p:nvPicPr>
        <p:blipFill>
          <a:blip r:embed="rId2"/>
          <a:stretch>
            <a:fillRect/>
          </a:stretch>
        </p:blipFill>
        <p:spPr>
          <a:xfrm>
            <a:off x="365760" y="1557362"/>
            <a:ext cx="3725683" cy="2334761"/>
          </a:xfrm>
          <a:prstGeom prst="rect">
            <a:avLst/>
          </a:prstGeom>
        </p:spPr>
      </p:pic>
      <p:sp>
        <p:nvSpPr>
          <p:cNvPr id="9" name="Obj [o856]"/>
          <p:cNvSpPr txBox="1"/>
          <p:nvPr/>
        </p:nvSpPr>
        <p:spPr>
          <a:xfrm>
            <a:off x="4319546" y="1557362"/>
            <a:ext cx="2965340" cy="1976893"/>
          </a:xfrm>
          <a:prstGeom prst="rect">
            <a:avLst/>
          </a:prstGeom>
          <a:noFill/>
          <a:ln/>
        </p:spPr>
        <p:txBody>
          <a:bodyPr wrap="square" lIns="0" tIns="0" rIns="0" bIns="0" rtlCol="0" anchor="t"/>
          <a:lstStyle/>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aceptan las capturas revisadas</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alinean con el impacto del HAMMER</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llevan a una </a:t>
            </a:r>
            <mc:AlternateContent xmlns:mc="http://schemas.openxmlformats.org/markup-compatibility/2006">
              <mc:Choice xmlns:a14="http://schemas.microsoft.com/office/drawing/2010/main" Requires="a14">
                <a14:m>
                  <m:oMath xmlns:m="http://schemas.openxmlformats.org/officeDocument/2006/math">
                    <m:sSub>
                      <m:sSubPr>
                        <m:ctrlPr>
                          <a:rPr lang="es-ES" sz="1294" i="1">
                            <a:latin typeface="Cambria Math" panose="02040503050406030204" pitchFamily="18" charset="0"/>
                          </a:rPr>
                        </m:ctrlPr>
                      </m:sSubPr>
                      <m:e>
                        <m:r>
                          <a:rPr lang="es-ES" sz="1294" i="1">
                            <a:solidFill>
                              <a:srgbClr val="2D2D2D"/>
                            </a:solidFill>
                            <a:latin typeface="Cambria Math" panose="02040503050406030204" pitchFamily="18" charset="0"/>
                          </a:rPr>
                          <m:t xml:space="preserve">f</m:t>
                        </m:r>
                      </m:e>
                      <m:sub>
                        <m:r>
                          <a:rPr lang="es-ES" sz="1294" i="1">
                            <a:solidFill>
                              <a:srgbClr val="2D2D2D"/>
                            </a:solidFill>
                            <a:latin typeface="Cambria Math" panose="02040503050406030204" pitchFamily="18" charset="0"/>
                          </a:rPr>
                          <m:t xml:space="preserve">s</m:t>
                        </m:r>
                      </m:sub>
                    </m:sSub>
                  </m:oMath>
                </a14:m>
              </mc:Choice>
              <mc:Fallback>
                <a:r>
                  <a:rPr lang="en-US" sz="1294" dirty="0">
                    <a:solidFill>
                      <a:srgbClr val="2D2D2D"/>
                    </a:solidFill>
                    <a:latin typeface="Arial" pitchFamily="34" charset="0"/>
                    <a:ea typeface="Arial" pitchFamily="34" charset="-122"/>
                    <a:cs typeface="Arial" pitchFamily="34" charset="-120"/>
                  </a:rPr>
                  <a:t>fs</a:t>
                </a:r>
              </mc:Fallback>
            </mc:AlternateContent>
            <a:r>
              <a:rPr lang="en-US" sz="1294" dirty="0">
                <a:solidFill>
                  <a:srgbClr val="2D2D2D"/>
                </a:solidFill>
                <a:latin typeface="Arial" pitchFamily="34" charset="0"/>
                <a:ea typeface="Arial" pitchFamily="34" charset="-122"/>
                <a:cs typeface="Arial" pitchFamily="34" charset="-120"/>
              </a:rPr>
              <a:t> común</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promedian muestra a muestra</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ordenan por distancia</a:t>
            </a:r>
            <a:endParaRPr lang="en-US" sz="1294" dirty="0"/>
          </a:p>
        </p:txBody>
      </p:sp>
      <p:sp>
        <p:nvSpPr>
          <p:cNvPr id="10" name="Obj [o857]"/>
          <p:cNvSpPr/>
          <p:nvPr/>
        </p:nvSpPr>
        <p:spPr>
          <a:xfrm>
            <a:off x="441794" y="3914427"/>
            <a:ext cx="6843091" cy="342155"/>
          </a:xfrm>
          <a:prstGeom prst="rect">
            <a:avLst/>
          </a:prstGeom>
          <a:solidFill>
            <a:srgbClr val="EAF1F8"/>
          </a:solidFill>
          <a:ln w="6350">
            <a:solidFill>
              <a:srgbClr val="EAF1F8"/>
            </a:solidFill>
            <a:prstDash val="solid"/>
          </a:ln>
        </p:spPr>
      </p:sp>
      <p:sp>
        <p:nvSpPr>
          <p:cNvPr id="11" name="Obj [o858]"/>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La mediana fue de unos 30 golpes por posición; se descartaron 9 de 607 registros.</a:t>
            </a:r>
            <a:endParaRPr lang="en-US" sz="1208" dirty="0"/>
          </a:p>
        </p:txBody>
      </p:sp>
      <p:sp>
        <p:nvSpPr>
          <p:cNvPr id="12" name="Obj [o85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4.10.2, fig. 16; documento de tesis, 04_validacion.tex (607 candidatos, 598 procesados, mediana de ~30 golpes).</a:t>
            </a:r>
            <a:endParaRPr lang="en-US" sz="800" dirty="0"/>
          </a:p>
        </p:txBody>
      </p:sp>
      <p:sp>
        <p:nvSpPr>
          <p:cNvPr id="13" name="Obj [o86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resultado: un registro espacio–tiempo de 21 trazas promediadas</a:t>
            </a:r>
            <a:endParaRPr lang="en-US" sz="1400" dirty="0"/>
          </a:p>
        </p:txBody>
      </p:sp>
      <p:pic>
        <p:nvPicPr>
          <p:cNvPr id="14" name="Obj [o861]" descr="Registro espacio tiempo con 21 trazas entre 10 y 50 metros, primeros 4 segundos después del impacto, cada traza normalizada">    </p:cNvPr>
          <p:cNvPicPr>
            <a:picLocks noChangeAspect="1"/>
          </p:cNvPicPr>
          <p:nvPr/>
        </p:nvPicPr>
        <p:blipFill>
          <a:blip r:embed="rId3"/>
          <a:stretch>
            <a:fillRect/>
          </a:stretch>
        </p:blipFill>
        <p:spPr>
          <a:xfrm>
            <a:off x="365760" y="1557362"/>
            <a:ext cx="4181889" cy="2311422"/>
          </a:xfrm>
          <a:prstGeom prst="rect">
            <a:avLst/>
          </a:prstGeom>
        </p:spPr>
      </p:pic>
      <p:sp>
        <p:nvSpPr>
          <p:cNvPr id="15" name="Obj [o862]"/>
          <p:cNvSpPr txBox="1"/>
          <p:nvPr/>
        </p:nvSpPr>
        <p:spPr>
          <a:xfrm>
            <a:off x="4699718" y="1557362"/>
            <a:ext cx="2585168" cy="2281030"/>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El tren de ondas llega más tarde al aumentar la distancia</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Cada traza está normalizada por su máximo: no se comparan amplitudes</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Primeros 4 s tras el impacto</a:t>
            </a:r>
            <a:endParaRPr lang="en-US" sz="1208" dirty="0"/>
          </a:p>
        </p:txBody>
      </p:sp>
      <p:sp>
        <p:nvSpPr>
          <p:cNvPr id="16" name="Obj [o863]"/>
          <p:cNvSpPr/>
          <p:nvPr/>
        </p:nvSpPr>
        <p:spPr>
          <a:xfrm>
            <a:off x="441794" y="3914427"/>
            <a:ext cx="6843091" cy="342155"/>
          </a:xfrm>
          <a:prstGeom prst="rect">
            <a:avLst/>
          </a:prstGeom>
          <a:solidFill>
            <a:srgbClr val="EAF1F8"/>
          </a:solidFill>
          <a:ln w="6350">
            <a:solidFill>
              <a:srgbClr val="EAF1F8"/>
            </a:solidFill>
            <a:prstDash val="solid"/>
          </a:ln>
        </p:spPr>
      </p:sp>
      <p:sp>
        <p:nvSpPr>
          <p:cNvPr id="17" name="Obj [o864]"/>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Demuestra adquisición secuencial; la curva de dispersión y la inversión siguen pendientes.</a:t>
            </a:r>
            <a:endParaRPr lang="en-US" sz="1208" dirty="0"/>
          </a:p>
        </p:txBody>
      </p:sp>
      <p:sp>
        <p:nvSpPr>
          <p:cNvPr id="18" name="Obj [o86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4.10.2 y fig. 17b.</a:t>
            </a:r>
            <a:endParaRPr lang="en-US" sz="800" dirty="0"/>
          </a:p>
        </p:txBody>
      </p:sp>
      <p:sp>
        <p:nvSpPr>
          <p:cNvPr id="19" name="Obj [o86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servidor conserva el original y procesa copias derivadas</a:t>
            </a:r>
            <a:endParaRPr lang="en-US" sz="1400" dirty="0"/>
          </a:p>
        </p:txBody>
      </p:sp>
      <p:pic>
        <p:nvPicPr>
          <p:cNvPr id="20" name="Obj [o867]" descr="Pipeline del servidor: ZIP v4, validación de ingesta, SHA-256, raw inmutable, AnalysisJob, preprocesamiento, organización de trazas, productos intermedios y picking con inversión">    </p:cNvPr>
          <p:cNvPicPr>
            <a:picLocks noChangeAspect="1"/>
          </p:cNvPicPr>
          <p:nvPr/>
        </p:nvPicPr>
        <p:blipFill>
          <a:blip r:embed="rId4"/>
          <a:stretch>
            <a:fillRect/>
          </a:stretch>
        </p:blipFill>
        <p:spPr>
          <a:xfrm>
            <a:off x="821966" y="1519345"/>
            <a:ext cx="6082748" cy="2053110"/>
          </a:xfrm>
          <a:prstGeom prst="rect">
            <a:avLst/>
          </a:prstGeom>
        </p:spPr>
      </p:pic>
      <p:sp>
        <p:nvSpPr>
          <p:cNvPr id="21" name="Obj [o868]"/>
          <p:cNvSpPr txBox="1"/>
          <p:nvPr/>
        </p:nvSpPr>
        <p:spPr>
          <a:xfrm>
            <a:off x="441794" y="3610290"/>
            <a:ext cx="6843091" cy="684309"/>
          </a:xfrm>
          <a:prstGeom prst="rect">
            <a:avLst/>
          </a:prstGeom>
          <a:noFill/>
          <a:ln/>
        </p:spPr>
        <p:txBody>
          <a:bodyPr wrap="square" lIns="0" tIns="0" rIns="0" bIns="0" rtlCol="0" anchor="t"/>
          <a:lstStyle/>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Se valida el paquete y se publica el original sin modificarlo (SHA-256, escritura atómica)</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El procesamiento corre en una cola independiente, sobre copias</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Picking e inversión: por hacer</a:t>
            </a:r>
            <a:endParaRPr lang="en-US" sz="1122" dirty="0"/>
          </a:p>
        </p:txBody>
      </p:sp>
      <p:sp>
        <p:nvSpPr>
          <p:cNvPr id="22" name="Obj [o86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documento de tesis, 03_diseno.tex (fig. d_servidor_ingesta); drawio, p. 20. Los detalles SHA-256 y AnalysisJob no están en el resumen.</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17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fill="hold" nodeType="withEffect">
                                  <p:stCondLst>
                                    <p:cond delay="4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350"/>
                                        <p:tgtEl>
                                          <p:spTgt spid="3"/>
                                        </p:tgtEl>
                                      </p:cBhvr>
                                    </p:animEffect>
                                    <p:set>
                                      <p:cBhvr>
                                        <p:cTn id="29" dur="1" fill="hold">
                                          <p:stCondLst>
                                            <p:cond delay="349"/>
                                          </p:stCondLst>
                                        </p:cTn>
                                        <p:tgtEl>
                                          <p:spTgt spid="3"/>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5">
                                            <p:txEl>
                                              <p:pRg st="0" end="0"/>
                                            </p:txEl>
                                          </p:spTgt>
                                        </p:tgtEl>
                                      </p:cBhvr>
                                    </p:animEffect>
                                    <p:set>
                                      <p:cBhvr>
                                        <p:cTn id="32" dur="1" fill="hold">
                                          <p:stCondLst>
                                            <p:cond delay="349"/>
                                          </p:stCondLst>
                                        </p:cTn>
                                        <p:tgtEl>
                                          <p:spTgt spid="5">
                                            <p:txEl>
                                              <p:pRg st="0" end="0"/>
                                            </p:txEl>
                                          </p:spTgt>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5">
                                            <p:txEl>
                                              <p:pRg st="1" end="1"/>
                                            </p:txEl>
                                          </p:spTgt>
                                        </p:tgtEl>
                                      </p:cBhvr>
                                    </p:animEffect>
                                    <p:set>
                                      <p:cBhvr>
                                        <p:cTn id="35" dur="1" fill="hold">
                                          <p:stCondLst>
                                            <p:cond delay="349"/>
                                          </p:stCondLst>
                                        </p:cTn>
                                        <p:tgtEl>
                                          <p:spTgt spid="5">
                                            <p:txEl>
                                              <p:pRg st="1" end="1"/>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2" end="2"/>
                                            </p:txEl>
                                          </p:spTgt>
                                        </p:tgtEl>
                                      </p:cBhvr>
                                    </p:animEffect>
                                    <p:set>
                                      <p:cBhvr>
                                        <p:cTn id="38" dur="1" fill="hold">
                                          <p:stCondLst>
                                            <p:cond delay="349"/>
                                          </p:stCondLst>
                                        </p:cTn>
                                        <p:tgtEl>
                                          <p:spTgt spid="5">
                                            <p:txEl>
                                              <p:pRg st="2" end="2"/>
                                            </p:txEl>
                                          </p:spTgt>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0" presetClass="path" presetSubtype="0" accel="50000" decel="50000" fill="hold" nodeType="withEffect">
                                  <p:stCondLst>
                                    <p:cond delay="0"/>
                                  </p:stCondLst>
                                  <p:childTnLst>
                                    <p:animMotion origin="layout" path="M 0 0 L 0.54147 -0.21054 E" pathEditMode="relative" rAng="0" ptsTypes="AA">
                                      <p:cBhvr>
                                        <p:cTn id="43" dur="750" fill="hold"/>
                                        <p:tgtEl>
                                          <p:spTgt spid="4"/>
                                        </p:tgtEl>
                                        <p:attrNameLst>
                                          <p:attrName>ppt_x</p:attrName>
                                          <p:attrName>ppt_y</p:attrName>
                                        </p:attrNameLst>
                                      </p:cBhvr>
                                      <p:rCtr x="27073" y="-10526"/>
                                    </p:animMotion>
                                  </p:childTnLst>
                                </p:cTn>
                              </p:par>
                              <p:par>
                                <p:cTn id="44" presetID="6" presetClass="emph" presetSubtype="0" accel="50000" decel="50000" fill="hold" nodeType="withEffect">
                                  <p:stCondLst>
                                    <p:cond delay="0"/>
                                  </p:stCondLst>
                                  <p:childTnLst>
                                    <p:animScale>
                                      <p:cBhvr>
                                        <p:cTn id="45" dur="750" fill="hold"/>
                                        <p:tgtEl>
                                          <p:spTgt spid="4"/>
                                        </p:tgtEl>
                                      </p:cBhvr>
                                      <p:by x="26561" y="26561"/>
                                    </p:animScale>
                                  </p:childTnLst>
                                </p:cTn>
                              </p:par>
                              <p:par>
                                <p:cTn id="46" presetID="10" presetClass="entr" presetSubtype="0" fill="hold" nodeType="withEffect">
                                  <p:stCondLst>
                                    <p:cond delay="45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450"/>
                                        <p:tgtEl>
                                          <p:spTgt spid="7"/>
                                        </p:tgtEl>
                                      </p:cBhvr>
                                    </p:animEffect>
                                  </p:childTnLst>
                                </p:cTn>
                              </p:par>
                              <p:par>
                                <p:cTn id="49" presetID="53" presetClass="entr" presetSubtype="16" fill="hold" nodeType="withEffect">
                                  <p:stCondLst>
                                    <p:cond delay="520"/>
                                  </p:stCondLst>
                                  <p:childTnLst>
                                    <p:set>
                                      <p:cBhvr>
                                        <p:cTn id="50" dur="1" fill="hold">
                                          <p:stCondLst>
                                            <p:cond delay="0"/>
                                          </p:stCondLst>
                                        </p:cTn>
                                        <p:tgtEl>
                                          <p:spTgt spid="8"/>
                                        </p:tgtEl>
                                        <p:attrNameLst>
                                          <p:attrName>style.visibility</p:attrName>
                                        </p:attrNameLst>
                                      </p:cBhvr>
                                      <p:to>
                                        <p:strVal val="visible"/>
                                      </p:to>
                                    </p:set>
                                    <p:anim calcmode="lin" valueType="num">
                                      <p:cBhvr>
                                        <p:cTn id="51" dur="600" fill="hold"/>
                                        <p:tgtEl>
                                          <p:spTgt spid="8"/>
                                        </p:tgtEl>
                                        <p:attrNameLst>
                                          <p:attrName>ppt_w</p:attrName>
                                        </p:attrNameLst>
                                      </p:cBhvr>
                                      <p:tavLst>
                                        <p:tav tm="0">
                                          <p:val>
                                            <p:fltVal val="0"/>
                                          </p:val>
                                        </p:tav>
                                        <p:tav tm="100000">
                                          <p:val>
                                            <p:strVal val="#ppt_w"/>
                                          </p:val>
                                        </p:tav>
                                      </p:tavLst>
                                    </p:anim>
                                    <p:anim calcmode="lin" valueType="num">
                                      <p:cBhvr>
                                        <p:cTn id="52" dur="600" fill="hold"/>
                                        <p:tgtEl>
                                          <p:spTgt spid="8"/>
                                        </p:tgtEl>
                                        <p:attrNameLst>
                                          <p:attrName>ppt_h</p:attrName>
                                        </p:attrNameLst>
                                      </p:cBhvr>
                                      <p:tavLst>
                                        <p:tav tm="0">
                                          <p:val>
                                            <p:fltVal val="0"/>
                                          </p:val>
                                        </p:tav>
                                        <p:tav tm="100000">
                                          <p:val>
                                            <p:strVal val="#ppt_h"/>
                                          </p:val>
                                        </p:tav>
                                      </p:tavLst>
                                    </p:anim>
                                    <p:animEffect transition="in" filter="fade">
                                      <p:cBhvr>
                                        <p:cTn id="53" dur="600"/>
                                        <p:tgtEl>
                                          <p:spTgt spid="8"/>
                                        </p:tgtEl>
                                      </p:cBhvr>
                                    </p:animEffect>
                                  </p:childTnLst>
                                </p:cTn>
                              </p:par>
                              <p:par>
                                <p:cTn id="54" presetID="10" presetClass="entr" presetSubtype="0" grpId="0" fill="hold" nodeType="withEffect">
                                  <p:stCondLst>
                                    <p:cond delay="590"/>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fade">
                                      <p:cBhvr>
                                        <p:cTn id="56" dur="450"/>
                                        <p:tgtEl>
                                          <p:spTgt spid="9">
                                            <p:txEl>
                                              <p:pRg st="0" end="0"/>
                                            </p:txEl>
                                          </p:spTgt>
                                        </p:tgtEl>
                                      </p:cBhvr>
                                    </p:animEffect>
                                  </p:childTnLst>
                                </p:cTn>
                              </p:par>
                              <p:par>
                                <p:cTn id="57" presetID="10" presetClass="entr" presetSubtype="0" grpId="0" fill="hold" nodeType="withEffect">
                                  <p:stCondLst>
                                    <p:cond delay="850"/>
                                  </p:stCondLst>
                                  <p:childTnLst>
                                    <p:set>
                                      <p:cBhvr>
                                        <p:cTn id="58" dur="1" fill="hold">
                                          <p:stCondLst>
                                            <p:cond delay="0"/>
                                          </p:stCondLst>
                                        </p:cTn>
                                        <p:tgtEl>
                                          <p:spTgt spid="9">
                                            <p:txEl>
                                              <p:pRg st="1" end="1"/>
                                            </p:txEl>
                                          </p:spTgt>
                                        </p:tgtEl>
                                        <p:attrNameLst>
                                          <p:attrName>style.visibility</p:attrName>
                                        </p:attrNameLst>
                                      </p:cBhvr>
                                      <p:to>
                                        <p:strVal val="visible"/>
                                      </p:to>
                                    </p:set>
                                    <p:animEffect transition="in" filter="fade">
                                      <p:cBhvr>
                                        <p:cTn id="59" dur="450"/>
                                        <p:tgtEl>
                                          <p:spTgt spid="9">
                                            <p:txEl>
                                              <p:pRg st="1" end="1"/>
                                            </p:txEl>
                                          </p:spTgt>
                                        </p:tgtEl>
                                      </p:cBhvr>
                                    </p:animEffect>
                                  </p:childTnLst>
                                </p:cTn>
                              </p:par>
                              <p:par>
                                <p:cTn id="60" presetID="10" presetClass="entr" presetSubtype="0" grpId="0" fill="hold" nodeType="withEffect">
                                  <p:stCondLst>
                                    <p:cond delay="1110"/>
                                  </p:stCondLst>
                                  <p:childTnLst>
                                    <p:set>
                                      <p:cBhvr>
                                        <p:cTn id="61" dur="1" fill="hold">
                                          <p:stCondLst>
                                            <p:cond delay="0"/>
                                          </p:stCondLst>
                                        </p:cTn>
                                        <p:tgtEl>
                                          <p:spTgt spid="9">
                                            <p:txEl>
                                              <p:pRg st="2" end="2"/>
                                            </p:txEl>
                                          </p:spTgt>
                                        </p:tgtEl>
                                        <p:attrNameLst>
                                          <p:attrName>style.visibility</p:attrName>
                                        </p:attrNameLst>
                                      </p:cBhvr>
                                      <p:to>
                                        <p:strVal val="visible"/>
                                      </p:to>
                                    </p:set>
                                    <p:animEffect transition="in" filter="fade">
                                      <p:cBhvr>
                                        <p:cTn id="62" dur="450"/>
                                        <p:tgtEl>
                                          <p:spTgt spid="9">
                                            <p:txEl>
                                              <p:pRg st="2" end="2"/>
                                            </p:txEl>
                                          </p:spTgt>
                                        </p:tgtEl>
                                      </p:cBhvr>
                                    </p:animEffect>
                                  </p:childTnLst>
                                </p:cTn>
                              </p:par>
                              <p:par>
                                <p:cTn id="63" presetID="10" presetClass="entr" presetSubtype="0" grpId="0" fill="hold" nodeType="withEffect">
                                  <p:stCondLst>
                                    <p:cond delay="1370"/>
                                  </p:stCondLst>
                                  <p:childTnLst>
                                    <p:set>
                                      <p:cBhvr>
                                        <p:cTn id="64" dur="1" fill="hold">
                                          <p:stCondLst>
                                            <p:cond delay="0"/>
                                          </p:stCondLst>
                                        </p:cTn>
                                        <p:tgtEl>
                                          <p:spTgt spid="9">
                                            <p:txEl>
                                              <p:pRg st="3" end="3"/>
                                            </p:txEl>
                                          </p:spTgt>
                                        </p:tgtEl>
                                        <p:attrNameLst>
                                          <p:attrName>style.visibility</p:attrName>
                                        </p:attrNameLst>
                                      </p:cBhvr>
                                      <p:to>
                                        <p:strVal val="visible"/>
                                      </p:to>
                                    </p:set>
                                    <p:animEffect transition="in" filter="fade">
                                      <p:cBhvr>
                                        <p:cTn id="65" dur="450"/>
                                        <p:tgtEl>
                                          <p:spTgt spid="9">
                                            <p:txEl>
                                              <p:pRg st="3" end="3"/>
                                            </p:txEl>
                                          </p:spTgt>
                                        </p:tgtEl>
                                      </p:cBhvr>
                                    </p:animEffect>
                                  </p:childTnLst>
                                </p:cTn>
                              </p:par>
                              <p:par>
                                <p:cTn id="66" presetID="10" presetClass="entr" presetSubtype="0" grpId="0" fill="hold" nodeType="withEffect">
                                  <p:stCondLst>
                                    <p:cond delay="1630"/>
                                  </p:stCondLst>
                                  <p:childTnLst>
                                    <p:set>
                                      <p:cBhvr>
                                        <p:cTn id="67" dur="1" fill="hold">
                                          <p:stCondLst>
                                            <p:cond delay="0"/>
                                          </p:stCondLst>
                                        </p:cTn>
                                        <p:tgtEl>
                                          <p:spTgt spid="9">
                                            <p:txEl>
                                              <p:pRg st="4" end="4"/>
                                            </p:txEl>
                                          </p:spTgt>
                                        </p:tgtEl>
                                        <p:attrNameLst>
                                          <p:attrName>style.visibility</p:attrName>
                                        </p:attrNameLst>
                                      </p:cBhvr>
                                      <p:to>
                                        <p:strVal val="visible"/>
                                      </p:to>
                                    </p:set>
                                    <p:animEffect transition="in" filter="fade">
                                      <p:cBhvr>
                                        <p:cTn id="68" dur="450"/>
                                        <p:tgtEl>
                                          <p:spTgt spid="9">
                                            <p:txEl>
                                              <p:pRg st="4" end="4"/>
                                            </p:txEl>
                                          </p:spTgt>
                                        </p:tgtEl>
                                      </p:cBhvr>
                                    </p:animEffect>
                                  </p:childTnLst>
                                </p:cTn>
                              </p:par>
                              <p:par>
                                <p:cTn id="69" presetID="10" presetClass="entr" presetSubtype="0" fill="hold" nodeType="withEffect">
                                  <p:stCondLst>
                                    <p:cond delay="66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450"/>
                                        <p:tgtEl>
                                          <p:spTgt spid="10"/>
                                        </p:tgtEl>
                                      </p:cBhvr>
                                    </p:animEffect>
                                  </p:childTnLst>
                                </p:cTn>
                              </p:par>
                              <p:par>
                                <p:cTn id="72" presetID="22" presetClass="entr" presetSubtype="4" fill="hold" nodeType="withEffect">
                                  <p:stCondLst>
                                    <p:cond delay="730"/>
                                  </p:stCondLst>
                                  <p:childTnLst>
                                    <p:set>
                                      <p:cBhvr>
                                        <p:cTn id="73" dur="1" fill="hold">
                                          <p:stCondLst>
                                            <p:cond delay="0"/>
                                          </p:stCondLst>
                                        </p:cTn>
                                        <p:tgtEl>
                                          <p:spTgt spid="11"/>
                                        </p:tgtEl>
                                        <p:attrNameLst>
                                          <p:attrName>style.visibility</p:attrName>
                                        </p:attrNameLst>
                                      </p:cBhvr>
                                      <p:to>
                                        <p:strVal val="visible"/>
                                      </p:to>
                                    </p:set>
                                    <p:animEffect transition="in" filter="wipe(down)">
                                      <p:cBhvr>
                                        <p:cTn id="74" dur="500"/>
                                        <p:tgtEl>
                                          <p:spTgt spid="11"/>
                                        </p:tgtEl>
                                      </p:cBhvr>
                                    </p:animEffect>
                                  </p:childTnLst>
                                </p:cTn>
                              </p:par>
                              <p:par>
                                <p:cTn id="75" presetID="10" presetClass="entr" presetSubtype="0" fill="hold" nodeType="withEffect">
                                  <p:stCondLst>
                                    <p:cond delay="58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450"/>
                                        <p:tgtEl>
                                          <p:spTgt spid="1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350"/>
                                        <p:tgtEl>
                                          <p:spTgt spid="7"/>
                                        </p:tgtEl>
                                      </p:cBhvr>
                                    </p:animEffect>
                                    <p:set>
                                      <p:cBhvr>
                                        <p:cTn id="82" dur="1" fill="hold">
                                          <p:stCondLst>
                                            <p:cond delay="349"/>
                                          </p:stCondLst>
                                        </p:cTn>
                                        <p:tgtEl>
                                          <p:spTgt spid="7"/>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350"/>
                                        <p:tgtEl>
                                          <p:spTgt spid="9">
                                            <p:txEl>
                                              <p:pRg st="0" end="0"/>
                                            </p:txEl>
                                          </p:spTgt>
                                        </p:tgtEl>
                                      </p:cBhvr>
                                    </p:animEffect>
                                    <p:set>
                                      <p:cBhvr>
                                        <p:cTn id="85" dur="1" fill="hold">
                                          <p:stCondLst>
                                            <p:cond delay="349"/>
                                          </p:stCondLst>
                                        </p:cTn>
                                        <p:tgtEl>
                                          <p:spTgt spid="9">
                                            <p:txEl>
                                              <p:pRg st="0" end="0"/>
                                            </p:txEl>
                                          </p:spTgt>
                                        </p:tgtEl>
                                        <p:attrNameLst>
                                          <p:attrName>style.visibility</p:attrName>
                                        </p:attrNameLst>
                                      </p:cBhvr>
                                      <p:to>
                                        <p:strVal val="hidden"/>
                                      </p:to>
                                    </p:set>
                                  </p:childTnLst>
                                </p:cTn>
                              </p:par>
                              <p:par>
                                <p:cTn id="86" presetID="10" presetClass="exit" presetSubtype="0" grpId="0" fill="hold" nodeType="withEffect">
                                  <p:stCondLst>
                                    <p:cond delay="0"/>
                                  </p:stCondLst>
                                  <p:childTnLst>
                                    <p:animEffect transition="out" filter="fade">
                                      <p:cBhvr>
                                        <p:cTn id="87" dur="350"/>
                                        <p:tgtEl>
                                          <p:spTgt spid="9">
                                            <p:txEl>
                                              <p:pRg st="1" end="1"/>
                                            </p:txEl>
                                          </p:spTgt>
                                        </p:tgtEl>
                                      </p:cBhvr>
                                    </p:animEffect>
                                    <p:set>
                                      <p:cBhvr>
                                        <p:cTn id="88" dur="1" fill="hold">
                                          <p:stCondLst>
                                            <p:cond delay="349"/>
                                          </p:stCondLst>
                                        </p:cTn>
                                        <p:tgtEl>
                                          <p:spTgt spid="9">
                                            <p:txEl>
                                              <p:pRg st="1" end="1"/>
                                            </p:txEl>
                                          </p:spTgt>
                                        </p:tgtEl>
                                        <p:attrNameLst>
                                          <p:attrName>style.visibility</p:attrName>
                                        </p:attrNameLst>
                                      </p:cBhvr>
                                      <p:to>
                                        <p:strVal val="hidden"/>
                                      </p:to>
                                    </p:set>
                                  </p:childTnLst>
                                </p:cTn>
                              </p:par>
                              <p:par>
                                <p:cTn id="89" presetID="10" presetClass="exit" presetSubtype="0" grpId="0" fill="hold" nodeType="withEffect">
                                  <p:stCondLst>
                                    <p:cond delay="0"/>
                                  </p:stCondLst>
                                  <p:childTnLst>
                                    <p:animEffect transition="out" filter="fade">
                                      <p:cBhvr>
                                        <p:cTn id="90" dur="350"/>
                                        <p:tgtEl>
                                          <p:spTgt spid="9">
                                            <p:txEl>
                                              <p:pRg st="2" end="2"/>
                                            </p:txEl>
                                          </p:spTgt>
                                        </p:tgtEl>
                                      </p:cBhvr>
                                    </p:animEffect>
                                    <p:set>
                                      <p:cBhvr>
                                        <p:cTn id="91" dur="1" fill="hold">
                                          <p:stCondLst>
                                            <p:cond delay="349"/>
                                          </p:stCondLst>
                                        </p:cTn>
                                        <p:tgtEl>
                                          <p:spTgt spid="9">
                                            <p:txEl>
                                              <p:pRg st="2" end="2"/>
                                            </p:txEl>
                                          </p:spTgt>
                                        </p:tgtEl>
                                        <p:attrNameLst>
                                          <p:attrName>style.visibility</p:attrName>
                                        </p:attrNameLst>
                                      </p:cBhvr>
                                      <p:to>
                                        <p:strVal val="hidden"/>
                                      </p:to>
                                    </p:set>
                                  </p:childTnLst>
                                </p:cTn>
                              </p:par>
                              <p:par>
                                <p:cTn id="92" presetID="10" presetClass="exit" presetSubtype="0" grpId="0" fill="hold" nodeType="withEffect">
                                  <p:stCondLst>
                                    <p:cond delay="0"/>
                                  </p:stCondLst>
                                  <p:childTnLst>
                                    <p:animEffect transition="out" filter="fade">
                                      <p:cBhvr>
                                        <p:cTn id="93" dur="350"/>
                                        <p:tgtEl>
                                          <p:spTgt spid="9">
                                            <p:txEl>
                                              <p:pRg st="3" end="3"/>
                                            </p:txEl>
                                          </p:spTgt>
                                        </p:tgtEl>
                                      </p:cBhvr>
                                    </p:animEffect>
                                    <p:set>
                                      <p:cBhvr>
                                        <p:cTn id="94" dur="1" fill="hold">
                                          <p:stCondLst>
                                            <p:cond delay="349"/>
                                          </p:stCondLst>
                                        </p:cTn>
                                        <p:tgtEl>
                                          <p:spTgt spid="9">
                                            <p:txEl>
                                              <p:pRg st="3" end="3"/>
                                            </p:txEl>
                                          </p:spTgt>
                                        </p:tgtEl>
                                        <p:attrNameLst>
                                          <p:attrName>style.visibility</p:attrName>
                                        </p:attrNameLst>
                                      </p:cBhvr>
                                      <p:to>
                                        <p:strVal val="hidden"/>
                                      </p:to>
                                    </p:set>
                                  </p:childTnLst>
                                </p:cTn>
                              </p:par>
                              <p:par>
                                <p:cTn id="95" presetID="10" presetClass="exit" presetSubtype="0" grpId="0" fill="hold" nodeType="withEffect">
                                  <p:stCondLst>
                                    <p:cond delay="0"/>
                                  </p:stCondLst>
                                  <p:childTnLst>
                                    <p:animEffect transition="out" filter="fade">
                                      <p:cBhvr>
                                        <p:cTn id="96" dur="350"/>
                                        <p:tgtEl>
                                          <p:spTgt spid="9">
                                            <p:txEl>
                                              <p:pRg st="4" end="4"/>
                                            </p:txEl>
                                          </p:spTgt>
                                        </p:tgtEl>
                                      </p:cBhvr>
                                    </p:animEffect>
                                    <p:set>
                                      <p:cBhvr>
                                        <p:cTn id="97" dur="1" fill="hold">
                                          <p:stCondLst>
                                            <p:cond delay="349"/>
                                          </p:stCondLst>
                                        </p:cTn>
                                        <p:tgtEl>
                                          <p:spTgt spid="9">
                                            <p:txEl>
                                              <p:pRg st="4" end="4"/>
                                            </p:txEl>
                                          </p:spTgt>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350"/>
                                        <p:tgtEl>
                                          <p:spTgt spid="10"/>
                                        </p:tgtEl>
                                      </p:cBhvr>
                                    </p:animEffect>
                                    <p:set>
                                      <p:cBhvr>
                                        <p:cTn id="100" dur="1" fill="hold">
                                          <p:stCondLst>
                                            <p:cond delay="349"/>
                                          </p:stCondLst>
                                        </p:cTn>
                                        <p:tgtEl>
                                          <p:spTgt spid="10"/>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350"/>
                                        <p:tgtEl>
                                          <p:spTgt spid="11"/>
                                        </p:tgtEl>
                                      </p:cBhvr>
                                    </p:animEffect>
                                    <p:set>
                                      <p:cBhvr>
                                        <p:cTn id="103" dur="1" fill="hold">
                                          <p:stCondLst>
                                            <p:cond delay="349"/>
                                          </p:stCondLst>
                                        </p:cTn>
                                        <p:tgtEl>
                                          <p:spTgt spid="11"/>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350"/>
                                        <p:tgtEl>
                                          <p:spTgt spid="12"/>
                                        </p:tgtEl>
                                      </p:cBhvr>
                                    </p:animEffect>
                                    <p:set>
                                      <p:cBhvr>
                                        <p:cTn id="106" dur="1" fill="hold">
                                          <p:stCondLst>
                                            <p:cond delay="349"/>
                                          </p:stCondLst>
                                        </p:cTn>
                                        <p:tgtEl>
                                          <p:spTgt spid="12"/>
                                        </p:tgtEl>
                                        <p:attrNameLst>
                                          <p:attrName>style.visibility</p:attrName>
                                        </p:attrNameLst>
                                      </p:cBhvr>
                                      <p:to>
                                        <p:strVal val="hidden"/>
                                      </p:to>
                                    </p:set>
                                  </p:childTnLst>
                                </p:cTn>
                              </p:par>
                              <p:par>
                                <p:cTn id="107" presetID="0" presetClass="path" presetSubtype="0" accel="50000" decel="50000" fill="hold" nodeType="withEffect">
                                  <p:stCondLst>
                                    <p:cond delay="0"/>
                                  </p:stCondLst>
                                  <p:childTnLst>
                                    <p:animMotion origin="layout" path="M 0 0 L 0.64878 0.03381 E" pathEditMode="relative" rAng="0" ptsTypes="AA">
                                      <p:cBhvr>
                                        <p:cTn id="108" dur="750" fill="hold"/>
                                        <p:tgtEl>
                                          <p:spTgt spid="8"/>
                                        </p:tgtEl>
                                        <p:attrNameLst>
                                          <p:attrName>ppt_x</p:attrName>
                                          <p:attrName>ppt_y</p:attrName>
                                        </p:attrNameLst>
                                      </p:cBhvr>
                                      <p:rCtr x="32438" y="1690"/>
                                    </p:animMotion>
                                  </p:childTnLst>
                                </p:cTn>
                              </p:par>
                              <p:par>
                                <p:cTn id="109" presetID="6" presetClass="emph" presetSubtype="0" accel="50000" decel="50000" fill="hold" nodeType="withEffect">
                                  <p:stCondLst>
                                    <p:cond delay="0"/>
                                  </p:stCondLst>
                                  <p:childTnLst>
                                    <p:animScale>
                                      <p:cBhvr>
                                        <p:cTn id="110" dur="750" fill="hold"/>
                                        <p:tgtEl>
                                          <p:spTgt spid="8"/>
                                        </p:tgtEl>
                                      </p:cBhvr>
                                      <p:by x="33133" y="33133"/>
                                    </p:animScale>
                                  </p:childTnLst>
                                </p:cTn>
                              </p:par>
                              <p:par>
                                <p:cTn id="111" presetID="10" presetClass="entr" presetSubtype="0" fill="hold" nodeType="withEffect">
                                  <p:stCondLst>
                                    <p:cond delay="450"/>
                                  </p:stCondLst>
                                  <p:childTnLst>
                                    <p:set>
                                      <p:cBhvr>
                                        <p:cTn id="112" dur="1" fill="hold">
                                          <p:stCondLst>
                                            <p:cond delay="0"/>
                                          </p:stCondLst>
                                        </p:cTn>
                                        <p:tgtEl>
                                          <p:spTgt spid="13"/>
                                        </p:tgtEl>
                                        <p:attrNameLst>
                                          <p:attrName>style.visibility</p:attrName>
                                        </p:attrNameLst>
                                      </p:cBhvr>
                                      <p:to>
                                        <p:strVal val="visible"/>
                                      </p:to>
                                    </p:set>
                                    <p:animEffect transition="in" filter="fade">
                                      <p:cBhvr>
                                        <p:cTn id="113" dur="450"/>
                                        <p:tgtEl>
                                          <p:spTgt spid="13"/>
                                        </p:tgtEl>
                                      </p:cBhvr>
                                    </p:animEffect>
                                  </p:childTnLst>
                                </p:cTn>
                              </p:par>
                              <p:par>
                                <p:cTn id="114" presetID="53" presetClass="entr" presetSubtype="16" fill="hold" nodeType="withEffect">
                                  <p:stCondLst>
                                    <p:cond delay="520"/>
                                  </p:stCondLst>
                                  <p:childTnLst>
                                    <p:set>
                                      <p:cBhvr>
                                        <p:cTn id="115" dur="1" fill="hold">
                                          <p:stCondLst>
                                            <p:cond delay="0"/>
                                          </p:stCondLst>
                                        </p:cTn>
                                        <p:tgtEl>
                                          <p:spTgt spid="14"/>
                                        </p:tgtEl>
                                        <p:attrNameLst>
                                          <p:attrName>style.visibility</p:attrName>
                                        </p:attrNameLst>
                                      </p:cBhvr>
                                      <p:to>
                                        <p:strVal val="visible"/>
                                      </p:to>
                                    </p:set>
                                    <p:anim calcmode="lin" valueType="num">
                                      <p:cBhvr>
                                        <p:cTn id="116" dur="600" fill="hold"/>
                                        <p:tgtEl>
                                          <p:spTgt spid="14"/>
                                        </p:tgtEl>
                                        <p:attrNameLst>
                                          <p:attrName>ppt_w</p:attrName>
                                        </p:attrNameLst>
                                      </p:cBhvr>
                                      <p:tavLst>
                                        <p:tav tm="0">
                                          <p:val>
                                            <p:fltVal val="0"/>
                                          </p:val>
                                        </p:tav>
                                        <p:tav tm="100000">
                                          <p:val>
                                            <p:strVal val="#ppt_w"/>
                                          </p:val>
                                        </p:tav>
                                      </p:tavLst>
                                    </p:anim>
                                    <p:anim calcmode="lin" valueType="num">
                                      <p:cBhvr>
                                        <p:cTn id="117" dur="600" fill="hold"/>
                                        <p:tgtEl>
                                          <p:spTgt spid="14"/>
                                        </p:tgtEl>
                                        <p:attrNameLst>
                                          <p:attrName>ppt_h</p:attrName>
                                        </p:attrNameLst>
                                      </p:cBhvr>
                                      <p:tavLst>
                                        <p:tav tm="0">
                                          <p:val>
                                            <p:fltVal val="0"/>
                                          </p:val>
                                        </p:tav>
                                        <p:tav tm="100000">
                                          <p:val>
                                            <p:strVal val="#ppt_h"/>
                                          </p:val>
                                        </p:tav>
                                      </p:tavLst>
                                    </p:anim>
                                    <p:animEffect transition="in" filter="fade">
                                      <p:cBhvr>
                                        <p:cTn id="118" dur="600"/>
                                        <p:tgtEl>
                                          <p:spTgt spid="14"/>
                                        </p:tgtEl>
                                      </p:cBhvr>
                                    </p:animEffect>
                                  </p:childTnLst>
                                </p:cTn>
                              </p:par>
                              <p:par>
                                <p:cTn id="119" presetID="10" presetClass="entr" presetSubtype="0" grpId="0" fill="hold" nodeType="withEffect">
                                  <p:stCondLst>
                                    <p:cond delay="590"/>
                                  </p:stCondLst>
                                  <p:childTnLst>
                                    <p:set>
                                      <p:cBhvr>
                                        <p:cTn id="120" dur="1" fill="hold">
                                          <p:stCondLst>
                                            <p:cond delay="0"/>
                                          </p:stCondLst>
                                        </p:cTn>
                                        <p:tgtEl>
                                          <p:spTgt spid="15">
                                            <p:txEl>
                                              <p:pRg st="0" end="0"/>
                                            </p:txEl>
                                          </p:spTgt>
                                        </p:tgtEl>
                                        <p:attrNameLst>
                                          <p:attrName>style.visibility</p:attrName>
                                        </p:attrNameLst>
                                      </p:cBhvr>
                                      <p:to>
                                        <p:strVal val="visible"/>
                                      </p:to>
                                    </p:set>
                                    <p:animEffect transition="in" filter="fade">
                                      <p:cBhvr>
                                        <p:cTn id="121" dur="450"/>
                                        <p:tgtEl>
                                          <p:spTgt spid="15">
                                            <p:txEl>
                                              <p:pRg st="0" end="0"/>
                                            </p:txEl>
                                          </p:spTgt>
                                        </p:tgtEl>
                                      </p:cBhvr>
                                    </p:animEffect>
                                  </p:childTnLst>
                                </p:cTn>
                              </p:par>
                              <p:par>
                                <p:cTn id="122" presetID="10" presetClass="entr" presetSubtype="0" grpId="0" fill="hold" nodeType="withEffect">
                                  <p:stCondLst>
                                    <p:cond delay="970"/>
                                  </p:stCondLst>
                                  <p:childTnLst>
                                    <p:set>
                                      <p:cBhvr>
                                        <p:cTn id="123" dur="1" fill="hold">
                                          <p:stCondLst>
                                            <p:cond delay="0"/>
                                          </p:stCondLst>
                                        </p:cTn>
                                        <p:tgtEl>
                                          <p:spTgt spid="15">
                                            <p:txEl>
                                              <p:pRg st="1" end="1"/>
                                            </p:txEl>
                                          </p:spTgt>
                                        </p:tgtEl>
                                        <p:attrNameLst>
                                          <p:attrName>style.visibility</p:attrName>
                                        </p:attrNameLst>
                                      </p:cBhvr>
                                      <p:to>
                                        <p:strVal val="visible"/>
                                      </p:to>
                                    </p:set>
                                    <p:animEffect transition="in" filter="fade">
                                      <p:cBhvr>
                                        <p:cTn id="124" dur="450"/>
                                        <p:tgtEl>
                                          <p:spTgt spid="15">
                                            <p:txEl>
                                              <p:pRg st="1" end="1"/>
                                            </p:txEl>
                                          </p:spTgt>
                                        </p:tgtEl>
                                      </p:cBhvr>
                                    </p:animEffect>
                                  </p:childTnLst>
                                </p:cTn>
                              </p:par>
                              <p:par>
                                <p:cTn id="125" presetID="10" presetClass="entr" presetSubtype="0" grpId="0" fill="hold" nodeType="withEffect">
                                  <p:stCondLst>
                                    <p:cond delay="1350"/>
                                  </p:stCondLst>
                                  <p:childTnLst>
                                    <p:set>
                                      <p:cBhvr>
                                        <p:cTn id="126" dur="1" fill="hold">
                                          <p:stCondLst>
                                            <p:cond delay="0"/>
                                          </p:stCondLst>
                                        </p:cTn>
                                        <p:tgtEl>
                                          <p:spTgt spid="15">
                                            <p:txEl>
                                              <p:pRg st="2" end="2"/>
                                            </p:txEl>
                                          </p:spTgt>
                                        </p:tgtEl>
                                        <p:attrNameLst>
                                          <p:attrName>style.visibility</p:attrName>
                                        </p:attrNameLst>
                                      </p:cBhvr>
                                      <p:to>
                                        <p:strVal val="visible"/>
                                      </p:to>
                                    </p:set>
                                    <p:animEffect transition="in" filter="fade">
                                      <p:cBhvr>
                                        <p:cTn id="127" dur="450"/>
                                        <p:tgtEl>
                                          <p:spTgt spid="15">
                                            <p:txEl>
                                              <p:pRg st="2" end="2"/>
                                            </p:txEl>
                                          </p:spTgt>
                                        </p:tgtEl>
                                      </p:cBhvr>
                                    </p:animEffect>
                                  </p:childTnLst>
                                </p:cTn>
                              </p:par>
                              <p:par>
                                <p:cTn id="128" presetID="10" presetClass="entr" presetSubtype="0" fill="hold" nodeType="withEffect">
                                  <p:stCondLst>
                                    <p:cond delay="660"/>
                                  </p:stCondLst>
                                  <p:childTnLst>
                                    <p:set>
                                      <p:cBhvr>
                                        <p:cTn id="129" dur="1" fill="hold">
                                          <p:stCondLst>
                                            <p:cond delay="0"/>
                                          </p:stCondLst>
                                        </p:cTn>
                                        <p:tgtEl>
                                          <p:spTgt spid="16"/>
                                        </p:tgtEl>
                                        <p:attrNameLst>
                                          <p:attrName>style.visibility</p:attrName>
                                        </p:attrNameLst>
                                      </p:cBhvr>
                                      <p:to>
                                        <p:strVal val="visible"/>
                                      </p:to>
                                    </p:set>
                                    <p:animEffect transition="in" filter="fade">
                                      <p:cBhvr>
                                        <p:cTn id="130" dur="450"/>
                                        <p:tgtEl>
                                          <p:spTgt spid="16"/>
                                        </p:tgtEl>
                                      </p:cBhvr>
                                    </p:animEffect>
                                  </p:childTnLst>
                                </p:cTn>
                              </p:par>
                              <p:par>
                                <p:cTn id="131" presetID="22" presetClass="entr" presetSubtype="8" fill="hold" nodeType="withEffect">
                                  <p:stCondLst>
                                    <p:cond delay="730"/>
                                  </p:stCondLst>
                                  <p:childTnLst>
                                    <p:set>
                                      <p:cBhvr>
                                        <p:cTn id="132" dur="1" fill="hold">
                                          <p:stCondLst>
                                            <p:cond delay="0"/>
                                          </p:stCondLst>
                                        </p:cTn>
                                        <p:tgtEl>
                                          <p:spTgt spid="17"/>
                                        </p:tgtEl>
                                        <p:attrNameLst>
                                          <p:attrName>style.visibility</p:attrName>
                                        </p:attrNameLst>
                                      </p:cBhvr>
                                      <p:to>
                                        <p:strVal val="visible"/>
                                      </p:to>
                                    </p:set>
                                    <p:animEffect transition="in" filter="wipe(left)">
                                      <p:cBhvr>
                                        <p:cTn id="133" dur="500"/>
                                        <p:tgtEl>
                                          <p:spTgt spid="17"/>
                                        </p:tgtEl>
                                      </p:cBhvr>
                                    </p:animEffect>
                                  </p:childTnLst>
                                </p:cTn>
                              </p:par>
                              <p:par>
                                <p:cTn id="134" presetID="10" presetClass="entr" presetSubtype="0" fill="hold" nodeType="withEffect">
                                  <p:stCondLst>
                                    <p:cond delay="580"/>
                                  </p:stCondLst>
                                  <p:childTnLst>
                                    <p:set>
                                      <p:cBhvr>
                                        <p:cTn id="135" dur="1" fill="hold">
                                          <p:stCondLst>
                                            <p:cond delay="0"/>
                                          </p:stCondLst>
                                        </p:cTn>
                                        <p:tgtEl>
                                          <p:spTgt spid="18"/>
                                        </p:tgtEl>
                                        <p:attrNameLst>
                                          <p:attrName>style.visibility</p:attrName>
                                        </p:attrNameLst>
                                      </p:cBhvr>
                                      <p:to>
                                        <p:strVal val="visible"/>
                                      </p:to>
                                    </p:set>
                                    <p:animEffect transition="in" filter="fade">
                                      <p:cBhvr>
                                        <p:cTn id="136" dur="450"/>
                                        <p:tgtEl>
                                          <p:spTgt spid="18"/>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xit" presetSubtype="0" fill="hold" nodeType="clickEffect">
                                  <p:stCondLst>
                                    <p:cond delay="0"/>
                                  </p:stCondLst>
                                  <p:childTnLst>
                                    <p:animEffect transition="out" filter="fade">
                                      <p:cBhvr>
                                        <p:cTn id="140" dur="350"/>
                                        <p:tgtEl>
                                          <p:spTgt spid="13"/>
                                        </p:tgtEl>
                                      </p:cBhvr>
                                    </p:animEffect>
                                    <p:set>
                                      <p:cBhvr>
                                        <p:cTn id="141" dur="1" fill="hold">
                                          <p:stCondLst>
                                            <p:cond delay="349"/>
                                          </p:stCondLst>
                                        </p:cTn>
                                        <p:tgtEl>
                                          <p:spTgt spid="13"/>
                                        </p:tgtEl>
                                        <p:attrNameLst>
                                          <p:attrName>style.visibility</p:attrName>
                                        </p:attrNameLst>
                                      </p:cBhvr>
                                      <p:to>
                                        <p:strVal val="hidden"/>
                                      </p:to>
                                    </p:set>
                                  </p:childTnLst>
                                </p:cTn>
                              </p:par>
                              <p:par>
                                <p:cTn id="142" presetID="10" presetClass="exit" presetSubtype="0" grpId="0" fill="hold" nodeType="withEffect">
                                  <p:stCondLst>
                                    <p:cond delay="0"/>
                                  </p:stCondLst>
                                  <p:childTnLst>
                                    <p:animEffect transition="out" filter="fade">
                                      <p:cBhvr>
                                        <p:cTn id="143" dur="350"/>
                                        <p:tgtEl>
                                          <p:spTgt spid="15">
                                            <p:txEl>
                                              <p:pRg st="0" end="0"/>
                                            </p:txEl>
                                          </p:spTgt>
                                        </p:tgtEl>
                                      </p:cBhvr>
                                    </p:animEffect>
                                    <p:set>
                                      <p:cBhvr>
                                        <p:cTn id="144" dur="1" fill="hold">
                                          <p:stCondLst>
                                            <p:cond delay="349"/>
                                          </p:stCondLst>
                                        </p:cTn>
                                        <p:tgtEl>
                                          <p:spTgt spid="15">
                                            <p:txEl>
                                              <p:pRg st="0" end="0"/>
                                            </p:txEl>
                                          </p:spTgt>
                                        </p:tgtEl>
                                        <p:attrNameLst>
                                          <p:attrName>style.visibility</p:attrName>
                                        </p:attrNameLst>
                                      </p:cBhvr>
                                      <p:to>
                                        <p:strVal val="hidden"/>
                                      </p:to>
                                    </p:set>
                                  </p:childTnLst>
                                </p:cTn>
                              </p:par>
                              <p:par>
                                <p:cTn id="145" presetID="10" presetClass="exit" presetSubtype="0" grpId="0" fill="hold" nodeType="withEffect">
                                  <p:stCondLst>
                                    <p:cond delay="0"/>
                                  </p:stCondLst>
                                  <p:childTnLst>
                                    <p:animEffect transition="out" filter="fade">
                                      <p:cBhvr>
                                        <p:cTn id="146" dur="350"/>
                                        <p:tgtEl>
                                          <p:spTgt spid="15">
                                            <p:txEl>
                                              <p:pRg st="1" end="1"/>
                                            </p:txEl>
                                          </p:spTgt>
                                        </p:tgtEl>
                                      </p:cBhvr>
                                    </p:animEffect>
                                    <p:set>
                                      <p:cBhvr>
                                        <p:cTn id="147" dur="1" fill="hold">
                                          <p:stCondLst>
                                            <p:cond delay="349"/>
                                          </p:stCondLst>
                                        </p:cTn>
                                        <p:tgtEl>
                                          <p:spTgt spid="15">
                                            <p:txEl>
                                              <p:pRg st="1" end="1"/>
                                            </p:txEl>
                                          </p:spTgt>
                                        </p:tgtEl>
                                        <p:attrNameLst>
                                          <p:attrName>style.visibility</p:attrName>
                                        </p:attrNameLst>
                                      </p:cBhvr>
                                      <p:to>
                                        <p:strVal val="hidden"/>
                                      </p:to>
                                    </p:set>
                                  </p:childTnLst>
                                </p:cTn>
                              </p:par>
                              <p:par>
                                <p:cTn id="148" presetID="10" presetClass="exit" presetSubtype="0" grpId="0" fill="hold" nodeType="withEffect">
                                  <p:stCondLst>
                                    <p:cond delay="0"/>
                                  </p:stCondLst>
                                  <p:childTnLst>
                                    <p:animEffect transition="out" filter="fade">
                                      <p:cBhvr>
                                        <p:cTn id="149" dur="350"/>
                                        <p:tgtEl>
                                          <p:spTgt spid="15">
                                            <p:txEl>
                                              <p:pRg st="2" end="2"/>
                                            </p:txEl>
                                          </p:spTgt>
                                        </p:tgtEl>
                                      </p:cBhvr>
                                    </p:animEffect>
                                    <p:set>
                                      <p:cBhvr>
                                        <p:cTn id="150" dur="1" fill="hold">
                                          <p:stCondLst>
                                            <p:cond delay="349"/>
                                          </p:stCondLst>
                                        </p:cTn>
                                        <p:tgtEl>
                                          <p:spTgt spid="15">
                                            <p:txEl>
                                              <p:pRg st="2" end="2"/>
                                            </p:txEl>
                                          </p:spTgt>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350"/>
                                        <p:tgtEl>
                                          <p:spTgt spid="16"/>
                                        </p:tgtEl>
                                      </p:cBhvr>
                                    </p:animEffect>
                                    <p:set>
                                      <p:cBhvr>
                                        <p:cTn id="153" dur="1" fill="hold">
                                          <p:stCondLst>
                                            <p:cond delay="349"/>
                                          </p:stCondLst>
                                        </p:cTn>
                                        <p:tgtEl>
                                          <p:spTgt spid="16"/>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350"/>
                                        <p:tgtEl>
                                          <p:spTgt spid="17"/>
                                        </p:tgtEl>
                                      </p:cBhvr>
                                    </p:animEffect>
                                    <p:set>
                                      <p:cBhvr>
                                        <p:cTn id="156" dur="1" fill="hold">
                                          <p:stCondLst>
                                            <p:cond delay="349"/>
                                          </p:stCondLst>
                                        </p:cTn>
                                        <p:tgtEl>
                                          <p:spTgt spid="17"/>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350"/>
                                        <p:tgtEl>
                                          <p:spTgt spid="18"/>
                                        </p:tgtEl>
                                      </p:cBhvr>
                                    </p:animEffect>
                                    <p:set>
                                      <p:cBhvr>
                                        <p:cTn id="159" dur="1" fill="hold">
                                          <p:stCondLst>
                                            <p:cond delay="349"/>
                                          </p:stCondLst>
                                        </p:cTn>
                                        <p:tgtEl>
                                          <p:spTgt spid="18"/>
                                        </p:tgtEl>
                                        <p:attrNameLst>
                                          <p:attrName>style.visibility</p:attrName>
                                        </p:attrNameLst>
                                      </p:cBhvr>
                                      <p:to>
                                        <p:strVal val="hidden"/>
                                      </p:to>
                                    </p:set>
                                  </p:childTnLst>
                                </p:cTn>
                              </p:par>
                              <p:par>
                                <p:cTn id="160" presetID="0" presetClass="path" presetSubtype="0" accel="50000" decel="50000" fill="hold" nodeType="withEffect">
                                  <p:stCondLst>
                                    <p:cond delay="0"/>
                                  </p:stCondLst>
                                  <p:childTnLst>
                                    <p:animMotion origin="layout" path="M 0 0 L 0.62383 0.23164 E" pathEditMode="relative" rAng="0" ptsTypes="AA">
                                      <p:cBhvr>
                                        <p:cTn id="161" dur="750" fill="hold"/>
                                        <p:tgtEl>
                                          <p:spTgt spid="14"/>
                                        </p:tgtEl>
                                        <p:attrNameLst>
                                          <p:attrName>ppt_x</p:attrName>
                                          <p:attrName>ppt_y</p:attrName>
                                        </p:attrNameLst>
                                      </p:cBhvr>
                                      <p:rCtr x="31191" y="11581"/>
                                    </p:animMotion>
                                  </p:childTnLst>
                                </p:cTn>
                              </p:par>
                              <p:par>
                                <p:cTn id="162" presetID="6" presetClass="emph" presetSubtype="0" accel="50000" decel="50000" fill="hold" nodeType="withEffect">
                                  <p:stCondLst>
                                    <p:cond delay="0"/>
                                  </p:stCondLst>
                                  <p:childTnLst>
                                    <p:animScale>
                                      <p:cBhvr>
                                        <p:cTn id="163" dur="750" fill="hold"/>
                                        <p:tgtEl>
                                          <p:spTgt spid="14"/>
                                        </p:tgtEl>
                                      </p:cBhvr>
                                      <p:by x="29519" y="29519"/>
                                    </p:animScale>
                                  </p:childTnLst>
                                </p:cTn>
                              </p:par>
                              <p:par>
                                <p:cTn id="164" presetID="10" presetClass="entr" presetSubtype="0" fill="hold" nodeType="withEffect">
                                  <p:stCondLst>
                                    <p:cond delay="450"/>
                                  </p:stCondLst>
                                  <p:childTnLst>
                                    <p:set>
                                      <p:cBhvr>
                                        <p:cTn id="165" dur="1" fill="hold">
                                          <p:stCondLst>
                                            <p:cond delay="0"/>
                                          </p:stCondLst>
                                        </p:cTn>
                                        <p:tgtEl>
                                          <p:spTgt spid="19"/>
                                        </p:tgtEl>
                                        <p:attrNameLst>
                                          <p:attrName>style.visibility</p:attrName>
                                        </p:attrNameLst>
                                      </p:cBhvr>
                                      <p:to>
                                        <p:strVal val="visible"/>
                                      </p:to>
                                    </p:set>
                                    <p:animEffect transition="in" filter="fade">
                                      <p:cBhvr>
                                        <p:cTn id="166" dur="450"/>
                                        <p:tgtEl>
                                          <p:spTgt spid="19"/>
                                        </p:tgtEl>
                                      </p:cBhvr>
                                    </p:animEffect>
                                  </p:childTnLst>
                                </p:cTn>
                              </p:par>
                              <p:par>
                                <p:cTn id="167" presetID="53" presetClass="entr" presetSubtype="16" fill="hold" nodeType="withEffect">
                                  <p:stCondLst>
                                    <p:cond delay="520"/>
                                  </p:stCondLst>
                                  <p:childTnLst>
                                    <p:set>
                                      <p:cBhvr>
                                        <p:cTn id="168" dur="1" fill="hold">
                                          <p:stCondLst>
                                            <p:cond delay="0"/>
                                          </p:stCondLst>
                                        </p:cTn>
                                        <p:tgtEl>
                                          <p:spTgt spid="20"/>
                                        </p:tgtEl>
                                        <p:attrNameLst>
                                          <p:attrName>style.visibility</p:attrName>
                                        </p:attrNameLst>
                                      </p:cBhvr>
                                      <p:to>
                                        <p:strVal val="visible"/>
                                      </p:to>
                                    </p:set>
                                    <p:anim calcmode="lin" valueType="num">
                                      <p:cBhvr>
                                        <p:cTn id="169" dur="600" fill="hold"/>
                                        <p:tgtEl>
                                          <p:spTgt spid="20"/>
                                        </p:tgtEl>
                                        <p:attrNameLst>
                                          <p:attrName>ppt_w</p:attrName>
                                        </p:attrNameLst>
                                      </p:cBhvr>
                                      <p:tavLst>
                                        <p:tav tm="0">
                                          <p:val>
                                            <p:fltVal val="0"/>
                                          </p:val>
                                        </p:tav>
                                        <p:tav tm="100000">
                                          <p:val>
                                            <p:strVal val="#ppt_w"/>
                                          </p:val>
                                        </p:tav>
                                      </p:tavLst>
                                    </p:anim>
                                    <p:anim calcmode="lin" valueType="num">
                                      <p:cBhvr>
                                        <p:cTn id="170" dur="600" fill="hold"/>
                                        <p:tgtEl>
                                          <p:spTgt spid="20"/>
                                        </p:tgtEl>
                                        <p:attrNameLst>
                                          <p:attrName>ppt_h</p:attrName>
                                        </p:attrNameLst>
                                      </p:cBhvr>
                                      <p:tavLst>
                                        <p:tav tm="0">
                                          <p:val>
                                            <p:fltVal val="0"/>
                                          </p:val>
                                        </p:tav>
                                        <p:tav tm="100000">
                                          <p:val>
                                            <p:strVal val="#ppt_h"/>
                                          </p:val>
                                        </p:tav>
                                      </p:tavLst>
                                    </p:anim>
                                    <p:animEffect transition="in" filter="fade">
                                      <p:cBhvr>
                                        <p:cTn id="171" dur="600"/>
                                        <p:tgtEl>
                                          <p:spTgt spid="20"/>
                                        </p:tgtEl>
                                      </p:cBhvr>
                                    </p:animEffect>
                                  </p:childTnLst>
                                </p:cTn>
                              </p:par>
                              <p:par>
                                <p:cTn id="172" presetID="10" presetClass="entr" presetSubtype="0" grpId="0" fill="hold" nodeType="withEffect">
                                  <p:stCondLst>
                                    <p:cond delay="590"/>
                                  </p:stCondLst>
                                  <p:childTnLst>
                                    <p:set>
                                      <p:cBhvr>
                                        <p:cTn id="173" dur="1" fill="hold">
                                          <p:stCondLst>
                                            <p:cond delay="0"/>
                                          </p:stCondLst>
                                        </p:cTn>
                                        <p:tgtEl>
                                          <p:spTgt spid="21">
                                            <p:txEl>
                                              <p:pRg st="0" end="0"/>
                                            </p:txEl>
                                          </p:spTgt>
                                        </p:tgtEl>
                                        <p:attrNameLst>
                                          <p:attrName>style.visibility</p:attrName>
                                        </p:attrNameLst>
                                      </p:cBhvr>
                                      <p:to>
                                        <p:strVal val="visible"/>
                                      </p:to>
                                    </p:set>
                                    <p:animEffect transition="in" filter="fade">
                                      <p:cBhvr>
                                        <p:cTn id="174" dur="450"/>
                                        <p:tgtEl>
                                          <p:spTgt spid="21">
                                            <p:txEl>
                                              <p:pRg st="0" end="0"/>
                                            </p:txEl>
                                          </p:spTgt>
                                        </p:tgtEl>
                                      </p:cBhvr>
                                    </p:animEffect>
                                  </p:childTnLst>
                                </p:cTn>
                              </p:par>
                              <p:par>
                                <p:cTn id="175" presetID="10" presetClass="entr" presetSubtype="0" grpId="0" fill="hold" nodeType="withEffect">
                                  <p:stCondLst>
                                    <p:cond delay="970"/>
                                  </p:stCondLst>
                                  <p:childTnLst>
                                    <p:set>
                                      <p:cBhvr>
                                        <p:cTn id="176" dur="1" fill="hold">
                                          <p:stCondLst>
                                            <p:cond delay="0"/>
                                          </p:stCondLst>
                                        </p:cTn>
                                        <p:tgtEl>
                                          <p:spTgt spid="21">
                                            <p:txEl>
                                              <p:pRg st="1" end="1"/>
                                            </p:txEl>
                                          </p:spTgt>
                                        </p:tgtEl>
                                        <p:attrNameLst>
                                          <p:attrName>style.visibility</p:attrName>
                                        </p:attrNameLst>
                                      </p:cBhvr>
                                      <p:to>
                                        <p:strVal val="visible"/>
                                      </p:to>
                                    </p:set>
                                    <p:animEffect transition="in" filter="fade">
                                      <p:cBhvr>
                                        <p:cTn id="177" dur="450"/>
                                        <p:tgtEl>
                                          <p:spTgt spid="21">
                                            <p:txEl>
                                              <p:pRg st="1" end="1"/>
                                            </p:txEl>
                                          </p:spTgt>
                                        </p:tgtEl>
                                      </p:cBhvr>
                                    </p:animEffect>
                                  </p:childTnLst>
                                </p:cTn>
                              </p:par>
                              <p:par>
                                <p:cTn id="178" presetID="10" presetClass="entr" presetSubtype="0" grpId="0" fill="hold" nodeType="withEffect">
                                  <p:stCondLst>
                                    <p:cond delay="1350"/>
                                  </p:stCondLst>
                                  <p:childTnLst>
                                    <p:set>
                                      <p:cBhvr>
                                        <p:cTn id="179" dur="1" fill="hold">
                                          <p:stCondLst>
                                            <p:cond delay="0"/>
                                          </p:stCondLst>
                                        </p:cTn>
                                        <p:tgtEl>
                                          <p:spTgt spid="21">
                                            <p:txEl>
                                              <p:pRg st="2" end="2"/>
                                            </p:txEl>
                                          </p:spTgt>
                                        </p:tgtEl>
                                        <p:attrNameLst>
                                          <p:attrName>style.visibility</p:attrName>
                                        </p:attrNameLst>
                                      </p:cBhvr>
                                      <p:to>
                                        <p:strVal val="visible"/>
                                      </p:to>
                                    </p:set>
                                    <p:animEffect transition="in" filter="fade">
                                      <p:cBhvr>
                                        <p:cTn id="180" dur="450"/>
                                        <p:tgtEl>
                                          <p:spTgt spid="21">
                                            <p:txEl>
                                              <p:pRg st="2" end="2"/>
                                            </p:txEl>
                                          </p:spTgt>
                                        </p:tgtEl>
                                      </p:cBhvr>
                                    </p:animEffect>
                                  </p:childTnLst>
                                </p:cTn>
                              </p:par>
                              <p:par>
                                <p:cTn id="181" presetID="10" presetClass="entr" presetSubtype="0" fill="hold" nodeType="withEffect">
                                  <p:stCondLst>
                                    <p:cond delay="580"/>
                                  </p:stCondLst>
                                  <p:childTnLst>
                                    <p:set>
                                      <p:cBhvr>
                                        <p:cTn id="182" dur="1" fill="hold">
                                          <p:stCondLst>
                                            <p:cond delay="0"/>
                                          </p:stCondLst>
                                        </p:cTn>
                                        <p:tgtEl>
                                          <p:spTgt spid="22"/>
                                        </p:tgtEl>
                                        <p:attrNameLst>
                                          <p:attrName>style.visibility</p:attrName>
                                        </p:attrNameLst>
                                      </p:cBhvr>
                                      <p:to>
                                        <p:strVal val="visible"/>
                                      </p:to>
                                    </p:set>
                                    <p:animEffect transition="in" filter="fade">
                                      <p:cBhvr>
                                        <p:cTn id="183"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5" grpId="0" build="p"/>
      <p:bldP spid="2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SNR aparente es alta sobre 10 Hz y no distingue señal de ruido bajo 10 Hz</a:t>
            </a:r>
            <a:endParaRPr lang="en-US" sz="2200" dirty="0"/>
          </a:p>
        </p:txBody>
      </p:sp>
      <p:sp>
        <p:nvSpPr>
          <p:cNvPr id="3" name="Obj [o87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SNR aparente compara la energía después del impacto con la de antes</a:t>
            </a:r>
            <a:endParaRPr lang="en-US" sz="1400" dirty="0"/>
          </a:p>
        </p:txBody>
      </p:sp>
      <p:sp>
        <p:nvSpPr>
          <p:cNvPr id="4" name="Obj [o871]"/>
          <p:cNvSpPr/>
          <p:nvPr/>
        </p:nvSpPr>
        <p:spPr>
          <a:xfrm>
            <a:off x="966136" y="1561458"/>
            <a:ext cx="7211728" cy="76123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 name="Obj [o872]"/>
              <p:cNvSpPr txBox="1"/>
              <p:nvPr/>
            </p:nvSpPr>
            <p:spPr>
              <a:xfrm>
                <a:off x="966136" y="1561458"/>
                <a:ext cx="7211728" cy="76123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SNR</m:t>
                          </m:r>
                        </m:e>
                        <m:sub>
                          <m:r>
                            <a:rPr lang="es-ES" sz="2300" i="1">
                              <a:solidFill>
                                <a:srgbClr val="1F4E79"/>
                              </a:solidFill>
                              <a:latin typeface="Cambria Math" panose="02040503050406030204" pitchFamily="18" charset="0"/>
                            </a:rPr>
                            <m:t xml:space="preserve">ap</m:t>
                          </m:r>
                        </m:sub>
                      </m:sSub>
                      <m:r>
                        <a:rPr lang="es-ES" sz="2300" i="1">
                          <a:solidFill>
                            <a:srgbClr val="1F4E79"/>
                          </a:solidFill>
                          <a:latin typeface="Cambria Math" panose="02040503050406030204" pitchFamily="18" charset="0"/>
                        </a:rPr>
                        <m:t xml:space="preserve">(f)=10·log</m:t>
                      </m:r>
                      <m:r>
                        <a:rPr lang="es-ES" sz="2300" i="1">
                          <a:solidFill>
                            <a:srgbClr val="1F4E79"/>
                          </a:solidFill>
                          <a:latin typeface="Cambria Math" panose="02040503050406030204" pitchFamily="18" charset="0"/>
                        </a:rPr>
                        <m:t xml:space="preserve">(</m:t>
                      </m:r>
                      <m:f>
                        <m:fPr>
                          <m:ctrlPr>
                            <a:rPr lang="es-ES" sz="2300" i="1">
                              <a:latin typeface="Cambria Math" panose="02040503050406030204" pitchFamily="18" charset="0"/>
                            </a:rPr>
                          </m:ctrlPr>
                        </m:fPr>
                        <m:num>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P</m:t>
                              </m:r>
                            </m:e>
                            <m:sub>
                              <m:r>
                                <a:rPr lang="es-ES" sz="2300" i="1">
                                  <a:solidFill>
                                    <a:srgbClr val="1F4E79"/>
                                  </a:solidFill>
                                  <a:latin typeface="Cambria Math" panose="02040503050406030204" pitchFamily="18" charset="0"/>
                                </a:rPr>
                                <m:t xml:space="preserve">post</m:t>
                              </m:r>
                            </m:sub>
                          </m:sSub>
                          <m:r>
                            <a:rPr lang="es-ES" sz="2300" i="1">
                              <a:solidFill>
                                <a:srgbClr val="1F4E79"/>
                              </a:solidFill>
                              <a:latin typeface="Cambria Math" panose="02040503050406030204" pitchFamily="18" charset="0"/>
                            </a:rPr>
                            <m:t xml:space="preserve">(f)</m:t>
                          </m:r>
                        </m:num>
                        <m:den>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P</m:t>
                              </m:r>
                            </m:e>
                            <m:sub>
                              <m:r>
                                <a:rPr lang="es-ES" sz="2300" i="1">
                                  <a:solidFill>
                                    <a:srgbClr val="1F4E79"/>
                                  </a:solidFill>
                                  <a:latin typeface="Cambria Math" panose="02040503050406030204" pitchFamily="18" charset="0"/>
                                </a:rPr>
                                <m:t xml:space="preserve">pre</m:t>
                              </m:r>
                            </m:sub>
                          </m:sSub>
                          <m:r>
                            <a:rPr lang="es-ES" sz="2300" i="1">
                              <a:solidFill>
                                <a:srgbClr val="1F4E79"/>
                              </a:solidFill>
                              <a:latin typeface="Cambria Math" panose="02040503050406030204" pitchFamily="18" charset="0"/>
                            </a:rPr>
                            <m:t xml:space="preserve">(f)</m:t>
                          </m:r>
                        </m:den>
                      </m:f>
                      <m:r>
                        <a:rPr lang="es-ES" sz="2300" i="1">
                          <a:solidFill>
                            <a:srgbClr val="1F4E79"/>
                          </a:solidFill>
                          <a:latin typeface="Cambria Math" panose="02040503050406030204" pitchFamily="18" charset="0"/>
                        </a:rPr>
                        <m:t xml:space="preserve">)</m:t>
                      </m:r>
                    </m:oMath>
                  </m:oMathPara>
                </a14:m>
                <a:endParaRPr lang="es-ES"/>
              </a:p>
            </p:txBody>
          </p:sp>
        </mc:Choice>
        <mc:Fallback>
          <p:sp>
            <p:nvSpPr>
              <p:cNvPr id="5" name="Obj [o872]"/>
              <p:cNvSpPr txBox="1"/>
              <p:nvPr/>
            </p:nvSpPr>
            <p:spPr>
              <a:xfrm>
                <a:off x="966136" y="1561458"/>
                <a:ext cx="7211728" cy="76123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SNRap(f) = 10·log10( Ppost(f) / Ppre(f) )</a:t>
                </a:r>
                <a:endParaRPr lang="en-US" sz="2159" dirty="0"/>
              </a:p>
            </p:txBody>
          </p:sp>
        </mc:Fallback>
      </mc:AlternateContent>
      <p:sp>
        <p:nvSpPr>
          <p:cNvPr id="6" name="Obj [o873]"/>
          <p:cNvSpPr txBox="1"/>
          <p:nvPr/>
        </p:nvSpPr>
        <p:spPr>
          <a:xfrm>
            <a:off x="966136" y="2523022"/>
            <a:ext cx="7211728" cy="1442346"/>
          </a:xfrm>
          <a:prstGeom prst="rect">
            <a:avLst/>
          </a:prstGeom>
          <a:noFill/>
          <a:ln/>
        </p:spPr>
        <p:txBody>
          <a:bodyPr wrap="square" lIns="0" tIns="0" rIns="0" bIns="0" rtlCol="0" anchor="t"/>
          <a:lstStyle/>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Ventanas de 1 s antes y después de cada impacto, sin valor medio y con ventana Hann</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Mediana de los espectros previos y posteriores en cada distancia</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Un valor cercano a 0 dB: después del impacto la energía apenas se distingue de la previa</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Resolución espectral de unos 1 Hz: se analizan bandas, no picos aislados</a:t>
            </a:r>
            <a:endParaRPr lang="en-US" sz="1350" dirty="0"/>
          </a:p>
        </p:txBody>
      </p:sp>
      <p:sp>
        <p:nvSpPr>
          <p:cNvPr id="7" name="Obj [o874]"/>
          <p:cNvSpPr/>
          <p:nvPr/>
        </p:nvSpPr>
        <p:spPr>
          <a:xfrm>
            <a:off x="966136" y="4045498"/>
            <a:ext cx="7211728" cy="360586"/>
          </a:xfrm>
          <a:prstGeom prst="rect">
            <a:avLst/>
          </a:prstGeom>
          <a:solidFill>
            <a:srgbClr val="EAF1F8"/>
          </a:solidFill>
          <a:ln w="6350">
            <a:solidFill>
              <a:srgbClr val="EAF1F8"/>
            </a:solidFill>
            <a:prstDash val="solid"/>
          </a:ln>
        </p:spPr>
      </p:sp>
      <p:sp>
        <p:nvSpPr>
          <p:cNvPr id="8" name="Obj [o875]"/>
          <p:cNvSpPr txBox="1"/>
          <p:nvPr/>
        </p:nvSpPr>
        <p:spPr>
          <a:xfrm>
            <a:off x="1086331" y="4045498"/>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Es “aparente”: la ventana posterior contiene a la vez la respuesta y el ruido.</a:t>
            </a:r>
            <a:endParaRPr lang="en-US" sz="1260" dirty="0"/>
          </a:p>
        </p:txBody>
      </p:sp>
      <p:sp>
        <p:nvSpPr>
          <p:cNvPr id="9" name="Obj [o87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ec. 19.</a:t>
            </a:r>
            <a:endParaRPr lang="en-US" sz="800" dirty="0"/>
          </a:p>
        </p:txBody>
      </p:sp>
      <p:sp>
        <p:nvSpPr>
          <p:cNvPr id="10" name="Obj [o87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Por debajo de 10 Hz la señal apenas se distingue del ruido; arriba, la SNR es alta</a:t>
            </a:r>
            <a:endParaRPr lang="en-US" sz="1400" dirty="0"/>
          </a:p>
        </p:txBody>
      </p:sp>
      <p:pic>
        <p:nvPicPr>
          <p:cNvPr id="11" name="Obj [o878]" descr="Densidad espectral y SNR aparente de las capturas por distancia entre 10 y 50 metros; banda baja de interés sombreada y frecuencia natural del SM-24 a 10 Hz">    </p:cNvPr>
          <p:cNvPicPr>
            <a:picLocks noChangeAspect="1"/>
          </p:cNvPicPr>
          <p:nvPr/>
        </p:nvPicPr>
        <p:blipFill>
          <a:blip r:embed="rId1"/>
          <a:stretch>
            <a:fillRect/>
          </a:stretch>
        </p:blipFill>
        <p:spPr>
          <a:xfrm>
            <a:off x="886005" y="1561458"/>
            <a:ext cx="3766125" cy="2720604"/>
          </a:xfrm>
          <a:prstGeom prst="rect">
            <a:avLst/>
          </a:prstGeom>
        </p:spPr>
      </p:pic>
      <p:graphicFrame>
        <p:nvGraphicFramePr>
          <p:cNvPr id="26" name="Obj [o879]"/>
          <p:cNvGraphicFramePr>
            <a:graphicFrameLocks noGrp="1"/>
          </p:cNvGraphicFramePr>
          <p:nvPr>
            <p:extLst>
              <p:ext uri="{D42A27DB-BD31-4B8C-83A1-F6EECF244321}">
                <p14:modId xmlns:p14="http://schemas.microsoft.com/office/powerpoint/2010/main" val="1579011935"/>
              </p:ext>
            </p:extLst>
          </p:nvPr>
        </p:nvGraphicFramePr>
        <p:xfrm>
          <a:off x="4892521" y="1561458"/>
          <a:ext cx="3285343" cy="914400"/>
        </p:xfrm>
        <a:graphic>
          <a:graphicData uri="http://schemas.openxmlformats.org/drawingml/2006/table">
            <a:tbl>
              <a:tblPr/>
              <a:tblGrid>
                <a:gridCol w="1282085"/>
                <a:gridCol w="2003258"/>
              </a:tblGrid>
              <a:tr h="272443">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Banda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SNR aparente (mediana)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1–5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C55A11"/>
                          </a:solidFill>
                          <a:latin typeface="Arial" pitchFamily="34" charset="0"/>
                          <a:ea typeface="Arial" pitchFamily="34" charset="-122"/>
                          <a:cs typeface="Arial" pitchFamily="34" charset="-120"/>
                        </a:rPr>
                        <a:t>0,5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5–10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C55A11"/>
                          </a:solidFill>
                          <a:latin typeface="Arial" pitchFamily="34" charset="0"/>
                          <a:ea typeface="Arial" pitchFamily="34" charset="-122"/>
                          <a:cs typeface="Arial" pitchFamily="34" charset="-120"/>
                        </a:rPr>
                        <a:t>2,1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10–20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1F4E79"/>
                          </a:solidFill>
                          <a:latin typeface="Arial" pitchFamily="34" charset="0"/>
                          <a:ea typeface="Arial" pitchFamily="34" charset="-122"/>
                          <a:cs typeface="Arial" pitchFamily="34" charset="-120"/>
                        </a:rPr>
                        <a:t>16,7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20–50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1F4E79"/>
                          </a:solidFill>
                          <a:latin typeface="Arial" pitchFamily="34" charset="0"/>
                          <a:ea typeface="Arial" pitchFamily="34" charset="-122"/>
                          <a:cs typeface="Arial" pitchFamily="34" charset="-120"/>
                        </a:rPr>
                        <a:t>24,4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Obj [o880]"/>
          <p:cNvSpPr txBox="1"/>
          <p:nvPr/>
        </p:nvSpPr>
        <p:spPr>
          <a:xfrm>
            <a:off x="4892521" y="3083934"/>
            <a:ext cx="3285343" cy="1041694"/>
          </a:xfrm>
          <a:prstGeom prst="rect">
            <a:avLst/>
          </a:prstGeom>
          <a:noFill/>
          <a:ln/>
        </p:spPr>
        <p:txBody>
          <a:bodyPr wrap="square" lIns="0" tIns="0" rIns="0" bIns="0" rtlCol="0" anchor="t"/>
          <a:lstStyle/>
          <a:p>
            <a:pPr marL="342900" indent="-342900">
              <a:spcAft>
                <a:spcPts val="540"/>
              </a:spcAft>
              <a:buSzPct val="100000"/>
              <a:buChar char="•"/>
            </a:pPr>
            <a:r>
              <a:rPr lang="en-US" sz="1170" dirty="0">
                <a:solidFill>
                  <a:srgbClr val="2D2D2D"/>
                </a:solidFill>
                <a:latin typeface="Arial" pitchFamily="34" charset="0"/>
                <a:ea typeface="Arial" pitchFamily="34" charset="-122"/>
                <a:cs typeface="Arial" pitchFamily="34" charset="-120"/>
              </a:rPr>
              <a:t>265 impactos en 15 distancias con al menos 3 registros utilizables</a:t>
            </a:r>
            <a:endParaRPr lang="en-US" sz="1170" dirty="0"/>
          </a:p>
          <a:p>
            <a:pPr marL="342900" indent="-342900">
              <a:spcAft>
                <a:spcPts val="540"/>
              </a:spcAft>
              <a:buSzPct val="100000"/>
              <a:buChar char="•"/>
            </a:pPr>
            <a:r>
              <a:rPr lang="en-US" sz="1170" dirty="0">
                <a:solidFill>
                  <a:srgbClr val="2D2D2D"/>
                </a:solidFill>
                <a:latin typeface="Arial" pitchFamily="34" charset="0"/>
                <a:ea typeface="Arial" pitchFamily="34" charset="-122"/>
                <a:cs typeface="Arial" pitchFamily="34" charset="-120"/>
              </a:rPr>
              <a:t>Ninguna distancia superó 10 dB de mediana bajo 10 Hz</a:t>
            </a:r>
            <a:endParaRPr lang="en-US" sz="1170" dirty="0"/>
          </a:p>
        </p:txBody>
      </p:sp>
      <p:sp>
        <p:nvSpPr>
          <p:cNvPr id="14" name="Obj [o88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fig. 17a.</a:t>
            </a:r>
            <a:endParaRPr lang="en-US" sz="800" dirty="0"/>
          </a:p>
        </p:txBody>
      </p:sp>
      <p:sp>
        <p:nvSpPr>
          <p:cNvPr id="15" name="Obj [o88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No se puede atribuir la baja SNR a un solo elemento: cómo separar las causas</a:t>
            </a:r>
            <a:endParaRPr lang="en-US" sz="1400" dirty="0"/>
          </a:p>
        </p:txBody>
      </p:sp>
      <p:sp>
        <p:nvSpPr>
          <p:cNvPr id="16" name="Obj [o883]"/>
          <p:cNvSpPr/>
          <p:nvPr/>
        </p:nvSpPr>
        <p:spPr>
          <a:xfrm>
            <a:off x="441794" y="1557362"/>
            <a:ext cx="2128962" cy="342155"/>
          </a:xfrm>
          <a:prstGeom prst="rect">
            <a:avLst/>
          </a:prstGeom>
          <a:solidFill>
            <a:srgbClr val="1F4E79"/>
          </a:solidFill>
          <a:ln w="6350">
            <a:solidFill>
              <a:srgbClr val="1F4E79"/>
            </a:solidFill>
            <a:prstDash val="solid"/>
          </a:ln>
        </p:spPr>
      </p:sp>
      <p:sp>
        <p:nvSpPr>
          <p:cNvPr id="17" name="Obj [o884]"/>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Fuente</a:t>
            </a:r>
            <a:endParaRPr lang="en-US" sz="1294" dirty="0"/>
          </a:p>
        </p:txBody>
      </p:sp>
      <p:sp>
        <p:nvSpPr>
          <p:cNvPr id="18" name="Obj [o885]"/>
          <p:cNvSpPr/>
          <p:nvPr/>
        </p:nvSpPr>
        <p:spPr>
          <a:xfrm>
            <a:off x="441794" y="1899517"/>
            <a:ext cx="2128962" cy="2052927"/>
          </a:xfrm>
          <a:prstGeom prst="rect">
            <a:avLst/>
          </a:prstGeom>
          <a:solidFill>
            <a:srgbClr val="FFFFFF"/>
          </a:solidFill>
          <a:ln w="15840">
            <a:solidFill>
              <a:srgbClr val="1F4E79"/>
            </a:solidFill>
            <a:prstDash val="solid"/>
          </a:ln>
        </p:spPr>
      </p:sp>
      <p:sp>
        <p:nvSpPr>
          <p:cNvPr id="19" name="Obj [o886]"/>
          <p:cNvSpPr txBox="1"/>
          <p:nvPr/>
        </p:nvSpPr>
        <p:spPr>
          <a:xfrm>
            <a:off x="533036"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Hipótesis: la maza manual entrega poca energía bajo 10 Hz</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Prueba: excitador de mayor energía y repetibilidad, misma geometría (resumen)</a:t>
            </a:r>
            <a:endParaRPr lang="en-US" sz="1078" dirty="0"/>
          </a:p>
        </p:txBody>
      </p:sp>
      <p:sp>
        <p:nvSpPr>
          <p:cNvPr id="20" name="Obj [o887]"/>
          <p:cNvSpPr/>
          <p:nvPr/>
        </p:nvSpPr>
        <p:spPr>
          <a:xfrm>
            <a:off x="2798859" y="1557362"/>
            <a:ext cx="2128962" cy="342155"/>
          </a:xfrm>
          <a:prstGeom prst="rect">
            <a:avLst/>
          </a:prstGeom>
          <a:solidFill>
            <a:srgbClr val="2E75B6"/>
          </a:solidFill>
          <a:ln w="6350">
            <a:solidFill>
              <a:srgbClr val="2E75B6"/>
            </a:solidFill>
            <a:prstDash val="solid"/>
          </a:ln>
        </p:spPr>
      </p:sp>
      <p:sp>
        <p:nvSpPr>
          <p:cNvPr id="21" name="Obj [o888]"/>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Acople y terreno</a:t>
            </a:r>
            <a:endParaRPr lang="en-US" sz="1294" dirty="0"/>
          </a:p>
        </p:txBody>
      </p:sp>
      <p:sp>
        <p:nvSpPr>
          <p:cNvPr id="22" name="Obj [o889]"/>
          <p:cNvSpPr/>
          <p:nvPr/>
        </p:nvSpPr>
        <p:spPr>
          <a:xfrm>
            <a:off x="2798859" y="1899517"/>
            <a:ext cx="2128962" cy="2052927"/>
          </a:xfrm>
          <a:prstGeom prst="rect">
            <a:avLst/>
          </a:prstGeom>
          <a:solidFill>
            <a:srgbClr val="FFFFFF"/>
          </a:solidFill>
          <a:ln w="15840">
            <a:solidFill>
              <a:srgbClr val="2E75B6"/>
            </a:solidFill>
            <a:prstDash val="solid"/>
          </a:ln>
        </p:spPr>
      </p:sp>
      <p:sp>
        <p:nvSpPr>
          <p:cNvPr id="23" name="Obj [o890]"/>
          <p:cNvSpPr txBox="1"/>
          <p:nvPr/>
        </p:nvSpPr>
        <p:spPr>
          <a:xfrm>
            <a:off x="2890100"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Hipótesis: ruido ambiente o acople del geófono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Prueba: piso de ruido sin golpear, con el geófono acoplado y desacoplado (propuesta mía)</a:t>
            </a:r>
            <a:endParaRPr lang="en-US" sz="1078" dirty="0"/>
          </a:p>
        </p:txBody>
      </p:sp>
      <p:sp>
        <p:nvSpPr>
          <p:cNvPr id="24" name="Obj [o891]"/>
          <p:cNvSpPr/>
          <p:nvPr/>
        </p:nvSpPr>
        <p:spPr>
          <a:xfrm>
            <a:off x="5155924" y="1557362"/>
            <a:ext cx="2128962" cy="342155"/>
          </a:xfrm>
          <a:prstGeom prst="rect">
            <a:avLst/>
          </a:prstGeom>
          <a:solidFill>
            <a:srgbClr val="C55A11"/>
          </a:solidFill>
          <a:ln w="6350">
            <a:solidFill>
              <a:srgbClr val="C55A11"/>
            </a:solidFill>
            <a:prstDash val="solid"/>
          </a:ln>
        </p:spPr>
      </p:sp>
      <p:sp>
        <p:nvSpPr>
          <p:cNvPr id="25" name="Obj [o892]"/>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Geófono y electrónica</a:t>
            </a:r>
            <a:endParaRPr lang="en-US" sz="1294" dirty="0"/>
          </a:p>
        </p:txBody>
      </p:sp>
      <p:sp>
        <p:nvSpPr>
          <p:cNvPr id="26" name="Obj [o893]"/>
          <p:cNvSpPr/>
          <p:nvPr/>
        </p:nvSpPr>
        <p:spPr>
          <a:xfrm>
            <a:off x="5155924" y="1899517"/>
            <a:ext cx="2128962" cy="2052927"/>
          </a:xfrm>
          <a:prstGeom prst="rect">
            <a:avLst/>
          </a:prstGeom>
          <a:solidFill>
            <a:srgbClr val="FFFFFF"/>
          </a:solidFill>
          <a:ln w="15840">
            <a:solidFill>
              <a:srgbClr val="C55A11"/>
            </a:solidFill>
            <a:prstDash val="solid"/>
          </a:ln>
        </p:spPr>
      </p:sp>
      <p:sp>
        <p:nvSpPr>
          <p:cNvPr id="27" name="Obj [o894]"/>
          <p:cNvSpPr txBox="1"/>
          <p:nvPr/>
        </p:nvSpPr>
        <p:spPr>
          <a:xfrm>
            <a:off x="5247165"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Hipótesis: el SM-24 pierde sensibilidad bajo 10 Hz y el ruido del AFE no está medido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Prueba: entrada terminada para aislar la electrónica; comparar con un geófono de 4,5 Hz (propuesta mía)</a:t>
            </a:r>
            <a:endParaRPr lang="en-US" sz="1078" dirty="0"/>
          </a:p>
        </p:txBody>
      </p:sp>
      <p:sp>
        <p:nvSpPr>
          <p:cNvPr id="28" name="Obj [o895]"/>
          <p:cNvSpPr/>
          <p:nvPr/>
        </p:nvSpPr>
        <p:spPr>
          <a:xfrm>
            <a:off x="441794" y="4028479"/>
            <a:ext cx="6843091" cy="342155"/>
          </a:xfrm>
          <a:prstGeom prst="rect">
            <a:avLst/>
          </a:prstGeom>
          <a:solidFill>
            <a:srgbClr val="EAF1F8"/>
          </a:solidFill>
          <a:ln w="6350">
            <a:solidFill>
              <a:srgbClr val="EAF1F8"/>
            </a:solidFill>
            <a:prstDash val="solid"/>
          </a:ln>
        </p:spPr>
      </p:sp>
      <p:sp>
        <p:nvSpPr>
          <p:cNvPr id="29" name="Obj [o896]"/>
          <p:cNvSpPr txBox="1"/>
          <p:nvPr/>
        </p:nvSpPr>
        <p:spPr>
          <a:xfrm>
            <a:off x="555846" y="4028479"/>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El resultado integra excitador, acople, propagación, geófono y electrónica.</a:t>
            </a:r>
            <a:endParaRPr lang="en-US" sz="1208" dirty="0"/>
          </a:p>
        </p:txBody>
      </p:sp>
      <p:sp>
        <p:nvSpPr>
          <p:cNvPr id="30" name="Obj [o89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y 5. Las pruebas de acople y de entrada terminada son propuestas propias.</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3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grpId="0" fill="hold" nodeType="withEffect">
                                  <p:stCondLst>
                                    <p:cond delay="41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450"/>
                                        <p:tgtEl>
                                          <p:spTgt spid="6">
                                            <p:txEl>
                                              <p:pRg st="0" end="0"/>
                                            </p:txEl>
                                          </p:spTgt>
                                        </p:tgtEl>
                                      </p:cBhvr>
                                    </p:animEffect>
                                  </p:childTnLst>
                                </p:cTn>
                              </p:par>
                              <p:par>
                                <p:cTn id="17" presetID="10" presetClass="entr" presetSubtype="0" grpId="0" fill="hold" nodeType="withEffect">
                                  <p:stCondLst>
                                    <p:cond delay="735"/>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450"/>
                                        <p:tgtEl>
                                          <p:spTgt spid="6">
                                            <p:txEl>
                                              <p:pRg st="1" end="1"/>
                                            </p:txEl>
                                          </p:spTgt>
                                        </p:tgtEl>
                                      </p:cBhvr>
                                    </p:animEffect>
                                  </p:childTnLst>
                                </p:cTn>
                              </p:par>
                              <p:par>
                                <p:cTn id="20" presetID="10" presetClass="entr" presetSubtype="0" grpId="0" fill="hold" nodeType="withEffect">
                                  <p:stCondLst>
                                    <p:cond delay="106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450"/>
                                        <p:tgtEl>
                                          <p:spTgt spid="6">
                                            <p:txEl>
                                              <p:pRg st="2" end="2"/>
                                            </p:txEl>
                                          </p:spTgt>
                                        </p:tgtEl>
                                      </p:cBhvr>
                                    </p:animEffect>
                                  </p:childTnLst>
                                </p:cTn>
                              </p:par>
                              <p:par>
                                <p:cTn id="23" presetID="10" presetClass="entr" presetSubtype="0" grpId="0" fill="hold" nodeType="withEffect">
                                  <p:stCondLst>
                                    <p:cond delay="1385"/>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450"/>
                                        <p:tgtEl>
                                          <p:spTgt spid="6">
                                            <p:txEl>
                                              <p:pRg st="3" end="3"/>
                                            </p:txEl>
                                          </p:spTgt>
                                        </p:tgtEl>
                                      </p:cBhvr>
                                    </p:animEffect>
                                  </p:childTnLst>
                                </p:cTn>
                              </p:par>
                              <p:par>
                                <p:cTn id="26" presetID="10" presetClass="entr" presetSubtype="0" fill="hold" nodeType="withEffect">
                                  <p:stCondLst>
                                    <p:cond delay="48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50"/>
                                        <p:tgtEl>
                                          <p:spTgt spid="7"/>
                                        </p:tgtEl>
                                      </p:cBhvr>
                                    </p:animEffect>
                                  </p:childTnLst>
                                </p:cTn>
                              </p:par>
                              <p:par>
                                <p:cTn id="29" presetID="22" presetClass="entr" presetSubtype="8" fill="hold" nodeType="withEffect">
                                  <p:stCondLst>
                                    <p:cond delay="55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par>
                                <p:cTn id="32" presetID="10" presetClass="entr" presetSubtype="0" fill="hold" nodeType="withEffect">
                                  <p:stCondLst>
                                    <p:cond delay="4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350"/>
                                        <p:tgtEl>
                                          <p:spTgt spid="3"/>
                                        </p:tgtEl>
                                      </p:cBhvr>
                                    </p:animEffect>
                                    <p:set>
                                      <p:cBhvr>
                                        <p:cTn id="39" dur="1" fill="hold">
                                          <p:stCondLst>
                                            <p:cond delay="349"/>
                                          </p:stCondLst>
                                        </p:cTn>
                                        <p:tgtEl>
                                          <p:spTgt spid="3"/>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350"/>
                                        <p:tgtEl>
                                          <p:spTgt spid="4"/>
                                        </p:tgtEl>
                                      </p:cBhvr>
                                    </p:animEffect>
                                    <p:set>
                                      <p:cBhvr>
                                        <p:cTn id="42" dur="1" fill="hold">
                                          <p:stCondLst>
                                            <p:cond delay="349"/>
                                          </p:stCondLst>
                                        </p:cTn>
                                        <p:tgtEl>
                                          <p:spTgt spid="4"/>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350"/>
                                        <p:tgtEl>
                                          <p:spTgt spid="5"/>
                                        </p:tgtEl>
                                      </p:cBhvr>
                                    </p:animEffect>
                                    <p:set>
                                      <p:cBhvr>
                                        <p:cTn id="45" dur="1" fill="hold">
                                          <p:stCondLst>
                                            <p:cond delay="349"/>
                                          </p:stCondLst>
                                        </p:cTn>
                                        <p:tgtEl>
                                          <p:spTgt spid="5"/>
                                        </p:tgtEl>
                                        <p:attrNameLst>
                                          <p:attrName>style.visibility</p:attrName>
                                        </p:attrNameLst>
                                      </p:cBhvr>
                                      <p:to>
                                        <p:strVal val="hidden"/>
                                      </p:to>
                                    </p:set>
                                  </p:childTnLst>
                                </p:cTn>
                              </p:par>
                              <p:par>
                                <p:cTn id="46" presetID="10" presetClass="exit" presetSubtype="0" grpId="0" fill="hold" nodeType="withEffect">
                                  <p:stCondLst>
                                    <p:cond delay="0"/>
                                  </p:stCondLst>
                                  <p:childTnLst>
                                    <p:animEffect transition="out" filter="fade">
                                      <p:cBhvr>
                                        <p:cTn id="47" dur="350"/>
                                        <p:tgtEl>
                                          <p:spTgt spid="6">
                                            <p:txEl>
                                              <p:pRg st="0" end="0"/>
                                            </p:txEl>
                                          </p:spTgt>
                                        </p:tgtEl>
                                      </p:cBhvr>
                                    </p:animEffect>
                                    <p:set>
                                      <p:cBhvr>
                                        <p:cTn id="48" dur="1" fill="hold">
                                          <p:stCondLst>
                                            <p:cond delay="349"/>
                                          </p:stCondLst>
                                        </p:cTn>
                                        <p:tgtEl>
                                          <p:spTgt spid="6">
                                            <p:txEl>
                                              <p:pRg st="0" end="0"/>
                                            </p:txEl>
                                          </p:spTgt>
                                        </p:tgtEl>
                                        <p:attrNameLst>
                                          <p:attrName>style.visibility</p:attrName>
                                        </p:attrNameLst>
                                      </p:cBhvr>
                                      <p:to>
                                        <p:strVal val="hidden"/>
                                      </p:to>
                                    </p:set>
                                  </p:childTnLst>
                                </p:cTn>
                              </p:par>
                              <p:par>
                                <p:cTn id="49" presetID="10" presetClass="exit" presetSubtype="0" grpId="0" fill="hold" nodeType="withEffect">
                                  <p:stCondLst>
                                    <p:cond delay="0"/>
                                  </p:stCondLst>
                                  <p:childTnLst>
                                    <p:animEffect transition="out" filter="fade">
                                      <p:cBhvr>
                                        <p:cTn id="50" dur="350"/>
                                        <p:tgtEl>
                                          <p:spTgt spid="6">
                                            <p:txEl>
                                              <p:pRg st="1" end="1"/>
                                            </p:txEl>
                                          </p:spTgt>
                                        </p:tgtEl>
                                      </p:cBhvr>
                                    </p:animEffect>
                                    <p:set>
                                      <p:cBhvr>
                                        <p:cTn id="51" dur="1" fill="hold">
                                          <p:stCondLst>
                                            <p:cond delay="349"/>
                                          </p:stCondLst>
                                        </p:cTn>
                                        <p:tgtEl>
                                          <p:spTgt spid="6">
                                            <p:txEl>
                                              <p:pRg st="1" end="1"/>
                                            </p:txEl>
                                          </p:spTgt>
                                        </p:tgtEl>
                                        <p:attrNameLst>
                                          <p:attrName>style.visibility</p:attrName>
                                        </p:attrNameLst>
                                      </p:cBhvr>
                                      <p:to>
                                        <p:strVal val="hidden"/>
                                      </p:to>
                                    </p:set>
                                  </p:childTnLst>
                                </p:cTn>
                              </p:par>
                              <p:par>
                                <p:cTn id="52" presetID="10" presetClass="exit" presetSubtype="0" grpId="0" fill="hold" nodeType="withEffect">
                                  <p:stCondLst>
                                    <p:cond delay="0"/>
                                  </p:stCondLst>
                                  <p:childTnLst>
                                    <p:animEffect transition="out" filter="fade">
                                      <p:cBhvr>
                                        <p:cTn id="53" dur="350"/>
                                        <p:tgtEl>
                                          <p:spTgt spid="6">
                                            <p:txEl>
                                              <p:pRg st="2" end="2"/>
                                            </p:txEl>
                                          </p:spTgt>
                                        </p:tgtEl>
                                      </p:cBhvr>
                                    </p:animEffect>
                                    <p:set>
                                      <p:cBhvr>
                                        <p:cTn id="54" dur="1" fill="hold">
                                          <p:stCondLst>
                                            <p:cond delay="349"/>
                                          </p:stCondLst>
                                        </p:cTn>
                                        <p:tgtEl>
                                          <p:spTgt spid="6">
                                            <p:txEl>
                                              <p:pRg st="2" end="2"/>
                                            </p:txEl>
                                          </p:spTgt>
                                        </p:tgtEl>
                                        <p:attrNameLst>
                                          <p:attrName>style.visibility</p:attrName>
                                        </p:attrNameLst>
                                      </p:cBhvr>
                                      <p:to>
                                        <p:strVal val="hidden"/>
                                      </p:to>
                                    </p:set>
                                  </p:childTnLst>
                                </p:cTn>
                              </p:par>
                              <p:par>
                                <p:cTn id="55" presetID="10" presetClass="exit" presetSubtype="0" grpId="0" fill="hold" nodeType="withEffect">
                                  <p:stCondLst>
                                    <p:cond delay="0"/>
                                  </p:stCondLst>
                                  <p:childTnLst>
                                    <p:animEffect transition="out" filter="fade">
                                      <p:cBhvr>
                                        <p:cTn id="56" dur="350"/>
                                        <p:tgtEl>
                                          <p:spTgt spid="6">
                                            <p:txEl>
                                              <p:pRg st="3" end="3"/>
                                            </p:txEl>
                                          </p:spTgt>
                                        </p:tgtEl>
                                      </p:cBhvr>
                                    </p:animEffect>
                                    <p:set>
                                      <p:cBhvr>
                                        <p:cTn id="57" dur="1" fill="hold">
                                          <p:stCondLst>
                                            <p:cond delay="349"/>
                                          </p:stCondLst>
                                        </p:cTn>
                                        <p:tgtEl>
                                          <p:spTgt spid="6">
                                            <p:txEl>
                                              <p:pRg st="3" end="3"/>
                                            </p:txEl>
                                          </p:spTgt>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350"/>
                                        <p:tgtEl>
                                          <p:spTgt spid="7"/>
                                        </p:tgtEl>
                                      </p:cBhvr>
                                    </p:animEffect>
                                    <p:set>
                                      <p:cBhvr>
                                        <p:cTn id="60" dur="1" fill="hold">
                                          <p:stCondLst>
                                            <p:cond delay="349"/>
                                          </p:stCondLst>
                                        </p:cTn>
                                        <p:tgtEl>
                                          <p:spTgt spid="7"/>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350"/>
                                        <p:tgtEl>
                                          <p:spTgt spid="8"/>
                                        </p:tgtEl>
                                      </p:cBhvr>
                                    </p:animEffect>
                                    <p:set>
                                      <p:cBhvr>
                                        <p:cTn id="63" dur="1" fill="hold">
                                          <p:stCondLst>
                                            <p:cond delay="349"/>
                                          </p:stCondLst>
                                        </p:cTn>
                                        <p:tgtEl>
                                          <p:spTgt spid="8"/>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350"/>
                                        <p:tgtEl>
                                          <p:spTgt spid="9"/>
                                        </p:tgtEl>
                                      </p:cBhvr>
                                    </p:animEffect>
                                    <p:set>
                                      <p:cBhvr>
                                        <p:cTn id="66" dur="1" fill="hold">
                                          <p:stCondLst>
                                            <p:cond delay="349"/>
                                          </p:stCondLst>
                                        </p:cTn>
                                        <p:tgtEl>
                                          <p:spTgt spid="9"/>
                                        </p:tgtEl>
                                        <p:attrNameLst>
                                          <p:attrName>style.visibility</p:attrName>
                                        </p:attrNameLst>
                                      </p:cBhvr>
                                      <p:to>
                                        <p:strVal val="hidden"/>
                                      </p:to>
                                    </p:set>
                                  </p:childTnLst>
                                </p:cTn>
                              </p:par>
                              <p:par>
                                <p:cTn id="67" presetID="10" presetClass="entr" presetSubtype="0" fill="hold" nodeType="withEffect">
                                  <p:stCondLst>
                                    <p:cond delay="450"/>
                                  </p:stCondLst>
                                  <p:childTnLst>
                                    <p:set>
                                      <p:cBhvr>
                                        <p:cTn id="68" dur="1" fill="hold">
                                          <p:stCondLst>
                                            <p:cond delay="0"/>
                                          </p:stCondLst>
                                        </p:cTn>
                                        <p:tgtEl>
                                          <p:spTgt spid="10"/>
                                        </p:tgtEl>
                                        <p:attrNameLst>
                                          <p:attrName>style.visibility</p:attrName>
                                        </p:attrNameLst>
                                      </p:cBhvr>
                                      <p:to>
                                        <p:strVal val="visible"/>
                                      </p:to>
                                    </p:set>
                                    <p:animEffect transition="in" filter="fade">
                                      <p:cBhvr>
                                        <p:cTn id="69" dur="450"/>
                                        <p:tgtEl>
                                          <p:spTgt spid="10"/>
                                        </p:tgtEl>
                                      </p:cBhvr>
                                    </p:animEffect>
                                  </p:childTnLst>
                                </p:cTn>
                              </p:par>
                              <p:par>
                                <p:cTn id="70" presetID="53" presetClass="entr" presetSubtype="16" fill="hold" nodeType="withEffect">
                                  <p:stCondLst>
                                    <p:cond delay="520"/>
                                  </p:stCondLst>
                                  <p:childTnLst>
                                    <p:set>
                                      <p:cBhvr>
                                        <p:cTn id="71" dur="1" fill="hold">
                                          <p:stCondLst>
                                            <p:cond delay="0"/>
                                          </p:stCondLst>
                                        </p:cTn>
                                        <p:tgtEl>
                                          <p:spTgt spid="11"/>
                                        </p:tgtEl>
                                        <p:attrNameLst>
                                          <p:attrName>style.visibility</p:attrName>
                                        </p:attrNameLst>
                                      </p:cBhvr>
                                      <p:to>
                                        <p:strVal val="visible"/>
                                      </p:to>
                                    </p:set>
                                    <p:anim calcmode="lin" valueType="num">
                                      <p:cBhvr>
                                        <p:cTn id="72" dur="600" fill="hold"/>
                                        <p:tgtEl>
                                          <p:spTgt spid="11"/>
                                        </p:tgtEl>
                                        <p:attrNameLst>
                                          <p:attrName>ppt_w</p:attrName>
                                        </p:attrNameLst>
                                      </p:cBhvr>
                                      <p:tavLst>
                                        <p:tav tm="0">
                                          <p:val>
                                            <p:fltVal val="0"/>
                                          </p:val>
                                        </p:tav>
                                        <p:tav tm="100000">
                                          <p:val>
                                            <p:strVal val="#ppt_w"/>
                                          </p:val>
                                        </p:tav>
                                      </p:tavLst>
                                    </p:anim>
                                    <p:anim calcmode="lin" valueType="num">
                                      <p:cBhvr>
                                        <p:cTn id="73" dur="600" fill="hold"/>
                                        <p:tgtEl>
                                          <p:spTgt spid="11"/>
                                        </p:tgtEl>
                                        <p:attrNameLst>
                                          <p:attrName>ppt_h</p:attrName>
                                        </p:attrNameLst>
                                      </p:cBhvr>
                                      <p:tavLst>
                                        <p:tav tm="0">
                                          <p:val>
                                            <p:fltVal val="0"/>
                                          </p:val>
                                        </p:tav>
                                        <p:tav tm="100000">
                                          <p:val>
                                            <p:strVal val="#ppt_h"/>
                                          </p:val>
                                        </p:tav>
                                      </p:tavLst>
                                    </p:anim>
                                    <p:animEffect transition="in" filter="fade">
                                      <p:cBhvr>
                                        <p:cTn id="74" dur="600"/>
                                        <p:tgtEl>
                                          <p:spTgt spid="11"/>
                                        </p:tgtEl>
                                      </p:cBhvr>
                                    </p:animEffect>
                                  </p:childTnLst>
                                </p:cTn>
                              </p:par>
                              <p:par>
                                <p:cTn id="75" presetID="10" presetClass="entr" presetSubtype="0" grpId="0" fill="hold" nodeType="withEffect">
                                  <p:stCondLst>
                                    <p:cond delay="59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450"/>
                                        <p:tgtEl>
                                          <p:spTgt spid="13">
                                            <p:txEl>
                                              <p:pRg st="0" end="0"/>
                                            </p:txEl>
                                          </p:spTgt>
                                        </p:tgtEl>
                                      </p:cBhvr>
                                    </p:animEffect>
                                  </p:childTnLst>
                                </p:cTn>
                              </p:par>
                              <p:par>
                                <p:cTn id="78" presetID="10" presetClass="entr" presetSubtype="0" grpId="0" fill="hold" nodeType="withEffect">
                                  <p:stCondLst>
                                    <p:cond delay="970"/>
                                  </p:stCondLst>
                                  <p:childTnLst>
                                    <p:set>
                                      <p:cBhvr>
                                        <p:cTn id="79" dur="1" fill="hold">
                                          <p:stCondLst>
                                            <p:cond delay="0"/>
                                          </p:stCondLst>
                                        </p:cTn>
                                        <p:tgtEl>
                                          <p:spTgt spid="13">
                                            <p:txEl>
                                              <p:pRg st="1" end="1"/>
                                            </p:txEl>
                                          </p:spTgt>
                                        </p:tgtEl>
                                        <p:attrNameLst>
                                          <p:attrName>style.visibility</p:attrName>
                                        </p:attrNameLst>
                                      </p:cBhvr>
                                      <p:to>
                                        <p:strVal val="visible"/>
                                      </p:to>
                                    </p:set>
                                    <p:animEffect transition="in" filter="fade">
                                      <p:cBhvr>
                                        <p:cTn id="80" dur="450"/>
                                        <p:tgtEl>
                                          <p:spTgt spid="13">
                                            <p:txEl>
                                              <p:pRg st="1" end="1"/>
                                            </p:txEl>
                                          </p:spTgt>
                                        </p:tgtEl>
                                      </p:cBhvr>
                                    </p:animEffect>
                                  </p:childTnLst>
                                </p:cTn>
                              </p:par>
                              <p:par>
                                <p:cTn id="81" presetID="22" presetClass="entr" presetSubtype="8" fill="hold" nodeType="withEffect">
                                  <p:stCondLst>
                                    <p:cond delay="660"/>
                                  </p:stCondLst>
                                  <p:childTnLst>
                                    <p:set>
                                      <p:cBhvr>
                                        <p:cTn id="82" dur="1" fill="hold">
                                          <p:stCondLst>
                                            <p:cond delay="0"/>
                                          </p:stCondLst>
                                        </p:cTn>
                                        <p:tgtEl>
                                          <p:spTgt spid="26"/>
                                        </p:tgtEl>
                                        <p:attrNameLst>
                                          <p:attrName>style.visibility</p:attrName>
                                        </p:attrNameLst>
                                      </p:cBhvr>
                                      <p:to>
                                        <p:strVal val="visible"/>
                                      </p:to>
                                    </p:set>
                                    <p:animEffect transition="in" filter="wipe(left)">
                                      <p:cBhvr>
                                        <p:cTn id="83" dur="500"/>
                                        <p:tgtEl>
                                          <p:spTgt spid="26"/>
                                        </p:tgtEl>
                                      </p:cBhvr>
                                    </p:animEffect>
                                  </p:childTnLst>
                                </p:cTn>
                              </p:par>
                              <p:par>
                                <p:cTn id="84" presetID="10" presetClass="entr" presetSubtype="0" fill="hold" nodeType="withEffect">
                                  <p:stCondLst>
                                    <p:cond delay="58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450"/>
                                        <p:tgtEl>
                                          <p:spTgt spid="1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nodeType="clickEffect">
                                  <p:stCondLst>
                                    <p:cond delay="0"/>
                                  </p:stCondLst>
                                  <p:childTnLst>
                                    <p:animEffect transition="out" filter="fade">
                                      <p:cBhvr>
                                        <p:cTn id="90" dur="350"/>
                                        <p:tgtEl>
                                          <p:spTgt spid="10"/>
                                        </p:tgtEl>
                                      </p:cBhvr>
                                    </p:animEffect>
                                    <p:set>
                                      <p:cBhvr>
                                        <p:cTn id="91" dur="1" fill="hold">
                                          <p:stCondLst>
                                            <p:cond delay="349"/>
                                          </p:stCondLst>
                                        </p:cTn>
                                        <p:tgtEl>
                                          <p:spTgt spid="10"/>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350"/>
                                        <p:tgtEl>
                                          <p:spTgt spid="26"/>
                                        </p:tgtEl>
                                      </p:cBhvr>
                                    </p:animEffect>
                                    <p:set>
                                      <p:cBhvr>
                                        <p:cTn id="94" dur="1" fill="hold">
                                          <p:stCondLst>
                                            <p:cond delay="349"/>
                                          </p:stCondLst>
                                        </p:cTn>
                                        <p:tgtEl>
                                          <p:spTgt spid="26"/>
                                        </p:tgtEl>
                                        <p:attrNameLst>
                                          <p:attrName>style.visibility</p:attrName>
                                        </p:attrNameLst>
                                      </p:cBhvr>
                                      <p:to>
                                        <p:strVal val="hidden"/>
                                      </p:to>
                                    </p:set>
                                  </p:childTnLst>
                                </p:cTn>
                              </p:par>
                              <p:par>
                                <p:cTn id="95" presetID="10" presetClass="exit" presetSubtype="0" grpId="0" fill="hold" nodeType="withEffect">
                                  <p:stCondLst>
                                    <p:cond delay="0"/>
                                  </p:stCondLst>
                                  <p:childTnLst>
                                    <p:animEffect transition="out" filter="fade">
                                      <p:cBhvr>
                                        <p:cTn id="96" dur="350"/>
                                        <p:tgtEl>
                                          <p:spTgt spid="13">
                                            <p:txEl>
                                              <p:pRg st="0" end="0"/>
                                            </p:txEl>
                                          </p:spTgt>
                                        </p:tgtEl>
                                      </p:cBhvr>
                                    </p:animEffect>
                                    <p:set>
                                      <p:cBhvr>
                                        <p:cTn id="97" dur="1" fill="hold">
                                          <p:stCondLst>
                                            <p:cond delay="349"/>
                                          </p:stCondLst>
                                        </p:cTn>
                                        <p:tgtEl>
                                          <p:spTgt spid="13">
                                            <p:txEl>
                                              <p:pRg st="0" end="0"/>
                                            </p:txEl>
                                          </p:spTgt>
                                        </p:tgtEl>
                                        <p:attrNameLst>
                                          <p:attrName>style.visibility</p:attrName>
                                        </p:attrNameLst>
                                      </p:cBhvr>
                                      <p:to>
                                        <p:strVal val="hidden"/>
                                      </p:to>
                                    </p:set>
                                  </p:childTnLst>
                                </p:cTn>
                              </p:par>
                              <p:par>
                                <p:cTn id="98" presetID="10" presetClass="exit" presetSubtype="0" grpId="0" fill="hold" nodeType="withEffect">
                                  <p:stCondLst>
                                    <p:cond delay="0"/>
                                  </p:stCondLst>
                                  <p:childTnLst>
                                    <p:animEffect transition="out" filter="fade">
                                      <p:cBhvr>
                                        <p:cTn id="99" dur="350"/>
                                        <p:tgtEl>
                                          <p:spTgt spid="13">
                                            <p:txEl>
                                              <p:pRg st="1" end="1"/>
                                            </p:txEl>
                                          </p:spTgt>
                                        </p:tgtEl>
                                      </p:cBhvr>
                                    </p:animEffect>
                                    <p:set>
                                      <p:cBhvr>
                                        <p:cTn id="100" dur="1" fill="hold">
                                          <p:stCondLst>
                                            <p:cond delay="349"/>
                                          </p:stCondLst>
                                        </p:cTn>
                                        <p:tgtEl>
                                          <p:spTgt spid="13">
                                            <p:txEl>
                                              <p:pRg st="1" end="1"/>
                                            </p:txEl>
                                          </p:spTgt>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350"/>
                                        <p:tgtEl>
                                          <p:spTgt spid="14"/>
                                        </p:tgtEl>
                                      </p:cBhvr>
                                    </p:animEffect>
                                    <p:set>
                                      <p:cBhvr>
                                        <p:cTn id="103" dur="1" fill="hold">
                                          <p:stCondLst>
                                            <p:cond delay="349"/>
                                          </p:stCondLst>
                                        </p:cTn>
                                        <p:tgtEl>
                                          <p:spTgt spid="14"/>
                                        </p:tgtEl>
                                        <p:attrNameLst>
                                          <p:attrName>style.visibility</p:attrName>
                                        </p:attrNameLst>
                                      </p:cBhvr>
                                      <p:to>
                                        <p:strVal val="hidden"/>
                                      </p:to>
                                    </p:set>
                                  </p:childTnLst>
                                </p:cTn>
                              </p:par>
                              <p:par>
                                <p:cTn id="104" presetID="0" presetClass="path" presetSubtype="0" accel="50000" decel="50000" fill="hold" nodeType="withEffect">
                                  <p:stCondLst>
                                    <p:cond delay="0"/>
                                  </p:stCondLst>
                                  <p:childTnLst>
                                    <p:animMotion origin="layout" path="M 0 0 L 0.58967 -0.20005 E" pathEditMode="relative" rAng="0" ptsTypes="AA">
                                      <p:cBhvr>
                                        <p:cTn id="105" dur="750" fill="hold"/>
                                        <p:tgtEl>
                                          <p:spTgt spid="11"/>
                                        </p:tgtEl>
                                        <p:attrNameLst>
                                          <p:attrName>ppt_x</p:attrName>
                                          <p:attrName>ppt_y</p:attrName>
                                        </p:attrNameLst>
                                      </p:cBhvr>
                                      <p:rCtr x="29483" y="-10002"/>
                                    </p:animMotion>
                                  </p:childTnLst>
                                </p:cTn>
                              </p:par>
                              <p:par>
                                <p:cTn id="106" presetID="6" presetClass="emph" presetSubtype="0" accel="50000" decel="50000" fill="hold" nodeType="withEffect">
                                  <p:stCondLst>
                                    <p:cond delay="0"/>
                                  </p:stCondLst>
                                  <p:childTnLst>
                                    <p:animScale>
                                      <p:cBhvr>
                                        <p:cTn id="107" dur="750" fill="hold"/>
                                        <p:tgtEl>
                                          <p:spTgt spid="11"/>
                                        </p:tgtEl>
                                      </p:cBhvr>
                                      <p:by x="30249" y="30249"/>
                                    </p:animScale>
                                  </p:childTnLst>
                                </p:cTn>
                              </p:par>
                              <p:par>
                                <p:cTn id="108" presetID="10" presetClass="entr" presetSubtype="0" fill="hold" nodeType="withEffect">
                                  <p:stCondLst>
                                    <p:cond delay="450"/>
                                  </p:stCondLst>
                                  <p:childTnLst>
                                    <p:set>
                                      <p:cBhvr>
                                        <p:cTn id="109" dur="1" fill="hold">
                                          <p:stCondLst>
                                            <p:cond delay="0"/>
                                          </p:stCondLst>
                                        </p:cTn>
                                        <p:tgtEl>
                                          <p:spTgt spid="15"/>
                                        </p:tgtEl>
                                        <p:attrNameLst>
                                          <p:attrName>style.visibility</p:attrName>
                                        </p:attrNameLst>
                                      </p:cBhvr>
                                      <p:to>
                                        <p:strVal val="visible"/>
                                      </p:to>
                                    </p:set>
                                    <p:animEffect transition="in" filter="fade">
                                      <p:cBhvr>
                                        <p:cTn id="110" dur="450"/>
                                        <p:tgtEl>
                                          <p:spTgt spid="15"/>
                                        </p:tgtEl>
                                      </p:cBhvr>
                                    </p:animEffect>
                                  </p:childTnLst>
                                </p:cTn>
                              </p:par>
                              <p:par>
                                <p:cTn id="111" presetID="10" presetClass="entr" presetSubtype="0" fill="hold" nodeType="withEffect">
                                  <p:stCondLst>
                                    <p:cond delay="520"/>
                                  </p:stCondLst>
                                  <p:childTnLst>
                                    <p:set>
                                      <p:cBhvr>
                                        <p:cTn id="112" dur="1" fill="hold">
                                          <p:stCondLst>
                                            <p:cond delay="0"/>
                                          </p:stCondLst>
                                        </p:cTn>
                                        <p:tgtEl>
                                          <p:spTgt spid="16"/>
                                        </p:tgtEl>
                                        <p:attrNameLst>
                                          <p:attrName>style.visibility</p:attrName>
                                        </p:attrNameLst>
                                      </p:cBhvr>
                                      <p:to>
                                        <p:strVal val="visible"/>
                                      </p:to>
                                    </p:set>
                                    <p:animEffect transition="in" filter="fade">
                                      <p:cBhvr>
                                        <p:cTn id="113" dur="450"/>
                                        <p:tgtEl>
                                          <p:spTgt spid="16"/>
                                        </p:tgtEl>
                                      </p:cBhvr>
                                    </p:animEffect>
                                  </p:childTnLst>
                                </p:cTn>
                              </p:par>
                              <p:par>
                                <p:cTn id="114" presetID="22" presetClass="entr" presetSubtype="8" fill="hold" nodeType="withEffect">
                                  <p:stCondLst>
                                    <p:cond delay="590"/>
                                  </p:stCondLst>
                                  <p:childTnLst>
                                    <p:set>
                                      <p:cBhvr>
                                        <p:cTn id="115" dur="1" fill="hold">
                                          <p:stCondLst>
                                            <p:cond delay="0"/>
                                          </p:stCondLst>
                                        </p:cTn>
                                        <p:tgtEl>
                                          <p:spTgt spid="17"/>
                                        </p:tgtEl>
                                        <p:attrNameLst>
                                          <p:attrName>style.visibility</p:attrName>
                                        </p:attrNameLst>
                                      </p:cBhvr>
                                      <p:to>
                                        <p:strVal val="visible"/>
                                      </p:to>
                                    </p:set>
                                    <p:animEffect transition="in" filter="wipe(left)">
                                      <p:cBhvr>
                                        <p:cTn id="116" dur="500"/>
                                        <p:tgtEl>
                                          <p:spTgt spid="17"/>
                                        </p:tgtEl>
                                      </p:cBhvr>
                                    </p:animEffect>
                                  </p:childTnLst>
                                </p:cTn>
                              </p:par>
                              <p:par>
                                <p:cTn id="117" presetID="10" presetClass="entr" presetSubtype="0" fill="hold" nodeType="withEffect">
                                  <p:stCondLst>
                                    <p:cond delay="660"/>
                                  </p:stCondLst>
                                  <p:childTnLst>
                                    <p:set>
                                      <p:cBhvr>
                                        <p:cTn id="118" dur="1" fill="hold">
                                          <p:stCondLst>
                                            <p:cond delay="0"/>
                                          </p:stCondLst>
                                        </p:cTn>
                                        <p:tgtEl>
                                          <p:spTgt spid="18"/>
                                        </p:tgtEl>
                                        <p:attrNameLst>
                                          <p:attrName>style.visibility</p:attrName>
                                        </p:attrNameLst>
                                      </p:cBhvr>
                                      <p:to>
                                        <p:strVal val="visible"/>
                                      </p:to>
                                    </p:set>
                                    <p:animEffect transition="in" filter="fade">
                                      <p:cBhvr>
                                        <p:cTn id="119" dur="450"/>
                                        <p:tgtEl>
                                          <p:spTgt spid="18"/>
                                        </p:tgtEl>
                                      </p:cBhvr>
                                    </p:animEffect>
                                  </p:childTnLst>
                                </p:cTn>
                              </p:par>
                              <p:par>
                                <p:cTn id="120" presetID="10" presetClass="entr" presetSubtype="0" grpId="0" fill="hold" nodeType="withEffect">
                                  <p:stCondLst>
                                    <p:cond delay="730"/>
                                  </p:stCondLst>
                                  <p:childTnLst>
                                    <p:set>
                                      <p:cBhvr>
                                        <p:cTn id="121" dur="1" fill="hold">
                                          <p:stCondLst>
                                            <p:cond delay="0"/>
                                          </p:stCondLst>
                                        </p:cTn>
                                        <p:tgtEl>
                                          <p:spTgt spid="19">
                                            <p:txEl>
                                              <p:pRg st="0" end="0"/>
                                            </p:txEl>
                                          </p:spTgt>
                                        </p:tgtEl>
                                        <p:attrNameLst>
                                          <p:attrName>style.visibility</p:attrName>
                                        </p:attrNameLst>
                                      </p:cBhvr>
                                      <p:to>
                                        <p:strVal val="visible"/>
                                      </p:to>
                                    </p:set>
                                    <p:animEffect transition="in" filter="fade">
                                      <p:cBhvr>
                                        <p:cTn id="122" dur="450"/>
                                        <p:tgtEl>
                                          <p:spTgt spid="19">
                                            <p:txEl>
                                              <p:pRg st="0" end="0"/>
                                            </p:txEl>
                                          </p:spTgt>
                                        </p:tgtEl>
                                      </p:cBhvr>
                                    </p:animEffect>
                                  </p:childTnLst>
                                </p:cTn>
                              </p:par>
                              <p:par>
                                <p:cTn id="123" presetID="10" presetClass="entr" presetSubtype="0" grpId="0" fill="hold" nodeType="withEffect">
                                  <p:stCondLst>
                                    <p:cond delay="1110"/>
                                  </p:stCondLst>
                                  <p:childTnLst>
                                    <p:set>
                                      <p:cBhvr>
                                        <p:cTn id="124" dur="1" fill="hold">
                                          <p:stCondLst>
                                            <p:cond delay="0"/>
                                          </p:stCondLst>
                                        </p:cTn>
                                        <p:tgtEl>
                                          <p:spTgt spid="19">
                                            <p:txEl>
                                              <p:pRg st="1" end="1"/>
                                            </p:txEl>
                                          </p:spTgt>
                                        </p:tgtEl>
                                        <p:attrNameLst>
                                          <p:attrName>style.visibility</p:attrName>
                                        </p:attrNameLst>
                                      </p:cBhvr>
                                      <p:to>
                                        <p:strVal val="visible"/>
                                      </p:to>
                                    </p:set>
                                    <p:animEffect transition="in" filter="fade">
                                      <p:cBhvr>
                                        <p:cTn id="125" dur="450"/>
                                        <p:tgtEl>
                                          <p:spTgt spid="19">
                                            <p:txEl>
                                              <p:pRg st="1" end="1"/>
                                            </p:txEl>
                                          </p:spTgt>
                                        </p:tgtEl>
                                      </p:cBhvr>
                                    </p:animEffect>
                                  </p:childTnLst>
                                </p:cTn>
                              </p:par>
                              <p:par>
                                <p:cTn id="126" presetID="10" presetClass="entr" presetSubtype="0" fill="hold" nodeType="withEffect">
                                  <p:stCondLst>
                                    <p:cond delay="800"/>
                                  </p:stCondLst>
                                  <p:childTnLst>
                                    <p:set>
                                      <p:cBhvr>
                                        <p:cTn id="127" dur="1" fill="hold">
                                          <p:stCondLst>
                                            <p:cond delay="0"/>
                                          </p:stCondLst>
                                        </p:cTn>
                                        <p:tgtEl>
                                          <p:spTgt spid="20"/>
                                        </p:tgtEl>
                                        <p:attrNameLst>
                                          <p:attrName>style.visibility</p:attrName>
                                        </p:attrNameLst>
                                      </p:cBhvr>
                                      <p:to>
                                        <p:strVal val="visible"/>
                                      </p:to>
                                    </p:set>
                                    <p:animEffect transition="in" filter="fade">
                                      <p:cBhvr>
                                        <p:cTn id="128" dur="450"/>
                                        <p:tgtEl>
                                          <p:spTgt spid="20"/>
                                        </p:tgtEl>
                                      </p:cBhvr>
                                    </p:animEffect>
                                  </p:childTnLst>
                                </p:cTn>
                              </p:par>
                              <p:par>
                                <p:cTn id="129" presetID="22" presetClass="entr" presetSubtype="8" fill="hold" nodeType="withEffect">
                                  <p:stCondLst>
                                    <p:cond delay="870"/>
                                  </p:stCondLst>
                                  <p:childTnLst>
                                    <p:set>
                                      <p:cBhvr>
                                        <p:cTn id="130" dur="1" fill="hold">
                                          <p:stCondLst>
                                            <p:cond delay="0"/>
                                          </p:stCondLst>
                                        </p:cTn>
                                        <p:tgtEl>
                                          <p:spTgt spid="21"/>
                                        </p:tgtEl>
                                        <p:attrNameLst>
                                          <p:attrName>style.visibility</p:attrName>
                                        </p:attrNameLst>
                                      </p:cBhvr>
                                      <p:to>
                                        <p:strVal val="visible"/>
                                      </p:to>
                                    </p:set>
                                    <p:animEffect transition="in" filter="wipe(left)">
                                      <p:cBhvr>
                                        <p:cTn id="131" dur="500"/>
                                        <p:tgtEl>
                                          <p:spTgt spid="21"/>
                                        </p:tgtEl>
                                      </p:cBhvr>
                                    </p:animEffect>
                                  </p:childTnLst>
                                </p:cTn>
                              </p:par>
                              <p:par>
                                <p:cTn id="132" presetID="10" presetClass="entr" presetSubtype="0" fill="hold" nodeType="withEffect">
                                  <p:stCondLst>
                                    <p:cond delay="940"/>
                                  </p:stCondLst>
                                  <p:childTnLst>
                                    <p:set>
                                      <p:cBhvr>
                                        <p:cTn id="133" dur="1" fill="hold">
                                          <p:stCondLst>
                                            <p:cond delay="0"/>
                                          </p:stCondLst>
                                        </p:cTn>
                                        <p:tgtEl>
                                          <p:spTgt spid="22"/>
                                        </p:tgtEl>
                                        <p:attrNameLst>
                                          <p:attrName>style.visibility</p:attrName>
                                        </p:attrNameLst>
                                      </p:cBhvr>
                                      <p:to>
                                        <p:strVal val="visible"/>
                                      </p:to>
                                    </p:set>
                                    <p:animEffect transition="in" filter="fade">
                                      <p:cBhvr>
                                        <p:cTn id="134" dur="450"/>
                                        <p:tgtEl>
                                          <p:spTgt spid="22"/>
                                        </p:tgtEl>
                                      </p:cBhvr>
                                    </p:animEffect>
                                  </p:childTnLst>
                                </p:cTn>
                              </p:par>
                              <p:par>
                                <p:cTn id="135" presetID="10" presetClass="entr" presetSubtype="0" grpId="0" fill="hold" nodeType="withEffect">
                                  <p:stCondLst>
                                    <p:cond delay="1010"/>
                                  </p:stCondLst>
                                  <p:childTnLst>
                                    <p:set>
                                      <p:cBhvr>
                                        <p:cTn id="136" dur="1" fill="hold">
                                          <p:stCondLst>
                                            <p:cond delay="0"/>
                                          </p:stCondLst>
                                        </p:cTn>
                                        <p:tgtEl>
                                          <p:spTgt spid="23">
                                            <p:txEl>
                                              <p:pRg st="0" end="0"/>
                                            </p:txEl>
                                          </p:spTgt>
                                        </p:tgtEl>
                                        <p:attrNameLst>
                                          <p:attrName>style.visibility</p:attrName>
                                        </p:attrNameLst>
                                      </p:cBhvr>
                                      <p:to>
                                        <p:strVal val="visible"/>
                                      </p:to>
                                    </p:set>
                                    <p:animEffect transition="in" filter="fade">
                                      <p:cBhvr>
                                        <p:cTn id="137" dur="450"/>
                                        <p:tgtEl>
                                          <p:spTgt spid="23">
                                            <p:txEl>
                                              <p:pRg st="0" end="0"/>
                                            </p:txEl>
                                          </p:spTgt>
                                        </p:tgtEl>
                                      </p:cBhvr>
                                    </p:animEffect>
                                  </p:childTnLst>
                                </p:cTn>
                              </p:par>
                              <p:par>
                                <p:cTn id="138" presetID="10" presetClass="entr" presetSubtype="0" grpId="0" fill="hold" nodeType="withEffect">
                                  <p:stCondLst>
                                    <p:cond delay="1390"/>
                                  </p:stCondLst>
                                  <p:childTnLst>
                                    <p:set>
                                      <p:cBhvr>
                                        <p:cTn id="139" dur="1" fill="hold">
                                          <p:stCondLst>
                                            <p:cond delay="0"/>
                                          </p:stCondLst>
                                        </p:cTn>
                                        <p:tgtEl>
                                          <p:spTgt spid="23">
                                            <p:txEl>
                                              <p:pRg st="1" end="1"/>
                                            </p:txEl>
                                          </p:spTgt>
                                        </p:tgtEl>
                                        <p:attrNameLst>
                                          <p:attrName>style.visibility</p:attrName>
                                        </p:attrNameLst>
                                      </p:cBhvr>
                                      <p:to>
                                        <p:strVal val="visible"/>
                                      </p:to>
                                    </p:set>
                                    <p:animEffect transition="in" filter="fade">
                                      <p:cBhvr>
                                        <p:cTn id="140" dur="450"/>
                                        <p:tgtEl>
                                          <p:spTgt spid="23">
                                            <p:txEl>
                                              <p:pRg st="1" end="1"/>
                                            </p:txEl>
                                          </p:spTgt>
                                        </p:tgtEl>
                                      </p:cBhvr>
                                    </p:animEffect>
                                  </p:childTnLst>
                                </p:cTn>
                              </p:par>
                              <p:par>
                                <p:cTn id="141" presetID="10" presetClass="entr" presetSubtype="0" fill="hold" nodeType="withEffect">
                                  <p:stCondLst>
                                    <p:cond delay="1080"/>
                                  </p:stCondLst>
                                  <p:childTnLst>
                                    <p:set>
                                      <p:cBhvr>
                                        <p:cTn id="142" dur="1" fill="hold">
                                          <p:stCondLst>
                                            <p:cond delay="0"/>
                                          </p:stCondLst>
                                        </p:cTn>
                                        <p:tgtEl>
                                          <p:spTgt spid="24"/>
                                        </p:tgtEl>
                                        <p:attrNameLst>
                                          <p:attrName>style.visibility</p:attrName>
                                        </p:attrNameLst>
                                      </p:cBhvr>
                                      <p:to>
                                        <p:strVal val="visible"/>
                                      </p:to>
                                    </p:set>
                                    <p:animEffect transition="in" filter="fade">
                                      <p:cBhvr>
                                        <p:cTn id="143" dur="450"/>
                                        <p:tgtEl>
                                          <p:spTgt spid="24"/>
                                        </p:tgtEl>
                                      </p:cBhvr>
                                    </p:animEffect>
                                  </p:childTnLst>
                                </p:cTn>
                              </p:par>
                              <p:par>
                                <p:cTn id="144" presetID="22" presetClass="entr" presetSubtype="8" fill="hold" nodeType="withEffect">
                                  <p:stCondLst>
                                    <p:cond delay="1150"/>
                                  </p:stCondLst>
                                  <p:childTnLst>
                                    <p:set>
                                      <p:cBhvr>
                                        <p:cTn id="145" dur="1" fill="hold">
                                          <p:stCondLst>
                                            <p:cond delay="0"/>
                                          </p:stCondLst>
                                        </p:cTn>
                                        <p:tgtEl>
                                          <p:spTgt spid="25"/>
                                        </p:tgtEl>
                                        <p:attrNameLst>
                                          <p:attrName>style.visibility</p:attrName>
                                        </p:attrNameLst>
                                      </p:cBhvr>
                                      <p:to>
                                        <p:strVal val="visible"/>
                                      </p:to>
                                    </p:set>
                                    <p:animEffect transition="in" filter="wipe(left)">
                                      <p:cBhvr>
                                        <p:cTn id="146" dur="500"/>
                                        <p:tgtEl>
                                          <p:spTgt spid="25"/>
                                        </p:tgtEl>
                                      </p:cBhvr>
                                    </p:animEffect>
                                  </p:childTnLst>
                                </p:cTn>
                              </p:par>
                              <p:par>
                                <p:cTn id="147" presetID="10" presetClass="entr" presetSubtype="0" fill="hold" nodeType="withEffect">
                                  <p:stCondLst>
                                    <p:cond delay="1220"/>
                                  </p:stCondLst>
                                  <p:childTnLst>
                                    <p:set>
                                      <p:cBhvr>
                                        <p:cTn id="148" dur="1" fill="hold">
                                          <p:stCondLst>
                                            <p:cond delay="0"/>
                                          </p:stCondLst>
                                        </p:cTn>
                                        <p:tgtEl>
                                          <p:spTgt spid="26"/>
                                        </p:tgtEl>
                                        <p:attrNameLst>
                                          <p:attrName>style.visibility</p:attrName>
                                        </p:attrNameLst>
                                      </p:cBhvr>
                                      <p:to>
                                        <p:strVal val="visible"/>
                                      </p:to>
                                    </p:set>
                                    <p:animEffect transition="in" filter="fade">
                                      <p:cBhvr>
                                        <p:cTn id="149" dur="450"/>
                                        <p:tgtEl>
                                          <p:spTgt spid="26"/>
                                        </p:tgtEl>
                                      </p:cBhvr>
                                    </p:animEffect>
                                  </p:childTnLst>
                                </p:cTn>
                              </p:par>
                              <p:par>
                                <p:cTn id="150" presetID="10" presetClass="entr" presetSubtype="0" grpId="0" fill="hold" nodeType="withEffect">
                                  <p:stCondLst>
                                    <p:cond delay="1290"/>
                                  </p:stCondLst>
                                  <p:childTnLst>
                                    <p:set>
                                      <p:cBhvr>
                                        <p:cTn id="151" dur="1" fill="hold">
                                          <p:stCondLst>
                                            <p:cond delay="0"/>
                                          </p:stCondLst>
                                        </p:cTn>
                                        <p:tgtEl>
                                          <p:spTgt spid="27">
                                            <p:txEl>
                                              <p:pRg st="0" end="0"/>
                                            </p:txEl>
                                          </p:spTgt>
                                        </p:tgtEl>
                                        <p:attrNameLst>
                                          <p:attrName>style.visibility</p:attrName>
                                        </p:attrNameLst>
                                      </p:cBhvr>
                                      <p:to>
                                        <p:strVal val="visible"/>
                                      </p:to>
                                    </p:set>
                                    <p:animEffect transition="in" filter="fade">
                                      <p:cBhvr>
                                        <p:cTn id="152" dur="450"/>
                                        <p:tgtEl>
                                          <p:spTgt spid="27">
                                            <p:txEl>
                                              <p:pRg st="0" end="0"/>
                                            </p:txEl>
                                          </p:spTgt>
                                        </p:tgtEl>
                                      </p:cBhvr>
                                    </p:animEffect>
                                  </p:childTnLst>
                                </p:cTn>
                              </p:par>
                              <p:par>
                                <p:cTn id="153" presetID="10" presetClass="entr" presetSubtype="0" grpId="0" fill="hold" nodeType="withEffect">
                                  <p:stCondLst>
                                    <p:cond delay="1670"/>
                                  </p:stCondLst>
                                  <p:childTnLst>
                                    <p:set>
                                      <p:cBhvr>
                                        <p:cTn id="154" dur="1" fill="hold">
                                          <p:stCondLst>
                                            <p:cond delay="0"/>
                                          </p:stCondLst>
                                        </p:cTn>
                                        <p:tgtEl>
                                          <p:spTgt spid="27">
                                            <p:txEl>
                                              <p:pRg st="1" end="1"/>
                                            </p:txEl>
                                          </p:spTgt>
                                        </p:tgtEl>
                                        <p:attrNameLst>
                                          <p:attrName>style.visibility</p:attrName>
                                        </p:attrNameLst>
                                      </p:cBhvr>
                                      <p:to>
                                        <p:strVal val="visible"/>
                                      </p:to>
                                    </p:set>
                                    <p:animEffect transition="in" filter="fade">
                                      <p:cBhvr>
                                        <p:cTn id="155" dur="450"/>
                                        <p:tgtEl>
                                          <p:spTgt spid="27">
                                            <p:txEl>
                                              <p:pRg st="1" end="1"/>
                                            </p:txEl>
                                          </p:spTgt>
                                        </p:tgtEl>
                                      </p:cBhvr>
                                    </p:animEffect>
                                  </p:childTnLst>
                                </p:cTn>
                              </p:par>
                              <p:par>
                                <p:cTn id="156" presetID="10" presetClass="entr" presetSubtype="0" fill="hold" nodeType="withEffect">
                                  <p:stCondLst>
                                    <p:cond delay="1360"/>
                                  </p:stCondLst>
                                  <p:childTnLst>
                                    <p:set>
                                      <p:cBhvr>
                                        <p:cTn id="157" dur="1" fill="hold">
                                          <p:stCondLst>
                                            <p:cond delay="0"/>
                                          </p:stCondLst>
                                        </p:cTn>
                                        <p:tgtEl>
                                          <p:spTgt spid="28"/>
                                        </p:tgtEl>
                                        <p:attrNameLst>
                                          <p:attrName>style.visibility</p:attrName>
                                        </p:attrNameLst>
                                      </p:cBhvr>
                                      <p:to>
                                        <p:strVal val="visible"/>
                                      </p:to>
                                    </p:set>
                                    <p:animEffect transition="in" filter="fade">
                                      <p:cBhvr>
                                        <p:cTn id="158" dur="450"/>
                                        <p:tgtEl>
                                          <p:spTgt spid="28"/>
                                        </p:tgtEl>
                                      </p:cBhvr>
                                    </p:animEffect>
                                  </p:childTnLst>
                                </p:cTn>
                              </p:par>
                              <p:par>
                                <p:cTn id="159" presetID="22" presetClass="entr" presetSubtype="8" fill="hold" nodeType="withEffect">
                                  <p:stCondLst>
                                    <p:cond delay="1430"/>
                                  </p:stCondLst>
                                  <p:childTnLst>
                                    <p:set>
                                      <p:cBhvr>
                                        <p:cTn id="160" dur="1" fill="hold">
                                          <p:stCondLst>
                                            <p:cond delay="0"/>
                                          </p:stCondLst>
                                        </p:cTn>
                                        <p:tgtEl>
                                          <p:spTgt spid="29"/>
                                        </p:tgtEl>
                                        <p:attrNameLst>
                                          <p:attrName>style.visibility</p:attrName>
                                        </p:attrNameLst>
                                      </p:cBhvr>
                                      <p:to>
                                        <p:strVal val="visible"/>
                                      </p:to>
                                    </p:set>
                                    <p:animEffect transition="in" filter="wipe(left)">
                                      <p:cBhvr>
                                        <p:cTn id="161" dur="500"/>
                                        <p:tgtEl>
                                          <p:spTgt spid="29"/>
                                        </p:tgtEl>
                                      </p:cBhvr>
                                    </p:animEffect>
                                  </p:childTnLst>
                                </p:cTn>
                              </p:par>
                              <p:par>
                                <p:cTn id="162" presetID="10" presetClass="entr" presetSubtype="0" fill="hold" nodeType="withEffect">
                                  <p:stCondLst>
                                    <p:cond delay="580"/>
                                  </p:stCondLst>
                                  <p:childTnLst>
                                    <p:set>
                                      <p:cBhvr>
                                        <p:cTn id="163" dur="1" fill="hold">
                                          <p:stCondLst>
                                            <p:cond delay="0"/>
                                          </p:stCondLst>
                                        </p:cTn>
                                        <p:tgtEl>
                                          <p:spTgt spid="30"/>
                                        </p:tgtEl>
                                        <p:attrNameLst>
                                          <p:attrName>style.visibility</p:attrName>
                                        </p:attrNameLst>
                                      </p:cBhvr>
                                      <p:to>
                                        <p:strVal val="visible"/>
                                      </p:to>
                                    </p:set>
                                    <p:animEffect transition="in" filter="fade">
                                      <p:cBhvr>
                                        <p:cTn id="164"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3" grpId="0" build="p"/>
      <p:bldP spid="19" grpId="0" build="p"/>
      <p:bldP spid="23" grpId="0" build="p"/>
      <p:bldP spid="2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Qué está demostrado, qué sigue y qué riesgos conocemos</a:t>
            </a:r>
            <a:endParaRPr lang="en-US" sz="2200" dirty="0"/>
          </a:p>
        </p:txBody>
      </p:sp>
      <p:sp>
        <p:nvSpPr>
          <p:cNvPr id="3" name="Obj [o89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Qué está demostrado y qué falta, por nivel de evidencia</a:t>
            </a:r>
            <a:endParaRPr lang="en-US" sz="1400" dirty="0"/>
          </a:p>
        </p:txBody>
      </p:sp>
      <p:graphicFrame>
        <p:nvGraphicFramePr>
          <p:cNvPr id="27" name="Obj [o899]"/>
          <p:cNvGraphicFramePr>
            <a:graphicFrameLocks noGrp="1"/>
          </p:cNvGraphicFramePr>
          <p:nvPr>
            <p:extLst>
              <p:ext uri="{D42A27DB-BD31-4B8C-83A1-F6EECF244321}">
                <p14:modId xmlns:p14="http://schemas.microsoft.com/office/powerpoint/2010/main" val="1579011935"/>
              </p:ext>
            </p:extLst>
          </p:nvPr>
        </p:nvGraphicFramePr>
        <p:xfrm>
          <a:off x="966136" y="1561458"/>
          <a:ext cx="7211728" cy="914400"/>
        </p:xfrm>
        <a:graphic>
          <a:graphicData uri="http://schemas.openxmlformats.org/drawingml/2006/table">
            <a:tbl>
              <a:tblPr/>
              <a:tblGrid>
                <a:gridCol w="1602606"/>
                <a:gridCol w="2884691"/>
                <a:gridCol w="2724431"/>
              </a:tblGrid>
              <a:tr h="336547">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Componente</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Evidencia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Qué falta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Geófono SM-24</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Modelo con parámetros nominales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Respuesta extremo a extremo en bajas frecuencias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AFE PGA–ADC</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Medido: barridos de magnitud y fase contra el modelo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Extensión al conjunto con el geófono: hoy es predicción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Calibración de offset</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Medido: converge, por configuración de ganancia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Variación con el tiempo y las condiciones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Sincronización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Parcial: flancos GPIO, 3 nodos, 200–400 µs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Inicio efectivo del ADC y deriva de relojes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Campo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21 posiciones secuenciales con un receptor móvil</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Adquisición simultánea; fuente más repetible; SNR bajo 10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Dispersión e inversión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Sin hacer</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4D5D0"/>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Curvas, modos, perfil </a:t>
                      </a:r>
                      <mc:AlternateContent xmlns:mc="http://schemas.openxmlformats.org/markup-compatibility/2006">
                        <mc:Choice xmlns:a14="http://schemas.microsoft.com/office/drawing/2010/main" Requires="a14">
                          <a14:m>
                            <m:oMath xmlns:m="http://schemas.openxmlformats.org/officeDocument/2006/math">
                              <m:sSub>
                                <m:sSubPr>
                                  <m:ctrlPr>
                                    <a:rPr lang="es-ES" sz="990" i="1">
                                      <a:latin typeface="Cambria Math" panose="02040503050406030204" pitchFamily="18" charset="0"/>
                                    </a:rPr>
                                  </m:ctrlPr>
                                </m:sSubPr>
                                <m:e>
                                  <m:r>
                                    <a:rPr lang="es-ES" sz="990" i="1">
                                      <a:solidFill>
                                        <a:srgbClr val="2D2D2D"/>
                                      </a:solidFill>
                                      <a:latin typeface="Cambria Math" panose="02040503050406030204" pitchFamily="18" charset="0"/>
                                    </a:rPr>
                                    <m:t xml:space="preserve">V</m:t>
                                  </m:r>
                                </m:e>
                                <m:sub>
                                  <m:r>
                                    <a:rPr lang="es-ES" sz="990" i="1">
                                      <a:solidFill>
                                        <a:srgbClr val="2D2D2D"/>
                                      </a:solidFill>
                                      <a:latin typeface="Cambria Math" panose="02040503050406030204" pitchFamily="18" charset="0"/>
                                    </a:rPr>
                                    <m:t xml:space="preserve">s</m:t>
                                  </m:r>
                                </m:sub>
                              </m:sSub>
                            </m:oMath>
                          </a14:m>
                        </mc:Choice>
                        <mc:Fallback>
                          <a:r>
                            <a:rPr lang="en-US" sz="990" dirty="0">
                              <a:solidFill>
                                <a:srgbClr val="2D2D2D"/>
                              </a:solidFill>
                              <a:latin typeface="Arial" pitchFamily="34" charset="0"/>
                              <a:ea typeface="Arial" pitchFamily="34" charset="-122"/>
                              <a:cs typeface="Arial" pitchFamily="34" charset="-120"/>
                            </a:rPr>
                            <a:t>Vs</a:t>
                          </a:r>
                        </mc:Fallback>
                      </mc:AlternateContent>
                      <a:r>
                        <a:rPr lang="en-US" sz="990" dirty="0">
                          <a:solidFill>
                            <a:srgbClr val="2D2D2D"/>
                          </a:solidFill>
                          <a:latin typeface="Arial" pitchFamily="34" charset="0"/>
                          <a:ea typeface="Arial" pitchFamily="34" charset="-122"/>
                          <a:cs typeface="Arial" pitchFamily="34" charset="-120"/>
                        </a:rPr>
                        <a:t> y contraste con SPT o con el SEV 01</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Obj [o900]"/>
          <p:cNvSpPr txBox="1"/>
          <p:nvPr/>
        </p:nvSpPr>
        <p:spPr>
          <a:xfrm>
            <a:off x="966136" y="4165694"/>
            <a:ext cx="7211728" cy="240391"/>
          </a:xfrm>
          <a:prstGeom prst="rect">
            <a:avLst/>
          </a:prstGeom>
          <a:noFill/>
          <a:ln/>
        </p:spPr>
        <p:txBody>
          <a:bodyPr wrap="square" lIns="0" tIns="0" rIns="0" bIns="0" rtlCol="0" anchor="t"/>
          <a:lstStyle/>
          <a:p>
            <a:pPr indent="0" marL="0">
              <a:buNone/>
            </a:pPr>
            <a:r>
              <a:rPr lang="en-US" sz="1080" dirty="0">
                <a:solidFill>
                  <a:srgbClr val="6B6B6B"/>
                </a:solidFill>
                <a:latin typeface="Arial" pitchFamily="34" charset="0"/>
                <a:ea typeface="Arial" pitchFamily="34" charset="-122"/>
                <a:cs typeface="Arial" pitchFamily="34" charset="-120"/>
              </a:rPr>
              <a:t>Verde: medido. Naranja: modelo o medición parcial. Rojo: pendiente.</a:t>
            </a:r>
            <a:endParaRPr lang="en-US" sz="1080" dirty="0"/>
          </a:p>
        </p:txBody>
      </p:sp>
      <p:sp>
        <p:nvSpPr>
          <p:cNvPr id="6" name="Obj [o90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4.5, 4.10 y 5; documento de tesis, 08_trabajos_futuros.tex (SEV 01 y SPT).</a:t>
            </a:r>
            <a:endParaRPr lang="en-US" sz="800" dirty="0"/>
          </a:p>
        </p:txBody>
      </p:sp>
      <p:sp>
        <p:nvSpPr>
          <p:cNvPr id="7" name="Obj [o90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Trabajo futuro: cinco pasos desde la adquisición hacia la caracterización del suelo</a:t>
            </a:r>
            <a:endParaRPr lang="en-US" sz="1400" dirty="0"/>
          </a:p>
        </p:txBody>
      </p:sp>
      <p:graphicFrame>
        <p:nvGraphicFramePr>
          <p:cNvPr id="53" name="Obj [o903]"/>
          <p:cNvGraphicFramePr>
            <a:graphicFrameLocks noGrp="1"/>
          </p:cNvGraphicFramePr>
          <p:nvPr>
            <p:extLst>
              <p:ext uri="{D42A27DB-BD31-4B8C-83A1-F6EECF244321}">
                <p14:modId xmlns:p14="http://schemas.microsoft.com/office/powerpoint/2010/main" val="1579011935"/>
              </p:ext>
            </p:extLst>
          </p:nvPr>
        </p:nvGraphicFramePr>
        <p:xfrm>
          <a:off x="966136" y="1561458"/>
          <a:ext cx="7211728" cy="914400"/>
        </p:xfrm>
        <a:graphic>
          <a:graphicData uri="http://schemas.openxmlformats.org/drawingml/2006/table">
            <a:tbl>
              <a:tblPr/>
              <a:tblGrid>
                <a:gridCol w="3205213"/>
                <a:gridCol w="4006516"/>
              </a:tblGrid>
              <a:tr h="440717">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Paso</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Para qué</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Excitador de mayor energía y repetibilidad</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Extender la banda útil bajo 10 Hz y evaluar el aprovechamiento de la compensación del SM-24</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Medir el inicio efectivo del ADC y la deriva de relojes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Cuantificar el error de fase por frecuencia y la banda de coherencia temporal</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Caracterizar el offset residual en el tiempo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Precisar el margen dinámico de cada ganancia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Más nodos GEO y adquisición simultánea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Acercarse al MASW convencional (depende de financiamiento)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Curvas de dispersión, modos e inversión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Pasar de verificar la adquisición a estimar </a:t>
                      </a:r>
                      <mc:AlternateContent xmlns:mc="http://schemas.openxmlformats.org/markup-compatibility/2006">
                        <mc:Choice xmlns:a14="http://schemas.microsoft.com/office/drawing/2010/main" Requires="a14">
                          <a14:m>
                            <m:oMath xmlns:m="http://schemas.openxmlformats.org/officeDocument/2006/math">
                              <m:sSub>
                                <m:sSubPr>
                                  <m:ctrlPr>
                                    <a:rPr lang="es-ES" sz="990" i="1">
                                      <a:latin typeface="Cambria Math" panose="02040503050406030204" pitchFamily="18" charset="0"/>
                                    </a:rPr>
                                  </m:ctrlPr>
                                </m:sSubPr>
                                <m:e>
                                  <m:r>
                                    <a:rPr lang="es-ES" sz="990" i="1">
                                      <a:solidFill>
                                        <a:srgbClr val="2D2D2D"/>
                                      </a:solidFill>
                                      <a:latin typeface="Cambria Math" panose="02040503050406030204" pitchFamily="18" charset="0"/>
                                    </a:rPr>
                                    <m:t xml:space="preserve">V</m:t>
                                  </m:r>
                                </m:e>
                                <m:sub>
                                  <m:r>
                                    <a:rPr lang="es-ES" sz="990" i="1">
                                      <a:solidFill>
                                        <a:srgbClr val="2D2D2D"/>
                                      </a:solidFill>
                                      <a:latin typeface="Cambria Math" panose="02040503050406030204" pitchFamily="18" charset="0"/>
                                    </a:rPr>
                                    <m:t xml:space="preserve">s</m:t>
                                  </m:r>
                                </m:sub>
                              </m:sSub>
                            </m:oMath>
                          </a14:m>
                        </mc:Choice>
                        <mc:Fallback>
                          <a:r>
                            <a:rPr lang="en-US" sz="990" dirty="0">
                              <a:solidFill>
                                <a:srgbClr val="2D2D2D"/>
                              </a:solidFill>
                              <a:latin typeface="Arial" pitchFamily="34" charset="0"/>
                              <a:ea typeface="Arial" pitchFamily="34" charset="-122"/>
                              <a:cs typeface="Arial" pitchFamily="34" charset="-120"/>
                            </a:rPr>
                            <a:t>Vs</a:t>
                          </a:r>
                        </mc:Fallback>
                      </mc:AlternateContent>
                      <a:r>
                        <a:rPr lang="en-US" sz="990" dirty="0">
                          <a:solidFill>
                            <a:srgbClr val="2D2D2D"/>
                          </a:solidFill>
                          <a:latin typeface="Arial" pitchFamily="34" charset="0"/>
                          <a:ea typeface="Arial" pitchFamily="34" charset="-122"/>
                          <a:cs typeface="Arial" pitchFamily="34" charset="-120"/>
                        </a:rPr>
                        <a:t> con la profundidad</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9" name="Obj [o90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5; documento de tesis, 08_trabajos_futuros.tex.</a:t>
            </a:r>
            <a:endParaRPr lang="en-US" sz="800" dirty="0"/>
          </a:p>
        </p:txBody>
      </p:sp>
      <p:sp>
        <p:nvSpPr>
          <p:cNvPr id="10" name="Obj [o90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 ESP-NOW no alcanza, UWB es un candidato fundado, no una prestación disponible</a:t>
            </a:r>
            <a:endParaRPr lang="en-US" sz="1400" dirty="0"/>
          </a:p>
        </p:txBody>
      </p:sp>
      <p:sp>
        <p:nvSpPr>
          <p:cNvPr id="11" name="Obj [o906]"/>
          <p:cNvSpPr/>
          <p:nvPr/>
        </p:nvSpPr>
        <p:spPr>
          <a:xfrm>
            <a:off x="966136" y="1561458"/>
            <a:ext cx="2243649" cy="360586"/>
          </a:xfrm>
          <a:prstGeom prst="rect">
            <a:avLst/>
          </a:prstGeom>
          <a:solidFill>
            <a:srgbClr val="1F4E79"/>
          </a:solidFill>
          <a:ln w="6350">
            <a:solidFill>
              <a:srgbClr val="1F4E79"/>
            </a:solidFill>
            <a:prstDash val="solid"/>
          </a:ln>
        </p:spPr>
      </p:sp>
      <p:sp>
        <p:nvSpPr>
          <p:cNvPr id="12" name="Obj [o907]"/>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Korsimaa et al., 2025</a:t>
            </a:r>
            <a:endParaRPr lang="en-US" sz="1260" dirty="0"/>
          </a:p>
        </p:txBody>
      </p:sp>
      <p:sp>
        <p:nvSpPr>
          <p:cNvPr id="13" name="Obj [o908]"/>
          <p:cNvSpPr/>
          <p:nvPr/>
        </p:nvSpPr>
        <p:spPr>
          <a:xfrm>
            <a:off x="966136" y="1922045"/>
            <a:ext cx="2243649" cy="1602606"/>
          </a:xfrm>
          <a:prstGeom prst="rect">
            <a:avLst/>
          </a:prstGeom>
          <a:solidFill>
            <a:srgbClr val="FFFFFF"/>
          </a:solidFill>
          <a:ln w="16694">
            <a:solidFill>
              <a:srgbClr val="1F4E79"/>
            </a:solidFill>
            <a:prstDash val="solid"/>
          </a:ln>
        </p:spPr>
      </p:sp>
      <p:sp>
        <p:nvSpPr>
          <p:cNvPr id="14" name="Obj [o909]"/>
          <p:cNvSpPr txBox="1"/>
          <p:nvPr/>
        </p:nvSpPr>
        <p:spPr>
          <a:xfrm>
            <a:off x="106229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DWM1000 de bajo costo: jitter de ±4 ns (IC 95 %) en un millón de transmisiones, hasta 25 m</a:t>
            </a:r>
            <a:endParaRPr lang="en-US" sz="1170" dirty="0"/>
          </a:p>
        </p:txBody>
      </p:sp>
      <p:sp>
        <p:nvSpPr>
          <p:cNvPr id="15" name="Obj [o910]"/>
          <p:cNvSpPr/>
          <p:nvPr/>
        </p:nvSpPr>
        <p:spPr>
          <a:xfrm>
            <a:off x="3450176" y="1561458"/>
            <a:ext cx="2243649" cy="360586"/>
          </a:xfrm>
          <a:prstGeom prst="rect">
            <a:avLst/>
          </a:prstGeom>
          <a:solidFill>
            <a:srgbClr val="2E75B6"/>
          </a:solidFill>
          <a:ln w="6350">
            <a:solidFill>
              <a:srgbClr val="2E75B6"/>
            </a:solidFill>
            <a:prstDash val="solid"/>
          </a:ln>
        </p:spPr>
      </p:sp>
      <p:sp>
        <p:nvSpPr>
          <p:cNvPr id="16" name="Obj [o911]"/>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Wicsync (Xue, 2021)</a:t>
            </a:r>
            <a:endParaRPr lang="en-US" sz="1260" dirty="0"/>
          </a:p>
        </p:txBody>
      </p:sp>
      <p:sp>
        <p:nvSpPr>
          <p:cNvPr id="17" name="Obj [o912]"/>
          <p:cNvSpPr/>
          <p:nvPr/>
        </p:nvSpPr>
        <p:spPr>
          <a:xfrm>
            <a:off x="3450176" y="1922045"/>
            <a:ext cx="2243649" cy="1602606"/>
          </a:xfrm>
          <a:prstGeom prst="rect">
            <a:avLst/>
          </a:prstGeom>
          <a:solidFill>
            <a:srgbClr val="FFFFFF"/>
          </a:solidFill>
          <a:ln w="16694">
            <a:solidFill>
              <a:srgbClr val="2E75B6"/>
            </a:solidFill>
            <a:prstDash val="solid"/>
          </a:ln>
        </p:spPr>
      </p:sp>
      <p:sp>
        <p:nvSpPr>
          <p:cNvPr id="18" name="Obj [o913]"/>
          <p:cNvSpPr txBox="1"/>
          <p:nvPr/>
        </p:nvSpPr>
        <p:spPr>
          <a:xfrm>
            <a:off x="354633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Menos de 3 ns con 10 nodos hasta 75 m, pero con DW1000, FPGA, DAC y VC-TCXO</a:t>
            </a:r>
            <a:endParaRPr lang="en-US" sz="1170" dirty="0"/>
          </a:p>
        </p:txBody>
      </p:sp>
      <p:sp>
        <p:nvSpPr>
          <p:cNvPr id="19" name="Obj [o914]"/>
          <p:cNvSpPr/>
          <p:nvPr/>
        </p:nvSpPr>
        <p:spPr>
          <a:xfrm>
            <a:off x="5934215" y="1561458"/>
            <a:ext cx="2243649" cy="360586"/>
          </a:xfrm>
          <a:prstGeom prst="rect">
            <a:avLst/>
          </a:prstGeom>
          <a:solidFill>
            <a:srgbClr val="C55A11"/>
          </a:solidFill>
          <a:ln w="6350">
            <a:solidFill>
              <a:srgbClr val="C55A11"/>
            </a:solidFill>
            <a:prstDash val="solid"/>
          </a:ln>
        </p:spPr>
      </p:sp>
      <p:sp>
        <p:nvSpPr>
          <p:cNvPr id="20" name="Obj [o915]"/>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Pérez-Solano, 2022</a:t>
            </a:r>
            <a:endParaRPr lang="en-US" sz="1260" dirty="0"/>
          </a:p>
        </p:txBody>
      </p:sp>
      <p:sp>
        <p:nvSpPr>
          <p:cNvPr id="21" name="Obj [o916]"/>
          <p:cNvSpPr/>
          <p:nvPr/>
        </p:nvSpPr>
        <p:spPr>
          <a:xfrm>
            <a:off x="5934215" y="1922045"/>
            <a:ext cx="2243649" cy="1602606"/>
          </a:xfrm>
          <a:prstGeom prst="rect">
            <a:avLst/>
          </a:prstGeom>
          <a:solidFill>
            <a:srgbClr val="FFFFFF"/>
          </a:solidFill>
          <a:ln w="16694">
            <a:solidFill>
              <a:srgbClr val="C55A11"/>
            </a:solidFill>
            <a:prstDash val="solid"/>
          </a:ln>
        </p:spPr>
      </p:sp>
      <p:sp>
        <p:nvSpPr>
          <p:cNvPr id="22" name="Obj [o917]"/>
          <p:cNvSpPr txBox="1"/>
          <p:nvPr/>
        </p:nvSpPr>
        <p:spPr>
          <a:xfrm>
            <a:off x="603037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0,14 ns con marcas internas del transceptor; ≈31 ns al pasar al temporizador del microcontrolador</a:t>
            </a:r>
            <a:endParaRPr lang="en-US" sz="1170" dirty="0"/>
          </a:p>
        </p:txBody>
      </p:sp>
      <p:sp>
        <p:nvSpPr>
          <p:cNvPr id="23" name="Obj [o918]"/>
          <p:cNvSpPr txBox="1"/>
          <p:nvPr/>
        </p:nvSpPr>
        <p:spPr>
          <a:xfrm>
            <a:off x="966136" y="3684912"/>
            <a:ext cx="7211728" cy="320521"/>
          </a:xfrm>
          <a:prstGeom prst="rect">
            <a:avLst/>
          </a:prstGeom>
          <a:noFill/>
          <a:ln/>
        </p:spPr>
        <p:txBody>
          <a:bodyPr wrap="square" lIns="0" tIns="0" rIns="0" bIns="0" rtlCol="0" anchor="t"/>
          <a:lstStyle/>
          <a:p>
            <a:pPr indent="0" marL="0">
              <a:buNone/>
            </a:pPr>
            <a:r>
              <a:rPr lang="en-US" sz="1260" dirty="0">
                <a:solidFill>
                  <a:srgbClr val="2D2D2D"/>
                </a:solidFill>
                <a:latin typeface="Arial" pitchFamily="34" charset="0"/>
                <a:ea typeface="Arial" pitchFamily="34" charset="-122"/>
                <a:cs typeface="Arial" pitchFamily="34" charset="-120"/>
              </a:rPr>
              <a:t>UWB además mide distancias entre nodos: atacaría a la vez el error de sincronización y el de posición.</a:t>
            </a:r>
            <a:endParaRPr lang="en-US" sz="1260" dirty="0"/>
          </a:p>
        </p:txBody>
      </p:sp>
      <p:sp>
        <p:nvSpPr>
          <p:cNvPr id="24" name="Obj [o919]"/>
          <p:cNvSpPr/>
          <p:nvPr/>
        </p:nvSpPr>
        <p:spPr>
          <a:xfrm>
            <a:off x="966136" y="4085563"/>
            <a:ext cx="7211728" cy="360586"/>
          </a:xfrm>
          <a:prstGeom prst="rect">
            <a:avLst/>
          </a:prstGeom>
          <a:solidFill>
            <a:srgbClr val="EAF1F8"/>
          </a:solidFill>
          <a:ln w="6350">
            <a:solidFill>
              <a:srgbClr val="EAF1F8"/>
            </a:solidFill>
            <a:prstDash val="solid"/>
          </a:ln>
        </p:spPr>
      </p:sp>
      <p:sp>
        <p:nvSpPr>
          <p:cNvPr id="25" name="Obj [o920]"/>
          <p:cNvSpPr txBox="1"/>
          <p:nvPr/>
        </p:nvSpPr>
        <p:spPr>
          <a:xfrm>
            <a:off x="1086331" y="4085563"/>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Debe medirse hasta el inicio del ADC, no por la resolución nominal del radio.</a:t>
            </a:r>
            <a:endParaRPr lang="en-US" sz="1260" dirty="0"/>
          </a:p>
        </p:txBody>
      </p:sp>
      <p:sp>
        <p:nvSpPr>
          <p:cNvPr id="26" name="Obj [o92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Korsimaa et al. (2025), HardwareX 24, e00713; Xue et al. (2021), Measurement 183, 109760; Pérez-Solano et al. (2022), Comput. Commun. 186, 80–89; documento de tesis, 08_trabajos_futuros.tex.</a:t>
            </a:r>
            <a:endParaRPr lang="en-US" sz="800" dirty="0"/>
          </a:p>
        </p:txBody>
      </p:sp>
      <p:sp>
        <p:nvSpPr>
          <p:cNvPr id="27" name="Obj [o92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Riesgo conocido: un rearranque por watchdog puede ocultar una falla de sincronismo</a:t>
            </a:r>
            <a:endParaRPr lang="en-US" sz="1400" dirty="0"/>
          </a:p>
        </p:txBody>
      </p:sp>
      <p:sp>
        <p:nvSpPr>
          <p:cNvPr id="28" name="Obj [o923]"/>
          <p:cNvSpPr/>
          <p:nvPr/>
        </p:nvSpPr>
        <p:spPr>
          <a:xfrm>
            <a:off x="966136" y="1561458"/>
            <a:ext cx="2243649" cy="360586"/>
          </a:xfrm>
          <a:prstGeom prst="rect">
            <a:avLst/>
          </a:prstGeom>
          <a:solidFill>
            <a:srgbClr val="1F4E79"/>
          </a:solidFill>
          <a:ln w="6350">
            <a:solidFill>
              <a:srgbClr val="1F4E79"/>
            </a:solidFill>
            <a:prstDash val="solid"/>
          </a:ln>
        </p:spPr>
      </p:sp>
      <p:sp>
        <p:nvSpPr>
          <p:cNvPr id="29" name="Obj [o924]"/>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Qué pasa</a:t>
            </a:r>
            <a:endParaRPr lang="en-US" sz="1350" dirty="0"/>
          </a:p>
        </p:txBody>
      </p:sp>
      <p:sp>
        <p:nvSpPr>
          <p:cNvPr id="30" name="Obj [o925]"/>
          <p:cNvSpPr/>
          <p:nvPr/>
        </p:nvSpPr>
        <p:spPr>
          <a:xfrm>
            <a:off x="966136" y="1922045"/>
            <a:ext cx="2243649" cy="2163519"/>
          </a:xfrm>
          <a:prstGeom prst="rect">
            <a:avLst/>
          </a:prstGeom>
          <a:solidFill>
            <a:srgbClr val="FFFFFF"/>
          </a:solidFill>
          <a:ln w="16694">
            <a:solidFill>
              <a:srgbClr val="1F4E79"/>
            </a:solidFill>
            <a:prstDash val="solid"/>
          </a:ln>
        </p:spPr>
      </p:sp>
      <p:sp>
        <p:nvSpPr>
          <p:cNvPr id="31" name="Obj [o926]"/>
          <p:cNvSpPr txBox="1"/>
          <p:nvPr/>
        </p:nvSpPr>
        <p:spPr>
          <a:xfrm>
            <a:off x="106229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Si pasan el tiempo de captura más 2,5 s y el esclavo no recibió ningún lote del PSoC, el watchdog ejecuta START_NOW</a:t>
            </a:r>
            <a:endParaRPr lang="en-US" sz="1170" dirty="0"/>
          </a:p>
        </p:txBody>
      </p:sp>
      <p:sp>
        <p:nvSpPr>
          <p:cNvPr id="32" name="Obj [o927]"/>
          <p:cNvSpPr/>
          <p:nvPr/>
        </p:nvSpPr>
        <p:spPr>
          <a:xfrm>
            <a:off x="3450176" y="1561458"/>
            <a:ext cx="2243649" cy="360586"/>
          </a:xfrm>
          <a:prstGeom prst="rect">
            <a:avLst/>
          </a:prstGeom>
          <a:solidFill>
            <a:srgbClr val="C55A11"/>
          </a:solidFill>
          <a:ln w="6350">
            <a:solidFill>
              <a:srgbClr val="C55A11"/>
            </a:solidFill>
            <a:prstDash val="solid"/>
          </a:ln>
        </p:spPr>
      </p:sp>
      <p:sp>
        <p:nvSpPr>
          <p:cNvPr id="33" name="Obj [o928]"/>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Por qué importa</a:t>
            </a:r>
            <a:endParaRPr lang="en-US" sz="1350" dirty="0"/>
          </a:p>
        </p:txBody>
      </p:sp>
      <p:sp>
        <p:nvSpPr>
          <p:cNvPr id="34" name="Obj [o929]"/>
          <p:cNvSpPr/>
          <p:nvPr/>
        </p:nvSpPr>
        <p:spPr>
          <a:xfrm>
            <a:off x="3450176" y="1922045"/>
            <a:ext cx="2243649" cy="2163519"/>
          </a:xfrm>
          <a:prstGeom prst="rect">
            <a:avLst/>
          </a:prstGeom>
          <a:solidFill>
            <a:srgbClr val="FFFFFF"/>
          </a:solidFill>
          <a:ln w="16694">
            <a:solidFill>
              <a:srgbClr val="C55A11"/>
            </a:solidFill>
            <a:prstDash val="solid"/>
          </a:ln>
        </p:spPr>
      </p:sp>
      <p:sp>
        <p:nvSpPr>
          <p:cNvPr id="35" name="Obj [o930]"/>
          <p:cNvSpPr txBox="1"/>
          <p:nvPr/>
        </p:nvSpPr>
        <p:spPr>
          <a:xfrm>
            <a:off x="354633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Conserva la marca temporal del disparo original: los datos parecen completos pero empezaron segundos tarde y no sirven para fase</a:t>
            </a:r>
            <a:endParaRPr lang="en-US" sz="1170" dirty="0"/>
          </a:p>
        </p:txBody>
      </p:sp>
      <p:sp>
        <p:nvSpPr>
          <p:cNvPr id="36" name="Obj [o931]"/>
          <p:cNvSpPr/>
          <p:nvPr/>
        </p:nvSpPr>
        <p:spPr>
          <a:xfrm>
            <a:off x="5934215" y="1561458"/>
            <a:ext cx="2243649" cy="360586"/>
          </a:xfrm>
          <a:prstGeom prst="rect">
            <a:avLst/>
          </a:prstGeom>
          <a:solidFill>
            <a:srgbClr val="2E75B6"/>
          </a:solidFill>
          <a:ln w="6350">
            <a:solidFill>
              <a:srgbClr val="2E75B6"/>
            </a:solidFill>
            <a:prstDash val="solid"/>
          </a:ln>
        </p:spPr>
      </p:sp>
      <p:sp>
        <p:nvSpPr>
          <p:cNvPr id="37" name="Obj [o932]"/>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Corrección pendiente</a:t>
            </a:r>
            <a:endParaRPr lang="en-US" sz="1350" dirty="0"/>
          </a:p>
        </p:txBody>
      </p:sp>
      <p:sp>
        <p:nvSpPr>
          <p:cNvPr id="38" name="Obj [o933]"/>
          <p:cNvSpPr/>
          <p:nvPr/>
        </p:nvSpPr>
        <p:spPr>
          <a:xfrm>
            <a:off x="5934215" y="1922045"/>
            <a:ext cx="2243649" cy="2163519"/>
          </a:xfrm>
          <a:prstGeom prst="rect">
            <a:avLst/>
          </a:prstGeom>
          <a:solidFill>
            <a:srgbClr val="FFFFFF"/>
          </a:solidFill>
          <a:ln w="16694">
            <a:solidFill>
              <a:srgbClr val="2E75B6"/>
            </a:solidFill>
            <a:prstDash val="solid"/>
          </a:ln>
        </p:spPr>
      </p:sp>
      <p:sp>
        <p:nvSpPr>
          <p:cNvPr id="39" name="Obj [o934]"/>
          <p:cNvSpPr txBox="1"/>
          <p:nvPr/>
        </p:nvSpPr>
        <p:spPr>
          <a:xfrm>
            <a:off x="603037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Quitar START_NOW de todo flujo sincronizado; ante CAPTURE_SYNC_STALL, abortar y enviar NACK; agregar prueba de regresión</a:t>
            </a:r>
            <a:endParaRPr lang="en-US" sz="1170" dirty="0"/>
          </a:p>
        </p:txBody>
      </p:sp>
      <p:sp>
        <p:nvSpPr>
          <p:cNvPr id="40" name="Obj [o935]"/>
          <p:cNvSpPr/>
          <p:nvPr/>
        </p:nvSpPr>
        <p:spPr>
          <a:xfrm>
            <a:off x="966136" y="4165694"/>
            <a:ext cx="7211728" cy="360586"/>
          </a:xfrm>
          <a:prstGeom prst="rect">
            <a:avLst/>
          </a:prstGeom>
          <a:solidFill>
            <a:srgbClr val="EAF1F8"/>
          </a:solidFill>
          <a:ln w="6350">
            <a:solidFill>
              <a:srgbClr val="EAF1F8"/>
            </a:solidFill>
            <a:prstDash val="solid"/>
          </a:ln>
        </p:spPr>
      </p:sp>
      <p:sp>
        <p:nvSpPr>
          <p:cNvPr id="41" name="Obj [o936]"/>
          <p:cNvSpPr txBox="1"/>
          <p:nvPr/>
        </p:nvSpPr>
        <p:spPr>
          <a:xfrm>
            <a:off x="1086331" y="4165694"/>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No afecta las capturas que arrancan bien; oculta un fallo excepcional.</a:t>
            </a:r>
            <a:endParaRPr lang="en-US" sz="1260" dirty="0"/>
          </a:p>
        </p:txBody>
      </p:sp>
      <p:sp>
        <p:nvSpPr>
          <p:cNvPr id="42" name="Obj [o93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08_trabajos_futuros.tex (sincronización). No figura en el resumen firmado.</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22" presetClass="entr" presetSubtype="8" fill="hold" nodeType="withEffect">
                                  <p:stCondLst>
                                    <p:cond delay="34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nodeType="withEffect">
                                  <p:stCondLst>
                                    <p:cond delay="410"/>
                                  </p:stCondLst>
                                  <p:childTnLst>
                                    <p:set>
                                      <p:cBhvr>
                                        <p:cTn id="12" dur="1" fill="hold">
                                          <p:stCondLst>
                                            <p:cond delay="0"/>
                                          </p:stCondLst>
                                        </p:cTn>
                                        <p:tgtEl>
                                          <p:spTgt spid="27"/>
                                        </p:tgtEl>
                                        <p:attrNameLst>
                                          <p:attrName>style.visibility</p:attrName>
                                        </p:attrNameLst>
                                      </p:cBhvr>
                                      <p:to>
                                        <p:strVal val="visible"/>
                                      </p:to>
                                    </p:set>
                                    <p:animEffect transition="in" filter="wipe(left)">
                                      <p:cBhvr>
                                        <p:cTn id="13" dur="500"/>
                                        <p:tgtEl>
                                          <p:spTgt spid="27"/>
                                        </p:tgtEl>
                                      </p:cBhvr>
                                    </p:animEffect>
                                  </p:childTnLst>
                                </p:cTn>
                              </p:par>
                              <p:par>
                                <p:cTn id="14" presetID="10" presetClass="entr" presetSubtype="0" fill="hold" nodeType="with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350"/>
                                        <p:tgtEl>
                                          <p:spTgt spid="3"/>
                                        </p:tgtEl>
                                      </p:cBhvr>
                                    </p:animEffect>
                                    <p:set>
                                      <p:cBhvr>
                                        <p:cTn id="21" dur="1" fill="hold">
                                          <p:stCondLst>
                                            <p:cond delay="349"/>
                                          </p:stCondLst>
                                        </p:cTn>
                                        <p:tgtEl>
                                          <p:spTgt spid="3"/>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350"/>
                                        <p:tgtEl>
                                          <p:spTgt spid="27"/>
                                        </p:tgtEl>
                                      </p:cBhvr>
                                    </p:animEffect>
                                    <p:set>
                                      <p:cBhvr>
                                        <p:cTn id="24" dur="1" fill="hold">
                                          <p:stCondLst>
                                            <p:cond delay="349"/>
                                          </p:stCondLst>
                                        </p:cTn>
                                        <p:tgtEl>
                                          <p:spTgt spid="27"/>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350"/>
                                        <p:tgtEl>
                                          <p:spTgt spid="5"/>
                                        </p:tgtEl>
                                      </p:cBhvr>
                                    </p:animEffect>
                                    <p:set>
                                      <p:cBhvr>
                                        <p:cTn id="27" dur="1" fill="hold">
                                          <p:stCondLst>
                                            <p:cond delay="349"/>
                                          </p:stCondLst>
                                        </p:cTn>
                                        <p:tgtEl>
                                          <p:spTgt spid="5"/>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350"/>
                                        <p:tgtEl>
                                          <p:spTgt spid="6"/>
                                        </p:tgtEl>
                                      </p:cBhvr>
                                    </p:animEffect>
                                    <p:set>
                                      <p:cBhvr>
                                        <p:cTn id="30" dur="1" fill="hold">
                                          <p:stCondLst>
                                            <p:cond delay="349"/>
                                          </p:stCondLst>
                                        </p:cTn>
                                        <p:tgtEl>
                                          <p:spTgt spid="6"/>
                                        </p:tgtEl>
                                        <p:attrNameLst>
                                          <p:attrName>style.visibility</p:attrName>
                                        </p:attrNameLst>
                                      </p:cBhvr>
                                      <p:to>
                                        <p:strVal val="hidden"/>
                                      </p:to>
                                    </p:set>
                                  </p:childTnLst>
                                </p:cTn>
                              </p:par>
                              <p:par>
                                <p:cTn id="31" presetID="10" presetClass="entr" presetSubtype="0" fill="hold" nodeType="withEffect">
                                  <p:stCondLst>
                                    <p:cond delay="45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50"/>
                                        <p:tgtEl>
                                          <p:spTgt spid="7"/>
                                        </p:tgtEl>
                                      </p:cBhvr>
                                    </p:animEffect>
                                  </p:childTnLst>
                                </p:cTn>
                              </p:par>
                              <p:par>
                                <p:cTn id="34" presetID="22" presetClass="entr" presetSubtype="8" fill="hold" nodeType="withEffect">
                                  <p:stCondLst>
                                    <p:cond delay="520"/>
                                  </p:stCondLst>
                                  <p:childTnLst>
                                    <p:set>
                                      <p:cBhvr>
                                        <p:cTn id="35" dur="1" fill="hold">
                                          <p:stCondLst>
                                            <p:cond delay="0"/>
                                          </p:stCondLst>
                                        </p:cTn>
                                        <p:tgtEl>
                                          <p:spTgt spid="53"/>
                                        </p:tgtEl>
                                        <p:attrNameLst>
                                          <p:attrName>style.visibility</p:attrName>
                                        </p:attrNameLst>
                                      </p:cBhvr>
                                      <p:to>
                                        <p:strVal val="visible"/>
                                      </p:to>
                                    </p:set>
                                    <p:animEffect transition="in" filter="wipe(left)">
                                      <p:cBhvr>
                                        <p:cTn id="36" dur="500"/>
                                        <p:tgtEl>
                                          <p:spTgt spid="53"/>
                                        </p:tgtEl>
                                      </p:cBhvr>
                                    </p:animEffect>
                                  </p:childTnLst>
                                </p:cTn>
                              </p:par>
                              <p:par>
                                <p:cTn id="37" presetID="10" presetClass="entr" presetSubtype="0" fill="hold" nodeType="withEffect">
                                  <p:stCondLst>
                                    <p:cond delay="58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350"/>
                                        <p:tgtEl>
                                          <p:spTgt spid="7"/>
                                        </p:tgtEl>
                                      </p:cBhvr>
                                    </p:animEffect>
                                    <p:set>
                                      <p:cBhvr>
                                        <p:cTn id="44" dur="1" fill="hold">
                                          <p:stCondLst>
                                            <p:cond delay="349"/>
                                          </p:stCondLst>
                                        </p:cTn>
                                        <p:tgtEl>
                                          <p:spTgt spid="7"/>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53"/>
                                        </p:tgtEl>
                                      </p:cBhvr>
                                    </p:animEffect>
                                    <p:set>
                                      <p:cBhvr>
                                        <p:cTn id="47" dur="1" fill="hold">
                                          <p:stCondLst>
                                            <p:cond delay="349"/>
                                          </p:stCondLst>
                                        </p:cTn>
                                        <p:tgtEl>
                                          <p:spTgt spid="53"/>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350"/>
                                        <p:tgtEl>
                                          <p:spTgt spid="9"/>
                                        </p:tgtEl>
                                      </p:cBhvr>
                                    </p:animEffect>
                                    <p:set>
                                      <p:cBhvr>
                                        <p:cTn id="50" dur="1" fill="hold">
                                          <p:stCondLst>
                                            <p:cond delay="349"/>
                                          </p:stCondLst>
                                        </p:cTn>
                                        <p:tgtEl>
                                          <p:spTgt spid="9"/>
                                        </p:tgtEl>
                                        <p:attrNameLst>
                                          <p:attrName>style.visibility</p:attrName>
                                        </p:attrNameLst>
                                      </p:cBhvr>
                                      <p:to>
                                        <p:strVal val="hidden"/>
                                      </p:to>
                                    </p:set>
                                  </p:childTnLst>
                                </p:cTn>
                              </p:par>
                              <p:par>
                                <p:cTn id="51" presetID="10" presetClass="entr" presetSubtype="0" fill="hold" nodeType="withEffect">
                                  <p:stCondLst>
                                    <p:cond delay="45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par>
                                <p:cTn id="54" presetID="10" presetClass="entr" presetSubtype="0" fill="hold" nodeType="withEffect">
                                  <p:stCondLst>
                                    <p:cond delay="52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450"/>
                                        <p:tgtEl>
                                          <p:spTgt spid="11"/>
                                        </p:tgtEl>
                                      </p:cBhvr>
                                    </p:animEffect>
                                  </p:childTnLst>
                                </p:cTn>
                              </p:par>
                              <p:par>
                                <p:cTn id="57" presetID="22" presetClass="entr" presetSubtype="8" fill="hold" nodeType="withEffect">
                                  <p:stCondLst>
                                    <p:cond delay="59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500"/>
                                        <p:tgtEl>
                                          <p:spTgt spid="12"/>
                                        </p:tgtEl>
                                      </p:cBhvr>
                                    </p:animEffect>
                                  </p:childTnLst>
                                </p:cTn>
                              </p:par>
                              <p:par>
                                <p:cTn id="60" presetID="10" presetClass="entr" presetSubtype="0" fill="hold" nodeType="withEffect">
                                  <p:stCondLst>
                                    <p:cond delay="66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450"/>
                                        <p:tgtEl>
                                          <p:spTgt spid="13"/>
                                        </p:tgtEl>
                                      </p:cBhvr>
                                    </p:animEffect>
                                  </p:childTnLst>
                                </p:cTn>
                              </p:par>
                              <p:par>
                                <p:cTn id="63" presetID="22" presetClass="entr" presetSubtype="8" fill="hold" nodeType="withEffect">
                                  <p:stCondLst>
                                    <p:cond delay="730"/>
                                  </p:stCondLst>
                                  <p:childTnLst>
                                    <p:set>
                                      <p:cBhvr>
                                        <p:cTn id="64" dur="1" fill="hold">
                                          <p:stCondLst>
                                            <p:cond delay="0"/>
                                          </p:stCondLst>
                                        </p:cTn>
                                        <p:tgtEl>
                                          <p:spTgt spid="14"/>
                                        </p:tgtEl>
                                        <p:attrNameLst>
                                          <p:attrName>style.visibility</p:attrName>
                                        </p:attrNameLst>
                                      </p:cBhvr>
                                      <p:to>
                                        <p:strVal val="visible"/>
                                      </p:to>
                                    </p:set>
                                    <p:animEffect transition="in" filter="wipe(left)">
                                      <p:cBhvr>
                                        <p:cTn id="65" dur="500"/>
                                        <p:tgtEl>
                                          <p:spTgt spid="14"/>
                                        </p:tgtEl>
                                      </p:cBhvr>
                                    </p:animEffect>
                                  </p:childTnLst>
                                </p:cTn>
                              </p:par>
                              <p:par>
                                <p:cTn id="66" presetID="10" presetClass="entr" presetSubtype="0" fill="hold" nodeType="withEffect">
                                  <p:stCondLst>
                                    <p:cond delay="8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450"/>
                                        <p:tgtEl>
                                          <p:spTgt spid="15"/>
                                        </p:tgtEl>
                                      </p:cBhvr>
                                    </p:animEffect>
                                  </p:childTnLst>
                                </p:cTn>
                              </p:par>
                              <p:par>
                                <p:cTn id="69" presetID="22" presetClass="entr" presetSubtype="8" fill="hold" nodeType="withEffect">
                                  <p:stCondLst>
                                    <p:cond delay="87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500"/>
                                        <p:tgtEl>
                                          <p:spTgt spid="16"/>
                                        </p:tgtEl>
                                      </p:cBhvr>
                                    </p:animEffect>
                                  </p:childTnLst>
                                </p:cTn>
                              </p:par>
                              <p:par>
                                <p:cTn id="72" presetID="10" presetClass="entr" presetSubtype="0" fill="hold" nodeType="withEffect">
                                  <p:stCondLst>
                                    <p:cond delay="94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450"/>
                                        <p:tgtEl>
                                          <p:spTgt spid="17"/>
                                        </p:tgtEl>
                                      </p:cBhvr>
                                    </p:animEffect>
                                  </p:childTnLst>
                                </p:cTn>
                              </p:par>
                              <p:par>
                                <p:cTn id="75" presetID="22" presetClass="entr" presetSubtype="8" fill="hold" nodeType="withEffect">
                                  <p:stCondLst>
                                    <p:cond delay="101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par>
                                <p:cTn id="78" presetID="10" presetClass="entr" presetSubtype="0" fill="hold" nodeType="withEffect">
                                  <p:stCondLst>
                                    <p:cond delay="108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450"/>
                                        <p:tgtEl>
                                          <p:spTgt spid="19"/>
                                        </p:tgtEl>
                                      </p:cBhvr>
                                    </p:animEffect>
                                  </p:childTnLst>
                                </p:cTn>
                              </p:par>
                              <p:par>
                                <p:cTn id="81" presetID="22" presetClass="entr" presetSubtype="8" fill="hold" nodeType="withEffect">
                                  <p:stCondLst>
                                    <p:cond delay="1150"/>
                                  </p:stCondLst>
                                  <p:childTnLst>
                                    <p:set>
                                      <p:cBhvr>
                                        <p:cTn id="82" dur="1" fill="hold">
                                          <p:stCondLst>
                                            <p:cond delay="0"/>
                                          </p:stCondLst>
                                        </p:cTn>
                                        <p:tgtEl>
                                          <p:spTgt spid="20"/>
                                        </p:tgtEl>
                                        <p:attrNameLst>
                                          <p:attrName>style.visibility</p:attrName>
                                        </p:attrNameLst>
                                      </p:cBhvr>
                                      <p:to>
                                        <p:strVal val="visible"/>
                                      </p:to>
                                    </p:set>
                                    <p:animEffect transition="in" filter="wipe(left)">
                                      <p:cBhvr>
                                        <p:cTn id="83" dur="500"/>
                                        <p:tgtEl>
                                          <p:spTgt spid="20"/>
                                        </p:tgtEl>
                                      </p:cBhvr>
                                    </p:animEffect>
                                  </p:childTnLst>
                                </p:cTn>
                              </p:par>
                              <p:par>
                                <p:cTn id="84" presetID="10" presetClass="entr" presetSubtype="0" fill="hold" nodeType="withEffect">
                                  <p:stCondLst>
                                    <p:cond delay="122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450"/>
                                        <p:tgtEl>
                                          <p:spTgt spid="21"/>
                                        </p:tgtEl>
                                      </p:cBhvr>
                                    </p:animEffect>
                                  </p:childTnLst>
                                </p:cTn>
                              </p:par>
                              <p:par>
                                <p:cTn id="87" presetID="22" presetClass="entr" presetSubtype="8" fill="hold" nodeType="withEffect">
                                  <p:stCondLst>
                                    <p:cond delay="1290"/>
                                  </p:stCondLst>
                                  <p:childTnLst>
                                    <p:set>
                                      <p:cBhvr>
                                        <p:cTn id="88" dur="1" fill="hold">
                                          <p:stCondLst>
                                            <p:cond delay="0"/>
                                          </p:stCondLst>
                                        </p:cTn>
                                        <p:tgtEl>
                                          <p:spTgt spid="22"/>
                                        </p:tgtEl>
                                        <p:attrNameLst>
                                          <p:attrName>style.visibility</p:attrName>
                                        </p:attrNameLst>
                                      </p:cBhvr>
                                      <p:to>
                                        <p:strVal val="visible"/>
                                      </p:to>
                                    </p:set>
                                    <p:animEffect transition="in" filter="wipe(left)">
                                      <p:cBhvr>
                                        <p:cTn id="89" dur="500"/>
                                        <p:tgtEl>
                                          <p:spTgt spid="22"/>
                                        </p:tgtEl>
                                      </p:cBhvr>
                                    </p:animEffect>
                                  </p:childTnLst>
                                </p:cTn>
                              </p:par>
                              <p:par>
                                <p:cTn id="90" presetID="22" presetClass="entr" presetSubtype="8" fill="hold" nodeType="withEffect">
                                  <p:stCondLst>
                                    <p:cond delay="1360"/>
                                  </p:stCondLst>
                                  <p:childTnLst>
                                    <p:set>
                                      <p:cBhvr>
                                        <p:cTn id="91" dur="1" fill="hold">
                                          <p:stCondLst>
                                            <p:cond delay="0"/>
                                          </p:stCondLst>
                                        </p:cTn>
                                        <p:tgtEl>
                                          <p:spTgt spid="23"/>
                                        </p:tgtEl>
                                        <p:attrNameLst>
                                          <p:attrName>style.visibility</p:attrName>
                                        </p:attrNameLst>
                                      </p:cBhvr>
                                      <p:to>
                                        <p:strVal val="visible"/>
                                      </p:to>
                                    </p:set>
                                    <p:animEffect transition="in" filter="wipe(left)">
                                      <p:cBhvr>
                                        <p:cTn id="92" dur="500"/>
                                        <p:tgtEl>
                                          <p:spTgt spid="23"/>
                                        </p:tgtEl>
                                      </p:cBhvr>
                                    </p:animEffect>
                                  </p:childTnLst>
                                </p:cTn>
                              </p:par>
                              <p:par>
                                <p:cTn id="93" presetID="10" presetClass="entr" presetSubtype="0" fill="hold" nodeType="withEffect">
                                  <p:stCondLst>
                                    <p:cond delay="143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50"/>
                                        <p:tgtEl>
                                          <p:spTgt spid="24"/>
                                        </p:tgtEl>
                                      </p:cBhvr>
                                    </p:animEffect>
                                  </p:childTnLst>
                                </p:cTn>
                              </p:par>
                              <p:par>
                                <p:cTn id="96" presetID="22" presetClass="entr" presetSubtype="8" fill="hold" nodeType="withEffect">
                                  <p:stCondLst>
                                    <p:cond delay="1480"/>
                                  </p:stCondLst>
                                  <p:childTnLst>
                                    <p:set>
                                      <p:cBhvr>
                                        <p:cTn id="97" dur="1" fill="hold">
                                          <p:stCondLst>
                                            <p:cond delay="0"/>
                                          </p:stCondLst>
                                        </p:cTn>
                                        <p:tgtEl>
                                          <p:spTgt spid="25"/>
                                        </p:tgtEl>
                                        <p:attrNameLst>
                                          <p:attrName>style.visibility</p:attrName>
                                        </p:attrNameLst>
                                      </p:cBhvr>
                                      <p:to>
                                        <p:strVal val="visible"/>
                                      </p:to>
                                    </p:set>
                                    <p:animEffect transition="in" filter="wipe(left)">
                                      <p:cBhvr>
                                        <p:cTn id="98" dur="500"/>
                                        <p:tgtEl>
                                          <p:spTgt spid="25"/>
                                        </p:tgtEl>
                                      </p:cBhvr>
                                    </p:animEffect>
                                  </p:childTnLst>
                                </p:cTn>
                              </p:par>
                              <p:par>
                                <p:cTn id="99" presetID="10" presetClass="entr" presetSubtype="0" fill="hold" nodeType="withEffect">
                                  <p:stCondLst>
                                    <p:cond delay="58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450"/>
                                        <p:tgtEl>
                                          <p:spTgt spid="26"/>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xit" presetSubtype="0" fill="hold" nodeType="clickEffect">
                                  <p:stCondLst>
                                    <p:cond delay="0"/>
                                  </p:stCondLst>
                                  <p:childTnLst>
                                    <p:animEffect transition="out" filter="fade">
                                      <p:cBhvr>
                                        <p:cTn id="105" dur="350"/>
                                        <p:tgtEl>
                                          <p:spTgt spid="10"/>
                                        </p:tgtEl>
                                      </p:cBhvr>
                                    </p:animEffect>
                                    <p:set>
                                      <p:cBhvr>
                                        <p:cTn id="106" dur="1" fill="hold">
                                          <p:stCondLst>
                                            <p:cond delay="349"/>
                                          </p:stCondLst>
                                        </p:cTn>
                                        <p:tgtEl>
                                          <p:spTgt spid="10"/>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350"/>
                                        <p:tgtEl>
                                          <p:spTgt spid="11"/>
                                        </p:tgtEl>
                                      </p:cBhvr>
                                    </p:animEffect>
                                    <p:set>
                                      <p:cBhvr>
                                        <p:cTn id="109" dur="1" fill="hold">
                                          <p:stCondLst>
                                            <p:cond delay="349"/>
                                          </p:stCondLst>
                                        </p:cTn>
                                        <p:tgtEl>
                                          <p:spTgt spid="1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350"/>
                                        <p:tgtEl>
                                          <p:spTgt spid="12"/>
                                        </p:tgtEl>
                                      </p:cBhvr>
                                    </p:animEffect>
                                    <p:set>
                                      <p:cBhvr>
                                        <p:cTn id="112" dur="1" fill="hold">
                                          <p:stCondLst>
                                            <p:cond delay="349"/>
                                          </p:stCondLst>
                                        </p:cTn>
                                        <p:tgtEl>
                                          <p:spTgt spid="12"/>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3"/>
                                        </p:tgtEl>
                                      </p:cBhvr>
                                    </p:animEffect>
                                    <p:set>
                                      <p:cBhvr>
                                        <p:cTn id="115" dur="1" fill="hold">
                                          <p:stCondLst>
                                            <p:cond delay="349"/>
                                          </p:stCondLst>
                                        </p:cTn>
                                        <p:tgtEl>
                                          <p:spTgt spid="13"/>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4"/>
                                        </p:tgtEl>
                                      </p:cBhvr>
                                    </p:animEffect>
                                    <p:set>
                                      <p:cBhvr>
                                        <p:cTn id="118" dur="1" fill="hold">
                                          <p:stCondLst>
                                            <p:cond delay="349"/>
                                          </p:stCondLst>
                                        </p:cTn>
                                        <p:tgtEl>
                                          <p:spTgt spid="14"/>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350"/>
                                        <p:tgtEl>
                                          <p:spTgt spid="15"/>
                                        </p:tgtEl>
                                      </p:cBhvr>
                                    </p:animEffect>
                                    <p:set>
                                      <p:cBhvr>
                                        <p:cTn id="121" dur="1" fill="hold">
                                          <p:stCondLst>
                                            <p:cond delay="349"/>
                                          </p:stCondLst>
                                        </p:cTn>
                                        <p:tgtEl>
                                          <p:spTgt spid="15"/>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350"/>
                                        <p:tgtEl>
                                          <p:spTgt spid="16"/>
                                        </p:tgtEl>
                                      </p:cBhvr>
                                    </p:animEffect>
                                    <p:set>
                                      <p:cBhvr>
                                        <p:cTn id="124" dur="1" fill="hold">
                                          <p:stCondLst>
                                            <p:cond delay="349"/>
                                          </p:stCondLst>
                                        </p:cTn>
                                        <p:tgtEl>
                                          <p:spTgt spid="16"/>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350"/>
                                        <p:tgtEl>
                                          <p:spTgt spid="17"/>
                                        </p:tgtEl>
                                      </p:cBhvr>
                                    </p:animEffect>
                                    <p:set>
                                      <p:cBhvr>
                                        <p:cTn id="127" dur="1" fill="hold">
                                          <p:stCondLst>
                                            <p:cond delay="349"/>
                                          </p:stCondLst>
                                        </p:cTn>
                                        <p:tgtEl>
                                          <p:spTgt spid="17"/>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350"/>
                                        <p:tgtEl>
                                          <p:spTgt spid="18"/>
                                        </p:tgtEl>
                                      </p:cBhvr>
                                    </p:animEffect>
                                    <p:set>
                                      <p:cBhvr>
                                        <p:cTn id="130" dur="1" fill="hold">
                                          <p:stCondLst>
                                            <p:cond delay="349"/>
                                          </p:stCondLst>
                                        </p:cTn>
                                        <p:tgtEl>
                                          <p:spTgt spid="18"/>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350"/>
                                        <p:tgtEl>
                                          <p:spTgt spid="19"/>
                                        </p:tgtEl>
                                      </p:cBhvr>
                                    </p:animEffect>
                                    <p:set>
                                      <p:cBhvr>
                                        <p:cTn id="133" dur="1" fill="hold">
                                          <p:stCondLst>
                                            <p:cond delay="349"/>
                                          </p:stCondLst>
                                        </p:cTn>
                                        <p:tgtEl>
                                          <p:spTgt spid="19"/>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20"/>
                                        </p:tgtEl>
                                      </p:cBhvr>
                                    </p:animEffect>
                                    <p:set>
                                      <p:cBhvr>
                                        <p:cTn id="136" dur="1" fill="hold">
                                          <p:stCondLst>
                                            <p:cond delay="349"/>
                                          </p:stCondLst>
                                        </p:cTn>
                                        <p:tgtEl>
                                          <p:spTgt spid="20"/>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350"/>
                                        <p:tgtEl>
                                          <p:spTgt spid="21"/>
                                        </p:tgtEl>
                                      </p:cBhvr>
                                    </p:animEffect>
                                    <p:set>
                                      <p:cBhvr>
                                        <p:cTn id="139" dur="1" fill="hold">
                                          <p:stCondLst>
                                            <p:cond delay="349"/>
                                          </p:stCondLst>
                                        </p:cTn>
                                        <p:tgtEl>
                                          <p:spTgt spid="21"/>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350"/>
                                        <p:tgtEl>
                                          <p:spTgt spid="22"/>
                                        </p:tgtEl>
                                      </p:cBhvr>
                                    </p:animEffect>
                                    <p:set>
                                      <p:cBhvr>
                                        <p:cTn id="142" dur="1" fill="hold">
                                          <p:stCondLst>
                                            <p:cond delay="349"/>
                                          </p:stCondLst>
                                        </p:cTn>
                                        <p:tgtEl>
                                          <p:spTgt spid="22"/>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350"/>
                                        <p:tgtEl>
                                          <p:spTgt spid="23"/>
                                        </p:tgtEl>
                                      </p:cBhvr>
                                    </p:animEffect>
                                    <p:set>
                                      <p:cBhvr>
                                        <p:cTn id="145" dur="1" fill="hold">
                                          <p:stCondLst>
                                            <p:cond delay="349"/>
                                          </p:stCondLst>
                                        </p:cTn>
                                        <p:tgtEl>
                                          <p:spTgt spid="23"/>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24"/>
                                        </p:tgtEl>
                                      </p:cBhvr>
                                    </p:animEffect>
                                    <p:set>
                                      <p:cBhvr>
                                        <p:cTn id="148" dur="1" fill="hold">
                                          <p:stCondLst>
                                            <p:cond delay="349"/>
                                          </p:stCondLst>
                                        </p:cTn>
                                        <p:tgtEl>
                                          <p:spTgt spid="24"/>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350"/>
                                        <p:tgtEl>
                                          <p:spTgt spid="25"/>
                                        </p:tgtEl>
                                      </p:cBhvr>
                                    </p:animEffect>
                                    <p:set>
                                      <p:cBhvr>
                                        <p:cTn id="151" dur="1" fill="hold">
                                          <p:stCondLst>
                                            <p:cond delay="349"/>
                                          </p:stCondLst>
                                        </p:cTn>
                                        <p:tgtEl>
                                          <p:spTgt spid="25"/>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350"/>
                                        <p:tgtEl>
                                          <p:spTgt spid="26"/>
                                        </p:tgtEl>
                                      </p:cBhvr>
                                    </p:animEffect>
                                    <p:set>
                                      <p:cBhvr>
                                        <p:cTn id="154" dur="1" fill="hold">
                                          <p:stCondLst>
                                            <p:cond delay="349"/>
                                          </p:stCondLst>
                                        </p:cTn>
                                        <p:tgtEl>
                                          <p:spTgt spid="26"/>
                                        </p:tgtEl>
                                        <p:attrNameLst>
                                          <p:attrName>style.visibility</p:attrName>
                                        </p:attrNameLst>
                                      </p:cBhvr>
                                      <p:to>
                                        <p:strVal val="hidden"/>
                                      </p:to>
                                    </p:set>
                                  </p:childTnLst>
                                </p:cTn>
                              </p:par>
                              <p:par>
                                <p:cTn id="155" presetID="10" presetClass="entr" presetSubtype="0" fill="hold" nodeType="withEffect">
                                  <p:stCondLst>
                                    <p:cond delay="450"/>
                                  </p:stCondLst>
                                  <p:childTnLst>
                                    <p:set>
                                      <p:cBhvr>
                                        <p:cTn id="156" dur="1" fill="hold">
                                          <p:stCondLst>
                                            <p:cond delay="0"/>
                                          </p:stCondLst>
                                        </p:cTn>
                                        <p:tgtEl>
                                          <p:spTgt spid="27"/>
                                        </p:tgtEl>
                                        <p:attrNameLst>
                                          <p:attrName>style.visibility</p:attrName>
                                        </p:attrNameLst>
                                      </p:cBhvr>
                                      <p:to>
                                        <p:strVal val="visible"/>
                                      </p:to>
                                    </p:set>
                                    <p:animEffect transition="in" filter="fade">
                                      <p:cBhvr>
                                        <p:cTn id="157" dur="450"/>
                                        <p:tgtEl>
                                          <p:spTgt spid="27"/>
                                        </p:tgtEl>
                                      </p:cBhvr>
                                    </p:animEffect>
                                  </p:childTnLst>
                                </p:cTn>
                              </p:par>
                              <p:par>
                                <p:cTn id="158" presetID="10" presetClass="entr" presetSubtype="0" fill="hold" nodeType="withEffect">
                                  <p:stCondLst>
                                    <p:cond delay="520"/>
                                  </p:stCondLst>
                                  <p:childTnLst>
                                    <p:set>
                                      <p:cBhvr>
                                        <p:cTn id="159" dur="1" fill="hold">
                                          <p:stCondLst>
                                            <p:cond delay="0"/>
                                          </p:stCondLst>
                                        </p:cTn>
                                        <p:tgtEl>
                                          <p:spTgt spid="28"/>
                                        </p:tgtEl>
                                        <p:attrNameLst>
                                          <p:attrName>style.visibility</p:attrName>
                                        </p:attrNameLst>
                                      </p:cBhvr>
                                      <p:to>
                                        <p:strVal val="visible"/>
                                      </p:to>
                                    </p:set>
                                    <p:animEffect transition="in" filter="fade">
                                      <p:cBhvr>
                                        <p:cTn id="160" dur="450"/>
                                        <p:tgtEl>
                                          <p:spTgt spid="28"/>
                                        </p:tgtEl>
                                      </p:cBhvr>
                                    </p:animEffect>
                                  </p:childTnLst>
                                </p:cTn>
                              </p:par>
                              <p:par>
                                <p:cTn id="161" presetID="22" presetClass="entr" presetSubtype="4" fill="hold" nodeType="withEffect">
                                  <p:stCondLst>
                                    <p:cond delay="590"/>
                                  </p:stCondLst>
                                  <p:childTnLst>
                                    <p:set>
                                      <p:cBhvr>
                                        <p:cTn id="162" dur="1" fill="hold">
                                          <p:stCondLst>
                                            <p:cond delay="0"/>
                                          </p:stCondLst>
                                        </p:cTn>
                                        <p:tgtEl>
                                          <p:spTgt spid="29"/>
                                        </p:tgtEl>
                                        <p:attrNameLst>
                                          <p:attrName>style.visibility</p:attrName>
                                        </p:attrNameLst>
                                      </p:cBhvr>
                                      <p:to>
                                        <p:strVal val="visible"/>
                                      </p:to>
                                    </p:set>
                                    <p:animEffect transition="in" filter="wipe(down)">
                                      <p:cBhvr>
                                        <p:cTn id="163" dur="500"/>
                                        <p:tgtEl>
                                          <p:spTgt spid="29"/>
                                        </p:tgtEl>
                                      </p:cBhvr>
                                    </p:animEffect>
                                  </p:childTnLst>
                                </p:cTn>
                              </p:par>
                              <p:par>
                                <p:cTn id="164" presetID="10" presetClass="entr" presetSubtype="0" fill="hold" nodeType="withEffect">
                                  <p:stCondLst>
                                    <p:cond delay="660"/>
                                  </p:stCondLst>
                                  <p:childTnLst>
                                    <p:set>
                                      <p:cBhvr>
                                        <p:cTn id="165" dur="1" fill="hold">
                                          <p:stCondLst>
                                            <p:cond delay="0"/>
                                          </p:stCondLst>
                                        </p:cTn>
                                        <p:tgtEl>
                                          <p:spTgt spid="30"/>
                                        </p:tgtEl>
                                        <p:attrNameLst>
                                          <p:attrName>style.visibility</p:attrName>
                                        </p:attrNameLst>
                                      </p:cBhvr>
                                      <p:to>
                                        <p:strVal val="visible"/>
                                      </p:to>
                                    </p:set>
                                    <p:animEffect transition="in" filter="fade">
                                      <p:cBhvr>
                                        <p:cTn id="166" dur="450"/>
                                        <p:tgtEl>
                                          <p:spTgt spid="30"/>
                                        </p:tgtEl>
                                      </p:cBhvr>
                                    </p:animEffect>
                                  </p:childTnLst>
                                </p:cTn>
                              </p:par>
                              <p:par>
                                <p:cTn id="167" presetID="22" presetClass="entr" presetSubtype="4" fill="hold" nodeType="withEffect">
                                  <p:stCondLst>
                                    <p:cond delay="730"/>
                                  </p:stCondLst>
                                  <p:childTnLst>
                                    <p:set>
                                      <p:cBhvr>
                                        <p:cTn id="168" dur="1" fill="hold">
                                          <p:stCondLst>
                                            <p:cond delay="0"/>
                                          </p:stCondLst>
                                        </p:cTn>
                                        <p:tgtEl>
                                          <p:spTgt spid="31"/>
                                        </p:tgtEl>
                                        <p:attrNameLst>
                                          <p:attrName>style.visibility</p:attrName>
                                        </p:attrNameLst>
                                      </p:cBhvr>
                                      <p:to>
                                        <p:strVal val="visible"/>
                                      </p:to>
                                    </p:set>
                                    <p:animEffect transition="in" filter="wipe(down)">
                                      <p:cBhvr>
                                        <p:cTn id="169" dur="500"/>
                                        <p:tgtEl>
                                          <p:spTgt spid="31"/>
                                        </p:tgtEl>
                                      </p:cBhvr>
                                    </p:animEffect>
                                  </p:childTnLst>
                                </p:cTn>
                              </p:par>
                              <p:par>
                                <p:cTn id="170" presetID="10" presetClass="entr" presetSubtype="0" fill="hold" nodeType="withEffect">
                                  <p:stCondLst>
                                    <p:cond delay="800"/>
                                  </p:stCondLst>
                                  <p:childTnLst>
                                    <p:set>
                                      <p:cBhvr>
                                        <p:cTn id="171" dur="1" fill="hold">
                                          <p:stCondLst>
                                            <p:cond delay="0"/>
                                          </p:stCondLst>
                                        </p:cTn>
                                        <p:tgtEl>
                                          <p:spTgt spid="32"/>
                                        </p:tgtEl>
                                        <p:attrNameLst>
                                          <p:attrName>style.visibility</p:attrName>
                                        </p:attrNameLst>
                                      </p:cBhvr>
                                      <p:to>
                                        <p:strVal val="visible"/>
                                      </p:to>
                                    </p:set>
                                    <p:animEffect transition="in" filter="fade">
                                      <p:cBhvr>
                                        <p:cTn id="172" dur="450"/>
                                        <p:tgtEl>
                                          <p:spTgt spid="32"/>
                                        </p:tgtEl>
                                      </p:cBhvr>
                                    </p:animEffect>
                                  </p:childTnLst>
                                </p:cTn>
                              </p:par>
                              <p:par>
                                <p:cTn id="173" presetID="22" presetClass="entr" presetSubtype="4" fill="hold" nodeType="withEffect">
                                  <p:stCondLst>
                                    <p:cond delay="870"/>
                                  </p:stCondLst>
                                  <p:childTnLst>
                                    <p:set>
                                      <p:cBhvr>
                                        <p:cTn id="174" dur="1" fill="hold">
                                          <p:stCondLst>
                                            <p:cond delay="0"/>
                                          </p:stCondLst>
                                        </p:cTn>
                                        <p:tgtEl>
                                          <p:spTgt spid="33"/>
                                        </p:tgtEl>
                                        <p:attrNameLst>
                                          <p:attrName>style.visibility</p:attrName>
                                        </p:attrNameLst>
                                      </p:cBhvr>
                                      <p:to>
                                        <p:strVal val="visible"/>
                                      </p:to>
                                    </p:set>
                                    <p:animEffect transition="in" filter="wipe(down)">
                                      <p:cBhvr>
                                        <p:cTn id="175" dur="500"/>
                                        <p:tgtEl>
                                          <p:spTgt spid="33"/>
                                        </p:tgtEl>
                                      </p:cBhvr>
                                    </p:animEffect>
                                  </p:childTnLst>
                                </p:cTn>
                              </p:par>
                              <p:par>
                                <p:cTn id="176" presetID="10" presetClass="entr" presetSubtype="0" fill="hold" nodeType="withEffect">
                                  <p:stCondLst>
                                    <p:cond delay="940"/>
                                  </p:stCondLst>
                                  <p:childTnLst>
                                    <p:set>
                                      <p:cBhvr>
                                        <p:cTn id="177" dur="1" fill="hold">
                                          <p:stCondLst>
                                            <p:cond delay="0"/>
                                          </p:stCondLst>
                                        </p:cTn>
                                        <p:tgtEl>
                                          <p:spTgt spid="34"/>
                                        </p:tgtEl>
                                        <p:attrNameLst>
                                          <p:attrName>style.visibility</p:attrName>
                                        </p:attrNameLst>
                                      </p:cBhvr>
                                      <p:to>
                                        <p:strVal val="visible"/>
                                      </p:to>
                                    </p:set>
                                    <p:animEffect transition="in" filter="fade">
                                      <p:cBhvr>
                                        <p:cTn id="178" dur="450"/>
                                        <p:tgtEl>
                                          <p:spTgt spid="34"/>
                                        </p:tgtEl>
                                      </p:cBhvr>
                                    </p:animEffect>
                                  </p:childTnLst>
                                </p:cTn>
                              </p:par>
                              <p:par>
                                <p:cTn id="179" presetID="22" presetClass="entr" presetSubtype="4" fill="hold" nodeType="withEffect">
                                  <p:stCondLst>
                                    <p:cond delay="1010"/>
                                  </p:stCondLst>
                                  <p:childTnLst>
                                    <p:set>
                                      <p:cBhvr>
                                        <p:cTn id="180" dur="1" fill="hold">
                                          <p:stCondLst>
                                            <p:cond delay="0"/>
                                          </p:stCondLst>
                                        </p:cTn>
                                        <p:tgtEl>
                                          <p:spTgt spid="35"/>
                                        </p:tgtEl>
                                        <p:attrNameLst>
                                          <p:attrName>style.visibility</p:attrName>
                                        </p:attrNameLst>
                                      </p:cBhvr>
                                      <p:to>
                                        <p:strVal val="visible"/>
                                      </p:to>
                                    </p:set>
                                    <p:animEffect transition="in" filter="wipe(down)">
                                      <p:cBhvr>
                                        <p:cTn id="181" dur="500"/>
                                        <p:tgtEl>
                                          <p:spTgt spid="35"/>
                                        </p:tgtEl>
                                      </p:cBhvr>
                                    </p:animEffect>
                                  </p:childTnLst>
                                </p:cTn>
                              </p:par>
                              <p:par>
                                <p:cTn id="182" presetID="10" presetClass="entr" presetSubtype="0" fill="hold" nodeType="withEffect">
                                  <p:stCondLst>
                                    <p:cond delay="1080"/>
                                  </p:stCondLst>
                                  <p:childTnLst>
                                    <p:set>
                                      <p:cBhvr>
                                        <p:cTn id="183" dur="1" fill="hold">
                                          <p:stCondLst>
                                            <p:cond delay="0"/>
                                          </p:stCondLst>
                                        </p:cTn>
                                        <p:tgtEl>
                                          <p:spTgt spid="36"/>
                                        </p:tgtEl>
                                        <p:attrNameLst>
                                          <p:attrName>style.visibility</p:attrName>
                                        </p:attrNameLst>
                                      </p:cBhvr>
                                      <p:to>
                                        <p:strVal val="visible"/>
                                      </p:to>
                                    </p:set>
                                    <p:animEffect transition="in" filter="fade">
                                      <p:cBhvr>
                                        <p:cTn id="184" dur="450"/>
                                        <p:tgtEl>
                                          <p:spTgt spid="36"/>
                                        </p:tgtEl>
                                      </p:cBhvr>
                                    </p:animEffect>
                                  </p:childTnLst>
                                </p:cTn>
                              </p:par>
                              <p:par>
                                <p:cTn id="185" presetID="22" presetClass="entr" presetSubtype="4" fill="hold" nodeType="withEffect">
                                  <p:stCondLst>
                                    <p:cond delay="1150"/>
                                  </p:stCondLst>
                                  <p:childTnLst>
                                    <p:set>
                                      <p:cBhvr>
                                        <p:cTn id="186" dur="1" fill="hold">
                                          <p:stCondLst>
                                            <p:cond delay="0"/>
                                          </p:stCondLst>
                                        </p:cTn>
                                        <p:tgtEl>
                                          <p:spTgt spid="37"/>
                                        </p:tgtEl>
                                        <p:attrNameLst>
                                          <p:attrName>style.visibility</p:attrName>
                                        </p:attrNameLst>
                                      </p:cBhvr>
                                      <p:to>
                                        <p:strVal val="visible"/>
                                      </p:to>
                                    </p:set>
                                    <p:animEffect transition="in" filter="wipe(down)">
                                      <p:cBhvr>
                                        <p:cTn id="187" dur="500"/>
                                        <p:tgtEl>
                                          <p:spTgt spid="37"/>
                                        </p:tgtEl>
                                      </p:cBhvr>
                                    </p:animEffect>
                                  </p:childTnLst>
                                </p:cTn>
                              </p:par>
                              <p:par>
                                <p:cTn id="188" presetID="10" presetClass="entr" presetSubtype="0" fill="hold" nodeType="withEffect">
                                  <p:stCondLst>
                                    <p:cond delay="1220"/>
                                  </p:stCondLst>
                                  <p:childTnLst>
                                    <p:set>
                                      <p:cBhvr>
                                        <p:cTn id="189" dur="1" fill="hold">
                                          <p:stCondLst>
                                            <p:cond delay="0"/>
                                          </p:stCondLst>
                                        </p:cTn>
                                        <p:tgtEl>
                                          <p:spTgt spid="38"/>
                                        </p:tgtEl>
                                        <p:attrNameLst>
                                          <p:attrName>style.visibility</p:attrName>
                                        </p:attrNameLst>
                                      </p:cBhvr>
                                      <p:to>
                                        <p:strVal val="visible"/>
                                      </p:to>
                                    </p:set>
                                    <p:animEffect transition="in" filter="fade">
                                      <p:cBhvr>
                                        <p:cTn id="190" dur="450"/>
                                        <p:tgtEl>
                                          <p:spTgt spid="38"/>
                                        </p:tgtEl>
                                      </p:cBhvr>
                                    </p:animEffect>
                                  </p:childTnLst>
                                </p:cTn>
                              </p:par>
                              <p:par>
                                <p:cTn id="191" presetID="22" presetClass="entr" presetSubtype="4" fill="hold" nodeType="withEffect">
                                  <p:stCondLst>
                                    <p:cond delay="1290"/>
                                  </p:stCondLst>
                                  <p:childTnLst>
                                    <p:set>
                                      <p:cBhvr>
                                        <p:cTn id="192" dur="1" fill="hold">
                                          <p:stCondLst>
                                            <p:cond delay="0"/>
                                          </p:stCondLst>
                                        </p:cTn>
                                        <p:tgtEl>
                                          <p:spTgt spid="39"/>
                                        </p:tgtEl>
                                        <p:attrNameLst>
                                          <p:attrName>style.visibility</p:attrName>
                                        </p:attrNameLst>
                                      </p:cBhvr>
                                      <p:to>
                                        <p:strVal val="visible"/>
                                      </p:to>
                                    </p:set>
                                    <p:animEffect transition="in" filter="wipe(down)">
                                      <p:cBhvr>
                                        <p:cTn id="193" dur="500"/>
                                        <p:tgtEl>
                                          <p:spTgt spid="39"/>
                                        </p:tgtEl>
                                      </p:cBhvr>
                                    </p:animEffect>
                                  </p:childTnLst>
                                </p:cTn>
                              </p:par>
                              <p:par>
                                <p:cTn id="194" presetID="10" presetClass="entr" presetSubtype="0" fill="hold" nodeType="withEffect">
                                  <p:stCondLst>
                                    <p:cond delay="1360"/>
                                  </p:stCondLst>
                                  <p:childTnLst>
                                    <p:set>
                                      <p:cBhvr>
                                        <p:cTn id="195" dur="1" fill="hold">
                                          <p:stCondLst>
                                            <p:cond delay="0"/>
                                          </p:stCondLst>
                                        </p:cTn>
                                        <p:tgtEl>
                                          <p:spTgt spid="40"/>
                                        </p:tgtEl>
                                        <p:attrNameLst>
                                          <p:attrName>style.visibility</p:attrName>
                                        </p:attrNameLst>
                                      </p:cBhvr>
                                      <p:to>
                                        <p:strVal val="visible"/>
                                      </p:to>
                                    </p:set>
                                    <p:animEffect transition="in" filter="fade">
                                      <p:cBhvr>
                                        <p:cTn id="196" dur="450"/>
                                        <p:tgtEl>
                                          <p:spTgt spid="40"/>
                                        </p:tgtEl>
                                      </p:cBhvr>
                                    </p:animEffect>
                                  </p:childTnLst>
                                </p:cTn>
                              </p:par>
                              <p:par>
                                <p:cTn id="197" presetID="22" presetClass="entr" presetSubtype="4" fill="hold" nodeType="withEffect">
                                  <p:stCondLst>
                                    <p:cond delay="1430"/>
                                  </p:stCondLst>
                                  <p:childTnLst>
                                    <p:set>
                                      <p:cBhvr>
                                        <p:cTn id="198" dur="1" fill="hold">
                                          <p:stCondLst>
                                            <p:cond delay="0"/>
                                          </p:stCondLst>
                                        </p:cTn>
                                        <p:tgtEl>
                                          <p:spTgt spid="41"/>
                                        </p:tgtEl>
                                        <p:attrNameLst>
                                          <p:attrName>style.visibility</p:attrName>
                                        </p:attrNameLst>
                                      </p:cBhvr>
                                      <p:to>
                                        <p:strVal val="visible"/>
                                      </p:to>
                                    </p:set>
                                    <p:animEffect transition="in" filter="wipe(down)">
                                      <p:cBhvr>
                                        <p:cTn id="199" dur="500"/>
                                        <p:tgtEl>
                                          <p:spTgt spid="41"/>
                                        </p:tgtEl>
                                      </p:cBhvr>
                                    </p:animEffect>
                                  </p:childTnLst>
                                </p:cTn>
                              </p:par>
                              <p:par>
                                <p:cTn id="200" presetID="10" presetClass="entr" presetSubtype="0" fill="hold" nodeType="withEffect">
                                  <p:stCondLst>
                                    <p:cond delay="580"/>
                                  </p:stCondLst>
                                  <p:childTnLst>
                                    <p:set>
                                      <p:cBhvr>
                                        <p:cTn id="201" dur="1" fill="hold">
                                          <p:stCondLst>
                                            <p:cond delay="0"/>
                                          </p:stCondLst>
                                        </p:cTn>
                                        <p:tgtEl>
                                          <p:spTgt spid="42"/>
                                        </p:tgtEl>
                                        <p:attrNameLst>
                                          <p:attrName>style.visibility</p:attrName>
                                        </p:attrNameLst>
                                      </p:cBhvr>
                                      <p:to>
                                        <p:strVal val="visible"/>
                                      </p:to>
                                    </p:set>
                                    <p:animEffect transition="in" filter="fade">
                                      <p:cBhvr>
                                        <p:cTn id="202"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Conclusiones: la adquisición secuencial es viable; falta validar el MASW multicanal</a:t>
            </a:r>
            <a:endParaRPr lang="en-US" sz="2400" dirty="0"/>
          </a:p>
        </p:txBody>
      </p:sp>
      <p:sp>
        <p:nvSpPr>
          <p:cNvPr id="3" name="Conclusiones"/>
          <p:cNvSpPr txBox="1"/>
          <p:nvPr/>
        </p:nvSpPr>
        <p:spPr>
          <a:xfrm>
            <a:off x="457200" y="1188720"/>
            <a:ext cx="82296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Se diseñó una plataforma distribuida: nodos GEO, un excitador instrumentado (HAMMER) y un maestro inalámbrico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El AFE del SM-24 compensa su respuesta en bajas frecuencias y calibra el offset con un ajuste automático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En campo se obtuvo un registro espacio–tiempo de 21 posiciones con un receptor móvil</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Bajo 10 Hz la SNR aparente es de 0,5 a 2,1 dB: la banda baja sigue sin resolverse</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Falta cuantificar la sincronización efectiva, verificar la respuesta extremo a extremo y adquirir en simultáneo</a:t>
            </a:r>
            <a:endParaRPr lang="en-US" sz="1600" dirty="0"/>
          </a:p>
        </p:txBody>
      </p:sp>
      <p:sp>
        <p:nvSpPr>
          <p:cNvPr id="4"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5" name="Text 3"/>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verificó la adquisición; la caracterización geotécnica es la etapa siguiente.</a:t>
            </a:r>
            <a:endParaRPr lang="en-US" sz="14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resumen, sec. 4.10 y 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731520" y="1737360"/>
            <a:ext cx="7680960"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Preguntas</a:t>
            </a:r>
            <a:endParaRPr lang="en-US" sz="4400" dirty="0"/>
          </a:p>
        </p:txBody>
      </p:sp>
      <p:sp>
        <p:nvSpPr>
          <p:cNvPr id="3" name="Text 1"/>
          <p:cNvSpPr txBox="1"/>
          <p:nvPr/>
        </p:nvSpPr>
        <p:spPr>
          <a:xfrm>
            <a:off x="731520" y="2834640"/>
            <a:ext cx="7680960" cy="457200"/>
          </a:xfrm>
          <a:prstGeom prst="rect">
            <a:avLst/>
          </a:prstGeom>
          <a:noFill/>
          <a:ln/>
        </p:spPr>
        <p:txBody>
          <a:bodyPr wrap="square" lIns="0" tIns="0" rIns="0" bIns="0" rtlCol="0" anchor="t"/>
          <a:lstStyle/>
          <a:p>
            <a:pPr algn="ctr" indent="0" marL="0">
              <a:buNone/>
            </a:pPr>
            <a:r>
              <a:rPr lang="en-US" sz="1600" dirty="0">
                <a:solidFill>
                  <a:srgbClr val="CADCFC"/>
                </a:solidFill>
                <a:latin typeface="Arial" pitchFamily="34" charset="0"/>
                <a:ea typeface="Arial" pitchFamily="34" charset="-122"/>
                <a:cs typeface="Arial" pitchFamily="34" charset="-120"/>
              </a:rPr>
              <a:t>Elías David Álvarez · Tutor: Dr. Enrique A. Vargas Cabral</a:t>
            </a:r>
            <a:endParaRPr lang="en-US" sz="16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Referencias</a:t>
            </a:r>
            <a:endParaRPr lang="en-US" sz="2200" dirty="0"/>
          </a:p>
        </p:txBody>
      </p:sp>
      <p:sp>
        <p:nvSpPr>
          <p:cNvPr id="3" name="Obj [o93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Referencias (1 de 2)</a:t>
            </a:r>
            <a:endParaRPr lang="en-US" sz="1400" dirty="0"/>
          </a:p>
        </p:txBody>
      </p:sp>
      <p:sp>
        <p:nvSpPr>
          <p:cNvPr id="4" name="Obj [o939]"/>
          <p:cNvSpPr txBox="1"/>
          <p:nvPr/>
        </p:nvSpPr>
        <p:spPr>
          <a:xfrm>
            <a:off x="966136" y="1401198"/>
            <a:ext cx="7211728" cy="3044952"/>
          </a:xfrm>
          <a:prstGeom prst="rect">
            <a:avLst/>
          </a:prstGeom>
          <a:noFill/>
          <a:ln/>
        </p:spPr>
        <p:txBody>
          <a:bodyPr wrap="square" lIns="0" tIns="0" rIns="0" bIns="0" rtlCol="0" anchor="t"/>
          <a:lstStyle/>
          <a:p>
            <a:pPr indent="0" marL="0">
              <a:spcAft>
                <a:spcPts val="450"/>
              </a:spcAft>
              <a:buNone/>
            </a:pPr>
            <a:r>
              <a:rPr lang="en-US" sz="945" dirty="0">
                <a:solidFill>
                  <a:srgbClr val="2D2D2D"/>
                </a:solidFill>
                <a:latin typeface="Arial" pitchFamily="34" charset="0"/>
                <a:ea typeface="Arial" pitchFamily="34" charset="-122"/>
                <a:cs typeface="Arial" pitchFamily="34" charset="-120"/>
              </a:rPr>
              <a:t>Bangash, A. A., Khan, K. A. y Akhter, G. (2017). Spreadsheets for understanding seismic energy partitioning equations. Computer Applications in Engineering Education, 25(3), 441–448.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Espressif Systems (s. f.). ESP-NOW: ESP-IDF programming guide, ESP32. docs.espressif.com.</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Foti, S., Lai, C. G., Rix, G. J. y Strobbia, C. (2014). Surface Wave Methods for Near-Surface Site Characterization. CRC Press. doi:10.1201/b17268.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Foti, S. et al. (2018). Guidelines for the good practice of surface wave analysis: a product of the InterPACIFIC project. Bull. Earthquake Eng., 16(6), 2367–2420. doi:10.1007/s10518-017-0206-7.</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Infineon Technologies (2024). PSoC 5LP: CY8C58LP family datasheet. Doc. 001-84932, Rev. *O.</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Kafadar, O. (2020). A geophone-based and low-cost data acquisition and analysis system designed for microtremor measurements. Geosci. Instrum. Method. Data Syst., 9, 365–373.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Korsimaa, J., Weber, P., Häggström, E. y Salmi, A. (2025). Wireless trigger distribution with nanosecond jitter based on ultra-wideband. HardwareX, 24, e00713.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Kramer, S. L. (1996). Geotechnical Earthquake Engineering. Prentice Hall.</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Lin, S. y Ashlock, J. C. (2016). Surface-wave testing of soil sites using multichannel simulation with one-receiver. Soil Dyn. Earthquake Eng., 87, 82–92. doi:10.1016/j.soildyn.2016.04.013.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Llorens, C. D. et al. (2016). Development and programming of Geophonino. Computers &amp; Geosciences, 94, 1–10.</a:t>
            </a:r>
            <a:endParaRPr lang="en-US" sz="945" dirty="0"/>
          </a:p>
        </p:txBody>
      </p:sp>
      <p:sp>
        <p:nvSpPr>
          <p:cNvPr id="5" name="Obj [o94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Lista a completar y verificar contra los PDF: faltan por confirmar las fuentes marcadas “por confirmar” en las slides.</a:t>
            </a:r>
            <a:endParaRPr lang="en-US" sz="800" dirty="0"/>
          </a:p>
        </p:txBody>
      </p:sp>
      <p:sp>
        <p:nvSpPr>
          <p:cNvPr id="6" name="Obj [o94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Referencias (2 de 2)</a:t>
            </a:r>
            <a:endParaRPr lang="en-US" sz="1400" dirty="0"/>
          </a:p>
        </p:txBody>
      </p:sp>
      <p:sp>
        <p:nvSpPr>
          <p:cNvPr id="7" name="Obj [o942]"/>
          <p:cNvSpPr txBox="1"/>
          <p:nvPr/>
        </p:nvSpPr>
        <p:spPr>
          <a:xfrm>
            <a:off x="966136" y="1401198"/>
            <a:ext cx="7211728" cy="3044952"/>
          </a:xfrm>
          <a:prstGeom prst="rect">
            <a:avLst/>
          </a:prstGeom>
          <a:noFill/>
          <a:ln/>
        </p:spPr>
        <p:txBody>
          <a:bodyPr wrap="square" lIns="0" tIns="0" rIns="0" bIns="0" rtlCol="0" anchor="t"/>
          <a:lstStyle/>
          <a:p>
            <a:pPr indent="0" marL="0">
              <a:spcAft>
                <a:spcPts val="450"/>
              </a:spcAft>
              <a:buNone/>
            </a:pPr>
            <a:r>
              <a:rPr lang="en-US" sz="945" dirty="0">
                <a:solidFill>
                  <a:srgbClr val="2D2D2D"/>
                </a:solidFill>
                <a:latin typeface="Arial" pitchFamily="34" charset="0"/>
                <a:ea typeface="Arial" pitchFamily="34" charset="-122"/>
                <a:cs typeface="Arial" pitchFamily="34" charset="-120"/>
              </a:rPr>
              <a:t>Ma, K., Wu, J., Ma, Y., Xu, B., Qi, S. y Jiang, X. (2023). An effective method for improving low-frequency response of geophone. Sensors, 23(6), 3082. doi:10.3390/s23063082.</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Miller, R. D. y Xia, J. (1998). Imaging dispersion curves of surface waves on multi-channel record. SEG Expanded Abstracts, 1377–1380.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Miller, R. D. y Xia, J. (1999). Multichannel analysis of surface waves. Geophysics, 64(3), 800–808. doi:10.1190/1.1444590.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Richter, J., Rodrigues, R. y Cirone, A. (2018). MASW applications for road construction and maintenance. The Leading Edge, 37(10), 724–730.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PCB Piezotronics (2025). Model 086D20 ICP impact hammer: specification sheet, rev. J.</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Pérez-Solano, J. J., Felici-Castell, S., Soriano-Asensi, A. y Segura, J. (2022). Time synchronization enhancements in wireless networks with ultra wide band communications. Comput. Commun., 186, 80–89.</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Samtani, N. C. y Nowatzki, E. A. (2006). Soils and Foundations Reference Manual, vol. I. FHWA-NHI-06-088.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Sensor Nederland B.V. (2006). SM-24 Geophone Element. Product brochure.</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Tailscale Inc. (2026). What is Tailscale? Documentación técnica.</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Xue, B., Li, Z., Lei, P., Wang, Y. y Zou, X. (2021). Wicsync: a wireless multi-node clock synchronization solution based on optimized UWB. Measurement, 183, 109760.</a:t>
            </a:r>
            <a:endParaRPr lang="en-US" sz="945" dirty="0"/>
          </a:p>
        </p:txBody>
      </p:sp>
      <p:sp>
        <p:nvSpPr>
          <p:cNvPr id="8" name="Obj [o94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Faltan: Pazos et al. (2005), Hakimitoroghi et al. (2017), Zhang (2025), Álvarez, González y Vargas (URUCON), Texas Instruments (ΔΣ), Wood y Cox (2012), Comina et al. (2011), Socco y Strobbia (2004), Xia et al. (1999).</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grpId="0" fill="hold" nodeType="withEffect">
                                  <p:stCondLst>
                                    <p:cond delay="34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childTnLst>
                                </p:cTn>
                              </p:par>
                              <p:par>
                                <p:cTn id="11" presetID="10" presetClass="entr" presetSubtype="0" grpId="0" fill="hold" nodeType="withEffect">
                                  <p:stCondLst>
                                    <p:cond delay="47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450"/>
                                        <p:tgtEl>
                                          <p:spTgt spid="4">
                                            <p:txEl>
                                              <p:pRg st="1" end="1"/>
                                            </p:txEl>
                                          </p:spTgt>
                                        </p:tgtEl>
                                      </p:cBhvr>
                                    </p:animEffect>
                                  </p:childTnLst>
                                </p:cTn>
                              </p:par>
                              <p:par>
                                <p:cTn id="14" presetID="10" presetClass="entr" presetSubtype="0" grpId="0" fill="hold" nodeType="withEffect">
                                  <p:stCondLst>
                                    <p:cond delay="60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450"/>
                                        <p:tgtEl>
                                          <p:spTgt spid="4">
                                            <p:txEl>
                                              <p:pRg st="2" end="2"/>
                                            </p:txEl>
                                          </p:spTgt>
                                        </p:tgtEl>
                                      </p:cBhvr>
                                    </p:animEffect>
                                  </p:childTnLst>
                                </p:cTn>
                              </p:par>
                              <p:par>
                                <p:cTn id="17" presetID="10" presetClass="entr" presetSubtype="0" grpId="0" fill="hold" nodeType="withEffect">
                                  <p:stCondLst>
                                    <p:cond delay="73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450"/>
                                        <p:tgtEl>
                                          <p:spTgt spid="4">
                                            <p:txEl>
                                              <p:pRg st="3" end="3"/>
                                            </p:txEl>
                                          </p:spTgt>
                                        </p:tgtEl>
                                      </p:cBhvr>
                                    </p:animEffect>
                                  </p:childTnLst>
                                </p:cTn>
                              </p:par>
                              <p:par>
                                <p:cTn id="20" presetID="10" presetClass="entr" presetSubtype="0" grpId="0" fill="hold" nodeType="withEffect">
                                  <p:stCondLst>
                                    <p:cond delay="86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450"/>
                                        <p:tgtEl>
                                          <p:spTgt spid="4">
                                            <p:txEl>
                                              <p:pRg st="4" end="4"/>
                                            </p:txEl>
                                          </p:spTgt>
                                        </p:tgtEl>
                                      </p:cBhvr>
                                    </p:animEffect>
                                  </p:childTnLst>
                                </p:cTn>
                              </p:par>
                              <p:par>
                                <p:cTn id="23" presetID="10" presetClass="entr" presetSubtype="0" grpId="0" fill="hold" nodeType="withEffect">
                                  <p:stCondLst>
                                    <p:cond delay="99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450"/>
                                        <p:tgtEl>
                                          <p:spTgt spid="4">
                                            <p:txEl>
                                              <p:pRg st="5" end="5"/>
                                            </p:txEl>
                                          </p:spTgt>
                                        </p:tgtEl>
                                      </p:cBhvr>
                                    </p:animEffect>
                                  </p:childTnLst>
                                </p:cTn>
                              </p:par>
                              <p:par>
                                <p:cTn id="26" presetID="10" presetClass="entr" presetSubtype="0" grpId="0" fill="hold" nodeType="withEffect">
                                  <p:stCondLst>
                                    <p:cond delay="112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450"/>
                                        <p:tgtEl>
                                          <p:spTgt spid="4">
                                            <p:txEl>
                                              <p:pRg st="6" end="6"/>
                                            </p:txEl>
                                          </p:spTgt>
                                        </p:tgtEl>
                                      </p:cBhvr>
                                    </p:animEffect>
                                  </p:childTnLst>
                                </p:cTn>
                              </p:par>
                              <p:par>
                                <p:cTn id="29" presetID="10" presetClass="entr" presetSubtype="0" grpId="0" fill="hold" nodeType="withEffect">
                                  <p:stCondLst>
                                    <p:cond delay="1250"/>
                                  </p:stCondLst>
                                  <p:childTnLst>
                                    <p:set>
                                      <p:cBhvr>
                                        <p:cTn id="30" dur="1" fill="hold">
                                          <p:stCondLst>
                                            <p:cond delay="0"/>
                                          </p:stCondLst>
                                        </p:cTn>
                                        <p:tgtEl>
                                          <p:spTgt spid="4">
                                            <p:txEl>
                                              <p:pRg st="7" end="7"/>
                                            </p:txEl>
                                          </p:spTgt>
                                        </p:tgtEl>
                                        <p:attrNameLst>
                                          <p:attrName>style.visibility</p:attrName>
                                        </p:attrNameLst>
                                      </p:cBhvr>
                                      <p:to>
                                        <p:strVal val="visible"/>
                                      </p:to>
                                    </p:set>
                                    <p:animEffect transition="in" filter="fade">
                                      <p:cBhvr>
                                        <p:cTn id="31" dur="450"/>
                                        <p:tgtEl>
                                          <p:spTgt spid="4">
                                            <p:txEl>
                                              <p:pRg st="7" end="7"/>
                                            </p:txEl>
                                          </p:spTgt>
                                        </p:tgtEl>
                                      </p:cBhvr>
                                    </p:animEffect>
                                  </p:childTnLst>
                                </p:cTn>
                              </p:par>
                              <p:par>
                                <p:cTn id="32" presetID="10" presetClass="entr" presetSubtype="0" grpId="0" fill="hold" nodeType="withEffect">
                                  <p:stCondLst>
                                    <p:cond delay="138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450"/>
                                        <p:tgtEl>
                                          <p:spTgt spid="4">
                                            <p:txEl>
                                              <p:pRg st="8" end="8"/>
                                            </p:txEl>
                                          </p:spTgt>
                                        </p:tgtEl>
                                      </p:cBhvr>
                                    </p:animEffect>
                                  </p:childTnLst>
                                </p:cTn>
                              </p:par>
                              <p:par>
                                <p:cTn id="35" presetID="10" presetClass="entr" presetSubtype="0" grpId="0" fill="hold" nodeType="withEffect">
                                  <p:stCondLst>
                                    <p:cond delay="151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450"/>
                                        <p:tgtEl>
                                          <p:spTgt spid="4">
                                            <p:txEl>
                                              <p:pRg st="9" end="9"/>
                                            </p:txEl>
                                          </p:spTgt>
                                        </p:tgtEl>
                                      </p:cBhvr>
                                    </p:animEffect>
                                  </p:childTnLst>
                                </p:cTn>
                              </p:par>
                              <p:par>
                                <p:cTn id="38" presetID="10" presetClass="entr" presetSubtype="0" fill="hold" nodeType="withEffect">
                                  <p:stCondLst>
                                    <p:cond delay="40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45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350"/>
                                        <p:tgtEl>
                                          <p:spTgt spid="3"/>
                                        </p:tgtEl>
                                      </p:cBhvr>
                                    </p:animEffect>
                                    <p:set>
                                      <p:cBhvr>
                                        <p:cTn id="45" dur="1" fill="hold">
                                          <p:stCondLst>
                                            <p:cond delay="349"/>
                                          </p:stCondLst>
                                        </p:cTn>
                                        <p:tgtEl>
                                          <p:spTgt spid="3"/>
                                        </p:tgtEl>
                                        <p:attrNameLst>
                                          <p:attrName>style.visibility</p:attrName>
                                        </p:attrNameLst>
                                      </p:cBhvr>
                                      <p:to>
                                        <p:strVal val="hidden"/>
                                      </p:to>
                                    </p:set>
                                  </p:childTnLst>
                                </p:cTn>
                              </p:par>
                              <p:par>
                                <p:cTn id="46" presetID="10" presetClass="exit" presetSubtype="0" grpId="0" fill="hold" nodeType="withEffect">
                                  <p:stCondLst>
                                    <p:cond delay="0"/>
                                  </p:stCondLst>
                                  <p:childTnLst>
                                    <p:animEffect transition="out" filter="fade">
                                      <p:cBhvr>
                                        <p:cTn id="47" dur="350"/>
                                        <p:tgtEl>
                                          <p:spTgt spid="4">
                                            <p:txEl>
                                              <p:pRg st="0" end="0"/>
                                            </p:txEl>
                                          </p:spTgt>
                                        </p:tgtEl>
                                      </p:cBhvr>
                                    </p:animEffect>
                                    <p:set>
                                      <p:cBhvr>
                                        <p:cTn id="48" dur="1" fill="hold">
                                          <p:stCondLst>
                                            <p:cond delay="349"/>
                                          </p:stCondLst>
                                        </p:cTn>
                                        <p:tgtEl>
                                          <p:spTgt spid="4">
                                            <p:txEl>
                                              <p:pRg st="0" end="0"/>
                                            </p:txEl>
                                          </p:spTgt>
                                        </p:tgtEl>
                                        <p:attrNameLst>
                                          <p:attrName>style.visibility</p:attrName>
                                        </p:attrNameLst>
                                      </p:cBhvr>
                                      <p:to>
                                        <p:strVal val="hidden"/>
                                      </p:to>
                                    </p:set>
                                  </p:childTnLst>
                                </p:cTn>
                              </p:par>
                              <p:par>
                                <p:cTn id="49" presetID="10" presetClass="exit" presetSubtype="0" grpId="0" fill="hold" nodeType="withEffect">
                                  <p:stCondLst>
                                    <p:cond delay="0"/>
                                  </p:stCondLst>
                                  <p:childTnLst>
                                    <p:animEffect transition="out" filter="fade">
                                      <p:cBhvr>
                                        <p:cTn id="50" dur="350"/>
                                        <p:tgtEl>
                                          <p:spTgt spid="4">
                                            <p:txEl>
                                              <p:pRg st="1" end="1"/>
                                            </p:txEl>
                                          </p:spTgt>
                                        </p:tgtEl>
                                      </p:cBhvr>
                                    </p:animEffect>
                                    <p:set>
                                      <p:cBhvr>
                                        <p:cTn id="51" dur="1" fill="hold">
                                          <p:stCondLst>
                                            <p:cond delay="349"/>
                                          </p:stCondLst>
                                        </p:cTn>
                                        <p:tgtEl>
                                          <p:spTgt spid="4">
                                            <p:txEl>
                                              <p:pRg st="1" end="1"/>
                                            </p:txEl>
                                          </p:spTgt>
                                        </p:tgtEl>
                                        <p:attrNameLst>
                                          <p:attrName>style.visibility</p:attrName>
                                        </p:attrNameLst>
                                      </p:cBhvr>
                                      <p:to>
                                        <p:strVal val="hidden"/>
                                      </p:to>
                                    </p:set>
                                  </p:childTnLst>
                                </p:cTn>
                              </p:par>
                              <p:par>
                                <p:cTn id="52" presetID="10" presetClass="exit" presetSubtype="0" grpId="0" fill="hold" nodeType="withEffect">
                                  <p:stCondLst>
                                    <p:cond delay="0"/>
                                  </p:stCondLst>
                                  <p:childTnLst>
                                    <p:animEffect transition="out" filter="fade">
                                      <p:cBhvr>
                                        <p:cTn id="53" dur="350"/>
                                        <p:tgtEl>
                                          <p:spTgt spid="4">
                                            <p:txEl>
                                              <p:pRg st="2" end="2"/>
                                            </p:txEl>
                                          </p:spTgt>
                                        </p:tgtEl>
                                      </p:cBhvr>
                                    </p:animEffect>
                                    <p:set>
                                      <p:cBhvr>
                                        <p:cTn id="54" dur="1" fill="hold">
                                          <p:stCondLst>
                                            <p:cond delay="349"/>
                                          </p:stCondLst>
                                        </p:cTn>
                                        <p:tgtEl>
                                          <p:spTgt spid="4">
                                            <p:txEl>
                                              <p:pRg st="2" end="2"/>
                                            </p:txEl>
                                          </p:spTgt>
                                        </p:tgtEl>
                                        <p:attrNameLst>
                                          <p:attrName>style.visibility</p:attrName>
                                        </p:attrNameLst>
                                      </p:cBhvr>
                                      <p:to>
                                        <p:strVal val="hidden"/>
                                      </p:to>
                                    </p:set>
                                  </p:childTnLst>
                                </p:cTn>
                              </p:par>
                              <p:par>
                                <p:cTn id="55" presetID="10" presetClass="exit" presetSubtype="0" grpId="0" fill="hold" nodeType="withEffect">
                                  <p:stCondLst>
                                    <p:cond delay="0"/>
                                  </p:stCondLst>
                                  <p:childTnLst>
                                    <p:animEffect transition="out" filter="fade">
                                      <p:cBhvr>
                                        <p:cTn id="56" dur="350"/>
                                        <p:tgtEl>
                                          <p:spTgt spid="4">
                                            <p:txEl>
                                              <p:pRg st="3" end="3"/>
                                            </p:txEl>
                                          </p:spTgt>
                                        </p:tgtEl>
                                      </p:cBhvr>
                                    </p:animEffect>
                                    <p:set>
                                      <p:cBhvr>
                                        <p:cTn id="57" dur="1" fill="hold">
                                          <p:stCondLst>
                                            <p:cond delay="349"/>
                                          </p:stCondLst>
                                        </p:cTn>
                                        <p:tgtEl>
                                          <p:spTgt spid="4">
                                            <p:txEl>
                                              <p:pRg st="3" end="3"/>
                                            </p:txEl>
                                          </p:spTgt>
                                        </p:tgtEl>
                                        <p:attrNameLst>
                                          <p:attrName>style.visibility</p:attrName>
                                        </p:attrNameLst>
                                      </p:cBhvr>
                                      <p:to>
                                        <p:strVal val="hidden"/>
                                      </p:to>
                                    </p:set>
                                  </p:childTnLst>
                                </p:cTn>
                              </p:par>
                              <p:par>
                                <p:cTn id="58" presetID="10" presetClass="exit" presetSubtype="0" grpId="0" fill="hold" nodeType="withEffect">
                                  <p:stCondLst>
                                    <p:cond delay="0"/>
                                  </p:stCondLst>
                                  <p:childTnLst>
                                    <p:animEffect transition="out" filter="fade">
                                      <p:cBhvr>
                                        <p:cTn id="59" dur="350"/>
                                        <p:tgtEl>
                                          <p:spTgt spid="4">
                                            <p:txEl>
                                              <p:pRg st="4" end="4"/>
                                            </p:txEl>
                                          </p:spTgt>
                                        </p:tgtEl>
                                      </p:cBhvr>
                                    </p:animEffect>
                                    <p:set>
                                      <p:cBhvr>
                                        <p:cTn id="60" dur="1" fill="hold">
                                          <p:stCondLst>
                                            <p:cond delay="349"/>
                                          </p:stCondLst>
                                        </p:cTn>
                                        <p:tgtEl>
                                          <p:spTgt spid="4">
                                            <p:txEl>
                                              <p:pRg st="4" end="4"/>
                                            </p:txEl>
                                          </p:spTgt>
                                        </p:tgtEl>
                                        <p:attrNameLst>
                                          <p:attrName>style.visibility</p:attrName>
                                        </p:attrNameLst>
                                      </p:cBhvr>
                                      <p:to>
                                        <p:strVal val="hidden"/>
                                      </p:to>
                                    </p:set>
                                  </p:childTnLst>
                                </p:cTn>
                              </p:par>
                              <p:par>
                                <p:cTn id="61" presetID="10" presetClass="exit" presetSubtype="0" grpId="0" fill="hold" nodeType="withEffect">
                                  <p:stCondLst>
                                    <p:cond delay="0"/>
                                  </p:stCondLst>
                                  <p:childTnLst>
                                    <p:animEffect transition="out" filter="fade">
                                      <p:cBhvr>
                                        <p:cTn id="62" dur="350"/>
                                        <p:tgtEl>
                                          <p:spTgt spid="4">
                                            <p:txEl>
                                              <p:pRg st="5" end="5"/>
                                            </p:txEl>
                                          </p:spTgt>
                                        </p:tgtEl>
                                      </p:cBhvr>
                                    </p:animEffect>
                                    <p:set>
                                      <p:cBhvr>
                                        <p:cTn id="63" dur="1" fill="hold">
                                          <p:stCondLst>
                                            <p:cond delay="349"/>
                                          </p:stCondLst>
                                        </p:cTn>
                                        <p:tgtEl>
                                          <p:spTgt spid="4">
                                            <p:txEl>
                                              <p:pRg st="5" end="5"/>
                                            </p:txEl>
                                          </p:spTgt>
                                        </p:tgtEl>
                                        <p:attrNameLst>
                                          <p:attrName>style.visibility</p:attrName>
                                        </p:attrNameLst>
                                      </p:cBhvr>
                                      <p:to>
                                        <p:strVal val="hidden"/>
                                      </p:to>
                                    </p:set>
                                  </p:childTnLst>
                                </p:cTn>
                              </p:par>
                              <p:par>
                                <p:cTn id="64" presetID="10" presetClass="exit" presetSubtype="0" grpId="0" fill="hold" nodeType="withEffect">
                                  <p:stCondLst>
                                    <p:cond delay="0"/>
                                  </p:stCondLst>
                                  <p:childTnLst>
                                    <p:animEffect transition="out" filter="fade">
                                      <p:cBhvr>
                                        <p:cTn id="65" dur="350"/>
                                        <p:tgtEl>
                                          <p:spTgt spid="4">
                                            <p:txEl>
                                              <p:pRg st="6" end="6"/>
                                            </p:txEl>
                                          </p:spTgt>
                                        </p:tgtEl>
                                      </p:cBhvr>
                                    </p:animEffect>
                                    <p:set>
                                      <p:cBhvr>
                                        <p:cTn id="66" dur="1" fill="hold">
                                          <p:stCondLst>
                                            <p:cond delay="349"/>
                                          </p:stCondLst>
                                        </p:cTn>
                                        <p:tgtEl>
                                          <p:spTgt spid="4">
                                            <p:txEl>
                                              <p:pRg st="6" end="6"/>
                                            </p:txEl>
                                          </p:spTgt>
                                        </p:tgtEl>
                                        <p:attrNameLst>
                                          <p:attrName>style.visibility</p:attrName>
                                        </p:attrNameLst>
                                      </p:cBhvr>
                                      <p:to>
                                        <p:strVal val="hidden"/>
                                      </p:to>
                                    </p:set>
                                  </p:childTnLst>
                                </p:cTn>
                              </p:par>
                              <p:par>
                                <p:cTn id="67" presetID="10" presetClass="exit" presetSubtype="0" grpId="0" fill="hold" nodeType="withEffect">
                                  <p:stCondLst>
                                    <p:cond delay="0"/>
                                  </p:stCondLst>
                                  <p:childTnLst>
                                    <p:animEffect transition="out" filter="fade">
                                      <p:cBhvr>
                                        <p:cTn id="68" dur="350"/>
                                        <p:tgtEl>
                                          <p:spTgt spid="4">
                                            <p:txEl>
                                              <p:pRg st="7" end="7"/>
                                            </p:txEl>
                                          </p:spTgt>
                                        </p:tgtEl>
                                      </p:cBhvr>
                                    </p:animEffect>
                                    <p:set>
                                      <p:cBhvr>
                                        <p:cTn id="69" dur="1" fill="hold">
                                          <p:stCondLst>
                                            <p:cond delay="349"/>
                                          </p:stCondLst>
                                        </p:cTn>
                                        <p:tgtEl>
                                          <p:spTgt spid="4">
                                            <p:txEl>
                                              <p:pRg st="7" end="7"/>
                                            </p:txEl>
                                          </p:spTgt>
                                        </p:tgtEl>
                                        <p:attrNameLst>
                                          <p:attrName>style.visibility</p:attrName>
                                        </p:attrNameLst>
                                      </p:cBhvr>
                                      <p:to>
                                        <p:strVal val="hidden"/>
                                      </p:to>
                                    </p:set>
                                  </p:childTnLst>
                                </p:cTn>
                              </p:par>
                              <p:par>
                                <p:cTn id="70" presetID="10" presetClass="exit" presetSubtype="0" grpId="0" fill="hold" nodeType="withEffect">
                                  <p:stCondLst>
                                    <p:cond delay="0"/>
                                  </p:stCondLst>
                                  <p:childTnLst>
                                    <p:animEffect transition="out" filter="fade">
                                      <p:cBhvr>
                                        <p:cTn id="71" dur="350"/>
                                        <p:tgtEl>
                                          <p:spTgt spid="4">
                                            <p:txEl>
                                              <p:pRg st="8" end="8"/>
                                            </p:txEl>
                                          </p:spTgt>
                                        </p:tgtEl>
                                      </p:cBhvr>
                                    </p:animEffect>
                                    <p:set>
                                      <p:cBhvr>
                                        <p:cTn id="72" dur="1" fill="hold">
                                          <p:stCondLst>
                                            <p:cond delay="349"/>
                                          </p:stCondLst>
                                        </p:cTn>
                                        <p:tgtEl>
                                          <p:spTgt spid="4">
                                            <p:txEl>
                                              <p:pRg st="8" end="8"/>
                                            </p:txEl>
                                          </p:spTgt>
                                        </p:tgtEl>
                                        <p:attrNameLst>
                                          <p:attrName>style.visibility</p:attrName>
                                        </p:attrNameLst>
                                      </p:cBhvr>
                                      <p:to>
                                        <p:strVal val="hidden"/>
                                      </p:to>
                                    </p:set>
                                  </p:childTnLst>
                                </p:cTn>
                              </p:par>
                              <p:par>
                                <p:cTn id="73" presetID="10" presetClass="exit" presetSubtype="0" grpId="0" fill="hold" nodeType="withEffect">
                                  <p:stCondLst>
                                    <p:cond delay="0"/>
                                  </p:stCondLst>
                                  <p:childTnLst>
                                    <p:animEffect transition="out" filter="fade">
                                      <p:cBhvr>
                                        <p:cTn id="74" dur="350"/>
                                        <p:tgtEl>
                                          <p:spTgt spid="4">
                                            <p:txEl>
                                              <p:pRg st="9" end="9"/>
                                            </p:txEl>
                                          </p:spTgt>
                                        </p:tgtEl>
                                      </p:cBhvr>
                                    </p:animEffect>
                                    <p:set>
                                      <p:cBhvr>
                                        <p:cTn id="75" dur="1" fill="hold">
                                          <p:stCondLst>
                                            <p:cond delay="349"/>
                                          </p:stCondLst>
                                        </p:cTn>
                                        <p:tgtEl>
                                          <p:spTgt spid="4">
                                            <p:txEl>
                                              <p:pRg st="9" end="9"/>
                                            </p:txEl>
                                          </p:spTgt>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350"/>
                                        <p:tgtEl>
                                          <p:spTgt spid="5"/>
                                        </p:tgtEl>
                                      </p:cBhvr>
                                    </p:animEffect>
                                    <p:set>
                                      <p:cBhvr>
                                        <p:cTn id="78" dur="1" fill="hold">
                                          <p:stCondLst>
                                            <p:cond delay="349"/>
                                          </p:stCondLst>
                                        </p:cTn>
                                        <p:tgtEl>
                                          <p:spTgt spid="5"/>
                                        </p:tgtEl>
                                        <p:attrNameLst>
                                          <p:attrName>style.visibility</p:attrName>
                                        </p:attrNameLst>
                                      </p:cBhvr>
                                      <p:to>
                                        <p:strVal val="hidden"/>
                                      </p:to>
                                    </p:set>
                                  </p:childTnLst>
                                </p:cTn>
                              </p:par>
                              <p:par>
                                <p:cTn id="79" presetID="10" presetClass="entr" presetSubtype="0" fill="hold" nodeType="withEffect">
                                  <p:stCondLst>
                                    <p:cond delay="450"/>
                                  </p:stCondLst>
                                  <p:childTnLst>
                                    <p:set>
                                      <p:cBhvr>
                                        <p:cTn id="80" dur="1" fill="hold">
                                          <p:stCondLst>
                                            <p:cond delay="0"/>
                                          </p:stCondLst>
                                        </p:cTn>
                                        <p:tgtEl>
                                          <p:spTgt spid="6"/>
                                        </p:tgtEl>
                                        <p:attrNameLst>
                                          <p:attrName>style.visibility</p:attrName>
                                        </p:attrNameLst>
                                      </p:cBhvr>
                                      <p:to>
                                        <p:strVal val="visible"/>
                                      </p:to>
                                    </p:set>
                                    <p:animEffect transition="in" filter="fade">
                                      <p:cBhvr>
                                        <p:cTn id="81" dur="450"/>
                                        <p:tgtEl>
                                          <p:spTgt spid="6"/>
                                        </p:tgtEl>
                                      </p:cBhvr>
                                    </p:animEffect>
                                  </p:childTnLst>
                                </p:cTn>
                              </p:par>
                              <p:par>
                                <p:cTn id="82" presetID="10" presetClass="entr" presetSubtype="0" grpId="0" fill="hold" nodeType="withEffect">
                                  <p:stCondLst>
                                    <p:cond delay="520"/>
                                  </p:stCondLst>
                                  <p:childTnLst>
                                    <p:set>
                                      <p:cBhvr>
                                        <p:cTn id="83" dur="1" fill="hold">
                                          <p:stCondLst>
                                            <p:cond delay="0"/>
                                          </p:stCondLst>
                                        </p:cTn>
                                        <p:tgtEl>
                                          <p:spTgt spid="7">
                                            <p:txEl>
                                              <p:pRg st="0" end="0"/>
                                            </p:txEl>
                                          </p:spTgt>
                                        </p:tgtEl>
                                        <p:attrNameLst>
                                          <p:attrName>style.visibility</p:attrName>
                                        </p:attrNameLst>
                                      </p:cBhvr>
                                      <p:to>
                                        <p:strVal val="visible"/>
                                      </p:to>
                                    </p:set>
                                    <p:animEffect transition="in" filter="fade">
                                      <p:cBhvr>
                                        <p:cTn id="84" dur="450"/>
                                        <p:tgtEl>
                                          <p:spTgt spid="7">
                                            <p:txEl>
                                              <p:pRg st="0" end="0"/>
                                            </p:txEl>
                                          </p:spTgt>
                                        </p:tgtEl>
                                      </p:cBhvr>
                                    </p:animEffect>
                                  </p:childTnLst>
                                </p:cTn>
                              </p:par>
                              <p:par>
                                <p:cTn id="85" presetID="10" presetClass="entr" presetSubtype="0" grpId="0" fill="hold" nodeType="withEffect">
                                  <p:stCondLst>
                                    <p:cond delay="650"/>
                                  </p:stCondLst>
                                  <p:childTnLst>
                                    <p:set>
                                      <p:cBhvr>
                                        <p:cTn id="86" dur="1" fill="hold">
                                          <p:stCondLst>
                                            <p:cond delay="0"/>
                                          </p:stCondLst>
                                        </p:cTn>
                                        <p:tgtEl>
                                          <p:spTgt spid="7">
                                            <p:txEl>
                                              <p:pRg st="1" end="1"/>
                                            </p:txEl>
                                          </p:spTgt>
                                        </p:tgtEl>
                                        <p:attrNameLst>
                                          <p:attrName>style.visibility</p:attrName>
                                        </p:attrNameLst>
                                      </p:cBhvr>
                                      <p:to>
                                        <p:strVal val="visible"/>
                                      </p:to>
                                    </p:set>
                                    <p:animEffect transition="in" filter="fade">
                                      <p:cBhvr>
                                        <p:cTn id="87" dur="450"/>
                                        <p:tgtEl>
                                          <p:spTgt spid="7">
                                            <p:txEl>
                                              <p:pRg st="1" end="1"/>
                                            </p:txEl>
                                          </p:spTgt>
                                        </p:tgtEl>
                                      </p:cBhvr>
                                    </p:animEffect>
                                  </p:childTnLst>
                                </p:cTn>
                              </p:par>
                              <p:par>
                                <p:cTn id="88" presetID="10" presetClass="entr" presetSubtype="0" grpId="0" fill="hold" nodeType="withEffect">
                                  <p:stCondLst>
                                    <p:cond delay="780"/>
                                  </p:stCondLst>
                                  <p:childTnLst>
                                    <p:set>
                                      <p:cBhvr>
                                        <p:cTn id="89" dur="1" fill="hold">
                                          <p:stCondLst>
                                            <p:cond delay="0"/>
                                          </p:stCondLst>
                                        </p:cTn>
                                        <p:tgtEl>
                                          <p:spTgt spid="7">
                                            <p:txEl>
                                              <p:pRg st="2" end="2"/>
                                            </p:txEl>
                                          </p:spTgt>
                                        </p:tgtEl>
                                        <p:attrNameLst>
                                          <p:attrName>style.visibility</p:attrName>
                                        </p:attrNameLst>
                                      </p:cBhvr>
                                      <p:to>
                                        <p:strVal val="visible"/>
                                      </p:to>
                                    </p:set>
                                    <p:animEffect transition="in" filter="fade">
                                      <p:cBhvr>
                                        <p:cTn id="90" dur="450"/>
                                        <p:tgtEl>
                                          <p:spTgt spid="7">
                                            <p:txEl>
                                              <p:pRg st="2" end="2"/>
                                            </p:txEl>
                                          </p:spTgt>
                                        </p:tgtEl>
                                      </p:cBhvr>
                                    </p:animEffect>
                                  </p:childTnLst>
                                </p:cTn>
                              </p:par>
                              <p:par>
                                <p:cTn id="91" presetID="10" presetClass="entr" presetSubtype="0" grpId="0" fill="hold" nodeType="withEffect">
                                  <p:stCondLst>
                                    <p:cond delay="910"/>
                                  </p:stCondLst>
                                  <p:childTnLst>
                                    <p:set>
                                      <p:cBhvr>
                                        <p:cTn id="92" dur="1" fill="hold">
                                          <p:stCondLst>
                                            <p:cond delay="0"/>
                                          </p:stCondLst>
                                        </p:cTn>
                                        <p:tgtEl>
                                          <p:spTgt spid="7">
                                            <p:txEl>
                                              <p:pRg st="3" end="3"/>
                                            </p:txEl>
                                          </p:spTgt>
                                        </p:tgtEl>
                                        <p:attrNameLst>
                                          <p:attrName>style.visibility</p:attrName>
                                        </p:attrNameLst>
                                      </p:cBhvr>
                                      <p:to>
                                        <p:strVal val="visible"/>
                                      </p:to>
                                    </p:set>
                                    <p:animEffect transition="in" filter="fade">
                                      <p:cBhvr>
                                        <p:cTn id="93" dur="450"/>
                                        <p:tgtEl>
                                          <p:spTgt spid="7">
                                            <p:txEl>
                                              <p:pRg st="3" end="3"/>
                                            </p:txEl>
                                          </p:spTgt>
                                        </p:tgtEl>
                                      </p:cBhvr>
                                    </p:animEffect>
                                  </p:childTnLst>
                                </p:cTn>
                              </p:par>
                              <p:par>
                                <p:cTn id="94" presetID="10" presetClass="entr" presetSubtype="0" grpId="0" fill="hold" nodeType="withEffect">
                                  <p:stCondLst>
                                    <p:cond delay="1040"/>
                                  </p:stCondLst>
                                  <p:childTnLst>
                                    <p:set>
                                      <p:cBhvr>
                                        <p:cTn id="95" dur="1" fill="hold">
                                          <p:stCondLst>
                                            <p:cond delay="0"/>
                                          </p:stCondLst>
                                        </p:cTn>
                                        <p:tgtEl>
                                          <p:spTgt spid="7">
                                            <p:txEl>
                                              <p:pRg st="4" end="4"/>
                                            </p:txEl>
                                          </p:spTgt>
                                        </p:tgtEl>
                                        <p:attrNameLst>
                                          <p:attrName>style.visibility</p:attrName>
                                        </p:attrNameLst>
                                      </p:cBhvr>
                                      <p:to>
                                        <p:strVal val="visible"/>
                                      </p:to>
                                    </p:set>
                                    <p:animEffect transition="in" filter="fade">
                                      <p:cBhvr>
                                        <p:cTn id="96" dur="450"/>
                                        <p:tgtEl>
                                          <p:spTgt spid="7">
                                            <p:txEl>
                                              <p:pRg st="4" end="4"/>
                                            </p:txEl>
                                          </p:spTgt>
                                        </p:tgtEl>
                                      </p:cBhvr>
                                    </p:animEffect>
                                  </p:childTnLst>
                                </p:cTn>
                              </p:par>
                              <p:par>
                                <p:cTn id="97" presetID="10" presetClass="entr" presetSubtype="0" grpId="0" fill="hold" nodeType="withEffect">
                                  <p:stCondLst>
                                    <p:cond delay="1170"/>
                                  </p:stCondLst>
                                  <p:childTnLst>
                                    <p:set>
                                      <p:cBhvr>
                                        <p:cTn id="98" dur="1" fill="hold">
                                          <p:stCondLst>
                                            <p:cond delay="0"/>
                                          </p:stCondLst>
                                        </p:cTn>
                                        <p:tgtEl>
                                          <p:spTgt spid="7">
                                            <p:txEl>
                                              <p:pRg st="5" end="5"/>
                                            </p:txEl>
                                          </p:spTgt>
                                        </p:tgtEl>
                                        <p:attrNameLst>
                                          <p:attrName>style.visibility</p:attrName>
                                        </p:attrNameLst>
                                      </p:cBhvr>
                                      <p:to>
                                        <p:strVal val="visible"/>
                                      </p:to>
                                    </p:set>
                                    <p:animEffect transition="in" filter="fade">
                                      <p:cBhvr>
                                        <p:cTn id="99" dur="450"/>
                                        <p:tgtEl>
                                          <p:spTgt spid="7">
                                            <p:txEl>
                                              <p:pRg st="5" end="5"/>
                                            </p:txEl>
                                          </p:spTgt>
                                        </p:tgtEl>
                                      </p:cBhvr>
                                    </p:animEffect>
                                  </p:childTnLst>
                                </p:cTn>
                              </p:par>
                              <p:par>
                                <p:cTn id="100" presetID="10" presetClass="entr" presetSubtype="0" grpId="0" fill="hold" nodeType="withEffect">
                                  <p:stCondLst>
                                    <p:cond delay="1300"/>
                                  </p:stCondLst>
                                  <p:childTnLst>
                                    <p:set>
                                      <p:cBhvr>
                                        <p:cTn id="101" dur="1" fill="hold">
                                          <p:stCondLst>
                                            <p:cond delay="0"/>
                                          </p:stCondLst>
                                        </p:cTn>
                                        <p:tgtEl>
                                          <p:spTgt spid="7">
                                            <p:txEl>
                                              <p:pRg st="6" end="6"/>
                                            </p:txEl>
                                          </p:spTgt>
                                        </p:tgtEl>
                                        <p:attrNameLst>
                                          <p:attrName>style.visibility</p:attrName>
                                        </p:attrNameLst>
                                      </p:cBhvr>
                                      <p:to>
                                        <p:strVal val="visible"/>
                                      </p:to>
                                    </p:set>
                                    <p:animEffect transition="in" filter="fade">
                                      <p:cBhvr>
                                        <p:cTn id="102" dur="450"/>
                                        <p:tgtEl>
                                          <p:spTgt spid="7">
                                            <p:txEl>
                                              <p:pRg st="6" end="6"/>
                                            </p:txEl>
                                          </p:spTgt>
                                        </p:tgtEl>
                                      </p:cBhvr>
                                    </p:animEffect>
                                  </p:childTnLst>
                                </p:cTn>
                              </p:par>
                              <p:par>
                                <p:cTn id="103" presetID="10" presetClass="entr" presetSubtype="0" grpId="0" fill="hold" nodeType="withEffect">
                                  <p:stCondLst>
                                    <p:cond delay="1430"/>
                                  </p:stCondLst>
                                  <p:childTnLst>
                                    <p:set>
                                      <p:cBhvr>
                                        <p:cTn id="104" dur="1" fill="hold">
                                          <p:stCondLst>
                                            <p:cond delay="0"/>
                                          </p:stCondLst>
                                        </p:cTn>
                                        <p:tgtEl>
                                          <p:spTgt spid="7">
                                            <p:txEl>
                                              <p:pRg st="7" end="7"/>
                                            </p:txEl>
                                          </p:spTgt>
                                        </p:tgtEl>
                                        <p:attrNameLst>
                                          <p:attrName>style.visibility</p:attrName>
                                        </p:attrNameLst>
                                      </p:cBhvr>
                                      <p:to>
                                        <p:strVal val="visible"/>
                                      </p:to>
                                    </p:set>
                                    <p:animEffect transition="in" filter="fade">
                                      <p:cBhvr>
                                        <p:cTn id="105" dur="450"/>
                                        <p:tgtEl>
                                          <p:spTgt spid="7">
                                            <p:txEl>
                                              <p:pRg st="7" end="7"/>
                                            </p:txEl>
                                          </p:spTgt>
                                        </p:tgtEl>
                                      </p:cBhvr>
                                    </p:animEffect>
                                  </p:childTnLst>
                                </p:cTn>
                              </p:par>
                              <p:par>
                                <p:cTn id="106" presetID="10" presetClass="entr" presetSubtype="0" grpId="0" fill="hold" nodeType="withEffect">
                                  <p:stCondLst>
                                    <p:cond delay="1560"/>
                                  </p:stCondLst>
                                  <p:childTnLst>
                                    <p:set>
                                      <p:cBhvr>
                                        <p:cTn id="107" dur="1" fill="hold">
                                          <p:stCondLst>
                                            <p:cond delay="0"/>
                                          </p:stCondLst>
                                        </p:cTn>
                                        <p:tgtEl>
                                          <p:spTgt spid="7">
                                            <p:txEl>
                                              <p:pRg st="8" end="8"/>
                                            </p:txEl>
                                          </p:spTgt>
                                        </p:tgtEl>
                                        <p:attrNameLst>
                                          <p:attrName>style.visibility</p:attrName>
                                        </p:attrNameLst>
                                      </p:cBhvr>
                                      <p:to>
                                        <p:strVal val="visible"/>
                                      </p:to>
                                    </p:set>
                                    <p:animEffect transition="in" filter="fade">
                                      <p:cBhvr>
                                        <p:cTn id="108" dur="450"/>
                                        <p:tgtEl>
                                          <p:spTgt spid="7">
                                            <p:txEl>
                                              <p:pRg st="8" end="8"/>
                                            </p:txEl>
                                          </p:spTgt>
                                        </p:tgtEl>
                                      </p:cBhvr>
                                    </p:animEffect>
                                  </p:childTnLst>
                                </p:cTn>
                              </p:par>
                              <p:par>
                                <p:cTn id="109" presetID="10" presetClass="entr" presetSubtype="0" grpId="0" fill="hold" nodeType="withEffect">
                                  <p:stCondLst>
                                    <p:cond delay="1690"/>
                                  </p:stCondLst>
                                  <p:childTnLst>
                                    <p:set>
                                      <p:cBhvr>
                                        <p:cTn id="110" dur="1" fill="hold">
                                          <p:stCondLst>
                                            <p:cond delay="0"/>
                                          </p:stCondLst>
                                        </p:cTn>
                                        <p:tgtEl>
                                          <p:spTgt spid="7">
                                            <p:txEl>
                                              <p:pRg st="9" end="9"/>
                                            </p:txEl>
                                          </p:spTgt>
                                        </p:tgtEl>
                                        <p:attrNameLst>
                                          <p:attrName>style.visibility</p:attrName>
                                        </p:attrNameLst>
                                      </p:cBhvr>
                                      <p:to>
                                        <p:strVal val="visible"/>
                                      </p:to>
                                    </p:set>
                                    <p:animEffect transition="in" filter="fade">
                                      <p:cBhvr>
                                        <p:cTn id="111" dur="450"/>
                                        <p:tgtEl>
                                          <p:spTgt spid="7">
                                            <p:txEl>
                                              <p:pRg st="9" end="9"/>
                                            </p:txEl>
                                          </p:spTgt>
                                        </p:tgtEl>
                                      </p:cBhvr>
                                    </p:animEffect>
                                  </p:childTnLst>
                                </p:cTn>
                              </p:par>
                              <p:par>
                                <p:cTn id="112" presetID="10" presetClass="entr" presetSubtype="0" fill="hold" nodeType="withEffect">
                                  <p:stCondLst>
                                    <p:cond delay="580"/>
                                  </p:stCondLst>
                                  <p:childTnLst>
                                    <p:set>
                                      <p:cBhvr>
                                        <p:cTn id="113" dur="1" fill="hold">
                                          <p:stCondLst>
                                            <p:cond delay="0"/>
                                          </p:stCondLst>
                                        </p:cTn>
                                        <p:tgtEl>
                                          <p:spTgt spid="8"/>
                                        </p:tgtEl>
                                        <p:attrNameLst>
                                          <p:attrName>style.visibility</p:attrName>
                                        </p:attrNameLst>
                                      </p:cBhvr>
                                      <p:to>
                                        <p:strVal val="visible"/>
                                      </p:to>
                                    </p:set>
                                    <p:animEffect transition="in" filter="fade">
                                      <p:cBhvr>
                                        <p:cTn id="114"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 (comprimida)</dc:title>
  <dc:subject>PptxGenJS Presentation</dc:subject>
  <dc:creator>Elías David Álvarez Martínez</dc:creator>
  <cp:lastModifiedBy>Elías David Álvarez Martínez</cp:lastModifiedBy>
  <cp:revision>1</cp:revision>
  <dcterms:created xsi:type="dcterms:W3CDTF">2026-10-13T07:42:13Z</dcterms:created>
  <dcterms:modified xsi:type="dcterms:W3CDTF">2026-10-13T07:42:13Z</dcterms:modified>
</cp:coreProperties>
</file>