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62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62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62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26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60" b="0" i="0" u="none" strike="noStrike">
                    <a:solidFill>
                      <a:srgbClr val="6B6B6B"/>
                    </a:solidFill>
                    <a:latin typeface="Arial"/>
                  </a:defRPr>
                </a:pPr>
                <a:r>
                  <a:rPr sz="126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6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260" b="0" i="0" u="none" strike="noStrike">
                    <a:solidFill>
                      <a:srgbClr val="6B6B6B"/>
                    </a:solidFill>
                    <a:latin typeface="Arial"/>
                  </a:defRPr>
                </a:pPr>
                <a:r>
                  <a:rPr sz="126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6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6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60" b="0" i="0" u="none" strike="noStrike">
                    <a:solidFill>
                      <a:srgbClr val="6B6B6B"/>
                    </a:solidFill>
                    <a:latin typeface="Arial"/>
                  </a:defRPr>
                </a:pPr>
                <a:r>
                  <a:rPr sz="126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6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260" b="0" i="0" u="none" strike="noStrike">
                    <a:solidFill>
                      <a:srgbClr val="6B6B6B"/>
                    </a:solidFill>
                    <a:latin typeface="Arial"/>
                  </a:defRPr>
                </a:pPr>
                <a:r>
                  <a:rPr sz="126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6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260" b="0" i="0" u="none" strike="noStrike">
                    <a:solidFill>
                      <a:srgbClr val="6B6B6B"/>
                    </a:solidFill>
                    <a:latin typeface="Arial"/>
                  </a:defRPr>
                </a:pPr>
                <a:r>
                  <a:rPr sz="126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6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260" b="0" i="0" u="none" strike="noStrike">
                    <a:solidFill>
                      <a:srgbClr val="6B6B6B"/>
                    </a:solidFill>
                    <a:latin typeface="Arial"/>
                  </a:defRPr>
                </a:pPr>
                <a:r>
                  <a:rPr sz="126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6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72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72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72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6B6B6B"/>
                    </a:solidFill>
                    <a:latin typeface="Arial"/>
                  </a:defRPr>
                </a:pPr>
                <a:r>
                  <a:rPr sz="900"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900" b="0" i="0" u="none" strike="noStrike">
                    <a:solidFill>
                      <a:srgbClr val="6B6B6B"/>
                    </a:solidFill>
                    <a:latin typeface="Arial"/>
                  </a:defRPr>
                </a:pPr>
                <a:r>
                  <a:rPr sz="900"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1
2604 Hz</c:v>
                  </c:pt>
                  <c:pt idx="1">
                    <c:v>2
1302 Hz</c:v>
                  </c:pt>
                  <c:pt idx="2">
                    <c:v>5
521 Hz</c:v>
                  </c:pt>
                  <c:pt idx="3">
                    <c:v>10
260 Hz</c:v>
                  </c:pt>
                  <c:pt idx="4">
                    <c:v>20
130 Hz</c:v>
                  </c:pt>
                  <c:pt idx="5">
                    <c:v>50
52 Hz</c:v>
                  </c:pt>
                  <c:pt idx="6">
                    <c:v>100
26 Hz</c:v>
                  </c:pt>
                </c:lvl>
              </c:multiLvlStrCache>
            </c:multiLvlStrRef>
          </c:cat>
          <c:val>
            <c:numRef>
              <c:f>Sheet1!$B$2:$B$8</c:f>
              <c:numCache>
                <c:formatCode>General</c:formatCode>
                <c:ptCount val="7"/>
                <c:pt idx="0">
                  <c:v>5.9</c:v>
                </c:pt>
                <c:pt idx="1">
                  <c:v>11.8</c:v>
                </c:pt>
                <c:pt idx="2">
                  <c:v>29.5</c:v>
                </c:pt>
                <c:pt idx="3">
                  <c:v>59</c:v>
                </c:pt>
                <c:pt idx="4">
                  <c:v>118</c:v>
                </c:pt>
                <c:pt idx="5">
                  <c:v>294.9</c:v>
                </c:pt>
                <c:pt idx="6">
                  <c:v>589.9</c:v>
                </c:pt>
              </c:numCache>
            </c:numRef>
          </c:val>
        </c:ser>
        <c:dLbls>
          <c:numFmt formatCode="0.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900" b="0" i="0" u="none" strike="noStrike">
                    <a:solidFill>
                      <a:srgbClr val="6B6B6B"/>
                    </a:solidFill>
                    <a:latin typeface="Arial"/>
                  </a:defRPr>
                </a:pPr>
                <a:r>
                  <a:rPr sz="900" b="0" i="0" u="none" strike="noStrike">
                    <a:solidFill>
                      <a:srgbClr val="6B6B6B"/>
                    </a:solidFill>
                    <a:latin typeface="Arial"/>
                  </a:rPr>
                  <a:t>Factor de diezmado D y frecuencia efectiva fs′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9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E0E0E0"/>
              </a:solidFill>
              <a:prstDash val="solid"/>
              <a:round/>
            </a:ln>
          </c:spPr>
        </c:majorGridlines>
        <c:title>
          <c:tx>
            <c:rich>
              <a:bodyPr/>
              <a:lstStyle/>
              <a:p>
                <a:pPr>
                  <a:defRPr sz="900" b="0" i="0" u="none" strike="noStrike">
                    <a:solidFill>
                      <a:srgbClr val="6B6B6B"/>
                    </a:solidFill>
                    <a:latin typeface="Arial"/>
                  </a:defRPr>
                </a:pPr>
                <a:r>
                  <a:rPr sz="900"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 Toda obra empieza por conocer el suelo que la sostiene]
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
[Slide larga 3: El control del terreno no termina cuando la obra se levanta]
Pero el trabajo con el terreno no termina cuando se levanta la obra. Aparecen grietas y asentamientos, problemas en rutas y pavimentos, taludes que se mueven. Hay que volver a medir, y de preferencia sin dañar lo que ya está construido.
[Slide larga 4: Nos proponemos definir un método de medición del terreno que, mediante el procesamiento de lo sensado, permita obtener información útil]
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 Hay dos formas de medir el terreno: por su resistencia o por cómo transmite ondas]
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
[Slide larga 6: SPT: se cuentan los golpes necesarios para hincar una cuchara en el suelo]
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
[Slide larga 7: CPT/CPTu: un cono se hinca a velocidad constante y mide mientras avanza]
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
[Slide larga 8: Ventajas: resistencia medida directamente y con mucha experiencia acumulada]
Qué ofrecen. El SPT es sencillo, está en todas partes y entrega una muestra. El CPT da un perfil continuo y repetible, sin perforar antes, y con presión de poros distingue mejor el tipo de suelo. Los dos tienen décadas de correlaciones publicadas, y eso pesa mucho en la práctica.
[Slide larga 9: Limitaciones: puntuales, invasivos y sin medir la rigidez de forma directa]
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 Al excitar un terreno sólido, este se deforma de forma transitoria y la perturbación se propaga]
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
[Slide larga 11: Para analizarlo, simplificamos: un medio homogéneo, isótropo y elástico lineal]
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
[Slide larga 12: En ese medio, la ecuación de movimiento admite solo dos tipos de onda: P y S]
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13: Onda P: el terreno se comprime y se dilata en la dirección en que avanza]
La solución del potencial escalar es la onda P. Las partículas oscilan en la misma dirección en que avanza la onda, así que el material se comprime y se dilata. No se transporta material: se transporta la perturbación. Viaja tanto en sólidos como en fluidos.
[Slide larga 14: Onda S: el terreno se corta en la dirección perpendicular al avance]
La solución del potencial vectorial es la onda S. La oscilación es perpendicular al avance y el material no se comprime: se corta. Por eso necesita que el medio resista al corte. Un fluido no lo hace, así que la S no viaja por el agua.
[Slide larga 15: Las velocidades de propagación se deducen de esas mismas ecuaciones]
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
[Slide larga 16: En suelos, la relación esfuerzo-deformación solo es lineal para deformaciones pequeñas]
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
[Slide larga 17: En pequeña señal, la velocidad de corte da directamente la rigidez máxima]
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
[Slide larga 18: Si conocemos Vs, podemos estimar Gmax con una incertidumbre razonable]
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19: Downhole: la fuente está en superficie y los geófonos dentro del pozo]
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
[Slide larga 20: Crosshole: fuente y receptor a la misma profundidad, en pozos distintos]
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
[Slide larga 21: Ventajas: miden Vs de forma directa, con trayectos conocidos]
Los dos miden Vs sin correlaciones: el trayecto es conocido. El downhole necesita un solo pozo y da un perfil con la profundidad. El crosshole mide capas individuales a una profundidad conocida, con mejor resolución vertical.
[Slide larga 22: Limitaciones: exigen perforar y siguen siendo ensayos puntuales]
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23: Refracción: a cierta distancia, la onda refractada llega antes que la directa]
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
[Slide larga 24: Refracción: del gráfico de tiempos salen las velocidades y el espesor de la capa]
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
[Slide larga 25: Refracción: simple y rápida, pero exige que la velocidad crezca con la profundidad]
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
[Slide larga 26: Reflexión: se registra el tiempo de ida y vuelta de la energía reflejada]
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
[Slide larga 27: Reflexión: alcanza más profundidad, pero rinde poco en los primeros metros]
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28: Las ondas de cuerpo, al llegar a una interfaz, se reflejan y se transmiten]
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
[Slide larga 29: En el caso de una superficie libre, la energía vuelve al terreno]
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
[Slide larga 30: Respecto a la superficie libre, la onda S se clasifica en SV y SH]
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
[Slide larga 31: Los ángulos de las ondas generadas se relacionan con la ley de Snell]
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
[Slide larga 32: En la superficie libre, P y SV se convierten entre sí; SH queda aparte]
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33: Las ondas Love solo existen si una capa blanda cubre un medio más rápido]
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
[Slide larga 34: Onda Love: movimiento horizontal, perpendicular a la propagación]
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
[Slide larga 35: Onda Rayleigh: P y SV acopladas en la superficie libre, con órbita elíptica]
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
[Slide larga 36: Una fuente en superficie envía dos tercios de su energía en ondas Rayleigh]
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
[Slide larga 37: Además, las Rayleigh se atenúan menos con la distancia que las de cuerpo]
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
[Slide larga 38: En un semiespacio homogéneo, Rayleigh viaja a cR ≈ 0,9·Vs y no depende de la frecuencia]
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39: En un terreno estratificado, la rigidez y la velocidad de corte cambian con la profundidad]
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
[Slide larga 40: Cada longitud de onda «ve» una profundidad distinta del terreno]
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
[Slide larga 41: Como cada frecuencia ve profundidades distintas, la velocidad de fase depende de la frecuencia: dispersión]
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
[Slide larga 42: La dispersión permite reconstruir un modelo estratificado compatible con las mediciones de campo]
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
[Slide larga 43: La inversión tiene límites: depende de supuestos y se apoya en otras mediciones]
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44: SASW: la diferencia de fase entre dos receptores da la velocidad de fase]
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
[Slide larga 45: SASW es simple, pero deja ambigüedades y poca redundancia espacial]
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
[Slide larga 46: MASW extiende el principio a múltiples posiciones a lo largo del terreno]
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
[Slide larga 47: El registro MASW es una matriz espacio–tiempo: una traza por posición]
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
[Slide larga 48: La dimensión espacial puede sintetizarse con adquisiciones sucesivas]
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49: La medición MASW fija tres requerimientos de adquisición]
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
[Slide larga 50: Esos requerimientos se traducen en cinco condiciones de diseño del sistema]
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
[Slide larga 51: La plataforma consta de un maestro y de nodos independientes que se comunican por ESP-NOW]
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52: El SM-24 es un geófono vertical pasivo de bobina móvil, y su amortiguamiento depende de la carga]
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
[Slide larga 53: La masa suspendida se mueve respecto de la carcasa, y ese movimiento relativo genera la tensión]
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
[Slide larga 54: Por debajo de su frecuencia natural, la tensión del SM-24 cae rápido: a 1 Hz, unos 40 dB]
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
[Slide larga 55: La pérdida cae justo en las bajas frecuencias, que son las que llegan más profundo]
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56: Existen cuatro familias de técnicas para mejorar la respuesta en baja frecuencia de un geófono]
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
[Slide larga 57: Invertir la respuesta del sensor exige muchísima ganancia cerca de continua]
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
[Slide larga 58: La resistencia negativa y el balance de fuerza funcionan, pero cargan al transductor con un lazo activo]
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
[Slide larga 59: La idea de Ma et al.: no levantar el fondo, bajar el pico]
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
[Slide larga 60: Elegimos el método de Ma et al. porque es estable, simple y no amplifica ruido]
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
[Slide larga 61: El compensador sube el amortiguamiento del conjunto: es un camino directo menos un pasabanda]
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62: Implementación: la ganancia se reparte entre las etapas para recuperar la atenuación del compensador]
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
[Slide larga 63: La entrada es instrumental, con dos operacionales, para rechazar el ruido de red]
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
[Slide larga 64: El pasabanda es un inversor con dos quiebres desacoplados, en lugar de un Sallen-Key]
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
[Slide larga 65: Como el pasabanda ya invierte la fase, un sumador reemplaza al amplificador diferencial]
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
[Slide larga 66: El antialias es un Bessel de tercer orden que aprovecha el polo del sumador]
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
[Slide larga 67: AFE final]
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68: La ruta PGA–ADC se midió con barridos y el geófono se tomó con su modelo nominal]
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
[Slide larga 69: El offset se acumula en la cadena y recorta la señal; no se puede filtrar en continua]
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
[Slide larga 70: La continua de cada etapa depende de las anteriores, por eso el ajuste se hace en orden]
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
[Slide larga 71: La calibración verifica los códigos guardados y, si hace falta, ajusta etapa por etapa antes de capturar]
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
[Slide larga 72: La calibración converge y baja el offset residual en el ADC de 2,9–45,8 % a 0,4–3,9 % del fondo de escala]
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73: Reparto de tareas digitales entre la máquina de estados y el procesador]
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
[Slide larga 74: Camino digital en PSoC Creator]
Así se ve la implementación en PSoC Creator. Arriba, el hardware digital: el SignalController, que es la máquina de estados en lógica programable, los tres canales DMA, el filtro digital, los temporizadores y la EEPROM. Abajo a la izquierda, lo auxiliar, con el SPI de la tarjeta SD. Abajo a la derecha, la interfaz con el ESP32 y la entrada SYNC_IN. Las etiquetas están en inglés porque son los nombres de los componentes del propio entorno. En la siguiente slide va el mismo camino dibujado en forma lógica.
[Slide larga 75: Camino lógico de los datos y del control en el PSoC]
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
[Slide larga 76: Selección del tipo de ADC: por qué delta-sigma]
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77: El ADC tiene cuatro rangos de entrada, y el rango y la ganancia se eligen juntos]
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
[Slide larga 78: Diezmamos con una media móvil: registros más chicos y mejor vista de las señales lentas]
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
[Slide larga 79: La máquina de estados en hardware dispara, cuenta y cierra la captura]
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
[Slide larga 80: Cada nodo guarda sus muestras en la RAM del ESP32 o, si hay tarjeta, en la SD del PSoC]
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
[Slide larga 81: Sin SD, el diezmado define cuánto dura el registro, a costa de ancho de banda]
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de modo que con D igual a 100 queda en 13 hertz, y para MASW eso es poco. Duración y banda compiten, y el D se elige según el sitio y la longitud de onda que se quiere resolver. Con tarjeta SD el límite lo fija el tamaño de la tarjeta y por eso no lo muestro. Nota para mí: supongo que el límite de 512 lotes cuenta muestras ya diezmadas, porque los metadatos guardan fs′ y D; es una inferencia que hay que confirmar en el firmware.
[Slide larga 82: Cada registro guarda sus metadatos y su integridad, y el original permanece en el nodo]
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83: El maestro coordina por ESP-NOW y cada nodo une su ESP32 con su PSoC]
El maestro es un ESP32 que no adquiere: aloja la interfaz web y coordina. Se comunica por ESP-NOW con los nodos esclavos, sin un punto de acceso intermedio. Cada nodo, GEO o HAMMER, tiene un ESP32 esclavo conectado a su PSoC con un enlace asimétrico: UART para los comandos del ESP al PSoC, I2C para las muestras del PSoC al ESP, y una línea local de sincronismo que dispara la captura. Los datos se guardan en el nodo, en la arena de RAM del ESP32 o en la microSD del PSoC, y viajan al maestro después de la captura. El navegador solo habla con el maestro. En paralelo, el maestro levanta un punto de acceso Wi-Fi propio solo para la interfaz de operador; no interviene en el disparo.
[Slide larga 84: Elegimos ESP-NOW por costo y simplicidad, no por ser la opción más precisa]
Fernando va a preguntar por qué ESP-NOW. La respuesta honesta es que no es la opción más precisa. El cable de sincronismo es determinista, pero lo usamos y lo retiramos, porque el tendido es justamente lo que queremos evitar. Wi-Fi con punto de acceso agrega acuses, reintentos y acceso al medio, con una latencia distinta en cada nodo. LoRa tiene tiempos en el aire de decenas de milisegundos y una tasa muy baja para descargar registros. GPS da una referencia absoluta muy buena y lo usan equipos comerciales, pero pide receptor y cielo abierto en cada nodo. ESP-NOW no necesita infraestructura, es barato y viene en el ESP32, y con broadcast se midieron entre 200 y 400 microsegundos con tres nodos. Eso consume el presupuesto: para 5 grados a 50 hertz hacen falta 278 microsegundos. Por eso UWB aparece como trabajo futuro: Korsimaa publica más menos 4 nanosegundos con módulos DWM1000 de bajo costo. Nota para mí: las propiedades de Wi-Fi, LoRa y GPS son conocimiento general, no salen de una medición nuestra ni de una referencia citada en el repositorio; si me piden números, buscar una fuente. Los 4 nanosegundos y los demás datos de UWB salen de 08_trabajos_futuros.tex.
[Slide larga 85: Un desfase de tiempo entre nodos se convierte en un error de fase que crece con la frecuencia]
Lo que importa para MASW no es el retardo en sí, sino lo que hace con la fase. Un desfase de tiempo Δt entre nodos produce un error de fase de 360 grados por frecuencia por Δt, y crece con la frecuencia. Si fijamos 5 grados como error máximo, el presupuesto es de 278 microsegundos a 50 hertz y de 139 a 100 hertz. Con 400 microsegundos tendríamos 7,2 grados a 50 hertz y 14,4 a 100. Dicho de otra forma, con 400 microsegundos los 5 grados se cumplen solo hasta unos 35 hertz. Ese número lo calculé yo, no sale del resumen. El resumen dice 3 grados a 20 hertz y 7 a 50. La aceptación hay que evaluarla contra la banda efectivamente usada, no contra un umbral de tiempo aislado. El criterio de 5 grados es una elección de diseño, no una norma.
[Slide larga 86: En velocidad de fase, el error depende del espaciamiento entre receptores y no de la frecuencia]
Vicente va a preferir ver el efecto en velocidad. Si dos receptores separados Δx miden el mismo frente, la velocidad de fase sale de c igual a 2π f Δx sobre Δφ. Un error de tiempo Δt entre canales agrega un error de fase 2π f Δt, y al dividir por la fase esperada la frecuencia se cancela: el error relativo de velocidad es c por Δt sobre Δx. Con receptores a 2 metros y c de 150 metros por segundo, un 5 por ciento llega recién a 667 microsegundos, y 400 microsegundos darían 3 por ciento. Una advertencia: esto trata el Δt como un desfase sistemático entre dos canales vecinos. Si el desfase cambia de captura a captura, entra como ruido en la curva de dispersión, y el promedio de varias capturas lo reduce. Nota para mí: la deducción es mía; la figura viene del repositorio, pero no está en 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87: El disparo se prepara en dos pasos y se ejecuta con una sola orden por broadcast]
La secuencia tiene preparación y ejecución. ARM verifica que los nodos estén disponibles y reserva recursos. PRESTART configura la longitud de la captura, reinicia contadores y deja el PSoC armado. El maestro espera la confirmación de todos y recién ahí difunde una única orden START por broadcast. Cada esclavo, al recibirla, eleva de inmediato su línea SYNC_TO_PSOC, y ese flanco local inicia la máquina de estados del PSoC. Entre el armado y el disparo los esclavos quedan en silencio de radio, y durante el muestreo no envían confirmación del START. La orden única busca reducir la dispersión de inicio respecto de órdenes independientes por canal. Abajo, el retorno: lo capturado se guarda en el nodo y se descarga después. El GPIO15 del maestro es solo un marcador para el osciloscopio.
[Slide larga 88: El disparo va por broadcast: el unicast agrega retransmisiones distintas en cada nodo]
El comando de disparo se emite en broadcast, no como envíos dirigidos a cada esclavo. Tres razones. Primera: un envío unicast espera confirmación y retransmite si no la recibe, y esa retransmisión es la mayor fuente de varianza, porque es distinta en cada nodo. El broadcast no tiene acuse ni reintento: se emite una vez o no llega. Segunda: con unicast el maestro transmite N veces en secuencia, y el último nodo recibe después del primero; con broadcast hay una sola trama que todos demodulan del mismo evento en el aire, y el error no crece con el número de nodos. Tercera: la latencia entre que el firmware manda y la antena emite no es determinista, pero en broadcast ocurre una sola vez y del lado del emisor, así que es común y se cancela entre canales. Lo que degrada el MASW es el jitter relativo entre canales, no el absoluto. Nota para mí: el repositorio dice que en las pruebas cualquier variante distinta del broadcast desincronizaba a los esclavos, pero no tengo la medición comparativa; Fernando la va a pedir y conviene hacerla con SCOPE_MULTI. Además, la documentación de ESP-IDF no describe el acuse de capa de enlace en unicast; el comportamiento es el del estándar 802.11.
[Slide larga 89: El jitter se mide con un disparo falso y un osciloscopio: 128 órdenes, 200 a 400 µs]
Para medir el jitter usamos un disparo falso. El comando CMD_SCOPE_START hace que cada nodo emita un pulso de un milisegundo por un GPIO dedicado, sin iniciar el muestreo ni responder por radio. Con el osciloscopio se mide la separación entre los flancos del maestro y de los esclavos, y esa separación es directamente la latencia de sincronización. El estado SCOPE_MULTI repite el disparo 128 veces, separado un segundo, y así se acumula la estadística sin operador. En el ensayo con tres nodos y 128 órdenes START por broadcast, los flancos quedaron separados entre 200 y 400 microsegundos. Se ensayaron distintas posiciones relativas entre maestro y esclavos y no se encontró relación con la posición, que es lo esperable: a estas distancias el tiempo de vuelo, de nanosegundos, es despreciable frente a la latencia de despacho. Es un resultado preliminar. Nota para mí: el resumen habla de 200 a 400 microsegundos y el repositorio de menos de unos 400, con el maestro a unos 5 metros; son compatibles. No tengo la distribución, los percentiles ni el peor caso, y eso es lo que Fernando va a pedir.
[Slide larga 90: Esta medición no incluye el inicio real del ADC ni la deriva posterior]
Hay que declarar lo que esta medición no dice. Mide la llegada de la orden y el flanco GPIO en cada ESP32, con los nodos cerca entre sí porque las puntas del osciloscopio tienen alcance limitado. No mide el inicio efectivo de los ADC ni la deriva posterior de sus relojes. Al entrar en muestreo se reinicia el modulador delta sigma, lo que introduce un retardo de grupo que es fijo e igual en todos los nodos, así que no agrega jitter relativo, pero nunca se calibró y desplaza el t igual a cero real respecto del flanco de sincronismo. Es un sesgo común, y se puede corregir en cuanto se mida. Faltan también repetibilidad entre encendidos, dependencia con el número de nodos, la temperatura y la ocupación del canal Wi-Fi. El experimento que cierra lo esencial, y es una propuesta mía, es inyectar una señal de referencia común a todos los nodos, por ejemplo una senoidal, y medir la fase relativa entre las trazas: eso incluye el inicio del ADC y la deriva, de punta a punta.
[Slide larga 91: Tras el disparo, cada nodo muestrea con su reloj local y la deriva se acumula]
Una vez iniciada la captura, la posición temporal de cada muestra la fija el reloj local de cada nodo. Para el nodo i, la frecuencia efectiva es fs por uno más ε i, y el instante de la muestra n es t0 i más n sobre fs por uno más ε i. Dos nodos cuyos relojes difieren en ε relativo se separan ε por T al cabo de T segundos. Con 10 partes por millón, un registro de 10 segundos acumula 100 microsegundos; con 50 partes por millón, 500, que es más que el jitter de inicio medido. Esos valores son ilustrativos, porque no medimos ε. La pregunta que hay que contestar es de dónde sale el reloj del ADC: si es un cristal, hablamos de decenas de ppm; si fuera el oscilador interno del PSoC, la tolerancia sería mucho peor y la deriva dominaría. Mide el resumen en trabajos futuros: medir el inicio efectivo de los ADC y la deriva relativa durante la captura. Nota para mí: verificar la fuente del reloj del ADC en el proyecto del PSoC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92: Los registros se descargan en lotes numerados, con CRC y reintento si algo falla]
Terminada la captura, los datos se descargan con un esquema de solicitud de lotes, uno por vez, nodo por nodo. El maestro pide el lote con su número de secuencia; el esclavo lo recupera de la microSD o de la arena de RAM y lo envía con nodo, secuencia, marca de tiempo y CRC. El maestro confirma con un acuse y pasa a la siguiente secuencia. Si hay tiempo de espera agotado o un rechazo, se repite el mismo par nodo y secuencia. El original permanece en el nodo, de modo que una pérdida o demora del enlace no modifica las muestras adquiridas. La descarga se pausa y se reanuda según la presencia del cliente WebSocket.
[Slide larga 93: El número de nodos está limitado por los pares de ESP-NOW y por la descarga secuencial]
Escalabilidad. Lo que está verificado en la documentación de ESP-IDF 5.5 es que ESP-NOW admite hasta 20 dispositivos emparejados, y hasta 17 con cifrado, 7 por defecto, y que la carga útil por trama es de 250 bytes en la versión 1 y de 1470 en la versión 2. Lo que infiero: si el maestro necesita un par para el broadcast y uno por cada nodo, quedarían del orden de 19 nodos; para un arreglo de 24 canales habría que reorganizar. Y como la descarga recorre un nodo por vez, el tiempo total crece con el número de nodos. Lo que no medimos: jitter y descarga con más de tres nodos, el efecto del canal Wi-Fi, y qué versión de ESP-NOW usa nuestro firmware. Nota para mí: el límite de pares y de cifrados depende de la configuración del SDK; verificar en el firmware si usa cifrado y si el par de broadcast cuenta contra los 20.
[Slide larga 94: El nodo HAMMER registra el impacto con un sensor ICP y el mismo firmware que los nodos GEO]
El nodo HAMMER usa el mismo firmware que el nodo GEO. El martillo lleva un sensor de impacto PCB 086D20, que se alimenta con corriente constante, el esquema ICP. La señal se desacopla y se protege antes de entrar a la cadena, y atraviesa una etapa de ganancia programable y un pasa-bajos antes del ADC. Su función es doble: da el instante de disparo y la forma del impacto. Con eso se alinean las trazas de posiciones sucesivas, se evalúa la repetibilidad y se detectan rebotes o contactos múltiples para aceptar o rechazar capturas. Nota para mí: la figura de la izquierda es el principio ICP de PCB, con etiquetas en inglés, y la de la derecha es nuestro esquema en PSoC Creator; ambas están marcadas.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95: Del impacto al perfil Vs(z): el flujo completo del sistema]
Este es el mapa de todo lo que sigue. A la izquierda, lo que ya vimos: el martillo excita un suelo estratificado y las ondas Rayleigh dispersivas llegan a los nodos esclavos, cada uno con su SM-24, su AFE y su ADC. Cada nodo captura y guarda en local, en la SD o en la arena de RAM del ESP32. El maestro pide los registros en orden y los reensambla. Desde el navegador de campo se arma un ZIP con las señales y los metadatos y se envía, por la red privada de Tailscale, a un servidor FastAPI. Ahí se alinea, se apila y se calcula la dispersión, y el objetivo final es el perfil de velocidad de onda S contra la profundidad. Hay que ser claro con el tribunal en un punto: la inversión y la extracción de curvas de dispersión son trabajo futuro, así que esa última caja todavía no está demostrada. Nota para mí: el diagrama es del drawio, no del resumen firmado; el resumen describe la interfaz web, el envío al servidor y el procesamiento en escritorio.
[Slide larga 96: La interfaz web del maestro configura, revisa y decide cada captura]
La interfaz web es la herramienta de campo. Se abre desde un teléfono o una notebook conectada a la red del maestro. Desde ahí se configura la ganancia, el rango del ADC, la duración y la ruta de señal, se preparan los nodos y se inicia la captura. Al terminar se ven de inmediato la señal del HAMMER y la del geófono. Esa revisión inmediata es lo que importa operativamente: permite detectar un geófono mal acoplado, un impacto doble o un ruido excesivo, y repetir la captura antes de mover el receptor a la posición siguiente. Después se decide: conservar, descartar o enviar. Nota para mí: la captura de pantalla está en español con algunas etiquetas en inglés; es la figura 15 del resumen firmado.
[Slide larga 97: Una sesión de campo: del navegador al servidor, con el maestro en el medio]
Este diagrama recorre una sesión completa por carriles: el usuario con su navegador, el ESP32 maestro, los nodos esclavos y el servidor de análisis. Primero el maestro levanta su propio punto de acceso, llamado GeoNetwork, y sirve la página desde su memoria. El usuario se conecta, carga la red de datos móviles o Wi-Fi que va a usar para salir a Internet y la dirección del servidor. Después pide la calibración, y el maestro reenvía el comando por ESP-NOW a los PSoC. Con el sistema calibrado, se inicia la captura con la secuencia ARM, PRESTART y START que ya vimos, y el maestro pide los esclavos en orden, reensambla y transmite por WebSocket. El usuario revisa y decide si conserva. Si conserva, el maestro entrega un ZIP al navegador, y el navegador lo envía por la red del cliente al servidor, a través de Tailscale. El servidor valida y publica la captura como raw aceptado. Una regla de diseño: el original no se modifica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98: El arreglo: 21 posiciones del receptor, un HAMMER fijo y 40 m de apertura]
La geometría de la campaña es simple. La fuente y el HAMMER quedan fijos en un extremo de la línea. Un único nodo GEO recorre 21 posiciones entre 10 y 50 metros de la fuente, con un paso de 2 metros, de modo que la apertura es L igual a Nr menos uno por Δx, o sea 40 metros. El punto de impacto permaneció fijo a varios metros del extremo del campo de fútbol y solo se movió el receptor, por una línea paralela a los laterales de la cancha. Una limitación que hay que decir antes de que la pregunten: no se conservaron coordenadas ni azimut de los extremos del tendido. Nota para mí: la figura es mía, no del resumen; hay que regenerarla en el repo. Los 2 metros son pasos nominales, no medidos con instrumento; lo retomo en la última slide de este grupo.
[Slide larga 99: La separación y la apertura fijan las longitudes de onda que se pueden medir]
Dos límites de la geometría. El primero es el aliasing espacial: con receptores separados Δx, la longitud de onda mínima que se puede interpretar es unas dos veces Δx. Con 2 metros, es 4 metros, y con una velocidad de fase de 150 metros por segundo eso da hasta 37,5 hertz. El segundo es la apertura: no se pueden resolver longitudes de onda mayores que el tendido. La tesis cita a Foti y colaboradores, que proponen que L sea al menos lambda máxima, con un ejemplo conservador de 1,5 veces, y adopta además un criterio más estricto de dos veces. Con 40 metros y el criterio de 1,5, la lambda máxima es unos 27 metros, y a 150 metros por segundo eso equivale a unos 5,6 hertz. La figura muestra, en el plano frecuencia y velocidad, la región donde la geometría es válida: entre la recta de aliasing y la recta de apertura. En el subarreglo de 22 a 42 metros, de 20 metros de apertura, la tesis llega a 8 hertz con una longitud de onda de 21,5 metros, que ya es comparable al tendido. Observación crítica mía, y es inferencia: con offset mínimo de 10 metros y longitudes de onda de 20 a 27 metros, el primer receptor puede quedar en campo cercano; es un criterio habitual de la literatura que no verifiqué contra el PDF de Foti. Discrepancia entre criterios: la tesis, en trabajo futuro, cita a Comina et al. (2011) con λmáx &gt; 60 m para estimar Vs,30 con confiabilidad, y reconoce que con 40 m ese criterio no se cumple; Foti 2018 es menos exigente. Responden a objetivos distintos (Vs,30 frente a curva de dispersión), pero hay que decirlo si preguntan. Nota para mí: confirmar capítulo y página de Foti 2018 y el criterio de Comina (no verificado en el artículo).
[Slide larga 100: Un receptor móvil sintetiza el registro; no equivale a un MASW simultáneo]
Hay que nombrar el alcance del experimento con precisión. El registro espacio-tiempo de la campaña se construye a partir de eventos distintos: un solo nodo GEO que se desplaza, mientras el HAMMER en posición fija registra cada excitación. Eso es adquisición secuencial, y no es lo mismo que un MASW convencional, donde todos los receptores registran el mismo golpe. Lin y Ashlock demostraron que simular un arreglo multicanal con un solo receptor puede dar imágenes de dispersión comparables, bajo condiciones controladas, pero con el receptor fijo y la fuente móvil, que es lo inverso de lo que hicimos. Esto supone una fuente repetible y un terreno que no cambia entre golpes: el HAMMER corrige la referencia de tiempo, pero no la variación de amplitud ni de contenido espectral entre impactos. Y no demuestra operación simultánea de canales, sincronización entre nodos, ni igualdad de magnitud y fase entre placas distintas. La expresión adquisición simultánea de 21 canales sería incorrecta y no se usa. Experimento que lo cerraría, propuesta mía: repetir con dos o más nodos GEO simultáneos sobre el mismo golpe y comparar contra el registro secuencial.
[Slide larga 104: Un error en la posición de los receptores se paga en velocidad de fase]
Esta slide es una advertencia propia, y es una inferencia mía, no un resultado de la tesis. En SASW, la velocidad de fase es c igual a 2 pi f Δx sobre Δφ. Si la separación que se usa para calcular es distinta de la real, el error relativo en c es el mismo que el error relativo en Δx: 10 centímetros de error sobre 2 metros son un 5 por ciento. Con 21 posiciones y un ajuste de la fase contra la distancia, los errores aleatorios de cada posición se promedian, pero un error sistemático, por ejemplo una cinta métrica mal calibrada o un paso real distinto del nominal, no se promedia: desplaza toda la curva. En la campaña los 2 metros son nominales: la posición de cada punto se midió con cinta métrica y se anotó a mano, y no se conservaron coordenadas ni azimut de los extremos. El experimento que resuelve esto es barato: medir las posiciones con cinta y con otro método, tres veces, y propagar la incertidumbre. Un posible camino futuro es UWB con ranging, que mediría la distancia entre nodos y atacaría a la vez el error de posición y el de sincronización. Brunetti se fija en los 400 microsegundos de sincronización; Vicente puede ir directo a esta incertidumbre geométrica, que pesa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101: Una captura real: el impacto del HAMMER marca el tiempo y el geófono lo sigue]
Esta es una captura real a 24 metros. El canal de arriba es el del HAMMER, crudo: el pico marca el instante del impacto, y es la referencia de tiempo común. El del medio es el geófono crudo, que se conserva con su nivel de continua para no perder información. El de abajo es la vista de trabajo, centrada y filtrada con el FIR, que es la que se usa para alinear y procesar. Nota para mí: esta figura no está en el resumen firmado; viene del documento de tesis, y la leyenda dice Start 71, que es el nombre interno de la captura.
[Slide larga 102: Cada posición se alinea con el HAMMER y se promedia traza por traza]
El procesamiento posterior se hace con una interfaz de escritorio. Cada captura se alinea en el tiempo usando como referencia el impacto detectado en el HAMMER. En la figura se ve la señal del martillo con el disparo detectado, y abajo la respuesta del geófono alineada y superpuesta a las demás capturas de la misma posición, en gris. Para cada posición se toman las capturas marcadas como aceptadas y revisadas, se alinean, se llevan a una frecuencia de muestreo común, se promedian muestra a muestra, y después se ordenan por distancia. La mediana fue de unos 30 golpes por posición. De 607 registros candidatos, 598 pasaron la auditoría de calidad. Nota para mí: son números de la tesis, no del resumen firmado; el resumen habla de 265 impactos en 15 distancias solo para el análisis de SNR aparente, que es otro subconjunto: no son contradictorios, pero conviene aclararlo si preguntan. Brunetti podría preguntar por la alineación: la precisión de la alineación está limitada por la tasa de muestreo del canal HAMMER y por cómo se detecta el disparo; no está cuantificada.
[Slide larga 103: El resultado: un registro espacio–tiempo de 21 trazas promediadas]
Este es el resultado de la campaña: las 21 trazas promediadas, ordenadas por distancia. El eje horizontal es el tiempo relativo al impacto, hasta 4 segundos, y el vertical la distancia fuente-receptor, de 10 a 50 metros. Se ve cómo el tren de ondas se desplaza hacia tiempos mayores a medida que aumenta la distancia, y cómo se dispersa. Cada traza se normalizó por su propio máximo para poder verla, así que la figura no permite comparar amplitudes absolutas entre posiciones. Lo que demuestra es la viabilidad operativa de construir un registro espacio-tiempo con adquisiciones sucesivas. Lo que no demuestra es una curva de dispersión ni un perfil Vs: eso es trabajo futuro, y ahí el tribunal puede preguntar con razón.
[Slide larga 105: El servidor conserva el original y procesa copias derivadas]
El servidor de análisis recibe el ZIP con las señales y los metadatos. Valida el paquete, calcula un hash, y publica la captura original de forma atómica y sin modificarla. El procesamiento científico corre en una cola independiente y cancelable, sobre copias: preprocesamiento, organización de trazas, productos intermedios como waterfall, f-k, wiggle y dispersión, y al final picking e inversión. El resumen firmado dice solo que el servidor valida y preserva los archivos originales y que el procesamiento se hace sobre copias derivadas. Los detalles de SHA-256, AnalysisJob y la cola vienen del diagrama y del documento de tesis. Nota para mí: la parte de picking e inversión aparece en el diagrama, pero es trabajo futuro; no la presente como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106: La SNR aparente compara la energía después del impacto con la de antes]
Para evaluar el contenido frecuencial de las capturas de campo se tomaron ventanas de un segundo inmediatamente antes y después del marcador de cada impacto. A cada segmento se le quitó el valor medio y se aplicó una ventana Hann. Para cada distancia se calcularon las medianas de los espectros posteriores, Ppost, y de los previos, Ppre, y la relación señal-ruido aparente es diez veces el logaritmo de su cociente. Se llama aparente porque la ventana posterior contiene la respuesta del impacto y el ruido que había durante la adquisición. Un valor cercano a 0 dB indica que, en esa banda, la energía registrada después del impacto apenas se distingue de la previa. Con ventanas de un segundo la resolución espectral efectiva es de unos 1 Hz; el relleno con ceros solo interpola la gráfica. Por eso se analizan bandas y tendencias. Observación crítica mía: no es una SNR en sentido estricto, porque el ruido previo no es necesariamente estacionario respecto del ruido posterior al impacto.
[Slide larga 107: Por debajo de 10 Hz la señal apenas se distingue del ruido; arriba, la SNR es alta]
Estos son los resultados de SNR aparente. En el panel superior de la figura, la densidad espectral por distancia; en el inferior, la SNR aparente, con la banda baja de interés sombreada y la frecuencia natural nominal del SM-24 en 10 hertz. Con 265 impactos en 15 distancias, la mediana fue de 0,5 dB entre 1 y 5 hertz y de 2,1 dB entre 5 y 10. En bandas superiores sube a 16,7 dB entre 10 y 20 hertz y a 24,4 dB entre 20 y 50. Ninguna de las 15 distancias tuvo una mediana superior a 10 dB por debajo de 10 hertz. Es el resultado más importante y menos cómodo de la campaña: justo en la banda baja que el proyecto quiere extender, la señal apenas se distingue del ruido. Nota para mí: no usar el 18,9 dB y 4,9 dB por distancia del documento de tesis sin aclarar que es otra agrupación; no coincide con las bandas del resumen firmado.
[Slide larga 108: No se puede atribuir la baja SNR a un solo elemento: cómo separar las causas]
El resumen es claro: estos resultados integran excitador, acoplamiento, propagación, geófono y electrónica, y no permiten atribuir la baja SNR por debajo de 10 hertz a un único elemento. Eso es una limitación y a la vez un plan. Lo que propone el resumen es un excitador de mayor energía y repetibilidad en esa región, comparando con la misma geometría. Dos pruebas más, propuestas mías: medir el piso de ruido sin golpear, con el geófono acoplado y desacoplado, que aísla el ruido ambiente; y terminar la entrada del AFE para medir el ruido de la electrónica, referido a la entrada, y compararlo con el del geófono. Un geófono de 4,5 hertz co-ubicado sería un control más. Vicente va a preguntar si bajo 10 hertz se está midiendo suelo o ruido, y la respuesta honesta es que todavía no se puede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109: Qué está demostrado y qué falta, por nivel de evidencia]
Esta tabla es la que Enrique va a mirar con más atención, porque distingue modelo, simulación, medición eléctrica, caracterización del AFE y validación extremo a extremo. El geófono está en el nivel de modelo con parámetros nominales. El AFE entre PGA y ADC se midió con barridos de magnitud y fase y se contrastó con el modelo; extenderlo al conjunto con el geófono es una predicción. La calibración de offset converge y los códigos se conservan por ganancia. La sincronización tiene una medición parcial, los flancos GPIO de los ESP32, y falta el inicio efectivo de los ADC. El campo demuestra viabilidad operativa de la adquisición secuencial. La dispersión y la inversión no se hicieron. Nota para mí: el contraste contra SPT o contra el SEV 01, medido en la misma cancha por terceros, es el criterio de éxito último que aún no se realizó, según el documento de tesis.
[Slide larga 110: Trabajo futuro: cinco pasos desde la adquisición hacia la caracterización del suelo]
El resumen ordena el trabajo futuro en cinco pasos. Primero, un excitador de mayor energía y repetibilidad en la banda baja, comparando con la misma geometría. Segundo, medir directamente el inicio efectivo de los ADC y la deriva relativa de sus relojes, para cuantificar el error de fase por frecuencia y delimitar la banda de coherencia. Tercero, caracterizar el offset residual y su variación con el tiempo y las condiciones. Cuarto, ampliar el arreglo con más nodos GEO para adquisiciones simultáneas, según financiamiento. Quinto, extraer curvas de dispersión, identificar modos e invertir para estimar Vs con la profundidad. El documento de tesis agrega, como validación definitiva, contrastar contra el SEV 01 medido en la misma cancha, y menciona que con 40 metros de apertura el criterio de Comina para Vs,30 no se cumple.
[Slide larga 111: Si ESP-NOW no alcanza, UWB es un candidato fundado, no una prestación disponible]
Si el ESP-NOW no cumple el presupuesto de fase, UWB es el candidato fundado. Korsimaa y colaboradores publican en HardwareX un distribuidor inalámbrico de disparo con módulos DWM1000 de bajo costo, con jitter de más o menos 4 nanosegundos con intervalo de confianza del 95 por ciento sobre un millón de transmisiones, probado hasta 25 metros. Wicsync reporta menos de 3 nanosegundos con diez nodos hasta 75 metros, pero con una arquitectura mucho más especializada. Pérez-Solano obtuvo 0,14 nanosegundos usando marcas internas del transceptor y unos 31 al trasladar la referencia al temporizador del microcontrolador, que muestra que la interfaz entre dominios de reloj puede dominar el error. Advertencia mía: comparar los más o menos 4 nanosegundos con nuestros 200 a 400 microsegundos no es 1 a 1, porque son estadísticas distintas: un intervalo de confianza sobre un millón de disparos contra el rango observado en 128 disparos con 3 nodos. Y hay que medir de punta a punta hasta el inicio del ADC.
[Slide larga 112: Riesgo conocido: un rearranque por watchdog puede ocultar una falla de sincronismo]
Es un defecto pendiente que conviene conocer antes de que lo encuentre Brunetti. En la ruta de recuperación de capturas almacenadas en RAM, si después del tiempo de captura previsto más 2,5 segundos el esclavo no recibió ningún lote del PSoC, el watchdog ejecuta START_NOW automáticamente. Ese segundo arranque conserva la marca temporal del disparo original, así que una falla podría terminar produciendo datos aparentemente completos pero iniciados varios segundos tarde, y por tanto inválidos para el análisis de fase. No es una fuente de retardo en las capturas que arrancan correctamente. La corrección pendiente es eliminar START_NOW de todo flujo sincronizado y, ante CAPTURE_SYNC_STALL, abortar y enviar un NACK al maestro, como ya se hace en el camino de SD. Nota para mí: esto viene del documento de tesis, no del resumen firmado; decidir con el tutor si se muestra o va al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cinco conclusiones, en el orden en que las demostramos. Uno: se diseñó una plataforma distribuida y ampliable. Dos: el AFE compensa la respuesta del SM-24 en bajas frecuencias y calibra el offset automáticamente. Tres: en campo se construyó un registro espacio-tiempo de 21 posiciones con un receptor desplazado. Cuatro: por debajo de 10 hertz la SNR aparente es de 0,5 a 2,1 dB, así que la banda baja que motiva el proyecto aún no se resuelve con esta fuente y esta cadena. Cinco: para validar el sistema como MASW multicanal hay que cuantificar la sincronización efectiva entre nodos, verificar la respuesta extremo a extremo en bajas frecuencias y hacer adquisiciones simultáneas. Los resultados demuestran la viabilidad operativa, y es lo que decimos, sin pasar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Nota para mí: ajustar nombres, institución y fecha según la portada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larga 115: Referencias (1 de 2)]
Lista de referencias tomada del resumen firmado y de las fuentes añadidas durante la preparación. Nota para mí: completar y verificar cada entrada contra su PDF.
[Slide larga 116: Referencias (2 de 2)]
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chart" Target="/ppt/charts/chart1.xml"/><Relationship Id="rId5" Type="http://schemas.openxmlformats.org/officeDocument/2006/relationships/chart" Target="/ppt/charts/chart2.xml"/><Relationship Id="rId6" Type="http://schemas.openxmlformats.org/officeDocument/2006/relationships/chart" Target="/ppt/charts/chart3.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4.xm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5" Type="http://schemas.openxmlformats.org/officeDocument/2006/relationships/chart" Target="/ppt/charts/chart5.xm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chart" Target="/ppt/charts/chart6.xml"/><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Conocer el terreno importa antes, durante y después de la obra: proponemos un método</a:t>
            </a:r>
            <a:endParaRPr lang="en-US" sz="2200" dirty="0"/>
          </a:p>
        </p:txBody>
      </p:sp>
      <p:pic>
        <p:nvPicPr>
          <p:cNvPr id="3" name="Imagen fundación [s0]" descr="Esquema de zapata aislada: armadura, hormigón de limpieza y terreno de fundación">    </p:cNvPr>
          <p:cNvPicPr>
            <a:picLocks noChangeAspect="1"/>
          </p:cNvPicPr>
          <p:nvPr/>
        </p:nvPicPr>
        <p:blipFill>
          <a:blip r:embed="rId1"/>
          <a:stretch>
            <a:fillRect/>
          </a:stretch>
        </p:blipFill>
        <p:spPr>
          <a:xfrm>
            <a:off x="966136" y="1561458"/>
            <a:ext cx="1570554" cy="2796548"/>
          </a:xfrm>
          <a:prstGeom prst="rect">
            <a:avLst/>
          </a:prstGeom>
        </p:spPr>
      </p:pic>
      <p:sp>
        <p:nvSpPr>
          <p:cNvPr id="4" name="Cuerpo [s0]"/>
          <p:cNvSpPr txBox="1"/>
          <p:nvPr/>
        </p:nvSpPr>
        <p:spPr>
          <a:xfrm>
            <a:off x="2889263" y="1641589"/>
            <a:ext cx="5288601" cy="1522476"/>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Reconocer los materiales antes de construir</a:t>
            </a:r>
            <a:endParaRPr lang="en-US" sz="1800" dirty="0"/>
          </a:p>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Estimar parámetros para dimensionar la fundación</a:t>
            </a:r>
            <a:endParaRPr lang="en-US" sz="1800" dirty="0"/>
          </a:p>
          <a:p>
            <a:pPr marL="342900" indent="-342900">
              <a:spcAft>
                <a:spcPts val="900"/>
              </a:spcAft>
              <a:buSzPct val="100000"/>
              <a:buChar char="•"/>
            </a:pPr>
            <a:r>
              <a:rPr lang="en-US" sz="1800" dirty="0">
                <a:solidFill>
                  <a:srgbClr val="2D2D2D"/>
                </a:solidFill>
                <a:latin typeface="Arial" pitchFamily="34" charset="0"/>
                <a:ea typeface="Arial" pitchFamily="34" charset="-122"/>
                <a:cs typeface="Arial" pitchFamily="34" charset="-120"/>
              </a:rPr>
              <a:t>Controlar rellenos y capas compactadas durante la obra</a:t>
            </a:r>
            <a:endParaRPr lang="en-US" sz="1800" dirty="0"/>
          </a:p>
        </p:txBody>
      </p:sp>
      <p:sp>
        <p:nvSpPr>
          <p:cNvPr id="5" name="Recuadro dato [s0]"/>
          <p:cNvSpPr/>
          <p:nvPr/>
        </p:nvSpPr>
        <p:spPr>
          <a:xfrm>
            <a:off x="2889263" y="3364390"/>
            <a:ext cx="5288601" cy="721173"/>
          </a:xfrm>
          <a:prstGeom prst="rect">
            <a:avLst/>
          </a:prstGeom>
          <a:solidFill>
            <a:srgbClr val="EAF1F8"/>
          </a:solidFill>
          <a:ln w="6350">
            <a:solidFill>
              <a:srgbClr val="EAF1F8"/>
            </a:solidFill>
            <a:prstDash val="solid"/>
          </a:ln>
        </p:spPr>
      </p:sp>
      <p:sp>
        <p:nvSpPr>
          <p:cNvPr id="6" name="Dato Paraguay [s0]"/>
          <p:cNvSpPr txBox="1"/>
          <p:nvPr/>
        </p:nvSpPr>
        <p:spPr>
          <a:xfrm>
            <a:off x="3009459" y="3364390"/>
            <a:ext cx="5048210" cy="721173"/>
          </a:xfrm>
          <a:prstGeom prst="rect">
            <a:avLst/>
          </a:prstGeom>
          <a:noFill/>
          <a:ln/>
        </p:spPr>
        <p:txBody>
          <a:bodyPr wrap="square" lIns="0" tIns="0" rIns="0" bIns="0" rtlCol="0" anchor="ctr"/>
          <a:lstStyle/>
          <a:p>
            <a:pPr indent="0" marL="0">
              <a:buNone/>
            </a:pPr>
            <a:r>
              <a:rPr lang="en-US" sz="1620" b="1" dirty="0">
                <a:solidFill>
                  <a:srgbClr val="1F4E79"/>
                </a:solidFill>
                <a:latin typeface="Arial" pitchFamily="34" charset="0"/>
                <a:ea typeface="Arial" pitchFamily="34" charset="-122"/>
                <a:cs typeface="Arial" pitchFamily="34" charset="-120"/>
              </a:rPr>
              <a:t>La construcción creció 6,2 % en 2025 (BCP, 2026)</a:t>
            </a:r>
            <a:endParaRPr lang="en-US" sz="1620" dirty="0"/>
          </a:p>
        </p:txBody>
      </p:sp>
      <p:pic>
        <p:nvPicPr>
          <p:cNvPr id="7" name="Foto grietas [s1]" descr="Grietas y asentamientos">    </p:cNvPr>
          <p:cNvPicPr>
            <a:picLocks noChangeAspect="1"/>
          </p:cNvPicPr>
          <p:nvPr/>
        </p:nvPicPr>
        <p:blipFill>
          <a:blip r:embed="rId2"/>
          <a:stretch>
            <a:fillRect/>
          </a:stretch>
        </p:blipFill>
        <p:spPr>
          <a:xfrm>
            <a:off x="966136" y="1641589"/>
            <a:ext cx="2243649" cy="1370228"/>
          </a:xfrm>
          <a:prstGeom prst="rect">
            <a:avLst/>
          </a:prstGeom>
        </p:spPr>
      </p:pic>
      <p:sp>
        <p:nvSpPr>
          <p:cNvPr id="8" name="Elemento [s1]"/>
          <p:cNvSpPr txBox="1"/>
          <p:nvPr/>
        </p:nvSpPr>
        <p:spPr>
          <a:xfrm>
            <a:off x="966136" y="3244195"/>
            <a:ext cx="2243649" cy="280456"/>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Grietas y asentamientos</a:t>
            </a:r>
            <a:endParaRPr lang="en-US" sz="1440" dirty="0"/>
          </a:p>
        </p:txBody>
      </p:sp>
      <p:pic>
        <p:nvPicPr>
          <p:cNvPr id="9" name="Foto pavimento_relleno [s1]" descr="Pavimentos y rellenos">    </p:cNvPr>
          <p:cNvPicPr>
            <a:picLocks noChangeAspect="1"/>
          </p:cNvPicPr>
          <p:nvPr/>
        </p:nvPicPr>
        <p:blipFill>
          <a:blip r:embed="rId3"/>
          <a:stretch>
            <a:fillRect/>
          </a:stretch>
        </p:blipFill>
        <p:spPr>
          <a:xfrm>
            <a:off x="3450176" y="1641589"/>
            <a:ext cx="2243649" cy="1522476"/>
          </a:xfrm>
          <a:prstGeom prst="rect">
            <a:avLst/>
          </a:prstGeom>
        </p:spPr>
      </p:pic>
      <p:sp>
        <p:nvSpPr>
          <p:cNvPr id="10" name="Elemento [s1]"/>
          <p:cNvSpPr txBox="1"/>
          <p:nvPr/>
        </p:nvSpPr>
        <p:spPr>
          <a:xfrm>
            <a:off x="3450176" y="3244195"/>
            <a:ext cx="2243649" cy="280456"/>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Pavimentos y rellenos</a:t>
            </a:r>
            <a:endParaRPr lang="en-US" sz="1440" dirty="0"/>
          </a:p>
        </p:txBody>
      </p:sp>
      <p:pic>
        <p:nvPicPr>
          <p:cNvPr id="11" name="Foto talud [s1]" descr="Taludes">    </p:cNvPr>
          <p:cNvPicPr>
            <a:picLocks noChangeAspect="1"/>
          </p:cNvPicPr>
          <p:nvPr/>
        </p:nvPicPr>
        <p:blipFill>
          <a:blip r:embed="rId4"/>
          <a:stretch>
            <a:fillRect/>
          </a:stretch>
        </p:blipFill>
        <p:spPr>
          <a:xfrm>
            <a:off x="5934215" y="1641589"/>
            <a:ext cx="2243649" cy="1522476"/>
          </a:xfrm>
          <a:prstGeom prst="rect">
            <a:avLst/>
          </a:prstGeom>
        </p:spPr>
      </p:pic>
      <p:sp>
        <p:nvSpPr>
          <p:cNvPr id="12" name="Elemento [s1]"/>
          <p:cNvSpPr txBox="1"/>
          <p:nvPr/>
        </p:nvSpPr>
        <p:spPr>
          <a:xfrm>
            <a:off x="5934215" y="3244195"/>
            <a:ext cx="2243649" cy="280456"/>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Taludes</a:t>
            </a:r>
            <a:endParaRPr lang="en-US" sz="1440" dirty="0"/>
          </a:p>
        </p:txBody>
      </p:sp>
      <p:sp>
        <p:nvSpPr>
          <p:cNvPr id="13" name="Mensaje [s1]"/>
          <p:cNvSpPr txBox="1"/>
          <p:nvPr/>
        </p:nvSpPr>
        <p:spPr>
          <a:xfrm>
            <a:off x="966136" y="3724977"/>
            <a:ext cx="7211728" cy="641043"/>
          </a:xfrm>
          <a:prstGeom prst="rect">
            <a:avLst/>
          </a:prstGeom>
          <a:noFill/>
          <a:ln/>
        </p:spPr>
        <p:txBody>
          <a:bodyPr wrap="square" lIns="0" tIns="0" rIns="0" bIns="0" rtlCol="0" anchor="t"/>
          <a:lstStyle/>
          <a:p>
            <a:pPr indent="0" marL="0">
              <a:buNone/>
            </a:pPr>
            <a:r>
              <a:rPr lang="en-US" sz="18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1800" dirty="0"/>
          </a:p>
        </p:txBody>
      </p:sp>
      <p:sp>
        <p:nvSpPr>
          <p:cNvPr id="14" name="Marco plataforma [s2]"/>
          <p:cNvSpPr/>
          <p:nvPr/>
        </p:nvSpPr>
        <p:spPr>
          <a:xfrm>
            <a:off x="2769068" y="1801849"/>
            <a:ext cx="3605864" cy="921499"/>
          </a:xfrm>
          <a:prstGeom prst="roundRect">
            <a:avLst>
              <a:gd name="adj" fmla="val 7938"/>
            </a:avLst>
          </a:prstGeom>
          <a:solidFill>
            <a:srgbClr val="FFFFFF">
              <a:alpha val="0"/>
            </a:srgbClr>
          </a:solidFill>
          <a:ln w="22258">
            <a:solidFill>
              <a:srgbClr val="C55A11"/>
            </a:solidFill>
            <a:prstDash val="solid"/>
          </a:ln>
        </p:spPr>
      </p:sp>
      <p:sp>
        <p:nvSpPr>
          <p:cNvPr id="15" name="Caja 1 [s2]"/>
          <p:cNvSpPr/>
          <p:nvPr/>
        </p:nvSpPr>
        <p:spPr>
          <a:xfrm>
            <a:off x="966136" y="1881980"/>
            <a:ext cx="1562541" cy="761238"/>
          </a:xfrm>
          <a:prstGeom prst="rect">
            <a:avLst/>
          </a:prstGeom>
          <a:solidFill>
            <a:srgbClr val="EAF1F8"/>
          </a:solidFill>
          <a:ln w="11129">
            <a:solidFill>
              <a:srgbClr val="2E75B6"/>
            </a:solidFill>
            <a:prstDash val="solid"/>
          </a:ln>
        </p:spPr>
      </p:sp>
      <p:sp>
        <p:nvSpPr>
          <p:cNvPr id="16" name="Elemento [s2]"/>
          <p:cNvSpPr txBox="1"/>
          <p:nvPr/>
        </p:nvSpPr>
        <p:spPr>
          <a:xfrm>
            <a:off x="966136" y="1881980"/>
            <a:ext cx="1562541" cy="761238"/>
          </a:xfrm>
          <a:prstGeom prst="rect">
            <a:avLst/>
          </a:prstGeom>
          <a:noFill/>
          <a:ln/>
        </p:spPr>
        <p:txBody>
          <a:bodyPr wrap="square" lIns="50800" tIns="50800" rIns="50800" bIns="508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Fenómeno físico del terreno</a:t>
            </a:r>
            <a:endParaRPr lang="en-US" sz="1440" dirty="0"/>
          </a:p>
        </p:txBody>
      </p:sp>
      <p:sp>
        <p:nvSpPr>
          <p:cNvPr id="17" name="Elemento [s2]"/>
          <p:cNvSpPr/>
          <p:nvPr/>
        </p:nvSpPr>
        <p:spPr>
          <a:xfrm>
            <a:off x="2552716" y="2262599"/>
            <a:ext cx="272443" cy="0"/>
          </a:xfrm>
          <a:prstGeom prst="line">
            <a:avLst/>
          </a:prstGeom>
          <a:noFill/>
          <a:ln w="22258">
            <a:solidFill>
              <a:srgbClr val="1F4E79"/>
            </a:solidFill>
            <a:prstDash val="solid"/>
            <a:tailEnd type="triangle"/>
          </a:ln>
        </p:spPr>
      </p:sp>
      <p:sp>
        <p:nvSpPr>
          <p:cNvPr id="18" name="Caja 2 [s2]"/>
          <p:cNvSpPr/>
          <p:nvPr/>
        </p:nvSpPr>
        <p:spPr>
          <a:xfrm>
            <a:off x="2849198" y="1881980"/>
            <a:ext cx="1562541" cy="761238"/>
          </a:xfrm>
          <a:prstGeom prst="rect">
            <a:avLst/>
          </a:prstGeom>
          <a:solidFill>
            <a:srgbClr val="EAF1F8"/>
          </a:solidFill>
          <a:ln w="11129">
            <a:solidFill>
              <a:srgbClr val="2E75B6"/>
            </a:solidFill>
            <a:prstDash val="solid"/>
          </a:ln>
        </p:spPr>
      </p:sp>
      <p:sp>
        <p:nvSpPr>
          <p:cNvPr id="19" name="Elemento [s2]"/>
          <p:cNvSpPr txBox="1"/>
          <p:nvPr/>
        </p:nvSpPr>
        <p:spPr>
          <a:xfrm>
            <a:off x="2849198" y="1881980"/>
            <a:ext cx="1562541" cy="761238"/>
          </a:xfrm>
          <a:prstGeom prst="rect">
            <a:avLst/>
          </a:prstGeom>
          <a:noFill/>
          <a:ln/>
        </p:spPr>
        <p:txBody>
          <a:bodyPr wrap="square" lIns="50800" tIns="50800" rIns="50800" bIns="508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Transductor</a:t>
            </a:r>
            <a:endParaRPr lang="en-US" sz="1440" dirty="0"/>
          </a:p>
        </p:txBody>
      </p:sp>
      <p:sp>
        <p:nvSpPr>
          <p:cNvPr id="20" name="Elemento [s2]"/>
          <p:cNvSpPr/>
          <p:nvPr/>
        </p:nvSpPr>
        <p:spPr>
          <a:xfrm>
            <a:off x="4435778" y="2262599"/>
            <a:ext cx="272443" cy="0"/>
          </a:xfrm>
          <a:prstGeom prst="line">
            <a:avLst/>
          </a:prstGeom>
          <a:noFill/>
          <a:ln w="22258">
            <a:solidFill>
              <a:srgbClr val="1F4E79"/>
            </a:solidFill>
            <a:prstDash val="solid"/>
            <a:tailEnd type="triangle"/>
          </a:ln>
        </p:spPr>
      </p:sp>
      <p:sp>
        <p:nvSpPr>
          <p:cNvPr id="21" name="Caja 3 [s2]"/>
          <p:cNvSpPr/>
          <p:nvPr/>
        </p:nvSpPr>
        <p:spPr>
          <a:xfrm>
            <a:off x="4732261" y="1881980"/>
            <a:ext cx="1562541" cy="761238"/>
          </a:xfrm>
          <a:prstGeom prst="rect">
            <a:avLst/>
          </a:prstGeom>
          <a:solidFill>
            <a:srgbClr val="EAF1F8"/>
          </a:solidFill>
          <a:ln w="11129">
            <a:solidFill>
              <a:srgbClr val="2E75B6"/>
            </a:solidFill>
            <a:prstDash val="solid"/>
          </a:ln>
        </p:spPr>
      </p:sp>
      <p:sp>
        <p:nvSpPr>
          <p:cNvPr id="22" name="Elemento [s2]"/>
          <p:cNvSpPr txBox="1"/>
          <p:nvPr/>
        </p:nvSpPr>
        <p:spPr>
          <a:xfrm>
            <a:off x="4732261" y="1881980"/>
            <a:ext cx="1562541" cy="761238"/>
          </a:xfrm>
          <a:prstGeom prst="rect">
            <a:avLst/>
          </a:prstGeom>
          <a:noFill/>
          <a:ln/>
        </p:spPr>
        <p:txBody>
          <a:bodyPr wrap="square" lIns="50800" tIns="50800" rIns="50800" bIns="508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Procesamiento</a:t>
            </a:r>
            <a:endParaRPr lang="en-US" sz="1440" dirty="0"/>
          </a:p>
        </p:txBody>
      </p:sp>
      <p:sp>
        <p:nvSpPr>
          <p:cNvPr id="23" name="Elemento [s2]"/>
          <p:cNvSpPr/>
          <p:nvPr/>
        </p:nvSpPr>
        <p:spPr>
          <a:xfrm>
            <a:off x="6318841" y="2262599"/>
            <a:ext cx="272443" cy="0"/>
          </a:xfrm>
          <a:prstGeom prst="line">
            <a:avLst/>
          </a:prstGeom>
          <a:noFill/>
          <a:ln w="22258">
            <a:solidFill>
              <a:srgbClr val="1F4E79"/>
            </a:solidFill>
            <a:prstDash val="solid"/>
            <a:tailEnd type="triangle"/>
          </a:ln>
        </p:spPr>
      </p:sp>
      <p:sp>
        <p:nvSpPr>
          <p:cNvPr id="24" name="Caja 4 [s2]"/>
          <p:cNvSpPr/>
          <p:nvPr/>
        </p:nvSpPr>
        <p:spPr>
          <a:xfrm>
            <a:off x="6615323" y="1881980"/>
            <a:ext cx="1562541" cy="761238"/>
          </a:xfrm>
          <a:prstGeom prst="rect">
            <a:avLst/>
          </a:prstGeom>
          <a:solidFill>
            <a:srgbClr val="1F4E79"/>
          </a:solidFill>
          <a:ln w="11129">
            <a:solidFill>
              <a:srgbClr val="1F4E79"/>
            </a:solidFill>
            <a:prstDash val="solid"/>
          </a:ln>
        </p:spPr>
      </p:sp>
      <p:sp>
        <p:nvSpPr>
          <p:cNvPr id="25" name="Elemento [s2]"/>
          <p:cNvSpPr txBox="1"/>
          <p:nvPr/>
        </p:nvSpPr>
        <p:spPr>
          <a:xfrm>
            <a:off x="6615323" y="1881980"/>
            <a:ext cx="1562541" cy="761238"/>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Información útil del terreno</a:t>
            </a:r>
            <a:endParaRPr lang="en-US" sz="1440" dirty="0"/>
          </a:p>
        </p:txBody>
      </p:sp>
      <p:sp>
        <p:nvSpPr>
          <p:cNvPr id="26" name="Etiqueta plataforma [s2]"/>
          <p:cNvSpPr txBox="1"/>
          <p:nvPr/>
        </p:nvSpPr>
        <p:spPr>
          <a:xfrm>
            <a:off x="2769068" y="2779439"/>
            <a:ext cx="3605864" cy="400652"/>
          </a:xfrm>
          <a:prstGeom prst="rect">
            <a:avLst/>
          </a:prstGeom>
          <a:noFill/>
          <a:ln/>
        </p:spPr>
        <p:txBody>
          <a:bodyPr wrap="square" lIns="0" tIns="0" rIns="0" bIns="0" rtlCol="0" anchor="t"/>
          <a:lstStyle/>
          <a:p>
            <a:pPr algn="ctr" indent="0" marL="0">
              <a:buNone/>
            </a:pPr>
            <a:r>
              <a:rPr lang="en-US" sz="144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440" dirty="0"/>
          </a:p>
        </p:txBody>
      </p:sp>
      <p:sp>
        <p:nvSpPr>
          <p:cNvPr id="27" name="Elemento [s2]"/>
          <p:cNvSpPr txBox="1"/>
          <p:nvPr/>
        </p:nvSpPr>
        <p:spPr>
          <a:xfrm>
            <a:off x="966136" y="3204130"/>
            <a:ext cx="2403909" cy="280456"/>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Hoja de ruta</a:t>
            </a:r>
            <a:endParaRPr lang="en-US" sz="1800" dirty="0"/>
          </a:p>
        </p:txBody>
      </p:sp>
      <p:sp>
        <p:nvSpPr>
          <p:cNvPr id="28" name="Número 1 [s2]"/>
          <p:cNvSpPr/>
          <p:nvPr/>
        </p:nvSpPr>
        <p:spPr>
          <a:xfrm>
            <a:off x="966136" y="3580742"/>
            <a:ext cx="216352" cy="216352"/>
          </a:xfrm>
          <a:prstGeom prst="ellipse">
            <a:avLst/>
          </a:prstGeom>
          <a:solidFill>
            <a:srgbClr val="2E75B6"/>
          </a:solidFill>
          <a:ln w="6350">
            <a:solidFill>
              <a:srgbClr val="2E75B6"/>
            </a:solidFill>
            <a:prstDash val="solid"/>
          </a:ln>
        </p:spPr>
      </p:sp>
      <p:sp>
        <p:nvSpPr>
          <p:cNvPr id="29" name="Elemento [s2]"/>
          <p:cNvSpPr txBox="1"/>
          <p:nvPr/>
        </p:nvSpPr>
        <p:spPr>
          <a:xfrm>
            <a:off x="966136" y="3580742"/>
            <a:ext cx="216352" cy="216352"/>
          </a:xfrm>
          <a:prstGeom prst="rect">
            <a:avLst/>
          </a:prstGeom>
          <a:noFill/>
          <a:ln/>
        </p:spPr>
        <p:txBody>
          <a:bodyPr wrap="square" lIns="0" tIns="0" rIns="0" bIns="0" rtlCol="0" anchor="ctr"/>
          <a:lstStyle/>
          <a:p>
            <a:pPr algn="ctr" indent="0" marL="0">
              <a:buNone/>
            </a:pPr>
            <a:r>
              <a:rPr lang="en-US" sz="1080" b="1" dirty="0">
                <a:solidFill>
                  <a:srgbClr val="FFFFFF"/>
                </a:solidFill>
                <a:latin typeface="Arial" pitchFamily="34" charset="0"/>
                <a:ea typeface="Arial" pitchFamily="34" charset="-122"/>
                <a:cs typeface="Arial" pitchFamily="34" charset="-120"/>
              </a:rPr>
              <a:t>1</a:t>
            </a:r>
            <a:endParaRPr lang="en-US" sz="1080" dirty="0"/>
          </a:p>
        </p:txBody>
      </p:sp>
      <p:sp>
        <p:nvSpPr>
          <p:cNvPr id="30" name="Hoja de ruta 1 [s2]"/>
          <p:cNvSpPr txBox="1"/>
          <p:nvPr/>
        </p:nvSpPr>
        <p:spPr>
          <a:xfrm>
            <a:off x="1286657" y="3564716"/>
            <a:ext cx="6891207" cy="24840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440" dirty="0"/>
          </a:p>
        </p:txBody>
      </p:sp>
      <p:sp>
        <p:nvSpPr>
          <p:cNvPr id="31" name="Número 2 [s2]"/>
          <p:cNvSpPr/>
          <p:nvPr/>
        </p:nvSpPr>
        <p:spPr>
          <a:xfrm>
            <a:off x="966136" y="3853185"/>
            <a:ext cx="216352" cy="216352"/>
          </a:xfrm>
          <a:prstGeom prst="ellipse">
            <a:avLst/>
          </a:prstGeom>
          <a:solidFill>
            <a:srgbClr val="2E75B6"/>
          </a:solidFill>
          <a:ln w="6350">
            <a:solidFill>
              <a:srgbClr val="2E75B6"/>
            </a:solidFill>
            <a:prstDash val="solid"/>
          </a:ln>
        </p:spPr>
      </p:sp>
      <p:sp>
        <p:nvSpPr>
          <p:cNvPr id="32" name="Elemento [s2]"/>
          <p:cNvSpPr txBox="1"/>
          <p:nvPr/>
        </p:nvSpPr>
        <p:spPr>
          <a:xfrm>
            <a:off x="966136" y="3853185"/>
            <a:ext cx="216352" cy="216352"/>
          </a:xfrm>
          <a:prstGeom prst="rect">
            <a:avLst/>
          </a:prstGeom>
          <a:noFill/>
          <a:ln/>
        </p:spPr>
        <p:txBody>
          <a:bodyPr wrap="square" lIns="0" tIns="0" rIns="0" bIns="0" rtlCol="0" anchor="ctr"/>
          <a:lstStyle/>
          <a:p>
            <a:pPr algn="ctr" indent="0" marL="0">
              <a:buNone/>
            </a:pPr>
            <a:r>
              <a:rPr lang="en-US" sz="1080" b="1" dirty="0">
                <a:solidFill>
                  <a:srgbClr val="FFFFFF"/>
                </a:solidFill>
                <a:latin typeface="Arial" pitchFamily="34" charset="0"/>
                <a:ea typeface="Arial" pitchFamily="34" charset="-122"/>
                <a:cs typeface="Arial" pitchFamily="34" charset="-120"/>
              </a:rPr>
              <a:t>2</a:t>
            </a:r>
            <a:endParaRPr lang="en-US" sz="1080" dirty="0"/>
          </a:p>
        </p:txBody>
      </p:sp>
      <p:sp>
        <p:nvSpPr>
          <p:cNvPr id="33" name="Hoja de ruta 2 [s2]"/>
          <p:cNvSpPr txBox="1"/>
          <p:nvPr/>
        </p:nvSpPr>
        <p:spPr>
          <a:xfrm>
            <a:off x="1286657" y="3837159"/>
            <a:ext cx="6891207" cy="24840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Análisis en profundidad del método seleccionado</a:t>
            </a:r>
            <a:endParaRPr lang="en-US" sz="1440" dirty="0"/>
          </a:p>
        </p:txBody>
      </p:sp>
      <p:sp>
        <p:nvSpPr>
          <p:cNvPr id="34" name="Número 3 [s2]"/>
          <p:cNvSpPr/>
          <p:nvPr/>
        </p:nvSpPr>
        <p:spPr>
          <a:xfrm>
            <a:off x="966136" y="4125628"/>
            <a:ext cx="216352" cy="216352"/>
          </a:xfrm>
          <a:prstGeom prst="ellipse">
            <a:avLst/>
          </a:prstGeom>
          <a:solidFill>
            <a:srgbClr val="2E75B6"/>
          </a:solidFill>
          <a:ln w="6350">
            <a:solidFill>
              <a:srgbClr val="2E75B6"/>
            </a:solidFill>
            <a:prstDash val="solid"/>
          </a:ln>
        </p:spPr>
      </p:sp>
      <p:sp>
        <p:nvSpPr>
          <p:cNvPr id="35" name="Elemento [s2]"/>
          <p:cNvSpPr txBox="1"/>
          <p:nvPr/>
        </p:nvSpPr>
        <p:spPr>
          <a:xfrm>
            <a:off x="966136" y="4125628"/>
            <a:ext cx="216352" cy="216352"/>
          </a:xfrm>
          <a:prstGeom prst="rect">
            <a:avLst/>
          </a:prstGeom>
          <a:noFill/>
          <a:ln/>
        </p:spPr>
        <p:txBody>
          <a:bodyPr wrap="square" lIns="0" tIns="0" rIns="0" bIns="0" rtlCol="0" anchor="ctr"/>
          <a:lstStyle/>
          <a:p>
            <a:pPr algn="ctr" indent="0" marL="0">
              <a:buNone/>
            </a:pPr>
            <a:r>
              <a:rPr lang="en-US" sz="1080" b="1" dirty="0">
                <a:solidFill>
                  <a:srgbClr val="FFFFFF"/>
                </a:solidFill>
                <a:latin typeface="Arial" pitchFamily="34" charset="0"/>
                <a:ea typeface="Arial" pitchFamily="34" charset="-122"/>
                <a:cs typeface="Arial" pitchFamily="34" charset="-120"/>
              </a:rPr>
              <a:t>3</a:t>
            </a:r>
            <a:endParaRPr lang="en-US" sz="1080" dirty="0"/>
          </a:p>
        </p:txBody>
      </p:sp>
      <p:sp>
        <p:nvSpPr>
          <p:cNvPr id="36" name="Hoja de ruta 3 [s2]"/>
          <p:cNvSpPr txBox="1"/>
          <p:nvPr/>
        </p:nvSpPr>
        <p:spPr>
          <a:xfrm>
            <a:off x="1286657" y="4109602"/>
            <a:ext cx="6891207" cy="24840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Especificaciones y plataforma propuesta</a:t>
            </a:r>
            <a:endParaRPr lang="en-US" sz="1440" dirty="0"/>
          </a:p>
        </p:txBody>
      </p:sp>
      <p:sp>
        <p:nvSpPr>
          <p:cNvPr id="37" name="Número 4 [s2]"/>
          <p:cNvSpPr/>
          <p:nvPr/>
        </p:nvSpPr>
        <p:spPr>
          <a:xfrm>
            <a:off x="966136" y="4398071"/>
            <a:ext cx="216352" cy="216352"/>
          </a:xfrm>
          <a:prstGeom prst="ellipse">
            <a:avLst/>
          </a:prstGeom>
          <a:solidFill>
            <a:srgbClr val="2E75B6"/>
          </a:solidFill>
          <a:ln w="6350">
            <a:solidFill>
              <a:srgbClr val="2E75B6"/>
            </a:solidFill>
            <a:prstDash val="solid"/>
          </a:ln>
        </p:spPr>
      </p:sp>
      <p:sp>
        <p:nvSpPr>
          <p:cNvPr id="38" name="Elemento [s2]"/>
          <p:cNvSpPr txBox="1"/>
          <p:nvPr/>
        </p:nvSpPr>
        <p:spPr>
          <a:xfrm>
            <a:off x="966136" y="4398071"/>
            <a:ext cx="216352" cy="216352"/>
          </a:xfrm>
          <a:prstGeom prst="rect">
            <a:avLst/>
          </a:prstGeom>
          <a:noFill/>
          <a:ln/>
        </p:spPr>
        <p:txBody>
          <a:bodyPr wrap="square" lIns="0" tIns="0" rIns="0" bIns="0" rtlCol="0" anchor="ctr"/>
          <a:lstStyle/>
          <a:p>
            <a:pPr algn="ctr" indent="0" marL="0">
              <a:buNone/>
            </a:pPr>
            <a:r>
              <a:rPr lang="en-US" sz="1080" b="1" dirty="0">
                <a:solidFill>
                  <a:srgbClr val="FFFFFF"/>
                </a:solidFill>
                <a:latin typeface="Arial" pitchFamily="34" charset="0"/>
                <a:ea typeface="Arial" pitchFamily="34" charset="-122"/>
                <a:cs typeface="Arial" pitchFamily="34" charset="-120"/>
              </a:rPr>
              <a:t>4</a:t>
            </a:r>
            <a:endParaRPr lang="en-US" sz="1080" dirty="0"/>
          </a:p>
        </p:txBody>
      </p:sp>
      <p:sp>
        <p:nvSpPr>
          <p:cNvPr id="39" name="Hoja de ruta 4 [s2]"/>
          <p:cNvSpPr txBox="1"/>
          <p:nvPr/>
        </p:nvSpPr>
        <p:spPr>
          <a:xfrm>
            <a:off x="1286657" y="4382045"/>
            <a:ext cx="6891207" cy="24840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Resultados parciales</a:t>
            </a:r>
            <a:endParaRPr lang="en-US" sz="1440" dirty="0"/>
          </a:p>
        </p:txBody>
      </p:sp>
      <p:sp>
        <p:nvSpPr>
          <p:cNvPr id="40"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Toda obra empieza por conocer el suelo que la sostiene</a:t>
            </a:r>
            <a:endParaRPr lang="en-US" sz="1400" dirty="0"/>
          </a:p>
        </p:txBody>
      </p:sp>
      <p:sp>
        <p:nvSpPr>
          <p:cNvPr id="41"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Samtani y Nowatzki (2006). BCP (2026). Imagen: Instagram (s. f.).</a:t>
            </a:r>
            <a:endParaRPr lang="en-US" sz="800" dirty="0"/>
          </a:p>
        </p:txBody>
      </p:sp>
      <p:sp>
        <p:nvSpPr>
          <p:cNvPr id="42"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control del terreno no termina cuando la obra se levanta</a:t>
            </a:r>
            <a:endParaRPr lang="en-US" sz="1400" dirty="0"/>
          </a:p>
        </p:txBody>
      </p:sp>
      <p:sp>
        <p:nvSpPr>
          <p:cNvPr id="43"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Park et al. (2018). Imágenes: UPCommons (asentamientos); 360 en Concreto (rodillo); Facebook (ilustración).</a:t>
            </a:r>
            <a:endParaRPr lang="en-US" sz="800" dirty="0"/>
          </a:p>
        </p:txBody>
      </p:sp>
      <p:sp>
        <p:nvSpPr>
          <p:cNvPr id="44"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1400" dirty="0"/>
          </a:p>
        </p:txBody>
      </p:sp>
      <p:sp>
        <p:nvSpPr>
          <p:cNvPr id="45"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45" fill="hold">
                      <p:stCondLst>
                        <p:cond delay="indefinite"/>
                      </p:stCondLst>
                      <p:childTnLst>
                        <p:par>
                          <p:cTn id="1046" fill="hold">
                            <p:stCondLst>
                              <p:cond delay="0"/>
                            </p:stCondLst>
                            <p:childTnLst>
                              <p:par>
                                <p:cTn id="1000" presetID="10" presetClass="exit" presetSubtype="0" fill="hold" nodeType="clickEffect">
                                  <p:stCondLst>
                                    <p:cond delay="0"/>
                                  </p:stCondLst>
                                  <p:childTnLst>
                                    <p:animEffect transition="out" filter="fade">
                                      <p:cBhvr>
                                        <p:cTn id="1001" dur="400"/>
                                        <p:tgtEl>
                                          <p:spTgt spid="3"/>
                                        </p:tgtEl>
                                      </p:cBhvr>
                                    </p:animEffect>
                                    <p:set>
                                      <p:cBhvr>
                                        <p:cTn id="1002" dur="1" fill="hold">
                                          <p:stCondLst>
                                            <p:cond delay="399"/>
                                          </p:stCondLst>
                                        </p:cTn>
                                        <p:tgtEl>
                                          <p:spTgt spid="3"/>
                                        </p:tgtEl>
                                        <p:attrNameLst>
                                          <p:attrName>style.visibility</p:attrName>
                                        </p:attrNameLst>
                                      </p:cBhvr>
                                      <p:to>
                                        <p:strVal val="hidden"/>
                                      </p:to>
                                    </p:set>
                                  </p:childTnLst>
                                </p:cTn>
                              </p:par>
                              <p:par>
                                <p:cTn id="1003" presetID="10" presetClass="exit" presetSubtype="0" fill="hold" nodeType="withEffect">
                                  <p:stCondLst>
                                    <p:cond delay="0"/>
                                  </p:stCondLst>
                                  <p:childTnLst>
                                    <p:animEffect transition="out" filter="fade">
                                      <p:cBhvr>
                                        <p:cTn id="1004" dur="400"/>
                                        <p:tgtEl>
                                          <p:spTgt spid="4"/>
                                        </p:tgtEl>
                                      </p:cBhvr>
                                    </p:animEffect>
                                    <p:set>
                                      <p:cBhvr>
                                        <p:cTn id="1005" dur="1" fill="hold">
                                          <p:stCondLst>
                                            <p:cond delay="399"/>
                                          </p:stCondLst>
                                        </p:cTn>
                                        <p:tgtEl>
                                          <p:spTgt spid="4"/>
                                        </p:tgtEl>
                                        <p:attrNameLst>
                                          <p:attrName>style.visibility</p:attrName>
                                        </p:attrNameLst>
                                      </p:cBhvr>
                                      <p:to>
                                        <p:strVal val="hidden"/>
                                      </p:to>
                                    </p:set>
                                  </p:childTnLst>
                                </p:cTn>
                              </p:par>
                              <p:par>
                                <p:cTn id="1006" presetID="10" presetClass="exit" presetSubtype="0" fill="hold" nodeType="withEffect">
                                  <p:stCondLst>
                                    <p:cond delay="0"/>
                                  </p:stCondLst>
                                  <p:childTnLst>
                                    <p:animEffect transition="out" filter="fade">
                                      <p:cBhvr>
                                        <p:cTn id="1007" dur="400"/>
                                        <p:tgtEl>
                                          <p:spTgt spid="5"/>
                                        </p:tgtEl>
                                      </p:cBhvr>
                                    </p:animEffect>
                                    <p:set>
                                      <p:cBhvr>
                                        <p:cTn id="1008" dur="1" fill="hold">
                                          <p:stCondLst>
                                            <p:cond delay="399"/>
                                          </p:stCondLst>
                                        </p:cTn>
                                        <p:tgtEl>
                                          <p:spTgt spid="5"/>
                                        </p:tgtEl>
                                        <p:attrNameLst>
                                          <p:attrName>style.visibility</p:attrName>
                                        </p:attrNameLst>
                                      </p:cBhvr>
                                      <p:to>
                                        <p:strVal val="hidden"/>
                                      </p:to>
                                    </p:set>
                                  </p:childTnLst>
                                </p:cTn>
                              </p:par>
                              <p:par>
                                <p:cTn id="1009" presetID="10" presetClass="exit" presetSubtype="0" fill="hold" nodeType="withEffect">
                                  <p:stCondLst>
                                    <p:cond delay="0"/>
                                  </p:stCondLst>
                                  <p:childTnLst>
                                    <p:animEffect transition="out" filter="fade">
                                      <p:cBhvr>
                                        <p:cTn id="1010" dur="400"/>
                                        <p:tgtEl>
                                          <p:spTgt spid="6"/>
                                        </p:tgtEl>
                                      </p:cBhvr>
                                    </p:animEffect>
                                    <p:set>
                                      <p:cBhvr>
                                        <p:cTn id="1011" dur="1" fill="hold">
                                          <p:stCondLst>
                                            <p:cond delay="399"/>
                                          </p:stCondLst>
                                        </p:cTn>
                                        <p:tgtEl>
                                          <p:spTgt spid="6"/>
                                        </p:tgtEl>
                                        <p:attrNameLst>
                                          <p:attrName>style.visibility</p:attrName>
                                        </p:attrNameLst>
                                      </p:cBhvr>
                                      <p:to>
                                        <p:strVal val="hidden"/>
                                      </p:to>
                                    </p:set>
                                  </p:childTnLst>
                                </p:cTn>
                              </p:par>
                              <p:par>
                                <p:cTn id="1012" presetID="10" presetClass="exit" presetSubtype="0" fill="hold" nodeType="withEffect">
                                  <p:stCondLst>
                                    <p:cond delay="0"/>
                                  </p:stCondLst>
                                  <p:childTnLst>
                                    <p:animEffect transition="out" filter="fade">
                                      <p:cBhvr>
                                        <p:cTn id="1013" dur="400"/>
                                        <p:tgtEl>
                                          <p:spTgt spid="40"/>
                                        </p:tgtEl>
                                      </p:cBhvr>
                                    </p:animEffect>
                                    <p:set>
                                      <p:cBhvr>
                                        <p:cTn id="1014" dur="1" fill="hold">
                                          <p:stCondLst>
                                            <p:cond delay="399"/>
                                          </p:stCondLst>
                                        </p:cTn>
                                        <p:tgtEl>
                                          <p:spTgt spid="40"/>
                                        </p:tgtEl>
                                        <p:attrNameLst>
                                          <p:attrName>style.visibility</p:attrName>
                                        </p:attrNameLst>
                                      </p:cBhvr>
                                      <p:to>
                                        <p:strVal val="hidden"/>
                                      </p:to>
                                    </p:set>
                                  </p:childTnLst>
                                </p:cTn>
                              </p:par>
                              <p:par>
                                <p:cTn id="1015" presetID="10" presetClass="exit" presetSubtype="0" fill="hold" nodeType="withEffect">
                                  <p:stCondLst>
                                    <p:cond delay="0"/>
                                  </p:stCondLst>
                                  <p:childTnLst>
                                    <p:animEffect transition="out" filter="fade">
                                      <p:cBhvr>
                                        <p:cTn id="1016" dur="400"/>
                                        <p:tgtEl>
                                          <p:spTgt spid="41"/>
                                        </p:tgtEl>
                                      </p:cBhvr>
                                    </p:animEffect>
                                    <p:set>
                                      <p:cBhvr>
                                        <p:cTn id="1017" dur="1" fill="hold">
                                          <p:stCondLst>
                                            <p:cond delay="399"/>
                                          </p:stCondLst>
                                        </p:cTn>
                                        <p:tgtEl>
                                          <p:spTgt spid="41"/>
                                        </p:tgtEl>
                                        <p:attrNameLst>
                                          <p:attrName>style.visibility</p:attrName>
                                        </p:attrNameLst>
                                      </p:cBhvr>
                                      <p:to>
                                        <p:strVal val="hidden"/>
                                      </p:to>
                                    </p:set>
                                  </p:childTnLst>
                                </p:cTn>
                              </p:par>
                              <p:par>
                                <p:cTn id="1018" presetID="10" presetClass="entr" presetSubtype="0" fill="hold" nodeType="withEffect">
                                  <p:stCondLst>
                                    <p:cond delay="200"/>
                                  </p:stCondLst>
                                  <p:childTnLst>
                                    <p:set>
                                      <p:cBhvr>
                                        <p:cTn id="1019" dur="1" fill="hold">
                                          <p:stCondLst>
                                            <p:cond delay="0"/>
                                          </p:stCondLst>
                                        </p:cTn>
                                        <p:tgtEl>
                                          <p:spTgt spid="7"/>
                                        </p:tgtEl>
                                        <p:attrNameLst>
                                          <p:attrName>style.visibility</p:attrName>
                                        </p:attrNameLst>
                                      </p:cBhvr>
                                      <p:to>
                                        <p:strVal val="visible"/>
                                      </p:to>
                                    </p:set>
                                    <p:animEffect transition="in" filter="fade">
                                      <p:cBhvr>
                                        <p:cTn id="1020" dur="500"/>
                                        <p:tgtEl>
                                          <p:spTgt spid="7"/>
                                        </p:tgtEl>
                                      </p:cBhvr>
                                    </p:animEffect>
                                  </p:childTnLst>
                                </p:cTn>
                              </p:par>
                              <p:par>
                                <p:cTn id="1021" presetID="10" presetClass="entr" presetSubtype="0" fill="hold" nodeType="withEffect">
                                  <p:stCondLst>
                                    <p:cond delay="270"/>
                                  </p:stCondLst>
                                  <p:childTnLst>
                                    <p:set>
                                      <p:cBhvr>
                                        <p:cTn id="1022" dur="1" fill="hold">
                                          <p:stCondLst>
                                            <p:cond delay="0"/>
                                          </p:stCondLst>
                                        </p:cTn>
                                        <p:tgtEl>
                                          <p:spTgt spid="8"/>
                                        </p:tgtEl>
                                        <p:attrNameLst>
                                          <p:attrName>style.visibility</p:attrName>
                                        </p:attrNameLst>
                                      </p:cBhvr>
                                      <p:to>
                                        <p:strVal val="visible"/>
                                      </p:to>
                                    </p:set>
                                    <p:animEffect transition="in" filter="fade">
                                      <p:cBhvr>
                                        <p:cTn id="1023" dur="500"/>
                                        <p:tgtEl>
                                          <p:spTgt spid="8"/>
                                        </p:tgtEl>
                                      </p:cBhvr>
                                    </p:animEffect>
                                  </p:childTnLst>
                                </p:cTn>
                              </p:par>
                              <p:par>
                                <p:cTn id="1024" presetID="10" presetClass="entr" presetSubtype="0" fill="hold" nodeType="withEffect">
                                  <p:stCondLst>
                                    <p:cond delay="340"/>
                                  </p:stCondLst>
                                  <p:childTnLst>
                                    <p:set>
                                      <p:cBhvr>
                                        <p:cTn id="1025" dur="1" fill="hold">
                                          <p:stCondLst>
                                            <p:cond delay="0"/>
                                          </p:stCondLst>
                                        </p:cTn>
                                        <p:tgtEl>
                                          <p:spTgt spid="9"/>
                                        </p:tgtEl>
                                        <p:attrNameLst>
                                          <p:attrName>style.visibility</p:attrName>
                                        </p:attrNameLst>
                                      </p:cBhvr>
                                      <p:to>
                                        <p:strVal val="visible"/>
                                      </p:to>
                                    </p:set>
                                    <p:animEffect transition="in" filter="fade">
                                      <p:cBhvr>
                                        <p:cTn id="1026" dur="500"/>
                                        <p:tgtEl>
                                          <p:spTgt spid="9"/>
                                        </p:tgtEl>
                                      </p:cBhvr>
                                    </p:animEffect>
                                  </p:childTnLst>
                                </p:cTn>
                              </p:par>
                              <p:par>
                                <p:cTn id="1027" presetID="10" presetClass="entr" presetSubtype="0" fill="hold" nodeType="withEffect">
                                  <p:stCondLst>
                                    <p:cond delay="410"/>
                                  </p:stCondLst>
                                  <p:childTnLst>
                                    <p:set>
                                      <p:cBhvr>
                                        <p:cTn id="1028" dur="1" fill="hold">
                                          <p:stCondLst>
                                            <p:cond delay="0"/>
                                          </p:stCondLst>
                                        </p:cTn>
                                        <p:tgtEl>
                                          <p:spTgt spid="10"/>
                                        </p:tgtEl>
                                        <p:attrNameLst>
                                          <p:attrName>style.visibility</p:attrName>
                                        </p:attrNameLst>
                                      </p:cBhvr>
                                      <p:to>
                                        <p:strVal val="visible"/>
                                      </p:to>
                                    </p:set>
                                    <p:animEffect transition="in" filter="fade">
                                      <p:cBhvr>
                                        <p:cTn id="1029" dur="500"/>
                                        <p:tgtEl>
                                          <p:spTgt spid="10"/>
                                        </p:tgtEl>
                                      </p:cBhvr>
                                    </p:animEffect>
                                  </p:childTnLst>
                                </p:cTn>
                              </p:par>
                              <p:par>
                                <p:cTn id="1030" presetID="10" presetClass="entr" presetSubtype="0" fill="hold" nodeType="withEffect">
                                  <p:stCondLst>
                                    <p:cond delay="480"/>
                                  </p:stCondLst>
                                  <p:childTnLst>
                                    <p:set>
                                      <p:cBhvr>
                                        <p:cTn id="1031" dur="1" fill="hold">
                                          <p:stCondLst>
                                            <p:cond delay="0"/>
                                          </p:stCondLst>
                                        </p:cTn>
                                        <p:tgtEl>
                                          <p:spTgt spid="11"/>
                                        </p:tgtEl>
                                        <p:attrNameLst>
                                          <p:attrName>style.visibility</p:attrName>
                                        </p:attrNameLst>
                                      </p:cBhvr>
                                      <p:to>
                                        <p:strVal val="visible"/>
                                      </p:to>
                                    </p:set>
                                    <p:animEffect transition="in" filter="fade">
                                      <p:cBhvr>
                                        <p:cTn id="1032" dur="500"/>
                                        <p:tgtEl>
                                          <p:spTgt spid="11"/>
                                        </p:tgtEl>
                                      </p:cBhvr>
                                    </p:animEffect>
                                  </p:childTnLst>
                                </p:cTn>
                              </p:par>
                              <p:par>
                                <p:cTn id="1033" presetID="10" presetClass="entr" presetSubtype="0" fill="hold" nodeType="withEffect">
                                  <p:stCondLst>
                                    <p:cond delay="550"/>
                                  </p:stCondLst>
                                  <p:childTnLst>
                                    <p:set>
                                      <p:cBhvr>
                                        <p:cTn id="1034" dur="1" fill="hold">
                                          <p:stCondLst>
                                            <p:cond delay="0"/>
                                          </p:stCondLst>
                                        </p:cTn>
                                        <p:tgtEl>
                                          <p:spTgt spid="12"/>
                                        </p:tgtEl>
                                        <p:attrNameLst>
                                          <p:attrName>style.visibility</p:attrName>
                                        </p:attrNameLst>
                                      </p:cBhvr>
                                      <p:to>
                                        <p:strVal val="visible"/>
                                      </p:to>
                                    </p:set>
                                    <p:animEffect transition="in" filter="fade">
                                      <p:cBhvr>
                                        <p:cTn id="1035" dur="500"/>
                                        <p:tgtEl>
                                          <p:spTgt spid="12"/>
                                        </p:tgtEl>
                                      </p:cBhvr>
                                    </p:animEffect>
                                  </p:childTnLst>
                                </p:cTn>
                              </p:par>
                              <p:par>
                                <p:cTn id="1036" presetID="10" presetClass="entr" presetSubtype="0" fill="hold" nodeType="withEffect">
                                  <p:stCondLst>
                                    <p:cond delay="620"/>
                                  </p:stCondLst>
                                  <p:childTnLst>
                                    <p:set>
                                      <p:cBhvr>
                                        <p:cTn id="1037" dur="1" fill="hold">
                                          <p:stCondLst>
                                            <p:cond delay="0"/>
                                          </p:stCondLst>
                                        </p:cTn>
                                        <p:tgtEl>
                                          <p:spTgt spid="13"/>
                                        </p:tgtEl>
                                        <p:attrNameLst>
                                          <p:attrName>style.visibility</p:attrName>
                                        </p:attrNameLst>
                                      </p:cBhvr>
                                      <p:to>
                                        <p:strVal val="visible"/>
                                      </p:to>
                                    </p:set>
                                    <p:animEffect transition="in" filter="fade">
                                      <p:cBhvr>
                                        <p:cTn id="1038" dur="500"/>
                                        <p:tgtEl>
                                          <p:spTgt spid="13"/>
                                        </p:tgtEl>
                                      </p:cBhvr>
                                    </p:animEffect>
                                  </p:childTnLst>
                                </p:cTn>
                              </p:par>
                              <p:par>
                                <p:cTn id="1039" presetID="10" presetClass="entr" presetSubtype="0" fill="hold" nodeType="withEffect">
                                  <p:stCondLst>
                                    <p:cond delay="690"/>
                                  </p:stCondLst>
                                  <p:childTnLst>
                                    <p:set>
                                      <p:cBhvr>
                                        <p:cTn id="1040" dur="1" fill="hold">
                                          <p:stCondLst>
                                            <p:cond delay="0"/>
                                          </p:stCondLst>
                                        </p:cTn>
                                        <p:tgtEl>
                                          <p:spTgt spid="42"/>
                                        </p:tgtEl>
                                        <p:attrNameLst>
                                          <p:attrName>style.visibility</p:attrName>
                                        </p:attrNameLst>
                                      </p:cBhvr>
                                      <p:to>
                                        <p:strVal val="visible"/>
                                      </p:to>
                                    </p:set>
                                    <p:animEffect transition="in" filter="fade">
                                      <p:cBhvr>
                                        <p:cTn id="1041" dur="500"/>
                                        <p:tgtEl>
                                          <p:spTgt spid="42"/>
                                        </p:tgtEl>
                                      </p:cBhvr>
                                    </p:animEffect>
                                  </p:childTnLst>
                                </p:cTn>
                              </p:par>
                              <p:par>
                                <p:cTn id="1042" presetID="10" presetClass="entr" presetSubtype="0" fill="hold" nodeType="withEffect">
                                  <p:stCondLst>
                                    <p:cond delay="760"/>
                                  </p:stCondLst>
                                  <p:childTnLst>
                                    <p:set>
                                      <p:cBhvr>
                                        <p:cTn id="1043" dur="1" fill="hold">
                                          <p:stCondLst>
                                            <p:cond delay="0"/>
                                          </p:stCondLst>
                                        </p:cTn>
                                        <p:tgtEl>
                                          <p:spTgt spid="43"/>
                                        </p:tgtEl>
                                        <p:attrNameLst>
                                          <p:attrName>style.visibility</p:attrName>
                                        </p:attrNameLst>
                                      </p:cBhvr>
                                      <p:to>
                                        <p:strVal val="visible"/>
                                      </p:to>
                                    </p:set>
                                    <p:animEffect transition="in" filter="fade">
                                      <p:cBhvr>
                                        <p:cTn id="1044" dur="500"/>
                                        <p:tgtEl>
                                          <p:spTgt spid="43"/>
                                        </p:tgtEl>
                                      </p:cBhvr>
                                    </p:animEffect>
                                  </p:childTnLst>
                                </p:cTn>
                              </p:par>
                            </p:childTnLst>
                          </p:cTn>
                        </p:par>
                      </p:childTnLst>
                    </p:cTn>
                  </p:par>
                  <p:par>
                    <p:cTn id="1158" fill="hold">
                      <p:stCondLst>
                        <p:cond delay="indefinite"/>
                      </p:stCondLst>
                      <p:childTnLst>
                        <p:par>
                          <p:cTn id="1159" fill="hold">
                            <p:stCondLst>
                              <p:cond delay="0"/>
                            </p:stCondLst>
                            <p:childTnLst>
                              <p:par>
                                <p:cTn id="1047" presetID="10" presetClass="exit" presetSubtype="0" fill="hold" nodeType="clickEffect">
                                  <p:stCondLst>
                                    <p:cond delay="0"/>
                                  </p:stCondLst>
                                  <p:childTnLst>
                                    <p:animEffect transition="out" filter="fade">
                                      <p:cBhvr>
                                        <p:cTn id="1048" dur="400"/>
                                        <p:tgtEl>
                                          <p:spTgt spid="7"/>
                                        </p:tgtEl>
                                      </p:cBhvr>
                                    </p:animEffect>
                                    <p:set>
                                      <p:cBhvr>
                                        <p:cTn id="1049" dur="1" fill="hold">
                                          <p:stCondLst>
                                            <p:cond delay="399"/>
                                          </p:stCondLst>
                                        </p:cTn>
                                        <p:tgtEl>
                                          <p:spTgt spid="7"/>
                                        </p:tgtEl>
                                        <p:attrNameLst>
                                          <p:attrName>style.visibility</p:attrName>
                                        </p:attrNameLst>
                                      </p:cBhvr>
                                      <p:to>
                                        <p:strVal val="hidden"/>
                                      </p:to>
                                    </p:set>
                                  </p:childTnLst>
                                </p:cTn>
                              </p:par>
                              <p:par>
                                <p:cTn id="1050" presetID="10" presetClass="exit" presetSubtype="0" fill="hold" nodeType="withEffect">
                                  <p:stCondLst>
                                    <p:cond delay="0"/>
                                  </p:stCondLst>
                                  <p:childTnLst>
                                    <p:animEffect transition="out" filter="fade">
                                      <p:cBhvr>
                                        <p:cTn id="1051" dur="400"/>
                                        <p:tgtEl>
                                          <p:spTgt spid="8"/>
                                        </p:tgtEl>
                                      </p:cBhvr>
                                    </p:animEffect>
                                    <p:set>
                                      <p:cBhvr>
                                        <p:cTn id="1052" dur="1" fill="hold">
                                          <p:stCondLst>
                                            <p:cond delay="399"/>
                                          </p:stCondLst>
                                        </p:cTn>
                                        <p:tgtEl>
                                          <p:spTgt spid="8"/>
                                        </p:tgtEl>
                                        <p:attrNameLst>
                                          <p:attrName>style.visibility</p:attrName>
                                        </p:attrNameLst>
                                      </p:cBhvr>
                                      <p:to>
                                        <p:strVal val="hidden"/>
                                      </p:to>
                                    </p:set>
                                  </p:childTnLst>
                                </p:cTn>
                              </p:par>
                              <p:par>
                                <p:cTn id="1053" presetID="10" presetClass="exit" presetSubtype="0" fill="hold" nodeType="withEffect">
                                  <p:stCondLst>
                                    <p:cond delay="0"/>
                                  </p:stCondLst>
                                  <p:childTnLst>
                                    <p:animEffect transition="out" filter="fade">
                                      <p:cBhvr>
                                        <p:cTn id="1054" dur="400"/>
                                        <p:tgtEl>
                                          <p:spTgt spid="9"/>
                                        </p:tgtEl>
                                      </p:cBhvr>
                                    </p:animEffect>
                                    <p:set>
                                      <p:cBhvr>
                                        <p:cTn id="1055" dur="1" fill="hold">
                                          <p:stCondLst>
                                            <p:cond delay="399"/>
                                          </p:stCondLst>
                                        </p:cTn>
                                        <p:tgtEl>
                                          <p:spTgt spid="9"/>
                                        </p:tgtEl>
                                        <p:attrNameLst>
                                          <p:attrName>style.visibility</p:attrName>
                                        </p:attrNameLst>
                                      </p:cBhvr>
                                      <p:to>
                                        <p:strVal val="hidden"/>
                                      </p:to>
                                    </p:set>
                                  </p:childTnLst>
                                </p:cTn>
                              </p:par>
                              <p:par>
                                <p:cTn id="1056" presetID="10" presetClass="exit" presetSubtype="0" fill="hold" nodeType="withEffect">
                                  <p:stCondLst>
                                    <p:cond delay="0"/>
                                  </p:stCondLst>
                                  <p:childTnLst>
                                    <p:animEffect transition="out" filter="fade">
                                      <p:cBhvr>
                                        <p:cTn id="1057" dur="400"/>
                                        <p:tgtEl>
                                          <p:spTgt spid="10"/>
                                        </p:tgtEl>
                                      </p:cBhvr>
                                    </p:animEffect>
                                    <p:set>
                                      <p:cBhvr>
                                        <p:cTn id="1058" dur="1" fill="hold">
                                          <p:stCondLst>
                                            <p:cond delay="399"/>
                                          </p:stCondLst>
                                        </p:cTn>
                                        <p:tgtEl>
                                          <p:spTgt spid="10"/>
                                        </p:tgtEl>
                                        <p:attrNameLst>
                                          <p:attrName>style.visibility</p:attrName>
                                        </p:attrNameLst>
                                      </p:cBhvr>
                                      <p:to>
                                        <p:strVal val="hidden"/>
                                      </p:to>
                                    </p:set>
                                  </p:childTnLst>
                                </p:cTn>
                              </p:par>
                              <p:par>
                                <p:cTn id="1059" presetID="10" presetClass="exit" presetSubtype="0" fill="hold" nodeType="withEffect">
                                  <p:stCondLst>
                                    <p:cond delay="0"/>
                                  </p:stCondLst>
                                  <p:childTnLst>
                                    <p:animEffect transition="out" filter="fade">
                                      <p:cBhvr>
                                        <p:cTn id="1060" dur="400"/>
                                        <p:tgtEl>
                                          <p:spTgt spid="11"/>
                                        </p:tgtEl>
                                      </p:cBhvr>
                                    </p:animEffect>
                                    <p:set>
                                      <p:cBhvr>
                                        <p:cTn id="1061" dur="1" fill="hold">
                                          <p:stCondLst>
                                            <p:cond delay="399"/>
                                          </p:stCondLst>
                                        </p:cTn>
                                        <p:tgtEl>
                                          <p:spTgt spid="11"/>
                                        </p:tgtEl>
                                        <p:attrNameLst>
                                          <p:attrName>style.visibility</p:attrName>
                                        </p:attrNameLst>
                                      </p:cBhvr>
                                      <p:to>
                                        <p:strVal val="hidden"/>
                                      </p:to>
                                    </p:set>
                                  </p:childTnLst>
                                </p:cTn>
                              </p:par>
                              <p:par>
                                <p:cTn id="1062" presetID="10" presetClass="exit" presetSubtype="0" fill="hold" nodeType="withEffect">
                                  <p:stCondLst>
                                    <p:cond delay="0"/>
                                  </p:stCondLst>
                                  <p:childTnLst>
                                    <p:animEffect transition="out" filter="fade">
                                      <p:cBhvr>
                                        <p:cTn id="1063" dur="400"/>
                                        <p:tgtEl>
                                          <p:spTgt spid="12"/>
                                        </p:tgtEl>
                                      </p:cBhvr>
                                    </p:animEffect>
                                    <p:set>
                                      <p:cBhvr>
                                        <p:cTn id="1064" dur="1" fill="hold">
                                          <p:stCondLst>
                                            <p:cond delay="399"/>
                                          </p:stCondLst>
                                        </p:cTn>
                                        <p:tgtEl>
                                          <p:spTgt spid="12"/>
                                        </p:tgtEl>
                                        <p:attrNameLst>
                                          <p:attrName>style.visibility</p:attrName>
                                        </p:attrNameLst>
                                      </p:cBhvr>
                                      <p:to>
                                        <p:strVal val="hidden"/>
                                      </p:to>
                                    </p:set>
                                  </p:childTnLst>
                                </p:cTn>
                              </p:par>
                              <p:par>
                                <p:cTn id="1065" presetID="10" presetClass="exit" presetSubtype="0" fill="hold" nodeType="withEffect">
                                  <p:stCondLst>
                                    <p:cond delay="0"/>
                                  </p:stCondLst>
                                  <p:childTnLst>
                                    <p:animEffect transition="out" filter="fade">
                                      <p:cBhvr>
                                        <p:cTn id="1066" dur="400"/>
                                        <p:tgtEl>
                                          <p:spTgt spid="13"/>
                                        </p:tgtEl>
                                      </p:cBhvr>
                                    </p:animEffect>
                                    <p:set>
                                      <p:cBhvr>
                                        <p:cTn id="1067" dur="1" fill="hold">
                                          <p:stCondLst>
                                            <p:cond delay="399"/>
                                          </p:stCondLst>
                                        </p:cTn>
                                        <p:tgtEl>
                                          <p:spTgt spid="13"/>
                                        </p:tgtEl>
                                        <p:attrNameLst>
                                          <p:attrName>style.visibility</p:attrName>
                                        </p:attrNameLst>
                                      </p:cBhvr>
                                      <p:to>
                                        <p:strVal val="hidden"/>
                                      </p:to>
                                    </p:set>
                                  </p:childTnLst>
                                </p:cTn>
                              </p:par>
                              <p:par>
                                <p:cTn id="1068" presetID="10" presetClass="exit" presetSubtype="0" fill="hold" nodeType="withEffect">
                                  <p:stCondLst>
                                    <p:cond delay="0"/>
                                  </p:stCondLst>
                                  <p:childTnLst>
                                    <p:animEffect transition="out" filter="fade">
                                      <p:cBhvr>
                                        <p:cTn id="1069" dur="400"/>
                                        <p:tgtEl>
                                          <p:spTgt spid="42"/>
                                        </p:tgtEl>
                                      </p:cBhvr>
                                    </p:animEffect>
                                    <p:set>
                                      <p:cBhvr>
                                        <p:cTn id="1070" dur="1" fill="hold">
                                          <p:stCondLst>
                                            <p:cond delay="399"/>
                                          </p:stCondLst>
                                        </p:cTn>
                                        <p:tgtEl>
                                          <p:spTgt spid="42"/>
                                        </p:tgtEl>
                                        <p:attrNameLst>
                                          <p:attrName>style.visibility</p:attrName>
                                        </p:attrNameLst>
                                      </p:cBhvr>
                                      <p:to>
                                        <p:strVal val="hidden"/>
                                      </p:to>
                                    </p:set>
                                  </p:childTnLst>
                                </p:cTn>
                              </p:par>
                              <p:par>
                                <p:cTn id="1071" presetID="10" presetClass="exit" presetSubtype="0" fill="hold" nodeType="withEffect">
                                  <p:stCondLst>
                                    <p:cond delay="0"/>
                                  </p:stCondLst>
                                  <p:childTnLst>
                                    <p:animEffect transition="out" filter="fade">
                                      <p:cBhvr>
                                        <p:cTn id="1072" dur="400"/>
                                        <p:tgtEl>
                                          <p:spTgt spid="43"/>
                                        </p:tgtEl>
                                      </p:cBhvr>
                                    </p:animEffect>
                                    <p:set>
                                      <p:cBhvr>
                                        <p:cTn id="1073" dur="1" fill="hold">
                                          <p:stCondLst>
                                            <p:cond delay="399"/>
                                          </p:stCondLst>
                                        </p:cTn>
                                        <p:tgtEl>
                                          <p:spTgt spid="43"/>
                                        </p:tgtEl>
                                        <p:attrNameLst>
                                          <p:attrName>style.visibility</p:attrName>
                                        </p:attrNameLst>
                                      </p:cBhvr>
                                      <p:to>
                                        <p:strVal val="hidden"/>
                                      </p:to>
                                    </p:set>
                                  </p:childTnLst>
                                </p:cTn>
                              </p:par>
                              <p:par>
                                <p:cTn id="1074" presetID="22" presetClass="entr" presetSubtype="8" fill="hold" nodeType="withEffect">
                                  <p:stCondLst>
                                    <p:cond delay="200"/>
                                  </p:stCondLst>
                                  <p:childTnLst>
                                    <p:set>
                                      <p:cBhvr>
                                        <p:cTn id="1075" dur="1" fill="hold">
                                          <p:stCondLst>
                                            <p:cond delay="0"/>
                                          </p:stCondLst>
                                        </p:cTn>
                                        <p:tgtEl>
                                          <p:spTgt spid="14"/>
                                        </p:tgtEl>
                                        <p:attrNameLst>
                                          <p:attrName>style.visibility</p:attrName>
                                        </p:attrNameLst>
                                      </p:cBhvr>
                                      <p:to>
                                        <p:strVal val="visible"/>
                                      </p:to>
                                    </p:set>
                                    <p:animEffect transition="in" filter="wipe(left)">
                                      <p:cBhvr>
                                        <p:cTn id="1076" dur="500"/>
                                        <p:tgtEl>
                                          <p:spTgt spid="14"/>
                                        </p:tgtEl>
                                      </p:cBhvr>
                                    </p:animEffect>
                                  </p:childTnLst>
                                </p:cTn>
                              </p:par>
                              <p:par>
                                <p:cTn id="1077" presetID="22" presetClass="entr" presetSubtype="8" fill="hold" nodeType="withEffect">
                                  <p:stCondLst>
                                    <p:cond delay="270"/>
                                  </p:stCondLst>
                                  <p:childTnLst>
                                    <p:set>
                                      <p:cBhvr>
                                        <p:cTn id="1078" dur="1" fill="hold">
                                          <p:stCondLst>
                                            <p:cond delay="0"/>
                                          </p:stCondLst>
                                        </p:cTn>
                                        <p:tgtEl>
                                          <p:spTgt spid="15"/>
                                        </p:tgtEl>
                                        <p:attrNameLst>
                                          <p:attrName>style.visibility</p:attrName>
                                        </p:attrNameLst>
                                      </p:cBhvr>
                                      <p:to>
                                        <p:strVal val="visible"/>
                                      </p:to>
                                    </p:set>
                                    <p:animEffect transition="in" filter="wipe(left)">
                                      <p:cBhvr>
                                        <p:cTn id="1079" dur="500"/>
                                        <p:tgtEl>
                                          <p:spTgt spid="15"/>
                                        </p:tgtEl>
                                      </p:cBhvr>
                                    </p:animEffect>
                                  </p:childTnLst>
                                </p:cTn>
                              </p:par>
                              <p:par>
                                <p:cTn id="1080" presetID="22" presetClass="entr" presetSubtype="8" fill="hold" nodeType="withEffect">
                                  <p:stCondLst>
                                    <p:cond delay="340"/>
                                  </p:stCondLst>
                                  <p:childTnLst>
                                    <p:set>
                                      <p:cBhvr>
                                        <p:cTn id="1081" dur="1" fill="hold">
                                          <p:stCondLst>
                                            <p:cond delay="0"/>
                                          </p:stCondLst>
                                        </p:cTn>
                                        <p:tgtEl>
                                          <p:spTgt spid="16"/>
                                        </p:tgtEl>
                                        <p:attrNameLst>
                                          <p:attrName>style.visibility</p:attrName>
                                        </p:attrNameLst>
                                      </p:cBhvr>
                                      <p:to>
                                        <p:strVal val="visible"/>
                                      </p:to>
                                    </p:set>
                                    <p:animEffect transition="in" filter="wipe(left)">
                                      <p:cBhvr>
                                        <p:cTn id="1082" dur="500"/>
                                        <p:tgtEl>
                                          <p:spTgt spid="16"/>
                                        </p:tgtEl>
                                      </p:cBhvr>
                                    </p:animEffect>
                                  </p:childTnLst>
                                </p:cTn>
                              </p:par>
                              <p:par>
                                <p:cTn id="1083" presetID="22" presetClass="entr" presetSubtype="8" fill="hold" nodeType="withEffect">
                                  <p:stCondLst>
                                    <p:cond delay="410"/>
                                  </p:stCondLst>
                                  <p:childTnLst>
                                    <p:set>
                                      <p:cBhvr>
                                        <p:cTn id="1084" dur="1" fill="hold">
                                          <p:stCondLst>
                                            <p:cond delay="0"/>
                                          </p:stCondLst>
                                        </p:cTn>
                                        <p:tgtEl>
                                          <p:spTgt spid="17"/>
                                        </p:tgtEl>
                                        <p:attrNameLst>
                                          <p:attrName>style.visibility</p:attrName>
                                        </p:attrNameLst>
                                      </p:cBhvr>
                                      <p:to>
                                        <p:strVal val="visible"/>
                                      </p:to>
                                    </p:set>
                                    <p:animEffect transition="in" filter="wipe(left)">
                                      <p:cBhvr>
                                        <p:cTn id="1085" dur="500"/>
                                        <p:tgtEl>
                                          <p:spTgt spid="17"/>
                                        </p:tgtEl>
                                      </p:cBhvr>
                                    </p:animEffect>
                                  </p:childTnLst>
                                </p:cTn>
                              </p:par>
                              <p:par>
                                <p:cTn id="1086" presetID="22" presetClass="entr" presetSubtype="8" fill="hold" nodeType="withEffect">
                                  <p:stCondLst>
                                    <p:cond delay="480"/>
                                  </p:stCondLst>
                                  <p:childTnLst>
                                    <p:set>
                                      <p:cBhvr>
                                        <p:cTn id="1087" dur="1" fill="hold">
                                          <p:stCondLst>
                                            <p:cond delay="0"/>
                                          </p:stCondLst>
                                        </p:cTn>
                                        <p:tgtEl>
                                          <p:spTgt spid="18"/>
                                        </p:tgtEl>
                                        <p:attrNameLst>
                                          <p:attrName>style.visibility</p:attrName>
                                        </p:attrNameLst>
                                      </p:cBhvr>
                                      <p:to>
                                        <p:strVal val="visible"/>
                                      </p:to>
                                    </p:set>
                                    <p:animEffect transition="in" filter="wipe(left)">
                                      <p:cBhvr>
                                        <p:cTn id="1088" dur="500"/>
                                        <p:tgtEl>
                                          <p:spTgt spid="18"/>
                                        </p:tgtEl>
                                      </p:cBhvr>
                                    </p:animEffect>
                                  </p:childTnLst>
                                </p:cTn>
                              </p:par>
                              <p:par>
                                <p:cTn id="1089" presetID="22" presetClass="entr" presetSubtype="8" fill="hold" nodeType="withEffect">
                                  <p:stCondLst>
                                    <p:cond delay="550"/>
                                  </p:stCondLst>
                                  <p:childTnLst>
                                    <p:set>
                                      <p:cBhvr>
                                        <p:cTn id="1090" dur="1" fill="hold">
                                          <p:stCondLst>
                                            <p:cond delay="0"/>
                                          </p:stCondLst>
                                        </p:cTn>
                                        <p:tgtEl>
                                          <p:spTgt spid="19"/>
                                        </p:tgtEl>
                                        <p:attrNameLst>
                                          <p:attrName>style.visibility</p:attrName>
                                        </p:attrNameLst>
                                      </p:cBhvr>
                                      <p:to>
                                        <p:strVal val="visible"/>
                                      </p:to>
                                    </p:set>
                                    <p:animEffect transition="in" filter="wipe(left)">
                                      <p:cBhvr>
                                        <p:cTn id="1091" dur="500"/>
                                        <p:tgtEl>
                                          <p:spTgt spid="19"/>
                                        </p:tgtEl>
                                      </p:cBhvr>
                                    </p:animEffect>
                                  </p:childTnLst>
                                </p:cTn>
                              </p:par>
                              <p:par>
                                <p:cTn id="1092" presetID="22" presetClass="entr" presetSubtype="8" fill="hold" nodeType="withEffect">
                                  <p:stCondLst>
                                    <p:cond delay="620"/>
                                  </p:stCondLst>
                                  <p:childTnLst>
                                    <p:set>
                                      <p:cBhvr>
                                        <p:cTn id="1093" dur="1" fill="hold">
                                          <p:stCondLst>
                                            <p:cond delay="0"/>
                                          </p:stCondLst>
                                        </p:cTn>
                                        <p:tgtEl>
                                          <p:spTgt spid="20"/>
                                        </p:tgtEl>
                                        <p:attrNameLst>
                                          <p:attrName>style.visibility</p:attrName>
                                        </p:attrNameLst>
                                      </p:cBhvr>
                                      <p:to>
                                        <p:strVal val="visible"/>
                                      </p:to>
                                    </p:set>
                                    <p:animEffect transition="in" filter="wipe(left)">
                                      <p:cBhvr>
                                        <p:cTn id="1094" dur="500"/>
                                        <p:tgtEl>
                                          <p:spTgt spid="20"/>
                                        </p:tgtEl>
                                      </p:cBhvr>
                                    </p:animEffect>
                                  </p:childTnLst>
                                </p:cTn>
                              </p:par>
                              <p:par>
                                <p:cTn id="1095" presetID="22" presetClass="entr" presetSubtype="8" fill="hold" nodeType="withEffect">
                                  <p:stCondLst>
                                    <p:cond delay="690"/>
                                  </p:stCondLst>
                                  <p:childTnLst>
                                    <p:set>
                                      <p:cBhvr>
                                        <p:cTn id="1096" dur="1" fill="hold">
                                          <p:stCondLst>
                                            <p:cond delay="0"/>
                                          </p:stCondLst>
                                        </p:cTn>
                                        <p:tgtEl>
                                          <p:spTgt spid="21"/>
                                        </p:tgtEl>
                                        <p:attrNameLst>
                                          <p:attrName>style.visibility</p:attrName>
                                        </p:attrNameLst>
                                      </p:cBhvr>
                                      <p:to>
                                        <p:strVal val="visible"/>
                                      </p:to>
                                    </p:set>
                                    <p:animEffect transition="in" filter="wipe(left)">
                                      <p:cBhvr>
                                        <p:cTn id="1097" dur="500"/>
                                        <p:tgtEl>
                                          <p:spTgt spid="21"/>
                                        </p:tgtEl>
                                      </p:cBhvr>
                                    </p:animEffect>
                                  </p:childTnLst>
                                </p:cTn>
                              </p:par>
                              <p:par>
                                <p:cTn id="1098" presetID="22" presetClass="entr" presetSubtype="8" fill="hold" nodeType="withEffect">
                                  <p:stCondLst>
                                    <p:cond delay="760"/>
                                  </p:stCondLst>
                                  <p:childTnLst>
                                    <p:set>
                                      <p:cBhvr>
                                        <p:cTn id="1099" dur="1" fill="hold">
                                          <p:stCondLst>
                                            <p:cond delay="0"/>
                                          </p:stCondLst>
                                        </p:cTn>
                                        <p:tgtEl>
                                          <p:spTgt spid="22"/>
                                        </p:tgtEl>
                                        <p:attrNameLst>
                                          <p:attrName>style.visibility</p:attrName>
                                        </p:attrNameLst>
                                      </p:cBhvr>
                                      <p:to>
                                        <p:strVal val="visible"/>
                                      </p:to>
                                    </p:set>
                                    <p:animEffect transition="in" filter="wipe(left)">
                                      <p:cBhvr>
                                        <p:cTn id="1100" dur="500"/>
                                        <p:tgtEl>
                                          <p:spTgt spid="22"/>
                                        </p:tgtEl>
                                      </p:cBhvr>
                                    </p:animEffect>
                                  </p:childTnLst>
                                </p:cTn>
                              </p:par>
                              <p:par>
                                <p:cTn id="1101" presetID="22" presetClass="entr" presetSubtype="8" fill="hold" nodeType="withEffect">
                                  <p:stCondLst>
                                    <p:cond delay="830"/>
                                  </p:stCondLst>
                                  <p:childTnLst>
                                    <p:set>
                                      <p:cBhvr>
                                        <p:cTn id="1102" dur="1" fill="hold">
                                          <p:stCondLst>
                                            <p:cond delay="0"/>
                                          </p:stCondLst>
                                        </p:cTn>
                                        <p:tgtEl>
                                          <p:spTgt spid="23"/>
                                        </p:tgtEl>
                                        <p:attrNameLst>
                                          <p:attrName>style.visibility</p:attrName>
                                        </p:attrNameLst>
                                      </p:cBhvr>
                                      <p:to>
                                        <p:strVal val="visible"/>
                                      </p:to>
                                    </p:set>
                                    <p:animEffect transition="in" filter="wipe(left)">
                                      <p:cBhvr>
                                        <p:cTn id="1103" dur="500"/>
                                        <p:tgtEl>
                                          <p:spTgt spid="23"/>
                                        </p:tgtEl>
                                      </p:cBhvr>
                                    </p:animEffect>
                                  </p:childTnLst>
                                </p:cTn>
                              </p:par>
                              <p:par>
                                <p:cTn id="1104" presetID="22" presetClass="entr" presetSubtype="8" fill="hold" nodeType="withEffect">
                                  <p:stCondLst>
                                    <p:cond delay="900"/>
                                  </p:stCondLst>
                                  <p:childTnLst>
                                    <p:set>
                                      <p:cBhvr>
                                        <p:cTn id="1105" dur="1" fill="hold">
                                          <p:stCondLst>
                                            <p:cond delay="0"/>
                                          </p:stCondLst>
                                        </p:cTn>
                                        <p:tgtEl>
                                          <p:spTgt spid="24"/>
                                        </p:tgtEl>
                                        <p:attrNameLst>
                                          <p:attrName>style.visibility</p:attrName>
                                        </p:attrNameLst>
                                      </p:cBhvr>
                                      <p:to>
                                        <p:strVal val="visible"/>
                                      </p:to>
                                    </p:set>
                                    <p:animEffect transition="in" filter="wipe(left)">
                                      <p:cBhvr>
                                        <p:cTn id="1106" dur="500"/>
                                        <p:tgtEl>
                                          <p:spTgt spid="24"/>
                                        </p:tgtEl>
                                      </p:cBhvr>
                                    </p:animEffect>
                                  </p:childTnLst>
                                </p:cTn>
                              </p:par>
                              <p:par>
                                <p:cTn id="1107" presetID="22" presetClass="entr" presetSubtype="8" fill="hold" nodeType="withEffect">
                                  <p:stCondLst>
                                    <p:cond delay="900"/>
                                  </p:stCondLst>
                                  <p:childTnLst>
                                    <p:set>
                                      <p:cBhvr>
                                        <p:cTn id="1108" dur="1" fill="hold">
                                          <p:stCondLst>
                                            <p:cond delay="0"/>
                                          </p:stCondLst>
                                        </p:cTn>
                                        <p:tgtEl>
                                          <p:spTgt spid="25"/>
                                        </p:tgtEl>
                                        <p:attrNameLst>
                                          <p:attrName>style.visibility</p:attrName>
                                        </p:attrNameLst>
                                      </p:cBhvr>
                                      <p:to>
                                        <p:strVal val="visible"/>
                                      </p:to>
                                    </p:set>
                                    <p:animEffect transition="in" filter="wipe(left)">
                                      <p:cBhvr>
                                        <p:cTn id="1109" dur="500"/>
                                        <p:tgtEl>
                                          <p:spTgt spid="25"/>
                                        </p:tgtEl>
                                      </p:cBhvr>
                                    </p:animEffect>
                                  </p:childTnLst>
                                </p:cTn>
                              </p:par>
                              <p:par>
                                <p:cTn id="1110" presetID="22" presetClass="entr" presetSubtype="8" fill="hold" nodeType="withEffect">
                                  <p:stCondLst>
                                    <p:cond delay="900"/>
                                  </p:stCondLst>
                                  <p:childTnLst>
                                    <p:set>
                                      <p:cBhvr>
                                        <p:cTn id="1111" dur="1" fill="hold">
                                          <p:stCondLst>
                                            <p:cond delay="0"/>
                                          </p:stCondLst>
                                        </p:cTn>
                                        <p:tgtEl>
                                          <p:spTgt spid="26"/>
                                        </p:tgtEl>
                                        <p:attrNameLst>
                                          <p:attrName>style.visibility</p:attrName>
                                        </p:attrNameLst>
                                      </p:cBhvr>
                                      <p:to>
                                        <p:strVal val="visible"/>
                                      </p:to>
                                    </p:set>
                                    <p:animEffect transition="in" filter="wipe(left)">
                                      <p:cBhvr>
                                        <p:cTn id="1112" dur="500"/>
                                        <p:tgtEl>
                                          <p:spTgt spid="26"/>
                                        </p:tgtEl>
                                      </p:cBhvr>
                                    </p:animEffect>
                                  </p:childTnLst>
                                </p:cTn>
                              </p:par>
                              <p:par>
                                <p:cTn id="1113" presetID="22" presetClass="entr" presetSubtype="8" fill="hold" nodeType="withEffect">
                                  <p:stCondLst>
                                    <p:cond delay="900"/>
                                  </p:stCondLst>
                                  <p:childTnLst>
                                    <p:set>
                                      <p:cBhvr>
                                        <p:cTn id="1114" dur="1" fill="hold">
                                          <p:stCondLst>
                                            <p:cond delay="0"/>
                                          </p:stCondLst>
                                        </p:cTn>
                                        <p:tgtEl>
                                          <p:spTgt spid="27"/>
                                        </p:tgtEl>
                                        <p:attrNameLst>
                                          <p:attrName>style.visibility</p:attrName>
                                        </p:attrNameLst>
                                      </p:cBhvr>
                                      <p:to>
                                        <p:strVal val="visible"/>
                                      </p:to>
                                    </p:set>
                                    <p:animEffect transition="in" filter="wipe(left)">
                                      <p:cBhvr>
                                        <p:cTn id="1115" dur="500"/>
                                        <p:tgtEl>
                                          <p:spTgt spid="27"/>
                                        </p:tgtEl>
                                      </p:cBhvr>
                                    </p:animEffect>
                                  </p:childTnLst>
                                </p:cTn>
                              </p:par>
                              <p:par>
                                <p:cTn id="1116" presetID="22" presetClass="entr" presetSubtype="8" fill="hold" nodeType="withEffect">
                                  <p:stCondLst>
                                    <p:cond delay="900"/>
                                  </p:stCondLst>
                                  <p:childTnLst>
                                    <p:set>
                                      <p:cBhvr>
                                        <p:cTn id="1117" dur="1" fill="hold">
                                          <p:stCondLst>
                                            <p:cond delay="0"/>
                                          </p:stCondLst>
                                        </p:cTn>
                                        <p:tgtEl>
                                          <p:spTgt spid="28"/>
                                        </p:tgtEl>
                                        <p:attrNameLst>
                                          <p:attrName>style.visibility</p:attrName>
                                        </p:attrNameLst>
                                      </p:cBhvr>
                                      <p:to>
                                        <p:strVal val="visible"/>
                                      </p:to>
                                    </p:set>
                                    <p:animEffect transition="in" filter="wipe(left)">
                                      <p:cBhvr>
                                        <p:cTn id="1118" dur="500"/>
                                        <p:tgtEl>
                                          <p:spTgt spid="28"/>
                                        </p:tgtEl>
                                      </p:cBhvr>
                                    </p:animEffect>
                                  </p:childTnLst>
                                </p:cTn>
                              </p:par>
                              <p:par>
                                <p:cTn id="1119" presetID="22" presetClass="entr" presetSubtype="8" fill="hold" nodeType="withEffect">
                                  <p:stCondLst>
                                    <p:cond delay="900"/>
                                  </p:stCondLst>
                                  <p:childTnLst>
                                    <p:set>
                                      <p:cBhvr>
                                        <p:cTn id="1120" dur="1" fill="hold">
                                          <p:stCondLst>
                                            <p:cond delay="0"/>
                                          </p:stCondLst>
                                        </p:cTn>
                                        <p:tgtEl>
                                          <p:spTgt spid="29"/>
                                        </p:tgtEl>
                                        <p:attrNameLst>
                                          <p:attrName>style.visibility</p:attrName>
                                        </p:attrNameLst>
                                      </p:cBhvr>
                                      <p:to>
                                        <p:strVal val="visible"/>
                                      </p:to>
                                    </p:set>
                                    <p:animEffect transition="in" filter="wipe(left)">
                                      <p:cBhvr>
                                        <p:cTn id="1121" dur="500"/>
                                        <p:tgtEl>
                                          <p:spTgt spid="29"/>
                                        </p:tgtEl>
                                      </p:cBhvr>
                                    </p:animEffect>
                                  </p:childTnLst>
                                </p:cTn>
                              </p:par>
                              <p:par>
                                <p:cTn id="1122" presetID="22" presetClass="entr" presetSubtype="8" fill="hold" nodeType="withEffect">
                                  <p:stCondLst>
                                    <p:cond delay="900"/>
                                  </p:stCondLst>
                                  <p:childTnLst>
                                    <p:set>
                                      <p:cBhvr>
                                        <p:cTn id="1123" dur="1" fill="hold">
                                          <p:stCondLst>
                                            <p:cond delay="0"/>
                                          </p:stCondLst>
                                        </p:cTn>
                                        <p:tgtEl>
                                          <p:spTgt spid="30"/>
                                        </p:tgtEl>
                                        <p:attrNameLst>
                                          <p:attrName>style.visibility</p:attrName>
                                        </p:attrNameLst>
                                      </p:cBhvr>
                                      <p:to>
                                        <p:strVal val="visible"/>
                                      </p:to>
                                    </p:set>
                                    <p:animEffect transition="in" filter="wipe(left)">
                                      <p:cBhvr>
                                        <p:cTn id="1124" dur="500"/>
                                        <p:tgtEl>
                                          <p:spTgt spid="30"/>
                                        </p:tgtEl>
                                      </p:cBhvr>
                                    </p:animEffect>
                                  </p:childTnLst>
                                </p:cTn>
                              </p:par>
                              <p:par>
                                <p:cTn id="1125" presetID="22" presetClass="entr" presetSubtype="8" fill="hold" nodeType="withEffect">
                                  <p:stCondLst>
                                    <p:cond delay="900"/>
                                  </p:stCondLst>
                                  <p:childTnLst>
                                    <p:set>
                                      <p:cBhvr>
                                        <p:cTn id="1126" dur="1" fill="hold">
                                          <p:stCondLst>
                                            <p:cond delay="0"/>
                                          </p:stCondLst>
                                        </p:cTn>
                                        <p:tgtEl>
                                          <p:spTgt spid="31"/>
                                        </p:tgtEl>
                                        <p:attrNameLst>
                                          <p:attrName>style.visibility</p:attrName>
                                        </p:attrNameLst>
                                      </p:cBhvr>
                                      <p:to>
                                        <p:strVal val="visible"/>
                                      </p:to>
                                    </p:set>
                                    <p:animEffect transition="in" filter="wipe(left)">
                                      <p:cBhvr>
                                        <p:cTn id="1127" dur="500"/>
                                        <p:tgtEl>
                                          <p:spTgt spid="31"/>
                                        </p:tgtEl>
                                      </p:cBhvr>
                                    </p:animEffect>
                                  </p:childTnLst>
                                </p:cTn>
                              </p:par>
                              <p:par>
                                <p:cTn id="1128" presetID="22" presetClass="entr" presetSubtype="8" fill="hold" nodeType="withEffect">
                                  <p:stCondLst>
                                    <p:cond delay="900"/>
                                  </p:stCondLst>
                                  <p:childTnLst>
                                    <p:set>
                                      <p:cBhvr>
                                        <p:cTn id="1129" dur="1" fill="hold">
                                          <p:stCondLst>
                                            <p:cond delay="0"/>
                                          </p:stCondLst>
                                        </p:cTn>
                                        <p:tgtEl>
                                          <p:spTgt spid="32"/>
                                        </p:tgtEl>
                                        <p:attrNameLst>
                                          <p:attrName>style.visibility</p:attrName>
                                        </p:attrNameLst>
                                      </p:cBhvr>
                                      <p:to>
                                        <p:strVal val="visible"/>
                                      </p:to>
                                    </p:set>
                                    <p:animEffect transition="in" filter="wipe(left)">
                                      <p:cBhvr>
                                        <p:cTn id="1130" dur="500"/>
                                        <p:tgtEl>
                                          <p:spTgt spid="32"/>
                                        </p:tgtEl>
                                      </p:cBhvr>
                                    </p:animEffect>
                                  </p:childTnLst>
                                </p:cTn>
                              </p:par>
                              <p:par>
                                <p:cTn id="1131" presetID="22" presetClass="entr" presetSubtype="8" fill="hold" nodeType="withEffect">
                                  <p:stCondLst>
                                    <p:cond delay="900"/>
                                  </p:stCondLst>
                                  <p:childTnLst>
                                    <p:set>
                                      <p:cBhvr>
                                        <p:cTn id="1132" dur="1" fill="hold">
                                          <p:stCondLst>
                                            <p:cond delay="0"/>
                                          </p:stCondLst>
                                        </p:cTn>
                                        <p:tgtEl>
                                          <p:spTgt spid="33"/>
                                        </p:tgtEl>
                                        <p:attrNameLst>
                                          <p:attrName>style.visibility</p:attrName>
                                        </p:attrNameLst>
                                      </p:cBhvr>
                                      <p:to>
                                        <p:strVal val="visible"/>
                                      </p:to>
                                    </p:set>
                                    <p:animEffect transition="in" filter="wipe(left)">
                                      <p:cBhvr>
                                        <p:cTn id="1133" dur="500"/>
                                        <p:tgtEl>
                                          <p:spTgt spid="33"/>
                                        </p:tgtEl>
                                      </p:cBhvr>
                                    </p:animEffect>
                                  </p:childTnLst>
                                </p:cTn>
                              </p:par>
                              <p:par>
                                <p:cTn id="1134" presetID="22" presetClass="entr" presetSubtype="8" fill="hold" nodeType="withEffect">
                                  <p:stCondLst>
                                    <p:cond delay="900"/>
                                  </p:stCondLst>
                                  <p:childTnLst>
                                    <p:set>
                                      <p:cBhvr>
                                        <p:cTn id="1135" dur="1" fill="hold">
                                          <p:stCondLst>
                                            <p:cond delay="0"/>
                                          </p:stCondLst>
                                        </p:cTn>
                                        <p:tgtEl>
                                          <p:spTgt spid="34"/>
                                        </p:tgtEl>
                                        <p:attrNameLst>
                                          <p:attrName>style.visibility</p:attrName>
                                        </p:attrNameLst>
                                      </p:cBhvr>
                                      <p:to>
                                        <p:strVal val="visible"/>
                                      </p:to>
                                    </p:set>
                                    <p:animEffect transition="in" filter="wipe(left)">
                                      <p:cBhvr>
                                        <p:cTn id="1136" dur="500"/>
                                        <p:tgtEl>
                                          <p:spTgt spid="34"/>
                                        </p:tgtEl>
                                      </p:cBhvr>
                                    </p:animEffect>
                                  </p:childTnLst>
                                </p:cTn>
                              </p:par>
                              <p:par>
                                <p:cTn id="1137" presetID="22" presetClass="entr" presetSubtype="8" fill="hold" nodeType="withEffect">
                                  <p:stCondLst>
                                    <p:cond delay="900"/>
                                  </p:stCondLst>
                                  <p:childTnLst>
                                    <p:set>
                                      <p:cBhvr>
                                        <p:cTn id="1138" dur="1" fill="hold">
                                          <p:stCondLst>
                                            <p:cond delay="0"/>
                                          </p:stCondLst>
                                        </p:cTn>
                                        <p:tgtEl>
                                          <p:spTgt spid="35"/>
                                        </p:tgtEl>
                                        <p:attrNameLst>
                                          <p:attrName>style.visibility</p:attrName>
                                        </p:attrNameLst>
                                      </p:cBhvr>
                                      <p:to>
                                        <p:strVal val="visible"/>
                                      </p:to>
                                    </p:set>
                                    <p:animEffect transition="in" filter="wipe(left)">
                                      <p:cBhvr>
                                        <p:cTn id="1139" dur="500"/>
                                        <p:tgtEl>
                                          <p:spTgt spid="35"/>
                                        </p:tgtEl>
                                      </p:cBhvr>
                                    </p:animEffect>
                                  </p:childTnLst>
                                </p:cTn>
                              </p:par>
                              <p:par>
                                <p:cTn id="1140" presetID="22" presetClass="entr" presetSubtype="8" fill="hold" nodeType="withEffect">
                                  <p:stCondLst>
                                    <p:cond delay="900"/>
                                  </p:stCondLst>
                                  <p:childTnLst>
                                    <p:set>
                                      <p:cBhvr>
                                        <p:cTn id="1141" dur="1" fill="hold">
                                          <p:stCondLst>
                                            <p:cond delay="0"/>
                                          </p:stCondLst>
                                        </p:cTn>
                                        <p:tgtEl>
                                          <p:spTgt spid="36"/>
                                        </p:tgtEl>
                                        <p:attrNameLst>
                                          <p:attrName>style.visibility</p:attrName>
                                        </p:attrNameLst>
                                      </p:cBhvr>
                                      <p:to>
                                        <p:strVal val="visible"/>
                                      </p:to>
                                    </p:set>
                                    <p:animEffect transition="in" filter="wipe(left)">
                                      <p:cBhvr>
                                        <p:cTn id="1142" dur="500"/>
                                        <p:tgtEl>
                                          <p:spTgt spid="36"/>
                                        </p:tgtEl>
                                      </p:cBhvr>
                                    </p:animEffect>
                                  </p:childTnLst>
                                </p:cTn>
                              </p:par>
                              <p:par>
                                <p:cTn id="1143" presetID="22" presetClass="entr" presetSubtype="8" fill="hold" nodeType="withEffect">
                                  <p:stCondLst>
                                    <p:cond delay="900"/>
                                  </p:stCondLst>
                                  <p:childTnLst>
                                    <p:set>
                                      <p:cBhvr>
                                        <p:cTn id="1144" dur="1" fill="hold">
                                          <p:stCondLst>
                                            <p:cond delay="0"/>
                                          </p:stCondLst>
                                        </p:cTn>
                                        <p:tgtEl>
                                          <p:spTgt spid="37"/>
                                        </p:tgtEl>
                                        <p:attrNameLst>
                                          <p:attrName>style.visibility</p:attrName>
                                        </p:attrNameLst>
                                      </p:cBhvr>
                                      <p:to>
                                        <p:strVal val="visible"/>
                                      </p:to>
                                    </p:set>
                                    <p:animEffect transition="in" filter="wipe(left)">
                                      <p:cBhvr>
                                        <p:cTn id="1145" dur="500"/>
                                        <p:tgtEl>
                                          <p:spTgt spid="37"/>
                                        </p:tgtEl>
                                      </p:cBhvr>
                                    </p:animEffect>
                                  </p:childTnLst>
                                </p:cTn>
                              </p:par>
                              <p:par>
                                <p:cTn id="1146" presetID="22" presetClass="entr" presetSubtype="8" fill="hold" nodeType="withEffect">
                                  <p:stCondLst>
                                    <p:cond delay="900"/>
                                  </p:stCondLst>
                                  <p:childTnLst>
                                    <p:set>
                                      <p:cBhvr>
                                        <p:cTn id="1147" dur="1" fill="hold">
                                          <p:stCondLst>
                                            <p:cond delay="0"/>
                                          </p:stCondLst>
                                        </p:cTn>
                                        <p:tgtEl>
                                          <p:spTgt spid="38"/>
                                        </p:tgtEl>
                                        <p:attrNameLst>
                                          <p:attrName>style.visibility</p:attrName>
                                        </p:attrNameLst>
                                      </p:cBhvr>
                                      <p:to>
                                        <p:strVal val="visible"/>
                                      </p:to>
                                    </p:set>
                                    <p:animEffect transition="in" filter="wipe(left)">
                                      <p:cBhvr>
                                        <p:cTn id="1148" dur="500"/>
                                        <p:tgtEl>
                                          <p:spTgt spid="38"/>
                                        </p:tgtEl>
                                      </p:cBhvr>
                                    </p:animEffect>
                                  </p:childTnLst>
                                </p:cTn>
                              </p:par>
                              <p:par>
                                <p:cTn id="1149" presetID="22" presetClass="entr" presetSubtype="8" fill="hold" nodeType="withEffect">
                                  <p:stCondLst>
                                    <p:cond delay="900"/>
                                  </p:stCondLst>
                                  <p:childTnLst>
                                    <p:set>
                                      <p:cBhvr>
                                        <p:cTn id="1150" dur="1" fill="hold">
                                          <p:stCondLst>
                                            <p:cond delay="0"/>
                                          </p:stCondLst>
                                        </p:cTn>
                                        <p:tgtEl>
                                          <p:spTgt spid="39"/>
                                        </p:tgtEl>
                                        <p:attrNameLst>
                                          <p:attrName>style.visibility</p:attrName>
                                        </p:attrNameLst>
                                      </p:cBhvr>
                                      <p:to>
                                        <p:strVal val="visible"/>
                                      </p:to>
                                    </p:set>
                                    <p:animEffect transition="in" filter="wipe(left)">
                                      <p:cBhvr>
                                        <p:cTn id="1151" dur="500"/>
                                        <p:tgtEl>
                                          <p:spTgt spid="39"/>
                                        </p:tgtEl>
                                      </p:cBhvr>
                                    </p:animEffect>
                                  </p:childTnLst>
                                </p:cTn>
                              </p:par>
                              <p:par>
                                <p:cTn id="1152" presetID="22" presetClass="entr" presetSubtype="8" fill="hold" nodeType="withEffect">
                                  <p:stCondLst>
                                    <p:cond delay="900"/>
                                  </p:stCondLst>
                                  <p:childTnLst>
                                    <p:set>
                                      <p:cBhvr>
                                        <p:cTn id="1153" dur="1" fill="hold">
                                          <p:stCondLst>
                                            <p:cond delay="0"/>
                                          </p:stCondLst>
                                        </p:cTn>
                                        <p:tgtEl>
                                          <p:spTgt spid="44"/>
                                        </p:tgtEl>
                                        <p:attrNameLst>
                                          <p:attrName>style.visibility</p:attrName>
                                        </p:attrNameLst>
                                      </p:cBhvr>
                                      <p:to>
                                        <p:strVal val="visible"/>
                                      </p:to>
                                    </p:set>
                                    <p:animEffect transition="in" filter="wipe(left)">
                                      <p:cBhvr>
                                        <p:cTn id="1154" dur="500"/>
                                        <p:tgtEl>
                                          <p:spTgt spid="44"/>
                                        </p:tgtEl>
                                      </p:cBhvr>
                                    </p:animEffect>
                                  </p:childTnLst>
                                </p:cTn>
                              </p:par>
                              <p:par>
                                <p:cTn id="1155" presetID="22" presetClass="entr" presetSubtype="8" fill="hold" nodeType="withEffect">
                                  <p:stCondLst>
                                    <p:cond delay="900"/>
                                  </p:stCondLst>
                                  <p:childTnLst>
                                    <p:set>
                                      <p:cBhvr>
                                        <p:cTn id="1156" dur="1" fill="hold">
                                          <p:stCondLst>
                                            <p:cond delay="0"/>
                                          </p:stCondLst>
                                        </p:cTn>
                                        <p:tgtEl>
                                          <p:spTgt spid="45"/>
                                        </p:tgtEl>
                                        <p:attrNameLst>
                                          <p:attrName>style.visibility</p:attrName>
                                        </p:attrNameLst>
                                      </p:cBhvr>
                                      <p:to>
                                        <p:strVal val="visible"/>
                                      </p:to>
                                    </p:set>
                                    <p:animEffect transition="in" filter="wipe(left)">
                                      <p:cBhvr>
                                        <p:cTn id="115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Hay dos familias de ensayos; los de penetración son directos pero puntuales</a:t>
            </a:r>
            <a:endParaRPr lang="en-US" sz="2200" dirty="0"/>
          </a:p>
        </p:txBody>
      </p:sp>
      <p:sp>
        <p:nvSpPr>
          <p:cNvPr id="3" name="Encabezado dentro [s0]"/>
          <p:cNvSpPr/>
          <p:nvPr/>
        </p:nvSpPr>
        <p:spPr>
          <a:xfrm>
            <a:off x="2360403" y="1561458"/>
            <a:ext cx="1522476" cy="681108"/>
          </a:xfrm>
          <a:prstGeom prst="rect">
            <a:avLst/>
          </a:prstGeom>
          <a:solidFill>
            <a:srgbClr val="1F4E79"/>
          </a:solidFill>
          <a:ln w="11129">
            <a:solidFill>
              <a:srgbClr val="1F4E79"/>
            </a:solidFill>
            <a:prstDash val="solid"/>
          </a:ln>
        </p:spPr>
      </p:sp>
      <p:sp>
        <p:nvSpPr>
          <p:cNvPr id="4" name="Elemento [s0]"/>
          <p:cNvSpPr txBox="1"/>
          <p:nvPr/>
        </p:nvSpPr>
        <p:spPr>
          <a:xfrm>
            <a:off x="2360403"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Dentro del terreno (invasivo)</a:t>
            </a:r>
            <a:endParaRPr lang="en-US" sz="1440" dirty="0"/>
          </a:p>
        </p:txBody>
      </p:sp>
      <p:sp>
        <p:nvSpPr>
          <p:cNvPr id="5" name="Encabezado superficie [s0]"/>
          <p:cNvSpPr/>
          <p:nvPr/>
        </p:nvSpPr>
        <p:spPr>
          <a:xfrm>
            <a:off x="3914931" y="1561458"/>
            <a:ext cx="1522476" cy="681108"/>
          </a:xfrm>
          <a:prstGeom prst="rect">
            <a:avLst/>
          </a:prstGeom>
          <a:solidFill>
            <a:srgbClr val="1F4E79"/>
          </a:solidFill>
          <a:ln w="11129">
            <a:solidFill>
              <a:srgbClr val="1F4E79"/>
            </a:solidFill>
            <a:prstDash val="solid"/>
          </a:ln>
        </p:spPr>
      </p:sp>
      <p:sp>
        <p:nvSpPr>
          <p:cNvPr id="6" name="Elemento [s0]"/>
          <p:cNvSpPr txBox="1"/>
          <p:nvPr/>
        </p:nvSpPr>
        <p:spPr>
          <a:xfrm>
            <a:off x="3914931" y="1561458"/>
            <a:ext cx="1522476" cy="68110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Desde la superficie (no invasivo)</a:t>
            </a:r>
            <a:endParaRPr lang="en-US" sz="1440" dirty="0"/>
          </a:p>
        </p:txBody>
      </p:sp>
      <p:sp>
        <p:nvSpPr>
          <p:cNvPr id="7" name="Fila resistencia [s0]"/>
          <p:cNvSpPr/>
          <p:nvPr/>
        </p:nvSpPr>
        <p:spPr>
          <a:xfrm>
            <a:off x="966136" y="2274618"/>
            <a:ext cx="1362215" cy="761238"/>
          </a:xfrm>
          <a:prstGeom prst="rect">
            <a:avLst/>
          </a:prstGeom>
          <a:solidFill>
            <a:srgbClr val="2E75B6"/>
          </a:solidFill>
          <a:ln w="11129">
            <a:solidFill>
              <a:srgbClr val="2E75B6"/>
            </a:solidFill>
            <a:prstDash val="solid"/>
          </a:ln>
        </p:spPr>
      </p:sp>
      <p:sp>
        <p:nvSpPr>
          <p:cNvPr id="8" name="Elemento [s0]"/>
          <p:cNvSpPr txBox="1"/>
          <p:nvPr/>
        </p:nvSpPr>
        <p:spPr>
          <a:xfrm>
            <a:off x="966136" y="2274618"/>
            <a:ext cx="1362215" cy="761238"/>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Resistencia a la penetración</a:t>
            </a:r>
            <a:endParaRPr lang="en-US" sz="1440" dirty="0"/>
          </a:p>
        </p:txBody>
      </p:sp>
      <p:sp>
        <p:nvSpPr>
          <p:cNvPr id="9" name="Fila ondas [s0]"/>
          <p:cNvSpPr/>
          <p:nvPr/>
        </p:nvSpPr>
        <p:spPr>
          <a:xfrm>
            <a:off x="966136" y="3067908"/>
            <a:ext cx="1362215" cy="1322150"/>
          </a:xfrm>
          <a:prstGeom prst="rect">
            <a:avLst/>
          </a:prstGeom>
          <a:solidFill>
            <a:srgbClr val="2E75B6"/>
          </a:solidFill>
          <a:ln w="11129">
            <a:solidFill>
              <a:srgbClr val="2E75B6"/>
            </a:solidFill>
            <a:prstDash val="solid"/>
          </a:ln>
        </p:spPr>
      </p:sp>
      <p:sp>
        <p:nvSpPr>
          <p:cNvPr id="10" name="Elemento [s0]"/>
          <p:cNvSpPr txBox="1"/>
          <p:nvPr/>
        </p:nvSpPr>
        <p:spPr>
          <a:xfrm>
            <a:off x="966136" y="3067908"/>
            <a:ext cx="1362215" cy="1322150"/>
          </a:xfrm>
          <a:prstGeom prst="rect">
            <a:avLst/>
          </a:prstGeom>
          <a:noFill/>
          <a:ln/>
        </p:spPr>
        <p:txBody>
          <a:bodyPr wrap="square" lIns="38100" tIns="38100" rIns="38100" bIns="381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Propagación de ondas</a:t>
            </a:r>
            <a:endParaRPr lang="en-US" sz="1440" dirty="0"/>
          </a:p>
        </p:txBody>
      </p:sp>
      <p:sp>
        <p:nvSpPr>
          <p:cNvPr id="11" name="Celda penetración dentro [s0]"/>
          <p:cNvSpPr/>
          <p:nvPr/>
        </p:nvSpPr>
        <p:spPr>
          <a:xfrm>
            <a:off x="2360403" y="2274618"/>
            <a:ext cx="1522476" cy="761238"/>
          </a:xfrm>
          <a:prstGeom prst="rect">
            <a:avLst/>
          </a:prstGeom>
          <a:solidFill>
            <a:srgbClr val="FFFFFF"/>
          </a:solidFill>
          <a:ln w="11129">
            <a:solidFill>
              <a:srgbClr val="6B6B6B"/>
            </a:solidFill>
            <a:prstDash val="solid"/>
          </a:ln>
        </p:spPr>
      </p:sp>
      <p:sp>
        <p:nvSpPr>
          <p:cNvPr id="12" name="Elemento [s0]"/>
          <p:cNvSpPr txBox="1"/>
          <p:nvPr/>
        </p:nvSpPr>
        <p:spPr>
          <a:xfrm>
            <a:off x="2360403" y="2274618"/>
            <a:ext cx="1522476" cy="761238"/>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SPT</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CPT / CPTu</a:t>
            </a:r>
            <a:endParaRPr lang="en-US" sz="1440" dirty="0"/>
          </a:p>
        </p:txBody>
      </p:sp>
      <p:sp>
        <p:nvSpPr>
          <p:cNvPr id="13" name="Celda penetración superficie [s0]"/>
          <p:cNvSpPr/>
          <p:nvPr/>
        </p:nvSpPr>
        <p:spPr>
          <a:xfrm>
            <a:off x="3914931" y="2274618"/>
            <a:ext cx="1522476" cy="761238"/>
          </a:xfrm>
          <a:prstGeom prst="rect">
            <a:avLst/>
          </a:prstGeom>
          <a:solidFill>
            <a:srgbClr val="FFFFFF"/>
          </a:solidFill>
          <a:ln w="11129">
            <a:solidFill>
              <a:srgbClr val="6B6B6B"/>
            </a:solidFill>
            <a:prstDash val="solid"/>
          </a:ln>
        </p:spPr>
      </p:sp>
      <p:sp>
        <p:nvSpPr>
          <p:cNvPr id="14" name="Elemento [s0]"/>
          <p:cNvSpPr txBox="1"/>
          <p:nvPr/>
        </p:nvSpPr>
        <p:spPr>
          <a:xfrm>
            <a:off x="3914931" y="2274618"/>
            <a:ext cx="1522476" cy="761238"/>
          </a:xfrm>
          <a:prstGeom prst="rect">
            <a:avLst/>
          </a:prstGeom>
          <a:noFill/>
          <a:ln/>
        </p:spPr>
        <p:txBody>
          <a:bodyPr wrap="square" lIns="38100" tIns="38100" rIns="38100" bIns="38100" rtlCol="0" anchor="ctr"/>
          <a:lstStyle/>
          <a:p>
            <a:pPr algn="ctr" indent="0" marL="0">
              <a:buNone/>
            </a:pPr>
            <a:r>
              <a:rPr lang="en-US" sz="1440" dirty="0">
                <a:solidFill>
                  <a:srgbClr val="6B6B6B"/>
                </a:solidFill>
                <a:latin typeface="Arial" pitchFamily="34" charset="0"/>
                <a:ea typeface="Arial" pitchFamily="34" charset="-122"/>
                <a:cs typeface="Arial" pitchFamily="34" charset="-120"/>
              </a:rPr>
              <a:t>—</a:t>
            </a:r>
            <a:endParaRPr lang="en-US" sz="1440" dirty="0"/>
          </a:p>
        </p:txBody>
      </p:sp>
      <p:sp>
        <p:nvSpPr>
          <p:cNvPr id="15" name="Celda ondas dentro [s0]"/>
          <p:cNvSpPr/>
          <p:nvPr/>
        </p:nvSpPr>
        <p:spPr>
          <a:xfrm>
            <a:off x="2360403" y="3067908"/>
            <a:ext cx="1522476" cy="1322150"/>
          </a:xfrm>
          <a:prstGeom prst="rect">
            <a:avLst/>
          </a:prstGeom>
          <a:solidFill>
            <a:srgbClr val="FFFFFF"/>
          </a:solidFill>
          <a:ln w="11129">
            <a:solidFill>
              <a:srgbClr val="6B6B6B"/>
            </a:solidFill>
            <a:prstDash val="solid"/>
          </a:ln>
        </p:spPr>
      </p:sp>
      <p:sp>
        <p:nvSpPr>
          <p:cNvPr id="16" name="Elemento [s0]"/>
          <p:cNvSpPr txBox="1"/>
          <p:nvPr/>
        </p:nvSpPr>
        <p:spPr>
          <a:xfrm>
            <a:off x="2360403"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Downhole</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Crosshole</a:t>
            </a:r>
            <a:endParaRPr lang="en-US" sz="1440" dirty="0"/>
          </a:p>
        </p:txBody>
      </p:sp>
      <p:sp>
        <p:nvSpPr>
          <p:cNvPr id="17" name="Celda ondas superficie [s0]"/>
          <p:cNvSpPr/>
          <p:nvPr/>
        </p:nvSpPr>
        <p:spPr>
          <a:xfrm>
            <a:off x="3914931" y="3067908"/>
            <a:ext cx="1522476" cy="1322150"/>
          </a:xfrm>
          <a:prstGeom prst="rect">
            <a:avLst/>
          </a:prstGeom>
          <a:solidFill>
            <a:srgbClr val="FFFFFF"/>
          </a:solidFill>
          <a:ln w="33388">
            <a:solidFill>
              <a:srgbClr val="C55A11"/>
            </a:solidFill>
            <a:prstDash val="solid"/>
          </a:ln>
        </p:spPr>
      </p:sp>
      <p:sp>
        <p:nvSpPr>
          <p:cNvPr id="18" name="Elemento [s0]"/>
          <p:cNvSpPr txBox="1"/>
          <p:nvPr/>
        </p:nvSpPr>
        <p:spPr>
          <a:xfrm>
            <a:off x="3914931" y="3067908"/>
            <a:ext cx="1522476" cy="1322150"/>
          </a:xfrm>
          <a:prstGeom prst="rect">
            <a:avLst/>
          </a:prstGeom>
          <a:noFill/>
          <a:ln/>
        </p:spPr>
        <p:txBody>
          <a:bodyPr wrap="square" lIns="38100" tIns="38100" rIns="38100" bIns="38100" rtlCol="0" anchor="ctr"/>
          <a:lstStyle/>
          <a:p>
            <a:pPr algn="ctr" indent="0" marL="0">
              <a:buNone/>
            </a:pPr>
            <a:r>
              <a:rPr lang="en-US" sz="1440" b="1" dirty="0">
                <a:solidFill>
                  <a:srgbClr val="1F4E79"/>
                </a:solidFill>
                <a:latin typeface="Arial" pitchFamily="34" charset="0"/>
                <a:ea typeface="Arial" pitchFamily="34" charset="-122"/>
                <a:cs typeface="Arial" pitchFamily="34" charset="-120"/>
              </a:rPr>
              <a:t>Refracción</a:t>
            </a:r>
            <a:endParaRPr lang="en-US" sz="1440" dirty="0"/>
          </a:p>
          <a:p>
            <a:pPr algn="ctr" indent="0" marL="0">
              <a:buNone/>
            </a:pPr>
            <a:r>
              <a:rPr lang="en-US" sz="1440" b="1" dirty="0">
                <a:solidFill>
                  <a:srgbClr val="1F4E79"/>
                </a:solidFill>
                <a:latin typeface="Arial" pitchFamily="34" charset="0"/>
                <a:ea typeface="Arial" pitchFamily="34" charset="-122"/>
                <a:cs typeface="Arial" pitchFamily="34" charset="-120"/>
              </a:rPr>
              <a:t>Reflexión</a:t>
            </a:r>
            <a:endParaRPr lang="en-US" sz="1440" dirty="0"/>
          </a:p>
          <a:p>
            <a:pPr algn="ctr" indent="0" marL="0">
              <a:buNone/>
            </a:pPr>
            <a:r>
              <a:rPr lang="en-US" sz="1440" b="1" dirty="0">
                <a:solidFill>
                  <a:srgbClr val="C55A11"/>
                </a:solidFill>
                <a:latin typeface="Arial" pitchFamily="34" charset="0"/>
                <a:ea typeface="Arial" pitchFamily="34" charset="-122"/>
                <a:cs typeface="Arial" pitchFamily="34" charset="-120"/>
              </a:rPr>
              <a:t>Ondas superficiales</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Love, Rayleigh</a:t>
            </a:r>
            <a:endParaRPr lang="en-US" sz="1440" dirty="0"/>
          </a:p>
          <a:p>
            <a:pPr algn="ctr" indent="0" marL="0">
              <a:buNone/>
            </a:pPr>
            <a:r>
              <a:rPr lang="en-US" sz="1440" dirty="0">
                <a:solidFill>
                  <a:srgbClr val="1F4E79"/>
                </a:solidFill>
                <a:latin typeface="Arial" pitchFamily="34" charset="0"/>
                <a:ea typeface="Arial" pitchFamily="34" charset="-122"/>
                <a:cs typeface="Arial" pitchFamily="34" charset="-120"/>
              </a:rPr>
              <a:t>SASW / MASW</a:t>
            </a:r>
            <a:endParaRPr lang="en-US" sz="1440" dirty="0"/>
          </a:p>
        </p:txBody>
      </p:sp>
      <p:sp>
        <p:nvSpPr>
          <p:cNvPr id="19" name="Cuerpo [s0]"/>
          <p:cNvSpPr txBox="1"/>
          <p:nvPr/>
        </p:nvSpPr>
        <p:spPr>
          <a:xfrm>
            <a:off x="5733890" y="1641589"/>
            <a:ext cx="2443975" cy="2724431"/>
          </a:xfrm>
          <a:prstGeom prst="rect">
            <a:avLst/>
          </a:prstGeom>
          <a:noFill/>
          <a:ln/>
        </p:spPr>
        <p:txBody>
          <a:bodyPr wrap="square" lIns="0" tIns="0" rIns="0" bIns="0" rtlCol="0" anchor="t"/>
          <a:lstStyle/>
          <a:p>
            <a:pPr marL="342900" indent="-342900">
              <a:spcAft>
                <a:spcPts val="1260"/>
              </a:spcAft>
              <a:buSzPct val="100000"/>
              <a:buChar char="•"/>
            </a:pPr>
            <a:r>
              <a:rPr lang="en-US" sz="1620" dirty="0">
                <a:solidFill>
                  <a:srgbClr val="2D2D2D"/>
                </a:solidFill>
                <a:latin typeface="Arial" pitchFamily="34" charset="0"/>
                <a:ea typeface="Arial" pitchFamily="34" charset="-122"/>
                <a:cs typeface="Arial" pitchFamily="34" charset="-120"/>
              </a:rPr>
              <a:t>Resistencia: miden cuánto cuesta penetrar el terreno</a:t>
            </a:r>
            <a:endParaRPr lang="en-US" sz="1620" dirty="0"/>
          </a:p>
          <a:p>
            <a:pPr marL="342900" indent="-342900">
              <a:spcAft>
                <a:spcPts val="1260"/>
              </a:spcAft>
              <a:buSzPct val="100000"/>
              <a:buChar char="•"/>
            </a:pPr>
            <a:r>
              <a:rPr lang="en-US" sz="162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620" dirty="0"/>
          </a:p>
        </p:txBody>
      </p:sp>
      <p:pic>
        <p:nvPicPr>
          <p:cNvPr id="20" name="Figura SPT [s1]" descr="Ensayo SPT: martillo, barras, cuchara partida y tres tramos de avance">    </p:cNvPr>
          <p:cNvPicPr>
            <a:picLocks noChangeAspect="1"/>
          </p:cNvPicPr>
          <p:nvPr/>
        </p:nvPicPr>
        <p:blipFill>
          <a:blip r:embed="rId1"/>
          <a:stretch>
            <a:fillRect/>
          </a:stretch>
        </p:blipFill>
        <p:spPr>
          <a:xfrm>
            <a:off x="410486" y="1548417"/>
            <a:ext cx="2146852" cy="1610139"/>
          </a:xfrm>
          <a:prstGeom prst="rect">
            <a:avLst/>
          </a:prstGeom>
        </p:spPr>
      </p:pic>
      <p:sp>
        <p:nvSpPr>
          <p:cNvPr id="21" name="Cuerpo [s1]"/>
          <p:cNvSpPr txBox="1"/>
          <p:nvPr/>
        </p:nvSpPr>
        <p:spPr>
          <a:xfrm>
            <a:off x="2691517" y="1615506"/>
            <a:ext cx="1744317" cy="1431235"/>
          </a:xfrm>
          <a:prstGeom prst="rect">
            <a:avLst/>
          </a:prstGeom>
          <a:noFill/>
          <a:ln/>
        </p:spPr>
        <p:txBody>
          <a:bodyPr wrap="square" lIns="0" tIns="0" rIns="0" bIns="0" rtlCol="0" anchor="t"/>
          <a:lstStyle/>
          <a:p>
            <a:pPr marL="342900" indent="-342900">
              <a:spcAft>
                <a:spcPts val="790"/>
              </a:spcAft>
              <a:buSzPct val="100000"/>
              <a:buChar char="•"/>
            </a:pPr>
            <a:r>
              <a:rPr lang="en-US" sz="1129" dirty="0">
                <a:solidFill>
                  <a:srgbClr val="2D2D2D"/>
                </a:solidFill>
                <a:latin typeface="Arial" pitchFamily="34" charset="0"/>
                <a:ea typeface="Arial" pitchFamily="34" charset="-122"/>
                <a:cs typeface="Arial" pitchFamily="34" charset="-120"/>
              </a:rPr>
              <a:t>Un martillo normalizado golpea una cuchara partida</a:t>
            </a:r>
            <a:endParaRPr lang="en-US" sz="1129" dirty="0"/>
          </a:p>
          <a:p>
            <a:pPr marL="342900" indent="-342900">
              <a:spcAft>
                <a:spcPts val="790"/>
              </a:spcAft>
              <a:buSzPct val="100000"/>
              <a:buChar char="•"/>
            </a:pPr>
            <a:r>
              <a:rPr lang="en-US" sz="1129" dirty="0">
                <a:solidFill>
                  <a:srgbClr val="2D2D2D"/>
                </a:solidFill>
                <a:latin typeface="Arial" pitchFamily="34" charset="0"/>
                <a:ea typeface="Arial" pitchFamily="34" charset="-122"/>
                <a:cs typeface="Arial" pitchFamily="34" charset="-120"/>
              </a:rPr>
              <a:t>N: golpes para penetrar 0,304 m (N2 + N3)</a:t>
            </a:r>
            <a:endParaRPr lang="en-US" sz="1129" dirty="0"/>
          </a:p>
          <a:p>
            <a:pPr marL="342900" indent="-342900">
              <a:spcAft>
                <a:spcPts val="790"/>
              </a:spcAft>
              <a:buSzPct val="100000"/>
              <a:buChar char="•"/>
            </a:pPr>
            <a:r>
              <a:rPr lang="en-US" sz="1129" dirty="0">
                <a:solidFill>
                  <a:srgbClr val="2D2D2D"/>
                </a:solidFill>
                <a:latin typeface="Arial" pitchFamily="34" charset="0"/>
                <a:ea typeface="Arial" pitchFamily="34" charset="-122"/>
                <a:cs typeface="Arial" pitchFamily="34" charset="-120"/>
              </a:rPr>
              <a:t>Además recupera una muestra alterada</a:t>
            </a:r>
            <a:endParaRPr lang="en-US" sz="1129" dirty="0"/>
          </a:p>
        </p:txBody>
      </p:sp>
      <p:pic>
        <p:nvPicPr>
          <p:cNvPr id="22" name="Figura CPTu [s1]" descr="Piezocono: punta, manguito de fricción y presión de poros; camión de ensayo y perfil registrado">    </p:cNvPr>
          <p:cNvPicPr>
            <a:picLocks noChangeAspect="1"/>
          </p:cNvPicPr>
          <p:nvPr/>
        </p:nvPicPr>
        <p:blipFill>
          <a:blip r:embed="rId2"/>
          <a:stretch>
            <a:fillRect/>
          </a:stretch>
        </p:blipFill>
        <p:spPr>
          <a:xfrm>
            <a:off x="4708166" y="1481328"/>
            <a:ext cx="1632656" cy="1766680"/>
          </a:xfrm>
          <a:prstGeom prst="rect">
            <a:avLst/>
          </a:prstGeom>
        </p:spPr>
      </p:pic>
      <p:sp>
        <p:nvSpPr>
          <p:cNvPr id="23" name="Cuerpo [s1]"/>
          <p:cNvSpPr txBox="1"/>
          <p:nvPr/>
        </p:nvSpPr>
        <p:spPr>
          <a:xfrm>
            <a:off x="6497210" y="1570780"/>
            <a:ext cx="2236304" cy="1341783"/>
          </a:xfrm>
          <a:prstGeom prst="rect">
            <a:avLst/>
          </a:prstGeom>
          <a:noFill/>
          <a:ln/>
        </p:spPr>
        <p:txBody>
          <a:bodyPr wrap="square" lIns="0" tIns="0" rIns="0" bIns="0" rtlCol="0" anchor="t"/>
          <a:lstStyle/>
          <a:p>
            <a:pPr marL="342900" indent="-342900">
              <a:spcAft>
                <a:spcPts val="564"/>
              </a:spcAft>
              <a:buSzPct val="100000"/>
              <a:buChar char="•"/>
            </a:pPr>
            <a:r>
              <a:rPr lang="en-US" sz="1129" dirty="0">
                <a:solidFill>
                  <a:srgbClr val="2D2D2D"/>
                </a:solidFill>
                <a:latin typeface="Arial" pitchFamily="34" charset="0"/>
                <a:ea typeface="Arial" pitchFamily="34" charset="-122"/>
                <a:cs typeface="Arial" pitchFamily="34" charset="-120"/>
              </a:rPr>
              <a:t>Se hinca a unos 2 cm/s</a:t>
            </a:r>
            <a:endParaRPr lang="en-US" sz="1129" dirty="0"/>
          </a:p>
          <a:p>
            <a:pPr marL="342900" indent="-342900">
              <a:spcAft>
                <a:spcPts val="564"/>
              </a:spcAft>
              <a:buSzPct val="100000"/>
              <a:buChar char="•"/>
            </a:pPr>
            <a:r>
              <a:rPr lang="en-US" sz="1129" dirty="0">
                <a:solidFill>
                  <a:srgbClr val="2D2D2D"/>
                </a:solidFill>
                <a:latin typeface="Arial" pitchFamily="34" charset="0"/>
                <a:ea typeface="Arial" pitchFamily="34" charset="-122"/>
                <a:cs typeface="Arial" pitchFamily="34" charset="-120"/>
              </a:rPr>
              <a:t>Mide resistencia de punta (qc) y fricción lateral (</a:t>
            </a:r>
            <mc:AlternateContent xmlns:mc="http://schemas.openxmlformats.org/markup-compatibility/2006">
              <mc:Choice xmlns:a14="http://schemas.microsoft.com/office/drawing/2010/main" Requires="a14">
                <a14:m>
                  <m:oMath xmlns:m="http://schemas.openxmlformats.org/officeDocument/2006/math">
                    <m:sSub>
                      <m:sSubPr>
                        <m:ctrlPr>
                          <a:rPr lang="es-ES" sz="1129" i="1">
                            <a:latin typeface="Cambria Math" panose="02040503050406030204" pitchFamily="18" charset="0"/>
                          </a:rPr>
                        </m:ctrlPr>
                      </m:sSubPr>
                      <m:e>
                        <m:r>
                          <a:rPr lang="es-ES" sz="1129" i="1">
                            <a:solidFill>
                              <a:srgbClr val="2D2D2D"/>
                            </a:solidFill>
                            <a:latin typeface="Cambria Math" panose="02040503050406030204" pitchFamily="18" charset="0"/>
                          </a:rPr>
                          <m:t xml:space="preserve">f</m:t>
                        </m:r>
                      </m:e>
                      <m:sub>
                        <m:r>
                          <a:rPr lang="es-ES" sz="1129" i="1">
                            <a:solidFill>
                              <a:srgbClr val="2D2D2D"/>
                            </a:solidFill>
                            <a:latin typeface="Cambria Math" panose="02040503050406030204" pitchFamily="18" charset="0"/>
                          </a:rPr>
                          <m:t xml:space="preserve">s</m:t>
                        </m:r>
                      </m:sub>
                    </m:sSub>
                  </m:oMath>
                </a14:m>
              </mc:Choice>
              <mc:Fallback>
                <a:r>
                  <a:rPr lang="en-US" sz="1129" dirty="0">
                    <a:solidFill>
                      <a:srgbClr val="2D2D2D"/>
                    </a:solidFill>
                    <a:latin typeface="Arial" pitchFamily="34" charset="0"/>
                    <a:ea typeface="Arial" pitchFamily="34" charset="-122"/>
                    <a:cs typeface="Arial" pitchFamily="34" charset="-120"/>
                  </a:rPr>
                  <a:t>fs</a:t>
                </a:r>
              </mc:Fallback>
            </mc:AlternateContent>
            <a:r>
              <a:rPr lang="en-US" sz="1129" dirty="0">
                <a:solidFill>
                  <a:srgbClr val="2D2D2D"/>
                </a:solidFill>
                <a:latin typeface="Arial" pitchFamily="34" charset="0"/>
                <a:ea typeface="Arial" pitchFamily="34" charset="-122"/>
                <a:cs typeface="Arial" pitchFamily="34" charset="-120"/>
              </a:rPr>
              <a:t>)</a:t>
            </a:r>
            <a:endParaRPr lang="en-US" sz="1129" dirty="0"/>
          </a:p>
          <a:p>
            <a:pPr marL="342900" indent="-342900">
              <a:spcAft>
                <a:spcPts val="564"/>
              </a:spcAft>
              <a:buSzPct val="100000"/>
              <a:buChar char="•"/>
            </a:pPr>
            <a:r>
              <a:rPr lang="en-US" sz="1129" dirty="0">
                <a:solidFill>
                  <a:srgbClr val="2D2D2D"/>
                </a:solidFill>
                <a:latin typeface="Arial" pitchFamily="34" charset="0"/>
                <a:ea typeface="Arial" pitchFamily="34" charset="-122"/>
                <a:cs typeface="Arial" pitchFamily="34" charset="-120"/>
              </a:rPr>
              <a:t>El CPTu agrega la presión de poros (u₂)</a:t>
            </a:r>
            <a:endParaRPr lang="en-US" sz="1129" dirty="0"/>
          </a:p>
          <a:p>
            <a:pPr marL="342900" indent="-342900">
              <a:spcAft>
                <a:spcPts val="564"/>
              </a:spcAft>
              <a:buSzPct val="100000"/>
              <a:buChar char="•"/>
            </a:pPr>
            <a:r>
              <a:rPr lang="en-US" sz="1129" dirty="0">
                <a:solidFill>
                  <a:srgbClr val="2D2D2D"/>
                </a:solidFill>
                <a:latin typeface="Arial" pitchFamily="34" charset="0"/>
                <a:ea typeface="Arial" pitchFamily="34" charset="-122"/>
                <a:cs typeface="Arial" pitchFamily="34" charset="-120"/>
              </a:rPr>
              <a:t>Entrega un perfil continuo con la profundidad</a:t>
            </a:r>
            <a:endParaRPr lang="en-US" sz="1129" dirty="0"/>
          </a:p>
        </p:txBody>
      </p:sp>
      <p:pic>
        <p:nvPicPr>
          <p:cNvPr id="24" name="SPT pequeña [s2]" descr="SPT">    </p:cNvPr>
          <p:cNvPicPr>
            <a:picLocks noChangeAspect="1"/>
          </p:cNvPicPr>
          <p:nvPr/>
        </p:nvPicPr>
        <p:blipFill>
          <a:blip r:embed="rId3"/>
          <a:stretch>
            <a:fillRect/>
          </a:stretch>
        </p:blipFill>
        <p:spPr>
          <a:xfrm>
            <a:off x="966136" y="1561458"/>
            <a:ext cx="1682737" cy="1262052"/>
          </a:xfrm>
          <a:prstGeom prst="rect">
            <a:avLst/>
          </a:prstGeom>
        </p:spPr>
      </p:pic>
      <p:sp>
        <p:nvSpPr>
          <p:cNvPr id="25" name="Elemento [s2]"/>
          <p:cNvSpPr txBox="1"/>
          <p:nvPr/>
        </p:nvSpPr>
        <p:spPr>
          <a:xfrm>
            <a:off x="2809133" y="1561458"/>
            <a:ext cx="1602606" cy="1262052"/>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SPT</a:t>
            </a:r>
            <a:endParaRPr lang="en-US" sz="1800" dirty="0"/>
          </a:p>
        </p:txBody>
      </p:sp>
      <p:sp>
        <p:nvSpPr>
          <p:cNvPr id="26" name="Cuerpo SPT [s2]"/>
          <p:cNvSpPr txBox="1"/>
          <p:nvPr/>
        </p:nvSpPr>
        <p:spPr>
          <a:xfrm>
            <a:off x="966136" y="2983771"/>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Equipo simple y muy difundido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Recupera una muestra para clasificar</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Amplia base de correlaciones</a:t>
            </a:r>
            <a:endParaRPr lang="en-US" sz="1620" dirty="0"/>
          </a:p>
        </p:txBody>
      </p:sp>
      <p:pic>
        <p:nvPicPr>
          <p:cNvPr id="27" name="CPTu pequeña [s2]" descr="CPTu">    </p:cNvPr>
          <p:cNvPicPr>
            <a:picLocks noChangeAspect="1"/>
          </p:cNvPicPr>
          <p:nvPr/>
        </p:nvPicPr>
        <p:blipFill>
          <a:blip r:embed="rId4"/>
          <a:stretch>
            <a:fillRect/>
          </a:stretch>
        </p:blipFill>
        <p:spPr>
          <a:xfrm>
            <a:off x="4732261" y="1561458"/>
            <a:ext cx="1161890" cy="1258046"/>
          </a:xfrm>
          <a:prstGeom prst="rect">
            <a:avLst/>
          </a:prstGeom>
        </p:spPr>
      </p:pic>
      <p:sp>
        <p:nvSpPr>
          <p:cNvPr id="28" name="Elemento [s2]"/>
          <p:cNvSpPr txBox="1"/>
          <p:nvPr/>
        </p:nvSpPr>
        <p:spPr>
          <a:xfrm>
            <a:off x="6054411" y="1561458"/>
            <a:ext cx="2123453" cy="1258046"/>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CPT / CPTu</a:t>
            </a:r>
            <a:endParaRPr lang="en-US" sz="1800" dirty="0"/>
          </a:p>
        </p:txBody>
      </p:sp>
      <p:sp>
        <p:nvSpPr>
          <p:cNvPr id="29" name="Cuerpo CPT / CPTu [s2]"/>
          <p:cNvSpPr txBox="1"/>
          <p:nvPr/>
        </p:nvSpPr>
        <p:spPr>
          <a:xfrm>
            <a:off x="4732261" y="2979765"/>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Perfil continuo, rápido y repetible</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No requiere perforación previa</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La presión de poros ayuda a distinguir el suelo</a:t>
            </a:r>
            <a:endParaRPr lang="en-US" sz="1620" dirty="0"/>
          </a:p>
        </p:txBody>
      </p:sp>
      <p:pic>
        <p:nvPicPr>
          <p:cNvPr id="30" name="SPT pequeña [s3]" descr="SPT">    </p:cNvPr>
          <p:cNvPicPr>
            <a:picLocks noChangeAspect="1"/>
          </p:cNvPicPr>
          <p:nvPr/>
        </p:nvPicPr>
        <p:blipFill>
          <a:blip r:embed="rId5"/>
          <a:stretch>
            <a:fillRect/>
          </a:stretch>
        </p:blipFill>
        <p:spPr>
          <a:xfrm>
            <a:off x="966136" y="1561458"/>
            <a:ext cx="1682737" cy="1262052"/>
          </a:xfrm>
          <a:prstGeom prst="rect">
            <a:avLst/>
          </a:prstGeom>
        </p:spPr>
      </p:pic>
      <p:sp>
        <p:nvSpPr>
          <p:cNvPr id="31" name="Elemento [s3]"/>
          <p:cNvSpPr txBox="1"/>
          <p:nvPr/>
        </p:nvSpPr>
        <p:spPr>
          <a:xfrm>
            <a:off x="2809133" y="1561458"/>
            <a:ext cx="1602606" cy="1262052"/>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SPT</a:t>
            </a:r>
            <a:endParaRPr lang="en-US" sz="1800" dirty="0"/>
          </a:p>
        </p:txBody>
      </p:sp>
      <p:sp>
        <p:nvSpPr>
          <p:cNvPr id="32" name="Cuerpo SPT [s3]"/>
          <p:cNvSpPr txBox="1"/>
          <p:nvPr/>
        </p:nvSpPr>
        <p:spPr>
          <a:xfrm>
            <a:off x="966136" y="2983771"/>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Un dato por profundidad, no un perfil continuo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Depende de la energía del martillo y del operador</a:t>
            </a:r>
            <a:endParaRPr lang="en-US" sz="1620" dirty="0"/>
          </a:p>
        </p:txBody>
      </p:sp>
      <p:pic>
        <p:nvPicPr>
          <p:cNvPr id="33" name="CPTu pequeña [s3]" descr="CPTu">    </p:cNvPr>
          <p:cNvPicPr>
            <a:picLocks noChangeAspect="1"/>
          </p:cNvPicPr>
          <p:nvPr/>
        </p:nvPicPr>
        <p:blipFill>
          <a:blip r:embed="rId6"/>
          <a:stretch>
            <a:fillRect/>
          </a:stretch>
        </p:blipFill>
        <p:spPr>
          <a:xfrm>
            <a:off x="4732261" y="1561458"/>
            <a:ext cx="1161890" cy="1258046"/>
          </a:xfrm>
          <a:prstGeom prst="rect">
            <a:avLst/>
          </a:prstGeom>
        </p:spPr>
      </p:pic>
      <p:sp>
        <p:nvSpPr>
          <p:cNvPr id="34" name="Elemento [s3]"/>
          <p:cNvSpPr txBox="1"/>
          <p:nvPr/>
        </p:nvSpPr>
        <p:spPr>
          <a:xfrm>
            <a:off x="6054411" y="1561458"/>
            <a:ext cx="2123453" cy="1258046"/>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CPT / CPTu</a:t>
            </a:r>
            <a:endParaRPr lang="en-US" sz="1800" dirty="0"/>
          </a:p>
        </p:txBody>
      </p:sp>
      <p:sp>
        <p:nvSpPr>
          <p:cNvPr id="35" name="Cuerpo CPT / CPTu [s3]"/>
          <p:cNvSpPr txBox="1"/>
          <p:nvPr/>
        </p:nvSpPr>
        <p:spPr>
          <a:xfrm>
            <a:off x="4732261" y="2979765"/>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No recupera muestra</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No atraviesa gravas ni suelos muy duros</a:t>
            </a:r>
            <a:endParaRPr lang="en-US" sz="1620" dirty="0"/>
          </a:p>
        </p:txBody>
      </p:sp>
      <p:sp>
        <p:nvSpPr>
          <p:cNvPr id="36" name="Mensaje [s3]"/>
          <p:cNvSpPr txBox="1"/>
          <p:nvPr/>
        </p:nvSpPr>
        <p:spPr>
          <a:xfrm>
            <a:off x="966136" y="4165694"/>
            <a:ext cx="7211728" cy="360586"/>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620" dirty="0"/>
          </a:p>
        </p:txBody>
      </p:sp>
      <p:sp>
        <p:nvSpPr>
          <p:cNvPr id="37"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Hay dos formas de medir el terreno: por su resistencia o por cómo transmite ondas</a:t>
            </a:r>
            <a:endParaRPr lang="en-US" sz="1400" dirty="0"/>
          </a:p>
        </p:txBody>
      </p:sp>
      <p:sp>
        <p:nvSpPr>
          <p:cNvPr id="38"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Clasificación elaborada a partir de Foti et al. (2014), cap. 1.</a:t>
            </a:r>
            <a:endParaRPr lang="en-US" sz="800" dirty="0"/>
          </a:p>
        </p:txBody>
      </p:sp>
      <p:sp>
        <p:nvSpPr>
          <p:cNvPr id="39" name="Encabezado [s1]"/>
          <p:cNvSpPr txBox="1"/>
          <p:nvPr/>
        </p:nvSpPr>
        <p:spPr>
          <a:xfrm>
            <a:off x="365760" y="987552"/>
            <a:ext cx="4114800" cy="457200"/>
          </a:xfrm>
          <a:prstGeom prst="rect">
            <a:avLst/>
          </a:prstGeom>
          <a:noFill/>
          <a:ln/>
        </p:spPr>
        <p:txBody>
          <a:bodyPr wrap="square" lIns="0" tIns="0" rIns="0" bIns="0" rtlCol="0" anchor="t"/>
          <a:lstStyle/>
          <a:p>
            <a:pPr indent="0" marL="0">
              <a:buNone/>
            </a:pPr>
            <a:r>
              <a:rPr lang="en-US" sz="1100" b="1" dirty="0">
                <a:solidFill>
                  <a:srgbClr val="2E75B6"/>
                </a:solidFill>
                <a:latin typeface="Arial" pitchFamily="34" charset="0"/>
                <a:ea typeface="Arial" pitchFamily="34" charset="-122"/>
                <a:cs typeface="Arial" pitchFamily="34" charset="-120"/>
              </a:rPr>
              <a:t>SPT: se cuentan los golpes necesarios para hincar una cuchara en el suelo</a:t>
            </a:r>
            <a:endParaRPr lang="en-US" sz="1100" dirty="0"/>
          </a:p>
        </p:txBody>
      </p:sp>
      <p:sp>
        <p:nvSpPr>
          <p:cNvPr id="40" name="Encabezado [s1]"/>
          <p:cNvSpPr txBox="1"/>
          <p:nvPr/>
        </p:nvSpPr>
        <p:spPr>
          <a:xfrm>
            <a:off x="4663440" y="987552"/>
            <a:ext cx="4114800" cy="457200"/>
          </a:xfrm>
          <a:prstGeom prst="rect">
            <a:avLst/>
          </a:prstGeom>
          <a:noFill/>
          <a:ln/>
        </p:spPr>
        <p:txBody>
          <a:bodyPr wrap="square" lIns="0" tIns="0" rIns="0" bIns="0" rtlCol="0" anchor="t"/>
          <a:lstStyle/>
          <a:p>
            <a:pPr indent="0" marL="0">
              <a:buNone/>
            </a:pPr>
            <a:r>
              <a:rPr lang="en-US" sz="1100" b="1" dirty="0">
                <a:solidFill>
                  <a:srgbClr val="2E75B6"/>
                </a:solidFill>
                <a:latin typeface="Arial" pitchFamily="34" charset="0"/>
                <a:ea typeface="Arial" pitchFamily="34" charset="-122"/>
                <a:cs typeface="Arial" pitchFamily="34" charset="-120"/>
              </a:rPr>
              <a:t>CPT/CPTu: un cono se hinca a velocidad constante y mide mientras avanza</a:t>
            </a:r>
            <a:endParaRPr lang="en-US" sz="1100" dirty="0"/>
          </a:p>
        </p:txBody>
      </p:sp>
      <p:sp>
        <p:nvSpPr>
          <p:cNvPr id="41"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Procedimiento según la norma ASTM D1586. | Imagen: Putt et al. (2022), Front. Environ. Sci. 9:821882, fig. 1 (CC BY), traducida.</a:t>
            </a:r>
            <a:endParaRPr lang="en-US" sz="800" dirty="0"/>
          </a:p>
        </p:txBody>
      </p:sp>
      <p:sp>
        <p:nvSpPr>
          <p:cNvPr id="42"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Ventajas: resistencia medida directamente y con mucha experiencia acumulada</a:t>
            </a:r>
            <a:endParaRPr lang="en-US" sz="1400" dirty="0"/>
          </a:p>
        </p:txBody>
      </p:sp>
      <p:sp>
        <p:nvSpPr>
          <p:cNvPr id="43"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CPT: Putt et al. (2022).</a:t>
            </a:r>
            <a:endParaRPr lang="en-US" sz="800" dirty="0"/>
          </a:p>
        </p:txBody>
      </p:sp>
      <p:sp>
        <p:nvSpPr>
          <p:cNvPr id="44"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Limitaciones: puntuales, invasivos y sin medir la rigidez de forma directa</a:t>
            </a:r>
            <a:endParaRPr lang="en-US" sz="1400" dirty="0"/>
          </a:p>
        </p:txBody>
      </p:sp>
      <p:sp>
        <p:nvSpPr>
          <p:cNvPr id="45"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SPT: adaptada de Froldi (2021). CPT: Putt et al. (2022).</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38" fill="hold">
                      <p:stCondLst>
                        <p:cond delay="indefinite"/>
                      </p:stCondLst>
                      <p:childTnLst>
                        <p:par>
                          <p:cTn id="1239" fill="hold">
                            <p:stCondLst>
                              <p:cond delay="0"/>
                            </p:stCondLst>
                            <p:childTnLst>
                              <p:par>
                                <p:cTn id="1160" presetID="10" presetClass="exit" presetSubtype="0" fill="hold" nodeType="clickEffect">
                                  <p:stCondLst>
                                    <p:cond delay="0"/>
                                  </p:stCondLst>
                                  <p:childTnLst>
                                    <p:animEffect transition="out" filter="fade">
                                      <p:cBhvr>
                                        <p:cTn id="1161" dur="400"/>
                                        <p:tgtEl>
                                          <p:spTgt spid="3"/>
                                        </p:tgtEl>
                                      </p:cBhvr>
                                    </p:animEffect>
                                    <p:set>
                                      <p:cBhvr>
                                        <p:cTn id="1162" dur="1" fill="hold">
                                          <p:stCondLst>
                                            <p:cond delay="399"/>
                                          </p:stCondLst>
                                        </p:cTn>
                                        <p:tgtEl>
                                          <p:spTgt spid="3"/>
                                        </p:tgtEl>
                                        <p:attrNameLst>
                                          <p:attrName>style.visibility</p:attrName>
                                        </p:attrNameLst>
                                      </p:cBhvr>
                                      <p:to>
                                        <p:strVal val="hidden"/>
                                      </p:to>
                                    </p:set>
                                  </p:childTnLst>
                                </p:cTn>
                              </p:par>
                              <p:par>
                                <p:cTn id="1163" presetID="10" presetClass="exit" presetSubtype="0" fill="hold" nodeType="withEffect">
                                  <p:stCondLst>
                                    <p:cond delay="0"/>
                                  </p:stCondLst>
                                  <p:childTnLst>
                                    <p:animEffect transition="out" filter="fade">
                                      <p:cBhvr>
                                        <p:cTn id="1164" dur="400"/>
                                        <p:tgtEl>
                                          <p:spTgt spid="4"/>
                                        </p:tgtEl>
                                      </p:cBhvr>
                                    </p:animEffect>
                                    <p:set>
                                      <p:cBhvr>
                                        <p:cTn id="1165" dur="1" fill="hold">
                                          <p:stCondLst>
                                            <p:cond delay="399"/>
                                          </p:stCondLst>
                                        </p:cTn>
                                        <p:tgtEl>
                                          <p:spTgt spid="4"/>
                                        </p:tgtEl>
                                        <p:attrNameLst>
                                          <p:attrName>style.visibility</p:attrName>
                                        </p:attrNameLst>
                                      </p:cBhvr>
                                      <p:to>
                                        <p:strVal val="hidden"/>
                                      </p:to>
                                    </p:set>
                                  </p:childTnLst>
                                </p:cTn>
                              </p:par>
                              <p:par>
                                <p:cTn id="1166" presetID="10" presetClass="exit" presetSubtype="0" fill="hold" nodeType="withEffect">
                                  <p:stCondLst>
                                    <p:cond delay="0"/>
                                  </p:stCondLst>
                                  <p:childTnLst>
                                    <p:animEffect transition="out" filter="fade">
                                      <p:cBhvr>
                                        <p:cTn id="1167" dur="400"/>
                                        <p:tgtEl>
                                          <p:spTgt spid="5"/>
                                        </p:tgtEl>
                                      </p:cBhvr>
                                    </p:animEffect>
                                    <p:set>
                                      <p:cBhvr>
                                        <p:cTn id="1168" dur="1" fill="hold">
                                          <p:stCondLst>
                                            <p:cond delay="399"/>
                                          </p:stCondLst>
                                        </p:cTn>
                                        <p:tgtEl>
                                          <p:spTgt spid="5"/>
                                        </p:tgtEl>
                                        <p:attrNameLst>
                                          <p:attrName>style.visibility</p:attrName>
                                        </p:attrNameLst>
                                      </p:cBhvr>
                                      <p:to>
                                        <p:strVal val="hidden"/>
                                      </p:to>
                                    </p:set>
                                  </p:childTnLst>
                                </p:cTn>
                              </p:par>
                              <p:par>
                                <p:cTn id="1169" presetID="10" presetClass="exit" presetSubtype="0" fill="hold" nodeType="withEffect">
                                  <p:stCondLst>
                                    <p:cond delay="0"/>
                                  </p:stCondLst>
                                  <p:childTnLst>
                                    <p:animEffect transition="out" filter="fade">
                                      <p:cBhvr>
                                        <p:cTn id="1170" dur="400"/>
                                        <p:tgtEl>
                                          <p:spTgt spid="6"/>
                                        </p:tgtEl>
                                      </p:cBhvr>
                                    </p:animEffect>
                                    <p:set>
                                      <p:cBhvr>
                                        <p:cTn id="1171" dur="1" fill="hold">
                                          <p:stCondLst>
                                            <p:cond delay="399"/>
                                          </p:stCondLst>
                                        </p:cTn>
                                        <p:tgtEl>
                                          <p:spTgt spid="6"/>
                                        </p:tgtEl>
                                        <p:attrNameLst>
                                          <p:attrName>style.visibility</p:attrName>
                                        </p:attrNameLst>
                                      </p:cBhvr>
                                      <p:to>
                                        <p:strVal val="hidden"/>
                                      </p:to>
                                    </p:set>
                                  </p:childTnLst>
                                </p:cTn>
                              </p:par>
                              <p:par>
                                <p:cTn id="1172" presetID="10" presetClass="exit" presetSubtype="0" fill="hold" nodeType="withEffect">
                                  <p:stCondLst>
                                    <p:cond delay="0"/>
                                  </p:stCondLst>
                                  <p:childTnLst>
                                    <p:animEffect transition="out" filter="fade">
                                      <p:cBhvr>
                                        <p:cTn id="1173" dur="400"/>
                                        <p:tgtEl>
                                          <p:spTgt spid="7"/>
                                        </p:tgtEl>
                                      </p:cBhvr>
                                    </p:animEffect>
                                    <p:set>
                                      <p:cBhvr>
                                        <p:cTn id="1174" dur="1" fill="hold">
                                          <p:stCondLst>
                                            <p:cond delay="399"/>
                                          </p:stCondLst>
                                        </p:cTn>
                                        <p:tgtEl>
                                          <p:spTgt spid="7"/>
                                        </p:tgtEl>
                                        <p:attrNameLst>
                                          <p:attrName>style.visibility</p:attrName>
                                        </p:attrNameLst>
                                      </p:cBhvr>
                                      <p:to>
                                        <p:strVal val="hidden"/>
                                      </p:to>
                                    </p:set>
                                  </p:childTnLst>
                                </p:cTn>
                              </p:par>
                              <p:par>
                                <p:cTn id="1175" presetID="10" presetClass="exit" presetSubtype="0" fill="hold" nodeType="withEffect">
                                  <p:stCondLst>
                                    <p:cond delay="0"/>
                                  </p:stCondLst>
                                  <p:childTnLst>
                                    <p:animEffect transition="out" filter="fade">
                                      <p:cBhvr>
                                        <p:cTn id="1176" dur="400"/>
                                        <p:tgtEl>
                                          <p:spTgt spid="8"/>
                                        </p:tgtEl>
                                      </p:cBhvr>
                                    </p:animEffect>
                                    <p:set>
                                      <p:cBhvr>
                                        <p:cTn id="1177" dur="1" fill="hold">
                                          <p:stCondLst>
                                            <p:cond delay="399"/>
                                          </p:stCondLst>
                                        </p:cTn>
                                        <p:tgtEl>
                                          <p:spTgt spid="8"/>
                                        </p:tgtEl>
                                        <p:attrNameLst>
                                          <p:attrName>style.visibility</p:attrName>
                                        </p:attrNameLst>
                                      </p:cBhvr>
                                      <p:to>
                                        <p:strVal val="hidden"/>
                                      </p:to>
                                    </p:set>
                                  </p:childTnLst>
                                </p:cTn>
                              </p:par>
                              <p:par>
                                <p:cTn id="1178" presetID="10" presetClass="exit" presetSubtype="0" fill="hold" nodeType="withEffect">
                                  <p:stCondLst>
                                    <p:cond delay="0"/>
                                  </p:stCondLst>
                                  <p:childTnLst>
                                    <p:animEffect transition="out" filter="fade">
                                      <p:cBhvr>
                                        <p:cTn id="1179" dur="400"/>
                                        <p:tgtEl>
                                          <p:spTgt spid="9"/>
                                        </p:tgtEl>
                                      </p:cBhvr>
                                    </p:animEffect>
                                    <p:set>
                                      <p:cBhvr>
                                        <p:cTn id="1180" dur="1" fill="hold">
                                          <p:stCondLst>
                                            <p:cond delay="399"/>
                                          </p:stCondLst>
                                        </p:cTn>
                                        <p:tgtEl>
                                          <p:spTgt spid="9"/>
                                        </p:tgtEl>
                                        <p:attrNameLst>
                                          <p:attrName>style.visibility</p:attrName>
                                        </p:attrNameLst>
                                      </p:cBhvr>
                                      <p:to>
                                        <p:strVal val="hidden"/>
                                      </p:to>
                                    </p:set>
                                  </p:childTnLst>
                                </p:cTn>
                              </p:par>
                              <p:par>
                                <p:cTn id="1181" presetID="10" presetClass="exit" presetSubtype="0" fill="hold" nodeType="withEffect">
                                  <p:stCondLst>
                                    <p:cond delay="0"/>
                                  </p:stCondLst>
                                  <p:childTnLst>
                                    <p:animEffect transition="out" filter="fade">
                                      <p:cBhvr>
                                        <p:cTn id="1182" dur="400"/>
                                        <p:tgtEl>
                                          <p:spTgt spid="10"/>
                                        </p:tgtEl>
                                      </p:cBhvr>
                                    </p:animEffect>
                                    <p:set>
                                      <p:cBhvr>
                                        <p:cTn id="1183" dur="1" fill="hold">
                                          <p:stCondLst>
                                            <p:cond delay="399"/>
                                          </p:stCondLst>
                                        </p:cTn>
                                        <p:tgtEl>
                                          <p:spTgt spid="10"/>
                                        </p:tgtEl>
                                        <p:attrNameLst>
                                          <p:attrName>style.visibility</p:attrName>
                                        </p:attrNameLst>
                                      </p:cBhvr>
                                      <p:to>
                                        <p:strVal val="hidden"/>
                                      </p:to>
                                    </p:set>
                                  </p:childTnLst>
                                </p:cTn>
                              </p:par>
                              <p:par>
                                <p:cTn id="1184" presetID="10" presetClass="exit" presetSubtype="0" fill="hold" nodeType="withEffect">
                                  <p:stCondLst>
                                    <p:cond delay="0"/>
                                  </p:stCondLst>
                                  <p:childTnLst>
                                    <p:animEffect transition="out" filter="fade">
                                      <p:cBhvr>
                                        <p:cTn id="1185" dur="400"/>
                                        <p:tgtEl>
                                          <p:spTgt spid="11"/>
                                        </p:tgtEl>
                                      </p:cBhvr>
                                    </p:animEffect>
                                    <p:set>
                                      <p:cBhvr>
                                        <p:cTn id="1186" dur="1" fill="hold">
                                          <p:stCondLst>
                                            <p:cond delay="399"/>
                                          </p:stCondLst>
                                        </p:cTn>
                                        <p:tgtEl>
                                          <p:spTgt spid="11"/>
                                        </p:tgtEl>
                                        <p:attrNameLst>
                                          <p:attrName>style.visibility</p:attrName>
                                        </p:attrNameLst>
                                      </p:cBhvr>
                                      <p:to>
                                        <p:strVal val="hidden"/>
                                      </p:to>
                                    </p:set>
                                  </p:childTnLst>
                                </p:cTn>
                              </p:par>
                              <p:par>
                                <p:cTn id="1187" presetID="10" presetClass="exit" presetSubtype="0" fill="hold" nodeType="withEffect">
                                  <p:stCondLst>
                                    <p:cond delay="0"/>
                                  </p:stCondLst>
                                  <p:childTnLst>
                                    <p:animEffect transition="out" filter="fade">
                                      <p:cBhvr>
                                        <p:cTn id="1188" dur="400"/>
                                        <p:tgtEl>
                                          <p:spTgt spid="12"/>
                                        </p:tgtEl>
                                      </p:cBhvr>
                                    </p:animEffect>
                                    <p:set>
                                      <p:cBhvr>
                                        <p:cTn id="1189" dur="1" fill="hold">
                                          <p:stCondLst>
                                            <p:cond delay="399"/>
                                          </p:stCondLst>
                                        </p:cTn>
                                        <p:tgtEl>
                                          <p:spTgt spid="12"/>
                                        </p:tgtEl>
                                        <p:attrNameLst>
                                          <p:attrName>style.visibility</p:attrName>
                                        </p:attrNameLst>
                                      </p:cBhvr>
                                      <p:to>
                                        <p:strVal val="hidden"/>
                                      </p:to>
                                    </p:set>
                                  </p:childTnLst>
                                </p:cTn>
                              </p:par>
                              <p:par>
                                <p:cTn id="1190" presetID="10" presetClass="exit" presetSubtype="0" fill="hold" nodeType="withEffect">
                                  <p:stCondLst>
                                    <p:cond delay="0"/>
                                  </p:stCondLst>
                                  <p:childTnLst>
                                    <p:animEffect transition="out" filter="fade">
                                      <p:cBhvr>
                                        <p:cTn id="1191" dur="400"/>
                                        <p:tgtEl>
                                          <p:spTgt spid="13"/>
                                        </p:tgtEl>
                                      </p:cBhvr>
                                    </p:animEffect>
                                    <p:set>
                                      <p:cBhvr>
                                        <p:cTn id="1192" dur="1" fill="hold">
                                          <p:stCondLst>
                                            <p:cond delay="399"/>
                                          </p:stCondLst>
                                        </p:cTn>
                                        <p:tgtEl>
                                          <p:spTgt spid="13"/>
                                        </p:tgtEl>
                                        <p:attrNameLst>
                                          <p:attrName>style.visibility</p:attrName>
                                        </p:attrNameLst>
                                      </p:cBhvr>
                                      <p:to>
                                        <p:strVal val="hidden"/>
                                      </p:to>
                                    </p:set>
                                  </p:childTnLst>
                                </p:cTn>
                              </p:par>
                              <p:par>
                                <p:cTn id="1193" presetID="10" presetClass="exit" presetSubtype="0" fill="hold" nodeType="withEffect">
                                  <p:stCondLst>
                                    <p:cond delay="0"/>
                                  </p:stCondLst>
                                  <p:childTnLst>
                                    <p:animEffect transition="out" filter="fade">
                                      <p:cBhvr>
                                        <p:cTn id="1194" dur="400"/>
                                        <p:tgtEl>
                                          <p:spTgt spid="14"/>
                                        </p:tgtEl>
                                      </p:cBhvr>
                                    </p:animEffect>
                                    <p:set>
                                      <p:cBhvr>
                                        <p:cTn id="1195" dur="1" fill="hold">
                                          <p:stCondLst>
                                            <p:cond delay="399"/>
                                          </p:stCondLst>
                                        </p:cTn>
                                        <p:tgtEl>
                                          <p:spTgt spid="14"/>
                                        </p:tgtEl>
                                        <p:attrNameLst>
                                          <p:attrName>style.visibility</p:attrName>
                                        </p:attrNameLst>
                                      </p:cBhvr>
                                      <p:to>
                                        <p:strVal val="hidden"/>
                                      </p:to>
                                    </p:set>
                                  </p:childTnLst>
                                </p:cTn>
                              </p:par>
                              <p:par>
                                <p:cTn id="1196" presetID="10" presetClass="exit" presetSubtype="0" fill="hold" nodeType="withEffect">
                                  <p:stCondLst>
                                    <p:cond delay="0"/>
                                  </p:stCondLst>
                                  <p:childTnLst>
                                    <p:animEffect transition="out" filter="fade">
                                      <p:cBhvr>
                                        <p:cTn id="1197" dur="400"/>
                                        <p:tgtEl>
                                          <p:spTgt spid="15"/>
                                        </p:tgtEl>
                                      </p:cBhvr>
                                    </p:animEffect>
                                    <p:set>
                                      <p:cBhvr>
                                        <p:cTn id="1198" dur="1" fill="hold">
                                          <p:stCondLst>
                                            <p:cond delay="399"/>
                                          </p:stCondLst>
                                        </p:cTn>
                                        <p:tgtEl>
                                          <p:spTgt spid="15"/>
                                        </p:tgtEl>
                                        <p:attrNameLst>
                                          <p:attrName>style.visibility</p:attrName>
                                        </p:attrNameLst>
                                      </p:cBhvr>
                                      <p:to>
                                        <p:strVal val="hidden"/>
                                      </p:to>
                                    </p:set>
                                  </p:childTnLst>
                                </p:cTn>
                              </p:par>
                              <p:par>
                                <p:cTn id="1199" presetID="10" presetClass="exit" presetSubtype="0" fill="hold" nodeType="withEffect">
                                  <p:stCondLst>
                                    <p:cond delay="0"/>
                                  </p:stCondLst>
                                  <p:childTnLst>
                                    <p:animEffect transition="out" filter="fade">
                                      <p:cBhvr>
                                        <p:cTn id="1200" dur="400"/>
                                        <p:tgtEl>
                                          <p:spTgt spid="16"/>
                                        </p:tgtEl>
                                      </p:cBhvr>
                                    </p:animEffect>
                                    <p:set>
                                      <p:cBhvr>
                                        <p:cTn id="1201" dur="1" fill="hold">
                                          <p:stCondLst>
                                            <p:cond delay="399"/>
                                          </p:stCondLst>
                                        </p:cTn>
                                        <p:tgtEl>
                                          <p:spTgt spid="16"/>
                                        </p:tgtEl>
                                        <p:attrNameLst>
                                          <p:attrName>style.visibility</p:attrName>
                                        </p:attrNameLst>
                                      </p:cBhvr>
                                      <p:to>
                                        <p:strVal val="hidden"/>
                                      </p:to>
                                    </p:set>
                                  </p:childTnLst>
                                </p:cTn>
                              </p:par>
                              <p:par>
                                <p:cTn id="1202" presetID="10" presetClass="exit" presetSubtype="0" fill="hold" nodeType="withEffect">
                                  <p:stCondLst>
                                    <p:cond delay="0"/>
                                  </p:stCondLst>
                                  <p:childTnLst>
                                    <p:animEffect transition="out" filter="fade">
                                      <p:cBhvr>
                                        <p:cTn id="1203" dur="400"/>
                                        <p:tgtEl>
                                          <p:spTgt spid="17"/>
                                        </p:tgtEl>
                                      </p:cBhvr>
                                    </p:animEffect>
                                    <p:set>
                                      <p:cBhvr>
                                        <p:cTn id="1204" dur="1" fill="hold">
                                          <p:stCondLst>
                                            <p:cond delay="399"/>
                                          </p:stCondLst>
                                        </p:cTn>
                                        <p:tgtEl>
                                          <p:spTgt spid="17"/>
                                        </p:tgtEl>
                                        <p:attrNameLst>
                                          <p:attrName>style.visibility</p:attrName>
                                        </p:attrNameLst>
                                      </p:cBhvr>
                                      <p:to>
                                        <p:strVal val="hidden"/>
                                      </p:to>
                                    </p:set>
                                  </p:childTnLst>
                                </p:cTn>
                              </p:par>
                              <p:par>
                                <p:cTn id="1205" presetID="10" presetClass="exit" presetSubtype="0" fill="hold" nodeType="withEffect">
                                  <p:stCondLst>
                                    <p:cond delay="0"/>
                                  </p:stCondLst>
                                  <p:childTnLst>
                                    <p:animEffect transition="out" filter="fade">
                                      <p:cBhvr>
                                        <p:cTn id="1206" dur="400"/>
                                        <p:tgtEl>
                                          <p:spTgt spid="18"/>
                                        </p:tgtEl>
                                      </p:cBhvr>
                                    </p:animEffect>
                                    <p:set>
                                      <p:cBhvr>
                                        <p:cTn id="1207" dur="1" fill="hold">
                                          <p:stCondLst>
                                            <p:cond delay="399"/>
                                          </p:stCondLst>
                                        </p:cTn>
                                        <p:tgtEl>
                                          <p:spTgt spid="18"/>
                                        </p:tgtEl>
                                        <p:attrNameLst>
                                          <p:attrName>style.visibility</p:attrName>
                                        </p:attrNameLst>
                                      </p:cBhvr>
                                      <p:to>
                                        <p:strVal val="hidden"/>
                                      </p:to>
                                    </p:set>
                                  </p:childTnLst>
                                </p:cTn>
                              </p:par>
                              <p:par>
                                <p:cTn id="1208" presetID="10" presetClass="exit" presetSubtype="0" fill="hold" nodeType="withEffect">
                                  <p:stCondLst>
                                    <p:cond delay="0"/>
                                  </p:stCondLst>
                                  <p:childTnLst>
                                    <p:animEffect transition="out" filter="fade">
                                      <p:cBhvr>
                                        <p:cTn id="1209" dur="400"/>
                                        <p:tgtEl>
                                          <p:spTgt spid="19"/>
                                        </p:tgtEl>
                                      </p:cBhvr>
                                    </p:animEffect>
                                    <p:set>
                                      <p:cBhvr>
                                        <p:cTn id="1210" dur="1" fill="hold">
                                          <p:stCondLst>
                                            <p:cond delay="399"/>
                                          </p:stCondLst>
                                        </p:cTn>
                                        <p:tgtEl>
                                          <p:spTgt spid="19"/>
                                        </p:tgtEl>
                                        <p:attrNameLst>
                                          <p:attrName>style.visibility</p:attrName>
                                        </p:attrNameLst>
                                      </p:cBhvr>
                                      <p:to>
                                        <p:strVal val="hidden"/>
                                      </p:to>
                                    </p:set>
                                  </p:childTnLst>
                                </p:cTn>
                              </p:par>
                              <p:par>
                                <p:cTn id="1211" presetID="10" presetClass="exit" presetSubtype="0" fill="hold" nodeType="withEffect">
                                  <p:stCondLst>
                                    <p:cond delay="0"/>
                                  </p:stCondLst>
                                  <p:childTnLst>
                                    <p:animEffect transition="out" filter="fade">
                                      <p:cBhvr>
                                        <p:cTn id="1212" dur="400"/>
                                        <p:tgtEl>
                                          <p:spTgt spid="37"/>
                                        </p:tgtEl>
                                      </p:cBhvr>
                                    </p:animEffect>
                                    <p:set>
                                      <p:cBhvr>
                                        <p:cTn id="1213" dur="1" fill="hold">
                                          <p:stCondLst>
                                            <p:cond delay="399"/>
                                          </p:stCondLst>
                                        </p:cTn>
                                        <p:tgtEl>
                                          <p:spTgt spid="37"/>
                                        </p:tgtEl>
                                        <p:attrNameLst>
                                          <p:attrName>style.visibility</p:attrName>
                                        </p:attrNameLst>
                                      </p:cBhvr>
                                      <p:to>
                                        <p:strVal val="hidden"/>
                                      </p:to>
                                    </p:set>
                                  </p:childTnLst>
                                </p:cTn>
                              </p:par>
                              <p:par>
                                <p:cTn id="1214" presetID="10" presetClass="exit" presetSubtype="0" fill="hold" nodeType="withEffect">
                                  <p:stCondLst>
                                    <p:cond delay="0"/>
                                  </p:stCondLst>
                                  <p:childTnLst>
                                    <p:animEffect transition="out" filter="fade">
                                      <p:cBhvr>
                                        <p:cTn id="1215" dur="400"/>
                                        <p:tgtEl>
                                          <p:spTgt spid="38"/>
                                        </p:tgtEl>
                                      </p:cBhvr>
                                    </p:animEffect>
                                    <p:set>
                                      <p:cBhvr>
                                        <p:cTn id="1216" dur="1" fill="hold">
                                          <p:stCondLst>
                                            <p:cond delay="399"/>
                                          </p:stCondLst>
                                        </p:cTn>
                                        <p:tgtEl>
                                          <p:spTgt spid="38"/>
                                        </p:tgtEl>
                                        <p:attrNameLst>
                                          <p:attrName>style.visibility</p:attrName>
                                        </p:attrNameLst>
                                      </p:cBhvr>
                                      <p:to>
                                        <p:strVal val="hidden"/>
                                      </p:to>
                                    </p:set>
                                  </p:childTnLst>
                                </p:cTn>
                              </p:par>
                              <p:par>
                                <p:cTn id="1217" presetID="10" presetClass="entr" presetSubtype="0" fill="hold" nodeType="withEffect">
                                  <p:stCondLst>
                                    <p:cond delay="200"/>
                                  </p:stCondLst>
                                  <p:childTnLst>
                                    <p:set>
                                      <p:cBhvr>
                                        <p:cTn id="1218" dur="1" fill="hold">
                                          <p:stCondLst>
                                            <p:cond delay="0"/>
                                          </p:stCondLst>
                                        </p:cTn>
                                        <p:tgtEl>
                                          <p:spTgt spid="20"/>
                                        </p:tgtEl>
                                        <p:attrNameLst>
                                          <p:attrName>style.visibility</p:attrName>
                                        </p:attrNameLst>
                                      </p:cBhvr>
                                      <p:to>
                                        <p:strVal val="visible"/>
                                      </p:to>
                                    </p:set>
                                    <p:animEffect transition="in" filter="fade">
                                      <p:cBhvr>
                                        <p:cTn id="1219" dur="500"/>
                                        <p:tgtEl>
                                          <p:spTgt spid="20"/>
                                        </p:tgtEl>
                                      </p:cBhvr>
                                    </p:animEffect>
                                  </p:childTnLst>
                                </p:cTn>
                              </p:par>
                              <p:par>
                                <p:cTn id="1220" presetID="10" presetClass="entr" presetSubtype="0" fill="hold" nodeType="withEffect">
                                  <p:stCondLst>
                                    <p:cond delay="270"/>
                                  </p:stCondLst>
                                  <p:childTnLst>
                                    <p:set>
                                      <p:cBhvr>
                                        <p:cTn id="1221" dur="1" fill="hold">
                                          <p:stCondLst>
                                            <p:cond delay="0"/>
                                          </p:stCondLst>
                                        </p:cTn>
                                        <p:tgtEl>
                                          <p:spTgt spid="21"/>
                                        </p:tgtEl>
                                        <p:attrNameLst>
                                          <p:attrName>style.visibility</p:attrName>
                                        </p:attrNameLst>
                                      </p:cBhvr>
                                      <p:to>
                                        <p:strVal val="visible"/>
                                      </p:to>
                                    </p:set>
                                    <p:animEffect transition="in" filter="fade">
                                      <p:cBhvr>
                                        <p:cTn id="1222" dur="500"/>
                                        <p:tgtEl>
                                          <p:spTgt spid="21"/>
                                        </p:tgtEl>
                                      </p:cBhvr>
                                    </p:animEffect>
                                  </p:childTnLst>
                                </p:cTn>
                              </p:par>
                              <p:par>
                                <p:cTn id="1223" presetID="10" presetClass="entr" presetSubtype="0" fill="hold" nodeType="withEffect">
                                  <p:stCondLst>
                                    <p:cond delay="340"/>
                                  </p:stCondLst>
                                  <p:childTnLst>
                                    <p:set>
                                      <p:cBhvr>
                                        <p:cTn id="1224" dur="1" fill="hold">
                                          <p:stCondLst>
                                            <p:cond delay="0"/>
                                          </p:stCondLst>
                                        </p:cTn>
                                        <p:tgtEl>
                                          <p:spTgt spid="22"/>
                                        </p:tgtEl>
                                        <p:attrNameLst>
                                          <p:attrName>style.visibility</p:attrName>
                                        </p:attrNameLst>
                                      </p:cBhvr>
                                      <p:to>
                                        <p:strVal val="visible"/>
                                      </p:to>
                                    </p:set>
                                    <p:animEffect transition="in" filter="fade">
                                      <p:cBhvr>
                                        <p:cTn id="1225" dur="500"/>
                                        <p:tgtEl>
                                          <p:spTgt spid="22"/>
                                        </p:tgtEl>
                                      </p:cBhvr>
                                    </p:animEffect>
                                  </p:childTnLst>
                                </p:cTn>
                              </p:par>
                              <p:par>
                                <p:cTn id="1226" presetID="10" presetClass="entr" presetSubtype="0" fill="hold" nodeType="withEffect">
                                  <p:stCondLst>
                                    <p:cond delay="410"/>
                                  </p:stCondLst>
                                  <p:childTnLst>
                                    <p:set>
                                      <p:cBhvr>
                                        <p:cTn id="1227" dur="1" fill="hold">
                                          <p:stCondLst>
                                            <p:cond delay="0"/>
                                          </p:stCondLst>
                                        </p:cTn>
                                        <p:tgtEl>
                                          <p:spTgt spid="23"/>
                                        </p:tgtEl>
                                        <p:attrNameLst>
                                          <p:attrName>style.visibility</p:attrName>
                                        </p:attrNameLst>
                                      </p:cBhvr>
                                      <p:to>
                                        <p:strVal val="visible"/>
                                      </p:to>
                                    </p:set>
                                    <p:animEffect transition="in" filter="fade">
                                      <p:cBhvr>
                                        <p:cTn id="1228" dur="500"/>
                                        <p:tgtEl>
                                          <p:spTgt spid="23"/>
                                        </p:tgtEl>
                                      </p:cBhvr>
                                    </p:animEffect>
                                  </p:childTnLst>
                                </p:cTn>
                              </p:par>
                              <p:par>
                                <p:cTn id="1229" presetID="10" presetClass="entr" presetSubtype="0" fill="hold" nodeType="withEffect">
                                  <p:stCondLst>
                                    <p:cond delay="480"/>
                                  </p:stCondLst>
                                  <p:childTnLst>
                                    <p:set>
                                      <p:cBhvr>
                                        <p:cTn id="1230" dur="1" fill="hold">
                                          <p:stCondLst>
                                            <p:cond delay="0"/>
                                          </p:stCondLst>
                                        </p:cTn>
                                        <p:tgtEl>
                                          <p:spTgt spid="39"/>
                                        </p:tgtEl>
                                        <p:attrNameLst>
                                          <p:attrName>style.visibility</p:attrName>
                                        </p:attrNameLst>
                                      </p:cBhvr>
                                      <p:to>
                                        <p:strVal val="visible"/>
                                      </p:to>
                                    </p:set>
                                    <p:animEffect transition="in" filter="fade">
                                      <p:cBhvr>
                                        <p:cTn id="1231" dur="500"/>
                                        <p:tgtEl>
                                          <p:spTgt spid="39"/>
                                        </p:tgtEl>
                                      </p:cBhvr>
                                    </p:animEffect>
                                  </p:childTnLst>
                                </p:cTn>
                              </p:par>
                              <p:par>
                                <p:cTn id="1232" presetID="10" presetClass="entr" presetSubtype="0" fill="hold" nodeType="withEffect">
                                  <p:stCondLst>
                                    <p:cond delay="550"/>
                                  </p:stCondLst>
                                  <p:childTnLst>
                                    <p:set>
                                      <p:cBhvr>
                                        <p:cTn id="1233" dur="1" fill="hold">
                                          <p:stCondLst>
                                            <p:cond delay="0"/>
                                          </p:stCondLst>
                                        </p:cTn>
                                        <p:tgtEl>
                                          <p:spTgt spid="40"/>
                                        </p:tgtEl>
                                        <p:attrNameLst>
                                          <p:attrName>style.visibility</p:attrName>
                                        </p:attrNameLst>
                                      </p:cBhvr>
                                      <p:to>
                                        <p:strVal val="visible"/>
                                      </p:to>
                                    </p:set>
                                    <p:animEffect transition="in" filter="fade">
                                      <p:cBhvr>
                                        <p:cTn id="1234" dur="500"/>
                                        <p:tgtEl>
                                          <p:spTgt spid="40"/>
                                        </p:tgtEl>
                                      </p:cBhvr>
                                    </p:animEffect>
                                  </p:childTnLst>
                                </p:cTn>
                              </p:par>
                              <p:par>
                                <p:cTn id="1235" presetID="10" presetClass="entr" presetSubtype="0" fill="hold" nodeType="withEffect">
                                  <p:stCondLst>
                                    <p:cond delay="620"/>
                                  </p:stCondLst>
                                  <p:childTnLst>
                                    <p:set>
                                      <p:cBhvr>
                                        <p:cTn id="1236" dur="1" fill="hold">
                                          <p:stCondLst>
                                            <p:cond delay="0"/>
                                          </p:stCondLst>
                                        </p:cTn>
                                        <p:tgtEl>
                                          <p:spTgt spid="41"/>
                                        </p:tgtEl>
                                        <p:attrNameLst>
                                          <p:attrName>style.visibility</p:attrName>
                                        </p:attrNameLst>
                                      </p:cBhvr>
                                      <p:to>
                                        <p:strVal val="visible"/>
                                      </p:to>
                                    </p:set>
                                    <p:animEffect transition="in" filter="fade">
                                      <p:cBhvr>
                                        <p:cTn id="1237" dur="500"/>
                                        <p:tgtEl>
                                          <p:spTgt spid="41"/>
                                        </p:tgtEl>
                                      </p:cBhvr>
                                    </p:animEffect>
                                  </p:childTnLst>
                                </p:cTn>
                              </p:par>
                            </p:childTnLst>
                          </p:cTn>
                        </p:par>
                      </p:childTnLst>
                    </p:cTn>
                  </p:par>
                  <p:par>
                    <p:cTn id="1285" fill="hold">
                      <p:stCondLst>
                        <p:cond delay="indefinite"/>
                      </p:stCondLst>
                      <p:childTnLst>
                        <p:par>
                          <p:cTn id="1286" fill="hold">
                            <p:stCondLst>
                              <p:cond delay="0"/>
                            </p:stCondLst>
                            <p:childTnLst>
                              <p:par>
                                <p:cTn id="1240" presetID="10" presetClass="exit" presetSubtype="0" fill="hold" nodeType="clickEffect">
                                  <p:stCondLst>
                                    <p:cond delay="0"/>
                                  </p:stCondLst>
                                  <p:childTnLst>
                                    <p:animEffect transition="out" filter="fade">
                                      <p:cBhvr>
                                        <p:cTn id="1241" dur="400"/>
                                        <p:tgtEl>
                                          <p:spTgt spid="20"/>
                                        </p:tgtEl>
                                      </p:cBhvr>
                                    </p:animEffect>
                                    <p:set>
                                      <p:cBhvr>
                                        <p:cTn id="1242" dur="1" fill="hold">
                                          <p:stCondLst>
                                            <p:cond delay="399"/>
                                          </p:stCondLst>
                                        </p:cTn>
                                        <p:tgtEl>
                                          <p:spTgt spid="20"/>
                                        </p:tgtEl>
                                        <p:attrNameLst>
                                          <p:attrName>style.visibility</p:attrName>
                                        </p:attrNameLst>
                                      </p:cBhvr>
                                      <p:to>
                                        <p:strVal val="hidden"/>
                                      </p:to>
                                    </p:set>
                                  </p:childTnLst>
                                </p:cTn>
                              </p:par>
                              <p:par>
                                <p:cTn id="1243" presetID="10" presetClass="exit" presetSubtype="0" fill="hold" nodeType="withEffect">
                                  <p:stCondLst>
                                    <p:cond delay="0"/>
                                  </p:stCondLst>
                                  <p:childTnLst>
                                    <p:animEffect transition="out" filter="fade">
                                      <p:cBhvr>
                                        <p:cTn id="1244" dur="400"/>
                                        <p:tgtEl>
                                          <p:spTgt spid="21"/>
                                        </p:tgtEl>
                                      </p:cBhvr>
                                    </p:animEffect>
                                    <p:set>
                                      <p:cBhvr>
                                        <p:cTn id="1245" dur="1" fill="hold">
                                          <p:stCondLst>
                                            <p:cond delay="399"/>
                                          </p:stCondLst>
                                        </p:cTn>
                                        <p:tgtEl>
                                          <p:spTgt spid="21"/>
                                        </p:tgtEl>
                                        <p:attrNameLst>
                                          <p:attrName>style.visibility</p:attrName>
                                        </p:attrNameLst>
                                      </p:cBhvr>
                                      <p:to>
                                        <p:strVal val="hidden"/>
                                      </p:to>
                                    </p:set>
                                  </p:childTnLst>
                                </p:cTn>
                              </p:par>
                              <p:par>
                                <p:cTn id="1246" presetID="10" presetClass="exit" presetSubtype="0" fill="hold" nodeType="withEffect">
                                  <p:stCondLst>
                                    <p:cond delay="0"/>
                                  </p:stCondLst>
                                  <p:childTnLst>
                                    <p:animEffect transition="out" filter="fade">
                                      <p:cBhvr>
                                        <p:cTn id="1247" dur="400"/>
                                        <p:tgtEl>
                                          <p:spTgt spid="22"/>
                                        </p:tgtEl>
                                      </p:cBhvr>
                                    </p:animEffect>
                                    <p:set>
                                      <p:cBhvr>
                                        <p:cTn id="1248" dur="1" fill="hold">
                                          <p:stCondLst>
                                            <p:cond delay="399"/>
                                          </p:stCondLst>
                                        </p:cTn>
                                        <p:tgtEl>
                                          <p:spTgt spid="22"/>
                                        </p:tgtEl>
                                        <p:attrNameLst>
                                          <p:attrName>style.visibility</p:attrName>
                                        </p:attrNameLst>
                                      </p:cBhvr>
                                      <p:to>
                                        <p:strVal val="hidden"/>
                                      </p:to>
                                    </p:set>
                                  </p:childTnLst>
                                </p:cTn>
                              </p:par>
                              <p:par>
                                <p:cTn id="1249" presetID="10" presetClass="exit" presetSubtype="0" fill="hold" nodeType="withEffect">
                                  <p:stCondLst>
                                    <p:cond delay="0"/>
                                  </p:stCondLst>
                                  <p:childTnLst>
                                    <p:animEffect transition="out" filter="fade">
                                      <p:cBhvr>
                                        <p:cTn id="1250" dur="400"/>
                                        <p:tgtEl>
                                          <p:spTgt spid="23"/>
                                        </p:tgtEl>
                                      </p:cBhvr>
                                    </p:animEffect>
                                    <p:set>
                                      <p:cBhvr>
                                        <p:cTn id="1251" dur="1" fill="hold">
                                          <p:stCondLst>
                                            <p:cond delay="399"/>
                                          </p:stCondLst>
                                        </p:cTn>
                                        <p:tgtEl>
                                          <p:spTgt spid="23"/>
                                        </p:tgtEl>
                                        <p:attrNameLst>
                                          <p:attrName>style.visibility</p:attrName>
                                        </p:attrNameLst>
                                      </p:cBhvr>
                                      <p:to>
                                        <p:strVal val="hidden"/>
                                      </p:to>
                                    </p:set>
                                  </p:childTnLst>
                                </p:cTn>
                              </p:par>
                              <p:par>
                                <p:cTn id="1252" presetID="10" presetClass="exit" presetSubtype="0" fill="hold" nodeType="withEffect">
                                  <p:stCondLst>
                                    <p:cond delay="0"/>
                                  </p:stCondLst>
                                  <p:childTnLst>
                                    <p:animEffect transition="out" filter="fade">
                                      <p:cBhvr>
                                        <p:cTn id="1253" dur="400"/>
                                        <p:tgtEl>
                                          <p:spTgt spid="39"/>
                                        </p:tgtEl>
                                      </p:cBhvr>
                                    </p:animEffect>
                                    <p:set>
                                      <p:cBhvr>
                                        <p:cTn id="1254" dur="1" fill="hold">
                                          <p:stCondLst>
                                            <p:cond delay="399"/>
                                          </p:stCondLst>
                                        </p:cTn>
                                        <p:tgtEl>
                                          <p:spTgt spid="39"/>
                                        </p:tgtEl>
                                        <p:attrNameLst>
                                          <p:attrName>style.visibility</p:attrName>
                                        </p:attrNameLst>
                                      </p:cBhvr>
                                      <p:to>
                                        <p:strVal val="hidden"/>
                                      </p:to>
                                    </p:set>
                                  </p:childTnLst>
                                </p:cTn>
                              </p:par>
                              <p:par>
                                <p:cTn id="1255" presetID="10" presetClass="exit" presetSubtype="0" fill="hold" nodeType="withEffect">
                                  <p:stCondLst>
                                    <p:cond delay="0"/>
                                  </p:stCondLst>
                                  <p:childTnLst>
                                    <p:animEffect transition="out" filter="fade">
                                      <p:cBhvr>
                                        <p:cTn id="1256" dur="400"/>
                                        <p:tgtEl>
                                          <p:spTgt spid="40"/>
                                        </p:tgtEl>
                                      </p:cBhvr>
                                    </p:animEffect>
                                    <p:set>
                                      <p:cBhvr>
                                        <p:cTn id="1257" dur="1" fill="hold">
                                          <p:stCondLst>
                                            <p:cond delay="399"/>
                                          </p:stCondLst>
                                        </p:cTn>
                                        <p:tgtEl>
                                          <p:spTgt spid="40"/>
                                        </p:tgtEl>
                                        <p:attrNameLst>
                                          <p:attrName>style.visibility</p:attrName>
                                        </p:attrNameLst>
                                      </p:cBhvr>
                                      <p:to>
                                        <p:strVal val="hidden"/>
                                      </p:to>
                                    </p:set>
                                  </p:childTnLst>
                                </p:cTn>
                              </p:par>
                              <p:par>
                                <p:cTn id="1258" presetID="10" presetClass="exit" presetSubtype="0" fill="hold" nodeType="withEffect">
                                  <p:stCondLst>
                                    <p:cond delay="0"/>
                                  </p:stCondLst>
                                  <p:childTnLst>
                                    <p:animEffect transition="out" filter="fade">
                                      <p:cBhvr>
                                        <p:cTn id="1259" dur="400"/>
                                        <p:tgtEl>
                                          <p:spTgt spid="41"/>
                                        </p:tgtEl>
                                      </p:cBhvr>
                                    </p:animEffect>
                                    <p:set>
                                      <p:cBhvr>
                                        <p:cTn id="1260" dur="1" fill="hold">
                                          <p:stCondLst>
                                            <p:cond delay="399"/>
                                          </p:stCondLst>
                                        </p:cTn>
                                        <p:tgtEl>
                                          <p:spTgt spid="41"/>
                                        </p:tgtEl>
                                        <p:attrNameLst>
                                          <p:attrName>style.visibility</p:attrName>
                                        </p:attrNameLst>
                                      </p:cBhvr>
                                      <p:to>
                                        <p:strVal val="hidden"/>
                                      </p:to>
                                    </p:set>
                                  </p:childTnLst>
                                </p:cTn>
                              </p:par>
                              <p:par>
                                <p:cTn id="1261" presetID="22" presetClass="entr" presetSubtype="8" fill="hold" nodeType="withEffect">
                                  <p:stCondLst>
                                    <p:cond delay="200"/>
                                  </p:stCondLst>
                                  <p:childTnLst>
                                    <p:set>
                                      <p:cBhvr>
                                        <p:cTn id="1262" dur="1" fill="hold">
                                          <p:stCondLst>
                                            <p:cond delay="0"/>
                                          </p:stCondLst>
                                        </p:cTn>
                                        <p:tgtEl>
                                          <p:spTgt spid="24"/>
                                        </p:tgtEl>
                                        <p:attrNameLst>
                                          <p:attrName>style.visibility</p:attrName>
                                        </p:attrNameLst>
                                      </p:cBhvr>
                                      <p:to>
                                        <p:strVal val="visible"/>
                                      </p:to>
                                    </p:set>
                                    <p:animEffect transition="in" filter="wipe(left)">
                                      <p:cBhvr>
                                        <p:cTn id="1263" dur="500"/>
                                        <p:tgtEl>
                                          <p:spTgt spid="24"/>
                                        </p:tgtEl>
                                      </p:cBhvr>
                                    </p:animEffect>
                                  </p:childTnLst>
                                </p:cTn>
                              </p:par>
                              <p:par>
                                <p:cTn id="1264" presetID="22" presetClass="entr" presetSubtype="8" fill="hold" nodeType="withEffect">
                                  <p:stCondLst>
                                    <p:cond delay="270"/>
                                  </p:stCondLst>
                                  <p:childTnLst>
                                    <p:set>
                                      <p:cBhvr>
                                        <p:cTn id="1265" dur="1" fill="hold">
                                          <p:stCondLst>
                                            <p:cond delay="0"/>
                                          </p:stCondLst>
                                        </p:cTn>
                                        <p:tgtEl>
                                          <p:spTgt spid="25"/>
                                        </p:tgtEl>
                                        <p:attrNameLst>
                                          <p:attrName>style.visibility</p:attrName>
                                        </p:attrNameLst>
                                      </p:cBhvr>
                                      <p:to>
                                        <p:strVal val="visible"/>
                                      </p:to>
                                    </p:set>
                                    <p:animEffect transition="in" filter="wipe(left)">
                                      <p:cBhvr>
                                        <p:cTn id="1266" dur="500"/>
                                        <p:tgtEl>
                                          <p:spTgt spid="25"/>
                                        </p:tgtEl>
                                      </p:cBhvr>
                                    </p:animEffect>
                                  </p:childTnLst>
                                </p:cTn>
                              </p:par>
                              <p:par>
                                <p:cTn id="1267" presetID="22" presetClass="entr" presetSubtype="8" fill="hold" nodeType="withEffect">
                                  <p:stCondLst>
                                    <p:cond delay="340"/>
                                  </p:stCondLst>
                                  <p:childTnLst>
                                    <p:set>
                                      <p:cBhvr>
                                        <p:cTn id="1268" dur="1" fill="hold">
                                          <p:stCondLst>
                                            <p:cond delay="0"/>
                                          </p:stCondLst>
                                        </p:cTn>
                                        <p:tgtEl>
                                          <p:spTgt spid="26"/>
                                        </p:tgtEl>
                                        <p:attrNameLst>
                                          <p:attrName>style.visibility</p:attrName>
                                        </p:attrNameLst>
                                      </p:cBhvr>
                                      <p:to>
                                        <p:strVal val="visible"/>
                                      </p:to>
                                    </p:set>
                                    <p:animEffect transition="in" filter="wipe(left)">
                                      <p:cBhvr>
                                        <p:cTn id="1269" dur="500"/>
                                        <p:tgtEl>
                                          <p:spTgt spid="26"/>
                                        </p:tgtEl>
                                      </p:cBhvr>
                                    </p:animEffect>
                                  </p:childTnLst>
                                </p:cTn>
                              </p:par>
                              <p:par>
                                <p:cTn id="1270" presetID="22" presetClass="entr" presetSubtype="8" fill="hold" nodeType="withEffect">
                                  <p:stCondLst>
                                    <p:cond delay="410"/>
                                  </p:stCondLst>
                                  <p:childTnLst>
                                    <p:set>
                                      <p:cBhvr>
                                        <p:cTn id="1271" dur="1" fill="hold">
                                          <p:stCondLst>
                                            <p:cond delay="0"/>
                                          </p:stCondLst>
                                        </p:cTn>
                                        <p:tgtEl>
                                          <p:spTgt spid="27"/>
                                        </p:tgtEl>
                                        <p:attrNameLst>
                                          <p:attrName>style.visibility</p:attrName>
                                        </p:attrNameLst>
                                      </p:cBhvr>
                                      <p:to>
                                        <p:strVal val="visible"/>
                                      </p:to>
                                    </p:set>
                                    <p:animEffect transition="in" filter="wipe(left)">
                                      <p:cBhvr>
                                        <p:cTn id="1272" dur="500"/>
                                        <p:tgtEl>
                                          <p:spTgt spid="27"/>
                                        </p:tgtEl>
                                      </p:cBhvr>
                                    </p:animEffect>
                                  </p:childTnLst>
                                </p:cTn>
                              </p:par>
                              <p:par>
                                <p:cTn id="1273" presetID="22" presetClass="entr" presetSubtype="8" fill="hold" nodeType="withEffect">
                                  <p:stCondLst>
                                    <p:cond delay="480"/>
                                  </p:stCondLst>
                                  <p:childTnLst>
                                    <p:set>
                                      <p:cBhvr>
                                        <p:cTn id="1274" dur="1" fill="hold">
                                          <p:stCondLst>
                                            <p:cond delay="0"/>
                                          </p:stCondLst>
                                        </p:cTn>
                                        <p:tgtEl>
                                          <p:spTgt spid="28"/>
                                        </p:tgtEl>
                                        <p:attrNameLst>
                                          <p:attrName>style.visibility</p:attrName>
                                        </p:attrNameLst>
                                      </p:cBhvr>
                                      <p:to>
                                        <p:strVal val="visible"/>
                                      </p:to>
                                    </p:set>
                                    <p:animEffect transition="in" filter="wipe(left)">
                                      <p:cBhvr>
                                        <p:cTn id="1275" dur="500"/>
                                        <p:tgtEl>
                                          <p:spTgt spid="28"/>
                                        </p:tgtEl>
                                      </p:cBhvr>
                                    </p:animEffect>
                                  </p:childTnLst>
                                </p:cTn>
                              </p:par>
                              <p:par>
                                <p:cTn id="1276" presetID="22" presetClass="entr" presetSubtype="8" fill="hold" nodeType="withEffect">
                                  <p:stCondLst>
                                    <p:cond delay="550"/>
                                  </p:stCondLst>
                                  <p:childTnLst>
                                    <p:set>
                                      <p:cBhvr>
                                        <p:cTn id="1277" dur="1" fill="hold">
                                          <p:stCondLst>
                                            <p:cond delay="0"/>
                                          </p:stCondLst>
                                        </p:cTn>
                                        <p:tgtEl>
                                          <p:spTgt spid="29"/>
                                        </p:tgtEl>
                                        <p:attrNameLst>
                                          <p:attrName>style.visibility</p:attrName>
                                        </p:attrNameLst>
                                      </p:cBhvr>
                                      <p:to>
                                        <p:strVal val="visible"/>
                                      </p:to>
                                    </p:set>
                                    <p:animEffect transition="in" filter="wipe(left)">
                                      <p:cBhvr>
                                        <p:cTn id="1278" dur="500"/>
                                        <p:tgtEl>
                                          <p:spTgt spid="29"/>
                                        </p:tgtEl>
                                      </p:cBhvr>
                                    </p:animEffect>
                                  </p:childTnLst>
                                </p:cTn>
                              </p:par>
                              <p:par>
                                <p:cTn id="1279" presetID="22" presetClass="entr" presetSubtype="8" fill="hold" nodeType="withEffect">
                                  <p:stCondLst>
                                    <p:cond delay="620"/>
                                  </p:stCondLst>
                                  <p:childTnLst>
                                    <p:set>
                                      <p:cBhvr>
                                        <p:cTn id="1280" dur="1" fill="hold">
                                          <p:stCondLst>
                                            <p:cond delay="0"/>
                                          </p:stCondLst>
                                        </p:cTn>
                                        <p:tgtEl>
                                          <p:spTgt spid="42"/>
                                        </p:tgtEl>
                                        <p:attrNameLst>
                                          <p:attrName>style.visibility</p:attrName>
                                        </p:attrNameLst>
                                      </p:cBhvr>
                                      <p:to>
                                        <p:strVal val="visible"/>
                                      </p:to>
                                    </p:set>
                                    <p:animEffect transition="in" filter="wipe(left)">
                                      <p:cBhvr>
                                        <p:cTn id="1281" dur="500"/>
                                        <p:tgtEl>
                                          <p:spTgt spid="42"/>
                                        </p:tgtEl>
                                      </p:cBhvr>
                                    </p:animEffect>
                                  </p:childTnLst>
                                </p:cTn>
                              </p:par>
                              <p:par>
                                <p:cTn id="1282" presetID="22" presetClass="entr" presetSubtype="8" fill="hold" nodeType="withEffect">
                                  <p:stCondLst>
                                    <p:cond delay="690"/>
                                  </p:stCondLst>
                                  <p:childTnLst>
                                    <p:set>
                                      <p:cBhvr>
                                        <p:cTn id="1283" dur="1" fill="hold">
                                          <p:stCondLst>
                                            <p:cond delay="0"/>
                                          </p:stCondLst>
                                        </p:cTn>
                                        <p:tgtEl>
                                          <p:spTgt spid="43"/>
                                        </p:tgtEl>
                                        <p:attrNameLst>
                                          <p:attrName>style.visibility</p:attrName>
                                        </p:attrNameLst>
                                      </p:cBhvr>
                                      <p:to>
                                        <p:strVal val="visible"/>
                                      </p:to>
                                    </p:set>
                                    <p:animEffect transition="in" filter="wipe(left)">
                                      <p:cBhvr>
                                        <p:cTn id="1284" dur="500"/>
                                        <p:tgtEl>
                                          <p:spTgt spid="43"/>
                                        </p:tgtEl>
                                      </p:cBhvr>
                                    </p:animEffect>
                                  </p:childTnLst>
                                </p:cTn>
                              </p:par>
                            </p:childTnLst>
                          </p:cTn>
                        </p:par>
                      </p:childTnLst>
                    </p:cTn>
                  </p:par>
                  <p:par>
                    <p:cTn id="1338" fill="hold">
                      <p:stCondLst>
                        <p:cond delay="indefinite"/>
                      </p:stCondLst>
                      <p:childTnLst>
                        <p:par>
                          <p:cTn id="1339" fill="hold">
                            <p:stCondLst>
                              <p:cond delay="0"/>
                            </p:stCondLst>
                            <p:childTnLst>
                              <p:par>
                                <p:cTn id="1287" presetID="10" presetClass="exit" presetSubtype="0" fill="hold" nodeType="clickEffect">
                                  <p:stCondLst>
                                    <p:cond delay="0"/>
                                  </p:stCondLst>
                                  <p:childTnLst>
                                    <p:animEffect transition="out" filter="fade">
                                      <p:cBhvr>
                                        <p:cTn id="1288" dur="400"/>
                                        <p:tgtEl>
                                          <p:spTgt spid="24"/>
                                        </p:tgtEl>
                                      </p:cBhvr>
                                    </p:animEffect>
                                    <p:set>
                                      <p:cBhvr>
                                        <p:cTn id="1289" dur="1" fill="hold">
                                          <p:stCondLst>
                                            <p:cond delay="399"/>
                                          </p:stCondLst>
                                        </p:cTn>
                                        <p:tgtEl>
                                          <p:spTgt spid="24"/>
                                        </p:tgtEl>
                                        <p:attrNameLst>
                                          <p:attrName>style.visibility</p:attrName>
                                        </p:attrNameLst>
                                      </p:cBhvr>
                                      <p:to>
                                        <p:strVal val="hidden"/>
                                      </p:to>
                                    </p:set>
                                  </p:childTnLst>
                                </p:cTn>
                              </p:par>
                              <p:par>
                                <p:cTn id="1290" presetID="10" presetClass="exit" presetSubtype="0" fill="hold" nodeType="withEffect">
                                  <p:stCondLst>
                                    <p:cond delay="0"/>
                                  </p:stCondLst>
                                  <p:childTnLst>
                                    <p:animEffect transition="out" filter="fade">
                                      <p:cBhvr>
                                        <p:cTn id="1291" dur="400"/>
                                        <p:tgtEl>
                                          <p:spTgt spid="25"/>
                                        </p:tgtEl>
                                      </p:cBhvr>
                                    </p:animEffect>
                                    <p:set>
                                      <p:cBhvr>
                                        <p:cTn id="1292" dur="1" fill="hold">
                                          <p:stCondLst>
                                            <p:cond delay="399"/>
                                          </p:stCondLst>
                                        </p:cTn>
                                        <p:tgtEl>
                                          <p:spTgt spid="25"/>
                                        </p:tgtEl>
                                        <p:attrNameLst>
                                          <p:attrName>style.visibility</p:attrName>
                                        </p:attrNameLst>
                                      </p:cBhvr>
                                      <p:to>
                                        <p:strVal val="hidden"/>
                                      </p:to>
                                    </p:set>
                                  </p:childTnLst>
                                </p:cTn>
                              </p:par>
                              <p:par>
                                <p:cTn id="1293" presetID="10" presetClass="exit" presetSubtype="0" fill="hold" nodeType="withEffect">
                                  <p:stCondLst>
                                    <p:cond delay="0"/>
                                  </p:stCondLst>
                                  <p:childTnLst>
                                    <p:animEffect transition="out" filter="fade">
                                      <p:cBhvr>
                                        <p:cTn id="1294" dur="400"/>
                                        <p:tgtEl>
                                          <p:spTgt spid="26"/>
                                        </p:tgtEl>
                                      </p:cBhvr>
                                    </p:animEffect>
                                    <p:set>
                                      <p:cBhvr>
                                        <p:cTn id="1295" dur="1" fill="hold">
                                          <p:stCondLst>
                                            <p:cond delay="399"/>
                                          </p:stCondLst>
                                        </p:cTn>
                                        <p:tgtEl>
                                          <p:spTgt spid="26"/>
                                        </p:tgtEl>
                                        <p:attrNameLst>
                                          <p:attrName>style.visibility</p:attrName>
                                        </p:attrNameLst>
                                      </p:cBhvr>
                                      <p:to>
                                        <p:strVal val="hidden"/>
                                      </p:to>
                                    </p:set>
                                  </p:childTnLst>
                                </p:cTn>
                              </p:par>
                              <p:par>
                                <p:cTn id="1296" presetID="10" presetClass="exit" presetSubtype="0" fill="hold" nodeType="withEffect">
                                  <p:stCondLst>
                                    <p:cond delay="0"/>
                                  </p:stCondLst>
                                  <p:childTnLst>
                                    <p:animEffect transition="out" filter="fade">
                                      <p:cBhvr>
                                        <p:cTn id="1297" dur="400"/>
                                        <p:tgtEl>
                                          <p:spTgt spid="27"/>
                                        </p:tgtEl>
                                      </p:cBhvr>
                                    </p:animEffect>
                                    <p:set>
                                      <p:cBhvr>
                                        <p:cTn id="1298" dur="1" fill="hold">
                                          <p:stCondLst>
                                            <p:cond delay="399"/>
                                          </p:stCondLst>
                                        </p:cTn>
                                        <p:tgtEl>
                                          <p:spTgt spid="27"/>
                                        </p:tgtEl>
                                        <p:attrNameLst>
                                          <p:attrName>style.visibility</p:attrName>
                                        </p:attrNameLst>
                                      </p:cBhvr>
                                      <p:to>
                                        <p:strVal val="hidden"/>
                                      </p:to>
                                    </p:set>
                                  </p:childTnLst>
                                </p:cTn>
                              </p:par>
                              <p:par>
                                <p:cTn id="1299" presetID="10" presetClass="exit" presetSubtype="0" fill="hold" nodeType="withEffect">
                                  <p:stCondLst>
                                    <p:cond delay="0"/>
                                  </p:stCondLst>
                                  <p:childTnLst>
                                    <p:animEffect transition="out" filter="fade">
                                      <p:cBhvr>
                                        <p:cTn id="1300" dur="400"/>
                                        <p:tgtEl>
                                          <p:spTgt spid="28"/>
                                        </p:tgtEl>
                                      </p:cBhvr>
                                    </p:animEffect>
                                    <p:set>
                                      <p:cBhvr>
                                        <p:cTn id="1301" dur="1" fill="hold">
                                          <p:stCondLst>
                                            <p:cond delay="399"/>
                                          </p:stCondLst>
                                        </p:cTn>
                                        <p:tgtEl>
                                          <p:spTgt spid="28"/>
                                        </p:tgtEl>
                                        <p:attrNameLst>
                                          <p:attrName>style.visibility</p:attrName>
                                        </p:attrNameLst>
                                      </p:cBhvr>
                                      <p:to>
                                        <p:strVal val="hidden"/>
                                      </p:to>
                                    </p:set>
                                  </p:childTnLst>
                                </p:cTn>
                              </p:par>
                              <p:par>
                                <p:cTn id="1302" presetID="10" presetClass="exit" presetSubtype="0" fill="hold" nodeType="withEffect">
                                  <p:stCondLst>
                                    <p:cond delay="0"/>
                                  </p:stCondLst>
                                  <p:childTnLst>
                                    <p:animEffect transition="out" filter="fade">
                                      <p:cBhvr>
                                        <p:cTn id="1303" dur="400"/>
                                        <p:tgtEl>
                                          <p:spTgt spid="29"/>
                                        </p:tgtEl>
                                      </p:cBhvr>
                                    </p:animEffect>
                                    <p:set>
                                      <p:cBhvr>
                                        <p:cTn id="1304" dur="1" fill="hold">
                                          <p:stCondLst>
                                            <p:cond delay="399"/>
                                          </p:stCondLst>
                                        </p:cTn>
                                        <p:tgtEl>
                                          <p:spTgt spid="29"/>
                                        </p:tgtEl>
                                        <p:attrNameLst>
                                          <p:attrName>style.visibility</p:attrName>
                                        </p:attrNameLst>
                                      </p:cBhvr>
                                      <p:to>
                                        <p:strVal val="hidden"/>
                                      </p:to>
                                    </p:set>
                                  </p:childTnLst>
                                </p:cTn>
                              </p:par>
                              <p:par>
                                <p:cTn id="1305" presetID="10" presetClass="exit" presetSubtype="0" fill="hold" nodeType="withEffect">
                                  <p:stCondLst>
                                    <p:cond delay="0"/>
                                  </p:stCondLst>
                                  <p:childTnLst>
                                    <p:animEffect transition="out" filter="fade">
                                      <p:cBhvr>
                                        <p:cTn id="1306" dur="400"/>
                                        <p:tgtEl>
                                          <p:spTgt spid="42"/>
                                        </p:tgtEl>
                                      </p:cBhvr>
                                    </p:animEffect>
                                    <p:set>
                                      <p:cBhvr>
                                        <p:cTn id="1307" dur="1" fill="hold">
                                          <p:stCondLst>
                                            <p:cond delay="399"/>
                                          </p:stCondLst>
                                        </p:cTn>
                                        <p:tgtEl>
                                          <p:spTgt spid="42"/>
                                        </p:tgtEl>
                                        <p:attrNameLst>
                                          <p:attrName>style.visibility</p:attrName>
                                        </p:attrNameLst>
                                      </p:cBhvr>
                                      <p:to>
                                        <p:strVal val="hidden"/>
                                      </p:to>
                                    </p:set>
                                  </p:childTnLst>
                                </p:cTn>
                              </p:par>
                              <p:par>
                                <p:cTn id="1308" presetID="10" presetClass="exit" presetSubtype="0" fill="hold" nodeType="withEffect">
                                  <p:stCondLst>
                                    <p:cond delay="0"/>
                                  </p:stCondLst>
                                  <p:childTnLst>
                                    <p:animEffect transition="out" filter="fade">
                                      <p:cBhvr>
                                        <p:cTn id="1309" dur="400"/>
                                        <p:tgtEl>
                                          <p:spTgt spid="43"/>
                                        </p:tgtEl>
                                      </p:cBhvr>
                                    </p:animEffect>
                                    <p:set>
                                      <p:cBhvr>
                                        <p:cTn id="1310" dur="1" fill="hold">
                                          <p:stCondLst>
                                            <p:cond delay="399"/>
                                          </p:stCondLst>
                                        </p:cTn>
                                        <p:tgtEl>
                                          <p:spTgt spid="43"/>
                                        </p:tgtEl>
                                        <p:attrNameLst>
                                          <p:attrName>style.visibility</p:attrName>
                                        </p:attrNameLst>
                                      </p:cBhvr>
                                      <p:to>
                                        <p:strVal val="hidden"/>
                                      </p:to>
                                    </p:set>
                                  </p:childTnLst>
                                </p:cTn>
                              </p:par>
                              <p:par>
                                <p:cTn id="1311" presetID="22" presetClass="entr" presetSubtype="4" fill="hold" nodeType="withEffect">
                                  <p:stCondLst>
                                    <p:cond delay="200"/>
                                  </p:stCondLst>
                                  <p:childTnLst>
                                    <p:set>
                                      <p:cBhvr>
                                        <p:cTn id="1312" dur="1" fill="hold">
                                          <p:stCondLst>
                                            <p:cond delay="0"/>
                                          </p:stCondLst>
                                        </p:cTn>
                                        <p:tgtEl>
                                          <p:spTgt spid="30"/>
                                        </p:tgtEl>
                                        <p:attrNameLst>
                                          <p:attrName>style.visibility</p:attrName>
                                        </p:attrNameLst>
                                      </p:cBhvr>
                                      <p:to>
                                        <p:strVal val="visible"/>
                                      </p:to>
                                    </p:set>
                                    <p:animEffect transition="in" filter="wipe(down)">
                                      <p:cBhvr>
                                        <p:cTn id="1313" dur="500"/>
                                        <p:tgtEl>
                                          <p:spTgt spid="30"/>
                                        </p:tgtEl>
                                      </p:cBhvr>
                                    </p:animEffect>
                                  </p:childTnLst>
                                </p:cTn>
                              </p:par>
                              <p:par>
                                <p:cTn id="1314" presetID="22" presetClass="entr" presetSubtype="4" fill="hold" nodeType="withEffect">
                                  <p:stCondLst>
                                    <p:cond delay="270"/>
                                  </p:stCondLst>
                                  <p:childTnLst>
                                    <p:set>
                                      <p:cBhvr>
                                        <p:cTn id="1315" dur="1" fill="hold">
                                          <p:stCondLst>
                                            <p:cond delay="0"/>
                                          </p:stCondLst>
                                        </p:cTn>
                                        <p:tgtEl>
                                          <p:spTgt spid="31"/>
                                        </p:tgtEl>
                                        <p:attrNameLst>
                                          <p:attrName>style.visibility</p:attrName>
                                        </p:attrNameLst>
                                      </p:cBhvr>
                                      <p:to>
                                        <p:strVal val="visible"/>
                                      </p:to>
                                    </p:set>
                                    <p:animEffect transition="in" filter="wipe(down)">
                                      <p:cBhvr>
                                        <p:cTn id="1316" dur="500"/>
                                        <p:tgtEl>
                                          <p:spTgt spid="31"/>
                                        </p:tgtEl>
                                      </p:cBhvr>
                                    </p:animEffect>
                                  </p:childTnLst>
                                </p:cTn>
                              </p:par>
                              <p:par>
                                <p:cTn id="1317" presetID="22" presetClass="entr" presetSubtype="4" fill="hold" nodeType="withEffect">
                                  <p:stCondLst>
                                    <p:cond delay="340"/>
                                  </p:stCondLst>
                                  <p:childTnLst>
                                    <p:set>
                                      <p:cBhvr>
                                        <p:cTn id="1318" dur="1" fill="hold">
                                          <p:stCondLst>
                                            <p:cond delay="0"/>
                                          </p:stCondLst>
                                        </p:cTn>
                                        <p:tgtEl>
                                          <p:spTgt spid="32"/>
                                        </p:tgtEl>
                                        <p:attrNameLst>
                                          <p:attrName>style.visibility</p:attrName>
                                        </p:attrNameLst>
                                      </p:cBhvr>
                                      <p:to>
                                        <p:strVal val="visible"/>
                                      </p:to>
                                    </p:set>
                                    <p:animEffect transition="in" filter="wipe(down)">
                                      <p:cBhvr>
                                        <p:cTn id="1319" dur="500"/>
                                        <p:tgtEl>
                                          <p:spTgt spid="32"/>
                                        </p:tgtEl>
                                      </p:cBhvr>
                                    </p:animEffect>
                                  </p:childTnLst>
                                </p:cTn>
                              </p:par>
                              <p:par>
                                <p:cTn id="1320" presetID="22" presetClass="entr" presetSubtype="4" fill="hold" nodeType="withEffect">
                                  <p:stCondLst>
                                    <p:cond delay="410"/>
                                  </p:stCondLst>
                                  <p:childTnLst>
                                    <p:set>
                                      <p:cBhvr>
                                        <p:cTn id="1321" dur="1" fill="hold">
                                          <p:stCondLst>
                                            <p:cond delay="0"/>
                                          </p:stCondLst>
                                        </p:cTn>
                                        <p:tgtEl>
                                          <p:spTgt spid="33"/>
                                        </p:tgtEl>
                                        <p:attrNameLst>
                                          <p:attrName>style.visibility</p:attrName>
                                        </p:attrNameLst>
                                      </p:cBhvr>
                                      <p:to>
                                        <p:strVal val="visible"/>
                                      </p:to>
                                    </p:set>
                                    <p:animEffect transition="in" filter="wipe(down)">
                                      <p:cBhvr>
                                        <p:cTn id="1322" dur="500"/>
                                        <p:tgtEl>
                                          <p:spTgt spid="33"/>
                                        </p:tgtEl>
                                      </p:cBhvr>
                                    </p:animEffect>
                                  </p:childTnLst>
                                </p:cTn>
                              </p:par>
                              <p:par>
                                <p:cTn id="1323" presetID="22" presetClass="entr" presetSubtype="4" fill="hold" nodeType="withEffect">
                                  <p:stCondLst>
                                    <p:cond delay="480"/>
                                  </p:stCondLst>
                                  <p:childTnLst>
                                    <p:set>
                                      <p:cBhvr>
                                        <p:cTn id="1324" dur="1" fill="hold">
                                          <p:stCondLst>
                                            <p:cond delay="0"/>
                                          </p:stCondLst>
                                        </p:cTn>
                                        <p:tgtEl>
                                          <p:spTgt spid="34"/>
                                        </p:tgtEl>
                                        <p:attrNameLst>
                                          <p:attrName>style.visibility</p:attrName>
                                        </p:attrNameLst>
                                      </p:cBhvr>
                                      <p:to>
                                        <p:strVal val="visible"/>
                                      </p:to>
                                    </p:set>
                                    <p:animEffect transition="in" filter="wipe(down)">
                                      <p:cBhvr>
                                        <p:cTn id="1325" dur="500"/>
                                        <p:tgtEl>
                                          <p:spTgt spid="34"/>
                                        </p:tgtEl>
                                      </p:cBhvr>
                                    </p:animEffect>
                                  </p:childTnLst>
                                </p:cTn>
                              </p:par>
                              <p:par>
                                <p:cTn id="1326" presetID="22" presetClass="entr" presetSubtype="4" fill="hold" nodeType="withEffect">
                                  <p:stCondLst>
                                    <p:cond delay="550"/>
                                  </p:stCondLst>
                                  <p:childTnLst>
                                    <p:set>
                                      <p:cBhvr>
                                        <p:cTn id="1327" dur="1" fill="hold">
                                          <p:stCondLst>
                                            <p:cond delay="0"/>
                                          </p:stCondLst>
                                        </p:cTn>
                                        <p:tgtEl>
                                          <p:spTgt spid="35"/>
                                        </p:tgtEl>
                                        <p:attrNameLst>
                                          <p:attrName>style.visibility</p:attrName>
                                        </p:attrNameLst>
                                      </p:cBhvr>
                                      <p:to>
                                        <p:strVal val="visible"/>
                                      </p:to>
                                    </p:set>
                                    <p:animEffect transition="in" filter="wipe(down)">
                                      <p:cBhvr>
                                        <p:cTn id="1328" dur="500"/>
                                        <p:tgtEl>
                                          <p:spTgt spid="35"/>
                                        </p:tgtEl>
                                      </p:cBhvr>
                                    </p:animEffect>
                                  </p:childTnLst>
                                </p:cTn>
                              </p:par>
                              <p:par>
                                <p:cTn id="1329" presetID="22" presetClass="entr" presetSubtype="4" fill="hold" nodeType="withEffect">
                                  <p:stCondLst>
                                    <p:cond delay="620"/>
                                  </p:stCondLst>
                                  <p:childTnLst>
                                    <p:set>
                                      <p:cBhvr>
                                        <p:cTn id="1330" dur="1" fill="hold">
                                          <p:stCondLst>
                                            <p:cond delay="0"/>
                                          </p:stCondLst>
                                        </p:cTn>
                                        <p:tgtEl>
                                          <p:spTgt spid="36"/>
                                        </p:tgtEl>
                                        <p:attrNameLst>
                                          <p:attrName>style.visibility</p:attrName>
                                        </p:attrNameLst>
                                      </p:cBhvr>
                                      <p:to>
                                        <p:strVal val="visible"/>
                                      </p:to>
                                    </p:set>
                                    <p:animEffect transition="in" filter="wipe(down)">
                                      <p:cBhvr>
                                        <p:cTn id="1331" dur="500"/>
                                        <p:tgtEl>
                                          <p:spTgt spid="36"/>
                                        </p:tgtEl>
                                      </p:cBhvr>
                                    </p:animEffect>
                                  </p:childTnLst>
                                </p:cTn>
                              </p:par>
                              <p:par>
                                <p:cTn id="1332" presetID="22" presetClass="entr" presetSubtype="4" fill="hold" nodeType="withEffect">
                                  <p:stCondLst>
                                    <p:cond delay="690"/>
                                  </p:stCondLst>
                                  <p:childTnLst>
                                    <p:set>
                                      <p:cBhvr>
                                        <p:cTn id="1333" dur="1" fill="hold">
                                          <p:stCondLst>
                                            <p:cond delay="0"/>
                                          </p:stCondLst>
                                        </p:cTn>
                                        <p:tgtEl>
                                          <p:spTgt spid="44"/>
                                        </p:tgtEl>
                                        <p:attrNameLst>
                                          <p:attrName>style.visibility</p:attrName>
                                        </p:attrNameLst>
                                      </p:cBhvr>
                                      <p:to>
                                        <p:strVal val="visible"/>
                                      </p:to>
                                    </p:set>
                                    <p:animEffect transition="in" filter="wipe(down)">
                                      <p:cBhvr>
                                        <p:cTn id="1334" dur="500"/>
                                        <p:tgtEl>
                                          <p:spTgt spid="44"/>
                                        </p:tgtEl>
                                      </p:cBhvr>
                                    </p:animEffect>
                                  </p:childTnLst>
                                </p:cTn>
                              </p:par>
                              <p:par>
                                <p:cTn id="1335" presetID="22" presetClass="entr" presetSubtype="4" fill="hold" nodeType="withEffect">
                                  <p:stCondLst>
                                    <p:cond delay="760"/>
                                  </p:stCondLst>
                                  <p:childTnLst>
                                    <p:set>
                                      <p:cBhvr>
                                        <p:cTn id="1336" dur="1" fill="hold">
                                          <p:stCondLst>
                                            <p:cond delay="0"/>
                                          </p:stCondLst>
                                        </p:cTn>
                                        <p:tgtEl>
                                          <p:spTgt spid="45"/>
                                        </p:tgtEl>
                                        <p:attrNameLst>
                                          <p:attrName>style.visibility</p:attrName>
                                        </p:attrNameLst>
                                      </p:cBhvr>
                                      <p:to>
                                        <p:strVal val="visible"/>
                                      </p:to>
                                    </p:set>
                                    <p:animEffect transition="in" filter="wipe(down)">
                                      <p:cBhvr>
                                        <p:cTn id="133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Al excitar el terreno, la perturbación se propaga como ondas que podemos modelar</a:t>
            </a:r>
            <a:endParaRPr lang="en-US" sz="2200" dirty="0"/>
          </a:p>
        </p:txBody>
      </p:sp>
      <p:sp>
        <p:nvSpPr>
          <p:cNvPr id="3" name="Cuerpo [s0]"/>
          <p:cNvSpPr txBox="1"/>
          <p:nvPr/>
        </p:nvSpPr>
        <p:spPr>
          <a:xfrm>
            <a:off x="966136" y="1721719"/>
            <a:ext cx="2884691" cy="2403909"/>
          </a:xfrm>
          <a:prstGeom prst="rect">
            <a:avLst/>
          </a:prstGeom>
          <a:noFill/>
          <a:ln/>
        </p:spPr>
        <p:txBody>
          <a:bodyPr wrap="square" lIns="0" tIns="0" rIns="0" bIns="0" rtlCol="0" anchor="t"/>
          <a:lstStyle/>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Un golpe aplica energía en un punto</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El material se deforma de distintas maneras</a:t>
            </a:r>
            <a:endParaRPr lang="en-US" sz="1800" dirty="0"/>
          </a:p>
          <a:p>
            <a:pPr marL="342900" indent="-342900">
              <a:spcAft>
                <a:spcPts val="1260"/>
              </a:spcAft>
              <a:buSzPct val="100000"/>
              <a:buChar char="•"/>
            </a:pPr>
            <a:r>
              <a:rPr lang="en-US" sz="1800" dirty="0">
                <a:solidFill>
                  <a:srgbClr val="2D2D2D"/>
                </a:solidFill>
                <a:latin typeface="Arial" pitchFamily="34" charset="0"/>
                <a:ea typeface="Arial" pitchFamily="34" charset="-122"/>
                <a:cs typeface="Arial" pitchFamily="34" charset="-120"/>
              </a:rPr>
              <a:t>Cada tipo de deformación viaja como una onda</a:t>
            </a:r>
            <a:endParaRPr lang="en-US" sz="1800" dirty="0"/>
          </a:p>
        </p:txBody>
      </p:sp>
      <p:pic>
        <p:nvPicPr>
          <p:cNvPr id="4" name="Figura propagación [s0]" descr="Ondas Rayleigh generadas por una fuente en superficie, con campo cercano y órbita de partícula">    </p:cNvPr>
          <p:cNvPicPr>
            <a:picLocks noChangeAspect="1"/>
          </p:cNvPicPr>
          <p:nvPr/>
        </p:nvPicPr>
        <p:blipFill>
          <a:blip r:embed="rId1"/>
          <a:stretch>
            <a:fillRect/>
          </a:stretch>
        </p:blipFill>
        <p:spPr>
          <a:xfrm>
            <a:off x="4011088" y="1601523"/>
            <a:ext cx="4166776" cy="2642217"/>
          </a:xfrm>
          <a:prstGeom prst="rect">
            <a:avLst/>
          </a:prstGeom>
        </p:spPr>
      </p:pic>
      <p:sp>
        <p:nvSpPr>
          <p:cNvPr id="5" name="Cabecera Homogéneo [s1]"/>
          <p:cNvSpPr/>
          <p:nvPr/>
        </p:nvSpPr>
        <p:spPr>
          <a:xfrm>
            <a:off x="966136" y="1681654"/>
            <a:ext cx="2243649" cy="480782"/>
          </a:xfrm>
          <a:prstGeom prst="rect">
            <a:avLst/>
          </a:prstGeom>
          <a:solidFill>
            <a:srgbClr val="1F4E79"/>
          </a:solidFill>
          <a:ln w="6350">
            <a:solidFill>
              <a:srgbClr val="1F4E79"/>
            </a:solidFill>
            <a:prstDash val="solid"/>
          </a:ln>
        </p:spPr>
      </p:sp>
      <p:sp>
        <p:nvSpPr>
          <p:cNvPr id="6" name="Elemento [s1]"/>
          <p:cNvSpPr txBox="1"/>
          <p:nvPr/>
        </p:nvSpPr>
        <p:spPr>
          <a:xfrm>
            <a:off x="966136" y="1681654"/>
            <a:ext cx="2243649" cy="48078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Homogéneo</a:t>
            </a:r>
            <a:endParaRPr lang="en-US" sz="1800" dirty="0"/>
          </a:p>
        </p:txBody>
      </p:sp>
      <p:sp>
        <p:nvSpPr>
          <p:cNvPr id="7" name="Tarjeta Homogéneo [s1]"/>
          <p:cNvSpPr/>
          <p:nvPr/>
        </p:nvSpPr>
        <p:spPr>
          <a:xfrm>
            <a:off x="966136" y="2162436"/>
            <a:ext cx="2243649" cy="1282085"/>
          </a:xfrm>
          <a:prstGeom prst="rect">
            <a:avLst/>
          </a:prstGeom>
          <a:solidFill>
            <a:srgbClr val="FFFFFF"/>
          </a:solidFill>
          <a:ln w="16694">
            <a:solidFill>
              <a:srgbClr val="1F4E79"/>
            </a:solidFill>
            <a:prstDash val="solid"/>
          </a:ln>
        </p:spPr>
      </p:sp>
      <p:sp>
        <p:nvSpPr>
          <p:cNvPr id="8" name="Elemento [s1]"/>
          <p:cNvSpPr txBox="1"/>
          <p:nvPr/>
        </p:nvSpPr>
        <p:spPr>
          <a:xfrm>
            <a:off x="1086331" y="2282631"/>
            <a:ext cx="2003258" cy="1121824"/>
          </a:xfrm>
          <a:prstGeom prst="rect">
            <a:avLst/>
          </a:prstGeom>
          <a:noFill/>
          <a:ln/>
        </p:spPr>
        <p:txBody>
          <a:bodyPr wrap="square" lIns="0" tIns="0" rIns="0" bIns="0" rtlCol="0" anchor="ctr"/>
          <a:lstStyle/>
          <a:p>
            <a:pPr algn="ctr" indent="0" marL="0">
              <a:buNone/>
            </a:pPr>
            <a:r>
              <a:rPr lang="en-US" sz="1620" dirty="0">
                <a:solidFill>
                  <a:srgbClr val="2D2D2D"/>
                </a:solidFill>
                <a:latin typeface="Arial" pitchFamily="34" charset="0"/>
                <a:ea typeface="Arial" pitchFamily="34" charset="-122"/>
                <a:cs typeface="Arial" pitchFamily="34" charset="-120"/>
              </a:rPr>
              <a:t>Mismas propiedades en todos los puntos</a:t>
            </a:r>
            <a:endParaRPr lang="en-US" sz="1620" dirty="0"/>
          </a:p>
        </p:txBody>
      </p:sp>
      <p:sp>
        <p:nvSpPr>
          <p:cNvPr id="9" name="Cabecera Isótropo [s1]"/>
          <p:cNvSpPr/>
          <p:nvPr/>
        </p:nvSpPr>
        <p:spPr>
          <a:xfrm>
            <a:off x="3450176" y="1681654"/>
            <a:ext cx="2243649" cy="480782"/>
          </a:xfrm>
          <a:prstGeom prst="rect">
            <a:avLst/>
          </a:prstGeom>
          <a:solidFill>
            <a:srgbClr val="1F4E79"/>
          </a:solidFill>
          <a:ln w="6350">
            <a:solidFill>
              <a:srgbClr val="1F4E79"/>
            </a:solidFill>
            <a:prstDash val="solid"/>
          </a:ln>
        </p:spPr>
      </p:sp>
      <p:sp>
        <p:nvSpPr>
          <p:cNvPr id="10" name="Elemento [s1]"/>
          <p:cNvSpPr txBox="1"/>
          <p:nvPr/>
        </p:nvSpPr>
        <p:spPr>
          <a:xfrm>
            <a:off x="3450176" y="1681654"/>
            <a:ext cx="2243649" cy="48078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Isótropo</a:t>
            </a:r>
            <a:endParaRPr lang="en-US" sz="1800" dirty="0"/>
          </a:p>
        </p:txBody>
      </p:sp>
      <p:sp>
        <p:nvSpPr>
          <p:cNvPr id="11" name="Tarjeta Isótropo [s1]"/>
          <p:cNvSpPr/>
          <p:nvPr/>
        </p:nvSpPr>
        <p:spPr>
          <a:xfrm>
            <a:off x="3450176" y="2162436"/>
            <a:ext cx="2243649" cy="1282085"/>
          </a:xfrm>
          <a:prstGeom prst="rect">
            <a:avLst/>
          </a:prstGeom>
          <a:solidFill>
            <a:srgbClr val="FFFFFF"/>
          </a:solidFill>
          <a:ln w="16694">
            <a:solidFill>
              <a:srgbClr val="1F4E79"/>
            </a:solidFill>
            <a:prstDash val="solid"/>
          </a:ln>
        </p:spPr>
      </p:sp>
      <p:sp>
        <p:nvSpPr>
          <p:cNvPr id="12" name="Elemento [s1]"/>
          <p:cNvSpPr txBox="1"/>
          <p:nvPr/>
        </p:nvSpPr>
        <p:spPr>
          <a:xfrm>
            <a:off x="3570371" y="2282631"/>
            <a:ext cx="2003258" cy="1121824"/>
          </a:xfrm>
          <a:prstGeom prst="rect">
            <a:avLst/>
          </a:prstGeom>
          <a:noFill/>
          <a:ln/>
        </p:spPr>
        <p:txBody>
          <a:bodyPr wrap="square" lIns="0" tIns="0" rIns="0" bIns="0" rtlCol="0" anchor="ctr"/>
          <a:lstStyle/>
          <a:p>
            <a:pPr algn="ctr" indent="0" marL="0">
              <a:buNone/>
            </a:pPr>
            <a:r>
              <a:rPr lang="en-US" sz="1620" dirty="0">
                <a:solidFill>
                  <a:srgbClr val="2D2D2D"/>
                </a:solidFill>
                <a:latin typeface="Arial" pitchFamily="34" charset="0"/>
                <a:ea typeface="Arial" pitchFamily="34" charset="-122"/>
                <a:cs typeface="Arial" pitchFamily="34" charset="-120"/>
              </a:rPr>
              <a:t>Mismas propiedades en todas las direcciones</a:t>
            </a:r>
            <a:endParaRPr lang="en-US" sz="1620" dirty="0"/>
          </a:p>
        </p:txBody>
      </p:sp>
      <p:sp>
        <p:nvSpPr>
          <p:cNvPr id="13" name="Cabecera Elástico lineal [s1]"/>
          <p:cNvSpPr/>
          <p:nvPr/>
        </p:nvSpPr>
        <p:spPr>
          <a:xfrm>
            <a:off x="5934215" y="1681654"/>
            <a:ext cx="2243649" cy="480782"/>
          </a:xfrm>
          <a:prstGeom prst="rect">
            <a:avLst/>
          </a:prstGeom>
          <a:solidFill>
            <a:srgbClr val="1F4E79"/>
          </a:solidFill>
          <a:ln w="6350">
            <a:solidFill>
              <a:srgbClr val="1F4E79"/>
            </a:solidFill>
            <a:prstDash val="solid"/>
          </a:ln>
        </p:spPr>
      </p:sp>
      <p:sp>
        <p:nvSpPr>
          <p:cNvPr id="14" name="Elemento [s1]"/>
          <p:cNvSpPr txBox="1"/>
          <p:nvPr/>
        </p:nvSpPr>
        <p:spPr>
          <a:xfrm>
            <a:off x="5934215" y="1681654"/>
            <a:ext cx="2243649" cy="48078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Elástico lineal</a:t>
            </a:r>
            <a:endParaRPr lang="en-US" sz="1800" dirty="0"/>
          </a:p>
        </p:txBody>
      </p:sp>
      <p:sp>
        <p:nvSpPr>
          <p:cNvPr id="15" name="Tarjeta Elástico lineal [s1]"/>
          <p:cNvSpPr/>
          <p:nvPr/>
        </p:nvSpPr>
        <p:spPr>
          <a:xfrm>
            <a:off x="5934215" y="2162436"/>
            <a:ext cx="2243649" cy="1282085"/>
          </a:xfrm>
          <a:prstGeom prst="rect">
            <a:avLst/>
          </a:prstGeom>
          <a:solidFill>
            <a:srgbClr val="FFFFFF"/>
          </a:solidFill>
          <a:ln w="16694">
            <a:solidFill>
              <a:srgbClr val="1F4E79"/>
            </a:solidFill>
            <a:prstDash val="solid"/>
          </a:ln>
        </p:spPr>
      </p:sp>
      <p:sp>
        <p:nvSpPr>
          <p:cNvPr id="16" name="Elemento [s1]"/>
          <p:cNvSpPr txBox="1"/>
          <p:nvPr/>
        </p:nvSpPr>
        <p:spPr>
          <a:xfrm>
            <a:off x="6054411" y="2282631"/>
            <a:ext cx="2003258" cy="1121824"/>
          </a:xfrm>
          <a:prstGeom prst="rect">
            <a:avLst/>
          </a:prstGeom>
          <a:noFill/>
          <a:ln/>
        </p:spPr>
        <p:txBody>
          <a:bodyPr wrap="square" lIns="0" tIns="0" rIns="0" bIns="0" rtlCol="0" anchor="ctr"/>
          <a:lstStyle/>
          <a:p>
            <a:pPr algn="ctr" indent="0" marL="0">
              <a:buNone/>
            </a:pPr>
            <a:r>
              <a:rPr lang="en-US" sz="162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620" dirty="0"/>
          </a:p>
        </p:txBody>
      </p:sp>
      <p:sp>
        <p:nvSpPr>
          <p:cNvPr id="17" name="Elemento [s1]"/>
          <p:cNvSpPr txBox="1"/>
          <p:nvPr/>
        </p:nvSpPr>
        <p:spPr>
          <a:xfrm>
            <a:off x="966136" y="3724977"/>
            <a:ext cx="7211728" cy="560912"/>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1800" dirty="0"/>
          </a:p>
        </p:txBody>
      </p:sp>
      <p:sp>
        <p:nvSpPr>
          <p:cNvPr id="18" name="Fondo E_navier [s2]"/>
          <p:cNvSpPr/>
          <p:nvPr/>
        </p:nvSpPr>
        <p:spPr>
          <a:xfrm>
            <a:off x="966136" y="1561458"/>
            <a:ext cx="3846255"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9" name="Ecuación E_navier [s2]"/>
              <p:cNvSpPr txBox="1"/>
              <p:nvPr/>
            </p:nvSpPr>
            <p:spPr>
              <a:xfrm>
                <a:off x="966136" y="1561458"/>
                <a:ext cx="3846255"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600" i="1">
                          <a:solidFill>
                            <a:srgbClr val="1F4E79"/>
                          </a:solidFill>
                          <a:latin typeface="Cambria Math" panose="02040503050406030204" pitchFamily="18" charset="0"/>
                        </a:rPr>
                        <m:t xml:space="preserve">ρ</m:t>
                      </m:r>
                      <m:f>
                        <m:fPr>
                          <m:ctrlPr>
                            <a:rPr lang="es-ES" sz="1600" i="1">
                              <a:latin typeface="Cambria Math" panose="02040503050406030204" pitchFamily="18" charset="0"/>
                            </a:rPr>
                          </m:ctrlPr>
                        </m:fPr>
                        <m:num>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m:t>
                              </m:r>
                            </m:e>
                            <m:sup>
                              <m:r>
                                <a:rPr lang="es-ES" sz="1600" i="1">
                                  <a:solidFill>
                                    <a:srgbClr val="1F4E79"/>
                                  </a:solidFill>
                                  <a:latin typeface="Cambria Math" panose="02040503050406030204" pitchFamily="18" charset="0"/>
                                </a:rPr>
                                <m:t xml:space="preserve">2</m:t>
                              </m:r>
                            </m:sup>
                          </m:sSup>
                          <m:r>
                            <a:rPr lang="es-ES" sz="1600" i="1">
                              <a:solidFill>
                                <a:srgbClr val="1F4E79"/>
                              </a:solidFill>
                              <a:latin typeface="Cambria Math" panose="02040503050406030204" pitchFamily="18" charset="0"/>
                            </a:rPr>
                            <m:t xml:space="preserve">u</m:t>
                          </m:r>
                        </m:num>
                        <m:den>
                          <m:r>
                            <a:rPr lang="es-ES" sz="1600" i="1">
                              <a:solidFill>
                                <a:srgbClr val="1F4E79"/>
                              </a:solidFill>
                              <a:latin typeface="Cambria Math" panose="02040503050406030204" pitchFamily="18" charset="0"/>
                            </a:rPr>
                            <m:t xml:space="preserve">∂</m:t>
                          </m:r>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t</m:t>
                              </m:r>
                            </m:e>
                            <m:sup>
                              <m:r>
                                <a:rPr lang="es-ES" sz="1600" i="1">
                                  <a:solidFill>
                                    <a:srgbClr val="1F4E79"/>
                                  </a:solidFill>
                                  <a:latin typeface="Cambria Math" panose="02040503050406030204" pitchFamily="18" charset="0"/>
                                </a:rPr>
                                <m:t xml:space="preserve">2</m:t>
                              </m:r>
                            </m:sup>
                          </m:sSup>
                        </m:den>
                      </m:f>
                      <m:r>
                        <a:rPr lang="es-ES" sz="1600" i="1">
                          <a:solidFill>
                            <a:srgbClr val="1F4E79"/>
                          </a:solidFill>
                          <a:latin typeface="Cambria Math" panose="02040503050406030204" pitchFamily="18" charset="0"/>
                        </a:rPr>
                        <m:t xml:space="preserve">=(λ+μ)∇(∇·u)+μ</m:t>
                      </m:r>
                      <m:sSup>
                        <m:sSupPr>
                          <m:ctrlPr>
                            <a:rPr lang="es-ES" sz="1600" i="1">
                              <a:latin typeface="Cambria Math" panose="02040503050406030204" pitchFamily="18" charset="0"/>
                            </a:rPr>
                          </m:ctrlPr>
                        </m:sSupPr>
                        <m:e>
                          <m:r>
                            <a:rPr lang="es-ES" sz="1600" i="1">
                              <a:solidFill>
                                <a:srgbClr val="1F4E79"/>
                              </a:solidFill>
                              <a:latin typeface="Cambria Math" panose="02040503050406030204" pitchFamily="18" charset="0"/>
                            </a:rPr>
                            <m:t xml:space="preserve">∇</m:t>
                          </m:r>
                        </m:e>
                        <m:sup>
                          <m:r>
                            <a:rPr lang="es-ES" sz="1600" i="1">
                              <a:solidFill>
                                <a:srgbClr val="1F4E79"/>
                              </a:solidFill>
                              <a:latin typeface="Cambria Math" panose="02040503050406030204" pitchFamily="18" charset="0"/>
                            </a:rPr>
                            <m:t xml:space="preserve">2</m:t>
                          </m:r>
                        </m:sup>
                      </m:sSup>
                      <m:r>
                        <a:rPr lang="es-ES" sz="1600" i="1">
                          <a:solidFill>
                            <a:srgbClr val="1F4E79"/>
                          </a:solidFill>
                          <a:latin typeface="Cambria Math" panose="02040503050406030204" pitchFamily="18" charset="0"/>
                        </a:rPr>
                        <m:t xml:space="preserve">u</m:t>
                      </m:r>
                    </m:oMath>
                  </m:oMathPara>
                </a14:m>
                <a:endParaRPr lang="es-ES"/>
              </a:p>
            </p:txBody>
          </p:sp>
        </mc:Choice>
        <mc:Fallback>
          <p:sp>
            <p:nvSpPr>
              <p:cNvPr id="19" name="Ecuación E_navier [s2]"/>
              <p:cNvSpPr txBox="1"/>
              <p:nvPr/>
            </p:nvSpPr>
            <p:spPr>
              <a:xfrm>
                <a:off x="966136" y="1561458"/>
                <a:ext cx="3846255"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ρ ∂²u/∂t² = (λ+μ)∇(∇·u) + μ∇²u</a:t>
                </a:r>
                <a:endParaRPr lang="en-US" sz="2159" dirty="0"/>
              </a:p>
            </p:txBody>
          </p:sp>
        </mc:Fallback>
      </mc:AlternateContent>
      <p:sp>
        <p:nvSpPr>
          <p:cNvPr id="20" name="Elemento [s2]"/>
          <p:cNvSpPr txBox="1"/>
          <p:nvPr/>
        </p:nvSpPr>
        <p:spPr>
          <a:xfrm>
            <a:off x="5012717" y="1561458"/>
            <a:ext cx="3165147" cy="641043"/>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Ecuación de movimiento. u: desplazamiento;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ρ</m:t>
                    </m:r>
                  </m:oMath>
                </a14:m>
              </mc:Choice>
              <mc:Fallback>
                <a:r>
                  <a:rPr lang="en-US" sz="1440" dirty="0">
                    <a:solidFill>
                      <a:srgbClr val="2D2D2D"/>
                    </a:solidFill>
                    <a:latin typeface="Arial" pitchFamily="34" charset="0"/>
                    <a:ea typeface="Arial" pitchFamily="34" charset="-122"/>
                    <a:cs typeface="Arial" pitchFamily="34" charset="-120"/>
                  </a:rPr>
                  <a:t>ρ</a:t>
                </a:r>
              </mc:Fallback>
            </mc:AlternateContent>
            <a:r>
              <a:rPr lang="en-US" sz="1440" dirty="0">
                <a:solidFill>
                  <a:srgbClr val="2D2D2D"/>
                </a:solidFill>
                <a:latin typeface="Arial" pitchFamily="34" charset="0"/>
                <a:ea typeface="Arial" pitchFamily="34" charset="-122"/>
                <a:cs typeface="Arial" pitchFamily="34" charset="-120"/>
              </a:rPr>
              <a:t>: densidad;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λ</m:t>
                    </m:r>
                  </m:oMath>
                </a14:m>
              </mc:Choice>
              <mc:Fallback>
                <a:r>
                  <a:rPr lang="en-US" sz="1440" dirty="0">
                    <a:solidFill>
                      <a:srgbClr val="2D2D2D"/>
                    </a:solidFill>
                    <a:latin typeface="Arial" pitchFamily="34" charset="0"/>
                    <a:ea typeface="Arial" pitchFamily="34" charset="-122"/>
                    <a:cs typeface="Arial" pitchFamily="34" charset="-120"/>
                  </a:rPr>
                  <a:t>λ</a:t>
                </a:r>
              </mc:Fallback>
            </mc:AlternateContent>
            <a:r>
              <a:rPr lang="en-US" sz="144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μ</m:t>
                    </m:r>
                  </m:oMath>
                </a14:m>
              </mc:Choice>
              <mc:Fallback>
                <a:r>
                  <a:rPr lang="en-US" sz="1440" dirty="0">
                    <a:solidFill>
                      <a:srgbClr val="2D2D2D"/>
                    </a:solidFill>
                    <a:latin typeface="Arial" pitchFamily="34" charset="0"/>
                    <a:ea typeface="Arial" pitchFamily="34" charset="-122"/>
                    <a:cs typeface="Arial" pitchFamily="34" charset="-120"/>
                  </a:rPr>
                  <a:t>μ</a:t>
                </a:r>
              </mc:Fallback>
            </mc:AlternateContent>
            <a:r>
              <a:rPr lang="en-US" sz="1440" dirty="0">
                <a:solidFill>
                  <a:srgbClr val="2D2D2D"/>
                </a:solidFill>
                <a:latin typeface="Arial" pitchFamily="34" charset="0"/>
                <a:ea typeface="Arial" pitchFamily="34" charset="-122"/>
                <a:cs typeface="Arial" pitchFamily="34" charset="-120"/>
              </a:rPr>
              <a:t>: constantes de Lamé</a:t>
            </a:r>
            <a:endParaRPr lang="en-US" sz="1440" dirty="0"/>
          </a:p>
        </p:txBody>
      </p:sp>
      <p:sp>
        <p:nvSpPr>
          <p:cNvPr id="21" name="Fondo E_helm [s2]"/>
          <p:cNvSpPr/>
          <p:nvPr/>
        </p:nvSpPr>
        <p:spPr>
          <a:xfrm>
            <a:off x="966136" y="2266605"/>
            <a:ext cx="3846255"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2" name="Ecuación E_helm [s2]"/>
              <p:cNvSpPr txBox="1"/>
              <p:nvPr/>
            </p:nvSpPr>
            <p:spPr>
              <a:xfrm>
                <a:off x="966136" y="2266605"/>
                <a:ext cx="3846255"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u=∇φ+∇×ψ</m:t>
                      </m:r>
                    </m:oMath>
                  </m:oMathPara>
                </a14:m>
                <a:endParaRPr lang="es-ES"/>
              </a:p>
            </p:txBody>
          </p:sp>
        </mc:Choice>
        <mc:Fallback>
          <p:sp>
            <p:nvSpPr>
              <p:cNvPr id="22" name="Ecuación E_helm [s2]"/>
              <p:cNvSpPr txBox="1"/>
              <p:nvPr/>
            </p:nvSpPr>
            <p:spPr>
              <a:xfrm>
                <a:off x="966136" y="2266605"/>
                <a:ext cx="3846255"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u = ∇φ + ∇×ψ</a:t>
                </a:r>
                <a:endParaRPr lang="en-US" sz="2159" dirty="0"/>
              </a:p>
            </p:txBody>
          </p:sp>
        </mc:Fallback>
      </mc:AlternateContent>
      <p:sp>
        <p:nvSpPr>
          <p:cNvPr id="23" name="Elemento [s2]"/>
          <p:cNvSpPr txBox="1"/>
          <p:nvPr/>
        </p:nvSpPr>
        <p:spPr>
          <a:xfrm>
            <a:off x="5012717" y="2266605"/>
            <a:ext cx="3165147" cy="641043"/>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Descomposición con un potencial escalar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φ</m:t>
                    </m:r>
                  </m:oMath>
                </a14:m>
              </mc:Choice>
              <mc:Fallback>
                <a:r>
                  <a:rPr lang="en-US" sz="1440" dirty="0">
                    <a:solidFill>
                      <a:srgbClr val="2D2D2D"/>
                    </a:solidFill>
                    <a:latin typeface="Arial" pitchFamily="34" charset="0"/>
                    <a:ea typeface="Arial" pitchFamily="34" charset="-122"/>
                    <a:cs typeface="Arial" pitchFamily="34" charset="-120"/>
                  </a:rPr>
                  <a:t>φ</a:t>
                </a:r>
              </mc:Fallback>
            </mc:AlternateContent>
            <a:r>
              <a:rPr lang="en-US" sz="1440" dirty="0">
                <a:solidFill>
                  <a:srgbClr val="2D2D2D"/>
                </a:solidFill>
                <a:latin typeface="Arial" pitchFamily="34" charset="0"/>
                <a:ea typeface="Arial" pitchFamily="34" charset="-122"/>
                <a:cs typeface="Arial" pitchFamily="34" charset="-120"/>
              </a:rPr>
              <a:t> y uno vectorial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ψ</m:t>
                    </m:r>
                  </m:oMath>
                </a14:m>
              </mc:Choice>
              <mc:Fallback>
                <a:r>
                  <a:rPr lang="en-US" sz="1440" dirty="0">
                    <a:solidFill>
                      <a:srgbClr val="2D2D2D"/>
                    </a:solidFill>
                    <a:latin typeface="Arial" pitchFamily="34" charset="0"/>
                    <a:ea typeface="Arial" pitchFamily="34" charset="-122"/>
                    <a:cs typeface="Arial" pitchFamily="34" charset="-120"/>
                  </a:rPr>
                  <a:t>ψ</a:t>
                </a:r>
              </mc:Fallback>
            </mc:AlternateContent>
            <a:endParaRPr lang="en-US" sz="1440" dirty="0"/>
          </a:p>
        </p:txBody>
      </p:sp>
      <p:sp>
        <p:nvSpPr>
          <p:cNvPr id="24" name="Fondo E_phi [s2]"/>
          <p:cNvSpPr/>
          <p:nvPr/>
        </p:nvSpPr>
        <p:spPr>
          <a:xfrm>
            <a:off x="966136" y="2971752"/>
            <a:ext cx="3846255"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5" name="Ecuación E_phi [s2]"/>
              <p:cNvSpPr txBox="1"/>
              <p:nvPr/>
            </p:nvSpPr>
            <p:spPr>
              <a:xfrm>
                <a:off x="966136" y="2971752"/>
                <a:ext cx="3846255"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r>
                                <a:rPr lang="es-ES" sz="2200" i="1">
                                  <a:solidFill>
                                    <a:srgbClr val="1F4E79"/>
                                  </a:solidFill>
                                  <a:latin typeface="Cambria Math" panose="02040503050406030204" pitchFamily="18" charset="0"/>
                                </a:rPr>
                                <m:t xml:space="preserve">∂</m:t>
                              </m:r>
                            </m:e>
                            <m:sup>
                              <m:r>
                                <a:rPr lang="es-ES" sz="2200" i="1">
                                  <a:solidFill>
                                    <a:srgbClr val="1F4E79"/>
                                  </a:solidFill>
                                  <a:latin typeface="Cambria Math" panose="02040503050406030204" pitchFamily="18" charset="0"/>
                                </a:rPr>
                                <m:t xml:space="preserve">2</m:t>
                              </m:r>
                            </m:sup>
                          </m:sSup>
                          <m:r>
                            <a:rPr lang="es-ES" sz="2200" i="1">
                              <a:solidFill>
                                <a:srgbClr val="1F4E79"/>
                              </a:solidFill>
                              <a:latin typeface="Cambria Math" panose="02040503050406030204" pitchFamily="18" charset="0"/>
                            </a:rPr>
                            <m:t xml:space="preserve">φ</m:t>
                          </m:r>
                        </m:num>
                        <m:den>
                          <m:r>
                            <a:rPr lang="es-ES" sz="2200" i="1">
                              <a:solidFill>
                                <a:srgbClr val="1F4E79"/>
                              </a:solidFill>
                              <a:latin typeface="Cambria Math" panose="02040503050406030204" pitchFamily="18" charset="0"/>
                            </a:rPr>
                            <m:t xml:space="preserve">∂</m:t>
                          </m:r>
                          <m:sSup>
                            <m:sSupPr>
                              <m:ctrlPr>
                                <a:rPr lang="es-ES" sz="2200" i="1">
                                  <a:latin typeface="Cambria Math" panose="02040503050406030204" pitchFamily="18" charset="0"/>
                                </a:rPr>
                              </m:ctrlPr>
                            </m:sSupPr>
                            <m:e>
                              <m:r>
                                <a:rPr lang="es-ES" sz="2200" i="1">
                                  <a:solidFill>
                                    <a:srgbClr val="1F4E79"/>
                                  </a:solidFill>
                                  <a:latin typeface="Cambria Math" panose="02040503050406030204" pitchFamily="18" charset="0"/>
                                </a:rPr>
                                <m:t xml:space="preserve">t</m:t>
                              </m:r>
                            </m:e>
                            <m:sup>
                              <m:r>
                                <a:rPr lang="es-ES" sz="2200" i="1">
                                  <a:solidFill>
                                    <a:srgbClr val="1F4E79"/>
                                  </a:solidFill>
                                  <a:latin typeface="Cambria Math" panose="02040503050406030204" pitchFamily="18" charset="0"/>
                                </a:rPr>
                                <m:t xml:space="preserve">2</m:t>
                              </m:r>
                            </m:sup>
                          </m:sSup>
                        </m:den>
                      </m:f>
                      <m:r>
                        <a:rPr lang="es-ES" sz="2200" i="1">
                          <a:solidFill>
                            <a:srgbClr val="1F4E79"/>
                          </a:solidFill>
                          <a:latin typeface="Cambria Math" panose="02040503050406030204" pitchFamily="18" charset="0"/>
                        </a:rPr>
                        <m:t xml:space="preserve">=</m:t>
                      </m:r>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p</m:t>
                              </m:r>
                            </m:sub>
                          </m:sSub>
                        </m:e>
                        <m:sup>
                          <m:r>
                            <a:rPr lang="es-ES" sz="2200" i="1">
                              <a:solidFill>
                                <a:srgbClr val="1F4E79"/>
                              </a:solidFill>
                              <a:latin typeface="Cambria Math" panose="02040503050406030204" pitchFamily="18" charset="0"/>
                            </a:rPr>
                            <m:t xml:space="preserve">2</m:t>
                          </m:r>
                        </m:sup>
                      </m:sSup>
                      <m:sSup>
                        <m:sSupPr>
                          <m:ctrlPr>
                            <a:rPr lang="es-ES" sz="2200" i="1">
                              <a:latin typeface="Cambria Math" panose="02040503050406030204" pitchFamily="18" charset="0"/>
                            </a:rPr>
                          </m:ctrlPr>
                        </m:sSupPr>
                        <m:e>
                          <m:r>
                            <a:rPr lang="es-ES" sz="2200" i="1">
                              <a:solidFill>
                                <a:srgbClr val="1F4E79"/>
                              </a:solidFill>
                              <a:latin typeface="Cambria Math" panose="02040503050406030204" pitchFamily="18" charset="0"/>
                            </a:rPr>
                            <m:t xml:space="preserve">∇</m:t>
                          </m:r>
                        </m:e>
                        <m:sup>
                          <m:r>
                            <a:rPr lang="es-ES" sz="2200" i="1">
                              <a:solidFill>
                                <a:srgbClr val="1F4E79"/>
                              </a:solidFill>
                              <a:latin typeface="Cambria Math" panose="02040503050406030204" pitchFamily="18" charset="0"/>
                            </a:rPr>
                            <m:t xml:space="preserve">2</m:t>
                          </m:r>
                        </m:sup>
                      </m:sSup>
                      <m:r>
                        <a:rPr lang="es-ES" sz="2200" i="1">
                          <a:solidFill>
                            <a:srgbClr val="1F4E79"/>
                          </a:solidFill>
                          <a:latin typeface="Cambria Math" panose="02040503050406030204" pitchFamily="18" charset="0"/>
                        </a:rPr>
                        <m:t xml:space="preserve">φ</m:t>
                      </m:r>
                    </m:oMath>
                  </m:oMathPara>
                </a14:m>
                <a:endParaRPr lang="es-ES"/>
              </a:p>
            </p:txBody>
          </p:sp>
        </mc:Choice>
        <mc:Fallback>
          <p:sp>
            <p:nvSpPr>
              <p:cNvPr id="25" name="Ecuación E_phi [s2]"/>
              <p:cNvSpPr txBox="1"/>
              <p:nvPr/>
            </p:nvSpPr>
            <p:spPr>
              <a:xfrm>
                <a:off x="966136" y="2971752"/>
                <a:ext cx="3846255"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∂²φ/∂t² = Vp² ∇²φ</a:t>
                </a:r>
                <a:endParaRPr lang="en-US" sz="2159" dirty="0"/>
              </a:p>
            </p:txBody>
          </p:sp>
        </mc:Fallback>
      </mc:AlternateContent>
      <p:sp>
        <p:nvSpPr>
          <p:cNvPr id="26" name="Elemento [s2]"/>
          <p:cNvSpPr txBox="1"/>
          <p:nvPr/>
        </p:nvSpPr>
        <p:spPr>
          <a:xfrm>
            <a:off x="5012717" y="2971752"/>
            <a:ext cx="3165147" cy="641043"/>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φ</m:t>
                    </m:r>
                  </m:oMath>
                </a14:m>
              </mc:Choice>
              <mc:Fallback>
                <a:r>
                  <a:rPr lang="en-US" sz="1440" dirty="0">
                    <a:solidFill>
                      <a:srgbClr val="2D2D2D"/>
                    </a:solidFill>
                    <a:latin typeface="Arial" pitchFamily="34" charset="0"/>
                    <a:ea typeface="Arial" pitchFamily="34" charset="-122"/>
                    <a:cs typeface="Arial" pitchFamily="34" charset="-120"/>
                  </a:rPr>
                  <a:t>φ</a:t>
                </a:r>
              </mc:Fallback>
            </mc:AlternateContent>
            <a:r>
              <a:rPr lang="en-US" sz="1440" dirty="0">
                <a:solidFill>
                  <a:srgbClr val="2D2D2D"/>
                </a:solidFill>
                <a:latin typeface="Arial" pitchFamily="34" charset="0"/>
                <a:ea typeface="Arial" pitchFamily="34" charset="-122"/>
                <a:cs typeface="Arial" pitchFamily="34" charset="-120"/>
              </a:rPr>
              <a:t>: compresión, viaja a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p</m:t>
                        </m:r>
                      </m:sub>
                    </m:sSub>
                  </m:oMath>
                </a14:m>
              </mc:Choice>
              <mc:Fallback>
                <a:r>
                  <a:rPr lang="en-US" sz="1440" dirty="0">
                    <a:solidFill>
                      <a:srgbClr val="2D2D2D"/>
                    </a:solidFill>
                    <a:latin typeface="Arial" pitchFamily="34" charset="0"/>
                    <a:ea typeface="Arial" pitchFamily="34" charset="-122"/>
                    <a:cs typeface="Arial" pitchFamily="34" charset="-120"/>
                  </a:rPr>
                  <a:t>Vp</a:t>
                </a:r>
              </mc:Fallback>
            </mc:AlternateContent>
            <a:r>
              <a:rPr lang="en-US" sz="1440" dirty="0">
                <a:solidFill>
                  <a:srgbClr val="2D2D2D"/>
                </a:solidFill>
                <a:latin typeface="Arial" pitchFamily="34" charset="0"/>
                <a:ea typeface="Arial" pitchFamily="34" charset="-122"/>
                <a:cs typeface="Arial" pitchFamily="34" charset="-120"/>
              </a:rPr>
              <a:t> (onda P)</a:t>
            </a:r>
            <a:endParaRPr lang="en-US" sz="1440" dirty="0"/>
          </a:p>
        </p:txBody>
      </p:sp>
      <p:sp>
        <p:nvSpPr>
          <p:cNvPr id="27" name="Fondo E_psi [s2]"/>
          <p:cNvSpPr/>
          <p:nvPr/>
        </p:nvSpPr>
        <p:spPr>
          <a:xfrm>
            <a:off x="966136" y="3676899"/>
            <a:ext cx="3846255"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8" name="Ecuación E_psi [s2]"/>
              <p:cNvSpPr txBox="1"/>
              <p:nvPr/>
            </p:nvSpPr>
            <p:spPr>
              <a:xfrm>
                <a:off x="966136" y="3676899"/>
                <a:ext cx="3846255"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r>
                                <a:rPr lang="es-ES" sz="2200" i="1">
                                  <a:solidFill>
                                    <a:srgbClr val="1F4E79"/>
                                  </a:solidFill>
                                  <a:latin typeface="Cambria Math" panose="02040503050406030204" pitchFamily="18" charset="0"/>
                                </a:rPr>
                                <m:t xml:space="preserve">∂</m:t>
                              </m:r>
                            </m:e>
                            <m:sup>
                              <m:r>
                                <a:rPr lang="es-ES" sz="2200" i="1">
                                  <a:solidFill>
                                    <a:srgbClr val="1F4E79"/>
                                  </a:solidFill>
                                  <a:latin typeface="Cambria Math" panose="02040503050406030204" pitchFamily="18" charset="0"/>
                                </a:rPr>
                                <m:t xml:space="preserve">2</m:t>
                              </m:r>
                            </m:sup>
                          </m:sSup>
                          <m:r>
                            <a:rPr lang="es-ES" sz="2200" i="1">
                              <a:solidFill>
                                <a:srgbClr val="1F4E79"/>
                              </a:solidFill>
                              <a:latin typeface="Cambria Math" panose="02040503050406030204" pitchFamily="18" charset="0"/>
                            </a:rPr>
                            <m:t xml:space="preserve">ψ</m:t>
                          </m:r>
                        </m:num>
                        <m:den>
                          <m:r>
                            <a:rPr lang="es-ES" sz="2200" i="1">
                              <a:solidFill>
                                <a:srgbClr val="1F4E79"/>
                              </a:solidFill>
                              <a:latin typeface="Cambria Math" panose="02040503050406030204" pitchFamily="18" charset="0"/>
                            </a:rPr>
                            <m:t xml:space="preserve">∂</m:t>
                          </m:r>
                          <m:sSup>
                            <m:sSupPr>
                              <m:ctrlPr>
                                <a:rPr lang="es-ES" sz="2200" i="1">
                                  <a:latin typeface="Cambria Math" panose="02040503050406030204" pitchFamily="18" charset="0"/>
                                </a:rPr>
                              </m:ctrlPr>
                            </m:sSupPr>
                            <m:e>
                              <m:r>
                                <a:rPr lang="es-ES" sz="2200" i="1">
                                  <a:solidFill>
                                    <a:srgbClr val="1F4E79"/>
                                  </a:solidFill>
                                  <a:latin typeface="Cambria Math" panose="02040503050406030204" pitchFamily="18" charset="0"/>
                                </a:rPr>
                                <m:t xml:space="preserve">t</m:t>
                              </m:r>
                            </m:e>
                            <m:sup>
                              <m:r>
                                <a:rPr lang="es-ES" sz="2200" i="1">
                                  <a:solidFill>
                                    <a:srgbClr val="1F4E79"/>
                                  </a:solidFill>
                                  <a:latin typeface="Cambria Math" panose="02040503050406030204" pitchFamily="18" charset="0"/>
                                </a:rPr>
                                <m:t xml:space="preserve">2</m:t>
                              </m:r>
                            </m:sup>
                          </m:sSup>
                        </m:den>
                      </m:f>
                      <m:r>
                        <a:rPr lang="es-ES" sz="2200" i="1">
                          <a:solidFill>
                            <a:srgbClr val="1F4E79"/>
                          </a:solidFill>
                          <a:latin typeface="Cambria Math" panose="02040503050406030204" pitchFamily="18" charset="0"/>
                        </a:rPr>
                        <m:t xml:space="preserve">=</m:t>
                      </m:r>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e>
                        <m:sup>
                          <m:r>
                            <a:rPr lang="es-ES" sz="2200" i="1">
                              <a:solidFill>
                                <a:srgbClr val="1F4E79"/>
                              </a:solidFill>
                              <a:latin typeface="Cambria Math" panose="02040503050406030204" pitchFamily="18" charset="0"/>
                            </a:rPr>
                            <m:t xml:space="preserve">2</m:t>
                          </m:r>
                        </m:sup>
                      </m:sSup>
                      <m:sSup>
                        <m:sSupPr>
                          <m:ctrlPr>
                            <a:rPr lang="es-ES" sz="2200" i="1">
                              <a:latin typeface="Cambria Math" panose="02040503050406030204" pitchFamily="18" charset="0"/>
                            </a:rPr>
                          </m:ctrlPr>
                        </m:sSupPr>
                        <m:e>
                          <m:r>
                            <a:rPr lang="es-ES" sz="2200" i="1">
                              <a:solidFill>
                                <a:srgbClr val="1F4E79"/>
                              </a:solidFill>
                              <a:latin typeface="Cambria Math" panose="02040503050406030204" pitchFamily="18" charset="0"/>
                            </a:rPr>
                            <m:t xml:space="preserve">∇</m:t>
                          </m:r>
                        </m:e>
                        <m:sup>
                          <m:r>
                            <a:rPr lang="es-ES" sz="2200" i="1">
                              <a:solidFill>
                                <a:srgbClr val="1F4E79"/>
                              </a:solidFill>
                              <a:latin typeface="Cambria Math" panose="02040503050406030204" pitchFamily="18" charset="0"/>
                            </a:rPr>
                            <m:t xml:space="preserve">2</m:t>
                          </m:r>
                        </m:sup>
                      </m:sSup>
                      <m:r>
                        <a:rPr lang="es-ES" sz="2200" i="1">
                          <a:solidFill>
                            <a:srgbClr val="1F4E79"/>
                          </a:solidFill>
                          <a:latin typeface="Cambria Math" panose="02040503050406030204" pitchFamily="18" charset="0"/>
                        </a:rPr>
                        <m:t xml:space="preserve">ψ</m:t>
                      </m:r>
                    </m:oMath>
                  </m:oMathPara>
                </a14:m>
                <a:endParaRPr lang="es-ES"/>
              </a:p>
            </p:txBody>
          </p:sp>
        </mc:Choice>
        <mc:Fallback>
          <p:sp>
            <p:nvSpPr>
              <p:cNvPr id="28" name="Ecuación E_psi [s2]"/>
              <p:cNvSpPr txBox="1"/>
              <p:nvPr/>
            </p:nvSpPr>
            <p:spPr>
              <a:xfrm>
                <a:off x="966136" y="3676899"/>
                <a:ext cx="3846255"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∂²ψ/∂t² = Vs² ∇²ψ</a:t>
                </a:r>
                <a:endParaRPr lang="en-US" sz="2159" dirty="0"/>
              </a:p>
            </p:txBody>
          </p:sp>
        </mc:Fallback>
      </mc:AlternateContent>
      <p:sp>
        <p:nvSpPr>
          <p:cNvPr id="29" name="Elemento [s2]"/>
          <p:cNvSpPr txBox="1"/>
          <p:nvPr/>
        </p:nvSpPr>
        <p:spPr>
          <a:xfrm>
            <a:off x="5012717" y="3676899"/>
            <a:ext cx="3165147" cy="641043"/>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ψ</m:t>
                    </m:r>
                  </m:oMath>
                </a14:m>
              </mc:Choice>
              <mc:Fallback>
                <a:r>
                  <a:rPr lang="en-US" sz="1440" dirty="0">
                    <a:solidFill>
                      <a:srgbClr val="2D2D2D"/>
                    </a:solidFill>
                    <a:latin typeface="Arial" pitchFamily="34" charset="0"/>
                    <a:ea typeface="Arial" pitchFamily="34" charset="-122"/>
                    <a:cs typeface="Arial" pitchFamily="34" charset="-120"/>
                  </a:rPr>
                  <a:t>ψ</a:t>
                </a:r>
              </mc:Fallback>
            </mc:AlternateContent>
            <a:r>
              <a:rPr lang="en-US" sz="1440" dirty="0">
                <a:solidFill>
                  <a:srgbClr val="2D2D2D"/>
                </a:solidFill>
                <a:latin typeface="Arial" pitchFamily="34" charset="0"/>
                <a:ea typeface="Arial" pitchFamily="34" charset="-122"/>
                <a:cs typeface="Arial" pitchFamily="34" charset="-120"/>
              </a:rPr>
              <a:t>: corte, viaja a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 (onda S)</a:t>
            </a:r>
            <a:endParaRPr lang="en-US" sz="1440" dirty="0"/>
          </a:p>
        </p:txBody>
      </p:sp>
      <p:sp>
        <p:nvSpPr>
          <p:cNvPr id="30"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Al excitar un terreno sólido, este se deforma de forma transitoria y la perturbación se propaga</a:t>
            </a:r>
            <a:endParaRPr lang="en-US" sz="1400" dirty="0"/>
          </a:p>
        </p:txBody>
      </p:sp>
      <p:sp>
        <p:nvSpPr>
          <p:cNvPr id="31"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Foti et al. (2014), fig. 1.1 (cap. 1; por confirmar), traducida.</a:t>
            </a:r>
            <a:endParaRPr lang="en-US" sz="800" dirty="0"/>
          </a:p>
        </p:txBody>
      </p:sp>
      <p:sp>
        <p:nvSpPr>
          <p:cNvPr id="32"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Para analizarlo, simplificamos: un medio homogéneo, isótropo y elástico lineal</a:t>
            </a:r>
            <a:endParaRPr lang="en-US" sz="1400" dirty="0"/>
          </a:p>
        </p:txBody>
      </p:sp>
      <p:sp>
        <p:nvSpPr>
          <p:cNvPr id="33"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 (a confirmar).</a:t>
            </a:r>
            <a:endParaRPr lang="en-US" sz="800" dirty="0"/>
          </a:p>
        </p:txBody>
      </p:sp>
      <p:sp>
        <p:nvSpPr>
          <p:cNvPr id="34"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ese medio, la ecuación de movimiento admite solo dos tipos de onda: P y S</a:t>
            </a:r>
            <a:endParaRPr lang="en-US" sz="1400" dirty="0"/>
          </a:p>
        </p:txBody>
      </p:sp>
      <p:sp>
        <p:nvSpPr>
          <p:cNvPr id="35"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Descomposición de Helmholtz de la ecuación de Navier. Foti et al. (2014), cap. 2 (a confirmar).</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97" fill="hold">
                      <p:stCondLst>
                        <p:cond delay="indefinite"/>
                      </p:stCondLst>
                      <p:childTnLst>
                        <p:par>
                          <p:cTn id="1398" fill="hold">
                            <p:stCondLst>
                              <p:cond delay="0"/>
                            </p:stCondLst>
                            <p:childTnLst>
                              <p:par>
                                <p:cTn id="1340" presetID="10" presetClass="exit" presetSubtype="0" fill="hold" nodeType="clickEffect">
                                  <p:stCondLst>
                                    <p:cond delay="0"/>
                                  </p:stCondLst>
                                  <p:childTnLst>
                                    <p:animEffect transition="out" filter="fade">
                                      <p:cBhvr>
                                        <p:cTn id="1341" dur="400"/>
                                        <p:tgtEl>
                                          <p:spTgt spid="3"/>
                                        </p:tgtEl>
                                      </p:cBhvr>
                                    </p:animEffect>
                                    <p:set>
                                      <p:cBhvr>
                                        <p:cTn id="1342" dur="1" fill="hold">
                                          <p:stCondLst>
                                            <p:cond delay="399"/>
                                          </p:stCondLst>
                                        </p:cTn>
                                        <p:tgtEl>
                                          <p:spTgt spid="3"/>
                                        </p:tgtEl>
                                        <p:attrNameLst>
                                          <p:attrName>style.visibility</p:attrName>
                                        </p:attrNameLst>
                                      </p:cBhvr>
                                      <p:to>
                                        <p:strVal val="hidden"/>
                                      </p:to>
                                    </p:set>
                                  </p:childTnLst>
                                </p:cTn>
                              </p:par>
                              <p:par>
                                <p:cTn id="1343" presetID="10" presetClass="exit" presetSubtype="0" fill="hold" nodeType="withEffect">
                                  <p:stCondLst>
                                    <p:cond delay="0"/>
                                  </p:stCondLst>
                                  <p:childTnLst>
                                    <p:animEffect transition="out" filter="fade">
                                      <p:cBhvr>
                                        <p:cTn id="1344" dur="400"/>
                                        <p:tgtEl>
                                          <p:spTgt spid="4"/>
                                        </p:tgtEl>
                                      </p:cBhvr>
                                    </p:animEffect>
                                    <p:set>
                                      <p:cBhvr>
                                        <p:cTn id="1345" dur="1" fill="hold">
                                          <p:stCondLst>
                                            <p:cond delay="399"/>
                                          </p:stCondLst>
                                        </p:cTn>
                                        <p:tgtEl>
                                          <p:spTgt spid="4"/>
                                        </p:tgtEl>
                                        <p:attrNameLst>
                                          <p:attrName>style.visibility</p:attrName>
                                        </p:attrNameLst>
                                      </p:cBhvr>
                                      <p:to>
                                        <p:strVal val="hidden"/>
                                      </p:to>
                                    </p:set>
                                  </p:childTnLst>
                                </p:cTn>
                              </p:par>
                              <p:par>
                                <p:cTn id="1346" presetID="10" presetClass="exit" presetSubtype="0" fill="hold" nodeType="withEffect">
                                  <p:stCondLst>
                                    <p:cond delay="0"/>
                                  </p:stCondLst>
                                  <p:childTnLst>
                                    <p:animEffect transition="out" filter="fade">
                                      <p:cBhvr>
                                        <p:cTn id="1347" dur="400"/>
                                        <p:tgtEl>
                                          <p:spTgt spid="30"/>
                                        </p:tgtEl>
                                      </p:cBhvr>
                                    </p:animEffect>
                                    <p:set>
                                      <p:cBhvr>
                                        <p:cTn id="1348" dur="1" fill="hold">
                                          <p:stCondLst>
                                            <p:cond delay="399"/>
                                          </p:stCondLst>
                                        </p:cTn>
                                        <p:tgtEl>
                                          <p:spTgt spid="30"/>
                                        </p:tgtEl>
                                        <p:attrNameLst>
                                          <p:attrName>style.visibility</p:attrName>
                                        </p:attrNameLst>
                                      </p:cBhvr>
                                      <p:to>
                                        <p:strVal val="hidden"/>
                                      </p:to>
                                    </p:set>
                                  </p:childTnLst>
                                </p:cTn>
                              </p:par>
                              <p:par>
                                <p:cTn id="1349" presetID="10" presetClass="exit" presetSubtype="0" fill="hold" nodeType="withEffect">
                                  <p:stCondLst>
                                    <p:cond delay="0"/>
                                  </p:stCondLst>
                                  <p:childTnLst>
                                    <p:animEffect transition="out" filter="fade">
                                      <p:cBhvr>
                                        <p:cTn id="1350" dur="400"/>
                                        <p:tgtEl>
                                          <p:spTgt spid="31"/>
                                        </p:tgtEl>
                                      </p:cBhvr>
                                    </p:animEffect>
                                    <p:set>
                                      <p:cBhvr>
                                        <p:cTn id="1351" dur="1" fill="hold">
                                          <p:stCondLst>
                                            <p:cond delay="399"/>
                                          </p:stCondLst>
                                        </p:cTn>
                                        <p:tgtEl>
                                          <p:spTgt spid="31"/>
                                        </p:tgtEl>
                                        <p:attrNameLst>
                                          <p:attrName>style.visibility</p:attrName>
                                        </p:attrNameLst>
                                      </p:cBhvr>
                                      <p:to>
                                        <p:strVal val="hidden"/>
                                      </p:to>
                                    </p:set>
                                  </p:childTnLst>
                                </p:cTn>
                              </p:par>
                              <p:par>
                                <p:cTn id="1352" presetID="10" presetClass="entr" presetSubtype="0" fill="hold" nodeType="withEffect">
                                  <p:stCondLst>
                                    <p:cond delay="200"/>
                                  </p:stCondLst>
                                  <p:childTnLst>
                                    <p:set>
                                      <p:cBhvr>
                                        <p:cTn id="1353" dur="1" fill="hold">
                                          <p:stCondLst>
                                            <p:cond delay="0"/>
                                          </p:stCondLst>
                                        </p:cTn>
                                        <p:tgtEl>
                                          <p:spTgt spid="5"/>
                                        </p:tgtEl>
                                        <p:attrNameLst>
                                          <p:attrName>style.visibility</p:attrName>
                                        </p:attrNameLst>
                                      </p:cBhvr>
                                      <p:to>
                                        <p:strVal val="visible"/>
                                      </p:to>
                                    </p:set>
                                    <p:animEffect transition="in" filter="fade">
                                      <p:cBhvr>
                                        <p:cTn id="1354" dur="500"/>
                                        <p:tgtEl>
                                          <p:spTgt spid="5"/>
                                        </p:tgtEl>
                                      </p:cBhvr>
                                    </p:animEffect>
                                  </p:childTnLst>
                                </p:cTn>
                              </p:par>
                              <p:par>
                                <p:cTn id="1355" presetID="10" presetClass="entr" presetSubtype="0" fill="hold" nodeType="withEffect">
                                  <p:stCondLst>
                                    <p:cond delay="270"/>
                                  </p:stCondLst>
                                  <p:childTnLst>
                                    <p:set>
                                      <p:cBhvr>
                                        <p:cTn id="1356" dur="1" fill="hold">
                                          <p:stCondLst>
                                            <p:cond delay="0"/>
                                          </p:stCondLst>
                                        </p:cTn>
                                        <p:tgtEl>
                                          <p:spTgt spid="6"/>
                                        </p:tgtEl>
                                        <p:attrNameLst>
                                          <p:attrName>style.visibility</p:attrName>
                                        </p:attrNameLst>
                                      </p:cBhvr>
                                      <p:to>
                                        <p:strVal val="visible"/>
                                      </p:to>
                                    </p:set>
                                    <p:animEffect transition="in" filter="fade">
                                      <p:cBhvr>
                                        <p:cTn id="1357" dur="500"/>
                                        <p:tgtEl>
                                          <p:spTgt spid="6"/>
                                        </p:tgtEl>
                                      </p:cBhvr>
                                    </p:animEffect>
                                  </p:childTnLst>
                                </p:cTn>
                              </p:par>
                              <p:par>
                                <p:cTn id="1358" presetID="10" presetClass="entr" presetSubtype="0" fill="hold" nodeType="withEffect">
                                  <p:stCondLst>
                                    <p:cond delay="340"/>
                                  </p:stCondLst>
                                  <p:childTnLst>
                                    <p:set>
                                      <p:cBhvr>
                                        <p:cTn id="1359" dur="1" fill="hold">
                                          <p:stCondLst>
                                            <p:cond delay="0"/>
                                          </p:stCondLst>
                                        </p:cTn>
                                        <p:tgtEl>
                                          <p:spTgt spid="7"/>
                                        </p:tgtEl>
                                        <p:attrNameLst>
                                          <p:attrName>style.visibility</p:attrName>
                                        </p:attrNameLst>
                                      </p:cBhvr>
                                      <p:to>
                                        <p:strVal val="visible"/>
                                      </p:to>
                                    </p:set>
                                    <p:animEffect transition="in" filter="fade">
                                      <p:cBhvr>
                                        <p:cTn id="1360" dur="500"/>
                                        <p:tgtEl>
                                          <p:spTgt spid="7"/>
                                        </p:tgtEl>
                                      </p:cBhvr>
                                    </p:animEffect>
                                  </p:childTnLst>
                                </p:cTn>
                              </p:par>
                              <p:par>
                                <p:cTn id="1361" presetID="10" presetClass="entr" presetSubtype="0" fill="hold" nodeType="withEffect">
                                  <p:stCondLst>
                                    <p:cond delay="410"/>
                                  </p:stCondLst>
                                  <p:childTnLst>
                                    <p:set>
                                      <p:cBhvr>
                                        <p:cTn id="1362" dur="1" fill="hold">
                                          <p:stCondLst>
                                            <p:cond delay="0"/>
                                          </p:stCondLst>
                                        </p:cTn>
                                        <p:tgtEl>
                                          <p:spTgt spid="8"/>
                                        </p:tgtEl>
                                        <p:attrNameLst>
                                          <p:attrName>style.visibility</p:attrName>
                                        </p:attrNameLst>
                                      </p:cBhvr>
                                      <p:to>
                                        <p:strVal val="visible"/>
                                      </p:to>
                                    </p:set>
                                    <p:animEffect transition="in" filter="fade">
                                      <p:cBhvr>
                                        <p:cTn id="1363" dur="500"/>
                                        <p:tgtEl>
                                          <p:spTgt spid="8"/>
                                        </p:tgtEl>
                                      </p:cBhvr>
                                    </p:animEffect>
                                  </p:childTnLst>
                                </p:cTn>
                              </p:par>
                              <p:par>
                                <p:cTn id="1364" presetID="10" presetClass="entr" presetSubtype="0" fill="hold" nodeType="withEffect">
                                  <p:stCondLst>
                                    <p:cond delay="480"/>
                                  </p:stCondLst>
                                  <p:childTnLst>
                                    <p:set>
                                      <p:cBhvr>
                                        <p:cTn id="1365" dur="1" fill="hold">
                                          <p:stCondLst>
                                            <p:cond delay="0"/>
                                          </p:stCondLst>
                                        </p:cTn>
                                        <p:tgtEl>
                                          <p:spTgt spid="9"/>
                                        </p:tgtEl>
                                        <p:attrNameLst>
                                          <p:attrName>style.visibility</p:attrName>
                                        </p:attrNameLst>
                                      </p:cBhvr>
                                      <p:to>
                                        <p:strVal val="visible"/>
                                      </p:to>
                                    </p:set>
                                    <p:animEffect transition="in" filter="fade">
                                      <p:cBhvr>
                                        <p:cTn id="1366" dur="500"/>
                                        <p:tgtEl>
                                          <p:spTgt spid="9"/>
                                        </p:tgtEl>
                                      </p:cBhvr>
                                    </p:animEffect>
                                  </p:childTnLst>
                                </p:cTn>
                              </p:par>
                              <p:par>
                                <p:cTn id="1367" presetID="10" presetClass="entr" presetSubtype="0" fill="hold" nodeType="withEffect">
                                  <p:stCondLst>
                                    <p:cond delay="550"/>
                                  </p:stCondLst>
                                  <p:childTnLst>
                                    <p:set>
                                      <p:cBhvr>
                                        <p:cTn id="1368" dur="1" fill="hold">
                                          <p:stCondLst>
                                            <p:cond delay="0"/>
                                          </p:stCondLst>
                                        </p:cTn>
                                        <p:tgtEl>
                                          <p:spTgt spid="10"/>
                                        </p:tgtEl>
                                        <p:attrNameLst>
                                          <p:attrName>style.visibility</p:attrName>
                                        </p:attrNameLst>
                                      </p:cBhvr>
                                      <p:to>
                                        <p:strVal val="visible"/>
                                      </p:to>
                                    </p:set>
                                    <p:animEffect transition="in" filter="fade">
                                      <p:cBhvr>
                                        <p:cTn id="1369" dur="500"/>
                                        <p:tgtEl>
                                          <p:spTgt spid="10"/>
                                        </p:tgtEl>
                                      </p:cBhvr>
                                    </p:animEffect>
                                  </p:childTnLst>
                                </p:cTn>
                              </p:par>
                              <p:par>
                                <p:cTn id="1370" presetID="10" presetClass="entr" presetSubtype="0" fill="hold" nodeType="withEffect">
                                  <p:stCondLst>
                                    <p:cond delay="620"/>
                                  </p:stCondLst>
                                  <p:childTnLst>
                                    <p:set>
                                      <p:cBhvr>
                                        <p:cTn id="1371" dur="1" fill="hold">
                                          <p:stCondLst>
                                            <p:cond delay="0"/>
                                          </p:stCondLst>
                                        </p:cTn>
                                        <p:tgtEl>
                                          <p:spTgt spid="11"/>
                                        </p:tgtEl>
                                        <p:attrNameLst>
                                          <p:attrName>style.visibility</p:attrName>
                                        </p:attrNameLst>
                                      </p:cBhvr>
                                      <p:to>
                                        <p:strVal val="visible"/>
                                      </p:to>
                                    </p:set>
                                    <p:animEffect transition="in" filter="fade">
                                      <p:cBhvr>
                                        <p:cTn id="1372" dur="500"/>
                                        <p:tgtEl>
                                          <p:spTgt spid="11"/>
                                        </p:tgtEl>
                                      </p:cBhvr>
                                    </p:animEffect>
                                  </p:childTnLst>
                                </p:cTn>
                              </p:par>
                              <p:par>
                                <p:cTn id="1373" presetID="10" presetClass="entr" presetSubtype="0" fill="hold" nodeType="withEffect">
                                  <p:stCondLst>
                                    <p:cond delay="690"/>
                                  </p:stCondLst>
                                  <p:childTnLst>
                                    <p:set>
                                      <p:cBhvr>
                                        <p:cTn id="1374" dur="1" fill="hold">
                                          <p:stCondLst>
                                            <p:cond delay="0"/>
                                          </p:stCondLst>
                                        </p:cTn>
                                        <p:tgtEl>
                                          <p:spTgt spid="12"/>
                                        </p:tgtEl>
                                        <p:attrNameLst>
                                          <p:attrName>style.visibility</p:attrName>
                                        </p:attrNameLst>
                                      </p:cBhvr>
                                      <p:to>
                                        <p:strVal val="visible"/>
                                      </p:to>
                                    </p:set>
                                    <p:animEffect transition="in" filter="fade">
                                      <p:cBhvr>
                                        <p:cTn id="1375" dur="500"/>
                                        <p:tgtEl>
                                          <p:spTgt spid="12"/>
                                        </p:tgtEl>
                                      </p:cBhvr>
                                    </p:animEffect>
                                  </p:childTnLst>
                                </p:cTn>
                              </p:par>
                              <p:par>
                                <p:cTn id="1376" presetID="10" presetClass="entr" presetSubtype="0" fill="hold" nodeType="withEffect">
                                  <p:stCondLst>
                                    <p:cond delay="760"/>
                                  </p:stCondLst>
                                  <p:childTnLst>
                                    <p:set>
                                      <p:cBhvr>
                                        <p:cTn id="1377" dur="1" fill="hold">
                                          <p:stCondLst>
                                            <p:cond delay="0"/>
                                          </p:stCondLst>
                                        </p:cTn>
                                        <p:tgtEl>
                                          <p:spTgt spid="13"/>
                                        </p:tgtEl>
                                        <p:attrNameLst>
                                          <p:attrName>style.visibility</p:attrName>
                                        </p:attrNameLst>
                                      </p:cBhvr>
                                      <p:to>
                                        <p:strVal val="visible"/>
                                      </p:to>
                                    </p:set>
                                    <p:animEffect transition="in" filter="fade">
                                      <p:cBhvr>
                                        <p:cTn id="1378" dur="500"/>
                                        <p:tgtEl>
                                          <p:spTgt spid="13"/>
                                        </p:tgtEl>
                                      </p:cBhvr>
                                    </p:animEffect>
                                  </p:childTnLst>
                                </p:cTn>
                              </p:par>
                              <p:par>
                                <p:cTn id="1379" presetID="10" presetClass="entr" presetSubtype="0" fill="hold" nodeType="withEffect">
                                  <p:stCondLst>
                                    <p:cond delay="830"/>
                                  </p:stCondLst>
                                  <p:childTnLst>
                                    <p:set>
                                      <p:cBhvr>
                                        <p:cTn id="1380" dur="1" fill="hold">
                                          <p:stCondLst>
                                            <p:cond delay="0"/>
                                          </p:stCondLst>
                                        </p:cTn>
                                        <p:tgtEl>
                                          <p:spTgt spid="14"/>
                                        </p:tgtEl>
                                        <p:attrNameLst>
                                          <p:attrName>style.visibility</p:attrName>
                                        </p:attrNameLst>
                                      </p:cBhvr>
                                      <p:to>
                                        <p:strVal val="visible"/>
                                      </p:to>
                                    </p:set>
                                    <p:animEffect transition="in" filter="fade">
                                      <p:cBhvr>
                                        <p:cTn id="1381" dur="500"/>
                                        <p:tgtEl>
                                          <p:spTgt spid="14"/>
                                        </p:tgtEl>
                                      </p:cBhvr>
                                    </p:animEffect>
                                  </p:childTnLst>
                                </p:cTn>
                              </p:par>
                              <p:par>
                                <p:cTn id="1382" presetID="10" presetClass="entr" presetSubtype="0" fill="hold" nodeType="withEffect">
                                  <p:stCondLst>
                                    <p:cond delay="900"/>
                                  </p:stCondLst>
                                  <p:childTnLst>
                                    <p:set>
                                      <p:cBhvr>
                                        <p:cTn id="1383" dur="1" fill="hold">
                                          <p:stCondLst>
                                            <p:cond delay="0"/>
                                          </p:stCondLst>
                                        </p:cTn>
                                        <p:tgtEl>
                                          <p:spTgt spid="15"/>
                                        </p:tgtEl>
                                        <p:attrNameLst>
                                          <p:attrName>style.visibility</p:attrName>
                                        </p:attrNameLst>
                                      </p:cBhvr>
                                      <p:to>
                                        <p:strVal val="visible"/>
                                      </p:to>
                                    </p:set>
                                    <p:animEffect transition="in" filter="fade">
                                      <p:cBhvr>
                                        <p:cTn id="1384" dur="500"/>
                                        <p:tgtEl>
                                          <p:spTgt spid="15"/>
                                        </p:tgtEl>
                                      </p:cBhvr>
                                    </p:animEffect>
                                  </p:childTnLst>
                                </p:cTn>
                              </p:par>
                              <p:par>
                                <p:cTn id="1385" presetID="10" presetClass="entr" presetSubtype="0" fill="hold" nodeType="withEffect">
                                  <p:stCondLst>
                                    <p:cond delay="900"/>
                                  </p:stCondLst>
                                  <p:childTnLst>
                                    <p:set>
                                      <p:cBhvr>
                                        <p:cTn id="1386" dur="1" fill="hold">
                                          <p:stCondLst>
                                            <p:cond delay="0"/>
                                          </p:stCondLst>
                                        </p:cTn>
                                        <p:tgtEl>
                                          <p:spTgt spid="16"/>
                                        </p:tgtEl>
                                        <p:attrNameLst>
                                          <p:attrName>style.visibility</p:attrName>
                                        </p:attrNameLst>
                                      </p:cBhvr>
                                      <p:to>
                                        <p:strVal val="visible"/>
                                      </p:to>
                                    </p:set>
                                    <p:animEffect transition="in" filter="fade">
                                      <p:cBhvr>
                                        <p:cTn id="1387" dur="500"/>
                                        <p:tgtEl>
                                          <p:spTgt spid="16"/>
                                        </p:tgtEl>
                                      </p:cBhvr>
                                    </p:animEffect>
                                  </p:childTnLst>
                                </p:cTn>
                              </p:par>
                              <p:par>
                                <p:cTn id="1388" presetID="10" presetClass="entr" presetSubtype="0" fill="hold" nodeType="withEffect">
                                  <p:stCondLst>
                                    <p:cond delay="900"/>
                                  </p:stCondLst>
                                  <p:childTnLst>
                                    <p:set>
                                      <p:cBhvr>
                                        <p:cTn id="1389" dur="1" fill="hold">
                                          <p:stCondLst>
                                            <p:cond delay="0"/>
                                          </p:stCondLst>
                                        </p:cTn>
                                        <p:tgtEl>
                                          <p:spTgt spid="17"/>
                                        </p:tgtEl>
                                        <p:attrNameLst>
                                          <p:attrName>style.visibility</p:attrName>
                                        </p:attrNameLst>
                                      </p:cBhvr>
                                      <p:to>
                                        <p:strVal val="visible"/>
                                      </p:to>
                                    </p:set>
                                    <p:animEffect transition="in" filter="fade">
                                      <p:cBhvr>
                                        <p:cTn id="1390" dur="500"/>
                                        <p:tgtEl>
                                          <p:spTgt spid="17"/>
                                        </p:tgtEl>
                                      </p:cBhvr>
                                    </p:animEffect>
                                  </p:childTnLst>
                                </p:cTn>
                              </p:par>
                              <p:par>
                                <p:cTn id="1391" presetID="10" presetClass="entr" presetSubtype="0" fill="hold" nodeType="withEffect">
                                  <p:stCondLst>
                                    <p:cond delay="900"/>
                                  </p:stCondLst>
                                  <p:childTnLst>
                                    <p:set>
                                      <p:cBhvr>
                                        <p:cTn id="1392" dur="1" fill="hold">
                                          <p:stCondLst>
                                            <p:cond delay="0"/>
                                          </p:stCondLst>
                                        </p:cTn>
                                        <p:tgtEl>
                                          <p:spTgt spid="32"/>
                                        </p:tgtEl>
                                        <p:attrNameLst>
                                          <p:attrName>style.visibility</p:attrName>
                                        </p:attrNameLst>
                                      </p:cBhvr>
                                      <p:to>
                                        <p:strVal val="visible"/>
                                      </p:to>
                                    </p:set>
                                    <p:animEffect transition="in" filter="fade">
                                      <p:cBhvr>
                                        <p:cTn id="1393" dur="500"/>
                                        <p:tgtEl>
                                          <p:spTgt spid="32"/>
                                        </p:tgtEl>
                                      </p:cBhvr>
                                    </p:animEffect>
                                  </p:childTnLst>
                                </p:cTn>
                              </p:par>
                              <p:par>
                                <p:cTn id="1394" presetID="10" presetClass="entr" presetSubtype="0" fill="hold" nodeType="withEffect">
                                  <p:stCondLst>
                                    <p:cond delay="900"/>
                                  </p:stCondLst>
                                  <p:childTnLst>
                                    <p:set>
                                      <p:cBhvr>
                                        <p:cTn id="1395" dur="1" fill="hold">
                                          <p:stCondLst>
                                            <p:cond delay="0"/>
                                          </p:stCondLst>
                                        </p:cTn>
                                        <p:tgtEl>
                                          <p:spTgt spid="33"/>
                                        </p:tgtEl>
                                        <p:attrNameLst>
                                          <p:attrName>style.visibility</p:attrName>
                                        </p:attrNameLst>
                                      </p:cBhvr>
                                      <p:to>
                                        <p:strVal val="visible"/>
                                      </p:to>
                                    </p:set>
                                    <p:animEffect transition="in" filter="fade">
                                      <p:cBhvr>
                                        <p:cTn id="1396" dur="500"/>
                                        <p:tgtEl>
                                          <p:spTgt spid="33"/>
                                        </p:tgtEl>
                                      </p:cBhvr>
                                    </p:animEffect>
                                  </p:childTnLst>
                                </p:cTn>
                              </p:par>
                            </p:childTnLst>
                          </p:cTn>
                        </p:par>
                      </p:childTnLst>
                    </p:cTn>
                  </p:par>
                  <p:par>
                    <p:cTn id="1486" fill="hold">
                      <p:stCondLst>
                        <p:cond delay="indefinite"/>
                      </p:stCondLst>
                      <p:childTnLst>
                        <p:par>
                          <p:cTn id="1487" fill="hold">
                            <p:stCondLst>
                              <p:cond delay="0"/>
                            </p:stCondLst>
                            <p:childTnLst>
                              <p:par>
                                <p:cTn id="1399" presetID="10" presetClass="exit" presetSubtype="0" fill="hold" nodeType="clickEffect">
                                  <p:stCondLst>
                                    <p:cond delay="0"/>
                                  </p:stCondLst>
                                  <p:childTnLst>
                                    <p:animEffect transition="out" filter="fade">
                                      <p:cBhvr>
                                        <p:cTn id="1400" dur="400"/>
                                        <p:tgtEl>
                                          <p:spTgt spid="5"/>
                                        </p:tgtEl>
                                      </p:cBhvr>
                                    </p:animEffect>
                                    <p:set>
                                      <p:cBhvr>
                                        <p:cTn id="1401" dur="1" fill="hold">
                                          <p:stCondLst>
                                            <p:cond delay="399"/>
                                          </p:stCondLst>
                                        </p:cTn>
                                        <p:tgtEl>
                                          <p:spTgt spid="5"/>
                                        </p:tgtEl>
                                        <p:attrNameLst>
                                          <p:attrName>style.visibility</p:attrName>
                                        </p:attrNameLst>
                                      </p:cBhvr>
                                      <p:to>
                                        <p:strVal val="hidden"/>
                                      </p:to>
                                    </p:set>
                                  </p:childTnLst>
                                </p:cTn>
                              </p:par>
                              <p:par>
                                <p:cTn id="1402" presetID="10" presetClass="exit" presetSubtype="0" fill="hold" nodeType="withEffect">
                                  <p:stCondLst>
                                    <p:cond delay="0"/>
                                  </p:stCondLst>
                                  <p:childTnLst>
                                    <p:animEffect transition="out" filter="fade">
                                      <p:cBhvr>
                                        <p:cTn id="1403" dur="400"/>
                                        <p:tgtEl>
                                          <p:spTgt spid="6"/>
                                        </p:tgtEl>
                                      </p:cBhvr>
                                    </p:animEffect>
                                    <p:set>
                                      <p:cBhvr>
                                        <p:cTn id="1404" dur="1" fill="hold">
                                          <p:stCondLst>
                                            <p:cond delay="399"/>
                                          </p:stCondLst>
                                        </p:cTn>
                                        <p:tgtEl>
                                          <p:spTgt spid="6"/>
                                        </p:tgtEl>
                                        <p:attrNameLst>
                                          <p:attrName>style.visibility</p:attrName>
                                        </p:attrNameLst>
                                      </p:cBhvr>
                                      <p:to>
                                        <p:strVal val="hidden"/>
                                      </p:to>
                                    </p:set>
                                  </p:childTnLst>
                                </p:cTn>
                              </p:par>
                              <p:par>
                                <p:cTn id="1405" presetID="10" presetClass="exit" presetSubtype="0" fill="hold" nodeType="withEffect">
                                  <p:stCondLst>
                                    <p:cond delay="0"/>
                                  </p:stCondLst>
                                  <p:childTnLst>
                                    <p:animEffect transition="out" filter="fade">
                                      <p:cBhvr>
                                        <p:cTn id="1406" dur="400"/>
                                        <p:tgtEl>
                                          <p:spTgt spid="7"/>
                                        </p:tgtEl>
                                      </p:cBhvr>
                                    </p:animEffect>
                                    <p:set>
                                      <p:cBhvr>
                                        <p:cTn id="1407" dur="1" fill="hold">
                                          <p:stCondLst>
                                            <p:cond delay="399"/>
                                          </p:stCondLst>
                                        </p:cTn>
                                        <p:tgtEl>
                                          <p:spTgt spid="7"/>
                                        </p:tgtEl>
                                        <p:attrNameLst>
                                          <p:attrName>style.visibility</p:attrName>
                                        </p:attrNameLst>
                                      </p:cBhvr>
                                      <p:to>
                                        <p:strVal val="hidden"/>
                                      </p:to>
                                    </p:set>
                                  </p:childTnLst>
                                </p:cTn>
                              </p:par>
                              <p:par>
                                <p:cTn id="1408" presetID="10" presetClass="exit" presetSubtype="0" fill="hold" nodeType="withEffect">
                                  <p:stCondLst>
                                    <p:cond delay="0"/>
                                  </p:stCondLst>
                                  <p:childTnLst>
                                    <p:animEffect transition="out" filter="fade">
                                      <p:cBhvr>
                                        <p:cTn id="1409" dur="400"/>
                                        <p:tgtEl>
                                          <p:spTgt spid="8"/>
                                        </p:tgtEl>
                                      </p:cBhvr>
                                    </p:animEffect>
                                    <p:set>
                                      <p:cBhvr>
                                        <p:cTn id="1410" dur="1" fill="hold">
                                          <p:stCondLst>
                                            <p:cond delay="399"/>
                                          </p:stCondLst>
                                        </p:cTn>
                                        <p:tgtEl>
                                          <p:spTgt spid="8"/>
                                        </p:tgtEl>
                                        <p:attrNameLst>
                                          <p:attrName>style.visibility</p:attrName>
                                        </p:attrNameLst>
                                      </p:cBhvr>
                                      <p:to>
                                        <p:strVal val="hidden"/>
                                      </p:to>
                                    </p:set>
                                  </p:childTnLst>
                                </p:cTn>
                              </p:par>
                              <p:par>
                                <p:cTn id="1411" presetID="10" presetClass="exit" presetSubtype="0" fill="hold" nodeType="withEffect">
                                  <p:stCondLst>
                                    <p:cond delay="0"/>
                                  </p:stCondLst>
                                  <p:childTnLst>
                                    <p:animEffect transition="out" filter="fade">
                                      <p:cBhvr>
                                        <p:cTn id="1412" dur="400"/>
                                        <p:tgtEl>
                                          <p:spTgt spid="9"/>
                                        </p:tgtEl>
                                      </p:cBhvr>
                                    </p:animEffect>
                                    <p:set>
                                      <p:cBhvr>
                                        <p:cTn id="1413" dur="1" fill="hold">
                                          <p:stCondLst>
                                            <p:cond delay="399"/>
                                          </p:stCondLst>
                                        </p:cTn>
                                        <p:tgtEl>
                                          <p:spTgt spid="9"/>
                                        </p:tgtEl>
                                        <p:attrNameLst>
                                          <p:attrName>style.visibility</p:attrName>
                                        </p:attrNameLst>
                                      </p:cBhvr>
                                      <p:to>
                                        <p:strVal val="hidden"/>
                                      </p:to>
                                    </p:set>
                                  </p:childTnLst>
                                </p:cTn>
                              </p:par>
                              <p:par>
                                <p:cTn id="1414" presetID="10" presetClass="exit" presetSubtype="0" fill="hold" nodeType="withEffect">
                                  <p:stCondLst>
                                    <p:cond delay="0"/>
                                  </p:stCondLst>
                                  <p:childTnLst>
                                    <p:animEffect transition="out" filter="fade">
                                      <p:cBhvr>
                                        <p:cTn id="1415" dur="400"/>
                                        <p:tgtEl>
                                          <p:spTgt spid="10"/>
                                        </p:tgtEl>
                                      </p:cBhvr>
                                    </p:animEffect>
                                    <p:set>
                                      <p:cBhvr>
                                        <p:cTn id="1416" dur="1" fill="hold">
                                          <p:stCondLst>
                                            <p:cond delay="399"/>
                                          </p:stCondLst>
                                        </p:cTn>
                                        <p:tgtEl>
                                          <p:spTgt spid="10"/>
                                        </p:tgtEl>
                                        <p:attrNameLst>
                                          <p:attrName>style.visibility</p:attrName>
                                        </p:attrNameLst>
                                      </p:cBhvr>
                                      <p:to>
                                        <p:strVal val="hidden"/>
                                      </p:to>
                                    </p:set>
                                  </p:childTnLst>
                                </p:cTn>
                              </p:par>
                              <p:par>
                                <p:cTn id="1417" presetID="10" presetClass="exit" presetSubtype="0" fill="hold" nodeType="withEffect">
                                  <p:stCondLst>
                                    <p:cond delay="0"/>
                                  </p:stCondLst>
                                  <p:childTnLst>
                                    <p:animEffect transition="out" filter="fade">
                                      <p:cBhvr>
                                        <p:cTn id="1418" dur="400"/>
                                        <p:tgtEl>
                                          <p:spTgt spid="11"/>
                                        </p:tgtEl>
                                      </p:cBhvr>
                                    </p:animEffect>
                                    <p:set>
                                      <p:cBhvr>
                                        <p:cTn id="1419" dur="1" fill="hold">
                                          <p:stCondLst>
                                            <p:cond delay="399"/>
                                          </p:stCondLst>
                                        </p:cTn>
                                        <p:tgtEl>
                                          <p:spTgt spid="11"/>
                                        </p:tgtEl>
                                        <p:attrNameLst>
                                          <p:attrName>style.visibility</p:attrName>
                                        </p:attrNameLst>
                                      </p:cBhvr>
                                      <p:to>
                                        <p:strVal val="hidden"/>
                                      </p:to>
                                    </p:set>
                                  </p:childTnLst>
                                </p:cTn>
                              </p:par>
                              <p:par>
                                <p:cTn id="1420" presetID="10" presetClass="exit" presetSubtype="0" fill="hold" nodeType="withEffect">
                                  <p:stCondLst>
                                    <p:cond delay="0"/>
                                  </p:stCondLst>
                                  <p:childTnLst>
                                    <p:animEffect transition="out" filter="fade">
                                      <p:cBhvr>
                                        <p:cTn id="1421" dur="400"/>
                                        <p:tgtEl>
                                          <p:spTgt spid="12"/>
                                        </p:tgtEl>
                                      </p:cBhvr>
                                    </p:animEffect>
                                    <p:set>
                                      <p:cBhvr>
                                        <p:cTn id="1422" dur="1" fill="hold">
                                          <p:stCondLst>
                                            <p:cond delay="399"/>
                                          </p:stCondLst>
                                        </p:cTn>
                                        <p:tgtEl>
                                          <p:spTgt spid="12"/>
                                        </p:tgtEl>
                                        <p:attrNameLst>
                                          <p:attrName>style.visibility</p:attrName>
                                        </p:attrNameLst>
                                      </p:cBhvr>
                                      <p:to>
                                        <p:strVal val="hidden"/>
                                      </p:to>
                                    </p:set>
                                  </p:childTnLst>
                                </p:cTn>
                              </p:par>
                              <p:par>
                                <p:cTn id="1423" presetID="10" presetClass="exit" presetSubtype="0" fill="hold" nodeType="withEffect">
                                  <p:stCondLst>
                                    <p:cond delay="0"/>
                                  </p:stCondLst>
                                  <p:childTnLst>
                                    <p:animEffect transition="out" filter="fade">
                                      <p:cBhvr>
                                        <p:cTn id="1424" dur="400"/>
                                        <p:tgtEl>
                                          <p:spTgt spid="13"/>
                                        </p:tgtEl>
                                      </p:cBhvr>
                                    </p:animEffect>
                                    <p:set>
                                      <p:cBhvr>
                                        <p:cTn id="1425" dur="1" fill="hold">
                                          <p:stCondLst>
                                            <p:cond delay="399"/>
                                          </p:stCondLst>
                                        </p:cTn>
                                        <p:tgtEl>
                                          <p:spTgt spid="13"/>
                                        </p:tgtEl>
                                        <p:attrNameLst>
                                          <p:attrName>style.visibility</p:attrName>
                                        </p:attrNameLst>
                                      </p:cBhvr>
                                      <p:to>
                                        <p:strVal val="hidden"/>
                                      </p:to>
                                    </p:set>
                                  </p:childTnLst>
                                </p:cTn>
                              </p:par>
                              <p:par>
                                <p:cTn id="1426" presetID="10" presetClass="exit" presetSubtype="0" fill="hold" nodeType="withEffect">
                                  <p:stCondLst>
                                    <p:cond delay="0"/>
                                  </p:stCondLst>
                                  <p:childTnLst>
                                    <p:animEffect transition="out" filter="fade">
                                      <p:cBhvr>
                                        <p:cTn id="1427" dur="400"/>
                                        <p:tgtEl>
                                          <p:spTgt spid="14"/>
                                        </p:tgtEl>
                                      </p:cBhvr>
                                    </p:animEffect>
                                    <p:set>
                                      <p:cBhvr>
                                        <p:cTn id="1428" dur="1" fill="hold">
                                          <p:stCondLst>
                                            <p:cond delay="399"/>
                                          </p:stCondLst>
                                        </p:cTn>
                                        <p:tgtEl>
                                          <p:spTgt spid="14"/>
                                        </p:tgtEl>
                                        <p:attrNameLst>
                                          <p:attrName>style.visibility</p:attrName>
                                        </p:attrNameLst>
                                      </p:cBhvr>
                                      <p:to>
                                        <p:strVal val="hidden"/>
                                      </p:to>
                                    </p:set>
                                  </p:childTnLst>
                                </p:cTn>
                              </p:par>
                              <p:par>
                                <p:cTn id="1429" presetID="10" presetClass="exit" presetSubtype="0" fill="hold" nodeType="withEffect">
                                  <p:stCondLst>
                                    <p:cond delay="0"/>
                                  </p:stCondLst>
                                  <p:childTnLst>
                                    <p:animEffect transition="out" filter="fade">
                                      <p:cBhvr>
                                        <p:cTn id="1430" dur="400"/>
                                        <p:tgtEl>
                                          <p:spTgt spid="15"/>
                                        </p:tgtEl>
                                      </p:cBhvr>
                                    </p:animEffect>
                                    <p:set>
                                      <p:cBhvr>
                                        <p:cTn id="1431" dur="1" fill="hold">
                                          <p:stCondLst>
                                            <p:cond delay="399"/>
                                          </p:stCondLst>
                                        </p:cTn>
                                        <p:tgtEl>
                                          <p:spTgt spid="15"/>
                                        </p:tgtEl>
                                        <p:attrNameLst>
                                          <p:attrName>style.visibility</p:attrName>
                                        </p:attrNameLst>
                                      </p:cBhvr>
                                      <p:to>
                                        <p:strVal val="hidden"/>
                                      </p:to>
                                    </p:set>
                                  </p:childTnLst>
                                </p:cTn>
                              </p:par>
                              <p:par>
                                <p:cTn id="1432" presetID="10" presetClass="exit" presetSubtype="0" fill="hold" nodeType="withEffect">
                                  <p:stCondLst>
                                    <p:cond delay="0"/>
                                  </p:stCondLst>
                                  <p:childTnLst>
                                    <p:animEffect transition="out" filter="fade">
                                      <p:cBhvr>
                                        <p:cTn id="1433" dur="400"/>
                                        <p:tgtEl>
                                          <p:spTgt spid="16"/>
                                        </p:tgtEl>
                                      </p:cBhvr>
                                    </p:animEffect>
                                    <p:set>
                                      <p:cBhvr>
                                        <p:cTn id="1434" dur="1" fill="hold">
                                          <p:stCondLst>
                                            <p:cond delay="399"/>
                                          </p:stCondLst>
                                        </p:cTn>
                                        <p:tgtEl>
                                          <p:spTgt spid="16"/>
                                        </p:tgtEl>
                                        <p:attrNameLst>
                                          <p:attrName>style.visibility</p:attrName>
                                        </p:attrNameLst>
                                      </p:cBhvr>
                                      <p:to>
                                        <p:strVal val="hidden"/>
                                      </p:to>
                                    </p:set>
                                  </p:childTnLst>
                                </p:cTn>
                              </p:par>
                              <p:par>
                                <p:cTn id="1435" presetID="10" presetClass="exit" presetSubtype="0" fill="hold" nodeType="withEffect">
                                  <p:stCondLst>
                                    <p:cond delay="0"/>
                                  </p:stCondLst>
                                  <p:childTnLst>
                                    <p:animEffect transition="out" filter="fade">
                                      <p:cBhvr>
                                        <p:cTn id="1436" dur="400"/>
                                        <p:tgtEl>
                                          <p:spTgt spid="17"/>
                                        </p:tgtEl>
                                      </p:cBhvr>
                                    </p:animEffect>
                                    <p:set>
                                      <p:cBhvr>
                                        <p:cTn id="1437" dur="1" fill="hold">
                                          <p:stCondLst>
                                            <p:cond delay="399"/>
                                          </p:stCondLst>
                                        </p:cTn>
                                        <p:tgtEl>
                                          <p:spTgt spid="17"/>
                                        </p:tgtEl>
                                        <p:attrNameLst>
                                          <p:attrName>style.visibility</p:attrName>
                                        </p:attrNameLst>
                                      </p:cBhvr>
                                      <p:to>
                                        <p:strVal val="hidden"/>
                                      </p:to>
                                    </p:set>
                                  </p:childTnLst>
                                </p:cTn>
                              </p:par>
                              <p:par>
                                <p:cTn id="1438" presetID="10" presetClass="exit" presetSubtype="0" fill="hold" nodeType="withEffect">
                                  <p:stCondLst>
                                    <p:cond delay="0"/>
                                  </p:stCondLst>
                                  <p:childTnLst>
                                    <p:animEffect transition="out" filter="fade">
                                      <p:cBhvr>
                                        <p:cTn id="1439" dur="400"/>
                                        <p:tgtEl>
                                          <p:spTgt spid="32"/>
                                        </p:tgtEl>
                                      </p:cBhvr>
                                    </p:animEffect>
                                    <p:set>
                                      <p:cBhvr>
                                        <p:cTn id="1440" dur="1" fill="hold">
                                          <p:stCondLst>
                                            <p:cond delay="399"/>
                                          </p:stCondLst>
                                        </p:cTn>
                                        <p:tgtEl>
                                          <p:spTgt spid="32"/>
                                        </p:tgtEl>
                                        <p:attrNameLst>
                                          <p:attrName>style.visibility</p:attrName>
                                        </p:attrNameLst>
                                      </p:cBhvr>
                                      <p:to>
                                        <p:strVal val="hidden"/>
                                      </p:to>
                                    </p:set>
                                  </p:childTnLst>
                                </p:cTn>
                              </p:par>
                              <p:par>
                                <p:cTn id="1441" presetID="10" presetClass="exit" presetSubtype="0" fill="hold" nodeType="withEffect">
                                  <p:stCondLst>
                                    <p:cond delay="0"/>
                                  </p:stCondLst>
                                  <p:childTnLst>
                                    <p:animEffect transition="out" filter="fade">
                                      <p:cBhvr>
                                        <p:cTn id="1442" dur="400"/>
                                        <p:tgtEl>
                                          <p:spTgt spid="33"/>
                                        </p:tgtEl>
                                      </p:cBhvr>
                                    </p:animEffect>
                                    <p:set>
                                      <p:cBhvr>
                                        <p:cTn id="1443" dur="1" fill="hold">
                                          <p:stCondLst>
                                            <p:cond delay="399"/>
                                          </p:stCondLst>
                                        </p:cTn>
                                        <p:tgtEl>
                                          <p:spTgt spid="33"/>
                                        </p:tgtEl>
                                        <p:attrNameLst>
                                          <p:attrName>style.visibility</p:attrName>
                                        </p:attrNameLst>
                                      </p:cBhvr>
                                      <p:to>
                                        <p:strVal val="hidden"/>
                                      </p:to>
                                    </p:set>
                                  </p:childTnLst>
                                </p:cTn>
                              </p:par>
                              <p:par>
                                <p:cTn id="1444" presetID="22" presetClass="entr" presetSubtype="8" fill="hold" nodeType="withEffect">
                                  <p:stCondLst>
                                    <p:cond delay="200"/>
                                  </p:stCondLst>
                                  <p:childTnLst>
                                    <p:set>
                                      <p:cBhvr>
                                        <p:cTn id="1445" dur="1" fill="hold">
                                          <p:stCondLst>
                                            <p:cond delay="0"/>
                                          </p:stCondLst>
                                        </p:cTn>
                                        <p:tgtEl>
                                          <p:spTgt spid="18"/>
                                        </p:tgtEl>
                                        <p:attrNameLst>
                                          <p:attrName>style.visibility</p:attrName>
                                        </p:attrNameLst>
                                      </p:cBhvr>
                                      <p:to>
                                        <p:strVal val="visible"/>
                                      </p:to>
                                    </p:set>
                                    <p:animEffect transition="in" filter="wipe(left)">
                                      <p:cBhvr>
                                        <p:cTn id="1446" dur="500"/>
                                        <p:tgtEl>
                                          <p:spTgt spid="18"/>
                                        </p:tgtEl>
                                      </p:cBhvr>
                                    </p:animEffect>
                                  </p:childTnLst>
                                </p:cTn>
                              </p:par>
                              <p:par>
                                <p:cTn id="1447" presetID="22" presetClass="entr" presetSubtype="8" fill="hold" nodeType="withEffect">
                                  <p:stCondLst>
                                    <p:cond delay="270"/>
                                  </p:stCondLst>
                                  <p:childTnLst>
                                    <p:set>
                                      <p:cBhvr>
                                        <p:cTn id="1448" dur="1" fill="hold">
                                          <p:stCondLst>
                                            <p:cond delay="0"/>
                                          </p:stCondLst>
                                        </p:cTn>
                                        <p:tgtEl>
                                          <p:spTgt spid="19"/>
                                        </p:tgtEl>
                                        <p:attrNameLst>
                                          <p:attrName>style.visibility</p:attrName>
                                        </p:attrNameLst>
                                      </p:cBhvr>
                                      <p:to>
                                        <p:strVal val="visible"/>
                                      </p:to>
                                    </p:set>
                                    <p:animEffect transition="in" filter="wipe(left)">
                                      <p:cBhvr>
                                        <p:cTn id="1449" dur="500"/>
                                        <p:tgtEl>
                                          <p:spTgt spid="19"/>
                                        </p:tgtEl>
                                      </p:cBhvr>
                                    </p:animEffect>
                                  </p:childTnLst>
                                </p:cTn>
                              </p:par>
                              <p:par>
                                <p:cTn id="1450" presetID="22" presetClass="entr" presetSubtype="8" fill="hold" nodeType="withEffect">
                                  <p:stCondLst>
                                    <p:cond delay="340"/>
                                  </p:stCondLst>
                                  <p:childTnLst>
                                    <p:set>
                                      <p:cBhvr>
                                        <p:cTn id="1451" dur="1" fill="hold">
                                          <p:stCondLst>
                                            <p:cond delay="0"/>
                                          </p:stCondLst>
                                        </p:cTn>
                                        <p:tgtEl>
                                          <p:spTgt spid="20"/>
                                        </p:tgtEl>
                                        <p:attrNameLst>
                                          <p:attrName>style.visibility</p:attrName>
                                        </p:attrNameLst>
                                      </p:cBhvr>
                                      <p:to>
                                        <p:strVal val="visible"/>
                                      </p:to>
                                    </p:set>
                                    <p:animEffect transition="in" filter="wipe(left)">
                                      <p:cBhvr>
                                        <p:cTn id="1452" dur="500"/>
                                        <p:tgtEl>
                                          <p:spTgt spid="20"/>
                                        </p:tgtEl>
                                      </p:cBhvr>
                                    </p:animEffect>
                                  </p:childTnLst>
                                </p:cTn>
                              </p:par>
                              <p:par>
                                <p:cTn id="1453" presetID="22" presetClass="entr" presetSubtype="8" fill="hold" nodeType="withEffect">
                                  <p:stCondLst>
                                    <p:cond delay="410"/>
                                  </p:stCondLst>
                                  <p:childTnLst>
                                    <p:set>
                                      <p:cBhvr>
                                        <p:cTn id="1454" dur="1" fill="hold">
                                          <p:stCondLst>
                                            <p:cond delay="0"/>
                                          </p:stCondLst>
                                        </p:cTn>
                                        <p:tgtEl>
                                          <p:spTgt spid="21"/>
                                        </p:tgtEl>
                                        <p:attrNameLst>
                                          <p:attrName>style.visibility</p:attrName>
                                        </p:attrNameLst>
                                      </p:cBhvr>
                                      <p:to>
                                        <p:strVal val="visible"/>
                                      </p:to>
                                    </p:set>
                                    <p:animEffect transition="in" filter="wipe(left)">
                                      <p:cBhvr>
                                        <p:cTn id="1455" dur="500"/>
                                        <p:tgtEl>
                                          <p:spTgt spid="21"/>
                                        </p:tgtEl>
                                      </p:cBhvr>
                                    </p:animEffect>
                                  </p:childTnLst>
                                </p:cTn>
                              </p:par>
                              <p:par>
                                <p:cTn id="1456" presetID="22" presetClass="entr" presetSubtype="8" fill="hold" nodeType="withEffect">
                                  <p:stCondLst>
                                    <p:cond delay="480"/>
                                  </p:stCondLst>
                                  <p:childTnLst>
                                    <p:set>
                                      <p:cBhvr>
                                        <p:cTn id="1457" dur="1" fill="hold">
                                          <p:stCondLst>
                                            <p:cond delay="0"/>
                                          </p:stCondLst>
                                        </p:cTn>
                                        <p:tgtEl>
                                          <p:spTgt spid="22"/>
                                        </p:tgtEl>
                                        <p:attrNameLst>
                                          <p:attrName>style.visibility</p:attrName>
                                        </p:attrNameLst>
                                      </p:cBhvr>
                                      <p:to>
                                        <p:strVal val="visible"/>
                                      </p:to>
                                    </p:set>
                                    <p:animEffect transition="in" filter="wipe(left)">
                                      <p:cBhvr>
                                        <p:cTn id="1458" dur="500"/>
                                        <p:tgtEl>
                                          <p:spTgt spid="22"/>
                                        </p:tgtEl>
                                      </p:cBhvr>
                                    </p:animEffect>
                                  </p:childTnLst>
                                </p:cTn>
                              </p:par>
                              <p:par>
                                <p:cTn id="1459" presetID="22" presetClass="entr" presetSubtype="8" fill="hold" nodeType="withEffect">
                                  <p:stCondLst>
                                    <p:cond delay="550"/>
                                  </p:stCondLst>
                                  <p:childTnLst>
                                    <p:set>
                                      <p:cBhvr>
                                        <p:cTn id="1460" dur="1" fill="hold">
                                          <p:stCondLst>
                                            <p:cond delay="0"/>
                                          </p:stCondLst>
                                        </p:cTn>
                                        <p:tgtEl>
                                          <p:spTgt spid="23"/>
                                        </p:tgtEl>
                                        <p:attrNameLst>
                                          <p:attrName>style.visibility</p:attrName>
                                        </p:attrNameLst>
                                      </p:cBhvr>
                                      <p:to>
                                        <p:strVal val="visible"/>
                                      </p:to>
                                    </p:set>
                                    <p:animEffect transition="in" filter="wipe(left)">
                                      <p:cBhvr>
                                        <p:cTn id="1461" dur="500"/>
                                        <p:tgtEl>
                                          <p:spTgt spid="23"/>
                                        </p:tgtEl>
                                      </p:cBhvr>
                                    </p:animEffect>
                                  </p:childTnLst>
                                </p:cTn>
                              </p:par>
                              <p:par>
                                <p:cTn id="1462" presetID="22" presetClass="entr" presetSubtype="8" fill="hold" nodeType="withEffect">
                                  <p:stCondLst>
                                    <p:cond delay="620"/>
                                  </p:stCondLst>
                                  <p:childTnLst>
                                    <p:set>
                                      <p:cBhvr>
                                        <p:cTn id="1463" dur="1" fill="hold">
                                          <p:stCondLst>
                                            <p:cond delay="0"/>
                                          </p:stCondLst>
                                        </p:cTn>
                                        <p:tgtEl>
                                          <p:spTgt spid="24"/>
                                        </p:tgtEl>
                                        <p:attrNameLst>
                                          <p:attrName>style.visibility</p:attrName>
                                        </p:attrNameLst>
                                      </p:cBhvr>
                                      <p:to>
                                        <p:strVal val="visible"/>
                                      </p:to>
                                    </p:set>
                                    <p:animEffect transition="in" filter="wipe(left)">
                                      <p:cBhvr>
                                        <p:cTn id="1464" dur="500"/>
                                        <p:tgtEl>
                                          <p:spTgt spid="24"/>
                                        </p:tgtEl>
                                      </p:cBhvr>
                                    </p:animEffect>
                                  </p:childTnLst>
                                </p:cTn>
                              </p:par>
                              <p:par>
                                <p:cTn id="1465" presetID="22" presetClass="entr" presetSubtype="8" fill="hold" nodeType="withEffect">
                                  <p:stCondLst>
                                    <p:cond delay="690"/>
                                  </p:stCondLst>
                                  <p:childTnLst>
                                    <p:set>
                                      <p:cBhvr>
                                        <p:cTn id="1466" dur="1" fill="hold">
                                          <p:stCondLst>
                                            <p:cond delay="0"/>
                                          </p:stCondLst>
                                        </p:cTn>
                                        <p:tgtEl>
                                          <p:spTgt spid="25"/>
                                        </p:tgtEl>
                                        <p:attrNameLst>
                                          <p:attrName>style.visibility</p:attrName>
                                        </p:attrNameLst>
                                      </p:cBhvr>
                                      <p:to>
                                        <p:strVal val="visible"/>
                                      </p:to>
                                    </p:set>
                                    <p:animEffect transition="in" filter="wipe(left)">
                                      <p:cBhvr>
                                        <p:cTn id="1467" dur="500"/>
                                        <p:tgtEl>
                                          <p:spTgt spid="25"/>
                                        </p:tgtEl>
                                      </p:cBhvr>
                                    </p:animEffect>
                                  </p:childTnLst>
                                </p:cTn>
                              </p:par>
                              <p:par>
                                <p:cTn id="1468" presetID="22" presetClass="entr" presetSubtype="8" fill="hold" nodeType="withEffect">
                                  <p:stCondLst>
                                    <p:cond delay="760"/>
                                  </p:stCondLst>
                                  <p:childTnLst>
                                    <p:set>
                                      <p:cBhvr>
                                        <p:cTn id="1469" dur="1" fill="hold">
                                          <p:stCondLst>
                                            <p:cond delay="0"/>
                                          </p:stCondLst>
                                        </p:cTn>
                                        <p:tgtEl>
                                          <p:spTgt spid="26"/>
                                        </p:tgtEl>
                                        <p:attrNameLst>
                                          <p:attrName>style.visibility</p:attrName>
                                        </p:attrNameLst>
                                      </p:cBhvr>
                                      <p:to>
                                        <p:strVal val="visible"/>
                                      </p:to>
                                    </p:set>
                                    <p:animEffect transition="in" filter="wipe(left)">
                                      <p:cBhvr>
                                        <p:cTn id="1470" dur="500"/>
                                        <p:tgtEl>
                                          <p:spTgt spid="26"/>
                                        </p:tgtEl>
                                      </p:cBhvr>
                                    </p:animEffect>
                                  </p:childTnLst>
                                </p:cTn>
                              </p:par>
                              <p:par>
                                <p:cTn id="1471" presetID="22" presetClass="entr" presetSubtype="8" fill="hold" nodeType="withEffect">
                                  <p:stCondLst>
                                    <p:cond delay="830"/>
                                  </p:stCondLst>
                                  <p:childTnLst>
                                    <p:set>
                                      <p:cBhvr>
                                        <p:cTn id="1472" dur="1" fill="hold">
                                          <p:stCondLst>
                                            <p:cond delay="0"/>
                                          </p:stCondLst>
                                        </p:cTn>
                                        <p:tgtEl>
                                          <p:spTgt spid="27"/>
                                        </p:tgtEl>
                                        <p:attrNameLst>
                                          <p:attrName>style.visibility</p:attrName>
                                        </p:attrNameLst>
                                      </p:cBhvr>
                                      <p:to>
                                        <p:strVal val="visible"/>
                                      </p:to>
                                    </p:set>
                                    <p:animEffect transition="in" filter="wipe(left)">
                                      <p:cBhvr>
                                        <p:cTn id="1473" dur="500"/>
                                        <p:tgtEl>
                                          <p:spTgt spid="27"/>
                                        </p:tgtEl>
                                      </p:cBhvr>
                                    </p:animEffect>
                                  </p:childTnLst>
                                </p:cTn>
                              </p:par>
                              <p:par>
                                <p:cTn id="1474" presetID="22" presetClass="entr" presetSubtype="8" fill="hold" nodeType="withEffect">
                                  <p:stCondLst>
                                    <p:cond delay="900"/>
                                  </p:stCondLst>
                                  <p:childTnLst>
                                    <p:set>
                                      <p:cBhvr>
                                        <p:cTn id="1475" dur="1" fill="hold">
                                          <p:stCondLst>
                                            <p:cond delay="0"/>
                                          </p:stCondLst>
                                        </p:cTn>
                                        <p:tgtEl>
                                          <p:spTgt spid="28"/>
                                        </p:tgtEl>
                                        <p:attrNameLst>
                                          <p:attrName>style.visibility</p:attrName>
                                        </p:attrNameLst>
                                      </p:cBhvr>
                                      <p:to>
                                        <p:strVal val="visible"/>
                                      </p:to>
                                    </p:set>
                                    <p:animEffect transition="in" filter="wipe(left)">
                                      <p:cBhvr>
                                        <p:cTn id="1476" dur="500"/>
                                        <p:tgtEl>
                                          <p:spTgt spid="28"/>
                                        </p:tgtEl>
                                      </p:cBhvr>
                                    </p:animEffect>
                                  </p:childTnLst>
                                </p:cTn>
                              </p:par>
                              <p:par>
                                <p:cTn id="1477" presetID="22" presetClass="entr" presetSubtype="8" fill="hold" nodeType="withEffect">
                                  <p:stCondLst>
                                    <p:cond delay="900"/>
                                  </p:stCondLst>
                                  <p:childTnLst>
                                    <p:set>
                                      <p:cBhvr>
                                        <p:cTn id="1478" dur="1" fill="hold">
                                          <p:stCondLst>
                                            <p:cond delay="0"/>
                                          </p:stCondLst>
                                        </p:cTn>
                                        <p:tgtEl>
                                          <p:spTgt spid="29"/>
                                        </p:tgtEl>
                                        <p:attrNameLst>
                                          <p:attrName>style.visibility</p:attrName>
                                        </p:attrNameLst>
                                      </p:cBhvr>
                                      <p:to>
                                        <p:strVal val="visible"/>
                                      </p:to>
                                    </p:set>
                                    <p:animEffect transition="in" filter="wipe(left)">
                                      <p:cBhvr>
                                        <p:cTn id="1479" dur="500"/>
                                        <p:tgtEl>
                                          <p:spTgt spid="29"/>
                                        </p:tgtEl>
                                      </p:cBhvr>
                                    </p:animEffect>
                                  </p:childTnLst>
                                </p:cTn>
                              </p:par>
                              <p:par>
                                <p:cTn id="1480" presetID="22" presetClass="entr" presetSubtype="8" fill="hold" nodeType="withEffect">
                                  <p:stCondLst>
                                    <p:cond delay="900"/>
                                  </p:stCondLst>
                                  <p:childTnLst>
                                    <p:set>
                                      <p:cBhvr>
                                        <p:cTn id="1481" dur="1" fill="hold">
                                          <p:stCondLst>
                                            <p:cond delay="0"/>
                                          </p:stCondLst>
                                        </p:cTn>
                                        <p:tgtEl>
                                          <p:spTgt spid="34"/>
                                        </p:tgtEl>
                                        <p:attrNameLst>
                                          <p:attrName>style.visibility</p:attrName>
                                        </p:attrNameLst>
                                      </p:cBhvr>
                                      <p:to>
                                        <p:strVal val="visible"/>
                                      </p:to>
                                    </p:set>
                                    <p:animEffect transition="in" filter="wipe(left)">
                                      <p:cBhvr>
                                        <p:cTn id="1482" dur="500"/>
                                        <p:tgtEl>
                                          <p:spTgt spid="34"/>
                                        </p:tgtEl>
                                      </p:cBhvr>
                                    </p:animEffect>
                                  </p:childTnLst>
                                </p:cTn>
                              </p:par>
                              <p:par>
                                <p:cTn id="1483" presetID="22" presetClass="entr" presetSubtype="8" fill="hold" nodeType="withEffect">
                                  <p:stCondLst>
                                    <p:cond delay="900"/>
                                  </p:stCondLst>
                                  <p:childTnLst>
                                    <p:set>
                                      <p:cBhvr>
                                        <p:cTn id="1484" dur="1" fill="hold">
                                          <p:stCondLst>
                                            <p:cond delay="0"/>
                                          </p:stCondLst>
                                        </p:cTn>
                                        <p:tgtEl>
                                          <p:spTgt spid="35"/>
                                        </p:tgtEl>
                                        <p:attrNameLst>
                                          <p:attrName>style.visibility</p:attrName>
                                        </p:attrNameLst>
                                      </p:cBhvr>
                                      <p:to>
                                        <p:strVal val="visible"/>
                                      </p:to>
                                    </p:set>
                                    <p:animEffect transition="in" filter="wipe(left)">
                                      <p:cBhvr>
                                        <p:cTn id="148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Las ondas P y S llevan la rigidez del suelo: </a:t>
            </a:r>
            <mc:AlternateContent xmlns:mc="http://schemas.openxmlformats.org/markup-compatibility/2006">
              <mc:Choice xmlns:a14="http://schemas.microsoft.com/office/drawing/2010/main" Requires="a14">
                <a14:m>
                  <m:oMath xmlns:m="http://schemas.openxmlformats.org/officeDocument/2006/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oMath>
                </a14:m>
              </mc:Choice>
              <mc:Fallback>
                <a:r>
                  <a:rPr lang="en-US" sz="2200" b="1" dirty="0">
                    <a:solidFill>
                      <a:srgbClr val="1F4E79"/>
                    </a:solidFill>
                    <a:latin typeface="Arial" pitchFamily="34" charset="0"/>
                    <a:ea typeface="Arial" pitchFamily="34" charset="-122"/>
                    <a:cs typeface="Arial" pitchFamily="34" charset="-120"/>
                  </a:rPr>
                  <a:t>Vs</a:t>
                </a:r>
              </mc:Fallback>
            </mc:AlternateContent>
            <a:r>
              <a:rPr lang="en-US" sz="2200" b="1" dirty="0">
                <a:solidFill>
                  <a:srgbClr val="1F4E79"/>
                </a:solidFill>
                <a:latin typeface="Arial" pitchFamily="34" charset="0"/>
                <a:ea typeface="Arial" pitchFamily="34" charset="-122"/>
                <a:cs typeface="Arial" pitchFamily="34" charset="-120"/>
              </a:rPr>
              <a:t> da directamente </a:t>
            </a:r>
            <mc:AlternateContent xmlns:mc="http://schemas.openxmlformats.org/markup-compatibility/2006">
              <mc:Choice xmlns:a14="http://schemas.microsoft.com/office/drawing/2010/main" Requires="a14">
                <a14:m>
                  <m:oMath xmlns:m="http://schemas.openxmlformats.org/officeDocument/2006/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m:rPr>
                            <m:sty m:val="p"/>
                          </m:rPr>
                          <a:rPr lang="es-ES" sz="2200">
                            <a:solidFill>
                              <a:srgbClr val="1F4E79"/>
                            </a:solidFill>
                            <a:latin typeface="Cambria Math" panose="02040503050406030204" pitchFamily="18" charset="0"/>
                          </a:rPr>
                          <m:t xml:space="preserve">max</m:t>
                        </m:r>
                      </m:sub>
                    </m:sSub>
                  </m:oMath>
                </a14:m>
              </mc:Choice>
              <mc:Fallback>
                <a:r>
                  <a:rPr lang="en-US" sz="2200" b="1" dirty="0">
                    <a:solidFill>
                      <a:srgbClr val="1F4E79"/>
                    </a:solidFill>
                    <a:latin typeface="Arial" pitchFamily="34" charset="0"/>
                    <a:ea typeface="Arial" pitchFamily="34" charset="-122"/>
                    <a:cs typeface="Arial" pitchFamily="34" charset="-120"/>
                  </a:rPr>
                  <a:t>Gmax</a:t>
                </a:r>
              </mc:Fallback>
            </mc:AlternateContent>
            <a:endParaRPr lang="en-US" sz="2200" dirty="0"/>
          </a:p>
        </p:txBody>
      </p:sp>
      <p:pic>
        <p:nvPicPr>
          <p:cNvPr id="3" name="Onda P [s0]" descr="Onda P: compresión y dilatación, dirección de propagación">    </p:cNvPr>
          <p:cNvPicPr>
            <a:picLocks noChangeAspect="1"/>
          </p:cNvPicPr>
          <p:nvPr/>
        </p:nvPicPr>
        <p:blipFill>
          <a:blip r:embed="rId1"/>
          <a:stretch>
            <a:fillRect/>
          </a:stretch>
        </p:blipFill>
        <p:spPr>
          <a:xfrm>
            <a:off x="410486" y="1570780"/>
            <a:ext cx="2683565" cy="1341783"/>
          </a:xfrm>
          <a:prstGeom prst="rect">
            <a:avLst/>
          </a:prstGeom>
        </p:spPr>
      </p:pic>
      <p:sp>
        <p:nvSpPr>
          <p:cNvPr id="4" name="Cuerpo [s0]"/>
          <p:cNvSpPr txBox="1"/>
          <p:nvPr/>
        </p:nvSpPr>
        <p:spPr>
          <a:xfrm>
            <a:off x="3228230" y="1615506"/>
            <a:ext cx="1207604" cy="1341783"/>
          </a:xfrm>
          <a:prstGeom prst="rect">
            <a:avLst/>
          </a:prstGeom>
          <a:noFill/>
          <a:ln/>
        </p:spPr>
        <p:txBody>
          <a:bodyPr wrap="square" lIns="0" tIns="0" rIns="0" bIns="0" rtlCol="0" anchor="t"/>
          <a:lstStyle/>
          <a:p>
            <a:pPr marL="342900" indent="-342900">
              <a:spcAft>
                <a:spcPts val="677"/>
              </a:spcAft>
              <a:buSzPct val="100000"/>
              <a:buChar char="•"/>
            </a:pPr>
            <a:r>
              <a:rPr lang="en-US" sz="1016" dirty="0">
                <a:solidFill>
                  <a:srgbClr val="2D2D2D"/>
                </a:solidFill>
                <a:latin typeface="Arial" pitchFamily="34" charset="0"/>
                <a:ea typeface="Arial" pitchFamily="34" charset="-122"/>
                <a:cs typeface="Arial" pitchFamily="34" charset="-120"/>
              </a:rPr>
              <a:t>Las partículas oscilan en la dirección de propagación</a:t>
            </a:r>
            <a:endParaRPr lang="en-US" sz="1016" dirty="0"/>
          </a:p>
          <a:p>
            <a:pPr marL="342900" indent="-342900">
              <a:spcAft>
                <a:spcPts val="677"/>
              </a:spcAft>
              <a:buSzPct val="100000"/>
              <a:buChar char="•"/>
            </a:pPr>
            <a:r>
              <a:rPr lang="en-US" sz="1016" dirty="0">
                <a:solidFill>
                  <a:srgbClr val="2D2D2D"/>
                </a:solidFill>
                <a:latin typeface="Arial" pitchFamily="34" charset="0"/>
                <a:ea typeface="Arial" pitchFamily="34" charset="-122"/>
                <a:cs typeface="Arial" pitchFamily="34" charset="-120"/>
              </a:rPr>
              <a:t>Viaja en sólidos y en fluidos</a:t>
            </a:r>
            <a:endParaRPr lang="en-US" sz="1016" dirty="0"/>
          </a:p>
        </p:txBody>
      </p:sp>
      <p:pic>
        <p:nvPicPr>
          <p:cNvPr id="5" name="Onda S [s0]" descr="Onda S: oscilación perpendicular a la dirección de propagación">    </p:cNvPr>
          <p:cNvPicPr>
            <a:picLocks noChangeAspect="1"/>
          </p:cNvPicPr>
          <p:nvPr/>
        </p:nvPicPr>
        <p:blipFill>
          <a:blip r:embed="rId2"/>
          <a:stretch>
            <a:fillRect/>
          </a:stretch>
        </p:blipFill>
        <p:spPr>
          <a:xfrm>
            <a:off x="4708166" y="1570780"/>
            <a:ext cx="2683565" cy="1341783"/>
          </a:xfrm>
          <a:prstGeom prst="rect">
            <a:avLst/>
          </a:prstGeom>
        </p:spPr>
      </p:pic>
      <p:sp>
        <p:nvSpPr>
          <p:cNvPr id="6" name="Cuerpo [s0]"/>
          <p:cNvSpPr txBox="1"/>
          <p:nvPr/>
        </p:nvSpPr>
        <p:spPr>
          <a:xfrm>
            <a:off x="7525910" y="1615506"/>
            <a:ext cx="1207604" cy="1341783"/>
          </a:xfrm>
          <a:prstGeom prst="rect">
            <a:avLst/>
          </a:prstGeom>
          <a:noFill/>
          <a:ln/>
        </p:spPr>
        <p:txBody>
          <a:bodyPr wrap="square" lIns="0" tIns="0" rIns="0" bIns="0" rtlCol="0" anchor="t"/>
          <a:lstStyle/>
          <a:p>
            <a:pPr marL="342900" indent="-342900">
              <a:spcAft>
                <a:spcPts val="677"/>
              </a:spcAft>
              <a:buSzPct val="100000"/>
              <a:buChar char="•"/>
            </a:pPr>
            <a:r>
              <a:rPr lang="en-US" sz="1016" dirty="0">
                <a:solidFill>
                  <a:srgbClr val="2D2D2D"/>
                </a:solidFill>
                <a:latin typeface="Arial" pitchFamily="34" charset="0"/>
                <a:ea typeface="Arial" pitchFamily="34" charset="-122"/>
                <a:cs typeface="Arial" pitchFamily="34" charset="-120"/>
              </a:rPr>
              <a:t>Las partículas oscilan perpendicular a la propagación</a:t>
            </a:r>
            <a:endParaRPr lang="en-US" sz="1016" dirty="0"/>
          </a:p>
          <a:p>
            <a:pPr marL="342900" indent="-342900">
              <a:spcAft>
                <a:spcPts val="677"/>
              </a:spcAft>
              <a:buSzPct val="100000"/>
              <a:buChar char="•"/>
            </a:pPr>
            <a:r>
              <a:rPr lang="en-US" sz="1016" dirty="0">
                <a:solidFill>
                  <a:srgbClr val="2D2D2D"/>
                </a:solidFill>
                <a:latin typeface="Arial" pitchFamily="34" charset="0"/>
                <a:ea typeface="Arial" pitchFamily="34" charset="-122"/>
                <a:cs typeface="Arial" pitchFamily="34" charset="-120"/>
              </a:rPr>
              <a:t>No viaja por fluidos: necesita rigidez al corte</a:t>
            </a:r>
            <a:endParaRPr lang="en-US" sz="1016" dirty="0"/>
          </a:p>
        </p:txBody>
      </p:sp>
      <p:sp>
        <p:nvSpPr>
          <p:cNvPr id="7" name="Fondo Vp [s1]"/>
          <p:cNvSpPr/>
          <p:nvPr/>
        </p:nvSpPr>
        <p:spPr>
          <a:xfrm>
            <a:off x="966136" y="1681654"/>
            <a:ext cx="3846255" cy="80130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8" name="Ecuación E_vp [s1]"/>
              <p:cNvSpPr txBox="1"/>
              <p:nvPr/>
            </p:nvSpPr>
            <p:spPr>
              <a:xfrm>
                <a:off x="966136" y="1681654"/>
                <a:ext cx="3846255" cy="80130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a:rPr lang="es-ES" sz="2500" i="1">
                              <a:solidFill>
                                <a:srgbClr val="1F4E79"/>
                              </a:solidFill>
                              <a:latin typeface="Cambria Math" panose="02040503050406030204" pitchFamily="18" charset="0"/>
                            </a:rPr>
                            <m:t xml:space="preserve">p</m:t>
                          </m:r>
                        </m:sub>
                      </m:sSub>
                      <m:r>
                        <a:rPr lang="es-ES" sz="2500" i="1">
                          <a:solidFill>
                            <a:srgbClr val="1F4E79"/>
                          </a:solidFill>
                          <a:latin typeface="Cambria Math" panose="02040503050406030204" pitchFamily="18" charset="0"/>
                        </a:rPr>
                        <m:t xml:space="preserve">=</m:t>
                      </m:r>
                      <m:rad>
                        <m:radPr>
                          <m:degHide m:val="1"/>
                          <m:ctrlPr>
                            <a:rPr lang="es-ES" sz="2500" i="1">
                              <a:latin typeface="Cambria Math" panose="02040503050406030204" pitchFamily="18" charset="0"/>
                            </a:rPr>
                          </m:ctrlPr>
                        </m:radPr>
                        <m:deg/>
                        <m:e>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λ+2μ</m:t>
                              </m:r>
                            </m:num>
                            <m:den>
                              <m:r>
                                <a:rPr lang="es-ES" sz="2500" i="1">
                                  <a:solidFill>
                                    <a:srgbClr val="1F4E79"/>
                                  </a:solidFill>
                                  <a:latin typeface="Cambria Math" panose="02040503050406030204" pitchFamily="18" charset="0"/>
                                </a:rPr>
                                <m:t xml:space="preserve">ρ</m:t>
                              </m:r>
                            </m:den>
                          </m:f>
                        </m:e>
                      </m:rad>
                    </m:oMath>
                  </m:oMathPara>
                </a14:m>
                <a:endParaRPr lang="es-ES"/>
              </a:p>
            </p:txBody>
          </p:sp>
        </mc:Choice>
        <mc:Fallback>
          <p:sp>
            <p:nvSpPr>
              <p:cNvPr id="8" name="Ecuación E_vp [s1]"/>
              <p:cNvSpPr txBox="1"/>
              <p:nvPr/>
            </p:nvSpPr>
            <p:spPr>
              <a:xfrm>
                <a:off x="966136" y="1681654"/>
                <a:ext cx="3846255" cy="80130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Vp = √((λ + 2μ) / ρ)</a:t>
                </a:r>
                <a:endParaRPr lang="en-US" sz="2159" dirty="0"/>
              </a:p>
            </p:txBody>
          </p:sp>
        </mc:Fallback>
      </mc:AlternateContent>
      <p:sp>
        <p:nvSpPr>
          <p:cNvPr id="9" name="Fondo Vs [s1]"/>
          <p:cNvSpPr/>
          <p:nvPr/>
        </p:nvSpPr>
        <p:spPr>
          <a:xfrm>
            <a:off x="966136" y="2603152"/>
            <a:ext cx="3846255" cy="80130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0" name="Ecuación E_vs [s1]"/>
              <p:cNvSpPr txBox="1"/>
              <p:nvPr/>
            </p:nvSpPr>
            <p:spPr>
              <a:xfrm>
                <a:off x="966136" y="2603152"/>
                <a:ext cx="3846255" cy="80130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a:rPr lang="es-ES" sz="2500" i="1">
                              <a:solidFill>
                                <a:srgbClr val="1F4E79"/>
                              </a:solidFill>
                              <a:latin typeface="Cambria Math" panose="02040503050406030204" pitchFamily="18" charset="0"/>
                            </a:rPr>
                            <m:t xml:space="preserve">s</m:t>
                          </m:r>
                        </m:sub>
                      </m:sSub>
                      <m:r>
                        <a:rPr lang="es-ES" sz="2500" i="1">
                          <a:solidFill>
                            <a:srgbClr val="1F4E79"/>
                          </a:solidFill>
                          <a:latin typeface="Cambria Math" panose="02040503050406030204" pitchFamily="18" charset="0"/>
                        </a:rPr>
                        <m:t xml:space="preserve">=</m:t>
                      </m:r>
                      <m:rad>
                        <m:radPr>
                          <m:degHide m:val="1"/>
                          <m:ctrlPr>
                            <a:rPr lang="es-ES" sz="2500" i="1">
                              <a:latin typeface="Cambria Math" panose="02040503050406030204" pitchFamily="18" charset="0"/>
                            </a:rPr>
                          </m:ctrlPr>
                        </m:radPr>
                        <m:deg/>
                        <m:e>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μ</m:t>
                              </m:r>
                            </m:num>
                            <m:den>
                              <m:r>
                                <a:rPr lang="es-ES" sz="2500" i="1">
                                  <a:solidFill>
                                    <a:srgbClr val="1F4E79"/>
                                  </a:solidFill>
                                  <a:latin typeface="Cambria Math" panose="02040503050406030204" pitchFamily="18" charset="0"/>
                                </a:rPr>
                                <m:t xml:space="preserve">ρ</m:t>
                              </m:r>
                            </m:den>
                          </m:f>
                        </m:e>
                      </m:rad>
                    </m:oMath>
                  </m:oMathPara>
                </a14:m>
                <a:endParaRPr lang="es-ES"/>
              </a:p>
            </p:txBody>
          </p:sp>
        </mc:Choice>
        <mc:Fallback>
          <p:sp>
            <p:nvSpPr>
              <p:cNvPr id="10" name="Ecuación E_vs [s1]"/>
              <p:cNvSpPr txBox="1"/>
              <p:nvPr/>
            </p:nvSpPr>
            <p:spPr>
              <a:xfrm>
                <a:off x="966136" y="2603152"/>
                <a:ext cx="3846255" cy="80130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Vs = √(μ / ρ)</a:t>
                </a:r>
                <a:endParaRPr lang="en-US" sz="2159" dirty="0"/>
              </a:p>
            </p:txBody>
          </p:sp>
        </mc:Fallback>
      </mc:AlternateContent>
      <p:sp>
        <p:nvSpPr>
          <p:cNvPr id="11" name="Cuerpo [s1]"/>
          <p:cNvSpPr txBox="1"/>
          <p:nvPr/>
        </p:nvSpPr>
        <p:spPr>
          <a:xfrm>
            <a:off x="5052782" y="1681654"/>
            <a:ext cx="3125082" cy="2243649"/>
          </a:xfrm>
          <a:prstGeom prst="rect">
            <a:avLst/>
          </a:prstGeom>
          <a:noFill/>
          <a:ln/>
        </p:spPr>
        <p:txBody>
          <a:bodyPr wrap="square" lIns="0" tIns="0" rIns="0" bIns="0" rtlCol="0" anchor="t"/>
          <a:lstStyle/>
          <a:p>
            <a:pPr marL="342900" indent="-342900">
              <a:spcAft>
                <a:spcPts val="72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620" i="1">
                        <a:solidFill>
                          <a:srgbClr val="2D2D2D"/>
                        </a:solidFill>
                        <a:latin typeface="Cambria Math" panose="02040503050406030204" pitchFamily="18" charset="0"/>
                      </a:rPr>
                      <m:t xml:space="preserve">μ</m:t>
                    </m:r>
                  </m:oMath>
                </a14:m>
              </mc:Choice>
              <mc:Fallback>
                <a:r>
                  <a:rPr lang="en-US" sz="1620" dirty="0">
                    <a:solidFill>
                      <a:srgbClr val="2D2D2D"/>
                    </a:solidFill>
                    <a:latin typeface="Arial" pitchFamily="34" charset="0"/>
                    <a:ea typeface="Arial" pitchFamily="34" charset="-122"/>
                    <a:cs typeface="Arial" pitchFamily="34" charset="-120"/>
                  </a:rPr>
                  <a:t>μ</a:t>
                </a:r>
              </mc:Fallback>
            </mc:AlternateContent>
            <a:r>
              <a:rPr lang="en-US" sz="1620" dirty="0">
                <a:solidFill>
                  <a:srgbClr val="2D2D2D"/>
                </a:solidFill>
                <a:latin typeface="Arial" pitchFamily="34" charset="0"/>
                <a:ea typeface="Arial" pitchFamily="34" charset="-122"/>
                <a:cs typeface="Arial" pitchFamily="34" charset="-120"/>
              </a:rPr>
              <a:t>: módulo de corte (también G), la rigidez al corte</a:t>
            </a:r>
            <a:endParaRPr lang="en-US" sz="1620" dirty="0"/>
          </a:p>
          <a:p>
            <a:pPr marL="342900" indent="-342900">
              <a:spcAft>
                <a:spcPts val="72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620" i="1">
                        <a:solidFill>
                          <a:srgbClr val="2D2D2D"/>
                        </a:solidFill>
                        <a:latin typeface="Cambria Math" panose="02040503050406030204" pitchFamily="18" charset="0"/>
                      </a:rPr>
                      <m:t xml:space="preserve">λ</m:t>
                    </m:r>
                  </m:oMath>
                </a14:m>
              </mc:Choice>
              <mc:Fallback>
                <a:r>
                  <a:rPr lang="en-US" sz="1620" dirty="0">
                    <a:solidFill>
                      <a:srgbClr val="2D2D2D"/>
                    </a:solidFill>
                    <a:latin typeface="Arial" pitchFamily="34" charset="0"/>
                    <a:ea typeface="Arial" pitchFamily="34" charset="-122"/>
                    <a:cs typeface="Arial" pitchFamily="34" charset="-120"/>
                  </a:rPr>
                  <a:t>λ</a:t>
                </a:r>
              </mc:Fallback>
            </mc:AlternateContent>
            <a:r>
              <a:rPr lang="en-US" sz="1620" dirty="0">
                <a:solidFill>
                  <a:srgbClr val="2D2D2D"/>
                </a:solidFill>
                <a:latin typeface="Arial" pitchFamily="34" charset="0"/>
                <a:ea typeface="Arial" pitchFamily="34" charset="-122"/>
                <a:cs typeface="Arial" pitchFamily="34" charset="-120"/>
              </a:rPr>
              <a:t>: constante de Lamé</a:t>
            </a:r>
            <a:endParaRPr lang="en-US" sz="1620" dirty="0"/>
          </a:p>
          <a:p>
            <a:pPr marL="342900" indent="-342900">
              <a:spcAft>
                <a:spcPts val="72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620" i="1">
                        <a:solidFill>
                          <a:srgbClr val="2D2D2D"/>
                        </a:solidFill>
                        <a:latin typeface="Cambria Math" panose="02040503050406030204" pitchFamily="18" charset="0"/>
                      </a:rPr>
                      <m:t xml:space="preserve">ρ</m:t>
                    </m:r>
                  </m:oMath>
                </a14:m>
              </mc:Choice>
              <mc:Fallback>
                <a:r>
                  <a:rPr lang="en-US" sz="1620" dirty="0">
                    <a:solidFill>
                      <a:srgbClr val="2D2D2D"/>
                    </a:solidFill>
                    <a:latin typeface="Arial" pitchFamily="34" charset="0"/>
                    <a:ea typeface="Arial" pitchFamily="34" charset="-122"/>
                    <a:cs typeface="Arial" pitchFamily="34" charset="-120"/>
                  </a:rPr>
                  <a:t>ρ</a:t>
                </a:r>
              </mc:Fallback>
            </mc:AlternateContent>
            <a:r>
              <a:rPr lang="en-US" sz="1620" dirty="0">
                <a:solidFill>
                  <a:srgbClr val="2D2D2D"/>
                </a:solidFill>
                <a:latin typeface="Arial" pitchFamily="34" charset="0"/>
                <a:ea typeface="Arial" pitchFamily="34" charset="-122"/>
                <a:cs typeface="Arial" pitchFamily="34" charset="-120"/>
              </a:rPr>
              <a:t>: densidad del medio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En el mismo medio, </a:t>
            </a: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V</m:t>
                        </m:r>
                      </m:e>
                      <m:sub>
                        <m:r>
                          <a:rPr lang="es-ES" sz="1620" i="1">
                            <a:solidFill>
                              <a:srgbClr val="2D2D2D"/>
                            </a:solidFill>
                            <a:latin typeface="Cambria Math" panose="02040503050406030204" pitchFamily="18" charset="0"/>
                          </a:rPr>
                          <m:t xml:space="preserve">p</m:t>
                        </m:r>
                      </m:sub>
                    </m:sSub>
                    <m:r>
                      <m:rPr>
                        <m:sty m:val="p"/>
                      </m:rPr>
                      <a:rPr lang="es-ES" sz="1620">
                        <a:solidFill>
                          <a:srgbClr val="2D2D2D"/>
                        </a:solidFill>
                        <a:latin typeface="Cambria Math" panose="02040503050406030204" pitchFamily="18" charset="0"/>
                      </a:rPr>
                      <m:t xml:space="preserve">&gt;</m:t>
                    </m:r>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V</m:t>
                        </m:r>
                      </m:e>
                      <m:sub>
                        <m:r>
                          <a:rPr lang="es-ES" sz="1620" i="1">
                            <a:solidFill>
                              <a:srgbClr val="2D2D2D"/>
                            </a:solidFill>
                            <a:latin typeface="Cambria Math" panose="02040503050406030204" pitchFamily="18" charset="0"/>
                          </a:rPr>
                          <m:t xml:space="preserve">s</m:t>
                        </m:r>
                      </m:sub>
                    </m:sSub>
                  </m:oMath>
                </a14:m>
              </mc:Choice>
              <mc:Fallback>
                <a:r>
                  <a:rPr lang="en-US" sz="1620" dirty="0">
                    <a:solidFill>
                      <a:srgbClr val="2D2D2D"/>
                    </a:solidFill>
                    <a:latin typeface="Arial" pitchFamily="34" charset="0"/>
                    <a:ea typeface="Arial" pitchFamily="34" charset="-122"/>
                    <a:cs typeface="Arial" pitchFamily="34" charset="-120"/>
                  </a:rPr>
                  <a:t>Vp &gt; Vs</a:t>
                </a:r>
              </mc:Fallback>
            </mc:AlternateContent>
            <a:endParaRPr lang="en-US" sz="1620" dirty="0"/>
          </a:p>
        </p:txBody>
      </p:sp>
      <p:sp>
        <p:nvSpPr>
          <p:cNvPr id="12" name="Elemento [s1]"/>
          <p:cNvSpPr txBox="1"/>
          <p:nvPr/>
        </p:nvSpPr>
        <p:spPr>
          <a:xfrm>
            <a:off x="966136" y="3684912"/>
            <a:ext cx="7211728" cy="641043"/>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1800" dirty="0"/>
          </a:p>
        </p:txBody>
      </p:sp>
      <p:pic>
        <p:nvPicPr>
          <p:cNvPr id="13" name="Corte simple [s2]" descr="Corte simple: esfuerzo τ y deformación γ = Δ/h">    </p:cNvPr>
          <p:cNvPicPr>
            <a:picLocks noChangeAspect="1"/>
          </p:cNvPicPr>
          <p:nvPr/>
        </p:nvPicPr>
        <p:blipFill>
          <a:blip r:embed="rId3"/>
          <a:stretch>
            <a:fillRect/>
          </a:stretch>
        </p:blipFill>
        <p:spPr>
          <a:xfrm>
            <a:off x="966136" y="1641589"/>
            <a:ext cx="3525734" cy="2644300"/>
          </a:xfrm>
          <a:prstGeom prst="rect">
            <a:avLst/>
          </a:prstGeom>
        </p:spPr>
      </p:pic>
      <p:sp>
        <p:nvSpPr>
          <p:cNvPr id="14" name="Fondo τ = Gγ [s2]"/>
          <p:cNvSpPr/>
          <p:nvPr/>
        </p:nvSpPr>
        <p:spPr>
          <a:xfrm>
            <a:off x="4732261" y="1681654"/>
            <a:ext cx="3445604" cy="72117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Ecuación E_tau [s2]"/>
              <p:cNvSpPr txBox="1"/>
              <p:nvPr/>
            </p:nvSpPr>
            <p:spPr>
              <a:xfrm>
                <a:off x="4732261" y="1681654"/>
                <a:ext cx="3445604" cy="72117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τ=G·γ</m:t>
                      </m:r>
                    </m:oMath>
                  </m:oMathPara>
                </a14:m>
                <a:endParaRPr lang="es-ES"/>
              </a:p>
            </p:txBody>
          </p:sp>
        </mc:Choice>
        <mc:Fallback>
          <p:sp>
            <p:nvSpPr>
              <p:cNvPr id="15" name="Ecuación E_tau [s2]"/>
              <p:cNvSpPr txBox="1"/>
              <p:nvPr/>
            </p:nvSpPr>
            <p:spPr>
              <a:xfrm>
                <a:off x="4732261" y="1681654"/>
                <a:ext cx="3445604" cy="72117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τ = G · γ</a:t>
                </a:r>
                <a:endParaRPr lang="en-US" sz="2159" dirty="0"/>
              </a:p>
            </p:txBody>
          </p:sp>
        </mc:Fallback>
      </mc:AlternateContent>
      <p:sp>
        <p:nvSpPr>
          <p:cNvPr id="16" name="Cuerpo [s2]"/>
          <p:cNvSpPr txBox="1"/>
          <p:nvPr/>
        </p:nvSpPr>
        <p:spPr>
          <a:xfrm>
            <a:off x="4732261" y="2563087"/>
            <a:ext cx="3445604" cy="1923128"/>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Esfuerzo y deformación de corte son proporcionales</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620" i="1">
                        <a:solidFill>
                          <a:srgbClr val="2D2D2D"/>
                        </a:solidFill>
                        <a:latin typeface="Cambria Math" panose="02040503050406030204" pitchFamily="18" charset="0"/>
                      </a:rPr>
                      <m:t xml:space="preserve">γ</m:t>
                    </m:r>
                  </m:oMath>
                </a14:m>
              </mc:Choice>
              <mc:Fallback>
                <a:r>
                  <a:rPr lang="en-US" sz="1620" dirty="0">
                    <a:solidFill>
                      <a:srgbClr val="2D2D2D"/>
                    </a:solidFill>
                    <a:latin typeface="Arial" pitchFamily="34" charset="0"/>
                    <a:ea typeface="Arial" pitchFamily="34" charset="-122"/>
                    <a:cs typeface="Arial" pitchFamily="34" charset="-120"/>
                  </a:rPr>
                  <a:t>γ</a:t>
                </a:r>
              </mc:Fallback>
            </mc:AlternateContent>
            <a:r>
              <a:rPr lang="en-US" sz="1620" dirty="0">
                <a:solidFill>
                  <a:srgbClr val="2D2D2D"/>
                </a:solidFill>
                <a:latin typeface="Arial" pitchFamily="34" charset="0"/>
                <a:ea typeface="Arial" pitchFamily="34" charset="-122"/>
                <a:cs typeface="Arial" pitchFamily="34" charset="-120"/>
              </a:rPr>
              <a:t> del orden de 10⁻⁵ o menos, G es casi constante: </a:t>
            </a: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G</m:t>
                        </m:r>
                      </m:e>
                      <m:sub>
                        <m:r>
                          <m:rPr>
                            <m:sty m:val="p"/>
                          </m:rPr>
                          <a:rPr lang="es-ES" sz="1620">
                            <a:solidFill>
                              <a:srgbClr val="2D2D2D"/>
                            </a:solidFill>
                            <a:latin typeface="Cambria Math" panose="02040503050406030204" pitchFamily="18" charset="0"/>
                          </a:rPr>
                          <m:t xml:space="preserve">max</m:t>
                        </m:r>
                      </m:sub>
                    </m:sSub>
                  </m:oMath>
                </a14:m>
              </mc:Choice>
              <mc:Fallback>
                <a:r>
                  <a:rPr lang="en-US" sz="1620" dirty="0">
                    <a:solidFill>
                      <a:srgbClr val="2D2D2D"/>
                    </a:solidFill>
                    <a:latin typeface="Arial" pitchFamily="34" charset="0"/>
                    <a:ea typeface="Arial" pitchFamily="34" charset="-122"/>
                    <a:cs typeface="Arial" pitchFamily="34" charset="-120"/>
                  </a:rPr>
                  <a:t>Gmax</a:t>
                </a:r>
              </mc:Fallback>
            </mc:AlternateContent>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620" dirty="0"/>
          </a:p>
        </p:txBody>
      </p:sp>
      <p:sp>
        <p:nvSpPr>
          <p:cNvPr id="17" name="Ecuación 1 [s3]"/>
          <p:cNvSpPr/>
          <p:nvPr/>
        </p:nvSpPr>
        <p:spPr>
          <a:xfrm>
            <a:off x="966136" y="1641589"/>
            <a:ext cx="3846255"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Ecuación E_vs [s3]"/>
              <p:cNvSpPr txBox="1"/>
              <p:nvPr/>
            </p:nvSpPr>
            <p:spPr>
              <a:xfrm>
                <a:off x="966136" y="1641589"/>
                <a:ext cx="3846255"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a:rPr lang="es-ES" sz="2500" i="1">
                              <a:solidFill>
                                <a:srgbClr val="1F4E79"/>
                              </a:solidFill>
                              <a:latin typeface="Cambria Math" panose="02040503050406030204" pitchFamily="18" charset="0"/>
                            </a:rPr>
                            <m:t xml:space="preserve">s</m:t>
                          </m:r>
                        </m:sub>
                      </m:sSub>
                      <m:r>
                        <a:rPr lang="es-ES" sz="2500" i="1">
                          <a:solidFill>
                            <a:srgbClr val="1F4E79"/>
                          </a:solidFill>
                          <a:latin typeface="Cambria Math" panose="02040503050406030204" pitchFamily="18" charset="0"/>
                        </a:rPr>
                        <m:t xml:space="preserve">=</m:t>
                      </m:r>
                      <m:rad>
                        <m:radPr>
                          <m:degHide m:val="1"/>
                          <m:ctrlPr>
                            <a:rPr lang="es-ES" sz="2500" i="1">
                              <a:latin typeface="Cambria Math" panose="02040503050406030204" pitchFamily="18" charset="0"/>
                            </a:rPr>
                          </m:ctrlPr>
                        </m:radPr>
                        <m:deg/>
                        <m:e>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μ</m:t>
                              </m:r>
                            </m:num>
                            <m:den>
                              <m:r>
                                <a:rPr lang="es-ES" sz="2500" i="1">
                                  <a:solidFill>
                                    <a:srgbClr val="1F4E79"/>
                                  </a:solidFill>
                                  <a:latin typeface="Cambria Math" panose="02040503050406030204" pitchFamily="18" charset="0"/>
                                </a:rPr>
                                <m:t xml:space="preserve">ρ</m:t>
                              </m:r>
                            </m:den>
                          </m:f>
                        </m:e>
                      </m:rad>
                    </m:oMath>
                  </m:oMathPara>
                </a14:m>
                <a:endParaRPr lang="es-ES"/>
              </a:p>
            </p:txBody>
          </p:sp>
        </mc:Choice>
        <mc:Fallback>
          <p:sp>
            <p:nvSpPr>
              <p:cNvPr id="18" name="Ecuación E_vs [s3]"/>
              <p:cNvSpPr txBox="1"/>
              <p:nvPr/>
            </p:nvSpPr>
            <p:spPr>
              <a:xfrm>
                <a:off x="966136" y="1641589"/>
                <a:ext cx="3846255"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Vs = √(μ / ρ)</a:t>
                </a:r>
                <a:endParaRPr lang="en-US" sz="2159" dirty="0"/>
              </a:p>
            </p:txBody>
          </p:sp>
        </mc:Fallback>
      </mc:AlternateContent>
      <p:sp>
        <p:nvSpPr>
          <p:cNvPr id="19" name="Elemento [s3]"/>
          <p:cNvSpPr txBox="1"/>
          <p:nvPr/>
        </p:nvSpPr>
        <p:spPr>
          <a:xfrm>
            <a:off x="5052782" y="1641589"/>
            <a:ext cx="3125082"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Medio elástico lineal, homogéneo e isótropo</a:t>
            </a:r>
            <a:endParaRPr lang="en-US" sz="1620" dirty="0"/>
          </a:p>
        </p:txBody>
      </p:sp>
      <p:sp>
        <p:nvSpPr>
          <p:cNvPr id="20" name="Elemento [s3]"/>
          <p:cNvSpPr/>
          <p:nvPr/>
        </p:nvSpPr>
        <p:spPr>
          <a:xfrm>
            <a:off x="2889263" y="2338722"/>
            <a:ext cx="0" cy="208339"/>
          </a:xfrm>
          <a:prstGeom prst="line">
            <a:avLst/>
          </a:prstGeom>
          <a:noFill/>
          <a:ln w="22258">
            <a:solidFill>
              <a:srgbClr val="1F4E79"/>
            </a:solidFill>
            <a:prstDash val="solid"/>
            <a:tailEnd type="triangle"/>
          </a:ln>
        </p:spPr>
      </p:sp>
      <p:sp>
        <p:nvSpPr>
          <p:cNvPr id="21" name="Ecuación 2 [s3]"/>
          <p:cNvSpPr/>
          <p:nvPr/>
        </p:nvSpPr>
        <p:spPr>
          <a:xfrm>
            <a:off x="966136" y="2563087"/>
            <a:ext cx="3846255"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2" name="Ecuación E_mugmax [s3]"/>
              <p:cNvSpPr txBox="1"/>
              <p:nvPr/>
            </p:nvSpPr>
            <p:spPr>
              <a:xfrm>
                <a:off x="966136" y="2563087"/>
                <a:ext cx="3846255"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μ=</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G</m:t>
                          </m:r>
                        </m:e>
                        <m:sub>
                          <m:r>
                            <m:rPr>
                              <m:sty m:val="p"/>
                            </m:rPr>
                            <a:rPr lang="es-ES" sz="2500">
                              <a:solidFill>
                                <a:srgbClr val="1F4E79"/>
                              </a:solidFill>
                              <a:latin typeface="Cambria Math" panose="02040503050406030204" pitchFamily="18" charset="0"/>
                            </a:rPr>
                            <m:t xml:space="preserve">max</m:t>
                          </m:r>
                        </m:sub>
                      </m:sSub>
                    </m:oMath>
                  </m:oMathPara>
                </a14:m>
                <a:endParaRPr lang="es-ES"/>
              </a:p>
            </p:txBody>
          </p:sp>
        </mc:Choice>
        <mc:Fallback>
          <p:sp>
            <p:nvSpPr>
              <p:cNvPr id="22" name="Ecuación E_mugmax [s3]"/>
              <p:cNvSpPr txBox="1"/>
              <p:nvPr/>
            </p:nvSpPr>
            <p:spPr>
              <a:xfrm>
                <a:off x="966136" y="2563087"/>
                <a:ext cx="3846255"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μ = Gmax</a:t>
                </a:r>
                <a:endParaRPr lang="en-US" sz="2159" dirty="0"/>
              </a:p>
            </p:txBody>
          </p:sp>
        </mc:Fallback>
      </mc:AlternateContent>
      <p:sp>
        <p:nvSpPr>
          <p:cNvPr id="23" name="Elemento [s3]"/>
          <p:cNvSpPr txBox="1"/>
          <p:nvPr/>
        </p:nvSpPr>
        <p:spPr>
          <a:xfrm>
            <a:off x="5052782" y="2563087"/>
            <a:ext cx="3125082"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Solo en pequeña señal: el módulo de corte es </a:t>
            </a: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G</m:t>
                        </m:r>
                      </m:e>
                      <m:sub>
                        <m:r>
                          <m:rPr>
                            <m:sty m:val="p"/>
                          </m:rPr>
                          <a:rPr lang="es-ES" sz="1620">
                            <a:solidFill>
                              <a:srgbClr val="2D2D2D"/>
                            </a:solidFill>
                            <a:latin typeface="Cambria Math" panose="02040503050406030204" pitchFamily="18" charset="0"/>
                          </a:rPr>
                          <m:t xml:space="preserve">max</m:t>
                        </m:r>
                      </m:sub>
                    </m:sSub>
                  </m:oMath>
                </a14:m>
              </mc:Choice>
              <mc:Fallback>
                <a:r>
                  <a:rPr lang="en-US" sz="1620" dirty="0">
                    <a:solidFill>
                      <a:srgbClr val="2D2D2D"/>
                    </a:solidFill>
                    <a:latin typeface="Arial" pitchFamily="34" charset="0"/>
                    <a:ea typeface="Arial" pitchFamily="34" charset="-122"/>
                    <a:cs typeface="Arial" pitchFamily="34" charset="-120"/>
                  </a:rPr>
                  <a:t>Gmax</a:t>
                </a:r>
              </mc:Fallback>
            </mc:AlternateContent>
            <a:endParaRPr lang="en-US" sz="1620" dirty="0"/>
          </a:p>
        </p:txBody>
      </p:sp>
      <p:sp>
        <p:nvSpPr>
          <p:cNvPr id="24" name="Elemento [s3]"/>
          <p:cNvSpPr/>
          <p:nvPr/>
        </p:nvSpPr>
        <p:spPr>
          <a:xfrm>
            <a:off x="2889263" y="3260221"/>
            <a:ext cx="0" cy="208339"/>
          </a:xfrm>
          <a:prstGeom prst="line">
            <a:avLst/>
          </a:prstGeom>
          <a:noFill/>
          <a:ln w="22258">
            <a:solidFill>
              <a:srgbClr val="1F4E79"/>
            </a:solidFill>
            <a:prstDash val="solid"/>
            <a:tailEnd type="triangle"/>
          </a:ln>
        </p:spPr>
      </p:sp>
      <p:sp>
        <p:nvSpPr>
          <p:cNvPr id="25" name="Ecuación 3 [s3]"/>
          <p:cNvSpPr/>
          <p:nvPr/>
        </p:nvSpPr>
        <p:spPr>
          <a:xfrm>
            <a:off x="966136" y="3484586"/>
            <a:ext cx="3846255" cy="681108"/>
          </a:xfrm>
          <a:prstGeom prst="rect">
            <a:avLst/>
          </a:prstGeom>
          <a:solidFill>
            <a:srgbClr val="1F4E79"/>
          </a:solidFill>
          <a:ln w="6350">
            <a:solidFill>
              <a:srgbClr val="1F4E79"/>
            </a:solidFill>
            <a:prstDash val="solid"/>
          </a:ln>
        </p:spPr>
      </p:sp>
      <mc:AlternateContent xmlns:mc="http://schemas.openxmlformats.org/markup-compatibility/2006">
        <mc:Choice xmlns:a14="http://schemas.microsoft.com/office/drawing/2010/main" Requires="a14">
          <p:sp>
            <p:nvSpPr>
              <p:cNvPr id="26" name="Ecuación E_gmax_w [s3]"/>
              <p:cNvSpPr txBox="1"/>
              <p:nvPr/>
            </p:nvSpPr>
            <p:spPr>
              <a:xfrm>
                <a:off x="966136" y="3484586"/>
                <a:ext cx="3846255"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FFFFFF"/>
                              </a:solidFill>
                              <a:latin typeface="Cambria Math" panose="02040503050406030204" pitchFamily="18" charset="0"/>
                            </a:rPr>
                            <m:t xml:space="preserve">G</m:t>
                          </m:r>
                        </m:e>
                        <m:sub>
                          <m:r>
                            <m:rPr>
                              <m:sty m:val="p"/>
                            </m:rPr>
                            <a:rPr lang="es-ES" sz="2500">
                              <a:solidFill>
                                <a:srgbClr val="FFFFFF"/>
                              </a:solidFill>
                              <a:latin typeface="Cambria Math" panose="02040503050406030204" pitchFamily="18" charset="0"/>
                            </a:rPr>
                            <m:t xml:space="preserve">max</m:t>
                          </m:r>
                        </m:sub>
                      </m:sSub>
                      <m:r>
                        <a:rPr lang="es-ES" sz="2500" i="1">
                          <a:solidFill>
                            <a:srgbClr val="FFFFFF"/>
                          </a:solidFill>
                          <a:latin typeface="Cambria Math" panose="02040503050406030204" pitchFamily="18" charset="0"/>
                        </a:rPr>
                        <m:t xml:space="preserve">=ρ</m:t>
                      </m:r>
                      <m:sSup>
                        <m:sSupPr>
                          <m:ctrlPr>
                            <a:rPr lang="es-ES" sz="2500" i="1">
                              <a:latin typeface="Cambria Math" panose="02040503050406030204" pitchFamily="18" charset="0"/>
                            </a:rPr>
                          </m:ctrlPr>
                        </m:sSupPr>
                        <m:e>
                          <m:sSub>
                            <m:sSubPr>
                              <m:ctrlPr>
                                <a:rPr lang="es-ES" sz="2500" i="1">
                                  <a:latin typeface="Cambria Math" panose="02040503050406030204" pitchFamily="18" charset="0"/>
                                </a:rPr>
                              </m:ctrlPr>
                            </m:sSubPr>
                            <m:e>
                              <m:r>
                                <a:rPr lang="es-ES" sz="2500" i="1">
                                  <a:solidFill>
                                    <a:srgbClr val="FFFFFF"/>
                                  </a:solidFill>
                                  <a:latin typeface="Cambria Math" panose="02040503050406030204" pitchFamily="18" charset="0"/>
                                </a:rPr>
                                <m:t xml:space="preserve">V</m:t>
                              </m:r>
                            </m:e>
                            <m:sub>
                              <m:r>
                                <a:rPr lang="es-ES" sz="2500" i="1">
                                  <a:solidFill>
                                    <a:srgbClr val="FFFFFF"/>
                                  </a:solidFill>
                                  <a:latin typeface="Cambria Math" panose="02040503050406030204" pitchFamily="18" charset="0"/>
                                </a:rPr>
                                <m:t xml:space="preserve">s</m:t>
                              </m:r>
                            </m:sub>
                          </m:sSub>
                        </m:e>
                        <m:sup>
                          <m:r>
                            <a:rPr lang="es-ES" sz="2500" i="1">
                              <a:solidFill>
                                <a:srgbClr val="FFFFFF"/>
                              </a:solidFill>
                              <a:latin typeface="Cambria Math" panose="02040503050406030204" pitchFamily="18" charset="0"/>
                            </a:rPr>
                            <m:t xml:space="preserve">2</m:t>
                          </m:r>
                        </m:sup>
                      </m:sSup>
                    </m:oMath>
                  </m:oMathPara>
                </a14:m>
                <a:endParaRPr lang="es-ES"/>
              </a:p>
            </p:txBody>
          </p:sp>
        </mc:Choice>
        <mc:Fallback>
          <p:sp>
            <p:nvSpPr>
              <p:cNvPr id="26" name="Ecuación E_gmax_w [s3]"/>
              <p:cNvSpPr txBox="1"/>
              <p:nvPr/>
            </p:nvSpPr>
            <p:spPr>
              <a:xfrm>
                <a:off x="966136" y="3484586"/>
                <a:ext cx="3846255" cy="681108"/>
              </a:xfrm>
              <a:prstGeom prst="rect">
                <a:avLst/>
              </a:prstGeom>
              <a:noFill/>
              <a:ln/>
            </p:spPr>
            <p:txBody>
              <a:bodyPr wrap="square" lIns="0" tIns="0" rIns="0" bIns="0" rtlCol="0" anchor="ctr"/>
              <a:lstStyle/>
              <a:p>
                <a:pPr algn="ctr" indent="0" marL="0">
                  <a:buNone/>
                </a:pPr>
                <a:r>
                  <a:rPr lang="en-US" sz="2159" dirty="0">
                    <a:solidFill>
                      <a:srgbClr val="FFFFFF"/>
                    </a:solidFill>
                    <a:latin typeface="Arial" pitchFamily="34" charset="0"/>
                    <a:ea typeface="Arial" pitchFamily="34" charset="-122"/>
                    <a:cs typeface="Arial" pitchFamily="34" charset="-120"/>
                  </a:rPr>
                  <a:t>Gmax = ρ · Vs²</a:t>
                </a:r>
                <a:endParaRPr lang="en-US" sz="2159" dirty="0"/>
              </a:p>
            </p:txBody>
          </p:sp>
        </mc:Fallback>
      </mc:AlternateContent>
      <p:sp>
        <p:nvSpPr>
          <p:cNvPr id="27" name="Elemento [s3]"/>
          <p:cNvSpPr txBox="1"/>
          <p:nvPr/>
        </p:nvSpPr>
        <p:spPr>
          <a:xfrm>
            <a:off x="5052782" y="3484586"/>
            <a:ext cx="3125082"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Relación buscada. Válida solo en pequeña señal</a:t>
            </a:r>
            <a:endParaRPr lang="en-US" sz="1620" dirty="0"/>
          </a:p>
        </p:txBody>
      </p:sp>
      <p:sp>
        <p:nvSpPr>
          <p:cNvPr id="28" name="Fondo error [s4]"/>
          <p:cNvSpPr/>
          <p:nvPr/>
        </p:nvSpPr>
        <p:spPr>
          <a:xfrm>
            <a:off x="966136" y="1681654"/>
            <a:ext cx="3846255" cy="961564"/>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9" name="Ecuación E_err [s4]"/>
              <p:cNvSpPr txBox="1"/>
              <p:nvPr/>
            </p:nvSpPr>
            <p:spPr>
              <a:xfrm>
                <a:off x="966136" y="1681654"/>
                <a:ext cx="3846255" cy="961564"/>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ΔG</m:t>
                          </m:r>
                        </m:num>
                        <m:den>
                          <m:r>
                            <a:rPr lang="es-ES" sz="2200" i="1">
                              <a:solidFill>
                                <a:srgbClr val="1F4E79"/>
                              </a:solidFill>
                              <a:latin typeface="Cambria Math" panose="02040503050406030204" pitchFamily="18" charset="0"/>
                            </a:rPr>
                            <m:t xml:space="preserve">G</m:t>
                          </m:r>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Δρ</m:t>
                          </m:r>
                        </m:num>
                        <m:den>
                          <m:r>
                            <a:rPr lang="es-ES" sz="2200" i="1">
                              <a:solidFill>
                                <a:srgbClr val="1F4E79"/>
                              </a:solidFill>
                              <a:latin typeface="Cambria Math" panose="02040503050406030204" pitchFamily="18" charset="0"/>
                            </a:rPr>
                            <m:t xml:space="preserve">ρ</m:t>
                          </m:r>
                        </m:den>
                      </m:f>
                      <m:r>
                        <a:rPr lang="es-ES" sz="2200" i="1">
                          <a:solidFill>
                            <a:srgbClr val="1F4E79"/>
                          </a:solidFill>
                          <a:latin typeface="Cambria Math" panose="02040503050406030204" pitchFamily="18" charset="0"/>
                        </a:rPr>
                        <m:t xml:space="preserve">+2</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Δ</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num>
                        <m:den>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den>
                      </m:f>
                    </m:oMath>
                  </m:oMathPara>
                </a14:m>
                <a:endParaRPr lang="es-ES"/>
              </a:p>
            </p:txBody>
          </p:sp>
        </mc:Choice>
        <mc:Fallback>
          <p:sp>
            <p:nvSpPr>
              <p:cNvPr id="29" name="Ecuación E_err [s4]"/>
              <p:cNvSpPr txBox="1"/>
              <p:nvPr/>
            </p:nvSpPr>
            <p:spPr>
              <a:xfrm>
                <a:off x="966136" y="1681654"/>
                <a:ext cx="3846255" cy="961564"/>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ΔG/G ≈ Δρ/ρ + 2·ΔVs/Vs</a:t>
                </a:r>
                <a:endParaRPr lang="en-US" sz="2159" dirty="0"/>
              </a:p>
            </p:txBody>
          </p:sp>
        </mc:Fallback>
      </mc:AlternateContent>
      <p:sp>
        <p:nvSpPr>
          <p:cNvPr id="30" name="Cuerpo [s4]"/>
          <p:cNvSpPr txBox="1"/>
          <p:nvPr/>
        </p:nvSpPr>
        <p:spPr>
          <a:xfrm>
            <a:off x="5052782" y="1681654"/>
            <a:ext cx="3125082" cy="2403909"/>
          </a:xfrm>
          <a:prstGeom prst="rect">
            <a:avLst/>
          </a:prstGeom>
          <a:noFill/>
          <a:ln/>
        </p:spPr>
        <p:txBody>
          <a:bodyPr wrap="square" lIns="0" tIns="0" rIns="0" bIns="0" rtlCol="0" anchor="t"/>
          <a:lstStyle/>
          <a:p>
            <a:pPr marL="342900" indent="-342900">
              <a:spcAft>
                <a:spcPts val="9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620" i="1">
                        <a:solidFill>
                          <a:srgbClr val="2D2D2D"/>
                        </a:solidFill>
                        <a:latin typeface="Cambria Math" panose="02040503050406030204" pitchFamily="18" charset="0"/>
                      </a:rPr>
                      <m:t xml:space="preserve">ρ</m:t>
                    </m:r>
                  </m:oMath>
                </a14:m>
              </mc:Choice>
              <mc:Fallback>
                <a:r>
                  <a:rPr lang="en-US" sz="1620" dirty="0">
                    <a:solidFill>
                      <a:srgbClr val="2D2D2D"/>
                    </a:solidFill>
                    <a:latin typeface="Arial" pitchFamily="34" charset="0"/>
                    <a:ea typeface="Arial" pitchFamily="34" charset="-122"/>
                    <a:cs typeface="Arial" pitchFamily="34" charset="-120"/>
                  </a:rPr>
                  <a:t>ρ</a:t>
                </a:r>
              </mc:Fallback>
            </mc:AlternateContent>
            <a:r>
              <a:rPr lang="en-US" sz="1620" dirty="0">
                <a:solidFill>
                  <a:srgbClr val="2D2D2D"/>
                </a:solidFill>
                <a:latin typeface="Arial" pitchFamily="34" charset="0"/>
                <a:ea typeface="Arial" pitchFamily="34" charset="-122"/>
                <a:cs typeface="Arial" pitchFamily="34" charset="-120"/>
              </a:rPr>
              <a:t> varía poco entre suelos y se estima con muestras o correlaciones</a:t>
            </a:r>
            <a:endParaRPr lang="en-US" sz="1620" dirty="0"/>
          </a:p>
          <a:p>
            <a:pPr marL="342900" indent="-342900">
              <a:spcAft>
                <a:spcPts val="9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V</m:t>
                        </m:r>
                      </m:e>
                      <m:sub>
                        <m:r>
                          <a:rPr lang="es-ES" sz="1620" i="1">
                            <a:solidFill>
                              <a:srgbClr val="2D2D2D"/>
                            </a:solidFill>
                            <a:latin typeface="Cambria Math" panose="02040503050406030204" pitchFamily="18" charset="0"/>
                          </a:rPr>
                          <m:t xml:space="preserve">s</m:t>
                        </m:r>
                      </m:sub>
                    </m:sSub>
                  </m:oMath>
                </a14:m>
              </mc:Choice>
              <mc:Fallback>
                <a:r>
                  <a:rPr lang="en-US" sz="1620" dirty="0">
                    <a:solidFill>
                      <a:srgbClr val="2D2D2D"/>
                    </a:solidFill>
                    <a:latin typeface="Arial" pitchFamily="34" charset="0"/>
                    <a:ea typeface="Arial" pitchFamily="34" charset="-122"/>
                    <a:cs typeface="Arial" pitchFamily="34" charset="-120"/>
                  </a:rPr>
                  <a:t>Vs</a:t>
                </a:r>
              </mc:Fallback>
            </mc:AlternateContent>
            <a:r>
              <a:rPr lang="en-US" sz="1620" dirty="0">
                <a:solidFill>
                  <a:srgbClr val="2D2D2D"/>
                </a:solidFill>
                <a:latin typeface="Arial" pitchFamily="34" charset="0"/>
                <a:ea typeface="Arial" pitchFamily="34" charset="-122"/>
                <a:cs typeface="Arial" pitchFamily="34" charset="-120"/>
              </a:rPr>
              <a:t> varía mucho y se mide en campo</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Un error en </a:t>
            </a: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V</m:t>
                        </m:r>
                      </m:e>
                      <m:sub>
                        <m:r>
                          <a:rPr lang="es-ES" sz="1620" i="1">
                            <a:solidFill>
                              <a:srgbClr val="2D2D2D"/>
                            </a:solidFill>
                            <a:latin typeface="Cambria Math" panose="02040503050406030204" pitchFamily="18" charset="0"/>
                          </a:rPr>
                          <m:t xml:space="preserve">s</m:t>
                        </m:r>
                      </m:sub>
                    </m:sSub>
                  </m:oMath>
                </a14:m>
              </mc:Choice>
              <mc:Fallback>
                <a:r>
                  <a:rPr lang="en-US" sz="1620" dirty="0">
                    <a:solidFill>
                      <a:srgbClr val="2D2D2D"/>
                    </a:solidFill>
                    <a:latin typeface="Arial" pitchFamily="34" charset="0"/>
                    <a:ea typeface="Arial" pitchFamily="34" charset="-122"/>
                    <a:cs typeface="Arial" pitchFamily="34" charset="-120"/>
                  </a:rPr>
                  <a:t>Vs</a:t>
                </a:r>
              </mc:Fallback>
            </mc:AlternateContent>
            <a:r>
              <a:rPr lang="en-US" sz="1620" dirty="0">
                <a:solidFill>
                  <a:srgbClr val="2D2D2D"/>
                </a:solidFill>
                <a:latin typeface="Arial" pitchFamily="34" charset="0"/>
                <a:ea typeface="Arial" pitchFamily="34" charset="-122"/>
                <a:cs typeface="Arial" pitchFamily="34" charset="-120"/>
              </a:rPr>
              <a:t> pesa el doble que uno en </a:t>
            </a:r>
            <mc:AlternateContent xmlns:mc="http://schemas.openxmlformats.org/markup-compatibility/2006">
              <mc:Choice xmlns:a14="http://schemas.microsoft.com/office/drawing/2010/main" Requires="a14">
                <a14:m>
                  <m:oMath xmlns:m="http://schemas.openxmlformats.org/officeDocument/2006/math">
                    <m:r>
                      <a:rPr lang="es-ES" sz="1620" i="1">
                        <a:solidFill>
                          <a:srgbClr val="2D2D2D"/>
                        </a:solidFill>
                        <a:latin typeface="Cambria Math" panose="02040503050406030204" pitchFamily="18" charset="0"/>
                      </a:rPr>
                      <m:t xml:space="preserve">ρ</m:t>
                    </m:r>
                  </m:oMath>
                </a14:m>
              </mc:Choice>
              <mc:Fallback>
                <a:r>
                  <a:rPr lang="en-US" sz="1620" dirty="0">
                    <a:solidFill>
                      <a:srgbClr val="2D2D2D"/>
                    </a:solidFill>
                    <a:latin typeface="Arial" pitchFamily="34" charset="0"/>
                    <a:ea typeface="Arial" pitchFamily="34" charset="-122"/>
                    <a:cs typeface="Arial" pitchFamily="34" charset="-120"/>
                  </a:rPr>
                  <a:t>ρ</a:t>
                </a:r>
              </mc:Fallback>
            </mc:AlternateContent>
            <a:endParaRPr lang="en-US" sz="1620" dirty="0"/>
          </a:p>
        </p:txBody>
      </p:sp>
      <p:sp>
        <p:nvSpPr>
          <p:cNvPr id="31" name="Elemento [s4]"/>
          <p:cNvSpPr txBox="1"/>
          <p:nvPr/>
        </p:nvSpPr>
        <p:spPr>
          <a:xfrm>
            <a:off x="966136" y="2923674"/>
            <a:ext cx="3846255" cy="961564"/>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620" dirty="0"/>
          </a:p>
        </p:txBody>
      </p:sp>
      <p:sp>
        <p:nvSpPr>
          <p:cNvPr id="32" name="Encabezado [s0]"/>
          <p:cNvSpPr txBox="1"/>
          <p:nvPr/>
        </p:nvSpPr>
        <p:spPr>
          <a:xfrm>
            <a:off x="365760" y="987552"/>
            <a:ext cx="4114800" cy="457200"/>
          </a:xfrm>
          <a:prstGeom prst="rect">
            <a:avLst/>
          </a:prstGeom>
          <a:noFill/>
          <a:ln/>
        </p:spPr>
        <p:txBody>
          <a:bodyPr wrap="square" lIns="0" tIns="0" rIns="0" bIns="0" rtlCol="0" anchor="t"/>
          <a:lstStyle/>
          <a:p>
            <a:pPr indent="0" marL="0">
              <a:buNone/>
            </a:pPr>
            <a:r>
              <a:rPr lang="en-US" sz="1100" b="1" dirty="0">
                <a:solidFill>
                  <a:srgbClr val="2E75B6"/>
                </a:solidFill>
                <a:latin typeface="Arial" pitchFamily="34" charset="0"/>
                <a:ea typeface="Arial" pitchFamily="34" charset="-122"/>
                <a:cs typeface="Arial" pitchFamily="34" charset="-120"/>
              </a:rPr>
              <a:t>Onda P: el terreno se comprime y se dilata en la dirección en que avanza</a:t>
            </a:r>
            <a:endParaRPr lang="en-US" sz="1100" dirty="0"/>
          </a:p>
        </p:txBody>
      </p:sp>
      <p:sp>
        <p:nvSpPr>
          <p:cNvPr id="33" name="Encabezado [s0]"/>
          <p:cNvSpPr txBox="1"/>
          <p:nvPr/>
        </p:nvSpPr>
        <p:spPr>
          <a:xfrm>
            <a:off x="4663440" y="987552"/>
            <a:ext cx="4114800" cy="457200"/>
          </a:xfrm>
          <a:prstGeom prst="rect">
            <a:avLst/>
          </a:prstGeom>
          <a:noFill/>
          <a:ln/>
        </p:spPr>
        <p:txBody>
          <a:bodyPr wrap="square" lIns="0" tIns="0" rIns="0" bIns="0" rtlCol="0" anchor="t"/>
          <a:lstStyle/>
          <a:p>
            <a:pPr indent="0" marL="0">
              <a:buNone/>
            </a:pPr>
            <a:r>
              <a:rPr lang="en-US" sz="1100" b="1" dirty="0">
                <a:solidFill>
                  <a:srgbClr val="2E75B6"/>
                </a:solidFill>
                <a:latin typeface="Arial" pitchFamily="34" charset="0"/>
                <a:ea typeface="Arial" pitchFamily="34" charset="-122"/>
                <a:cs typeface="Arial" pitchFamily="34" charset="-120"/>
              </a:rPr>
              <a:t>Onda S: el terreno se corta en la dirección perpendicular al avance</a:t>
            </a:r>
            <a:endParaRPr lang="en-US" sz="1100" dirty="0"/>
          </a:p>
        </p:txBody>
      </p:sp>
      <p:sp>
        <p:nvSpPr>
          <p:cNvPr id="34"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35"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velocidades de propagación se deducen de esas mismas ecuaciones</a:t>
            </a:r>
            <a:endParaRPr lang="en-US" sz="1400" dirty="0"/>
          </a:p>
        </p:txBody>
      </p:sp>
      <p:sp>
        <p:nvSpPr>
          <p:cNvPr id="36"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a:t>
            </a:r>
            <a:endParaRPr lang="en-US" sz="800" dirty="0"/>
          </a:p>
        </p:txBody>
      </p:sp>
      <p:sp>
        <p:nvSpPr>
          <p:cNvPr id="37"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suelos, la relación esfuerzo-deformación solo es lineal para deformaciones pequeñas</a:t>
            </a:r>
            <a:endParaRPr lang="en-US" sz="1400" dirty="0"/>
          </a:p>
        </p:txBody>
      </p:sp>
      <p:sp>
        <p:nvSpPr>
          <p:cNvPr id="38"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Umbral aproximado; depende del tipo de suelo (Foti et al., 2014).</a:t>
            </a:r>
            <a:endParaRPr lang="en-US" sz="800" dirty="0"/>
          </a:p>
        </p:txBody>
      </p:sp>
      <p:sp>
        <p:nvSpPr>
          <p:cNvPr id="39"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pequeña señal, la velocidad de corte da directamente la rigidez máxima</a:t>
            </a:r>
            <a:endParaRPr lang="en-US" sz="1400" dirty="0"/>
          </a:p>
        </p:txBody>
      </p:sp>
      <p:sp>
        <p:nvSpPr>
          <p:cNvPr id="40"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2.</a:t>
            </a:r>
            <a:endParaRPr lang="en-US" sz="800" dirty="0"/>
          </a:p>
        </p:txBody>
      </p:sp>
      <p:sp>
        <p:nvSpPr>
          <p:cNvPr id="41"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 podemos estimar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G</m:t>
                        </m:r>
                      </m:e>
                      <m:sub>
                        <m:r>
                          <m:rPr>
                            <m:sty m:val="p"/>
                          </m:rPr>
                          <a:rPr lang="es-ES" sz="1400">
                            <a:solidFill>
                              <a:srgbClr val="2E75B6"/>
                            </a:solidFill>
                            <a:latin typeface="Cambria Math" panose="02040503050406030204" pitchFamily="18" charset="0"/>
                          </a:rPr>
                          <m:t xml:space="preserve">max</m:t>
                        </m:r>
                      </m:sub>
                    </m:sSub>
                  </m:oMath>
                </a14:m>
              </mc:Choice>
              <mc:Fallback>
                <a:r>
                  <a:rPr lang="en-US" sz="1400" b="1" dirty="0">
                    <a:solidFill>
                      <a:srgbClr val="2E75B6"/>
                    </a:solidFill>
                    <a:latin typeface="Arial" pitchFamily="34" charset="0"/>
                    <a:ea typeface="Arial" pitchFamily="34" charset="-122"/>
                    <a:cs typeface="Arial" pitchFamily="34" charset="-120"/>
                  </a:rPr>
                  <a:t>Gmax</a:t>
                </a:r>
              </mc:Fallback>
            </mc:AlternateContent>
            <a:r>
              <a:rPr lang="en-US" sz="1400" b="1" dirty="0">
                <a:solidFill>
                  <a:srgbClr val="2E75B6"/>
                </a:solidFill>
                <a:latin typeface="Arial" pitchFamily="34" charset="0"/>
                <a:ea typeface="Arial" pitchFamily="34" charset="-122"/>
                <a:cs typeface="Arial" pitchFamily="34" charset="-120"/>
              </a:rPr>
              <a:t> con una incertidumbre razonable</a:t>
            </a:r>
            <a:endParaRPr lang="en-US" sz="1400" dirty="0"/>
          </a:p>
        </p:txBody>
      </p:sp>
      <p:sp>
        <p:nvSpPr>
          <p:cNvPr id="42"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Propagación de errores lineal, cota superior. Foti et al. (2014).</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33" fill="hold">
                      <p:stCondLst>
                        <p:cond delay="indefinite"/>
                      </p:stCondLst>
                      <p:childTnLst>
                        <p:par>
                          <p:cTn id="1534" fill="hold">
                            <p:stCondLst>
                              <p:cond delay="0"/>
                            </p:stCondLst>
                            <p:childTnLst>
                              <p:par>
                                <p:cTn id="1488" presetID="10" presetClass="exit" presetSubtype="0" fill="hold" nodeType="clickEffect">
                                  <p:stCondLst>
                                    <p:cond delay="0"/>
                                  </p:stCondLst>
                                  <p:childTnLst>
                                    <p:animEffect transition="out" filter="fade">
                                      <p:cBhvr>
                                        <p:cTn id="1489" dur="400"/>
                                        <p:tgtEl>
                                          <p:spTgt spid="3"/>
                                        </p:tgtEl>
                                      </p:cBhvr>
                                    </p:animEffect>
                                    <p:set>
                                      <p:cBhvr>
                                        <p:cTn id="1490" dur="1" fill="hold">
                                          <p:stCondLst>
                                            <p:cond delay="399"/>
                                          </p:stCondLst>
                                        </p:cTn>
                                        <p:tgtEl>
                                          <p:spTgt spid="3"/>
                                        </p:tgtEl>
                                        <p:attrNameLst>
                                          <p:attrName>style.visibility</p:attrName>
                                        </p:attrNameLst>
                                      </p:cBhvr>
                                      <p:to>
                                        <p:strVal val="hidden"/>
                                      </p:to>
                                    </p:set>
                                  </p:childTnLst>
                                </p:cTn>
                              </p:par>
                              <p:par>
                                <p:cTn id="1491" presetID="10" presetClass="exit" presetSubtype="0" fill="hold" nodeType="withEffect">
                                  <p:stCondLst>
                                    <p:cond delay="0"/>
                                  </p:stCondLst>
                                  <p:childTnLst>
                                    <p:animEffect transition="out" filter="fade">
                                      <p:cBhvr>
                                        <p:cTn id="1492" dur="400"/>
                                        <p:tgtEl>
                                          <p:spTgt spid="4"/>
                                        </p:tgtEl>
                                      </p:cBhvr>
                                    </p:animEffect>
                                    <p:set>
                                      <p:cBhvr>
                                        <p:cTn id="1493" dur="1" fill="hold">
                                          <p:stCondLst>
                                            <p:cond delay="399"/>
                                          </p:stCondLst>
                                        </p:cTn>
                                        <p:tgtEl>
                                          <p:spTgt spid="4"/>
                                        </p:tgtEl>
                                        <p:attrNameLst>
                                          <p:attrName>style.visibility</p:attrName>
                                        </p:attrNameLst>
                                      </p:cBhvr>
                                      <p:to>
                                        <p:strVal val="hidden"/>
                                      </p:to>
                                    </p:set>
                                  </p:childTnLst>
                                </p:cTn>
                              </p:par>
                              <p:par>
                                <p:cTn id="1494" presetID="10" presetClass="exit" presetSubtype="0" fill="hold" nodeType="withEffect">
                                  <p:stCondLst>
                                    <p:cond delay="0"/>
                                  </p:stCondLst>
                                  <p:childTnLst>
                                    <p:animEffect transition="out" filter="fade">
                                      <p:cBhvr>
                                        <p:cTn id="1495" dur="400"/>
                                        <p:tgtEl>
                                          <p:spTgt spid="5"/>
                                        </p:tgtEl>
                                      </p:cBhvr>
                                    </p:animEffect>
                                    <p:set>
                                      <p:cBhvr>
                                        <p:cTn id="1496" dur="1" fill="hold">
                                          <p:stCondLst>
                                            <p:cond delay="399"/>
                                          </p:stCondLst>
                                        </p:cTn>
                                        <p:tgtEl>
                                          <p:spTgt spid="5"/>
                                        </p:tgtEl>
                                        <p:attrNameLst>
                                          <p:attrName>style.visibility</p:attrName>
                                        </p:attrNameLst>
                                      </p:cBhvr>
                                      <p:to>
                                        <p:strVal val="hidden"/>
                                      </p:to>
                                    </p:set>
                                  </p:childTnLst>
                                </p:cTn>
                              </p:par>
                              <p:par>
                                <p:cTn id="1497" presetID="10" presetClass="exit" presetSubtype="0" fill="hold" nodeType="withEffect">
                                  <p:stCondLst>
                                    <p:cond delay="0"/>
                                  </p:stCondLst>
                                  <p:childTnLst>
                                    <p:animEffect transition="out" filter="fade">
                                      <p:cBhvr>
                                        <p:cTn id="1498" dur="400"/>
                                        <p:tgtEl>
                                          <p:spTgt spid="6"/>
                                        </p:tgtEl>
                                      </p:cBhvr>
                                    </p:animEffect>
                                    <p:set>
                                      <p:cBhvr>
                                        <p:cTn id="1499" dur="1" fill="hold">
                                          <p:stCondLst>
                                            <p:cond delay="399"/>
                                          </p:stCondLst>
                                        </p:cTn>
                                        <p:tgtEl>
                                          <p:spTgt spid="6"/>
                                        </p:tgtEl>
                                        <p:attrNameLst>
                                          <p:attrName>style.visibility</p:attrName>
                                        </p:attrNameLst>
                                      </p:cBhvr>
                                      <p:to>
                                        <p:strVal val="hidden"/>
                                      </p:to>
                                    </p:set>
                                  </p:childTnLst>
                                </p:cTn>
                              </p:par>
                              <p:par>
                                <p:cTn id="1500" presetID="10" presetClass="exit" presetSubtype="0" fill="hold" nodeType="withEffect">
                                  <p:stCondLst>
                                    <p:cond delay="0"/>
                                  </p:stCondLst>
                                  <p:childTnLst>
                                    <p:animEffect transition="out" filter="fade">
                                      <p:cBhvr>
                                        <p:cTn id="1501" dur="400"/>
                                        <p:tgtEl>
                                          <p:spTgt spid="32"/>
                                        </p:tgtEl>
                                      </p:cBhvr>
                                    </p:animEffect>
                                    <p:set>
                                      <p:cBhvr>
                                        <p:cTn id="1502" dur="1" fill="hold">
                                          <p:stCondLst>
                                            <p:cond delay="399"/>
                                          </p:stCondLst>
                                        </p:cTn>
                                        <p:tgtEl>
                                          <p:spTgt spid="32"/>
                                        </p:tgtEl>
                                        <p:attrNameLst>
                                          <p:attrName>style.visibility</p:attrName>
                                        </p:attrNameLst>
                                      </p:cBhvr>
                                      <p:to>
                                        <p:strVal val="hidden"/>
                                      </p:to>
                                    </p:set>
                                  </p:childTnLst>
                                </p:cTn>
                              </p:par>
                              <p:par>
                                <p:cTn id="1503" presetID="10" presetClass="exit" presetSubtype="0" fill="hold" nodeType="withEffect">
                                  <p:stCondLst>
                                    <p:cond delay="0"/>
                                  </p:stCondLst>
                                  <p:childTnLst>
                                    <p:animEffect transition="out" filter="fade">
                                      <p:cBhvr>
                                        <p:cTn id="1504" dur="400"/>
                                        <p:tgtEl>
                                          <p:spTgt spid="33"/>
                                        </p:tgtEl>
                                      </p:cBhvr>
                                    </p:animEffect>
                                    <p:set>
                                      <p:cBhvr>
                                        <p:cTn id="1505" dur="1" fill="hold">
                                          <p:stCondLst>
                                            <p:cond delay="399"/>
                                          </p:stCondLst>
                                        </p:cTn>
                                        <p:tgtEl>
                                          <p:spTgt spid="33"/>
                                        </p:tgtEl>
                                        <p:attrNameLst>
                                          <p:attrName>style.visibility</p:attrName>
                                        </p:attrNameLst>
                                      </p:cBhvr>
                                      <p:to>
                                        <p:strVal val="hidden"/>
                                      </p:to>
                                    </p:set>
                                  </p:childTnLst>
                                </p:cTn>
                              </p:par>
                              <p:par>
                                <p:cTn id="1506" presetID="10" presetClass="exit" presetSubtype="0" fill="hold" nodeType="withEffect">
                                  <p:stCondLst>
                                    <p:cond delay="0"/>
                                  </p:stCondLst>
                                  <p:childTnLst>
                                    <p:animEffect transition="out" filter="fade">
                                      <p:cBhvr>
                                        <p:cTn id="1507" dur="400"/>
                                        <p:tgtEl>
                                          <p:spTgt spid="34"/>
                                        </p:tgtEl>
                                      </p:cBhvr>
                                    </p:animEffect>
                                    <p:set>
                                      <p:cBhvr>
                                        <p:cTn id="1508" dur="1" fill="hold">
                                          <p:stCondLst>
                                            <p:cond delay="399"/>
                                          </p:stCondLst>
                                        </p:cTn>
                                        <p:tgtEl>
                                          <p:spTgt spid="34"/>
                                        </p:tgtEl>
                                        <p:attrNameLst>
                                          <p:attrName>style.visibility</p:attrName>
                                        </p:attrNameLst>
                                      </p:cBhvr>
                                      <p:to>
                                        <p:strVal val="hidden"/>
                                      </p:to>
                                    </p:set>
                                  </p:childTnLst>
                                </p:cTn>
                              </p:par>
                              <p:par>
                                <p:cTn id="1509" presetID="10" presetClass="entr" presetSubtype="0" fill="hold" nodeType="withEffect">
                                  <p:stCondLst>
                                    <p:cond delay="200"/>
                                  </p:stCondLst>
                                  <p:childTnLst>
                                    <p:set>
                                      <p:cBhvr>
                                        <p:cTn id="1510" dur="1" fill="hold">
                                          <p:stCondLst>
                                            <p:cond delay="0"/>
                                          </p:stCondLst>
                                        </p:cTn>
                                        <p:tgtEl>
                                          <p:spTgt spid="7"/>
                                        </p:tgtEl>
                                        <p:attrNameLst>
                                          <p:attrName>style.visibility</p:attrName>
                                        </p:attrNameLst>
                                      </p:cBhvr>
                                      <p:to>
                                        <p:strVal val="visible"/>
                                      </p:to>
                                    </p:set>
                                    <p:animEffect transition="in" filter="fade">
                                      <p:cBhvr>
                                        <p:cTn id="1511" dur="500"/>
                                        <p:tgtEl>
                                          <p:spTgt spid="7"/>
                                        </p:tgtEl>
                                      </p:cBhvr>
                                    </p:animEffect>
                                  </p:childTnLst>
                                </p:cTn>
                              </p:par>
                              <p:par>
                                <p:cTn id="1512" presetID="10" presetClass="entr" presetSubtype="0" fill="hold" nodeType="withEffect">
                                  <p:stCondLst>
                                    <p:cond delay="270"/>
                                  </p:stCondLst>
                                  <p:childTnLst>
                                    <p:set>
                                      <p:cBhvr>
                                        <p:cTn id="1513" dur="1" fill="hold">
                                          <p:stCondLst>
                                            <p:cond delay="0"/>
                                          </p:stCondLst>
                                        </p:cTn>
                                        <p:tgtEl>
                                          <p:spTgt spid="8"/>
                                        </p:tgtEl>
                                        <p:attrNameLst>
                                          <p:attrName>style.visibility</p:attrName>
                                        </p:attrNameLst>
                                      </p:cBhvr>
                                      <p:to>
                                        <p:strVal val="visible"/>
                                      </p:to>
                                    </p:set>
                                    <p:animEffect transition="in" filter="fade">
                                      <p:cBhvr>
                                        <p:cTn id="1514" dur="500"/>
                                        <p:tgtEl>
                                          <p:spTgt spid="8"/>
                                        </p:tgtEl>
                                      </p:cBhvr>
                                    </p:animEffect>
                                  </p:childTnLst>
                                </p:cTn>
                              </p:par>
                              <p:par>
                                <p:cTn id="1515" presetID="10" presetClass="entr" presetSubtype="0" fill="hold" nodeType="withEffect">
                                  <p:stCondLst>
                                    <p:cond delay="340"/>
                                  </p:stCondLst>
                                  <p:childTnLst>
                                    <p:set>
                                      <p:cBhvr>
                                        <p:cTn id="1516" dur="1" fill="hold">
                                          <p:stCondLst>
                                            <p:cond delay="0"/>
                                          </p:stCondLst>
                                        </p:cTn>
                                        <p:tgtEl>
                                          <p:spTgt spid="9"/>
                                        </p:tgtEl>
                                        <p:attrNameLst>
                                          <p:attrName>style.visibility</p:attrName>
                                        </p:attrNameLst>
                                      </p:cBhvr>
                                      <p:to>
                                        <p:strVal val="visible"/>
                                      </p:to>
                                    </p:set>
                                    <p:animEffect transition="in" filter="fade">
                                      <p:cBhvr>
                                        <p:cTn id="1517" dur="500"/>
                                        <p:tgtEl>
                                          <p:spTgt spid="9"/>
                                        </p:tgtEl>
                                      </p:cBhvr>
                                    </p:animEffect>
                                  </p:childTnLst>
                                </p:cTn>
                              </p:par>
                              <p:par>
                                <p:cTn id="1518" presetID="10" presetClass="entr" presetSubtype="0" fill="hold" nodeType="withEffect">
                                  <p:stCondLst>
                                    <p:cond delay="410"/>
                                  </p:stCondLst>
                                  <p:childTnLst>
                                    <p:set>
                                      <p:cBhvr>
                                        <p:cTn id="1519" dur="1" fill="hold">
                                          <p:stCondLst>
                                            <p:cond delay="0"/>
                                          </p:stCondLst>
                                        </p:cTn>
                                        <p:tgtEl>
                                          <p:spTgt spid="10"/>
                                        </p:tgtEl>
                                        <p:attrNameLst>
                                          <p:attrName>style.visibility</p:attrName>
                                        </p:attrNameLst>
                                      </p:cBhvr>
                                      <p:to>
                                        <p:strVal val="visible"/>
                                      </p:to>
                                    </p:set>
                                    <p:animEffect transition="in" filter="fade">
                                      <p:cBhvr>
                                        <p:cTn id="1520" dur="500"/>
                                        <p:tgtEl>
                                          <p:spTgt spid="10"/>
                                        </p:tgtEl>
                                      </p:cBhvr>
                                    </p:animEffect>
                                  </p:childTnLst>
                                </p:cTn>
                              </p:par>
                              <p:par>
                                <p:cTn id="1521" presetID="10" presetClass="entr" presetSubtype="0" fill="hold" nodeType="withEffect">
                                  <p:stCondLst>
                                    <p:cond delay="480"/>
                                  </p:stCondLst>
                                  <p:childTnLst>
                                    <p:set>
                                      <p:cBhvr>
                                        <p:cTn id="1522" dur="1" fill="hold">
                                          <p:stCondLst>
                                            <p:cond delay="0"/>
                                          </p:stCondLst>
                                        </p:cTn>
                                        <p:tgtEl>
                                          <p:spTgt spid="11"/>
                                        </p:tgtEl>
                                        <p:attrNameLst>
                                          <p:attrName>style.visibility</p:attrName>
                                        </p:attrNameLst>
                                      </p:cBhvr>
                                      <p:to>
                                        <p:strVal val="visible"/>
                                      </p:to>
                                    </p:set>
                                    <p:animEffect transition="in" filter="fade">
                                      <p:cBhvr>
                                        <p:cTn id="1523" dur="500"/>
                                        <p:tgtEl>
                                          <p:spTgt spid="11"/>
                                        </p:tgtEl>
                                      </p:cBhvr>
                                    </p:animEffect>
                                  </p:childTnLst>
                                </p:cTn>
                              </p:par>
                              <p:par>
                                <p:cTn id="1524" presetID="10" presetClass="entr" presetSubtype="0" fill="hold" nodeType="withEffect">
                                  <p:stCondLst>
                                    <p:cond delay="550"/>
                                  </p:stCondLst>
                                  <p:childTnLst>
                                    <p:set>
                                      <p:cBhvr>
                                        <p:cTn id="1525" dur="1" fill="hold">
                                          <p:stCondLst>
                                            <p:cond delay="0"/>
                                          </p:stCondLst>
                                        </p:cTn>
                                        <p:tgtEl>
                                          <p:spTgt spid="12"/>
                                        </p:tgtEl>
                                        <p:attrNameLst>
                                          <p:attrName>style.visibility</p:attrName>
                                        </p:attrNameLst>
                                      </p:cBhvr>
                                      <p:to>
                                        <p:strVal val="visible"/>
                                      </p:to>
                                    </p:set>
                                    <p:animEffect transition="in" filter="fade">
                                      <p:cBhvr>
                                        <p:cTn id="1526" dur="500"/>
                                        <p:tgtEl>
                                          <p:spTgt spid="12"/>
                                        </p:tgtEl>
                                      </p:cBhvr>
                                    </p:animEffect>
                                  </p:childTnLst>
                                </p:cTn>
                              </p:par>
                              <p:par>
                                <p:cTn id="1527" presetID="10" presetClass="entr" presetSubtype="0" fill="hold" nodeType="withEffect">
                                  <p:stCondLst>
                                    <p:cond delay="620"/>
                                  </p:stCondLst>
                                  <p:childTnLst>
                                    <p:set>
                                      <p:cBhvr>
                                        <p:cTn id="1528" dur="1" fill="hold">
                                          <p:stCondLst>
                                            <p:cond delay="0"/>
                                          </p:stCondLst>
                                        </p:cTn>
                                        <p:tgtEl>
                                          <p:spTgt spid="35"/>
                                        </p:tgtEl>
                                        <p:attrNameLst>
                                          <p:attrName>style.visibility</p:attrName>
                                        </p:attrNameLst>
                                      </p:cBhvr>
                                      <p:to>
                                        <p:strVal val="visible"/>
                                      </p:to>
                                    </p:set>
                                    <p:animEffect transition="in" filter="fade">
                                      <p:cBhvr>
                                        <p:cTn id="1529" dur="500"/>
                                        <p:tgtEl>
                                          <p:spTgt spid="35"/>
                                        </p:tgtEl>
                                      </p:cBhvr>
                                    </p:animEffect>
                                  </p:childTnLst>
                                </p:cTn>
                              </p:par>
                              <p:par>
                                <p:cTn id="1530" presetID="10" presetClass="entr" presetSubtype="0" fill="hold" nodeType="withEffect">
                                  <p:stCondLst>
                                    <p:cond delay="690"/>
                                  </p:stCondLst>
                                  <p:childTnLst>
                                    <p:set>
                                      <p:cBhvr>
                                        <p:cTn id="1531" dur="1" fill="hold">
                                          <p:stCondLst>
                                            <p:cond delay="0"/>
                                          </p:stCondLst>
                                        </p:cTn>
                                        <p:tgtEl>
                                          <p:spTgt spid="36"/>
                                        </p:tgtEl>
                                        <p:attrNameLst>
                                          <p:attrName>style.visibility</p:attrName>
                                        </p:attrNameLst>
                                      </p:cBhvr>
                                      <p:to>
                                        <p:strVal val="visible"/>
                                      </p:to>
                                    </p:set>
                                    <p:animEffect transition="in" filter="fade">
                                      <p:cBhvr>
                                        <p:cTn id="1532" dur="500"/>
                                        <p:tgtEl>
                                          <p:spTgt spid="36"/>
                                        </p:tgtEl>
                                      </p:cBhvr>
                                    </p:animEffect>
                                  </p:childTnLst>
                                </p:cTn>
                              </p:par>
                            </p:childTnLst>
                          </p:cTn>
                        </p:par>
                      </p:childTnLst>
                    </p:cTn>
                  </p:par>
                  <p:par>
                    <p:cTn id="1577" fill="hold">
                      <p:stCondLst>
                        <p:cond delay="indefinite"/>
                      </p:stCondLst>
                      <p:childTnLst>
                        <p:par>
                          <p:cTn id="1578" fill="hold">
                            <p:stCondLst>
                              <p:cond delay="0"/>
                            </p:stCondLst>
                            <p:childTnLst>
                              <p:par>
                                <p:cTn id="1535" presetID="10" presetClass="exit" presetSubtype="0" fill="hold" nodeType="clickEffect">
                                  <p:stCondLst>
                                    <p:cond delay="0"/>
                                  </p:stCondLst>
                                  <p:childTnLst>
                                    <p:animEffect transition="out" filter="fade">
                                      <p:cBhvr>
                                        <p:cTn id="1536" dur="400"/>
                                        <p:tgtEl>
                                          <p:spTgt spid="7"/>
                                        </p:tgtEl>
                                      </p:cBhvr>
                                    </p:animEffect>
                                    <p:set>
                                      <p:cBhvr>
                                        <p:cTn id="1537" dur="1" fill="hold">
                                          <p:stCondLst>
                                            <p:cond delay="399"/>
                                          </p:stCondLst>
                                        </p:cTn>
                                        <p:tgtEl>
                                          <p:spTgt spid="7"/>
                                        </p:tgtEl>
                                        <p:attrNameLst>
                                          <p:attrName>style.visibility</p:attrName>
                                        </p:attrNameLst>
                                      </p:cBhvr>
                                      <p:to>
                                        <p:strVal val="hidden"/>
                                      </p:to>
                                    </p:set>
                                  </p:childTnLst>
                                </p:cTn>
                              </p:par>
                              <p:par>
                                <p:cTn id="1538" presetID="10" presetClass="exit" presetSubtype="0" fill="hold" nodeType="withEffect">
                                  <p:stCondLst>
                                    <p:cond delay="0"/>
                                  </p:stCondLst>
                                  <p:childTnLst>
                                    <p:animEffect transition="out" filter="fade">
                                      <p:cBhvr>
                                        <p:cTn id="1539" dur="400"/>
                                        <p:tgtEl>
                                          <p:spTgt spid="8"/>
                                        </p:tgtEl>
                                      </p:cBhvr>
                                    </p:animEffect>
                                    <p:set>
                                      <p:cBhvr>
                                        <p:cTn id="1540" dur="1" fill="hold">
                                          <p:stCondLst>
                                            <p:cond delay="399"/>
                                          </p:stCondLst>
                                        </p:cTn>
                                        <p:tgtEl>
                                          <p:spTgt spid="8"/>
                                        </p:tgtEl>
                                        <p:attrNameLst>
                                          <p:attrName>style.visibility</p:attrName>
                                        </p:attrNameLst>
                                      </p:cBhvr>
                                      <p:to>
                                        <p:strVal val="hidden"/>
                                      </p:to>
                                    </p:set>
                                  </p:childTnLst>
                                </p:cTn>
                              </p:par>
                              <p:par>
                                <p:cTn id="1541" presetID="10" presetClass="exit" presetSubtype="0" fill="hold" nodeType="withEffect">
                                  <p:stCondLst>
                                    <p:cond delay="0"/>
                                  </p:stCondLst>
                                  <p:childTnLst>
                                    <p:animEffect transition="out" filter="fade">
                                      <p:cBhvr>
                                        <p:cTn id="1542" dur="400"/>
                                        <p:tgtEl>
                                          <p:spTgt spid="9"/>
                                        </p:tgtEl>
                                      </p:cBhvr>
                                    </p:animEffect>
                                    <p:set>
                                      <p:cBhvr>
                                        <p:cTn id="1543" dur="1" fill="hold">
                                          <p:stCondLst>
                                            <p:cond delay="399"/>
                                          </p:stCondLst>
                                        </p:cTn>
                                        <p:tgtEl>
                                          <p:spTgt spid="9"/>
                                        </p:tgtEl>
                                        <p:attrNameLst>
                                          <p:attrName>style.visibility</p:attrName>
                                        </p:attrNameLst>
                                      </p:cBhvr>
                                      <p:to>
                                        <p:strVal val="hidden"/>
                                      </p:to>
                                    </p:set>
                                  </p:childTnLst>
                                </p:cTn>
                              </p:par>
                              <p:par>
                                <p:cTn id="1544" presetID="10" presetClass="exit" presetSubtype="0" fill="hold" nodeType="withEffect">
                                  <p:stCondLst>
                                    <p:cond delay="0"/>
                                  </p:stCondLst>
                                  <p:childTnLst>
                                    <p:animEffect transition="out" filter="fade">
                                      <p:cBhvr>
                                        <p:cTn id="1545" dur="400"/>
                                        <p:tgtEl>
                                          <p:spTgt spid="10"/>
                                        </p:tgtEl>
                                      </p:cBhvr>
                                    </p:animEffect>
                                    <p:set>
                                      <p:cBhvr>
                                        <p:cTn id="1546" dur="1" fill="hold">
                                          <p:stCondLst>
                                            <p:cond delay="399"/>
                                          </p:stCondLst>
                                        </p:cTn>
                                        <p:tgtEl>
                                          <p:spTgt spid="10"/>
                                        </p:tgtEl>
                                        <p:attrNameLst>
                                          <p:attrName>style.visibility</p:attrName>
                                        </p:attrNameLst>
                                      </p:cBhvr>
                                      <p:to>
                                        <p:strVal val="hidden"/>
                                      </p:to>
                                    </p:set>
                                  </p:childTnLst>
                                </p:cTn>
                              </p:par>
                              <p:par>
                                <p:cTn id="1547" presetID="10" presetClass="exit" presetSubtype="0" fill="hold" nodeType="withEffect">
                                  <p:stCondLst>
                                    <p:cond delay="0"/>
                                  </p:stCondLst>
                                  <p:childTnLst>
                                    <p:animEffect transition="out" filter="fade">
                                      <p:cBhvr>
                                        <p:cTn id="1548" dur="400"/>
                                        <p:tgtEl>
                                          <p:spTgt spid="11"/>
                                        </p:tgtEl>
                                      </p:cBhvr>
                                    </p:animEffect>
                                    <p:set>
                                      <p:cBhvr>
                                        <p:cTn id="1549" dur="1" fill="hold">
                                          <p:stCondLst>
                                            <p:cond delay="399"/>
                                          </p:stCondLst>
                                        </p:cTn>
                                        <p:tgtEl>
                                          <p:spTgt spid="11"/>
                                        </p:tgtEl>
                                        <p:attrNameLst>
                                          <p:attrName>style.visibility</p:attrName>
                                        </p:attrNameLst>
                                      </p:cBhvr>
                                      <p:to>
                                        <p:strVal val="hidden"/>
                                      </p:to>
                                    </p:set>
                                  </p:childTnLst>
                                </p:cTn>
                              </p:par>
                              <p:par>
                                <p:cTn id="1550" presetID="10" presetClass="exit" presetSubtype="0" fill="hold" nodeType="withEffect">
                                  <p:stCondLst>
                                    <p:cond delay="0"/>
                                  </p:stCondLst>
                                  <p:childTnLst>
                                    <p:animEffect transition="out" filter="fade">
                                      <p:cBhvr>
                                        <p:cTn id="1551" dur="400"/>
                                        <p:tgtEl>
                                          <p:spTgt spid="12"/>
                                        </p:tgtEl>
                                      </p:cBhvr>
                                    </p:animEffect>
                                    <p:set>
                                      <p:cBhvr>
                                        <p:cTn id="1552" dur="1" fill="hold">
                                          <p:stCondLst>
                                            <p:cond delay="399"/>
                                          </p:stCondLst>
                                        </p:cTn>
                                        <p:tgtEl>
                                          <p:spTgt spid="12"/>
                                        </p:tgtEl>
                                        <p:attrNameLst>
                                          <p:attrName>style.visibility</p:attrName>
                                        </p:attrNameLst>
                                      </p:cBhvr>
                                      <p:to>
                                        <p:strVal val="hidden"/>
                                      </p:to>
                                    </p:set>
                                  </p:childTnLst>
                                </p:cTn>
                              </p:par>
                              <p:par>
                                <p:cTn id="1553" presetID="10" presetClass="exit" presetSubtype="0" fill="hold" nodeType="withEffect">
                                  <p:stCondLst>
                                    <p:cond delay="0"/>
                                  </p:stCondLst>
                                  <p:childTnLst>
                                    <p:animEffect transition="out" filter="fade">
                                      <p:cBhvr>
                                        <p:cTn id="1554" dur="400"/>
                                        <p:tgtEl>
                                          <p:spTgt spid="35"/>
                                        </p:tgtEl>
                                      </p:cBhvr>
                                    </p:animEffect>
                                    <p:set>
                                      <p:cBhvr>
                                        <p:cTn id="1555" dur="1" fill="hold">
                                          <p:stCondLst>
                                            <p:cond delay="399"/>
                                          </p:stCondLst>
                                        </p:cTn>
                                        <p:tgtEl>
                                          <p:spTgt spid="35"/>
                                        </p:tgtEl>
                                        <p:attrNameLst>
                                          <p:attrName>style.visibility</p:attrName>
                                        </p:attrNameLst>
                                      </p:cBhvr>
                                      <p:to>
                                        <p:strVal val="hidden"/>
                                      </p:to>
                                    </p:set>
                                  </p:childTnLst>
                                </p:cTn>
                              </p:par>
                              <p:par>
                                <p:cTn id="1556" presetID="10" presetClass="exit" presetSubtype="0" fill="hold" nodeType="withEffect">
                                  <p:stCondLst>
                                    <p:cond delay="0"/>
                                  </p:stCondLst>
                                  <p:childTnLst>
                                    <p:animEffect transition="out" filter="fade">
                                      <p:cBhvr>
                                        <p:cTn id="1557" dur="400"/>
                                        <p:tgtEl>
                                          <p:spTgt spid="36"/>
                                        </p:tgtEl>
                                      </p:cBhvr>
                                    </p:animEffect>
                                    <p:set>
                                      <p:cBhvr>
                                        <p:cTn id="1558" dur="1" fill="hold">
                                          <p:stCondLst>
                                            <p:cond delay="399"/>
                                          </p:stCondLst>
                                        </p:cTn>
                                        <p:tgtEl>
                                          <p:spTgt spid="36"/>
                                        </p:tgtEl>
                                        <p:attrNameLst>
                                          <p:attrName>style.visibility</p:attrName>
                                        </p:attrNameLst>
                                      </p:cBhvr>
                                      <p:to>
                                        <p:strVal val="hidden"/>
                                      </p:to>
                                    </p:set>
                                  </p:childTnLst>
                                </p:cTn>
                              </p:par>
                              <p:par>
                                <p:cTn id="1559" presetID="22" presetClass="entr" presetSubtype="8" fill="hold" nodeType="withEffect">
                                  <p:stCondLst>
                                    <p:cond delay="200"/>
                                  </p:stCondLst>
                                  <p:childTnLst>
                                    <p:set>
                                      <p:cBhvr>
                                        <p:cTn id="1560" dur="1" fill="hold">
                                          <p:stCondLst>
                                            <p:cond delay="0"/>
                                          </p:stCondLst>
                                        </p:cTn>
                                        <p:tgtEl>
                                          <p:spTgt spid="13"/>
                                        </p:tgtEl>
                                        <p:attrNameLst>
                                          <p:attrName>style.visibility</p:attrName>
                                        </p:attrNameLst>
                                      </p:cBhvr>
                                      <p:to>
                                        <p:strVal val="visible"/>
                                      </p:to>
                                    </p:set>
                                    <p:animEffect transition="in" filter="wipe(left)">
                                      <p:cBhvr>
                                        <p:cTn id="1561" dur="500"/>
                                        <p:tgtEl>
                                          <p:spTgt spid="13"/>
                                        </p:tgtEl>
                                      </p:cBhvr>
                                    </p:animEffect>
                                  </p:childTnLst>
                                </p:cTn>
                              </p:par>
                              <p:par>
                                <p:cTn id="1562" presetID="22" presetClass="entr" presetSubtype="8" fill="hold" nodeType="withEffect">
                                  <p:stCondLst>
                                    <p:cond delay="270"/>
                                  </p:stCondLst>
                                  <p:childTnLst>
                                    <p:set>
                                      <p:cBhvr>
                                        <p:cTn id="1563" dur="1" fill="hold">
                                          <p:stCondLst>
                                            <p:cond delay="0"/>
                                          </p:stCondLst>
                                        </p:cTn>
                                        <p:tgtEl>
                                          <p:spTgt spid="14"/>
                                        </p:tgtEl>
                                        <p:attrNameLst>
                                          <p:attrName>style.visibility</p:attrName>
                                        </p:attrNameLst>
                                      </p:cBhvr>
                                      <p:to>
                                        <p:strVal val="visible"/>
                                      </p:to>
                                    </p:set>
                                    <p:animEffect transition="in" filter="wipe(left)">
                                      <p:cBhvr>
                                        <p:cTn id="1564" dur="500"/>
                                        <p:tgtEl>
                                          <p:spTgt spid="14"/>
                                        </p:tgtEl>
                                      </p:cBhvr>
                                    </p:animEffect>
                                  </p:childTnLst>
                                </p:cTn>
                              </p:par>
                              <p:par>
                                <p:cTn id="1565" presetID="22" presetClass="entr" presetSubtype="8" fill="hold" nodeType="withEffect">
                                  <p:stCondLst>
                                    <p:cond delay="340"/>
                                  </p:stCondLst>
                                  <p:childTnLst>
                                    <p:set>
                                      <p:cBhvr>
                                        <p:cTn id="1566" dur="1" fill="hold">
                                          <p:stCondLst>
                                            <p:cond delay="0"/>
                                          </p:stCondLst>
                                        </p:cTn>
                                        <p:tgtEl>
                                          <p:spTgt spid="15"/>
                                        </p:tgtEl>
                                        <p:attrNameLst>
                                          <p:attrName>style.visibility</p:attrName>
                                        </p:attrNameLst>
                                      </p:cBhvr>
                                      <p:to>
                                        <p:strVal val="visible"/>
                                      </p:to>
                                    </p:set>
                                    <p:animEffect transition="in" filter="wipe(left)">
                                      <p:cBhvr>
                                        <p:cTn id="1567" dur="500"/>
                                        <p:tgtEl>
                                          <p:spTgt spid="15"/>
                                        </p:tgtEl>
                                      </p:cBhvr>
                                    </p:animEffect>
                                  </p:childTnLst>
                                </p:cTn>
                              </p:par>
                              <p:par>
                                <p:cTn id="1568" presetID="22" presetClass="entr" presetSubtype="8" fill="hold" nodeType="withEffect">
                                  <p:stCondLst>
                                    <p:cond delay="410"/>
                                  </p:stCondLst>
                                  <p:childTnLst>
                                    <p:set>
                                      <p:cBhvr>
                                        <p:cTn id="1569" dur="1" fill="hold">
                                          <p:stCondLst>
                                            <p:cond delay="0"/>
                                          </p:stCondLst>
                                        </p:cTn>
                                        <p:tgtEl>
                                          <p:spTgt spid="16"/>
                                        </p:tgtEl>
                                        <p:attrNameLst>
                                          <p:attrName>style.visibility</p:attrName>
                                        </p:attrNameLst>
                                      </p:cBhvr>
                                      <p:to>
                                        <p:strVal val="visible"/>
                                      </p:to>
                                    </p:set>
                                    <p:animEffect transition="in" filter="wipe(left)">
                                      <p:cBhvr>
                                        <p:cTn id="1570" dur="500"/>
                                        <p:tgtEl>
                                          <p:spTgt spid="16"/>
                                        </p:tgtEl>
                                      </p:cBhvr>
                                    </p:animEffect>
                                  </p:childTnLst>
                                </p:cTn>
                              </p:par>
                              <p:par>
                                <p:cTn id="1571" presetID="22" presetClass="entr" presetSubtype="8" fill="hold" nodeType="withEffect">
                                  <p:stCondLst>
                                    <p:cond delay="480"/>
                                  </p:stCondLst>
                                  <p:childTnLst>
                                    <p:set>
                                      <p:cBhvr>
                                        <p:cTn id="1572" dur="1" fill="hold">
                                          <p:stCondLst>
                                            <p:cond delay="0"/>
                                          </p:stCondLst>
                                        </p:cTn>
                                        <p:tgtEl>
                                          <p:spTgt spid="37"/>
                                        </p:tgtEl>
                                        <p:attrNameLst>
                                          <p:attrName>style.visibility</p:attrName>
                                        </p:attrNameLst>
                                      </p:cBhvr>
                                      <p:to>
                                        <p:strVal val="visible"/>
                                      </p:to>
                                    </p:set>
                                    <p:animEffect transition="in" filter="wipe(left)">
                                      <p:cBhvr>
                                        <p:cTn id="1573" dur="500"/>
                                        <p:tgtEl>
                                          <p:spTgt spid="37"/>
                                        </p:tgtEl>
                                      </p:cBhvr>
                                    </p:animEffect>
                                  </p:childTnLst>
                                </p:cTn>
                              </p:par>
                              <p:par>
                                <p:cTn id="1574" presetID="22" presetClass="entr" presetSubtype="8" fill="hold" nodeType="withEffect">
                                  <p:stCondLst>
                                    <p:cond delay="550"/>
                                  </p:stCondLst>
                                  <p:childTnLst>
                                    <p:set>
                                      <p:cBhvr>
                                        <p:cTn id="1575" dur="1" fill="hold">
                                          <p:stCondLst>
                                            <p:cond delay="0"/>
                                          </p:stCondLst>
                                        </p:cTn>
                                        <p:tgtEl>
                                          <p:spTgt spid="38"/>
                                        </p:tgtEl>
                                        <p:attrNameLst>
                                          <p:attrName>style.visibility</p:attrName>
                                        </p:attrNameLst>
                                      </p:cBhvr>
                                      <p:to>
                                        <p:strVal val="visible"/>
                                      </p:to>
                                    </p:set>
                                    <p:animEffect transition="in" filter="wipe(left)">
                                      <p:cBhvr>
                                        <p:cTn id="1576" dur="500"/>
                                        <p:tgtEl>
                                          <p:spTgt spid="38"/>
                                        </p:tgtEl>
                                      </p:cBhvr>
                                    </p:animEffect>
                                  </p:childTnLst>
                                </p:cTn>
                              </p:par>
                            </p:childTnLst>
                          </p:cTn>
                        </p:par>
                      </p:childTnLst>
                    </p:cTn>
                  </p:par>
                  <p:par>
                    <p:cTn id="1636" fill="hold">
                      <p:stCondLst>
                        <p:cond delay="indefinite"/>
                      </p:stCondLst>
                      <p:childTnLst>
                        <p:par>
                          <p:cTn id="1637" fill="hold">
                            <p:stCondLst>
                              <p:cond delay="0"/>
                            </p:stCondLst>
                            <p:childTnLst>
                              <p:par>
                                <p:cTn id="1579" presetID="10" presetClass="exit" presetSubtype="0" fill="hold" nodeType="clickEffect">
                                  <p:stCondLst>
                                    <p:cond delay="0"/>
                                  </p:stCondLst>
                                  <p:childTnLst>
                                    <p:animEffect transition="out" filter="fade">
                                      <p:cBhvr>
                                        <p:cTn id="1580" dur="400"/>
                                        <p:tgtEl>
                                          <p:spTgt spid="13"/>
                                        </p:tgtEl>
                                      </p:cBhvr>
                                    </p:animEffect>
                                    <p:set>
                                      <p:cBhvr>
                                        <p:cTn id="1581" dur="1" fill="hold">
                                          <p:stCondLst>
                                            <p:cond delay="399"/>
                                          </p:stCondLst>
                                        </p:cTn>
                                        <p:tgtEl>
                                          <p:spTgt spid="13"/>
                                        </p:tgtEl>
                                        <p:attrNameLst>
                                          <p:attrName>style.visibility</p:attrName>
                                        </p:attrNameLst>
                                      </p:cBhvr>
                                      <p:to>
                                        <p:strVal val="hidden"/>
                                      </p:to>
                                    </p:set>
                                  </p:childTnLst>
                                </p:cTn>
                              </p:par>
                              <p:par>
                                <p:cTn id="1582" presetID="10" presetClass="exit" presetSubtype="0" fill="hold" nodeType="withEffect">
                                  <p:stCondLst>
                                    <p:cond delay="0"/>
                                  </p:stCondLst>
                                  <p:childTnLst>
                                    <p:animEffect transition="out" filter="fade">
                                      <p:cBhvr>
                                        <p:cTn id="1583" dur="400"/>
                                        <p:tgtEl>
                                          <p:spTgt spid="14"/>
                                        </p:tgtEl>
                                      </p:cBhvr>
                                    </p:animEffect>
                                    <p:set>
                                      <p:cBhvr>
                                        <p:cTn id="1584" dur="1" fill="hold">
                                          <p:stCondLst>
                                            <p:cond delay="399"/>
                                          </p:stCondLst>
                                        </p:cTn>
                                        <p:tgtEl>
                                          <p:spTgt spid="14"/>
                                        </p:tgtEl>
                                        <p:attrNameLst>
                                          <p:attrName>style.visibility</p:attrName>
                                        </p:attrNameLst>
                                      </p:cBhvr>
                                      <p:to>
                                        <p:strVal val="hidden"/>
                                      </p:to>
                                    </p:set>
                                  </p:childTnLst>
                                </p:cTn>
                              </p:par>
                              <p:par>
                                <p:cTn id="1585" presetID="10" presetClass="exit" presetSubtype="0" fill="hold" nodeType="withEffect">
                                  <p:stCondLst>
                                    <p:cond delay="0"/>
                                  </p:stCondLst>
                                  <p:childTnLst>
                                    <p:animEffect transition="out" filter="fade">
                                      <p:cBhvr>
                                        <p:cTn id="1586" dur="400"/>
                                        <p:tgtEl>
                                          <p:spTgt spid="15"/>
                                        </p:tgtEl>
                                      </p:cBhvr>
                                    </p:animEffect>
                                    <p:set>
                                      <p:cBhvr>
                                        <p:cTn id="1587" dur="1" fill="hold">
                                          <p:stCondLst>
                                            <p:cond delay="399"/>
                                          </p:stCondLst>
                                        </p:cTn>
                                        <p:tgtEl>
                                          <p:spTgt spid="15"/>
                                        </p:tgtEl>
                                        <p:attrNameLst>
                                          <p:attrName>style.visibility</p:attrName>
                                        </p:attrNameLst>
                                      </p:cBhvr>
                                      <p:to>
                                        <p:strVal val="hidden"/>
                                      </p:to>
                                    </p:set>
                                  </p:childTnLst>
                                </p:cTn>
                              </p:par>
                              <p:par>
                                <p:cTn id="1588" presetID="10" presetClass="exit" presetSubtype="0" fill="hold" nodeType="withEffect">
                                  <p:stCondLst>
                                    <p:cond delay="0"/>
                                  </p:stCondLst>
                                  <p:childTnLst>
                                    <p:animEffect transition="out" filter="fade">
                                      <p:cBhvr>
                                        <p:cTn id="1589" dur="400"/>
                                        <p:tgtEl>
                                          <p:spTgt spid="16"/>
                                        </p:tgtEl>
                                      </p:cBhvr>
                                    </p:animEffect>
                                    <p:set>
                                      <p:cBhvr>
                                        <p:cTn id="1590" dur="1" fill="hold">
                                          <p:stCondLst>
                                            <p:cond delay="399"/>
                                          </p:stCondLst>
                                        </p:cTn>
                                        <p:tgtEl>
                                          <p:spTgt spid="16"/>
                                        </p:tgtEl>
                                        <p:attrNameLst>
                                          <p:attrName>style.visibility</p:attrName>
                                        </p:attrNameLst>
                                      </p:cBhvr>
                                      <p:to>
                                        <p:strVal val="hidden"/>
                                      </p:to>
                                    </p:set>
                                  </p:childTnLst>
                                </p:cTn>
                              </p:par>
                              <p:par>
                                <p:cTn id="1591" presetID="10" presetClass="exit" presetSubtype="0" fill="hold" nodeType="withEffect">
                                  <p:stCondLst>
                                    <p:cond delay="0"/>
                                  </p:stCondLst>
                                  <p:childTnLst>
                                    <p:animEffect transition="out" filter="fade">
                                      <p:cBhvr>
                                        <p:cTn id="1592" dur="400"/>
                                        <p:tgtEl>
                                          <p:spTgt spid="37"/>
                                        </p:tgtEl>
                                      </p:cBhvr>
                                    </p:animEffect>
                                    <p:set>
                                      <p:cBhvr>
                                        <p:cTn id="1593" dur="1" fill="hold">
                                          <p:stCondLst>
                                            <p:cond delay="399"/>
                                          </p:stCondLst>
                                        </p:cTn>
                                        <p:tgtEl>
                                          <p:spTgt spid="37"/>
                                        </p:tgtEl>
                                        <p:attrNameLst>
                                          <p:attrName>style.visibility</p:attrName>
                                        </p:attrNameLst>
                                      </p:cBhvr>
                                      <p:to>
                                        <p:strVal val="hidden"/>
                                      </p:to>
                                    </p:set>
                                  </p:childTnLst>
                                </p:cTn>
                              </p:par>
                              <p:par>
                                <p:cTn id="1594" presetID="10" presetClass="exit" presetSubtype="0" fill="hold" nodeType="withEffect">
                                  <p:stCondLst>
                                    <p:cond delay="0"/>
                                  </p:stCondLst>
                                  <p:childTnLst>
                                    <p:animEffect transition="out" filter="fade">
                                      <p:cBhvr>
                                        <p:cTn id="1595" dur="400"/>
                                        <p:tgtEl>
                                          <p:spTgt spid="38"/>
                                        </p:tgtEl>
                                      </p:cBhvr>
                                    </p:animEffect>
                                    <p:set>
                                      <p:cBhvr>
                                        <p:cTn id="1596" dur="1" fill="hold">
                                          <p:stCondLst>
                                            <p:cond delay="399"/>
                                          </p:stCondLst>
                                        </p:cTn>
                                        <p:tgtEl>
                                          <p:spTgt spid="38"/>
                                        </p:tgtEl>
                                        <p:attrNameLst>
                                          <p:attrName>style.visibility</p:attrName>
                                        </p:attrNameLst>
                                      </p:cBhvr>
                                      <p:to>
                                        <p:strVal val="hidden"/>
                                      </p:to>
                                    </p:set>
                                  </p:childTnLst>
                                </p:cTn>
                              </p:par>
                              <p:par>
                                <p:cTn id="1597" presetID="22" presetClass="entr" presetSubtype="4" fill="hold" nodeType="withEffect">
                                  <p:stCondLst>
                                    <p:cond delay="200"/>
                                  </p:stCondLst>
                                  <p:childTnLst>
                                    <p:set>
                                      <p:cBhvr>
                                        <p:cTn id="1598" dur="1" fill="hold">
                                          <p:stCondLst>
                                            <p:cond delay="0"/>
                                          </p:stCondLst>
                                        </p:cTn>
                                        <p:tgtEl>
                                          <p:spTgt spid="17"/>
                                        </p:tgtEl>
                                        <p:attrNameLst>
                                          <p:attrName>style.visibility</p:attrName>
                                        </p:attrNameLst>
                                      </p:cBhvr>
                                      <p:to>
                                        <p:strVal val="visible"/>
                                      </p:to>
                                    </p:set>
                                    <p:animEffect transition="in" filter="wipe(down)">
                                      <p:cBhvr>
                                        <p:cTn id="1599" dur="500"/>
                                        <p:tgtEl>
                                          <p:spTgt spid="17"/>
                                        </p:tgtEl>
                                      </p:cBhvr>
                                    </p:animEffect>
                                  </p:childTnLst>
                                </p:cTn>
                              </p:par>
                              <p:par>
                                <p:cTn id="1600" presetID="22" presetClass="entr" presetSubtype="4" fill="hold" nodeType="withEffect">
                                  <p:stCondLst>
                                    <p:cond delay="270"/>
                                  </p:stCondLst>
                                  <p:childTnLst>
                                    <p:set>
                                      <p:cBhvr>
                                        <p:cTn id="1601" dur="1" fill="hold">
                                          <p:stCondLst>
                                            <p:cond delay="0"/>
                                          </p:stCondLst>
                                        </p:cTn>
                                        <p:tgtEl>
                                          <p:spTgt spid="18"/>
                                        </p:tgtEl>
                                        <p:attrNameLst>
                                          <p:attrName>style.visibility</p:attrName>
                                        </p:attrNameLst>
                                      </p:cBhvr>
                                      <p:to>
                                        <p:strVal val="visible"/>
                                      </p:to>
                                    </p:set>
                                    <p:animEffect transition="in" filter="wipe(down)">
                                      <p:cBhvr>
                                        <p:cTn id="1602" dur="500"/>
                                        <p:tgtEl>
                                          <p:spTgt spid="18"/>
                                        </p:tgtEl>
                                      </p:cBhvr>
                                    </p:animEffect>
                                  </p:childTnLst>
                                </p:cTn>
                              </p:par>
                              <p:par>
                                <p:cTn id="1603" presetID="22" presetClass="entr" presetSubtype="4" fill="hold" nodeType="withEffect">
                                  <p:stCondLst>
                                    <p:cond delay="340"/>
                                  </p:stCondLst>
                                  <p:childTnLst>
                                    <p:set>
                                      <p:cBhvr>
                                        <p:cTn id="1604" dur="1" fill="hold">
                                          <p:stCondLst>
                                            <p:cond delay="0"/>
                                          </p:stCondLst>
                                        </p:cTn>
                                        <p:tgtEl>
                                          <p:spTgt spid="19"/>
                                        </p:tgtEl>
                                        <p:attrNameLst>
                                          <p:attrName>style.visibility</p:attrName>
                                        </p:attrNameLst>
                                      </p:cBhvr>
                                      <p:to>
                                        <p:strVal val="visible"/>
                                      </p:to>
                                    </p:set>
                                    <p:animEffect transition="in" filter="wipe(down)">
                                      <p:cBhvr>
                                        <p:cTn id="1605" dur="500"/>
                                        <p:tgtEl>
                                          <p:spTgt spid="19"/>
                                        </p:tgtEl>
                                      </p:cBhvr>
                                    </p:animEffect>
                                  </p:childTnLst>
                                </p:cTn>
                              </p:par>
                              <p:par>
                                <p:cTn id="1606" presetID="22" presetClass="entr" presetSubtype="4" fill="hold" nodeType="withEffect">
                                  <p:stCondLst>
                                    <p:cond delay="410"/>
                                  </p:stCondLst>
                                  <p:childTnLst>
                                    <p:set>
                                      <p:cBhvr>
                                        <p:cTn id="1607" dur="1" fill="hold">
                                          <p:stCondLst>
                                            <p:cond delay="0"/>
                                          </p:stCondLst>
                                        </p:cTn>
                                        <p:tgtEl>
                                          <p:spTgt spid="20"/>
                                        </p:tgtEl>
                                        <p:attrNameLst>
                                          <p:attrName>style.visibility</p:attrName>
                                        </p:attrNameLst>
                                      </p:cBhvr>
                                      <p:to>
                                        <p:strVal val="visible"/>
                                      </p:to>
                                    </p:set>
                                    <p:animEffect transition="in" filter="wipe(down)">
                                      <p:cBhvr>
                                        <p:cTn id="1608" dur="500"/>
                                        <p:tgtEl>
                                          <p:spTgt spid="20"/>
                                        </p:tgtEl>
                                      </p:cBhvr>
                                    </p:animEffect>
                                  </p:childTnLst>
                                </p:cTn>
                              </p:par>
                              <p:par>
                                <p:cTn id="1609" presetID="22" presetClass="entr" presetSubtype="4" fill="hold" nodeType="withEffect">
                                  <p:stCondLst>
                                    <p:cond delay="480"/>
                                  </p:stCondLst>
                                  <p:childTnLst>
                                    <p:set>
                                      <p:cBhvr>
                                        <p:cTn id="1610" dur="1" fill="hold">
                                          <p:stCondLst>
                                            <p:cond delay="0"/>
                                          </p:stCondLst>
                                        </p:cTn>
                                        <p:tgtEl>
                                          <p:spTgt spid="21"/>
                                        </p:tgtEl>
                                        <p:attrNameLst>
                                          <p:attrName>style.visibility</p:attrName>
                                        </p:attrNameLst>
                                      </p:cBhvr>
                                      <p:to>
                                        <p:strVal val="visible"/>
                                      </p:to>
                                    </p:set>
                                    <p:animEffect transition="in" filter="wipe(down)">
                                      <p:cBhvr>
                                        <p:cTn id="1611" dur="500"/>
                                        <p:tgtEl>
                                          <p:spTgt spid="21"/>
                                        </p:tgtEl>
                                      </p:cBhvr>
                                    </p:animEffect>
                                  </p:childTnLst>
                                </p:cTn>
                              </p:par>
                              <p:par>
                                <p:cTn id="1612" presetID="22" presetClass="entr" presetSubtype="4" fill="hold" nodeType="withEffect">
                                  <p:stCondLst>
                                    <p:cond delay="550"/>
                                  </p:stCondLst>
                                  <p:childTnLst>
                                    <p:set>
                                      <p:cBhvr>
                                        <p:cTn id="1613" dur="1" fill="hold">
                                          <p:stCondLst>
                                            <p:cond delay="0"/>
                                          </p:stCondLst>
                                        </p:cTn>
                                        <p:tgtEl>
                                          <p:spTgt spid="22"/>
                                        </p:tgtEl>
                                        <p:attrNameLst>
                                          <p:attrName>style.visibility</p:attrName>
                                        </p:attrNameLst>
                                      </p:cBhvr>
                                      <p:to>
                                        <p:strVal val="visible"/>
                                      </p:to>
                                    </p:set>
                                    <p:animEffect transition="in" filter="wipe(down)">
                                      <p:cBhvr>
                                        <p:cTn id="1614" dur="500"/>
                                        <p:tgtEl>
                                          <p:spTgt spid="22"/>
                                        </p:tgtEl>
                                      </p:cBhvr>
                                    </p:animEffect>
                                  </p:childTnLst>
                                </p:cTn>
                              </p:par>
                              <p:par>
                                <p:cTn id="1615" presetID="22" presetClass="entr" presetSubtype="4" fill="hold" nodeType="withEffect">
                                  <p:stCondLst>
                                    <p:cond delay="620"/>
                                  </p:stCondLst>
                                  <p:childTnLst>
                                    <p:set>
                                      <p:cBhvr>
                                        <p:cTn id="1616" dur="1" fill="hold">
                                          <p:stCondLst>
                                            <p:cond delay="0"/>
                                          </p:stCondLst>
                                        </p:cTn>
                                        <p:tgtEl>
                                          <p:spTgt spid="23"/>
                                        </p:tgtEl>
                                        <p:attrNameLst>
                                          <p:attrName>style.visibility</p:attrName>
                                        </p:attrNameLst>
                                      </p:cBhvr>
                                      <p:to>
                                        <p:strVal val="visible"/>
                                      </p:to>
                                    </p:set>
                                    <p:animEffect transition="in" filter="wipe(down)">
                                      <p:cBhvr>
                                        <p:cTn id="1617" dur="500"/>
                                        <p:tgtEl>
                                          <p:spTgt spid="23"/>
                                        </p:tgtEl>
                                      </p:cBhvr>
                                    </p:animEffect>
                                  </p:childTnLst>
                                </p:cTn>
                              </p:par>
                              <p:par>
                                <p:cTn id="1618" presetID="22" presetClass="entr" presetSubtype="4" fill="hold" nodeType="withEffect">
                                  <p:stCondLst>
                                    <p:cond delay="690"/>
                                  </p:stCondLst>
                                  <p:childTnLst>
                                    <p:set>
                                      <p:cBhvr>
                                        <p:cTn id="1619" dur="1" fill="hold">
                                          <p:stCondLst>
                                            <p:cond delay="0"/>
                                          </p:stCondLst>
                                        </p:cTn>
                                        <p:tgtEl>
                                          <p:spTgt spid="24"/>
                                        </p:tgtEl>
                                        <p:attrNameLst>
                                          <p:attrName>style.visibility</p:attrName>
                                        </p:attrNameLst>
                                      </p:cBhvr>
                                      <p:to>
                                        <p:strVal val="visible"/>
                                      </p:to>
                                    </p:set>
                                    <p:animEffect transition="in" filter="wipe(down)">
                                      <p:cBhvr>
                                        <p:cTn id="1620" dur="500"/>
                                        <p:tgtEl>
                                          <p:spTgt spid="24"/>
                                        </p:tgtEl>
                                      </p:cBhvr>
                                    </p:animEffect>
                                  </p:childTnLst>
                                </p:cTn>
                              </p:par>
                              <p:par>
                                <p:cTn id="1621" presetID="22" presetClass="entr" presetSubtype="4" fill="hold" nodeType="withEffect">
                                  <p:stCondLst>
                                    <p:cond delay="760"/>
                                  </p:stCondLst>
                                  <p:childTnLst>
                                    <p:set>
                                      <p:cBhvr>
                                        <p:cTn id="1622" dur="1" fill="hold">
                                          <p:stCondLst>
                                            <p:cond delay="0"/>
                                          </p:stCondLst>
                                        </p:cTn>
                                        <p:tgtEl>
                                          <p:spTgt spid="25"/>
                                        </p:tgtEl>
                                        <p:attrNameLst>
                                          <p:attrName>style.visibility</p:attrName>
                                        </p:attrNameLst>
                                      </p:cBhvr>
                                      <p:to>
                                        <p:strVal val="visible"/>
                                      </p:to>
                                    </p:set>
                                    <p:animEffect transition="in" filter="wipe(down)">
                                      <p:cBhvr>
                                        <p:cTn id="1623" dur="500"/>
                                        <p:tgtEl>
                                          <p:spTgt spid="25"/>
                                        </p:tgtEl>
                                      </p:cBhvr>
                                    </p:animEffect>
                                  </p:childTnLst>
                                </p:cTn>
                              </p:par>
                              <p:par>
                                <p:cTn id="1624" presetID="22" presetClass="entr" presetSubtype="4" fill="hold" nodeType="withEffect">
                                  <p:stCondLst>
                                    <p:cond delay="830"/>
                                  </p:stCondLst>
                                  <p:childTnLst>
                                    <p:set>
                                      <p:cBhvr>
                                        <p:cTn id="1625" dur="1" fill="hold">
                                          <p:stCondLst>
                                            <p:cond delay="0"/>
                                          </p:stCondLst>
                                        </p:cTn>
                                        <p:tgtEl>
                                          <p:spTgt spid="26"/>
                                        </p:tgtEl>
                                        <p:attrNameLst>
                                          <p:attrName>style.visibility</p:attrName>
                                        </p:attrNameLst>
                                      </p:cBhvr>
                                      <p:to>
                                        <p:strVal val="visible"/>
                                      </p:to>
                                    </p:set>
                                    <p:animEffect transition="in" filter="wipe(down)">
                                      <p:cBhvr>
                                        <p:cTn id="1626" dur="500"/>
                                        <p:tgtEl>
                                          <p:spTgt spid="26"/>
                                        </p:tgtEl>
                                      </p:cBhvr>
                                    </p:animEffect>
                                  </p:childTnLst>
                                </p:cTn>
                              </p:par>
                              <p:par>
                                <p:cTn id="1627" presetID="22" presetClass="entr" presetSubtype="4" fill="hold" nodeType="withEffect">
                                  <p:stCondLst>
                                    <p:cond delay="900"/>
                                  </p:stCondLst>
                                  <p:childTnLst>
                                    <p:set>
                                      <p:cBhvr>
                                        <p:cTn id="1628" dur="1" fill="hold">
                                          <p:stCondLst>
                                            <p:cond delay="0"/>
                                          </p:stCondLst>
                                        </p:cTn>
                                        <p:tgtEl>
                                          <p:spTgt spid="27"/>
                                        </p:tgtEl>
                                        <p:attrNameLst>
                                          <p:attrName>style.visibility</p:attrName>
                                        </p:attrNameLst>
                                      </p:cBhvr>
                                      <p:to>
                                        <p:strVal val="visible"/>
                                      </p:to>
                                    </p:set>
                                    <p:animEffect transition="in" filter="wipe(down)">
                                      <p:cBhvr>
                                        <p:cTn id="1629" dur="500"/>
                                        <p:tgtEl>
                                          <p:spTgt spid="27"/>
                                        </p:tgtEl>
                                      </p:cBhvr>
                                    </p:animEffect>
                                  </p:childTnLst>
                                </p:cTn>
                              </p:par>
                              <p:par>
                                <p:cTn id="1630" presetID="22" presetClass="entr" presetSubtype="4" fill="hold" nodeType="withEffect">
                                  <p:stCondLst>
                                    <p:cond delay="900"/>
                                  </p:stCondLst>
                                  <p:childTnLst>
                                    <p:set>
                                      <p:cBhvr>
                                        <p:cTn id="1631" dur="1" fill="hold">
                                          <p:stCondLst>
                                            <p:cond delay="0"/>
                                          </p:stCondLst>
                                        </p:cTn>
                                        <p:tgtEl>
                                          <p:spTgt spid="39"/>
                                        </p:tgtEl>
                                        <p:attrNameLst>
                                          <p:attrName>style.visibility</p:attrName>
                                        </p:attrNameLst>
                                      </p:cBhvr>
                                      <p:to>
                                        <p:strVal val="visible"/>
                                      </p:to>
                                    </p:set>
                                    <p:animEffect transition="in" filter="wipe(down)">
                                      <p:cBhvr>
                                        <p:cTn id="1632" dur="500"/>
                                        <p:tgtEl>
                                          <p:spTgt spid="39"/>
                                        </p:tgtEl>
                                      </p:cBhvr>
                                    </p:animEffect>
                                  </p:childTnLst>
                                </p:cTn>
                              </p:par>
                              <p:par>
                                <p:cTn id="1633" presetID="22" presetClass="entr" presetSubtype="4" fill="hold" nodeType="withEffect">
                                  <p:stCondLst>
                                    <p:cond delay="900"/>
                                  </p:stCondLst>
                                  <p:childTnLst>
                                    <p:set>
                                      <p:cBhvr>
                                        <p:cTn id="1634" dur="1" fill="hold">
                                          <p:stCondLst>
                                            <p:cond delay="0"/>
                                          </p:stCondLst>
                                        </p:cTn>
                                        <p:tgtEl>
                                          <p:spTgt spid="40"/>
                                        </p:tgtEl>
                                        <p:attrNameLst>
                                          <p:attrName>style.visibility</p:attrName>
                                        </p:attrNameLst>
                                      </p:cBhvr>
                                      <p:to>
                                        <p:strVal val="visible"/>
                                      </p:to>
                                    </p:set>
                                    <p:animEffect transition="in" filter="wipe(down)">
                                      <p:cBhvr>
                                        <p:cTn id="1635" dur="500"/>
                                        <p:tgtEl>
                                          <p:spTgt spid="40"/>
                                        </p:tgtEl>
                                      </p:cBhvr>
                                    </p:animEffect>
                                  </p:childTnLst>
                                </p:cTn>
                              </p:par>
                            </p:childTnLst>
                          </p:cTn>
                        </p:par>
                      </p:childTnLst>
                    </p:cTn>
                  </p:par>
                  <p:par>
                    <p:cTn id="1695" fill="hold">
                      <p:stCondLst>
                        <p:cond delay="indefinite"/>
                      </p:stCondLst>
                      <p:childTnLst>
                        <p:par>
                          <p:cTn id="1696" fill="hold">
                            <p:stCondLst>
                              <p:cond delay="0"/>
                            </p:stCondLst>
                            <p:childTnLst>
                              <p:par>
                                <p:cTn id="1638" presetID="10" presetClass="exit" presetSubtype="0" fill="hold" nodeType="clickEffect">
                                  <p:stCondLst>
                                    <p:cond delay="0"/>
                                  </p:stCondLst>
                                  <p:childTnLst>
                                    <p:animEffect transition="out" filter="fade">
                                      <p:cBhvr>
                                        <p:cTn id="1639" dur="400"/>
                                        <p:tgtEl>
                                          <p:spTgt spid="17"/>
                                        </p:tgtEl>
                                      </p:cBhvr>
                                    </p:animEffect>
                                    <p:set>
                                      <p:cBhvr>
                                        <p:cTn id="1640" dur="1" fill="hold">
                                          <p:stCondLst>
                                            <p:cond delay="399"/>
                                          </p:stCondLst>
                                        </p:cTn>
                                        <p:tgtEl>
                                          <p:spTgt spid="17"/>
                                        </p:tgtEl>
                                        <p:attrNameLst>
                                          <p:attrName>style.visibility</p:attrName>
                                        </p:attrNameLst>
                                      </p:cBhvr>
                                      <p:to>
                                        <p:strVal val="hidden"/>
                                      </p:to>
                                    </p:set>
                                  </p:childTnLst>
                                </p:cTn>
                              </p:par>
                              <p:par>
                                <p:cTn id="1641" presetID="10" presetClass="exit" presetSubtype="0" fill="hold" nodeType="withEffect">
                                  <p:stCondLst>
                                    <p:cond delay="0"/>
                                  </p:stCondLst>
                                  <p:childTnLst>
                                    <p:animEffect transition="out" filter="fade">
                                      <p:cBhvr>
                                        <p:cTn id="1642" dur="400"/>
                                        <p:tgtEl>
                                          <p:spTgt spid="18"/>
                                        </p:tgtEl>
                                      </p:cBhvr>
                                    </p:animEffect>
                                    <p:set>
                                      <p:cBhvr>
                                        <p:cTn id="1643" dur="1" fill="hold">
                                          <p:stCondLst>
                                            <p:cond delay="399"/>
                                          </p:stCondLst>
                                        </p:cTn>
                                        <p:tgtEl>
                                          <p:spTgt spid="18"/>
                                        </p:tgtEl>
                                        <p:attrNameLst>
                                          <p:attrName>style.visibility</p:attrName>
                                        </p:attrNameLst>
                                      </p:cBhvr>
                                      <p:to>
                                        <p:strVal val="hidden"/>
                                      </p:to>
                                    </p:set>
                                  </p:childTnLst>
                                </p:cTn>
                              </p:par>
                              <p:par>
                                <p:cTn id="1644" presetID="10" presetClass="exit" presetSubtype="0" fill="hold" nodeType="withEffect">
                                  <p:stCondLst>
                                    <p:cond delay="0"/>
                                  </p:stCondLst>
                                  <p:childTnLst>
                                    <p:animEffect transition="out" filter="fade">
                                      <p:cBhvr>
                                        <p:cTn id="1645" dur="400"/>
                                        <p:tgtEl>
                                          <p:spTgt spid="19"/>
                                        </p:tgtEl>
                                      </p:cBhvr>
                                    </p:animEffect>
                                    <p:set>
                                      <p:cBhvr>
                                        <p:cTn id="1646" dur="1" fill="hold">
                                          <p:stCondLst>
                                            <p:cond delay="399"/>
                                          </p:stCondLst>
                                        </p:cTn>
                                        <p:tgtEl>
                                          <p:spTgt spid="19"/>
                                        </p:tgtEl>
                                        <p:attrNameLst>
                                          <p:attrName>style.visibility</p:attrName>
                                        </p:attrNameLst>
                                      </p:cBhvr>
                                      <p:to>
                                        <p:strVal val="hidden"/>
                                      </p:to>
                                    </p:set>
                                  </p:childTnLst>
                                </p:cTn>
                              </p:par>
                              <p:par>
                                <p:cTn id="1647" presetID="10" presetClass="exit" presetSubtype="0" fill="hold" nodeType="withEffect">
                                  <p:stCondLst>
                                    <p:cond delay="0"/>
                                  </p:stCondLst>
                                  <p:childTnLst>
                                    <p:animEffect transition="out" filter="fade">
                                      <p:cBhvr>
                                        <p:cTn id="1648" dur="400"/>
                                        <p:tgtEl>
                                          <p:spTgt spid="20"/>
                                        </p:tgtEl>
                                      </p:cBhvr>
                                    </p:animEffect>
                                    <p:set>
                                      <p:cBhvr>
                                        <p:cTn id="1649" dur="1" fill="hold">
                                          <p:stCondLst>
                                            <p:cond delay="399"/>
                                          </p:stCondLst>
                                        </p:cTn>
                                        <p:tgtEl>
                                          <p:spTgt spid="20"/>
                                        </p:tgtEl>
                                        <p:attrNameLst>
                                          <p:attrName>style.visibility</p:attrName>
                                        </p:attrNameLst>
                                      </p:cBhvr>
                                      <p:to>
                                        <p:strVal val="hidden"/>
                                      </p:to>
                                    </p:set>
                                  </p:childTnLst>
                                </p:cTn>
                              </p:par>
                              <p:par>
                                <p:cTn id="1650" presetID="10" presetClass="exit" presetSubtype="0" fill="hold" nodeType="withEffect">
                                  <p:stCondLst>
                                    <p:cond delay="0"/>
                                  </p:stCondLst>
                                  <p:childTnLst>
                                    <p:animEffect transition="out" filter="fade">
                                      <p:cBhvr>
                                        <p:cTn id="1651" dur="400"/>
                                        <p:tgtEl>
                                          <p:spTgt spid="21"/>
                                        </p:tgtEl>
                                      </p:cBhvr>
                                    </p:animEffect>
                                    <p:set>
                                      <p:cBhvr>
                                        <p:cTn id="1652" dur="1" fill="hold">
                                          <p:stCondLst>
                                            <p:cond delay="399"/>
                                          </p:stCondLst>
                                        </p:cTn>
                                        <p:tgtEl>
                                          <p:spTgt spid="21"/>
                                        </p:tgtEl>
                                        <p:attrNameLst>
                                          <p:attrName>style.visibility</p:attrName>
                                        </p:attrNameLst>
                                      </p:cBhvr>
                                      <p:to>
                                        <p:strVal val="hidden"/>
                                      </p:to>
                                    </p:set>
                                  </p:childTnLst>
                                </p:cTn>
                              </p:par>
                              <p:par>
                                <p:cTn id="1653" presetID="10" presetClass="exit" presetSubtype="0" fill="hold" nodeType="withEffect">
                                  <p:stCondLst>
                                    <p:cond delay="0"/>
                                  </p:stCondLst>
                                  <p:childTnLst>
                                    <p:animEffect transition="out" filter="fade">
                                      <p:cBhvr>
                                        <p:cTn id="1654" dur="400"/>
                                        <p:tgtEl>
                                          <p:spTgt spid="22"/>
                                        </p:tgtEl>
                                      </p:cBhvr>
                                    </p:animEffect>
                                    <p:set>
                                      <p:cBhvr>
                                        <p:cTn id="1655" dur="1" fill="hold">
                                          <p:stCondLst>
                                            <p:cond delay="399"/>
                                          </p:stCondLst>
                                        </p:cTn>
                                        <p:tgtEl>
                                          <p:spTgt spid="22"/>
                                        </p:tgtEl>
                                        <p:attrNameLst>
                                          <p:attrName>style.visibility</p:attrName>
                                        </p:attrNameLst>
                                      </p:cBhvr>
                                      <p:to>
                                        <p:strVal val="hidden"/>
                                      </p:to>
                                    </p:set>
                                  </p:childTnLst>
                                </p:cTn>
                              </p:par>
                              <p:par>
                                <p:cTn id="1656" presetID="10" presetClass="exit" presetSubtype="0" fill="hold" nodeType="withEffect">
                                  <p:stCondLst>
                                    <p:cond delay="0"/>
                                  </p:stCondLst>
                                  <p:childTnLst>
                                    <p:animEffect transition="out" filter="fade">
                                      <p:cBhvr>
                                        <p:cTn id="1657" dur="400"/>
                                        <p:tgtEl>
                                          <p:spTgt spid="23"/>
                                        </p:tgtEl>
                                      </p:cBhvr>
                                    </p:animEffect>
                                    <p:set>
                                      <p:cBhvr>
                                        <p:cTn id="1658" dur="1" fill="hold">
                                          <p:stCondLst>
                                            <p:cond delay="399"/>
                                          </p:stCondLst>
                                        </p:cTn>
                                        <p:tgtEl>
                                          <p:spTgt spid="23"/>
                                        </p:tgtEl>
                                        <p:attrNameLst>
                                          <p:attrName>style.visibility</p:attrName>
                                        </p:attrNameLst>
                                      </p:cBhvr>
                                      <p:to>
                                        <p:strVal val="hidden"/>
                                      </p:to>
                                    </p:set>
                                  </p:childTnLst>
                                </p:cTn>
                              </p:par>
                              <p:par>
                                <p:cTn id="1659" presetID="10" presetClass="exit" presetSubtype="0" fill="hold" nodeType="withEffect">
                                  <p:stCondLst>
                                    <p:cond delay="0"/>
                                  </p:stCondLst>
                                  <p:childTnLst>
                                    <p:animEffect transition="out" filter="fade">
                                      <p:cBhvr>
                                        <p:cTn id="1660" dur="400"/>
                                        <p:tgtEl>
                                          <p:spTgt spid="24"/>
                                        </p:tgtEl>
                                      </p:cBhvr>
                                    </p:animEffect>
                                    <p:set>
                                      <p:cBhvr>
                                        <p:cTn id="1661" dur="1" fill="hold">
                                          <p:stCondLst>
                                            <p:cond delay="399"/>
                                          </p:stCondLst>
                                        </p:cTn>
                                        <p:tgtEl>
                                          <p:spTgt spid="24"/>
                                        </p:tgtEl>
                                        <p:attrNameLst>
                                          <p:attrName>style.visibility</p:attrName>
                                        </p:attrNameLst>
                                      </p:cBhvr>
                                      <p:to>
                                        <p:strVal val="hidden"/>
                                      </p:to>
                                    </p:set>
                                  </p:childTnLst>
                                </p:cTn>
                              </p:par>
                              <p:par>
                                <p:cTn id="1662" presetID="10" presetClass="exit" presetSubtype="0" fill="hold" nodeType="withEffect">
                                  <p:stCondLst>
                                    <p:cond delay="0"/>
                                  </p:stCondLst>
                                  <p:childTnLst>
                                    <p:animEffect transition="out" filter="fade">
                                      <p:cBhvr>
                                        <p:cTn id="1663" dur="400"/>
                                        <p:tgtEl>
                                          <p:spTgt spid="25"/>
                                        </p:tgtEl>
                                      </p:cBhvr>
                                    </p:animEffect>
                                    <p:set>
                                      <p:cBhvr>
                                        <p:cTn id="1664" dur="1" fill="hold">
                                          <p:stCondLst>
                                            <p:cond delay="399"/>
                                          </p:stCondLst>
                                        </p:cTn>
                                        <p:tgtEl>
                                          <p:spTgt spid="25"/>
                                        </p:tgtEl>
                                        <p:attrNameLst>
                                          <p:attrName>style.visibility</p:attrName>
                                        </p:attrNameLst>
                                      </p:cBhvr>
                                      <p:to>
                                        <p:strVal val="hidden"/>
                                      </p:to>
                                    </p:set>
                                  </p:childTnLst>
                                </p:cTn>
                              </p:par>
                              <p:par>
                                <p:cTn id="1665" presetID="10" presetClass="exit" presetSubtype="0" fill="hold" nodeType="withEffect">
                                  <p:stCondLst>
                                    <p:cond delay="0"/>
                                  </p:stCondLst>
                                  <p:childTnLst>
                                    <p:animEffect transition="out" filter="fade">
                                      <p:cBhvr>
                                        <p:cTn id="1666" dur="400"/>
                                        <p:tgtEl>
                                          <p:spTgt spid="26"/>
                                        </p:tgtEl>
                                      </p:cBhvr>
                                    </p:animEffect>
                                    <p:set>
                                      <p:cBhvr>
                                        <p:cTn id="1667" dur="1" fill="hold">
                                          <p:stCondLst>
                                            <p:cond delay="399"/>
                                          </p:stCondLst>
                                        </p:cTn>
                                        <p:tgtEl>
                                          <p:spTgt spid="26"/>
                                        </p:tgtEl>
                                        <p:attrNameLst>
                                          <p:attrName>style.visibility</p:attrName>
                                        </p:attrNameLst>
                                      </p:cBhvr>
                                      <p:to>
                                        <p:strVal val="hidden"/>
                                      </p:to>
                                    </p:set>
                                  </p:childTnLst>
                                </p:cTn>
                              </p:par>
                              <p:par>
                                <p:cTn id="1668" presetID="10" presetClass="exit" presetSubtype="0" fill="hold" nodeType="withEffect">
                                  <p:stCondLst>
                                    <p:cond delay="0"/>
                                  </p:stCondLst>
                                  <p:childTnLst>
                                    <p:animEffect transition="out" filter="fade">
                                      <p:cBhvr>
                                        <p:cTn id="1669" dur="400"/>
                                        <p:tgtEl>
                                          <p:spTgt spid="27"/>
                                        </p:tgtEl>
                                      </p:cBhvr>
                                    </p:animEffect>
                                    <p:set>
                                      <p:cBhvr>
                                        <p:cTn id="1670" dur="1" fill="hold">
                                          <p:stCondLst>
                                            <p:cond delay="399"/>
                                          </p:stCondLst>
                                        </p:cTn>
                                        <p:tgtEl>
                                          <p:spTgt spid="27"/>
                                        </p:tgtEl>
                                        <p:attrNameLst>
                                          <p:attrName>style.visibility</p:attrName>
                                        </p:attrNameLst>
                                      </p:cBhvr>
                                      <p:to>
                                        <p:strVal val="hidden"/>
                                      </p:to>
                                    </p:set>
                                  </p:childTnLst>
                                </p:cTn>
                              </p:par>
                              <p:par>
                                <p:cTn id="1671" presetID="10" presetClass="exit" presetSubtype="0" fill="hold" nodeType="withEffect">
                                  <p:stCondLst>
                                    <p:cond delay="0"/>
                                  </p:stCondLst>
                                  <p:childTnLst>
                                    <p:animEffect transition="out" filter="fade">
                                      <p:cBhvr>
                                        <p:cTn id="1672" dur="400"/>
                                        <p:tgtEl>
                                          <p:spTgt spid="39"/>
                                        </p:tgtEl>
                                      </p:cBhvr>
                                    </p:animEffect>
                                    <p:set>
                                      <p:cBhvr>
                                        <p:cTn id="1673" dur="1" fill="hold">
                                          <p:stCondLst>
                                            <p:cond delay="399"/>
                                          </p:stCondLst>
                                        </p:cTn>
                                        <p:tgtEl>
                                          <p:spTgt spid="39"/>
                                        </p:tgtEl>
                                        <p:attrNameLst>
                                          <p:attrName>style.visibility</p:attrName>
                                        </p:attrNameLst>
                                      </p:cBhvr>
                                      <p:to>
                                        <p:strVal val="hidden"/>
                                      </p:to>
                                    </p:set>
                                  </p:childTnLst>
                                </p:cTn>
                              </p:par>
                              <p:par>
                                <p:cTn id="1674" presetID="10" presetClass="exit" presetSubtype="0" fill="hold" nodeType="withEffect">
                                  <p:stCondLst>
                                    <p:cond delay="0"/>
                                  </p:stCondLst>
                                  <p:childTnLst>
                                    <p:animEffect transition="out" filter="fade">
                                      <p:cBhvr>
                                        <p:cTn id="1675" dur="400"/>
                                        <p:tgtEl>
                                          <p:spTgt spid="40"/>
                                        </p:tgtEl>
                                      </p:cBhvr>
                                    </p:animEffect>
                                    <p:set>
                                      <p:cBhvr>
                                        <p:cTn id="1676" dur="1" fill="hold">
                                          <p:stCondLst>
                                            <p:cond delay="399"/>
                                          </p:stCondLst>
                                        </p:cTn>
                                        <p:tgtEl>
                                          <p:spTgt spid="40"/>
                                        </p:tgtEl>
                                        <p:attrNameLst>
                                          <p:attrName>style.visibility</p:attrName>
                                        </p:attrNameLst>
                                      </p:cBhvr>
                                      <p:to>
                                        <p:strVal val="hidden"/>
                                      </p:to>
                                    </p:set>
                                  </p:childTnLst>
                                </p:cTn>
                              </p:par>
                              <p:par>
                                <p:cTn id="1677" presetID="10" presetClass="entr" presetSubtype="0" fill="hold" nodeType="withEffect">
                                  <p:stCondLst>
                                    <p:cond delay="200"/>
                                  </p:stCondLst>
                                  <p:childTnLst>
                                    <p:set>
                                      <p:cBhvr>
                                        <p:cTn id="1678" dur="1" fill="hold">
                                          <p:stCondLst>
                                            <p:cond delay="0"/>
                                          </p:stCondLst>
                                        </p:cTn>
                                        <p:tgtEl>
                                          <p:spTgt spid="28"/>
                                        </p:tgtEl>
                                        <p:attrNameLst>
                                          <p:attrName>style.visibility</p:attrName>
                                        </p:attrNameLst>
                                      </p:cBhvr>
                                      <p:to>
                                        <p:strVal val="visible"/>
                                      </p:to>
                                    </p:set>
                                    <p:animEffect transition="in" filter="fade">
                                      <p:cBhvr>
                                        <p:cTn id="1679" dur="500"/>
                                        <p:tgtEl>
                                          <p:spTgt spid="28"/>
                                        </p:tgtEl>
                                      </p:cBhvr>
                                    </p:animEffect>
                                  </p:childTnLst>
                                </p:cTn>
                              </p:par>
                              <p:par>
                                <p:cTn id="1680" presetID="10" presetClass="entr" presetSubtype="0" fill="hold" nodeType="withEffect">
                                  <p:stCondLst>
                                    <p:cond delay="270"/>
                                  </p:stCondLst>
                                  <p:childTnLst>
                                    <p:set>
                                      <p:cBhvr>
                                        <p:cTn id="1681" dur="1" fill="hold">
                                          <p:stCondLst>
                                            <p:cond delay="0"/>
                                          </p:stCondLst>
                                        </p:cTn>
                                        <p:tgtEl>
                                          <p:spTgt spid="29"/>
                                        </p:tgtEl>
                                        <p:attrNameLst>
                                          <p:attrName>style.visibility</p:attrName>
                                        </p:attrNameLst>
                                      </p:cBhvr>
                                      <p:to>
                                        <p:strVal val="visible"/>
                                      </p:to>
                                    </p:set>
                                    <p:animEffect transition="in" filter="fade">
                                      <p:cBhvr>
                                        <p:cTn id="1682" dur="500"/>
                                        <p:tgtEl>
                                          <p:spTgt spid="29"/>
                                        </p:tgtEl>
                                      </p:cBhvr>
                                    </p:animEffect>
                                  </p:childTnLst>
                                </p:cTn>
                              </p:par>
                              <p:par>
                                <p:cTn id="1683" presetID="10" presetClass="entr" presetSubtype="0" fill="hold" nodeType="withEffect">
                                  <p:stCondLst>
                                    <p:cond delay="340"/>
                                  </p:stCondLst>
                                  <p:childTnLst>
                                    <p:set>
                                      <p:cBhvr>
                                        <p:cTn id="1684" dur="1" fill="hold">
                                          <p:stCondLst>
                                            <p:cond delay="0"/>
                                          </p:stCondLst>
                                        </p:cTn>
                                        <p:tgtEl>
                                          <p:spTgt spid="30"/>
                                        </p:tgtEl>
                                        <p:attrNameLst>
                                          <p:attrName>style.visibility</p:attrName>
                                        </p:attrNameLst>
                                      </p:cBhvr>
                                      <p:to>
                                        <p:strVal val="visible"/>
                                      </p:to>
                                    </p:set>
                                    <p:animEffect transition="in" filter="fade">
                                      <p:cBhvr>
                                        <p:cTn id="1685" dur="500"/>
                                        <p:tgtEl>
                                          <p:spTgt spid="30"/>
                                        </p:tgtEl>
                                      </p:cBhvr>
                                    </p:animEffect>
                                  </p:childTnLst>
                                </p:cTn>
                              </p:par>
                              <p:par>
                                <p:cTn id="1686" presetID="10" presetClass="entr" presetSubtype="0" fill="hold" nodeType="withEffect">
                                  <p:stCondLst>
                                    <p:cond delay="410"/>
                                  </p:stCondLst>
                                  <p:childTnLst>
                                    <p:set>
                                      <p:cBhvr>
                                        <p:cTn id="1687" dur="1" fill="hold">
                                          <p:stCondLst>
                                            <p:cond delay="0"/>
                                          </p:stCondLst>
                                        </p:cTn>
                                        <p:tgtEl>
                                          <p:spTgt spid="31"/>
                                        </p:tgtEl>
                                        <p:attrNameLst>
                                          <p:attrName>style.visibility</p:attrName>
                                        </p:attrNameLst>
                                      </p:cBhvr>
                                      <p:to>
                                        <p:strVal val="visible"/>
                                      </p:to>
                                    </p:set>
                                    <p:animEffect transition="in" filter="fade">
                                      <p:cBhvr>
                                        <p:cTn id="1688" dur="500"/>
                                        <p:tgtEl>
                                          <p:spTgt spid="31"/>
                                        </p:tgtEl>
                                      </p:cBhvr>
                                    </p:animEffect>
                                  </p:childTnLst>
                                </p:cTn>
                              </p:par>
                              <p:par>
                                <p:cTn id="1689" presetID="10" presetClass="entr" presetSubtype="0" fill="hold" nodeType="withEffect">
                                  <p:stCondLst>
                                    <p:cond delay="480"/>
                                  </p:stCondLst>
                                  <p:childTnLst>
                                    <p:set>
                                      <p:cBhvr>
                                        <p:cTn id="1690" dur="1" fill="hold">
                                          <p:stCondLst>
                                            <p:cond delay="0"/>
                                          </p:stCondLst>
                                        </p:cTn>
                                        <p:tgtEl>
                                          <p:spTgt spid="41"/>
                                        </p:tgtEl>
                                        <p:attrNameLst>
                                          <p:attrName>style.visibility</p:attrName>
                                        </p:attrNameLst>
                                      </p:cBhvr>
                                      <p:to>
                                        <p:strVal val="visible"/>
                                      </p:to>
                                    </p:set>
                                    <p:animEffect transition="in" filter="fade">
                                      <p:cBhvr>
                                        <p:cTn id="1691" dur="500"/>
                                        <p:tgtEl>
                                          <p:spTgt spid="41"/>
                                        </p:tgtEl>
                                      </p:cBhvr>
                                    </p:animEffect>
                                  </p:childTnLst>
                                </p:cTn>
                              </p:par>
                              <p:par>
                                <p:cTn id="1692" presetID="10" presetClass="entr" presetSubtype="0" fill="hold" nodeType="withEffect">
                                  <p:stCondLst>
                                    <p:cond delay="550"/>
                                  </p:stCondLst>
                                  <p:childTnLst>
                                    <p:set>
                                      <p:cBhvr>
                                        <p:cTn id="1693" dur="1" fill="hold">
                                          <p:stCondLst>
                                            <p:cond delay="0"/>
                                          </p:stCondLst>
                                        </p:cTn>
                                        <p:tgtEl>
                                          <p:spTgt spid="42"/>
                                        </p:tgtEl>
                                        <p:attrNameLst>
                                          <p:attrName>style.visibility</p:attrName>
                                        </p:attrNameLst>
                                      </p:cBhvr>
                                      <p:to>
                                        <p:strVal val="visible"/>
                                      </p:to>
                                    </p:set>
                                    <p:animEffect transition="in" filter="fade">
                                      <p:cBhvr>
                                        <p:cTn id="169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Downhole y crosshole miden </a:t>
            </a:r>
            <mc:AlternateContent xmlns:mc="http://schemas.openxmlformats.org/markup-compatibility/2006">
              <mc:Choice xmlns:a14="http://schemas.microsoft.com/office/drawing/2010/main" Requires="a14">
                <a14:m>
                  <m:oMath xmlns:m="http://schemas.openxmlformats.org/officeDocument/2006/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oMath>
                </a14:m>
              </mc:Choice>
              <mc:Fallback>
                <a:r>
                  <a:rPr lang="en-US" sz="2200" b="1" dirty="0">
                    <a:solidFill>
                      <a:srgbClr val="1F4E79"/>
                    </a:solidFill>
                    <a:latin typeface="Arial" pitchFamily="34" charset="0"/>
                    <a:ea typeface="Arial" pitchFamily="34" charset="-122"/>
                    <a:cs typeface="Arial" pitchFamily="34" charset="-120"/>
                  </a:rPr>
                  <a:t>Vs</a:t>
                </a:r>
              </mc:Fallback>
            </mc:AlternateContent>
            <a:r>
              <a:rPr lang="en-US" sz="2200" b="1" dirty="0">
                <a:solidFill>
                  <a:srgbClr val="1F4E79"/>
                </a:solidFill>
                <a:latin typeface="Arial" pitchFamily="34" charset="0"/>
                <a:ea typeface="Arial" pitchFamily="34" charset="-122"/>
                <a:cs typeface="Arial" pitchFamily="34" charset="-120"/>
              </a:rPr>
              <a:t> de forma directa, pero exigen perforar</a:t>
            </a:r>
            <a:endParaRPr lang="en-US" sz="2200" dirty="0"/>
          </a:p>
        </p:txBody>
      </p:sp>
      <p:pic>
        <p:nvPicPr>
          <p:cNvPr id="3" name="Figura downhole [s0]" descr="Ensayo downhole: fuente sísmica en superficie, geófonos dentro del pozo, tres capas">    </p:cNvPr>
          <p:cNvPicPr>
            <a:picLocks noChangeAspect="1"/>
          </p:cNvPicPr>
          <p:nvPr/>
        </p:nvPicPr>
        <p:blipFill>
          <a:blip r:embed="rId1"/>
          <a:stretch>
            <a:fillRect/>
          </a:stretch>
        </p:blipFill>
        <p:spPr>
          <a:xfrm>
            <a:off x="410486" y="1526054"/>
            <a:ext cx="1969368" cy="1610139"/>
          </a:xfrm>
          <a:prstGeom prst="rect">
            <a:avLst/>
          </a:prstGeom>
        </p:spPr>
      </p:pic>
      <p:sp>
        <p:nvSpPr>
          <p:cNvPr id="4" name="Cuerpo [s0]"/>
          <p:cNvSpPr txBox="1"/>
          <p:nvPr/>
        </p:nvSpPr>
        <p:spPr>
          <a:xfrm>
            <a:off x="2512612" y="1615506"/>
            <a:ext cx="1923222" cy="1431235"/>
          </a:xfrm>
          <a:prstGeom prst="rect">
            <a:avLst/>
          </a:prstGeom>
          <a:noFill/>
          <a:ln/>
        </p:spPr>
        <p:txBody>
          <a:bodyPr wrap="square" lIns="0" tIns="0" rIns="0" bIns="0" rtlCol="0" anchor="t"/>
          <a:lstStyle/>
          <a:p>
            <a:pPr marL="342900" indent="-342900">
              <a:spcAft>
                <a:spcPts val="677"/>
              </a:spcAft>
              <a:buSzPct val="100000"/>
              <a:buChar char="•"/>
            </a:pPr>
            <a:r>
              <a:rPr lang="en-US" sz="1129" dirty="0">
                <a:solidFill>
                  <a:srgbClr val="2D2D2D"/>
                </a:solidFill>
                <a:latin typeface="Arial" pitchFamily="34" charset="0"/>
                <a:ea typeface="Arial" pitchFamily="34" charset="-122"/>
                <a:cs typeface="Arial" pitchFamily="34" charset="-120"/>
              </a:rPr>
              <a:t>Un solo pozo con geófonos a distintas profundidades</a:t>
            </a:r>
            <a:endParaRPr lang="en-US" sz="1129" dirty="0"/>
          </a:p>
          <a:p>
            <a:pPr marL="342900" indent="-342900">
              <a:spcAft>
                <a:spcPts val="677"/>
              </a:spcAft>
              <a:buSzPct val="100000"/>
              <a:buChar char="•"/>
            </a:pPr>
            <a:r>
              <a:rPr lang="en-US" sz="1129" dirty="0">
                <a:solidFill>
                  <a:srgbClr val="2D2D2D"/>
                </a:solidFill>
                <a:latin typeface="Arial" pitchFamily="34" charset="0"/>
                <a:ea typeface="Arial" pitchFamily="34" charset="-122"/>
                <a:cs typeface="Arial" pitchFamily="34" charset="-120"/>
              </a:rPr>
              <a:t>Una fuente golpea en superficie</a:t>
            </a:r>
            <a:endParaRPr lang="en-US" sz="1129" dirty="0"/>
          </a:p>
          <a:p>
            <a:pPr marL="342900" indent="-342900">
              <a:spcAft>
                <a:spcPts val="677"/>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129" i="1">
                            <a:latin typeface="Cambria Math" panose="02040503050406030204" pitchFamily="18" charset="0"/>
                          </a:rPr>
                        </m:ctrlPr>
                      </m:sSubPr>
                      <m:e>
                        <m:r>
                          <a:rPr lang="es-ES" sz="1129" i="1">
                            <a:solidFill>
                              <a:srgbClr val="2D2D2D"/>
                            </a:solidFill>
                            <a:latin typeface="Cambria Math" panose="02040503050406030204" pitchFamily="18" charset="0"/>
                          </a:rPr>
                          <m:t xml:space="preserve">V</m:t>
                        </m:r>
                      </m:e>
                      <m:sub>
                        <m:r>
                          <a:rPr lang="es-ES" sz="1129" i="1">
                            <a:solidFill>
                              <a:srgbClr val="2D2D2D"/>
                            </a:solidFill>
                            <a:latin typeface="Cambria Math" panose="02040503050406030204" pitchFamily="18" charset="0"/>
                          </a:rPr>
                          <m:t xml:space="preserve">s</m:t>
                        </m:r>
                      </m:sub>
                    </m:sSub>
                  </m:oMath>
                </a14:m>
              </mc:Choice>
              <mc:Fallback>
                <a:r>
                  <a:rPr lang="en-US" sz="1129" dirty="0">
                    <a:solidFill>
                      <a:srgbClr val="2D2D2D"/>
                    </a:solidFill>
                    <a:latin typeface="Arial" pitchFamily="34" charset="0"/>
                    <a:ea typeface="Arial" pitchFamily="34" charset="-122"/>
                    <a:cs typeface="Arial" pitchFamily="34" charset="-120"/>
                  </a:rPr>
                  <a:t>Vs</a:t>
                </a:r>
              </mc:Fallback>
            </mc:AlternateContent>
            <a:r>
              <a:rPr lang="en-US" sz="1129" dirty="0">
                <a:solidFill>
                  <a:srgbClr val="2D2D2D"/>
                </a:solidFill>
                <a:latin typeface="Arial" pitchFamily="34" charset="0"/>
                <a:ea typeface="Arial" pitchFamily="34" charset="-122"/>
                <a:cs typeface="Arial" pitchFamily="34" charset="-120"/>
              </a:rPr>
              <a:t> de cada tramo: distancia entre geófonos sobre diferencia de tiempos</a:t>
            </a:r>
            <a:endParaRPr lang="en-US" sz="1129" dirty="0"/>
          </a:p>
        </p:txBody>
      </p:sp>
      <p:pic>
        <p:nvPicPr>
          <p:cNvPr id="5" name="Figura crosshole [s0]" descr="Ensayo crosshole: fuente en un pozo, receptor en otro, distancia Δx">    </p:cNvPr>
          <p:cNvPicPr>
            <a:picLocks noChangeAspect="1"/>
          </p:cNvPicPr>
          <p:nvPr/>
        </p:nvPicPr>
        <p:blipFill>
          <a:blip r:embed="rId2"/>
          <a:stretch>
            <a:fillRect/>
          </a:stretch>
        </p:blipFill>
        <p:spPr>
          <a:xfrm>
            <a:off x="4708166" y="1548417"/>
            <a:ext cx="2415209" cy="1487197"/>
          </a:xfrm>
          <a:prstGeom prst="rect">
            <a:avLst/>
          </a:prstGeom>
        </p:spPr>
      </p:pic>
      <p:sp>
        <p:nvSpPr>
          <p:cNvPr id="6" name="Cuerpo [s0]"/>
          <p:cNvSpPr txBox="1"/>
          <p:nvPr/>
        </p:nvSpPr>
        <p:spPr>
          <a:xfrm>
            <a:off x="7257553" y="1615506"/>
            <a:ext cx="1475961" cy="894522"/>
          </a:xfrm>
          <a:prstGeom prst="rect">
            <a:avLst/>
          </a:prstGeom>
          <a:noFill/>
          <a:ln/>
        </p:spPr>
        <p:txBody>
          <a:bodyPr wrap="square" lIns="0" tIns="0" rIns="0" bIns="0" rtlCol="0" anchor="t"/>
          <a:lstStyle/>
          <a:p>
            <a:pPr marL="342900" indent="-342900">
              <a:spcAft>
                <a:spcPts val="677"/>
              </a:spcAft>
              <a:buSzPct val="100000"/>
              <a:buChar char="•"/>
            </a:pPr>
            <a:r>
              <a:rPr lang="en-US" sz="1016" dirty="0">
                <a:solidFill>
                  <a:srgbClr val="2D2D2D"/>
                </a:solidFill>
                <a:latin typeface="Arial" pitchFamily="34" charset="0"/>
                <a:ea typeface="Arial" pitchFamily="34" charset="-122"/>
                <a:cs typeface="Arial" pitchFamily="34" charset="-120"/>
              </a:rPr>
              <a:t>Dos pozos o más, a distancia </a:t>
            </a:r>
            <mc:AlternateContent xmlns:mc="http://schemas.openxmlformats.org/markup-compatibility/2006">
              <mc:Choice xmlns:a14="http://schemas.microsoft.com/office/drawing/2010/main" Requires="a14">
                <a14:m>
                  <m:oMath xmlns:m="http://schemas.openxmlformats.org/officeDocument/2006/math">
                    <m:r>
                      <a:rPr lang="es-ES" sz="1016" i="1">
                        <a:solidFill>
                          <a:srgbClr val="2D2D2D"/>
                        </a:solidFill>
                        <a:latin typeface="Cambria Math" panose="02040503050406030204" pitchFamily="18" charset="0"/>
                      </a:rPr>
                      <m:t xml:space="preserve">Δ</m:t>
                    </m:r>
                    <m:r>
                      <a:rPr lang="es-ES" sz="1016" i="1">
                        <a:solidFill>
                          <a:srgbClr val="2D2D2D"/>
                        </a:solidFill>
                        <a:latin typeface="Cambria Math" panose="02040503050406030204" pitchFamily="18" charset="0"/>
                      </a:rPr>
                      <m:t xml:space="preserve">x</m:t>
                    </m:r>
                  </m:oMath>
                </a14:m>
              </mc:Choice>
              <mc:Fallback>
                <a:r>
                  <a:rPr lang="en-US" sz="1016" dirty="0">
                    <a:solidFill>
                      <a:srgbClr val="2D2D2D"/>
                    </a:solidFill>
                    <a:latin typeface="Arial" pitchFamily="34" charset="0"/>
                    <a:ea typeface="Arial" pitchFamily="34" charset="-122"/>
                    <a:cs typeface="Arial" pitchFamily="34" charset="-120"/>
                  </a:rPr>
                  <a:t>Δx</a:t>
                </a:r>
              </mc:Fallback>
            </mc:AlternateContent>
            <a:r>
              <a:rPr lang="en-US" sz="1016" dirty="0">
                <a:solidFill>
                  <a:srgbClr val="2D2D2D"/>
                </a:solidFill>
                <a:latin typeface="Arial" pitchFamily="34" charset="0"/>
                <a:ea typeface="Arial" pitchFamily="34" charset="-122"/>
                <a:cs typeface="Arial" pitchFamily="34" charset="-120"/>
              </a:rPr>
              <a:t> conocida</a:t>
            </a:r>
            <a:endParaRPr lang="en-US" sz="1016" dirty="0"/>
          </a:p>
          <a:p>
            <a:pPr marL="342900" indent="-342900">
              <a:spcAft>
                <a:spcPts val="677"/>
              </a:spcAft>
              <a:buSzPct val="100000"/>
              <a:buChar char="•"/>
            </a:pPr>
            <a:r>
              <a:rPr lang="en-US" sz="1016" dirty="0">
                <a:solidFill>
                  <a:srgbClr val="2D2D2D"/>
                </a:solidFill>
                <a:latin typeface="Arial" pitchFamily="34" charset="0"/>
                <a:ea typeface="Arial" pitchFamily="34" charset="-122"/>
                <a:cs typeface="Arial" pitchFamily="34" charset="-120"/>
              </a:rPr>
              <a:t>La onda S viaja en horizontal por una sola capa</a:t>
            </a:r>
            <a:endParaRPr lang="en-US" sz="1016" dirty="0"/>
          </a:p>
        </p:txBody>
      </p:sp>
      <p:sp>
        <p:nvSpPr>
          <p:cNvPr id="7" name="Fondo Vs [s0]"/>
          <p:cNvSpPr/>
          <p:nvPr/>
        </p:nvSpPr>
        <p:spPr>
          <a:xfrm>
            <a:off x="7257553" y="2532391"/>
            <a:ext cx="1475961" cy="38017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8" name="Ecuación E_vsdx [s0]"/>
              <p:cNvSpPr txBox="1"/>
              <p:nvPr/>
            </p:nvSpPr>
            <p:spPr>
              <a:xfrm>
                <a:off x="7257553" y="2532391"/>
                <a:ext cx="1475961" cy="38017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1600" i="1">
                              <a:latin typeface="Cambria Math" panose="02040503050406030204" pitchFamily="18" charset="0"/>
                            </a:rPr>
                          </m:ctrlPr>
                        </m:sSubPr>
                        <m:e>
                          <m:r>
                            <a:rPr lang="es-ES" sz="1600" i="1">
                              <a:solidFill>
                                <a:srgbClr val="1F4E79"/>
                              </a:solidFill>
                              <a:latin typeface="Cambria Math" panose="02040503050406030204" pitchFamily="18" charset="0"/>
                            </a:rPr>
                            <m:t xml:space="preserve">V</m:t>
                          </m:r>
                        </m:e>
                        <m:sub>
                          <m:r>
                            <a:rPr lang="es-ES" sz="1600" i="1">
                              <a:solidFill>
                                <a:srgbClr val="1F4E79"/>
                              </a:solidFill>
                              <a:latin typeface="Cambria Math" panose="02040503050406030204" pitchFamily="18" charset="0"/>
                            </a:rPr>
                            <m:t xml:space="preserve">s</m:t>
                          </m:r>
                        </m:sub>
                      </m:sSub>
                      <m:r>
                        <a:rPr lang="es-ES" sz="1600" i="1">
                          <a:solidFill>
                            <a:srgbClr val="1F4E79"/>
                          </a:solidFill>
                          <a:latin typeface="Cambria Math" panose="02040503050406030204" pitchFamily="18" charset="0"/>
                        </a:rPr>
                        <m:t xml:space="preserve">=</m:t>
                      </m:r>
                      <m:f>
                        <m:fPr>
                          <m:ctrlPr>
                            <a:rPr lang="es-ES" sz="1600" i="1">
                              <a:latin typeface="Cambria Math" panose="02040503050406030204" pitchFamily="18" charset="0"/>
                            </a:rPr>
                          </m:ctrlPr>
                        </m:fPr>
                        <m:num>
                          <m:r>
                            <a:rPr lang="es-ES" sz="1600" i="1">
                              <a:solidFill>
                                <a:srgbClr val="1F4E79"/>
                              </a:solidFill>
                              <a:latin typeface="Cambria Math" panose="02040503050406030204" pitchFamily="18" charset="0"/>
                            </a:rPr>
                            <m:t xml:space="preserve">Δx</m:t>
                          </m:r>
                        </m:num>
                        <m:den>
                          <m:r>
                            <a:rPr lang="es-ES" sz="1600" i="1">
                              <a:solidFill>
                                <a:srgbClr val="1F4E79"/>
                              </a:solidFill>
                              <a:latin typeface="Cambria Math" panose="02040503050406030204" pitchFamily="18" charset="0"/>
                            </a:rPr>
                            <m:t xml:space="preserve">Δt</m:t>
                          </m:r>
                        </m:den>
                      </m:f>
                    </m:oMath>
                  </m:oMathPara>
                </a14:m>
                <a:endParaRPr lang="es-ES"/>
              </a:p>
            </p:txBody>
          </p:sp>
        </mc:Choice>
        <mc:Fallback>
          <p:sp>
            <p:nvSpPr>
              <p:cNvPr id="8" name="Ecuación E_vsdx [s0]"/>
              <p:cNvSpPr txBox="1"/>
              <p:nvPr/>
            </p:nvSpPr>
            <p:spPr>
              <a:xfrm>
                <a:off x="7257553" y="2532391"/>
                <a:ext cx="1475961" cy="380172"/>
              </a:xfrm>
              <a:prstGeom prst="rect">
                <a:avLst/>
              </a:prstGeom>
              <a:noFill/>
              <a:ln/>
            </p:spPr>
            <p:txBody>
              <a:bodyPr wrap="square" lIns="0" tIns="0" rIns="0" bIns="0" rtlCol="0" anchor="ctr"/>
              <a:lstStyle/>
              <a:p>
                <a:pPr algn="ctr" indent="0" marL="0">
                  <a:buNone/>
                </a:pPr>
                <a:r>
                  <a:rPr lang="en-US" sz="1354" dirty="0">
                    <a:solidFill>
                      <a:srgbClr val="1F4E79"/>
                    </a:solidFill>
                    <a:latin typeface="Arial" pitchFamily="34" charset="0"/>
                    <a:ea typeface="Arial" pitchFamily="34" charset="-122"/>
                    <a:cs typeface="Arial" pitchFamily="34" charset="-120"/>
                  </a:rPr>
                  <a:t>Vs = Δx / Δt</a:t>
                </a:r>
                <a:endParaRPr lang="en-US" sz="1354" dirty="0"/>
              </a:p>
            </p:txBody>
          </p:sp>
        </mc:Fallback>
      </mc:AlternateContent>
      <p:pic>
        <p:nvPicPr>
          <p:cNvPr id="9" name="Downhole pequeña [s1]" descr="Downhole">    </p:cNvPr>
          <p:cNvPicPr>
            <a:picLocks noChangeAspect="1"/>
          </p:cNvPicPr>
          <p:nvPr/>
        </p:nvPicPr>
        <p:blipFill>
          <a:blip r:embed="rId3"/>
          <a:stretch>
            <a:fillRect/>
          </a:stretch>
        </p:blipFill>
        <p:spPr>
          <a:xfrm>
            <a:off x="966136" y="1561458"/>
            <a:ext cx="1682737" cy="1375838"/>
          </a:xfrm>
          <a:prstGeom prst="rect">
            <a:avLst/>
          </a:prstGeom>
        </p:spPr>
      </p:pic>
      <p:sp>
        <p:nvSpPr>
          <p:cNvPr id="10" name="Elemento [s1]"/>
          <p:cNvSpPr txBox="1"/>
          <p:nvPr/>
        </p:nvSpPr>
        <p:spPr>
          <a:xfrm>
            <a:off x="2809133" y="1561458"/>
            <a:ext cx="1602606" cy="1375838"/>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Downhole</a:t>
            </a:r>
            <a:endParaRPr lang="en-US" sz="1800" dirty="0"/>
          </a:p>
        </p:txBody>
      </p:sp>
      <p:sp>
        <p:nvSpPr>
          <p:cNvPr id="11" name="Cuerpo Downhole [s1]"/>
          <p:cNvSpPr txBox="1"/>
          <p:nvPr/>
        </p:nvSpPr>
        <p:spPr>
          <a:xfrm>
            <a:off x="966136" y="3097556"/>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Un solo pozo</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Perfil de </a:t>
            </a: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V</m:t>
                        </m:r>
                      </m:e>
                      <m:sub>
                        <m:r>
                          <a:rPr lang="es-ES" sz="1620" i="1">
                            <a:solidFill>
                              <a:srgbClr val="2D2D2D"/>
                            </a:solidFill>
                            <a:latin typeface="Cambria Math" panose="02040503050406030204" pitchFamily="18" charset="0"/>
                          </a:rPr>
                          <m:t xml:space="preserve">s</m:t>
                        </m:r>
                      </m:sub>
                    </m:sSub>
                  </m:oMath>
                </a14:m>
              </mc:Choice>
              <mc:Fallback>
                <a:r>
                  <a:rPr lang="en-US" sz="1620" dirty="0">
                    <a:solidFill>
                      <a:srgbClr val="2D2D2D"/>
                    </a:solidFill>
                    <a:latin typeface="Arial" pitchFamily="34" charset="0"/>
                    <a:ea typeface="Arial" pitchFamily="34" charset="-122"/>
                    <a:cs typeface="Arial" pitchFamily="34" charset="-120"/>
                  </a:rPr>
                  <a:t>Vs</a:t>
                </a:r>
              </mc:Fallback>
            </mc:AlternateContent>
            <a:r>
              <a:rPr lang="en-US" sz="1620" dirty="0">
                <a:solidFill>
                  <a:srgbClr val="2D2D2D"/>
                </a:solidFill>
                <a:latin typeface="Arial" pitchFamily="34" charset="0"/>
                <a:ea typeface="Arial" pitchFamily="34" charset="-122"/>
                <a:cs typeface="Arial" pitchFamily="34" charset="-120"/>
              </a:rPr>
              <a:t> con la profundidad</a:t>
            </a:r>
            <a:endParaRPr lang="en-US" sz="1620" dirty="0"/>
          </a:p>
        </p:txBody>
      </p:sp>
      <p:pic>
        <p:nvPicPr>
          <p:cNvPr id="12" name="Crosshole pequeña [s1]" descr="Crosshole">    </p:cNvPr>
          <p:cNvPicPr>
            <a:picLocks noChangeAspect="1"/>
          </p:cNvPicPr>
          <p:nvPr/>
        </p:nvPicPr>
        <p:blipFill>
          <a:blip r:embed="rId4"/>
          <a:stretch>
            <a:fillRect/>
          </a:stretch>
        </p:blipFill>
        <p:spPr>
          <a:xfrm>
            <a:off x="4732261" y="1561458"/>
            <a:ext cx="2083388" cy="1282085"/>
          </a:xfrm>
          <a:prstGeom prst="rect">
            <a:avLst/>
          </a:prstGeom>
        </p:spPr>
      </p:pic>
      <p:sp>
        <p:nvSpPr>
          <p:cNvPr id="13" name="Elemento [s1]"/>
          <p:cNvSpPr txBox="1"/>
          <p:nvPr/>
        </p:nvSpPr>
        <p:spPr>
          <a:xfrm>
            <a:off x="6975909" y="1561458"/>
            <a:ext cx="1201955" cy="1282085"/>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Crosshole</a:t>
            </a:r>
            <a:endParaRPr lang="en-US" sz="1800" dirty="0"/>
          </a:p>
        </p:txBody>
      </p:sp>
      <p:sp>
        <p:nvSpPr>
          <p:cNvPr id="14" name="Cuerpo Crosshole [s1]"/>
          <p:cNvSpPr txBox="1"/>
          <p:nvPr/>
        </p:nvSpPr>
        <p:spPr>
          <a:xfrm>
            <a:off x="4732261" y="3003804"/>
            <a:ext cx="3445604" cy="1602606"/>
          </a:xfrm>
          <a:prstGeom prst="rect">
            <a:avLst/>
          </a:prstGeom>
          <a:noFill/>
          <a:ln/>
        </p:spPr>
        <p:txBody>
          <a:bodyPr wrap="square" lIns="0" tIns="0" rIns="0" bIns="0" rtlCol="0" anchor="t"/>
          <a:lstStyle/>
          <a:p>
            <a:pPr marL="342900" indent="-342900">
              <a:spcAft>
                <a:spcPts val="72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2D2D2D"/>
                            </a:solidFill>
                            <a:latin typeface="Cambria Math" panose="02040503050406030204" pitchFamily="18" charset="0"/>
                          </a:rPr>
                          <m:t xml:space="preserve">V</m:t>
                        </m:r>
                      </m:e>
                      <m:sub>
                        <m:r>
                          <a:rPr lang="es-ES" sz="1620" i="1">
                            <a:solidFill>
                              <a:srgbClr val="2D2D2D"/>
                            </a:solidFill>
                            <a:latin typeface="Cambria Math" panose="02040503050406030204" pitchFamily="18" charset="0"/>
                          </a:rPr>
                          <m:t xml:space="preserve">s</m:t>
                        </m:r>
                      </m:sub>
                    </m:sSub>
                  </m:oMath>
                </a14:m>
              </mc:Choice>
              <mc:Fallback>
                <a:r>
                  <a:rPr lang="en-US" sz="1620" dirty="0">
                    <a:solidFill>
                      <a:srgbClr val="2D2D2D"/>
                    </a:solidFill>
                    <a:latin typeface="Arial" pitchFamily="34" charset="0"/>
                    <a:ea typeface="Arial" pitchFamily="34" charset="-122"/>
                    <a:cs typeface="Arial" pitchFamily="34" charset="-120"/>
                  </a:rPr>
                  <a:t>Vs</a:t>
                </a:r>
              </mc:Fallback>
            </mc:AlternateContent>
            <a:r>
              <a:rPr lang="en-US" sz="1620" dirty="0">
                <a:solidFill>
                  <a:srgbClr val="2D2D2D"/>
                </a:solidFill>
                <a:latin typeface="Arial" pitchFamily="34" charset="0"/>
                <a:ea typeface="Arial" pitchFamily="34" charset="-122"/>
                <a:cs typeface="Arial" pitchFamily="34" charset="-120"/>
              </a:rPr>
              <a:t> de capas individuales a profundidad conocida</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Mejor resolución vertical</a:t>
            </a:r>
            <a:endParaRPr lang="en-US" sz="1620" dirty="0"/>
          </a:p>
        </p:txBody>
      </p:sp>
      <p:pic>
        <p:nvPicPr>
          <p:cNvPr id="15" name="Downhole pequeña [s2]" descr="Downhole">    </p:cNvPr>
          <p:cNvPicPr>
            <a:picLocks noChangeAspect="1"/>
          </p:cNvPicPr>
          <p:nvPr/>
        </p:nvPicPr>
        <p:blipFill>
          <a:blip r:embed="rId5"/>
          <a:stretch>
            <a:fillRect/>
          </a:stretch>
        </p:blipFill>
        <p:spPr>
          <a:xfrm>
            <a:off x="966136" y="1561458"/>
            <a:ext cx="1682737" cy="1375838"/>
          </a:xfrm>
          <a:prstGeom prst="rect">
            <a:avLst/>
          </a:prstGeom>
        </p:spPr>
      </p:pic>
      <p:sp>
        <p:nvSpPr>
          <p:cNvPr id="16" name="Elemento [s2]"/>
          <p:cNvSpPr txBox="1"/>
          <p:nvPr/>
        </p:nvSpPr>
        <p:spPr>
          <a:xfrm>
            <a:off x="2809133" y="1561458"/>
            <a:ext cx="1602606" cy="1375838"/>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Downhole</a:t>
            </a:r>
            <a:endParaRPr lang="en-US" sz="1800" dirty="0"/>
          </a:p>
        </p:txBody>
      </p:sp>
      <p:sp>
        <p:nvSpPr>
          <p:cNvPr id="17" name="Cuerpo Downhole [s2]"/>
          <p:cNvSpPr txBox="1"/>
          <p:nvPr/>
        </p:nvSpPr>
        <p:spPr>
          <a:xfrm>
            <a:off x="966136" y="3097556"/>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Menor resolución vertical</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Requiere perforar y entubar</a:t>
            </a:r>
            <a:endParaRPr lang="en-US" sz="1620" dirty="0"/>
          </a:p>
        </p:txBody>
      </p:sp>
      <p:pic>
        <p:nvPicPr>
          <p:cNvPr id="18" name="Crosshole pequeña [s2]" descr="Crosshole">    </p:cNvPr>
          <p:cNvPicPr>
            <a:picLocks noChangeAspect="1"/>
          </p:cNvPicPr>
          <p:nvPr/>
        </p:nvPicPr>
        <p:blipFill>
          <a:blip r:embed="rId6"/>
          <a:stretch>
            <a:fillRect/>
          </a:stretch>
        </p:blipFill>
        <p:spPr>
          <a:xfrm>
            <a:off x="4732261" y="1561458"/>
            <a:ext cx="2083388" cy="1282085"/>
          </a:xfrm>
          <a:prstGeom prst="rect">
            <a:avLst/>
          </a:prstGeom>
        </p:spPr>
      </p:pic>
      <p:sp>
        <p:nvSpPr>
          <p:cNvPr id="19" name="Elemento [s2]"/>
          <p:cNvSpPr txBox="1"/>
          <p:nvPr/>
        </p:nvSpPr>
        <p:spPr>
          <a:xfrm>
            <a:off x="6975909" y="1561458"/>
            <a:ext cx="1201955" cy="1282085"/>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Crosshole</a:t>
            </a:r>
            <a:endParaRPr lang="en-US" sz="1800" dirty="0"/>
          </a:p>
        </p:txBody>
      </p:sp>
      <p:sp>
        <p:nvSpPr>
          <p:cNvPr id="20" name="Cuerpo Crosshole [s2]"/>
          <p:cNvSpPr txBox="1"/>
          <p:nvPr/>
        </p:nvSpPr>
        <p:spPr>
          <a:xfrm>
            <a:off x="4732261" y="3003804"/>
            <a:ext cx="3445604" cy="1602606"/>
          </a:xfrm>
          <a:prstGeom prst="rect">
            <a:avLst/>
          </a:prstGeom>
          <a:noFill/>
          <a:ln/>
        </p:spPr>
        <p:txBody>
          <a:bodyPr wrap="square" lIns="0" tIns="0" rIns="0" bIns="0" rtlCol="0" anchor="t"/>
          <a:lstStyle/>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Dos o más pozos alineados y verticales</a:t>
            </a:r>
            <a:endParaRPr lang="en-US" sz="1620" dirty="0"/>
          </a:p>
          <a:p>
            <a:pPr marL="342900" indent="-342900">
              <a:spcAft>
                <a:spcPts val="720"/>
              </a:spcAft>
              <a:buSzPct val="100000"/>
              <a:buChar char="•"/>
            </a:pPr>
            <a:r>
              <a:rPr lang="en-US" sz="1620" dirty="0">
                <a:solidFill>
                  <a:srgbClr val="2D2D2D"/>
                </a:solidFill>
                <a:latin typeface="Arial" pitchFamily="34" charset="0"/>
                <a:ea typeface="Arial" pitchFamily="34" charset="-122"/>
                <a:cs typeface="Arial" pitchFamily="34" charset="-120"/>
              </a:rPr>
              <a:t>Costo y tiempo altos</a:t>
            </a:r>
            <a:endParaRPr lang="en-US" sz="1620" dirty="0"/>
          </a:p>
        </p:txBody>
      </p:sp>
      <p:sp>
        <p:nvSpPr>
          <p:cNvPr id="21" name="Mensaje [s2]"/>
          <p:cNvSpPr txBox="1"/>
          <p:nvPr/>
        </p:nvSpPr>
        <p:spPr>
          <a:xfrm>
            <a:off x="966136" y="4165694"/>
            <a:ext cx="7211728" cy="360586"/>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Dan </a:t>
            </a:r>
            <mc:AlternateContent xmlns:mc="http://schemas.openxmlformats.org/markup-compatibility/2006">
              <mc:Choice xmlns:a14="http://schemas.microsoft.com/office/drawing/2010/main" Requires="a14">
                <a14:m>
                  <m:oMath xmlns:m="http://schemas.openxmlformats.org/officeDocument/2006/math">
                    <m:sSub>
                      <m:sSubPr>
                        <m:ctrlPr>
                          <a:rPr lang="es-ES" sz="1620" i="1">
                            <a:latin typeface="Cambria Math" panose="02040503050406030204" pitchFamily="18" charset="0"/>
                          </a:rPr>
                        </m:ctrlPr>
                      </m:sSubPr>
                      <m:e>
                        <m:r>
                          <a:rPr lang="es-ES" sz="1620" i="1">
                            <a:solidFill>
                              <a:srgbClr val="C55A11"/>
                            </a:solidFill>
                            <a:latin typeface="Cambria Math" panose="02040503050406030204" pitchFamily="18" charset="0"/>
                          </a:rPr>
                          <m:t xml:space="preserve">V</m:t>
                        </m:r>
                      </m:e>
                      <m:sub>
                        <m:r>
                          <a:rPr lang="es-ES" sz="1620" i="1">
                            <a:solidFill>
                              <a:srgbClr val="C55A11"/>
                            </a:solidFill>
                            <a:latin typeface="Cambria Math" panose="02040503050406030204" pitchFamily="18" charset="0"/>
                          </a:rPr>
                          <m:t xml:space="preserve">s</m:t>
                        </m:r>
                      </m:sub>
                    </m:sSub>
                  </m:oMath>
                </a14:m>
              </mc:Choice>
              <mc:Fallback>
                <a:r>
                  <a:rPr lang="en-US" sz="1620" b="1" dirty="0">
                    <a:solidFill>
                      <a:srgbClr val="C55A11"/>
                    </a:solidFill>
                    <a:latin typeface="Arial" pitchFamily="34" charset="0"/>
                    <a:ea typeface="Arial" pitchFamily="34" charset="-122"/>
                    <a:cs typeface="Arial" pitchFamily="34" charset="-120"/>
                  </a:rPr>
                  <a:t>Vs</a:t>
                </a:r>
              </mc:Fallback>
            </mc:AlternateContent>
            <a:r>
              <a:rPr lang="en-US" sz="1620" b="1" dirty="0">
                <a:solidFill>
                  <a:srgbClr val="C55A11"/>
                </a:solidFill>
                <a:latin typeface="Arial" pitchFamily="34" charset="0"/>
                <a:ea typeface="Arial" pitchFamily="34" charset="-122"/>
                <a:cs typeface="Arial" pitchFamily="34" charset="-120"/>
              </a:rPr>
              <a:t> de forma directa, pero un punto del sitio por ensayo</a:t>
            </a:r>
            <a:endParaRPr lang="en-US" sz="1620" dirty="0"/>
          </a:p>
        </p:txBody>
      </p:sp>
      <p:sp>
        <p:nvSpPr>
          <p:cNvPr id="22" name="Encabezado [s0]"/>
          <p:cNvSpPr txBox="1"/>
          <p:nvPr/>
        </p:nvSpPr>
        <p:spPr>
          <a:xfrm>
            <a:off x="365760" y="987552"/>
            <a:ext cx="4114800" cy="457200"/>
          </a:xfrm>
          <a:prstGeom prst="rect">
            <a:avLst/>
          </a:prstGeom>
          <a:noFill/>
          <a:ln/>
        </p:spPr>
        <p:txBody>
          <a:bodyPr wrap="square" lIns="0" tIns="0" rIns="0" bIns="0" rtlCol="0" anchor="t"/>
          <a:lstStyle/>
          <a:p>
            <a:pPr indent="0" marL="0">
              <a:buNone/>
            </a:pPr>
            <a:r>
              <a:rPr lang="en-US" sz="1100" b="1" dirty="0">
                <a:solidFill>
                  <a:srgbClr val="2E75B6"/>
                </a:solidFill>
                <a:latin typeface="Arial" pitchFamily="34" charset="0"/>
                <a:ea typeface="Arial" pitchFamily="34" charset="-122"/>
                <a:cs typeface="Arial" pitchFamily="34" charset="-120"/>
              </a:rPr>
              <a:t>Downhole: la fuente está en superficie y los geófonos dentro del pozo</a:t>
            </a:r>
            <a:endParaRPr lang="en-US" sz="1100" dirty="0"/>
          </a:p>
        </p:txBody>
      </p:sp>
      <p:sp>
        <p:nvSpPr>
          <p:cNvPr id="23" name="Encabezado [s0]"/>
          <p:cNvSpPr txBox="1"/>
          <p:nvPr/>
        </p:nvSpPr>
        <p:spPr>
          <a:xfrm>
            <a:off x="4663440" y="987552"/>
            <a:ext cx="4114800" cy="457200"/>
          </a:xfrm>
          <a:prstGeom prst="rect">
            <a:avLst/>
          </a:prstGeom>
          <a:noFill/>
          <a:ln/>
        </p:spPr>
        <p:txBody>
          <a:bodyPr wrap="square" lIns="0" tIns="0" rIns="0" bIns="0" rtlCol="0" anchor="t"/>
          <a:lstStyle/>
          <a:p>
            <a:pPr indent="0" marL="0">
              <a:buNone/>
            </a:pPr>
            <a:r>
              <a:rPr lang="en-US" sz="1100" b="1" dirty="0">
                <a:solidFill>
                  <a:srgbClr val="2E75B6"/>
                </a:solidFill>
                <a:latin typeface="Arial" pitchFamily="34" charset="0"/>
                <a:ea typeface="Arial" pitchFamily="34" charset="-122"/>
                <a:cs typeface="Arial" pitchFamily="34" charset="-120"/>
              </a:rPr>
              <a:t>Crosshole: fuente y receptor a la misma profundidad, en pozos distintos</a:t>
            </a:r>
            <a:endParaRPr lang="en-US" sz="1100" dirty="0"/>
          </a:p>
        </p:txBody>
      </p:sp>
      <p:sp>
        <p:nvSpPr>
          <p:cNvPr id="24"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 Adaptada de Foti et al. (2014), cap. 1 (a confirmar).</a:t>
            </a:r>
            <a:endParaRPr lang="en-US" sz="800" dirty="0"/>
          </a:p>
        </p:txBody>
      </p:sp>
      <p:sp>
        <p:nvSpPr>
          <p:cNvPr id="25"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Ventajas: miden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 de forma directa, con trayectos conocidos</a:t>
            </a:r>
            <a:endParaRPr lang="en-US" sz="1400" dirty="0"/>
          </a:p>
        </p:txBody>
      </p:sp>
      <p:sp>
        <p:nvSpPr>
          <p:cNvPr id="26"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Crosshole: Foti et al. (2014).</a:t>
            </a:r>
            <a:endParaRPr lang="en-US" sz="800" dirty="0"/>
          </a:p>
        </p:txBody>
      </p:sp>
      <p:sp>
        <p:nvSpPr>
          <p:cNvPr id="27"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Limitaciones: exigen perforar y siguen siendo ensayos puntuales</a:t>
            </a:r>
            <a:endParaRPr lang="en-US" sz="1400" dirty="0"/>
          </a:p>
        </p:txBody>
      </p:sp>
      <p:sp>
        <p:nvSpPr>
          <p:cNvPr id="28"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 EPA, CLU-IN (s. f.), traducida. Crosshole: Foti et al. (2014).</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748" fill="hold">
                      <p:stCondLst>
                        <p:cond delay="indefinite"/>
                      </p:stCondLst>
                      <p:childTnLst>
                        <p:par>
                          <p:cTn id="1749" fill="hold">
                            <p:stCondLst>
                              <p:cond delay="0"/>
                            </p:stCondLst>
                            <p:childTnLst>
                              <p:par>
                                <p:cTn id="1697" presetID="10" presetClass="exit" presetSubtype="0" fill="hold" nodeType="clickEffect">
                                  <p:stCondLst>
                                    <p:cond delay="0"/>
                                  </p:stCondLst>
                                  <p:childTnLst>
                                    <p:animEffect transition="out" filter="fade">
                                      <p:cBhvr>
                                        <p:cTn id="1698" dur="400"/>
                                        <p:tgtEl>
                                          <p:spTgt spid="3"/>
                                        </p:tgtEl>
                                      </p:cBhvr>
                                    </p:animEffect>
                                    <p:set>
                                      <p:cBhvr>
                                        <p:cTn id="1699" dur="1" fill="hold">
                                          <p:stCondLst>
                                            <p:cond delay="399"/>
                                          </p:stCondLst>
                                        </p:cTn>
                                        <p:tgtEl>
                                          <p:spTgt spid="3"/>
                                        </p:tgtEl>
                                        <p:attrNameLst>
                                          <p:attrName>style.visibility</p:attrName>
                                        </p:attrNameLst>
                                      </p:cBhvr>
                                      <p:to>
                                        <p:strVal val="hidden"/>
                                      </p:to>
                                    </p:set>
                                  </p:childTnLst>
                                </p:cTn>
                              </p:par>
                              <p:par>
                                <p:cTn id="1700" presetID="10" presetClass="exit" presetSubtype="0" fill="hold" nodeType="withEffect">
                                  <p:stCondLst>
                                    <p:cond delay="0"/>
                                  </p:stCondLst>
                                  <p:childTnLst>
                                    <p:animEffect transition="out" filter="fade">
                                      <p:cBhvr>
                                        <p:cTn id="1701" dur="400"/>
                                        <p:tgtEl>
                                          <p:spTgt spid="4"/>
                                        </p:tgtEl>
                                      </p:cBhvr>
                                    </p:animEffect>
                                    <p:set>
                                      <p:cBhvr>
                                        <p:cTn id="1702" dur="1" fill="hold">
                                          <p:stCondLst>
                                            <p:cond delay="399"/>
                                          </p:stCondLst>
                                        </p:cTn>
                                        <p:tgtEl>
                                          <p:spTgt spid="4"/>
                                        </p:tgtEl>
                                        <p:attrNameLst>
                                          <p:attrName>style.visibility</p:attrName>
                                        </p:attrNameLst>
                                      </p:cBhvr>
                                      <p:to>
                                        <p:strVal val="hidden"/>
                                      </p:to>
                                    </p:set>
                                  </p:childTnLst>
                                </p:cTn>
                              </p:par>
                              <p:par>
                                <p:cTn id="1703" presetID="10" presetClass="exit" presetSubtype="0" fill="hold" nodeType="withEffect">
                                  <p:stCondLst>
                                    <p:cond delay="0"/>
                                  </p:stCondLst>
                                  <p:childTnLst>
                                    <p:animEffect transition="out" filter="fade">
                                      <p:cBhvr>
                                        <p:cTn id="1704" dur="400"/>
                                        <p:tgtEl>
                                          <p:spTgt spid="5"/>
                                        </p:tgtEl>
                                      </p:cBhvr>
                                    </p:animEffect>
                                    <p:set>
                                      <p:cBhvr>
                                        <p:cTn id="1705" dur="1" fill="hold">
                                          <p:stCondLst>
                                            <p:cond delay="399"/>
                                          </p:stCondLst>
                                        </p:cTn>
                                        <p:tgtEl>
                                          <p:spTgt spid="5"/>
                                        </p:tgtEl>
                                        <p:attrNameLst>
                                          <p:attrName>style.visibility</p:attrName>
                                        </p:attrNameLst>
                                      </p:cBhvr>
                                      <p:to>
                                        <p:strVal val="hidden"/>
                                      </p:to>
                                    </p:set>
                                  </p:childTnLst>
                                </p:cTn>
                              </p:par>
                              <p:par>
                                <p:cTn id="1706" presetID="10" presetClass="exit" presetSubtype="0" fill="hold" nodeType="withEffect">
                                  <p:stCondLst>
                                    <p:cond delay="0"/>
                                  </p:stCondLst>
                                  <p:childTnLst>
                                    <p:animEffect transition="out" filter="fade">
                                      <p:cBhvr>
                                        <p:cTn id="1707" dur="400"/>
                                        <p:tgtEl>
                                          <p:spTgt spid="6"/>
                                        </p:tgtEl>
                                      </p:cBhvr>
                                    </p:animEffect>
                                    <p:set>
                                      <p:cBhvr>
                                        <p:cTn id="1708" dur="1" fill="hold">
                                          <p:stCondLst>
                                            <p:cond delay="399"/>
                                          </p:stCondLst>
                                        </p:cTn>
                                        <p:tgtEl>
                                          <p:spTgt spid="6"/>
                                        </p:tgtEl>
                                        <p:attrNameLst>
                                          <p:attrName>style.visibility</p:attrName>
                                        </p:attrNameLst>
                                      </p:cBhvr>
                                      <p:to>
                                        <p:strVal val="hidden"/>
                                      </p:to>
                                    </p:set>
                                  </p:childTnLst>
                                </p:cTn>
                              </p:par>
                              <p:par>
                                <p:cTn id="1709" presetID="10" presetClass="exit" presetSubtype="0" fill="hold" nodeType="withEffect">
                                  <p:stCondLst>
                                    <p:cond delay="0"/>
                                  </p:stCondLst>
                                  <p:childTnLst>
                                    <p:animEffect transition="out" filter="fade">
                                      <p:cBhvr>
                                        <p:cTn id="1710" dur="400"/>
                                        <p:tgtEl>
                                          <p:spTgt spid="7"/>
                                        </p:tgtEl>
                                      </p:cBhvr>
                                    </p:animEffect>
                                    <p:set>
                                      <p:cBhvr>
                                        <p:cTn id="1711" dur="1" fill="hold">
                                          <p:stCondLst>
                                            <p:cond delay="399"/>
                                          </p:stCondLst>
                                        </p:cTn>
                                        <p:tgtEl>
                                          <p:spTgt spid="7"/>
                                        </p:tgtEl>
                                        <p:attrNameLst>
                                          <p:attrName>style.visibility</p:attrName>
                                        </p:attrNameLst>
                                      </p:cBhvr>
                                      <p:to>
                                        <p:strVal val="hidden"/>
                                      </p:to>
                                    </p:set>
                                  </p:childTnLst>
                                </p:cTn>
                              </p:par>
                              <p:par>
                                <p:cTn id="1712" presetID="10" presetClass="exit" presetSubtype="0" fill="hold" nodeType="withEffect">
                                  <p:stCondLst>
                                    <p:cond delay="0"/>
                                  </p:stCondLst>
                                  <p:childTnLst>
                                    <p:animEffect transition="out" filter="fade">
                                      <p:cBhvr>
                                        <p:cTn id="1713" dur="400"/>
                                        <p:tgtEl>
                                          <p:spTgt spid="8"/>
                                        </p:tgtEl>
                                      </p:cBhvr>
                                    </p:animEffect>
                                    <p:set>
                                      <p:cBhvr>
                                        <p:cTn id="1714" dur="1" fill="hold">
                                          <p:stCondLst>
                                            <p:cond delay="399"/>
                                          </p:stCondLst>
                                        </p:cTn>
                                        <p:tgtEl>
                                          <p:spTgt spid="8"/>
                                        </p:tgtEl>
                                        <p:attrNameLst>
                                          <p:attrName>style.visibility</p:attrName>
                                        </p:attrNameLst>
                                      </p:cBhvr>
                                      <p:to>
                                        <p:strVal val="hidden"/>
                                      </p:to>
                                    </p:set>
                                  </p:childTnLst>
                                </p:cTn>
                              </p:par>
                              <p:par>
                                <p:cTn id="1715" presetID="10" presetClass="exit" presetSubtype="0" fill="hold" nodeType="withEffect">
                                  <p:stCondLst>
                                    <p:cond delay="0"/>
                                  </p:stCondLst>
                                  <p:childTnLst>
                                    <p:animEffect transition="out" filter="fade">
                                      <p:cBhvr>
                                        <p:cTn id="1716" dur="400"/>
                                        <p:tgtEl>
                                          <p:spTgt spid="22"/>
                                        </p:tgtEl>
                                      </p:cBhvr>
                                    </p:animEffect>
                                    <p:set>
                                      <p:cBhvr>
                                        <p:cTn id="1717" dur="1" fill="hold">
                                          <p:stCondLst>
                                            <p:cond delay="399"/>
                                          </p:stCondLst>
                                        </p:cTn>
                                        <p:tgtEl>
                                          <p:spTgt spid="22"/>
                                        </p:tgtEl>
                                        <p:attrNameLst>
                                          <p:attrName>style.visibility</p:attrName>
                                        </p:attrNameLst>
                                      </p:cBhvr>
                                      <p:to>
                                        <p:strVal val="hidden"/>
                                      </p:to>
                                    </p:set>
                                  </p:childTnLst>
                                </p:cTn>
                              </p:par>
                              <p:par>
                                <p:cTn id="1718" presetID="10" presetClass="exit" presetSubtype="0" fill="hold" nodeType="withEffect">
                                  <p:stCondLst>
                                    <p:cond delay="0"/>
                                  </p:stCondLst>
                                  <p:childTnLst>
                                    <p:animEffect transition="out" filter="fade">
                                      <p:cBhvr>
                                        <p:cTn id="1719" dur="400"/>
                                        <p:tgtEl>
                                          <p:spTgt spid="23"/>
                                        </p:tgtEl>
                                      </p:cBhvr>
                                    </p:animEffect>
                                    <p:set>
                                      <p:cBhvr>
                                        <p:cTn id="1720" dur="1" fill="hold">
                                          <p:stCondLst>
                                            <p:cond delay="399"/>
                                          </p:stCondLst>
                                        </p:cTn>
                                        <p:tgtEl>
                                          <p:spTgt spid="23"/>
                                        </p:tgtEl>
                                        <p:attrNameLst>
                                          <p:attrName>style.visibility</p:attrName>
                                        </p:attrNameLst>
                                      </p:cBhvr>
                                      <p:to>
                                        <p:strVal val="hidden"/>
                                      </p:to>
                                    </p:set>
                                  </p:childTnLst>
                                </p:cTn>
                              </p:par>
                              <p:par>
                                <p:cTn id="1721" presetID="10" presetClass="exit" presetSubtype="0" fill="hold" nodeType="withEffect">
                                  <p:stCondLst>
                                    <p:cond delay="0"/>
                                  </p:stCondLst>
                                  <p:childTnLst>
                                    <p:animEffect transition="out" filter="fade">
                                      <p:cBhvr>
                                        <p:cTn id="1722" dur="400"/>
                                        <p:tgtEl>
                                          <p:spTgt spid="24"/>
                                        </p:tgtEl>
                                      </p:cBhvr>
                                    </p:animEffect>
                                    <p:set>
                                      <p:cBhvr>
                                        <p:cTn id="1723" dur="1" fill="hold">
                                          <p:stCondLst>
                                            <p:cond delay="399"/>
                                          </p:stCondLst>
                                        </p:cTn>
                                        <p:tgtEl>
                                          <p:spTgt spid="24"/>
                                        </p:tgtEl>
                                        <p:attrNameLst>
                                          <p:attrName>style.visibility</p:attrName>
                                        </p:attrNameLst>
                                      </p:cBhvr>
                                      <p:to>
                                        <p:strVal val="hidden"/>
                                      </p:to>
                                    </p:set>
                                  </p:childTnLst>
                                </p:cTn>
                              </p:par>
                              <p:par>
                                <p:cTn id="1724" presetID="10" presetClass="entr" presetSubtype="0" fill="hold" nodeType="withEffect">
                                  <p:stCondLst>
                                    <p:cond delay="200"/>
                                  </p:stCondLst>
                                  <p:childTnLst>
                                    <p:set>
                                      <p:cBhvr>
                                        <p:cTn id="1725" dur="1" fill="hold">
                                          <p:stCondLst>
                                            <p:cond delay="0"/>
                                          </p:stCondLst>
                                        </p:cTn>
                                        <p:tgtEl>
                                          <p:spTgt spid="9"/>
                                        </p:tgtEl>
                                        <p:attrNameLst>
                                          <p:attrName>style.visibility</p:attrName>
                                        </p:attrNameLst>
                                      </p:cBhvr>
                                      <p:to>
                                        <p:strVal val="visible"/>
                                      </p:to>
                                    </p:set>
                                    <p:animEffect transition="in" filter="fade">
                                      <p:cBhvr>
                                        <p:cTn id="1726" dur="500"/>
                                        <p:tgtEl>
                                          <p:spTgt spid="9"/>
                                        </p:tgtEl>
                                      </p:cBhvr>
                                    </p:animEffect>
                                  </p:childTnLst>
                                </p:cTn>
                              </p:par>
                              <p:par>
                                <p:cTn id="1727" presetID="10" presetClass="entr" presetSubtype="0" fill="hold" nodeType="withEffect">
                                  <p:stCondLst>
                                    <p:cond delay="270"/>
                                  </p:stCondLst>
                                  <p:childTnLst>
                                    <p:set>
                                      <p:cBhvr>
                                        <p:cTn id="1728" dur="1" fill="hold">
                                          <p:stCondLst>
                                            <p:cond delay="0"/>
                                          </p:stCondLst>
                                        </p:cTn>
                                        <p:tgtEl>
                                          <p:spTgt spid="10"/>
                                        </p:tgtEl>
                                        <p:attrNameLst>
                                          <p:attrName>style.visibility</p:attrName>
                                        </p:attrNameLst>
                                      </p:cBhvr>
                                      <p:to>
                                        <p:strVal val="visible"/>
                                      </p:to>
                                    </p:set>
                                    <p:animEffect transition="in" filter="fade">
                                      <p:cBhvr>
                                        <p:cTn id="1729" dur="500"/>
                                        <p:tgtEl>
                                          <p:spTgt spid="10"/>
                                        </p:tgtEl>
                                      </p:cBhvr>
                                    </p:animEffect>
                                  </p:childTnLst>
                                </p:cTn>
                              </p:par>
                              <p:par>
                                <p:cTn id="1730" presetID="10" presetClass="entr" presetSubtype="0" fill="hold" nodeType="withEffect">
                                  <p:stCondLst>
                                    <p:cond delay="340"/>
                                  </p:stCondLst>
                                  <p:childTnLst>
                                    <p:set>
                                      <p:cBhvr>
                                        <p:cTn id="1731" dur="1" fill="hold">
                                          <p:stCondLst>
                                            <p:cond delay="0"/>
                                          </p:stCondLst>
                                        </p:cTn>
                                        <p:tgtEl>
                                          <p:spTgt spid="11"/>
                                        </p:tgtEl>
                                        <p:attrNameLst>
                                          <p:attrName>style.visibility</p:attrName>
                                        </p:attrNameLst>
                                      </p:cBhvr>
                                      <p:to>
                                        <p:strVal val="visible"/>
                                      </p:to>
                                    </p:set>
                                    <p:animEffect transition="in" filter="fade">
                                      <p:cBhvr>
                                        <p:cTn id="1732" dur="500"/>
                                        <p:tgtEl>
                                          <p:spTgt spid="11"/>
                                        </p:tgtEl>
                                      </p:cBhvr>
                                    </p:animEffect>
                                  </p:childTnLst>
                                </p:cTn>
                              </p:par>
                              <p:par>
                                <p:cTn id="1733" presetID="10" presetClass="entr" presetSubtype="0" fill="hold" nodeType="withEffect">
                                  <p:stCondLst>
                                    <p:cond delay="410"/>
                                  </p:stCondLst>
                                  <p:childTnLst>
                                    <p:set>
                                      <p:cBhvr>
                                        <p:cTn id="1734" dur="1" fill="hold">
                                          <p:stCondLst>
                                            <p:cond delay="0"/>
                                          </p:stCondLst>
                                        </p:cTn>
                                        <p:tgtEl>
                                          <p:spTgt spid="12"/>
                                        </p:tgtEl>
                                        <p:attrNameLst>
                                          <p:attrName>style.visibility</p:attrName>
                                        </p:attrNameLst>
                                      </p:cBhvr>
                                      <p:to>
                                        <p:strVal val="visible"/>
                                      </p:to>
                                    </p:set>
                                    <p:animEffect transition="in" filter="fade">
                                      <p:cBhvr>
                                        <p:cTn id="1735" dur="500"/>
                                        <p:tgtEl>
                                          <p:spTgt spid="12"/>
                                        </p:tgtEl>
                                      </p:cBhvr>
                                    </p:animEffect>
                                  </p:childTnLst>
                                </p:cTn>
                              </p:par>
                              <p:par>
                                <p:cTn id="1736" presetID="10" presetClass="entr" presetSubtype="0" fill="hold" nodeType="withEffect">
                                  <p:stCondLst>
                                    <p:cond delay="480"/>
                                  </p:stCondLst>
                                  <p:childTnLst>
                                    <p:set>
                                      <p:cBhvr>
                                        <p:cTn id="1737" dur="1" fill="hold">
                                          <p:stCondLst>
                                            <p:cond delay="0"/>
                                          </p:stCondLst>
                                        </p:cTn>
                                        <p:tgtEl>
                                          <p:spTgt spid="13"/>
                                        </p:tgtEl>
                                        <p:attrNameLst>
                                          <p:attrName>style.visibility</p:attrName>
                                        </p:attrNameLst>
                                      </p:cBhvr>
                                      <p:to>
                                        <p:strVal val="visible"/>
                                      </p:to>
                                    </p:set>
                                    <p:animEffect transition="in" filter="fade">
                                      <p:cBhvr>
                                        <p:cTn id="1738" dur="500"/>
                                        <p:tgtEl>
                                          <p:spTgt spid="13"/>
                                        </p:tgtEl>
                                      </p:cBhvr>
                                    </p:animEffect>
                                  </p:childTnLst>
                                </p:cTn>
                              </p:par>
                              <p:par>
                                <p:cTn id="1739" presetID="10" presetClass="entr" presetSubtype="0" fill="hold" nodeType="withEffect">
                                  <p:stCondLst>
                                    <p:cond delay="550"/>
                                  </p:stCondLst>
                                  <p:childTnLst>
                                    <p:set>
                                      <p:cBhvr>
                                        <p:cTn id="1740" dur="1" fill="hold">
                                          <p:stCondLst>
                                            <p:cond delay="0"/>
                                          </p:stCondLst>
                                        </p:cTn>
                                        <p:tgtEl>
                                          <p:spTgt spid="14"/>
                                        </p:tgtEl>
                                        <p:attrNameLst>
                                          <p:attrName>style.visibility</p:attrName>
                                        </p:attrNameLst>
                                      </p:cBhvr>
                                      <p:to>
                                        <p:strVal val="visible"/>
                                      </p:to>
                                    </p:set>
                                    <p:animEffect transition="in" filter="fade">
                                      <p:cBhvr>
                                        <p:cTn id="1741" dur="500"/>
                                        <p:tgtEl>
                                          <p:spTgt spid="14"/>
                                        </p:tgtEl>
                                      </p:cBhvr>
                                    </p:animEffect>
                                  </p:childTnLst>
                                </p:cTn>
                              </p:par>
                              <p:par>
                                <p:cTn id="1742" presetID="10" presetClass="entr" presetSubtype="0" fill="hold" nodeType="withEffect">
                                  <p:stCondLst>
                                    <p:cond delay="620"/>
                                  </p:stCondLst>
                                  <p:childTnLst>
                                    <p:set>
                                      <p:cBhvr>
                                        <p:cTn id="1743" dur="1" fill="hold">
                                          <p:stCondLst>
                                            <p:cond delay="0"/>
                                          </p:stCondLst>
                                        </p:cTn>
                                        <p:tgtEl>
                                          <p:spTgt spid="25"/>
                                        </p:tgtEl>
                                        <p:attrNameLst>
                                          <p:attrName>style.visibility</p:attrName>
                                        </p:attrNameLst>
                                      </p:cBhvr>
                                      <p:to>
                                        <p:strVal val="visible"/>
                                      </p:to>
                                    </p:set>
                                    <p:animEffect transition="in" filter="fade">
                                      <p:cBhvr>
                                        <p:cTn id="1744" dur="500"/>
                                        <p:tgtEl>
                                          <p:spTgt spid="25"/>
                                        </p:tgtEl>
                                      </p:cBhvr>
                                    </p:animEffect>
                                  </p:childTnLst>
                                </p:cTn>
                              </p:par>
                              <p:par>
                                <p:cTn id="1745" presetID="10" presetClass="entr" presetSubtype="0" fill="hold" nodeType="withEffect">
                                  <p:stCondLst>
                                    <p:cond delay="690"/>
                                  </p:stCondLst>
                                  <p:childTnLst>
                                    <p:set>
                                      <p:cBhvr>
                                        <p:cTn id="1746" dur="1" fill="hold">
                                          <p:stCondLst>
                                            <p:cond delay="0"/>
                                          </p:stCondLst>
                                        </p:cTn>
                                        <p:tgtEl>
                                          <p:spTgt spid="26"/>
                                        </p:tgtEl>
                                        <p:attrNameLst>
                                          <p:attrName>style.visibility</p:attrName>
                                        </p:attrNameLst>
                                      </p:cBhvr>
                                      <p:to>
                                        <p:strVal val="visible"/>
                                      </p:to>
                                    </p:set>
                                    <p:animEffect transition="in" filter="fade">
                                      <p:cBhvr>
                                        <p:cTn id="1747" dur="500"/>
                                        <p:tgtEl>
                                          <p:spTgt spid="26"/>
                                        </p:tgtEl>
                                      </p:cBhvr>
                                    </p:animEffect>
                                  </p:childTnLst>
                                </p:cTn>
                              </p:par>
                            </p:childTnLst>
                          </p:cTn>
                        </p:par>
                      </p:childTnLst>
                    </p:cTn>
                  </p:par>
                  <p:par>
                    <p:cTn id="1801" fill="hold">
                      <p:stCondLst>
                        <p:cond delay="indefinite"/>
                      </p:stCondLst>
                      <p:childTnLst>
                        <p:par>
                          <p:cTn id="1802" fill="hold">
                            <p:stCondLst>
                              <p:cond delay="0"/>
                            </p:stCondLst>
                            <p:childTnLst>
                              <p:par>
                                <p:cTn id="1750" presetID="10" presetClass="exit" presetSubtype="0" fill="hold" nodeType="clickEffect">
                                  <p:stCondLst>
                                    <p:cond delay="0"/>
                                  </p:stCondLst>
                                  <p:childTnLst>
                                    <p:animEffect transition="out" filter="fade">
                                      <p:cBhvr>
                                        <p:cTn id="1751" dur="400"/>
                                        <p:tgtEl>
                                          <p:spTgt spid="9"/>
                                        </p:tgtEl>
                                      </p:cBhvr>
                                    </p:animEffect>
                                    <p:set>
                                      <p:cBhvr>
                                        <p:cTn id="1752" dur="1" fill="hold">
                                          <p:stCondLst>
                                            <p:cond delay="399"/>
                                          </p:stCondLst>
                                        </p:cTn>
                                        <p:tgtEl>
                                          <p:spTgt spid="9"/>
                                        </p:tgtEl>
                                        <p:attrNameLst>
                                          <p:attrName>style.visibility</p:attrName>
                                        </p:attrNameLst>
                                      </p:cBhvr>
                                      <p:to>
                                        <p:strVal val="hidden"/>
                                      </p:to>
                                    </p:set>
                                  </p:childTnLst>
                                </p:cTn>
                              </p:par>
                              <p:par>
                                <p:cTn id="1753" presetID="10" presetClass="exit" presetSubtype="0" fill="hold" nodeType="withEffect">
                                  <p:stCondLst>
                                    <p:cond delay="0"/>
                                  </p:stCondLst>
                                  <p:childTnLst>
                                    <p:animEffect transition="out" filter="fade">
                                      <p:cBhvr>
                                        <p:cTn id="1754" dur="400"/>
                                        <p:tgtEl>
                                          <p:spTgt spid="10"/>
                                        </p:tgtEl>
                                      </p:cBhvr>
                                    </p:animEffect>
                                    <p:set>
                                      <p:cBhvr>
                                        <p:cTn id="1755" dur="1" fill="hold">
                                          <p:stCondLst>
                                            <p:cond delay="399"/>
                                          </p:stCondLst>
                                        </p:cTn>
                                        <p:tgtEl>
                                          <p:spTgt spid="10"/>
                                        </p:tgtEl>
                                        <p:attrNameLst>
                                          <p:attrName>style.visibility</p:attrName>
                                        </p:attrNameLst>
                                      </p:cBhvr>
                                      <p:to>
                                        <p:strVal val="hidden"/>
                                      </p:to>
                                    </p:set>
                                  </p:childTnLst>
                                </p:cTn>
                              </p:par>
                              <p:par>
                                <p:cTn id="1756" presetID="10" presetClass="exit" presetSubtype="0" fill="hold" nodeType="withEffect">
                                  <p:stCondLst>
                                    <p:cond delay="0"/>
                                  </p:stCondLst>
                                  <p:childTnLst>
                                    <p:animEffect transition="out" filter="fade">
                                      <p:cBhvr>
                                        <p:cTn id="1757" dur="400"/>
                                        <p:tgtEl>
                                          <p:spTgt spid="11"/>
                                        </p:tgtEl>
                                      </p:cBhvr>
                                    </p:animEffect>
                                    <p:set>
                                      <p:cBhvr>
                                        <p:cTn id="1758" dur="1" fill="hold">
                                          <p:stCondLst>
                                            <p:cond delay="399"/>
                                          </p:stCondLst>
                                        </p:cTn>
                                        <p:tgtEl>
                                          <p:spTgt spid="11"/>
                                        </p:tgtEl>
                                        <p:attrNameLst>
                                          <p:attrName>style.visibility</p:attrName>
                                        </p:attrNameLst>
                                      </p:cBhvr>
                                      <p:to>
                                        <p:strVal val="hidden"/>
                                      </p:to>
                                    </p:set>
                                  </p:childTnLst>
                                </p:cTn>
                              </p:par>
                              <p:par>
                                <p:cTn id="1759" presetID="10" presetClass="exit" presetSubtype="0" fill="hold" nodeType="withEffect">
                                  <p:stCondLst>
                                    <p:cond delay="0"/>
                                  </p:stCondLst>
                                  <p:childTnLst>
                                    <p:animEffect transition="out" filter="fade">
                                      <p:cBhvr>
                                        <p:cTn id="1760" dur="400"/>
                                        <p:tgtEl>
                                          <p:spTgt spid="12"/>
                                        </p:tgtEl>
                                      </p:cBhvr>
                                    </p:animEffect>
                                    <p:set>
                                      <p:cBhvr>
                                        <p:cTn id="1761" dur="1" fill="hold">
                                          <p:stCondLst>
                                            <p:cond delay="399"/>
                                          </p:stCondLst>
                                        </p:cTn>
                                        <p:tgtEl>
                                          <p:spTgt spid="12"/>
                                        </p:tgtEl>
                                        <p:attrNameLst>
                                          <p:attrName>style.visibility</p:attrName>
                                        </p:attrNameLst>
                                      </p:cBhvr>
                                      <p:to>
                                        <p:strVal val="hidden"/>
                                      </p:to>
                                    </p:set>
                                  </p:childTnLst>
                                </p:cTn>
                              </p:par>
                              <p:par>
                                <p:cTn id="1762" presetID="10" presetClass="exit" presetSubtype="0" fill="hold" nodeType="withEffect">
                                  <p:stCondLst>
                                    <p:cond delay="0"/>
                                  </p:stCondLst>
                                  <p:childTnLst>
                                    <p:animEffect transition="out" filter="fade">
                                      <p:cBhvr>
                                        <p:cTn id="1763" dur="400"/>
                                        <p:tgtEl>
                                          <p:spTgt spid="13"/>
                                        </p:tgtEl>
                                      </p:cBhvr>
                                    </p:animEffect>
                                    <p:set>
                                      <p:cBhvr>
                                        <p:cTn id="1764" dur="1" fill="hold">
                                          <p:stCondLst>
                                            <p:cond delay="399"/>
                                          </p:stCondLst>
                                        </p:cTn>
                                        <p:tgtEl>
                                          <p:spTgt spid="13"/>
                                        </p:tgtEl>
                                        <p:attrNameLst>
                                          <p:attrName>style.visibility</p:attrName>
                                        </p:attrNameLst>
                                      </p:cBhvr>
                                      <p:to>
                                        <p:strVal val="hidden"/>
                                      </p:to>
                                    </p:set>
                                  </p:childTnLst>
                                </p:cTn>
                              </p:par>
                              <p:par>
                                <p:cTn id="1765" presetID="10" presetClass="exit" presetSubtype="0" fill="hold" nodeType="withEffect">
                                  <p:stCondLst>
                                    <p:cond delay="0"/>
                                  </p:stCondLst>
                                  <p:childTnLst>
                                    <p:animEffect transition="out" filter="fade">
                                      <p:cBhvr>
                                        <p:cTn id="1766" dur="400"/>
                                        <p:tgtEl>
                                          <p:spTgt spid="14"/>
                                        </p:tgtEl>
                                      </p:cBhvr>
                                    </p:animEffect>
                                    <p:set>
                                      <p:cBhvr>
                                        <p:cTn id="1767" dur="1" fill="hold">
                                          <p:stCondLst>
                                            <p:cond delay="399"/>
                                          </p:stCondLst>
                                        </p:cTn>
                                        <p:tgtEl>
                                          <p:spTgt spid="14"/>
                                        </p:tgtEl>
                                        <p:attrNameLst>
                                          <p:attrName>style.visibility</p:attrName>
                                        </p:attrNameLst>
                                      </p:cBhvr>
                                      <p:to>
                                        <p:strVal val="hidden"/>
                                      </p:to>
                                    </p:set>
                                  </p:childTnLst>
                                </p:cTn>
                              </p:par>
                              <p:par>
                                <p:cTn id="1768" presetID="10" presetClass="exit" presetSubtype="0" fill="hold" nodeType="withEffect">
                                  <p:stCondLst>
                                    <p:cond delay="0"/>
                                  </p:stCondLst>
                                  <p:childTnLst>
                                    <p:animEffect transition="out" filter="fade">
                                      <p:cBhvr>
                                        <p:cTn id="1769" dur="400"/>
                                        <p:tgtEl>
                                          <p:spTgt spid="25"/>
                                        </p:tgtEl>
                                      </p:cBhvr>
                                    </p:animEffect>
                                    <p:set>
                                      <p:cBhvr>
                                        <p:cTn id="1770" dur="1" fill="hold">
                                          <p:stCondLst>
                                            <p:cond delay="399"/>
                                          </p:stCondLst>
                                        </p:cTn>
                                        <p:tgtEl>
                                          <p:spTgt spid="25"/>
                                        </p:tgtEl>
                                        <p:attrNameLst>
                                          <p:attrName>style.visibility</p:attrName>
                                        </p:attrNameLst>
                                      </p:cBhvr>
                                      <p:to>
                                        <p:strVal val="hidden"/>
                                      </p:to>
                                    </p:set>
                                  </p:childTnLst>
                                </p:cTn>
                              </p:par>
                              <p:par>
                                <p:cTn id="1771" presetID="10" presetClass="exit" presetSubtype="0" fill="hold" nodeType="withEffect">
                                  <p:stCondLst>
                                    <p:cond delay="0"/>
                                  </p:stCondLst>
                                  <p:childTnLst>
                                    <p:animEffect transition="out" filter="fade">
                                      <p:cBhvr>
                                        <p:cTn id="1772" dur="400"/>
                                        <p:tgtEl>
                                          <p:spTgt spid="26"/>
                                        </p:tgtEl>
                                      </p:cBhvr>
                                    </p:animEffect>
                                    <p:set>
                                      <p:cBhvr>
                                        <p:cTn id="1773" dur="1" fill="hold">
                                          <p:stCondLst>
                                            <p:cond delay="399"/>
                                          </p:stCondLst>
                                        </p:cTn>
                                        <p:tgtEl>
                                          <p:spTgt spid="26"/>
                                        </p:tgtEl>
                                        <p:attrNameLst>
                                          <p:attrName>style.visibility</p:attrName>
                                        </p:attrNameLst>
                                      </p:cBhvr>
                                      <p:to>
                                        <p:strVal val="hidden"/>
                                      </p:to>
                                    </p:set>
                                  </p:childTnLst>
                                </p:cTn>
                              </p:par>
                              <p:par>
                                <p:cTn id="1774" presetID="22" presetClass="entr" presetSubtype="8" fill="hold" nodeType="withEffect">
                                  <p:stCondLst>
                                    <p:cond delay="200"/>
                                  </p:stCondLst>
                                  <p:childTnLst>
                                    <p:set>
                                      <p:cBhvr>
                                        <p:cTn id="1775" dur="1" fill="hold">
                                          <p:stCondLst>
                                            <p:cond delay="0"/>
                                          </p:stCondLst>
                                        </p:cTn>
                                        <p:tgtEl>
                                          <p:spTgt spid="15"/>
                                        </p:tgtEl>
                                        <p:attrNameLst>
                                          <p:attrName>style.visibility</p:attrName>
                                        </p:attrNameLst>
                                      </p:cBhvr>
                                      <p:to>
                                        <p:strVal val="visible"/>
                                      </p:to>
                                    </p:set>
                                    <p:animEffect transition="in" filter="wipe(left)">
                                      <p:cBhvr>
                                        <p:cTn id="1776" dur="500"/>
                                        <p:tgtEl>
                                          <p:spTgt spid="15"/>
                                        </p:tgtEl>
                                      </p:cBhvr>
                                    </p:animEffect>
                                  </p:childTnLst>
                                </p:cTn>
                              </p:par>
                              <p:par>
                                <p:cTn id="1777" presetID="22" presetClass="entr" presetSubtype="8" fill="hold" nodeType="withEffect">
                                  <p:stCondLst>
                                    <p:cond delay="270"/>
                                  </p:stCondLst>
                                  <p:childTnLst>
                                    <p:set>
                                      <p:cBhvr>
                                        <p:cTn id="1778" dur="1" fill="hold">
                                          <p:stCondLst>
                                            <p:cond delay="0"/>
                                          </p:stCondLst>
                                        </p:cTn>
                                        <p:tgtEl>
                                          <p:spTgt spid="16"/>
                                        </p:tgtEl>
                                        <p:attrNameLst>
                                          <p:attrName>style.visibility</p:attrName>
                                        </p:attrNameLst>
                                      </p:cBhvr>
                                      <p:to>
                                        <p:strVal val="visible"/>
                                      </p:to>
                                    </p:set>
                                    <p:animEffect transition="in" filter="wipe(left)">
                                      <p:cBhvr>
                                        <p:cTn id="1779" dur="500"/>
                                        <p:tgtEl>
                                          <p:spTgt spid="16"/>
                                        </p:tgtEl>
                                      </p:cBhvr>
                                    </p:animEffect>
                                  </p:childTnLst>
                                </p:cTn>
                              </p:par>
                              <p:par>
                                <p:cTn id="1780" presetID="22" presetClass="entr" presetSubtype="8" fill="hold" nodeType="withEffect">
                                  <p:stCondLst>
                                    <p:cond delay="340"/>
                                  </p:stCondLst>
                                  <p:childTnLst>
                                    <p:set>
                                      <p:cBhvr>
                                        <p:cTn id="1781" dur="1" fill="hold">
                                          <p:stCondLst>
                                            <p:cond delay="0"/>
                                          </p:stCondLst>
                                        </p:cTn>
                                        <p:tgtEl>
                                          <p:spTgt spid="17"/>
                                        </p:tgtEl>
                                        <p:attrNameLst>
                                          <p:attrName>style.visibility</p:attrName>
                                        </p:attrNameLst>
                                      </p:cBhvr>
                                      <p:to>
                                        <p:strVal val="visible"/>
                                      </p:to>
                                    </p:set>
                                    <p:animEffect transition="in" filter="wipe(left)">
                                      <p:cBhvr>
                                        <p:cTn id="1782" dur="500"/>
                                        <p:tgtEl>
                                          <p:spTgt spid="17"/>
                                        </p:tgtEl>
                                      </p:cBhvr>
                                    </p:animEffect>
                                  </p:childTnLst>
                                </p:cTn>
                              </p:par>
                              <p:par>
                                <p:cTn id="1783" presetID="22" presetClass="entr" presetSubtype="8" fill="hold" nodeType="withEffect">
                                  <p:stCondLst>
                                    <p:cond delay="410"/>
                                  </p:stCondLst>
                                  <p:childTnLst>
                                    <p:set>
                                      <p:cBhvr>
                                        <p:cTn id="1784" dur="1" fill="hold">
                                          <p:stCondLst>
                                            <p:cond delay="0"/>
                                          </p:stCondLst>
                                        </p:cTn>
                                        <p:tgtEl>
                                          <p:spTgt spid="18"/>
                                        </p:tgtEl>
                                        <p:attrNameLst>
                                          <p:attrName>style.visibility</p:attrName>
                                        </p:attrNameLst>
                                      </p:cBhvr>
                                      <p:to>
                                        <p:strVal val="visible"/>
                                      </p:to>
                                    </p:set>
                                    <p:animEffect transition="in" filter="wipe(left)">
                                      <p:cBhvr>
                                        <p:cTn id="1785" dur="500"/>
                                        <p:tgtEl>
                                          <p:spTgt spid="18"/>
                                        </p:tgtEl>
                                      </p:cBhvr>
                                    </p:animEffect>
                                  </p:childTnLst>
                                </p:cTn>
                              </p:par>
                              <p:par>
                                <p:cTn id="1786" presetID="22" presetClass="entr" presetSubtype="8" fill="hold" nodeType="withEffect">
                                  <p:stCondLst>
                                    <p:cond delay="480"/>
                                  </p:stCondLst>
                                  <p:childTnLst>
                                    <p:set>
                                      <p:cBhvr>
                                        <p:cTn id="1787" dur="1" fill="hold">
                                          <p:stCondLst>
                                            <p:cond delay="0"/>
                                          </p:stCondLst>
                                        </p:cTn>
                                        <p:tgtEl>
                                          <p:spTgt spid="19"/>
                                        </p:tgtEl>
                                        <p:attrNameLst>
                                          <p:attrName>style.visibility</p:attrName>
                                        </p:attrNameLst>
                                      </p:cBhvr>
                                      <p:to>
                                        <p:strVal val="visible"/>
                                      </p:to>
                                    </p:set>
                                    <p:animEffect transition="in" filter="wipe(left)">
                                      <p:cBhvr>
                                        <p:cTn id="1788" dur="500"/>
                                        <p:tgtEl>
                                          <p:spTgt spid="19"/>
                                        </p:tgtEl>
                                      </p:cBhvr>
                                    </p:animEffect>
                                  </p:childTnLst>
                                </p:cTn>
                              </p:par>
                              <p:par>
                                <p:cTn id="1789" presetID="22" presetClass="entr" presetSubtype="8" fill="hold" nodeType="withEffect">
                                  <p:stCondLst>
                                    <p:cond delay="550"/>
                                  </p:stCondLst>
                                  <p:childTnLst>
                                    <p:set>
                                      <p:cBhvr>
                                        <p:cTn id="1790" dur="1" fill="hold">
                                          <p:stCondLst>
                                            <p:cond delay="0"/>
                                          </p:stCondLst>
                                        </p:cTn>
                                        <p:tgtEl>
                                          <p:spTgt spid="20"/>
                                        </p:tgtEl>
                                        <p:attrNameLst>
                                          <p:attrName>style.visibility</p:attrName>
                                        </p:attrNameLst>
                                      </p:cBhvr>
                                      <p:to>
                                        <p:strVal val="visible"/>
                                      </p:to>
                                    </p:set>
                                    <p:animEffect transition="in" filter="wipe(left)">
                                      <p:cBhvr>
                                        <p:cTn id="1791" dur="500"/>
                                        <p:tgtEl>
                                          <p:spTgt spid="20"/>
                                        </p:tgtEl>
                                      </p:cBhvr>
                                    </p:animEffect>
                                  </p:childTnLst>
                                </p:cTn>
                              </p:par>
                              <p:par>
                                <p:cTn id="1792" presetID="22" presetClass="entr" presetSubtype="8" fill="hold" nodeType="withEffect">
                                  <p:stCondLst>
                                    <p:cond delay="620"/>
                                  </p:stCondLst>
                                  <p:childTnLst>
                                    <p:set>
                                      <p:cBhvr>
                                        <p:cTn id="1793" dur="1" fill="hold">
                                          <p:stCondLst>
                                            <p:cond delay="0"/>
                                          </p:stCondLst>
                                        </p:cTn>
                                        <p:tgtEl>
                                          <p:spTgt spid="21"/>
                                        </p:tgtEl>
                                        <p:attrNameLst>
                                          <p:attrName>style.visibility</p:attrName>
                                        </p:attrNameLst>
                                      </p:cBhvr>
                                      <p:to>
                                        <p:strVal val="visible"/>
                                      </p:to>
                                    </p:set>
                                    <p:animEffect transition="in" filter="wipe(left)">
                                      <p:cBhvr>
                                        <p:cTn id="1794" dur="500"/>
                                        <p:tgtEl>
                                          <p:spTgt spid="21"/>
                                        </p:tgtEl>
                                      </p:cBhvr>
                                    </p:animEffect>
                                  </p:childTnLst>
                                </p:cTn>
                              </p:par>
                              <p:par>
                                <p:cTn id="1795" presetID="22" presetClass="entr" presetSubtype="8" fill="hold" nodeType="withEffect">
                                  <p:stCondLst>
                                    <p:cond delay="690"/>
                                  </p:stCondLst>
                                  <p:childTnLst>
                                    <p:set>
                                      <p:cBhvr>
                                        <p:cTn id="1796" dur="1" fill="hold">
                                          <p:stCondLst>
                                            <p:cond delay="0"/>
                                          </p:stCondLst>
                                        </p:cTn>
                                        <p:tgtEl>
                                          <p:spTgt spid="27"/>
                                        </p:tgtEl>
                                        <p:attrNameLst>
                                          <p:attrName>style.visibility</p:attrName>
                                        </p:attrNameLst>
                                      </p:cBhvr>
                                      <p:to>
                                        <p:strVal val="visible"/>
                                      </p:to>
                                    </p:set>
                                    <p:animEffect transition="in" filter="wipe(left)">
                                      <p:cBhvr>
                                        <p:cTn id="1797" dur="500"/>
                                        <p:tgtEl>
                                          <p:spTgt spid="27"/>
                                        </p:tgtEl>
                                      </p:cBhvr>
                                    </p:animEffect>
                                  </p:childTnLst>
                                </p:cTn>
                              </p:par>
                              <p:par>
                                <p:cTn id="1798" presetID="22" presetClass="entr" presetSubtype="8" fill="hold" nodeType="withEffect">
                                  <p:stCondLst>
                                    <p:cond delay="760"/>
                                  </p:stCondLst>
                                  <p:childTnLst>
                                    <p:set>
                                      <p:cBhvr>
                                        <p:cTn id="1799" dur="1" fill="hold">
                                          <p:stCondLst>
                                            <p:cond delay="0"/>
                                          </p:stCondLst>
                                        </p:cTn>
                                        <p:tgtEl>
                                          <p:spTgt spid="28"/>
                                        </p:tgtEl>
                                        <p:attrNameLst>
                                          <p:attrName>style.visibility</p:attrName>
                                        </p:attrNameLst>
                                      </p:cBhvr>
                                      <p:to>
                                        <p:strVal val="visible"/>
                                      </p:to>
                                    </p:set>
                                    <p:animEffect transition="in" filter="wipe(left)">
                                      <p:cBhvr>
                                        <p:cTn id="180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Refracción y reflexión: métodos de superficie con condiciones</a:t>
            </a:r>
            <a:endParaRPr lang="en-US" sz="2200" dirty="0"/>
          </a:p>
        </p:txBody>
      </p:sp>
      <p:pic>
        <p:nvPicPr>
          <p:cNvPr id="3" name="Figura refracción [s0]" descr="Refracción sísmica en dos capas: energía directa, reflejada y refractada (onda de cabeza), con ángulo crítico">    </p:cNvPr>
          <p:cNvPicPr>
            <a:picLocks noChangeAspect="1"/>
          </p:cNvPicPr>
          <p:nvPr/>
        </p:nvPicPr>
        <p:blipFill>
          <a:blip r:embed="rId1"/>
          <a:stretch>
            <a:fillRect/>
          </a:stretch>
        </p:blipFill>
        <p:spPr>
          <a:xfrm>
            <a:off x="966136" y="1601523"/>
            <a:ext cx="4487298" cy="2680584"/>
          </a:xfrm>
          <a:prstGeom prst="rect">
            <a:avLst/>
          </a:prstGeom>
        </p:spPr>
      </p:pic>
      <p:sp>
        <p:nvSpPr>
          <p:cNvPr id="4" name="Cuerpo [s0]"/>
          <p:cNvSpPr txBox="1"/>
          <p:nvPr/>
        </p:nvSpPr>
        <p:spPr>
          <a:xfrm>
            <a:off x="5613694" y="1721719"/>
            <a:ext cx="2564170" cy="2644300"/>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440" dirty="0"/>
          </a:p>
        </p:txBody>
      </p:sp>
      <p:pic>
        <p:nvPicPr>
          <p:cNvPr id="5" name="Dromocrónica [s1]" descr="Dromocrónica: rectas de onda directa y refractada con tiempo de intercepto y distancia de cruce">    </p:cNvPr>
          <p:cNvPicPr>
            <a:picLocks noChangeAspect="1"/>
          </p:cNvPicPr>
          <p:nvPr/>
        </p:nvPicPr>
        <p:blipFill>
          <a:blip r:embed="rId2"/>
          <a:stretch>
            <a:fillRect/>
          </a:stretch>
        </p:blipFill>
        <p:spPr>
          <a:xfrm>
            <a:off x="966136" y="1561458"/>
            <a:ext cx="7211728" cy="2744189"/>
          </a:xfrm>
          <a:prstGeom prst="rect">
            <a:avLst/>
          </a:prstGeom>
        </p:spPr>
      </p:pic>
      <p:sp>
        <p:nvSpPr>
          <p:cNvPr id="6" name="Cabecera Ventajas [s2]"/>
          <p:cNvSpPr/>
          <p:nvPr/>
        </p:nvSpPr>
        <p:spPr>
          <a:xfrm>
            <a:off x="966136" y="1641589"/>
            <a:ext cx="3445604" cy="440717"/>
          </a:xfrm>
          <a:prstGeom prst="rect">
            <a:avLst/>
          </a:prstGeom>
          <a:solidFill>
            <a:srgbClr val="1F4E79"/>
          </a:solidFill>
          <a:ln w="6350">
            <a:solidFill>
              <a:srgbClr val="1F4E79"/>
            </a:solidFill>
            <a:prstDash val="solid"/>
          </a:ln>
        </p:spPr>
      </p:sp>
      <p:sp>
        <p:nvSpPr>
          <p:cNvPr id="7" name="Elemento [s2]"/>
          <p:cNvSpPr txBox="1"/>
          <p:nvPr/>
        </p:nvSpPr>
        <p:spPr>
          <a:xfrm>
            <a:off x="966136" y="1641589"/>
            <a:ext cx="3445604" cy="440717"/>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Ventajas</a:t>
            </a:r>
            <a:endParaRPr lang="en-US" sz="1800" dirty="0"/>
          </a:p>
        </p:txBody>
      </p:sp>
      <p:sp>
        <p:nvSpPr>
          <p:cNvPr id="8" name="Tarjeta Ventajas [s2]"/>
          <p:cNvSpPr/>
          <p:nvPr/>
        </p:nvSpPr>
        <p:spPr>
          <a:xfrm>
            <a:off x="966136" y="2082305"/>
            <a:ext cx="3445604" cy="2203584"/>
          </a:xfrm>
          <a:prstGeom prst="rect">
            <a:avLst/>
          </a:prstGeom>
          <a:solidFill>
            <a:srgbClr val="FFFFFF"/>
          </a:solidFill>
          <a:ln w="16694">
            <a:solidFill>
              <a:srgbClr val="1F4E79"/>
            </a:solidFill>
            <a:prstDash val="solid"/>
          </a:ln>
        </p:spPr>
      </p:sp>
      <p:sp>
        <p:nvSpPr>
          <p:cNvPr id="9" name="Cuerpo Ventajas [s2]"/>
          <p:cNvSpPr txBox="1"/>
          <p:nvPr/>
        </p:nvSpPr>
        <p:spPr>
          <a:xfrm>
            <a:off x="1126396" y="2202501"/>
            <a:ext cx="3125082" cy="2003258"/>
          </a:xfrm>
          <a:prstGeom prst="rect">
            <a:avLst/>
          </a:prstGeom>
          <a:noFill/>
          <a:ln/>
        </p:spPr>
        <p:txBody>
          <a:bodyPr wrap="square" lIns="0" tIns="0" rIns="0" bIns="0" rtlCol="0" anchor="t"/>
          <a:lstStyle/>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Equipo y procesamiento simples</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Rápida de ejecutar en campo</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Da velocidades y espesores de capa</a:t>
            </a:r>
            <a:endParaRPr lang="en-US" sz="1620" dirty="0"/>
          </a:p>
        </p:txBody>
      </p:sp>
      <p:sp>
        <p:nvSpPr>
          <p:cNvPr id="10" name="Cabecera Limitaciones [s2]"/>
          <p:cNvSpPr/>
          <p:nvPr/>
        </p:nvSpPr>
        <p:spPr>
          <a:xfrm>
            <a:off x="4732261" y="1641589"/>
            <a:ext cx="3445604" cy="440717"/>
          </a:xfrm>
          <a:prstGeom prst="rect">
            <a:avLst/>
          </a:prstGeom>
          <a:solidFill>
            <a:srgbClr val="C55A11"/>
          </a:solidFill>
          <a:ln w="6350">
            <a:solidFill>
              <a:srgbClr val="C55A11"/>
            </a:solidFill>
            <a:prstDash val="solid"/>
          </a:ln>
        </p:spPr>
      </p:sp>
      <p:sp>
        <p:nvSpPr>
          <p:cNvPr id="11" name="Elemento [s2]"/>
          <p:cNvSpPr txBox="1"/>
          <p:nvPr/>
        </p:nvSpPr>
        <p:spPr>
          <a:xfrm>
            <a:off x="4732261" y="1641589"/>
            <a:ext cx="3445604" cy="440717"/>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Limitaciones</a:t>
            </a:r>
            <a:endParaRPr lang="en-US" sz="1800" dirty="0"/>
          </a:p>
        </p:txBody>
      </p:sp>
      <p:sp>
        <p:nvSpPr>
          <p:cNvPr id="12" name="Tarjeta Limitaciones [s2]"/>
          <p:cNvSpPr/>
          <p:nvPr/>
        </p:nvSpPr>
        <p:spPr>
          <a:xfrm>
            <a:off x="4732261" y="2082305"/>
            <a:ext cx="3445604" cy="2203584"/>
          </a:xfrm>
          <a:prstGeom prst="rect">
            <a:avLst/>
          </a:prstGeom>
          <a:solidFill>
            <a:srgbClr val="FFFFFF"/>
          </a:solidFill>
          <a:ln w="16694">
            <a:solidFill>
              <a:srgbClr val="C55A11"/>
            </a:solidFill>
            <a:prstDash val="solid"/>
          </a:ln>
        </p:spPr>
      </p:sp>
      <p:sp>
        <p:nvSpPr>
          <p:cNvPr id="13" name="Cuerpo Limitaciones [s2]"/>
          <p:cNvSpPr txBox="1"/>
          <p:nvPr/>
        </p:nvSpPr>
        <p:spPr>
          <a:xfrm>
            <a:off x="4892521" y="2202501"/>
            <a:ext cx="3125082" cy="2003258"/>
          </a:xfrm>
          <a:prstGeom prst="rect">
            <a:avLst/>
          </a:prstGeom>
          <a:noFill/>
          <a:ln/>
        </p:spPr>
        <p:txBody>
          <a:bodyPr wrap="square" lIns="0" tIns="0" rIns="0" bIns="0" rtlCol="0" anchor="t"/>
          <a:lstStyle/>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La velocidad debe aumentar con la profundidad</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Una capa blanda bajo otra rápida queda oculta</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Capas delgadas pueden no verse</a:t>
            </a:r>
            <a:endParaRPr lang="en-US" sz="1620" dirty="0"/>
          </a:p>
        </p:txBody>
      </p:sp>
      <p:pic>
        <p:nvPicPr>
          <p:cNvPr id="14" name="Figura reflexión [s3]" descr="Reflexión sísmica: rayos desde la fuente hasta cada interfaz y de vuelta al geófono, con la traza registrada">    </p:cNvPr>
          <p:cNvPicPr>
            <a:picLocks noChangeAspect="1"/>
          </p:cNvPicPr>
          <p:nvPr/>
        </p:nvPicPr>
        <p:blipFill>
          <a:blip r:embed="rId3"/>
          <a:stretch>
            <a:fillRect/>
          </a:stretch>
        </p:blipFill>
        <p:spPr>
          <a:xfrm>
            <a:off x="966136" y="1561458"/>
            <a:ext cx="4006516" cy="2807649"/>
          </a:xfrm>
          <a:prstGeom prst="rect">
            <a:avLst/>
          </a:prstGeom>
        </p:spPr>
      </p:pic>
      <p:sp>
        <p:nvSpPr>
          <p:cNvPr id="15" name="Cuerpo [s3]"/>
          <p:cNvSpPr txBox="1"/>
          <p:nvPr/>
        </p:nvSpPr>
        <p:spPr>
          <a:xfrm>
            <a:off x="5213043" y="1641589"/>
            <a:ext cx="2964822" cy="2724431"/>
          </a:xfrm>
          <a:prstGeom prst="rect">
            <a:avLst/>
          </a:prstGeom>
          <a:noFill/>
          <a:ln/>
        </p:spPr>
        <p:txBody>
          <a:bodyPr wrap="square" lIns="0" tIns="0" rIns="0" bIns="0" rtlCol="0" anchor="t"/>
          <a:lstStyle/>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La energía se refleja en cada interfaz</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Cada geófono registra una traza</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El tiempo depende de la profundidad y de la velocidad</a:t>
            </a:r>
            <a:endParaRPr lang="en-US" sz="1620" dirty="0"/>
          </a:p>
        </p:txBody>
      </p:sp>
      <p:sp>
        <p:nvSpPr>
          <p:cNvPr id="16" name="Cabecera Ventajas [s4]"/>
          <p:cNvSpPr/>
          <p:nvPr/>
        </p:nvSpPr>
        <p:spPr>
          <a:xfrm>
            <a:off x="966136" y="1641589"/>
            <a:ext cx="3445604" cy="440717"/>
          </a:xfrm>
          <a:prstGeom prst="rect">
            <a:avLst/>
          </a:prstGeom>
          <a:solidFill>
            <a:srgbClr val="1F4E79"/>
          </a:solidFill>
          <a:ln w="6350">
            <a:solidFill>
              <a:srgbClr val="1F4E79"/>
            </a:solidFill>
            <a:prstDash val="solid"/>
          </a:ln>
        </p:spPr>
      </p:sp>
      <p:sp>
        <p:nvSpPr>
          <p:cNvPr id="17" name="Elemento [s4]"/>
          <p:cNvSpPr txBox="1"/>
          <p:nvPr/>
        </p:nvSpPr>
        <p:spPr>
          <a:xfrm>
            <a:off x="966136" y="1641589"/>
            <a:ext cx="3445604" cy="440717"/>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Ventajas</a:t>
            </a:r>
            <a:endParaRPr lang="en-US" sz="1800" dirty="0"/>
          </a:p>
        </p:txBody>
      </p:sp>
      <p:sp>
        <p:nvSpPr>
          <p:cNvPr id="18" name="Tarjeta Ventajas [s4]"/>
          <p:cNvSpPr/>
          <p:nvPr/>
        </p:nvSpPr>
        <p:spPr>
          <a:xfrm>
            <a:off x="966136" y="2082305"/>
            <a:ext cx="3445604" cy="2203584"/>
          </a:xfrm>
          <a:prstGeom prst="rect">
            <a:avLst/>
          </a:prstGeom>
          <a:solidFill>
            <a:srgbClr val="FFFFFF"/>
          </a:solidFill>
          <a:ln w="16694">
            <a:solidFill>
              <a:srgbClr val="1F4E79"/>
            </a:solidFill>
            <a:prstDash val="solid"/>
          </a:ln>
        </p:spPr>
      </p:sp>
      <p:sp>
        <p:nvSpPr>
          <p:cNvPr id="19" name="Cuerpo Ventajas [s4]"/>
          <p:cNvSpPr txBox="1"/>
          <p:nvPr/>
        </p:nvSpPr>
        <p:spPr>
          <a:xfrm>
            <a:off x="1126396" y="2202501"/>
            <a:ext cx="3125082" cy="2003258"/>
          </a:xfrm>
          <a:prstGeom prst="rect">
            <a:avLst/>
          </a:prstGeom>
          <a:noFill/>
          <a:ln/>
        </p:spPr>
        <p:txBody>
          <a:bodyPr wrap="square" lIns="0" tIns="0" rIns="0" bIns="0" rtlCol="0" anchor="t"/>
          <a:lstStyle/>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Alcanza mayores profundidades</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Buena imagen de la estructura</a:t>
            </a:r>
            <a:endParaRPr lang="en-US" sz="1620" dirty="0"/>
          </a:p>
        </p:txBody>
      </p:sp>
      <p:sp>
        <p:nvSpPr>
          <p:cNvPr id="20" name="Cabecera Limitaciones [s4]"/>
          <p:cNvSpPr/>
          <p:nvPr/>
        </p:nvSpPr>
        <p:spPr>
          <a:xfrm>
            <a:off x="4732261" y="1641589"/>
            <a:ext cx="3445604" cy="440717"/>
          </a:xfrm>
          <a:prstGeom prst="rect">
            <a:avLst/>
          </a:prstGeom>
          <a:solidFill>
            <a:srgbClr val="C55A11"/>
          </a:solidFill>
          <a:ln w="6350">
            <a:solidFill>
              <a:srgbClr val="C55A11"/>
            </a:solidFill>
            <a:prstDash val="solid"/>
          </a:ln>
        </p:spPr>
      </p:sp>
      <p:sp>
        <p:nvSpPr>
          <p:cNvPr id="21" name="Elemento [s4]"/>
          <p:cNvSpPr txBox="1"/>
          <p:nvPr/>
        </p:nvSpPr>
        <p:spPr>
          <a:xfrm>
            <a:off x="4732261" y="1641589"/>
            <a:ext cx="3445604" cy="440717"/>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Limitaciones</a:t>
            </a:r>
            <a:endParaRPr lang="en-US" sz="1800" dirty="0"/>
          </a:p>
        </p:txBody>
      </p:sp>
      <p:sp>
        <p:nvSpPr>
          <p:cNvPr id="22" name="Tarjeta Limitaciones [s4]"/>
          <p:cNvSpPr/>
          <p:nvPr/>
        </p:nvSpPr>
        <p:spPr>
          <a:xfrm>
            <a:off x="4732261" y="2082305"/>
            <a:ext cx="3445604" cy="2203584"/>
          </a:xfrm>
          <a:prstGeom prst="rect">
            <a:avLst/>
          </a:prstGeom>
          <a:solidFill>
            <a:srgbClr val="FFFFFF"/>
          </a:solidFill>
          <a:ln w="16694">
            <a:solidFill>
              <a:srgbClr val="C55A11"/>
            </a:solidFill>
            <a:prstDash val="solid"/>
          </a:ln>
        </p:spPr>
      </p:sp>
      <p:sp>
        <p:nvSpPr>
          <p:cNvPr id="23" name="Cuerpo Limitaciones [s4]"/>
          <p:cNvSpPr txBox="1"/>
          <p:nvPr/>
        </p:nvSpPr>
        <p:spPr>
          <a:xfrm>
            <a:off x="4892521" y="2202501"/>
            <a:ext cx="3125082" cy="2003258"/>
          </a:xfrm>
          <a:prstGeom prst="rect">
            <a:avLst/>
          </a:prstGeom>
          <a:noFill/>
          <a:ln/>
        </p:spPr>
        <p:txBody>
          <a:bodyPr wrap="square" lIns="0" tIns="0" rIns="0" bIns="0" rtlCol="0" anchor="t"/>
          <a:lstStyle/>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Poca resolución en los primeros metros</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Exige fuentes de alta frecuencia y más procesamiento</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Interfieren las ondas directas y superficiales</a:t>
            </a:r>
            <a:endParaRPr lang="en-US" sz="1620" dirty="0"/>
          </a:p>
        </p:txBody>
      </p:sp>
      <p:sp>
        <p:nvSpPr>
          <p:cNvPr id="24"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a cierta distancia, la onda refractada llega antes que la directa</a:t>
            </a:r>
            <a:endParaRPr lang="en-US" sz="1400" dirty="0"/>
          </a:p>
        </p:txBody>
      </p:sp>
      <p:sp>
        <p:nvSpPr>
          <p:cNvPr id="25"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USGS (1987), Open-File Report 87-0103-A, recreada y traducida (fuente exacta por confirmar).</a:t>
            </a:r>
            <a:endParaRPr lang="en-US" sz="800" dirty="0"/>
          </a:p>
        </p:txBody>
      </p:sp>
      <p:sp>
        <p:nvSpPr>
          <p:cNvPr id="26"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del gráfico de tiempos salen las velocidades y el espesor de la capa</a:t>
            </a:r>
            <a:endParaRPr lang="en-US" sz="1400" dirty="0"/>
          </a:p>
        </p:txBody>
      </p:sp>
      <p:sp>
        <p:nvSpPr>
          <p:cNvPr id="27"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recreación a partir de Wikimedia Commons, «Refraction dia.jpg» (L. Antiga, 2010); fidelidad por confirmar.</a:t>
            </a:r>
            <a:endParaRPr lang="en-US" sz="800" dirty="0"/>
          </a:p>
        </p:txBody>
      </p:sp>
      <p:sp>
        <p:nvSpPr>
          <p:cNvPr id="28"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Refracción: simple y rápida, pero exige que la velocidad crezca con la profundidad</a:t>
            </a:r>
            <a:endParaRPr lang="en-US" sz="1400" dirty="0"/>
          </a:p>
        </p:txBody>
      </p:sp>
      <p:sp>
        <p:nvSpPr>
          <p:cNvPr id="29"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1 (a confirmar).</a:t>
            </a:r>
            <a:endParaRPr lang="en-US" sz="800" dirty="0"/>
          </a:p>
        </p:txBody>
      </p:sp>
      <p:sp>
        <p:nvSpPr>
          <p:cNvPr id="30"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Reflexión: se registra el tiempo de ida y vuelta de la energía reflejada</a:t>
            </a:r>
            <a:endParaRPr lang="en-US" sz="1400" dirty="0"/>
          </a:p>
        </p:txBody>
      </p:sp>
      <p:sp>
        <p:nvSpPr>
          <p:cNvPr id="31"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«Basics of Seismic Reflection» (CC BY-SA 4.0), traducida.</a:t>
            </a:r>
            <a:endParaRPr lang="en-US" sz="800" dirty="0"/>
          </a:p>
        </p:txBody>
      </p:sp>
      <p:sp>
        <p:nvSpPr>
          <p:cNvPr id="32"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Reflexión: alcanza más profundidad, pero rinde poco en los primeros metros</a:t>
            </a:r>
            <a:endParaRPr lang="en-US" sz="1400" dirty="0"/>
          </a:p>
        </p:txBody>
      </p:sp>
      <p:sp>
        <p:nvSpPr>
          <p:cNvPr id="33"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 1 (a confirmar).</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24" fill="hold">
                      <p:stCondLst>
                        <p:cond delay="indefinite"/>
                      </p:stCondLst>
                      <p:childTnLst>
                        <p:par>
                          <p:cTn id="1825" fill="hold">
                            <p:stCondLst>
                              <p:cond delay="0"/>
                            </p:stCondLst>
                            <p:childTnLst>
                              <p:par>
                                <p:cTn id="1803" presetID="10" presetClass="exit" presetSubtype="0" fill="hold" nodeType="clickEffect">
                                  <p:stCondLst>
                                    <p:cond delay="0"/>
                                  </p:stCondLst>
                                  <p:childTnLst>
                                    <p:animEffect transition="out" filter="fade">
                                      <p:cBhvr>
                                        <p:cTn id="1804" dur="400"/>
                                        <p:tgtEl>
                                          <p:spTgt spid="3"/>
                                        </p:tgtEl>
                                      </p:cBhvr>
                                    </p:animEffect>
                                    <p:set>
                                      <p:cBhvr>
                                        <p:cTn id="1805" dur="1" fill="hold">
                                          <p:stCondLst>
                                            <p:cond delay="399"/>
                                          </p:stCondLst>
                                        </p:cTn>
                                        <p:tgtEl>
                                          <p:spTgt spid="3"/>
                                        </p:tgtEl>
                                        <p:attrNameLst>
                                          <p:attrName>style.visibility</p:attrName>
                                        </p:attrNameLst>
                                      </p:cBhvr>
                                      <p:to>
                                        <p:strVal val="hidden"/>
                                      </p:to>
                                    </p:set>
                                  </p:childTnLst>
                                </p:cTn>
                              </p:par>
                              <p:par>
                                <p:cTn id="1806" presetID="10" presetClass="exit" presetSubtype="0" fill="hold" nodeType="withEffect">
                                  <p:stCondLst>
                                    <p:cond delay="0"/>
                                  </p:stCondLst>
                                  <p:childTnLst>
                                    <p:animEffect transition="out" filter="fade">
                                      <p:cBhvr>
                                        <p:cTn id="1807" dur="400"/>
                                        <p:tgtEl>
                                          <p:spTgt spid="4"/>
                                        </p:tgtEl>
                                      </p:cBhvr>
                                    </p:animEffect>
                                    <p:set>
                                      <p:cBhvr>
                                        <p:cTn id="1808" dur="1" fill="hold">
                                          <p:stCondLst>
                                            <p:cond delay="399"/>
                                          </p:stCondLst>
                                        </p:cTn>
                                        <p:tgtEl>
                                          <p:spTgt spid="4"/>
                                        </p:tgtEl>
                                        <p:attrNameLst>
                                          <p:attrName>style.visibility</p:attrName>
                                        </p:attrNameLst>
                                      </p:cBhvr>
                                      <p:to>
                                        <p:strVal val="hidden"/>
                                      </p:to>
                                    </p:set>
                                  </p:childTnLst>
                                </p:cTn>
                              </p:par>
                              <p:par>
                                <p:cTn id="1809" presetID="10" presetClass="exit" presetSubtype="0" fill="hold" nodeType="withEffect">
                                  <p:stCondLst>
                                    <p:cond delay="0"/>
                                  </p:stCondLst>
                                  <p:childTnLst>
                                    <p:animEffect transition="out" filter="fade">
                                      <p:cBhvr>
                                        <p:cTn id="1810" dur="400"/>
                                        <p:tgtEl>
                                          <p:spTgt spid="24"/>
                                        </p:tgtEl>
                                      </p:cBhvr>
                                    </p:animEffect>
                                    <p:set>
                                      <p:cBhvr>
                                        <p:cTn id="1811" dur="1" fill="hold">
                                          <p:stCondLst>
                                            <p:cond delay="399"/>
                                          </p:stCondLst>
                                        </p:cTn>
                                        <p:tgtEl>
                                          <p:spTgt spid="24"/>
                                        </p:tgtEl>
                                        <p:attrNameLst>
                                          <p:attrName>style.visibility</p:attrName>
                                        </p:attrNameLst>
                                      </p:cBhvr>
                                      <p:to>
                                        <p:strVal val="hidden"/>
                                      </p:to>
                                    </p:set>
                                  </p:childTnLst>
                                </p:cTn>
                              </p:par>
                              <p:par>
                                <p:cTn id="1812" presetID="10" presetClass="exit" presetSubtype="0" fill="hold" nodeType="withEffect">
                                  <p:stCondLst>
                                    <p:cond delay="0"/>
                                  </p:stCondLst>
                                  <p:childTnLst>
                                    <p:animEffect transition="out" filter="fade">
                                      <p:cBhvr>
                                        <p:cTn id="1813" dur="400"/>
                                        <p:tgtEl>
                                          <p:spTgt spid="25"/>
                                        </p:tgtEl>
                                      </p:cBhvr>
                                    </p:animEffect>
                                    <p:set>
                                      <p:cBhvr>
                                        <p:cTn id="1814" dur="1" fill="hold">
                                          <p:stCondLst>
                                            <p:cond delay="399"/>
                                          </p:stCondLst>
                                        </p:cTn>
                                        <p:tgtEl>
                                          <p:spTgt spid="25"/>
                                        </p:tgtEl>
                                        <p:attrNameLst>
                                          <p:attrName>style.visibility</p:attrName>
                                        </p:attrNameLst>
                                      </p:cBhvr>
                                      <p:to>
                                        <p:strVal val="hidden"/>
                                      </p:to>
                                    </p:set>
                                  </p:childTnLst>
                                </p:cTn>
                              </p:par>
                              <p:par>
                                <p:cTn id="1815" presetID="10" presetClass="entr" presetSubtype="0" fill="hold" nodeType="withEffect">
                                  <p:stCondLst>
                                    <p:cond delay="200"/>
                                  </p:stCondLst>
                                  <p:childTnLst>
                                    <p:set>
                                      <p:cBhvr>
                                        <p:cTn id="1816" dur="1" fill="hold">
                                          <p:stCondLst>
                                            <p:cond delay="0"/>
                                          </p:stCondLst>
                                        </p:cTn>
                                        <p:tgtEl>
                                          <p:spTgt spid="5"/>
                                        </p:tgtEl>
                                        <p:attrNameLst>
                                          <p:attrName>style.visibility</p:attrName>
                                        </p:attrNameLst>
                                      </p:cBhvr>
                                      <p:to>
                                        <p:strVal val="visible"/>
                                      </p:to>
                                    </p:set>
                                    <p:animEffect transition="in" filter="fade">
                                      <p:cBhvr>
                                        <p:cTn id="1817" dur="500"/>
                                        <p:tgtEl>
                                          <p:spTgt spid="5"/>
                                        </p:tgtEl>
                                      </p:cBhvr>
                                    </p:animEffect>
                                  </p:childTnLst>
                                </p:cTn>
                              </p:par>
                              <p:par>
                                <p:cTn id="1818" presetID="10" presetClass="entr" presetSubtype="0" fill="hold" nodeType="withEffect">
                                  <p:stCondLst>
                                    <p:cond delay="270"/>
                                  </p:stCondLst>
                                  <p:childTnLst>
                                    <p:set>
                                      <p:cBhvr>
                                        <p:cTn id="1819" dur="1" fill="hold">
                                          <p:stCondLst>
                                            <p:cond delay="0"/>
                                          </p:stCondLst>
                                        </p:cTn>
                                        <p:tgtEl>
                                          <p:spTgt spid="26"/>
                                        </p:tgtEl>
                                        <p:attrNameLst>
                                          <p:attrName>style.visibility</p:attrName>
                                        </p:attrNameLst>
                                      </p:cBhvr>
                                      <p:to>
                                        <p:strVal val="visible"/>
                                      </p:to>
                                    </p:set>
                                    <p:animEffect transition="in" filter="fade">
                                      <p:cBhvr>
                                        <p:cTn id="1820" dur="500"/>
                                        <p:tgtEl>
                                          <p:spTgt spid="26"/>
                                        </p:tgtEl>
                                      </p:cBhvr>
                                    </p:animEffect>
                                  </p:childTnLst>
                                </p:cTn>
                              </p:par>
                              <p:par>
                                <p:cTn id="1821" presetID="10" presetClass="entr" presetSubtype="0" fill="hold" nodeType="withEffect">
                                  <p:stCondLst>
                                    <p:cond delay="340"/>
                                  </p:stCondLst>
                                  <p:childTnLst>
                                    <p:set>
                                      <p:cBhvr>
                                        <p:cTn id="1822" dur="1" fill="hold">
                                          <p:stCondLst>
                                            <p:cond delay="0"/>
                                          </p:stCondLst>
                                        </p:cTn>
                                        <p:tgtEl>
                                          <p:spTgt spid="27"/>
                                        </p:tgtEl>
                                        <p:attrNameLst>
                                          <p:attrName>style.visibility</p:attrName>
                                        </p:attrNameLst>
                                      </p:cBhvr>
                                      <p:to>
                                        <p:strVal val="visible"/>
                                      </p:to>
                                    </p:set>
                                    <p:animEffect transition="in" filter="fade">
                                      <p:cBhvr>
                                        <p:cTn id="1823" dur="500"/>
                                        <p:tgtEl>
                                          <p:spTgt spid="27"/>
                                        </p:tgtEl>
                                      </p:cBhvr>
                                    </p:animEffect>
                                  </p:childTnLst>
                                </p:cTn>
                              </p:par>
                            </p:childTnLst>
                          </p:cTn>
                        </p:par>
                      </p:childTnLst>
                    </p:cTn>
                  </p:par>
                  <p:par>
                    <p:cTn id="1865" fill="hold">
                      <p:stCondLst>
                        <p:cond delay="indefinite"/>
                      </p:stCondLst>
                      <p:childTnLst>
                        <p:par>
                          <p:cTn id="1866" fill="hold">
                            <p:stCondLst>
                              <p:cond delay="0"/>
                            </p:stCondLst>
                            <p:childTnLst>
                              <p:par>
                                <p:cTn id="1826" presetID="10" presetClass="exit" presetSubtype="0" fill="hold" nodeType="clickEffect">
                                  <p:stCondLst>
                                    <p:cond delay="0"/>
                                  </p:stCondLst>
                                  <p:childTnLst>
                                    <p:animEffect transition="out" filter="fade">
                                      <p:cBhvr>
                                        <p:cTn id="1827" dur="400"/>
                                        <p:tgtEl>
                                          <p:spTgt spid="5"/>
                                        </p:tgtEl>
                                      </p:cBhvr>
                                    </p:animEffect>
                                    <p:set>
                                      <p:cBhvr>
                                        <p:cTn id="1828" dur="1" fill="hold">
                                          <p:stCondLst>
                                            <p:cond delay="399"/>
                                          </p:stCondLst>
                                        </p:cTn>
                                        <p:tgtEl>
                                          <p:spTgt spid="5"/>
                                        </p:tgtEl>
                                        <p:attrNameLst>
                                          <p:attrName>style.visibility</p:attrName>
                                        </p:attrNameLst>
                                      </p:cBhvr>
                                      <p:to>
                                        <p:strVal val="hidden"/>
                                      </p:to>
                                    </p:set>
                                  </p:childTnLst>
                                </p:cTn>
                              </p:par>
                              <p:par>
                                <p:cTn id="1829" presetID="10" presetClass="exit" presetSubtype="0" fill="hold" nodeType="withEffect">
                                  <p:stCondLst>
                                    <p:cond delay="0"/>
                                  </p:stCondLst>
                                  <p:childTnLst>
                                    <p:animEffect transition="out" filter="fade">
                                      <p:cBhvr>
                                        <p:cTn id="1830" dur="400"/>
                                        <p:tgtEl>
                                          <p:spTgt spid="26"/>
                                        </p:tgtEl>
                                      </p:cBhvr>
                                    </p:animEffect>
                                    <p:set>
                                      <p:cBhvr>
                                        <p:cTn id="1831" dur="1" fill="hold">
                                          <p:stCondLst>
                                            <p:cond delay="399"/>
                                          </p:stCondLst>
                                        </p:cTn>
                                        <p:tgtEl>
                                          <p:spTgt spid="26"/>
                                        </p:tgtEl>
                                        <p:attrNameLst>
                                          <p:attrName>style.visibility</p:attrName>
                                        </p:attrNameLst>
                                      </p:cBhvr>
                                      <p:to>
                                        <p:strVal val="hidden"/>
                                      </p:to>
                                    </p:set>
                                  </p:childTnLst>
                                </p:cTn>
                              </p:par>
                              <p:par>
                                <p:cTn id="1832" presetID="10" presetClass="exit" presetSubtype="0" fill="hold" nodeType="withEffect">
                                  <p:stCondLst>
                                    <p:cond delay="0"/>
                                  </p:stCondLst>
                                  <p:childTnLst>
                                    <p:animEffect transition="out" filter="fade">
                                      <p:cBhvr>
                                        <p:cTn id="1833" dur="400"/>
                                        <p:tgtEl>
                                          <p:spTgt spid="27"/>
                                        </p:tgtEl>
                                      </p:cBhvr>
                                    </p:animEffect>
                                    <p:set>
                                      <p:cBhvr>
                                        <p:cTn id="1834" dur="1" fill="hold">
                                          <p:stCondLst>
                                            <p:cond delay="399"/>
                                          </p:stCondLst>
                                        </p:cTn>
                                        <p:tgtEl>
                                          <p:spTgt spid="27"/>
                                        </p:tgtEl>
                                        <p:attrNameLst>
                                          <p:attrName>style.visibility</p:attrName>
                                        </p:attrNameLst>
                                      </p:cBhvr>
                                      <p:to>
                                        <p:strVal val="hidden"/>
                                      </p:to>
                                    </p:set>
                                  </p:childTnLst>
                                </p:cTn>
                              </p:par>
                              <p:par>
                                <p:cTn id="1835" presetID="22" presetClass="entr" presetSubtype="8" fill="hold" nodeType="withEffect">
                                  <p:stCondLst>
                                    <p:cond delay="200"/>
                                  </p:stCondLst>
                                  <p:childTnLst>
                                    <p:set>
                                      <p:cBhvr>
                                        <p:cTn id="1836" dur="1" fill="hold">
                                          <p:stCondLst>
                                            <p:cond delay="0"/>
                                          </p:stCondLst>
                                        </p:cTn>
                                        <p:tgtEl>
                                          <p:spTgt spid="6"/>
                                        </p:tgtEl>
                                        <p:attrNameLst>
                                          <p:attrName>style.visibility</p:attrName>
                                        </p:attrNameLst>
                                      </p:cBhvr>
                                      <p:to>
                                        <p:strVal val="visible"/>
                                      </p:to>
                                    </p:set>
                                    <p:animEffect transition="in" filter="wipe(left)">
                                      <p:cBhvr>
                                        <p:cTn id="1837" dur="500"/>
                                        <p:tgtEl>
                                          <p:spTgt spid="6"/>
                                        </p:tgtEl>
                                      </p:cBhvr>
                                    </p:animEffect>
                                  </p:childTnLst>
                                </p:cTn>
                              </p:par>
                              <p:par>
                                <p:cTn id="1838" presetID="22" presetClass="entr" presetSubtype="8" fill="hold" nodeType="withEffect">
                                  <p:stCondLst>
                                    <p:cond delay="270"/>
                                  </p:stCondLst>
                                  <p:childTnLst>
                                    <p:set>
                                      <p:cBhvr>
                                        <p:cTn id="1839" dur="1" fill="hold">
                                          <p:stCondLst>
                                            <p:cond delay="0"/>
                                          </p:stCondLst>
                                        </p:cTn>
                                        <p:tgtEl>
                                          <p:spTgt spid="7"/>
                                        </p:tgtEl>
                                        <p:attrNameLst>
                                          <p:attrName>style.visibility</p:attrName>
                                        </p:attrNameLst>
                                      </p:cBhvr>
                                      <p:to>
                                        <p:strVal val="visible"/>
                                      </p:to>
                                    </p:set>
                                    <p:animEffect transition="in" filter="wipe(left)">
                                      <p:cBhvr>
                                        <p:cTn id="1840" dur="500"/>
                                        <p:tgtEl>
                                          <p:spTgt spid="7"/>
                                        </p:tgtEl>
                                      </p:cBhvr>
                                    </p:animEffect>
                                  </p:childTnLst>
                                </p:cTn>
                              </p:par>
                              <p:par>
                                <p:cTn id="1841" presetID="22" presetClass="entr" presetSubtype="8" fill="hold" nodeType="withEffect">
                                  <p:stCondLst>
                                    <p:cond delay="340"/>
                                  </p:stCondLst>
                                  <p:childTnLst>
                                    <p:set>
                                      <p:cBhvr>
                                        <p:cTn id="1842" dur="1" fill="hold">
                                          <p:stCondLst>
                                            <p:cond delay="0"/>
                                          </p:stCondLst>
                                        </p:cTn>
                                        <p:tgtEl>
                                          <p:spTgt spid="8"/>
                                        </p:tgtEl>
                                        <p:attrNameLst>
                                          <p:attrName>style.visibility</p:attrName>
                                        </p:attrNameLst>
                                      </p:cBhvr>
                                      <p:to>
                                        <p:strVal val="visible"/>
                                      </p:to>
                                    </p:set>
                                    <p:animEffect transition="in" filter="wipe(left)">
                                      <p:cBhvr>
                                        <p:cTn id="1843" dur="500"/>
                                        <p:tgtEl>
                                          <p:spTgt spid="8"/>
                                        </p:tgtEl>
                                      </p:cBhvr>
                                    </p:animEffect>
                                  </p:childTnLst>
                                </p:cTn>
                              </p:par>
                              <p:par>
                                <p:cTn id="1844" presetID="22" presetClass="entr" presetSubtype="8" fill="hold" nodeType="withEffect">
                                  <p:stCondLst>
                                    <p:cond delay="410"/>
                                  </p:stCondLst>
                                  <p:childTnLst>
                                    <p:set>
                                      <p:cBhvr>
                                        <p:cTn id="1845" dur="1" fill="hold">
                                          <p:stCondLst>
                                            <p:cond delay="0"/>
                                          </p:stCondLst>
                                        </p:cTn>
                                        <p:tgtEl>
                                          <p:spTgt spid="9"/>
                                        </p:tgtEl>
                                        <p:attrNameLst>
                                          <p:attrName>style.visibility</p:attrName>
                                        </p:attrNameLst>
                                      </p:cBhvr>
                                      <p:to>
                                        <p:strVal val="visible"/>
                                      </p:to>
                                    </p:set>
                                    <p:animEffect transition="in" filter="wipe(left)">
                                      <p:cBhvr>
                                        <p:cTn id="1846" dur="500"/>
                                        <p:tgtEl>
                                          <p:spTgt spid="9"/>
                                        </p:tgtEl>
                                      </p:cBhvr>
                                    </p:animEffect>
                                  </p:childTnLst>
                                </p:cTn>
                              </p:par>
                              <p:par>
                                <p:cTn id="1847" presetID="22" presetClass="entr" presetSubtype="8" fill="hold" nodeType="withEffect">
                                  <p:stCondLst>
                                    <p:cond delay="480"/>
                                  </p:stCondLst>
                                  <p:childTnLst>
                                    <p:set>
                                      <p:cBhvr>
                                        <p:cTn id="1848" dur="1" fill="hold">
                                          <p:stCondLst>
                                            <p:cond delay="0"/>
                                          </p:stCondLst>
                                        </p:cTn>
                                        <p:tgtEl>
                                          <p:spTgt spid="10"/>
                                        </p:tgtEl>
                                        <p:attrNameLst>
                                          <p:attrName>style.visibility</p:attrName>
                                        </p:attrNameLst>
                                      </p:cBhvr>
                                      <p:to>
                                        <p:strVal val="visible"/>
                                      </p:to>
                                    </p:set>
                                    <p:animEffect transition="in" filter="wipe(left)">
                                      <p:cBhvr>
                                        <p:cTn id="1849" dur="500"/>
                                        <p:tgtEl>
                                          <p:spTgt spid="10"/>
                                        </p:tgtEl>
                                      </p:cBhvr>
                                    </p:animEffect>
                                  </p:childTnLst>
                                </p:cTn>
                              </p:par>
                              <p:par>
                                <p:cTn id="1850" presetID="22" presetClass="entr" presetSubtype="8" fill="hold" nodeType="withEffect">
                                  <p:stCondLst>
                                    <p:cond delay="550"/>
                                  </p:stCondLst>
                                  <p:childTnLst>
                                    <p:set>
                                      <p:cBhvr>
                                        <p:cTn id="1851" dur="1" fill="hold">
                                          <p:stCondLst>
                                            <p:cond delay="0"/>
                                          </p:stCondLst>
                                        </p:cTn>
                                        <p:tgtEl>
                                          <p:spTgt spid="11"/>
                                        </p:tgtEl>
                                        <p:attrNameLst>
                                          <p:attrName>style.visibility</p:attrName>
                                        </p:attrNameLst>
                                      </p:cBhvr>
                                      <p:to>
                                        <p:strVal val="visible"/>
                                      </p:to>
                                    </p:set>
                                    <p:animEffect transition="in" filter="wipe(left)">
                                      <p:cBhvr>
                                        <p:cTn id="1852" dur="500"/>
                                        <p:tgtEl>
                                          <p:spTgt spid="11"/>
                                        </p:tgtEl>
                                      </p:cBhvr>
                                    </p:animEffect>
                                  </p:childTnLst>
                                </p:cTn>
                              </p:par>
                              <p:par>
                                <p:cTn id="1853" presetID="22" presetClass="entr" presetSubtype="8" fill="hold" nodeType="withEffect">
                                  <p:stCondLst>
                                    <p:cond delay="620"/>
                                  </p:stCondLst>
                                  <p:childTnLst>
                                    <p:set>
                                      <p:cBhvr>
                                        <p:cTn id="1854" dur="1" fill="hold">
                                          <p:stCondLst>
                                            <p:cond delay="0"/>
                                          </p:stCondLst>
                                        </p:cTn>
                                        <p:tgtEl>
                                          <p:spTgt spid="12"/>
                                        </p:tgtEl>
                                        <p:attrNameLst>
                                          <p:attrName>style.visibility</p:attrName>
                                        </p:attrNameLst>
                                      </p:cBhvr>
                                      <p:to>
                                        <p:strVal val="visible"/>
                                      </p:to>
                                    </p:set>
                                    <p:animEffect transition="in" filter="wipe(left)">
                                      <p:cBhvr>
                                        <p:cTn id="1855" dur="500"/>
                                        <p:tgtEl>
                                          <p:spTgt spid="12"/>
                                        </p:tgtEl>
                                      </p:cBhvr>
                                    </p:animEffect>
                                  </p:childTnLst>
                                </p:cTn>
                              </p:par>
                              <p:par>
                                <p:cTn id="1856" presetID="22" presetClass="entr" presetSubtype="8" fill="hold" nodeType="withEffect">
                                  <p:stCondLst>
                                    <p:cond delay="690"/>
                                  </p:stCondLst>
                                  <p:childTnLst>
                                    <p:set>
                                      <p:cBhvr>
                                        <p:cTn id="1857" dur="1" fill="hold">
                                          <p:stCondLst>
                                            <p:cond delay="0"/>
                                          </p:stCondLst>
                                        </p:cTn>
                                        <p:tgtEl>
                                          <p:spTgt spid="13"/>
                                        </p:tgtEl>
                                        <p:attrNameLst>
                                          <p:attrName>style.visibility</p:attrName>
                                        </p:attrNameLst>
                                      </p:cBhvr>
                                      <p:to>
                                        <p:strVal val="visible"/>
                                      </p:to>
                                    </p:set>
                                    <p:animEffect transition="in" filter="wipe(left)">
                                      <p:cBhvr>
                                        <p:cTn id="1858" dur="500"/>
                                        <p:tgtEl>
                                          <p:spTgt spid="13"/>
                                        </p:tgtEl>
                                      </p:cBhvr>
                                    </p:animEffect>
                                  </p:childTnLst>
                                </p:cTn>
                              </p:par>
                              <p:par>
                                <p:cTn id="1859" presetID="22" presetClass="entr" presetSubtype="8" fill="hold" nodeType="withEffect">
                                  <p:stCondLst>
                                    <p:cond delay="760"/>
                                  </p:stCondLst>
                                  <p:childTnLst>
                                    <p:set>
                                      <p:cBhvr>
                                        <p:cTn id="1860" dur="1" fill="hold">
                                          <p:stCondLst>
                                            <p:cond delay="0"/>
                                          </p:stCondLst>
                                        </p:cTn>
                                        <p:tgtEl>
                                          <p:spTgt spid="28"/>
                                        </p:tgtEl>
                                        <p:attrNameLst>
                                          <p:attrName>style.visibility</p:attrName>
                                        </p:attrNameLst>
                                      </p:cBhvr>
                                      <p:to>
                                        <p:strVal val="visible"/>
                                      </p:to>
                                    </p:set>
                                    <p:animEffect transition="in" filter="wipe(left)">
                                      <p:cBhvr>
                                        <p:cTn id="1861" dur="500"/>
                                        <p:tgtEl>
                                          <p:spTgt spid="28"/>
                                        </p:tgtEl>
                                      </p:cBhvr>
                                    </p:animEffect>
                                  </p:childTnLst>
                                </p:cTn>
                              </p:par>
                              <p:par>
                                <p:cTn id="1862" presetID="22" presetClass="entr" presetSubtype="8" fill="hold" nodeType="withEffect">
                                  <p:stCondLst>
                                    <p:cond delay="830"/>
                                  </p:stCondLst>
                                  <p:childTnLst>
                                    <p:set>
                                      <p:cBhvr>
                                        <p:cTn id="1863" dur="1" fill="hold">
                                          <p:stCondLst>
                                            <p:cond delay="0"/>
                                          </p:stCondLst>
                                        </p:cTn>
                                        <p:tgtEl>
                                          <p:spTgt spid="29"/>
                                        </p:tgtEl>
                                        <p:attrNameLst>
                                          <p:attrName>style.visibility</p:attrName>
                                        </p:attrNameLst>
                                      </p:cBhvr>
                                      <p:to>
                                        <p:strVal val="visible"/>
                                      </p:to>
                                    </p:set>
                                    <p:animEffect transition="in" filter="wipe(left)">
                                      <p:cBhvr>
                                        <p:cTn id="1864" dur="500"/>
                                        <p:tgtEl>
                                          <p:spTgt spid="29"/>
                                        </p:tgtEl>
                                      </p:cBhvr>
                                    </p:animEffect>
                                  </p:childTnLst>
                                </p:cTn>
                              </p:par>
                            </p:childTnLst>
                          </p:cTn>
                        </p:par>
                      </p:childTnLst>
                    </p:cTn>
                  </p:par>
                  <p:par>
                    <p:cTn id="1909" fill="hold">
                      <p:stCondLst>
                        <p:cond delay="indefinite"/>
                      </p:stCondLst>
                      <p:childTnLst>
                        <p:par>
                          <p:cTn id="1910" fill="hold">
                            <p:stCondLst>
                              <p:cond delay="0"/>
                            </p:stCondLst>
                            <p:childTnLst>
                              <p:par>
                                <p:cTn id="1867" presetID="10" presetClass="exit" presetSubtype="0" fill="hold" nodeType="clickEffect">
                                  <p:stCondLst>
                                    <p:cond delay="0"/>
                                  </p:stCondLst>
                                  <p:childTnLst>
                                    <p:animEffect transition="out" filter="fade">
                                      <p:cBhvr>
                                        <p:cTn id="1868" dur="400"/>
                                        <p:tgtEl>
                                          <p:spTgt spid="6"/>
                                        </p:tgtEl>
                                      </p:cBhvr>
                                    </p:animEffect>
                                    <p:set>
                                      <p:cBhvr>
                                        <p:cTn id="1869" dur="1" fill="hold">
                                          <p:stCondLst>
                                            <p:cond delay="399"/>
                                          </p:stCondLst>
                                        </p:cTn>
                                        <p:tgtEl>
                                          <p:spTgt spid="6"/>
                                        </p:tgtEl>
                                        <p:attrNameLst>
                                          <p:attrName>style.visibility</p:attrName>
                                        </p:attrNameLst>
                                      </p:cBhvr>
                                      <p:to>
                                        <p:strVal val="hidden"/>
                                      </p:to>
                                    </p:set>
                                  </p:childTnLst>
                                </p:cTn>
                              </p:par>
                              <p:par>
                                <p:cTn id="1870" presetID="10" presetClass="exit" presetSubtype="0" fill="hold" nodeType="withEffect">
                                  <p:stCondLst>
                                    <p:cond delay="0"/>
                                  </p:stCondLst>
                                  <p:childTnLst>
                                    <p:animEffect transition="out" filter="fade">
                                      <p:cBhvr>
                                        <p:cTn id="1871" dur="400"/>
                                        <p:tgtEl>
                                          <p:spTgt spid="7"/>
                                        </p:tgtEl>
                                      </p:cBhvr>
                                    </p:animEffect>
                                    <p:set>
                                      <p:cBhvr>
                                        <p:cTn id="1872" dur="1" fill="hold">
                                          <p:stCondLst>
                                            <p:cond delay="399"/>
                                          </p:stCondLst>
                                        </p:cTn>
                                        <p:tgtEl>
                                          <p:spTgt spid="7"/>
                                        </p:tgtEl>
                                        <p:attrNameLst>
                                          <p:attrName>style.visibility</p:attrName>
                                        </p:attrNameLst>
                                      </p:cBhvr>
                                      <p:to>
                                        <p:strVal val="hidden"/>
                                      </p:to>
                                    </p:set>
                                  </p:childTnLst>
                                </p:cTn>
                              </p:par>
                              <p:par>
                                <p:cTn id="1873" presetID="10" presetClass="exit" presetSubtype="0" fill="hold" nodeType="withEffect">
                                  <p:stCondLst>
                                    <p:cond delay="0"/>
                                  </p:stCondLst>
                                  <p:childTnLst>
                                    <p:animEffect transition="out" filter="fade">
                                      <p:cBhvr>
                                        <p:cTn id="1874" dur="400"/>
                                        <p:tgtEl>
                                          <p:spTgt spid="8"/>
                                        </p:tgtEl>
                                      </p:cBhvr>
                                    </p:animEffect>
                                    <p:set>
                                      <p:cBhvr>
                                        <p:cTn id="1875" dur="1" fill="hold">
                                          <p:stCondLst>
                                            <p:cond delay="399"/>
                                          </p:stCondLst>
                                        </p:cTn>
                                        <p:tgtEl>
                                          <p:spTgt spid="8"/>
                                        </p:tgtEl>
                                        <p:attrNameLst>
                                          <p:attrName>style.visibility</p:attrName>
                                        </p:attrNameLst>
                                      </p:cBhvr>
                                      <p:to>
                                        <p:strVal val="hidden"/>
                                      </p:to>
                                    </p:set>
                                  </p:childTnLst>
                                </p:cTn>
                              </p:par>
                              <p:par>
                                <p:cTn id="1876" presetID="10" presetClass="exit" presetSubtype="0" fill="hold" nodeType="withEffect">
                                  <p:stCondLst>
                                    <p:cond delay="0"/>
                                  </p:stCondLst>
                                  <p:childTnLst>
                                    <p:animEffect transition="out" filter="fade">
                                      <p:cBhvr>
                                        <p:cTn id="1877" dur="400"/>
                                        <p:tgtEl>
                                          <p:spTgt spid="9"/>
                                        </p:tgtEl>
                                      </p:cBhvr>
                                    </p:animEffect>
                                    <p:set>
                                      <p:cBhvr>
                                        <p:cTn id="1878" dur="1" fill="hold">
                                          <p:stCondLst>
                                            <p:cond delay="399"/>
                                          </p:stCondLst>
                                        </p:cTn>
                                        <p:tgtEl>
                                          <p:spTgt spid="9"/>
                                        </p:tgtEl>
                                        <p:attrNameLst>
                                          <p:attrName>style.visibility</p:attrName>
                                        </p:attrNameLst>
                                      </p:cBhvr>
                                      <p:to>
                                        <p:strVal val="hidden"/>
                                      </p:to>
                                    </p:set>
                                  </p:childTnLst>
                                </p:cTn>
                              </p:par>
                              <p:par>
                                <p:cTn id="1879" presetID="10" presetClass="exit" presetSubtype="0" fill="hold" nodeType="withEffect">
                                  <p:stCondLst>
                                    <p:cond delay="0"/>
                                  </p:stCondLst>
                                  <p:childTnLst>
                                    <p:animEffect transition="out" filter="fade">
                                      <p:cBhvr>
                                        <p:cTn id="1880" dur="400"/>
                                        <p:tgtEl>
                                          <p:spTgt spid="10"/>
                                        </p:tgtEl>
                                      </p:cBhvr>
                                    </p:animEffect>
                                    <p:set>
                                      <p:cBhvr>
                                        <p:cTn id="1881" dur="1" fill="hold">
                                          <p:stCondLst>
                                            <p:cond delay="399"/>
                                          </p:stCondLst>
                                        </p:cTn>
                                        <p:tgtEl>
                                          <p:spTgt spid="10"/>
                                        </p:tgtEl>
                                        <p:attrNameLst>
                                          <p:attrName>style.visibility</p:attrName>
                                        </p:attrNameLst>
                                      </p:cBhvr>
                                      <p:to>
                                        <p:strVal val="hidden"/>
                                      </p:to>
                                    </p:set>
                                  </p:childTnLst>
                                </p:cTn>
                              </p:par>
                              <p:par>
                                <p:cTn id="1882" presetID="10" presetClass="exit" presetSubtype="0" fill="hold" nodeType="withEffect">
                                  <p:stCondLst>
                                    <p:cond delay="0"/>
                                  </p:stCondLst>
                                  <p:childTnLst>
                                    <p:animEffect transition="out" filter="fade">
                                      <p:cBhvr>
                                        <p:cTn id="1883" dur="400"/>
                                        <p:tgtEl>
                                          <p:spTgt spid="11"/>
                                        </p:tgtEl>
                                      </p:cBhvr>
                                    </p:animEffect>
                                    <p:set>
                                      <p:cBhvr>
                                        <p:cTn id="1884" dur="1" fill="hold">
                                          <p:stCondLst>
                                            <p:cond delay="399"/>
                                          </p:stCondLst>
                                        </p:cTn>
                                        <p:tgtEl>
                                          <p:spTgt spid="11"/>
                                        </p:tgtEl>
                                        <p:attrNameLst>
                                          <p:attrName>style.visibility</p:attrName>
                                        </p:attrNameLst>
                                      </p:cBhvr>
                                      <p:to>
                                        <p:strVal val="hidden"/>
                                      </p:to>
                                    </p:set>
                                  </p:childTnLst>
                                </p:cTn>
                              </p:par>
                              <p:par>
                                <p:cTn id="1885" presetID="10" presetClass="exit" presetSubtype="0" fill="hold" nodeType="withEffect">
                                  <p:stCondLst>
                                    <p:cond delay="0"/>
                                  </p:stCondLst>
                                  <p:childTnLst>
                                    <p:animEffect transition="out" filter="fade">
                                      <p:cBhvr>
                                        <p:cTn id="1886" dur="400"/>
                                        <p:tgtEl>
                                          <p:spTgt spid="12"/>
                                        </p:tgtEl>
                                      </p:cBhvr>
                                    </p:animEffect>
                                    <p:set>
                                      <p:cBhvr>
                                        <p:cTn id="1887" dur="1" fill="hold">
                                          <p:stCondLst>
                                            <p:cond delay="399"/>
                                          </p:stCondLst>
                                        </p:cTn>
                                        <p:tgtEl>
                                          <p:spTgt spid="12"/>
                                        </p:tgtEl>
                                        <p:attrNameLst>
                                          <p:attrName>style.visibility</p:attrName>
                                        </p:attrNameLst>
                                      </p:cBhvr>
                                      <p:to>
                                        <p:strVal val="hidden"/>
                                      </p:to>
                                    </p:set>
                                  </p:childTnLst>
                                </p:cTn>
                              </p:par>
                              <p:par>
                                <p:cTn id="1888" presetID="10" presetClass="exit" presetSubtype="0" fill="hold" nodeType="withEffect">
                                  <p:stCondLst>
                                    <p:cond delay="0"/>
                                  </p:stCondLst>
                                  <p:childTnLst>
                                    <p:animEffect transition="out" filter="fade">
                                      <p:cBhvr>
                                        <p:cTn id="1889" dur="400"/>
                                        <p:tgtEl>
                                          <p:spTgt spid="13"/>
                                        </p:tgtEl>
                                      </p:cBhvr>
                                    </p:animEffect>
                                    <p:set>
                                      <p:cBhvr>
                                        <p:cTn id="1890" dur="1" fill="hold">
                                          <p:stCondLst>
                                            <p:cond delay="399"/>
                                          </p:stCondLst>
                                        </p:cTn>
                                        <p:tgtEl>
                                          <p:spTgt spid="13"/>
                                        </p:tgtEl>
                                        <p:attrNameLst>
                                          <p:attrName>style.visibility</p:attrName>
                                        </p:attrNameLst>
                                      </p:cBhvr>
                                      <p:to>
                                        <p:strVal val="hidden"/>
                                      </p:to>
                                    </p:set>
                                  </p:childTnLst>
                                </p:cTn>
                              </p:par>
                              <p:par>
                                <p:cTn id="1891" presetID="10" presetClass="exit" presetSubtype="0" fill="hold" nodeType="withEffect">
                                  <p:stCondLst>
                                    <p:cond delay="0"/>
                                  </p:stCondLst>
                                  <p:childTnLst>
                                    <p:animEffect transition="out" filter="fade">
                                      <p:cBhvr>
                                        <p:cTn id="1892" dur="400"/>
                                        <p:tgtEl>
                                          <p:spTgt spid="28"/>
                                        </p:tgtEl>
                                      </p:cBhvr>
                                    </p:animEffect>
                                    <p:set>
                                      <p:cBhvr>
                                        <p:cTn id="1893" dur="1" fill="hold">
                                          <p:stCondLst>
                                            <p:cond delay="399"/>
                                          </p:stCondLst>
                                        </p:cTn>
                                        <p:tgtEl>
                                          <p:spTgt spid="28"/>
                                        </p:tgtEl>
                                        <p:attrNameLst>
                                          <p:attrName>style.visibility</p:attrName>
                                        </p:attrNameLst>
                                      </p:cBhvr>
                                      <p:to>
                                        <p:strVal val="hidden"/>
                                      </p:to>
                                    </p:set>
                                  </p:childTnLst>
                                </p:cTn>
                              </p:par>
                              <p:par>
                                <p:cTn id="1894" presetID="10" presetClass="exit" presetSubtype="0" fill="hold" nodeType="withEffect">
                                  <p:stCondLst>
                                    <p:cond delay="0"/>
                                  </p:stCondLst>
                                  <p:childTnLst>
                                    <p:animEffect transition="out" filter="fade">
                                      <p:cBhvr>
                                        <p:cTn id="1895" dur="400"/>
                                        <p:tgtEl>
                                          <p:spTgt spid="29"/>
                                        </p:tgtEl>
                                      </p:cBhvr>
                                    </p:animEffect>
                                    <p:set>
                                      <p:cBhvr>
                                        <p:cTn id="1896" dur="1" fill="hold">
                                          <p:stCondLst>
                                            <p:cond delay="399"/>
                                          </p:stCondLst>
                                        </p:cTn>
                                        <p:tgtEl>
                                          <p:spTgt spid="29"/>
                                        </p:tgtEl>
                                        <p:attrNameLst>
                                          <p:attrName>style.visibility</p:attrName>
                                        </p:attrNameLst>
                                      </p:cBhvr>
                                      <p:to>
                                        <p:strVal val="hidden"/>
                                      </p:to>
                                    </p:set>
                                  </p:childTnLst>
                                </p:cTn>
                              </p:par>
                              <p:par>
                                <p:cTn id="1897" presetID="22" presetClass="entr" presetSubtype="4" fill="hold" nodeType="withEffect">
                                  <p:stCondLst>
                                    <p:cond delay="200"/>
                                  </p:stCondLst>
                                  <p:childTnLst>
                                    <p:set>
                                      <p:cBhvr>
                                        <p:cTn id="1898" dur="1" fill="hold">
                                          <p:stCondLst>
                                            <p:cond delay="0"/>
                                          </p:stCondLst>
                                        </p:cTn>
                                        <p:tgtEl>
                                          <p:spTgt spid="14"/>
                                        </p:tgtEl>
                                        <p:attrNameLst>
                                          <p:attrName>style.visibility</p:attrName>
                                        </p:attrNameLst>
                                      </p:cBhvr>
                                      <p:to>
                                        <p:strVal val="visible"/>
                                      </p:to>
                                    </p:set>
                                    <p:animEffect transition="in" filter="wipe(down)">
                                      <p:cBhvr>
                                        <p:cTn id="1899" dur="500"/>
                                        <p:tgtEl>
                                          <p:spTgt spid="14"/>
                                        </p:tgtEl>
                                      </p:cBhvr>
                                    </p:animEffect>
                                  </p:childTnLst>
                                </p:cTn>
                              </p:par>
                              <p:par>
                                <p:cTn id="1900" presetID="22" presetClass="entr" presetSubtype="4" fill="hold" nodeType="withEffect">
                                  <p:stCondLst>
                                    <p:cond delay="270"/>
                                  </p:stCondLst>
                                  <p:childTnLst>
                                    <p:set>
                                      <p:cBhvr>
                                        <p:cTn id="1901" dur="1" fill="hold">
                                          <p:stCondLst>
                                            <p:cond delay="0"/>
                                          </p:stCondLst>
                                        </p:cTn>
                                        <p:tgtEl>
                                          <p:spTgt spid="15"/>
                                        </p:tgtEl>
                                        <p:attrNameLst>
                                          <p:attrName>style.visibility</p:attrName>
                                        </p:attrNameLst>
                                      </p:cBhvr>
                                      <p:to>
                                        <p:strVal val="visible"/>
                                      </p:to>
                                    </p:set>
                                    <p:animEffect transition="in" filter="wipe(down)">
                                      <p:cBhvr>
                                        <p:cTn id="1902" dur="500"/>
                                        <p:tgtEl>
                                          <p:spTgt spid="15"/>
                                        </p:tgtEl>
                                      </p:cBhvr>
                                    </p:animEffect>
                                  </p:childTnLst>
                                </p:cTn>
                              </p:par>
                              <p:par>
                                <p:cTn id="1903" presetID="22" presetClass="entr" presetSubtype="4" fill="hold" nodeType="withEffect">
                                  <p:stCondLst>
                                    <p:cond delay="340"/>
                                  </p:stCondLst>
                                  <p:childTnLst>
                                    <p:set>
                                      <p:cBhvr>
                                        <p:cTn id="1904" dur="1" fill="hold">
                                          <p:stCondLst>
                                            <p:cond delay="0"/>
                                          </p:stCondLst>
                                        </p:cTn>
                                        <p:tgtEl>
                                          <p:spTgt spid="30"/>
                                        </p:tgtEl>
                                        <p:attrNameLst>
                                          <p:attrName>style.visibility</p:attrName>
                                        </p:attrNameLst>
                                      </p:cBhvr>
                                      <p:to>
                                        <p:strVal val="visible"/>
                                      </p:to>
                                    </p:set>
                                    <p:animEffect transition="in" filter="wipe(down)">
                                      <p:cBhvr>
                                        <p:cTn id="1905" dur="500"/>
                                        <p:tgtEl>
                                          <p:spTgt spid="30"/>
                                        </p:tgtEl>
                                      </p:cBhvr>
                                    </p:animEffect>
                                  </p:childTnLst>
                                </p:cTn>
                              </p:par>
                              <p:par>
                                <p:cTn id="1906" presetID="22" presetClass="entr" presetSubtype="4" fill="hold" nodeType="withEffect">
                                  <p:stCondLst>
                                    <p:cond delay="410"/>
                                  </p:stCondLst>
                                  <p:childTnLst>
                                    <p:set>
                                      <p:cBhvr>
                                        <p:cTn id="1907" dur="1" fill="hold">
                                          <p:stCondLst>
                                            <p:cond delay="0"/>
                                          </p:stCondLst>
                                        </p:cTn>
                                        <p:tgtEl>
                                          <p:spTgt spid="31"/>
                                        </p:tgtEl>
                                        <p:attrNameLst>
                                          <p:attrName>style.visibility</p:attrName>
                                        </p:attrNameLst>
                                      </p:cBhvr>
                                      <p:to>
                                        <p:strVal val="visible"/>
                                      </p:to>
                                    </p:set>
                                    <p:animEffect transition="in" filter="wipe(down)">
                                      <p:cBhvr>
                                        <p:cTn id="1908" dur="500"/>
                                        <p:tgtEl>
                                          <p:spTgt spid="31"/>
                                        </p:tgtEl>
                                      </p:cBhvr>
                                    </p:animEffect>
                                  </p:childTnLst>
                                </p:cTn>
                              </p:par>
                            </p:childTnLst>
                          </p:cTn>
                        </p:par>
                      </p:childTnLst>
                    </p:cTn>
                  </p:par>
                  <p:par>
                    <p:cTn id="1953" fill="hold">
                      <p:stCondLst>
                        <p:cond delay="indefinite"/>
                      </p:stCondLst>
                      <p:childTnLst>
                        <p:par>
                          <p:cTn id="1954" fill="hold">
                            <p:stCondLst>
                              <p:cond delay="0"/>
                            </p:stCondLst>
                            <p:childTnLst>
                              <p:par>
                                <p:cTn id="1911" presetID="10" presetClass="exit" presetSubtype="0" fill="hold" nodeType="clickEffect">
                                  <p:stCondLst>
                                    <p:cond delay="0"/>
                                  </p:stCondLst>
                                  <p:childTnLst>
                                    <p:animEffect transition="out" filter="fade">
                                      <p:cBhvr>
                                        <p:cTn id="1912" dur="400"/>
                                        <p:tgtEl>
                                          <p:spTgt spid="14"/>
                                        </p:tgtEl>
                                      </p:cBhvr>
                                    </p:animEffect>
                                    <p:set>
                                      <p:cBhvr>
                                        <p:cTn id="1913" dur="1" fill="hold">
                                          <p:stCondLst>
                                            <p:cond delay="399"/>
                                          </p:stCondLst>
                                        </p:cTn>
                                        <p:tgtEl>
                                          <p:spTgt spid="14"/>
                                        </p:tgtEl>
                                        <p:attrNameLst>
                                          <p:attrName>style.visibility</p:attrName>
                                        </p:attrNameLst>
                                      </p:cBhvr>
                                      <p:to>
                                        <p:strVal val="hidden"/>
                                      </p:to>
                                    </p:set>
                                  </p:childTnLst>
                                </p:cTn>
                              </p:par>
                              <p:par>
                                <p:cTn id="1914" presetID="10" presetClass="exit" presetSubtype="0" fill="hold" nodeType="withEffect">
                                  <p:stCondLst>
                                    <p:cond delay="0"/>
                                  </p:stCondLst>
                                  <p:childTnLst>
                                    <p:animEffect transition="out" filter="fade">
                                      <p:cBhvr>
                                        <p:cTn id="1915" dur="400"/>
                                        <p:tgtEl>
                                          <p:spTgt spid="15"/>
                                        </p:tgtEl>
                                      </p:cBhvr>
                                    </p:animEffect>
                                    <p:set>
                                      <p:cBhvr>
                                        <p:cTn id="1916" dur="1" fill="hold">
                                          <p:stCondLst>
                                            <p:cond delay="399"/>
                                          </p:stCondLst>
                                        </p:cTn>
                                        <p:tgtEl>
                                          <p:spTgt spid="15"/>
                                        </p:tgtEl>
                                        <p:attrNameLst>
                                          <p:attrName>style.visibility</p:attrName>
                                        </p:attrNameLst>
                                      </p:cBhvr>
                                      <p:to>
                                        <p:strVal val="hidden"/>
                                      </p:to>
                                    </p:set>
                                  </p:childTnLst>
                                </p:cTn>
                              </p:par>
                              <p:par>
                                <p:cTn id="1917" presetID="10" presetClass="exit" presetSubtype="0" fill="hold" nodeType="withEffect">
                                  <p:stCondLst>
                                    <p:cond delay="0"/>
                                  </p:stCondLst>
                                  <p:childTnLst>
                                    <p:animEffect transition="out" filter="fade">
                                      <p:cBhvr>
                                        <p:cTn id="1918" dur="400"/>
                                        <p:tgtEl>
                                          <p:spTgt spid="30"/>
                                        </p:tgtEl>
                                      </p:cBhvr>
                                    </p:animEffect>
                                    <p:set>
                                      <p:cBhvr>
                                        <p:cTn id="1919" dur="1" fill="hold">
                                          <p:stCondLst>
                                            <p:cond delay="399"/>
                                          </p:stCondLst>
                                        </p:cTn>
                                        <p:tgtEl>
                                          <p:spTgt spid="30"/>
                                        </p:tgtEl>
                                        <p:attrNameLst>
                                          <p:attrName>style.visibility</p:attrName>
                                        </p:attrNameLst>
                                      </p:cBhvr>
                                      <p:to>
                                        <p:strVal val="hidden"/>
                                      </p:to>
                                    </p:set>
                                  </p:childTnLst>
                                </p:cTn>
                              </p:par>
                              <p:par>
                                <p:cTn id="1920" presetID="10" presetClass="exit" presetSubtype="0" fill="hold" nodeType="withEffect">
                                  <p:stCondLst>
                                    <p:cond delay="0"/>
                                  </p:stCondLst>
                                  <p:childTnLst>
                                    <p:animEffect transition="out" filter="fade">
                                      <p:cBhvr>
                                        <p:cTn id="1921" dur="400"/>
                                        <p:tgtEl>
                                          <p:spTgt spid="31"/>
                                        </p:tgtEl>
                                      </p:cBhvr>
                                    </p:animEffect>
                                    <p:set>
                                      <p:cBhvr>
                                        <p:cTn id="1922" dur="1" fill="hold">
                                          <p:stCondLst>
                                            <p:cond delay="399"/>
                                          </p:stCondLst>
                                        </p:cTn>
                                        <p:tgtEl>
                                          <p:spTgt spid="31"/>
                                        </p:tgtEl>
                                        <p:attrNameLst>
                                          <p:attrName>style.visibility</p:attrName>
                                        </p:attrNameLst>
                                      </p:cBhvr>
                                      <p:to>
                                        <p:strVal val="hidden"/>
                                      </p:to>
                                    </p:set>
                                  </p:childTnLst>
                                </p:cTn>
                              </p:par>
                              <p:par>
                                <p:cTn id="1923" presetID="10" presetClass="entr" presetSubtype="0" fill="hold" nodeType="withEffect">
                                  <p:stCondLst>
                                    <p:cond delay="200"/>
                                  </p:stCondLst>
                                  <p:childTnLst>
                                    <p:set>
                                      <p:cBhvr>
                                        <p:cTn id="1924" dur="1" fill="hold">
                                          <p:stCondLst>
                                            <p:cond delay="0"/>
                                          </p:stCondLst>
                                        </p:cTn>
                                        <p:tgtEl>
                                          <p:spTgt spid="16"/>
                                        </p:tgtEl>
                                        <p:attrNameLst>
                                          <p:attrName>style.visibility</p:attrName>
                                        </p:attrNameLst>
                                      </p:cBhvr>
                                      <p:to>
                                        <p:strVal val="visible"/>
                                      </p:to>
                                    </p:set>
                                    <p:animEffect transition="in" filter="fade">
                                      <p:cBhvr>
                                        <p:cTn id="1925" dur="500"/>
                                        <p:tgtEl>
                                          <p:spTgt spid="16"/>
                                        </p:tgtEl>
                                      </p:cBhvr>
                                    </p:animEffect>
                                  </p:childTnLst>
                                </p:cTn>
                              </p:par>
                              <p:par>
                                <p:cTn id="1926" presetID="10" presetClass="entr" presetSubtype="0" fill="hold" nodeType="withEffect">
                                  <p:stCondLst>
                                    <p:cond delay="270"/>
                                  </p:stCondLst>
                                  <p:childTnLst>
                                    <p:set>
                                      <p:cBhvr>
                                        <p:cTn id="1927" dur="1" fill="hold">
                                          <p:stCondLst>
                                            <p:cond delay="0"/>
                                          </p:stCondLst>
                                        </p:cTn>
                                        <p:tgtEl>
                                          <p:spTgt spid="17"/>
                                        </p:tgtEl>
                                        <p:attrNameLst>
                                          <p:attrName>style.visibility</p:attrName>
                                        </p:attrNameLst>
                                      </p:cBhvr>
                                      <p:to>
                                        <p:strVal val="visible"/>
                                      </p:to>
                                    </p:set>
                                    <p:animEffect transition="in" filter="fade">
                                      <p:cBhvr>
                                        <p:cTn id="1928" dur="500"/>
                                        <p:tgtEl>
                                          <p:spTgt spid="17"/>
                                        </p:tgtEl>
                                      </p:cBhvr>
                                    </p:animEffect>
                                  </p:childTnLst>
                                </p:cTn>
                              </p:par>
                              <p:par>
                                <p:cTn id="1929" presetID="10" presetClass="entr" presetSubtype="0" fill="hold" nodeType="withEffect">
                                  <p:stCondLst>
                                    <p:cond delay="340"/>
                                  </p:stCondLst>
                                  <p:childTnLst>
                                    <p:set>
                                      <p:cBhvr>
                                        <p:cTn id="1930" dur="1" fill="hold">
                                          <p:stCondLst>
                                            <p:cond delay="0"/>
                                          </p:stCondLst>
                                        </p:cTn>
                                        <p:tgtEl>
                                          <p:spTgt spid="18"/>
                                        </p:tgtEl>
                                        <p:attrNameLst>
                                          <p:attrName>style.visibility</p:attrName>
                                        </p:attrNameLst>
                                      </p:cBhvr>
                                      <p:to>
                                        <p:strVal val="visible"/>
                                      </p:to>
                                    </p:set>
                                    <p:animEffect transition="in" filter="fade">
                                      <p:cBhvr>
                                        <p:cTn id="1931" dur="500"/>
                                        <p:tgtEl>
                                          <p:spTgt spid="18"/>
                                        </p:tgtEl>
                                      </p:cBhvr>
                                    </p:animEffect>
                                  </p:childTnLst>
                                </p:cTn>
                              </p:par>
                              <p:par>
                                <p:cTn id="1932" presetID="10" presetClass="entr" presetSubtype="0" fill="hold" nodeType="withEffect">
                                  <p:stCondLst>
                                    <p:cond delay="410"/>
                                  </p:stCondLst>
                                  <p:childTnLst>
                                    <p:set>
                                      <p:cBhvr>
                                        <p:cTn id="1933" dur="1" fill="hold">
                                          <p:stCondLst>
                                            <p:cond delay="0"/>
                                          </p:stCondLst>
                                        </p:cTn>
                                        <p:tgtEl>
                                          <p:spTgt spid="19"/>
                                        </p:tgtEl>
                                        <p:attrNameLst>
                                          <p:attrName>style.visibility</p:attrName>
                                        </p:attrNameLst>
                                      </p:cBhvr>
                                      <p:to>
                                        <p:strVal val="visible"/>
                                      </p:to>
                                    </p:set>
                                    <p:animEffect transition="in" filter="fade">
                                      <p:cBhvr>
                                        <p:cTn id="1934" dur="500"/>
                                        <p:tgtEl>
                                          <p:spTgt spid="19"/>
                                        </p:tgtEl>
                                      </p:cBhvr>
                                    </p:animEffect>
                                  </p:childTnLst>
                                </p:cTn>
                              </p:par>
                              <p:par>
                                <p:cTn id="1935" presetID="10" presetClass="entr" presetSubtype="0" fill="hold" nodeType="withEffect">
                                  <p:stCondLst>
                                    <p:cond delay="480"/>
                                  </p:stCondLst>
                                  <p:childTnLst>
                                    <p:set>
                                      <p:cBhvr>
                                        <p:cTn id="1936" dur="1" fill="hold">
                                          <p:stCondLst>
                                            <p:cond delay="0"/>
                                          </p:stCondLst>
                                        </p:cTn>
                                        <p:tgtEl>
                                          <p:spTgt spid="20"/>
                                        </p:tgtEl>
                                        <p:attrNameLst>
                                          <p:attrName>style.visibility</p:attrName>
                                        </p:attrNameLst>
                                      </p:cBhvr>
                                      <p:to>
                                        <p:strVal val="visible"/>
                                      </p:to>
                                    </p:set>
                                    <p:animEffect transition="in" filter="fade">
                                      <p:cBhvr>
                                        <p:cTn id="1937" dur="500"/>
                                        <p:tgtEl>
                                          <p:spTgt spid="20"/>
                                        </p:tgtEl>
                                      </p:cBhvr>
                                    </p:animEffect>
                                  </p:childTnLst>
                                </p:cTn>
                              </p:par>
                              <p:par>
                                <p:cTn id="1938" presetID="10" presetClass="entr" presetSubtype="0" fill="hold" nodeType="withEffect">
                                  <p:stCondLst>
                                    <p:cond delay="550"/>
                                  </p:stCondLst>
                                  <p:childTnLst>
                                    <p:set>
                                      <p:cBhvr>
                                        <p:cTn id="1939" dur="1" fill="hold">
                                          <p:stCondLst>
                                            <p:cond delay="0"/>
                                          </p:stCondLst>
                                        </p:cTn>
                                        <p:tgtEl>
                                          <p:spTgt spid="21"/>
                                        </p:tgtEl>
                                        <p:attrNameLst>
                                          <p:attrName>style.visibility</p:attrName>
                                        </p:attrNameLst>
                                      </p:cBhvr>
                                      <p:to>
                                        <p:strVal val="visible"/>
                                      </p:to>
                                    </p:set>
                                    <p:animEffect transition="in" filter="fade">
                                      <p:cBhvr>
                                        <p:cTn id="1940" dur="500"/>
                                        <p:tgtEl>
                                          <p:spTgt spid="21"/>
                                        </p:tgtEl>
                                      </p:cBhvr>
                                    </p:animEffect>
                                  </p:childTnLst>
                                </p:cTn>
                              </p:par>
                              <p:par>
                                <p:cTn id="1941" presetID="10" presetClass="entr" presetSubtype="0" fill="hold" nodeType="withEffect">
                                  <p:stCondLst>
                                    <p:cond delay="620"/>
                                  </p:stCondLst>
                                  <p:childTnLst>
                                    <p:set>
                                      <p:cBhvr>
                                        <p:cTn id="1942" dur="1" fill="hold">
                                          <p:stCondLst>
                                            <p:cond delay="0"/>
                                          </p:stCondLst>
                                        </p:cTn>
                                        <p:tgtEl>
                                          <p:spTgt spid="22"/>
                                        </p:tgtEl>
                                        <p:attrNameLst>
                                          <p:attrName>style.visibility</p:attrName>
                                        </p:attrNameLst>
                                      </p:cBhvr>
                                      <p:to>
                                        <p:strVal val="visible"/>
                                      </p:to>
                                    </p:set>
                                    <p:animEffect transition="in" filter="fade">
                                      <p:cBhvr>
                                        <p:cTn id="1943" dur="500"/>
                                        <p:tgtEl>
                                          <p:spTgt spid="22"/>
                                        </p:tgtEl>
                                      </p:cBhvr>
                                    </p:animEffect>
                                  </p:childTnLst>
                                </p:cTn>
                              </p:par>
                              <p:par>
                                <p:cTn id="1944" presetID="10" presetClass="entr" presetSubtype="0" fill="hold" nodeType="withEffect">
                                  <p:stCondLst>
                                    <p:cond delay="690"/>
                                  </p:stCondLst>
                                  <p:childTnLst>
                                    <p:set>
                                      <p:cBhvr>
                                        <p:cTn id="1945" dur="1" fill="hold">
                                          <p:stCondLst>
                                            <p:cond delay="0"/>
                                          </p:stCondLst>
                                        </p:cTn>
                                        <p:tgtEl>
                                          <p:spTgt spid="23"/>
                                        </p:tgtEl>
                                        <p:attrNameLst>
                                          <p:attrName>style.visibility</p:attrName>
                                        </p:attrNameLst>
                                      </p:cBhvr>
                                      <p:to>
                                        <p:strVal val="visible"/>
                                      </p:to>
                                    </p:set>
                                    <p:animEffect transition="in" filter="fade">
                                      <p:cBhvr>
                                        <p:cTn id="1946" dur="500"/>
                                        <p:tgtEl>
                                          <p:spTgt spid="23"/>
                                        </p:tgtEl>
                                      </p:cBhvr>
                                    </p:animEffect>
                                  </p:childTnLst>
                                </p:cTn>
                              </p:par>
                              <p:par>
                                <p:cTn id="1947" presetID="10" presetClass="entr" presetSubtype="0" fill="hold" nodeType="withEffect">
                                  <p:stCondLst>
                                    <p:cond delay="760"/>
                                  </p:stCondLst>
                                  <p:childTnLst>
                                    <p:set>
                                      <p:cBhvr>
                                        <p:cTn id="1948" dur="1" fill="hold">
                                          <p:stCondLst>
                                            <p:cond delay="0"/>
                                          </p:stCondLst>
                                        </p:cTn>
                                        <p:tgtEl>
                                          <p:spTgt spid="32"/>
                                        </p:tgtEl>
                                        <p:attrNameLst>
                                          <p:attrName>style.visibility</p:attrName>
                                        </p:attrNameLst>
                                      </p:cBhvr>
                                      <p:to>
                                        <p:strVal val="visible"/>
                                      </p:to>
                                    </p:set>
                                    <p:animEffect transition="in" filter="fade">
                                      <p:cBhvr>
                                        <p:cTn id="1949" dur="500"/>
                                        <p:tgtEl>
                                          <p:spTgt spid="32"/>
                                        </p:tgtEl>
                                      </p:cBhvr>
                                    </p:animEffect>
                                  </p:childTnLst>
                                </p:cTn>
                              </p:par>
                              <p:par>
                                <p:cTn id="1950" presetID="10" presetClass="entr" presetSubtype="0" fill="hold" nodeType="withEffect">
                                  <p:stCondLst>
                                    <p:cond delay="830"/>
                                  </p:stCondLst>
                                  <p:childTnLst>
                                    <p:set>
                                      <p:cBhvr>
                                        <p:cTn id="1951" dur="1" fill="hold">
                                          <p:stCondLst>
                                            <p:cond delay="0"/>
                                          </p:stCondLst>
                                        </p:cTn>
                                        <p:tgtEl>
                                          <p:spTgt spid="33"/>
                                        </p:tgtEl>
                                        <p:attrNameLst>
                                          <p:attrName>style.visibility</p:attrName>
                                        </p:attrNameLst>
                                      </p:cBhvr>
                                      <p:to>
                                        <p:strVal val="visible"/>
                                      </p:to>
                                    </p:set>
                                    <p:animEffect transition="in" filter="fade">
                                      <p:cBhvr>
                                        <p:cTn id="195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En las interfaces las ondas se reflejan, se transmiten y se convierten</a:t>
            </a:r>
            <a:endParaRPr lang="en-US" sz="2200" dirty="0"/>
          </a:p>
        </p:txBody>
      </p:sp>
      <p:pic>
        <p:nvPicPr>
          <p:cNvPr id="3" name="Figura interfaz [s0]" descr="Interfaz entre dos medios con onda incidente, reflejada y transmitida">    </p:cNvPr>
          <p:cNvPicPr>
            <a:picLocks noChangeAspect="1"/>
          </p:cNvPicPr>
          <p:nvPr/>
        </p:nvPicPr>
        <p:blipFill>
          <a:blip r:embed="rId1"/>
          <a:stretch>
            <a:fillRect/>
          </a:stretch>
        </p:blipFill>
        <p:spPr>
          <a:xfrm>
            <a:off x="966136" y="1641589"/>
            <a:ext cx="4327037" cy="2724431"/>
          </a:xfrm>
          <a:prstGeom prst="rect">
            <a:avLst/>
          </a:prstGeom>
        </p:spPr>
      </p:pic>
      <p:sp>
        <p:nvSpPr>
          <p:cNvPr id="4" name="Cuerpo [s0]"/>
          <p:cNvSpPr txBox="1"/>
          <p:nvPr/>
        </p:nvSpPr>
        <p:spPr>
          <a:xfrm>
            <a:off x="5453433" y="1641589"/>
            <a:ext cx="2724431" cy="2804561"/>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Las ondas de cuerpo (P y S) viajan por el interior del terreno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Un modelo en capas es más realista: en cada interfaz cambian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ρ</m:t>
                    </m:r>
                  </m:oMath>
                </a14:m>
              </mc:Choice>
              <mc:Fallback>
                <a:r>
                  <a:rPr lang="en-US" sz="1440" dirty="0">
                    <a:solidFill>
                      <a:srgbClr val="2D2D2D"/>
                    </a:solidFill>
                    <a:latin typeface="Arial" pitchFamily="34" charset="0"/>
                    <a:ea typeface="Arial" pitchFamily="34" charset="-122"/>
                    <a:cs typeface="Arial" pitchFamily="34" charset="-120"/>
                  </a:rPr>
                  <a:t>ρ</a:t>
                </a:r>
              </mc:Fallback>
            </mc:AlternateContent>
            <a:r>
              <a:rPr lang="en-US" sz="144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p</m:t>
                        </m:r>
                      </m:sub>
                    </m:sSub>
                  </m:oMath>
                </a14:m>
              </mc:Choice>
              <mc:Fallback>
                <a:r>
                  <a:rPr lang="en-US" sz="1440" dirty="0">
                    <a:solidFill>
                      <a:srgbClr val="2D2D2D"/>
                    </a:solidFill>
                    <a:latin typeface="Arial" pitchFamily="34" charset="0"/>
                    <a:ea typeface="Arial" pitchFamily="34" charset="-122"/>
                    <a:cs typeface="Arial" pitchFamily="34" charset="-120"/>
                  </a:rPr>
                  <a:t>Vp</a:t>
                </a:r>
              </mc:Fallback>
            </mc:AlternateContent>
            <a:r>
              <a:rPr lang="en-US" sz="1440" dirty="0">
                <a:solidFill>
                  <a:srgbClr val="2D2D2D"/>
                </a:solidFill>
                <a:latin typeface="Arial" pitchFamily="34" charset="0"/>
                <a:ea typeface="Arial" pitchFamily="34" charset="-122"/>
                <a:cs typeface="Arial" pitchFamily="34" charset="-120"/>
              </a:rPr>
              <a:t> y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Parte de la energía se refleja y parte se transmite</a:t>
            </a:r>
            <a:endParaRPr lang="en-US" sz="1440" dirty="0"/>
          </a:p>
        </p:txBody>
      </p:sp>
      <p:pic>
        <p:nvPicPr>
          <p:cNvPr id="5" name="Figura superficie libre [s1]" descr="Superficie libre: la onda incidente se refleja de vuelta al terreno">    </p:cNvPr>
          <p:cNvPicPr>
            <a:picLocks noChangeAspect="1"/>
          </p:cNvPicPr>
          <p:nvPr/>
        </p:nvPicPr>
        <p:blipFill>
          <a:blip r:embed="rId2"/>
          <a:stretch>
            <a:fillRect/>
          </a:stretch>
        </p:blipFill>
        <p:spPr>
          <a:xfrm>
            <a:off x="966136" y="1641589"/>
            <a:ext cx="4327037" cy="2724431"/>
          </a:xfrm>
          <a:prstGeom prst="rect">
            <a:avLst/>
          </a:prstGeom>
        </p:spPr>
      </p:pic>
      <p:sp>
        <p:nvSpPr>
          <p:cNvPr id="6" name="Cuerpo [s1]"/>
          <p:cNvSpPr txBox="1"/>
          <p:nvPr/>
        </p:nvSpPr>
        <p:spPr>
          <a:xfrm>
            <a:off x="5533564" y="1721719"/>
            <a:ext cx="2644300" cy="2644300"/>
          </a:xfrm>
          <a:prstGeom prst="rect">
            <a:avLst/>
          </a:prstGeom>
          <a:noFill/>
          <a:ln/>
        </p:spPr>
        <p:txBody>
          <a:bodyPr wrap="square" lIns="0" tIns="0" rIns="0" bIns="0" rtlCol="0" anchor="t"/>
          <a:lstStyle/>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La superficie libre es el contacto entre el terreno y el aire</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Prácticamente toda la energía se refleja hacia el terreno</a:t>
            </a:r>
            <a:endParaRPr lang="en-US" sz="1620" dirty="0"/>
          </a:p>
        </p:txBody>
      </p:sp>
      <p:pic>
        <p:nvPicPr>
          <p:cNvPr id="7" name="Figura SV y SH [s2]" descr="Onda SV con movimiento en el plano de incidencia y onda SH con movimiento perpendicular a ese plano">    </p:cNvPr>
          <p:cNvPicPr>
            <a:picLocks noChangeAspect="1"/>
          </p:cNvPicPr>
          <p:nvPr/>
        </p:nvPicPr>
        <p:blipFill>
          <a:blip r:embed="rId3"/>
          <a:stretch>
            <a:fillRect/>
          </a:stretch>
        </p:blipFill>
        <p:spPr>
          <a:xfrm>
            <a:off x="966136" y="1601523"/>
            <a:ext cx="4807819" cy="2724431"/>
          </a:xfrm>
          <a:prstGeom prst="rect">
            <a:avLst/>
          </a:prstGeom>
        </p:spPr>
      </p:pic>
      <p:sp>
        <p:nvSpPr>
          <p:cNvPr id="8" name="Cuerpo [s2]"/>
          <p:cNvSpPr txBox="1"/>
          <p:nvPr/>
        </p:nvSpPr>
        <p:spPr>
          <a:xfrm>
            <a:off x="5934215" y="1641589"/>
            <a:ext cx="2243649" cy="2804561"/>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Referencia: el plano de la superficie libre</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La onda S puede moverse de dos formas respecto a él</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SV: oscila en el plano vertical que contiene el rayo</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SH: oscila en horizontal, perpendicular a ese plano</a:t>
            </a:r>
            <a:endParaRPr lang="en-US" sz="1440" dirty="0"/>
          </a:p>
        </p:txBody>
      </p:sp>
      <p:pic>
        <p:nvPicPr>
          <p:cNvPr id="9" name="Figura Snell [s3]" descr="Onda P incidente en una interfaz: ondas P y S reflejadas y transmitidas con sus ángulos">    </p:cNvPr>
          <p:cNvPicPr>
            <a:picLocks noChangeAspect="1"/>
          </p:cNvPicPr>
          <p:nvPr/>
        </p:nvPicPr>
        <p:blipFill>
          <a:blip r:embed="rId4"/>
          <a:stretch>
            <a:fillRect/>
          </a:stretch>
        </p:blipFill>
        <p:spPr>
          <a:xfrm>
            <a:off x="966136" y="1601523"/>
            <a:ext cx="2524105" cy="2804561"/>
          </a:xfrm>
          <a:prstGeom prst="rect">
            <a:avLst/>
          </a:prstGeom>
        </p:spPr>
      </p:pic>
      <p:sp>
        <p:nvSpPr>
          <p:cNvPr id="10" name="Fondo Snell [s3]"/>
          <p:cNvSpPr/>
          <p:nvPr/>
        </p:nvSpPr>
        <p:spPr>
          <a:xfrm>
            <a:off x="4011088" y="1641589"/>
            <a:ext cx="4166776" cy="80130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1" name="Ecuación E_snell [s3]"/>
              <p:cNvSpPr txBox="1"/>
              <p:nvPr/>
            </p:nvSpPr>
            <p:spPr>
              <a:xfrm>
                <a:off x="4011088" y="1641589"/>
                <a:ext cx="4166776" cy="80130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200" i="1">
                              <a:latin typeface="Cambria Math" panose="02040503050406030204" pitchFamily="18" charset="0"/>
                            </a:rPr>
                          </m:ctrlPr>
                        </m:fPr>
                        <m:num>
                          <m:r>
                            <m:rPr>
                              <m:sty m:val="p"/>
                            </m:rPr>
                            <a:rPr lang="es-ES" sz="2200">
                              <a:solidFill>
                                <a:srgbClr val="1F4E79"/>
                              </a:solidFill>
                              <a:latin typeface="Cambria Math" panose="02040503050406030204" pitchFamily="18" charset="0"/>
                            </a:rPr>
                            <m:t xml:space="preserve">sin</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θ</m:t>
                              </m:r>
                            </m:e>
                            <m:sub>
                              <m:r>
                                <a:rPr lang="es-ES" sz="2200" i="1">
                                  <a:solidFill>
                                    <a:srgbClr val="1F4E79"/>
                                  </a:solidFill>
                                  <a:latin typeface="Cambria Math" panose="02040503050406030204" pitchFamily="18" charset="0"/>
                                </a:rPr>
                                <m:t xml:space="preserve">1</m:t>
                              </m:r>
                            </m:sub>
                          </m:sSub>
                        </m:num>
                        <m:den>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1</m:t>
                              </m:r>
                            </m:sub>
                          </m:sSub>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r>
                            <m:rPr>
                              <m:sty m:val="p"/>
                            </m:rPr>
                            <a:rPr lang="es-ES" sz="2200">
                              <a:solidFill>
                                <a:srgbClr val="1F4E79"/>
                              </a:solidFill>
                              <a:latin typeface="Cambria Math" panose="02040503050406030204" pitchFamily="18" charset="0"/>
                            </a:rPr>
                            <m:t xml:space="preserve">sin</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θ</m:t>
                              </m:r>
                            </m:e>
                            <m:sub>
                              <m:r>
                                <a:rPr lang="es-ES" sz="2200" i="1">
                                  <a:solidFill>
                                    <a:srgbClr val="1F4E79"/>
                                  </a:solidFill>
                                  <a:latin typeface="Cambria Math" panose="02040503050406030204" pitchFamily="18" charset="0"/>
                                </a:rPr>
                                <m:t xml:space="preserve">2</m:t>
                              </m:r>
                            </m:sub>
                          </m:sSub>
                        </m:num>
                        <m:den>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2</m:t>
                              </m:r>
                            </m:sub>
                          </m:sSub>
                        </m:den>
                      </m:f>
                      <m:r>
                        <a:rPr lang="es-ES" sz="2200" i="1">
                          <a:solidFill>
                            <a:srgbClr val="1F4E79"/>
                          </a:solidFill>
                          <a:latin typeface="Cambria Math" panose="02040503050406030204" pitchFamily="18" charset="0"/>
                        </a:rPr>
                        <m:t xml:space="preserve">=p</m:t>
                      </m:r>
                    </m:oMath>
                  </m:oMathPara>
                </a14:m>
                <a:endParaRPr lang="es-ES"/>
              </a:p>
            </p:txBody>
          </p:sp>
        </mc:Choice>
        <mc:Fallback>
          <p:sp>
            <p:nvSpPr>
              <p:cNvPr id="11" name="Ecuación E_snell [s3]"/>
              <p:cNvSpPr txBox="1"/>
              <p:nvPr/>
            </p:nvSpPr>
            <p:spPr>
              <a:xfrm>
                <a:off x="4011088" y="1641589"/>
                <a:ext cx="4166776" cy="80130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sin θ₁ / V₁ = sin θ₂ / V₂ = p</a:t>
                </a:r>
                <a:endParaRPr lang="en-US" sz="2159" dirty="0"/>
              </a:p>
            </p:txBody>
          </p:sp>
        </mc:Fallback>
      </mc:AlternateContent>
      <p:sp>
        <p:nvSpPr>
          <p:cNvPr id="12" name="Cuerpo [s3]"/>
          <p:cNvSpPr txBox="1"/>
          <p:nvPr/>
        </p:nvSpPr>
        <p:spPr>
          <a:xfrm>
            <a:off x="4011088" y="2603152"/>
            <a:ext cx="4166776" cy="1842997"/>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Vale para P, SV y SH: V es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p</m:t>
                        </m:r>
                      </m:sub>
                    </m:sSub>
                  </m:oMath>
                </a14:m>
              </mc:Choice>
              <mc:Fallback>
                <a:r>
                  <a:rPr lang="en-US" sz="1440" dirty="0">
                    <a:solidFill>
                      <a:srgbClr val="2D2D2D"/>
                    </a:solidFill>
                    <a:latin typeface="Arial" pitchFamily="34" charset="0"/>
                    <a:ea typeface="Arial" pitchFamily="34" charset="-122"/>
                    <a:cs typeface="Arial" pitchFamily="34" charset="-120"/>
                  </a:rPr>
                  <a:t>Vp</a:t>
                </a:r>
              </mc:Fallback>
            </mc:AlternateContent>
            <a:r>
              <a:rPr lang="en-US" sz="1440" dirty="0">
                <a:solidFill>
                  <a:srgbClr val="2D2D2D"/>
                </a:solidFill>
                <a:latin typeface="Arial" pitchFamily="34" charset="0"/>
                <a:ea typeface="Arial" pitchFamily="34" charset="-122"/>
                <a:cs typeface="Arial" pitchFamily="34" charset="-120"/>
              </a:rPr>
              <a:t> para P y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 para SV y SH</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Como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r>
                      <m:rPr>
                        <m:sty m:val="p"/>
                      </m:rPr>
                      <a:rPr lang="es-ES" sz="1440">
                        <a:solidFill>
                          <a:srgbClr val="2D2D2D"/>
                        </a:solidFill>
                        <a:latin typeface="Cambria Math" panose="02040503050406030204" pitchFamily="18" charset="0"/>
                      </a:rPr>
                      <m:t xml:space="preserve">&lt;</m:t>
                    </m:r>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p</m:t>
                        </m:r>
                      </m:sub>
                    </m:sSub>
                  </m:oMath>
                </a14:m>
              </mc:Choice>
              <mc:Fallback>
                <a:r>
                  <a:rPr lang="en-US" sz="1440" dirty="0">
                    <a:solidFill>
                      <a:srgbClr val="2D2D2D"/>
                    </a:solidFill>
                    <a:latin typeface="Arial" pitchFamily="34" charset="0"/>
                    <a:ea typeface="Arial" pitchFamily="34" charset="-122"/>
                    <a:cs typeface="Arial" pitchFamily="34" charset="-120"/>
                  </a:rPr>
                  <a:t>Vs &lt; Vp</a:t>
                </a:r>
              </mc:Fallback>
            </mc:AlternateContent>
            <a:r>
              <a:rPr lang="en-US" sz="1440" dirty="0">
                <a:solidFill>
                  <a:srgbClr val="2D2D2D"/>
                </a:solidFill>
                <a:latin typeface="Arial" pitchFamily="34" charset="0"/>
                <a:ea typeface="Arial" pitchFamily="34" charset="-122"/>
                <a:cs typeface="Arial" pitchFamily="34" charset="-120"/>
              </a:rPr>
              <a:t>, la S sale con un ángulo menor que la P</a:t>
            </a:r>
            <a:endParaRPr lang="en-US" sz="1440" dirty="0"/>
          </a:p>
        </p:txBody>
      </p:sp>
      <p:sp>
        <p:nvSpPr>
          <p:cNvPr id="13" name="Caja P [s4]"/>
          <p:cNvSpPr/>
          <p:nvPr/>
        </p:nvSpPr>
        <p:spPr>
          <a:xfrm>
            <a:off x="966136" y="1721719"/>
            <a:ext cx="1201955" cy="681108"/>
          </a:xfrm>
          <a:prstGeom prst="roundRect">
            <a:avLst>
              <a:gd name="adj" fmla="val 10740"/>
            </a:avLst>
          </a:prstGeom>
          <a:solidFill>
            <a:srgbClr val="2E75B6"/>
          </a:solidFill>
          <a:ln w="6350">
            <a:solidFill>
              <a:srgbClr val="2E75B6"/>
            </a:solidFill>
            <a:prstDash val="solid"/>
          </a:ln>
        </p:spPr>
      </p:sp>
      <p:sp>
        <p:nvSpPr>
          <p:cNvPr id="14" name="Elemento [s4]"/>
          <p:cNvSpPr txBox="1"/>
          <p:nvPr/>
        </p:nvSpPr>
        <p:spPr>
          <a:xfrm>
            <a:off x="966136" y="1721719"/>
            <a:ext cx="1201955" cy="68110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P</a:t>
            </a:r>
            <a:endParaRPr lang="en-US" sz="1800" dirty="0"/>
          </a:p>
        </p:txBody>
      </p:sp>
      <p:sp>
        <p:nvSpPr>
          <p:cNvPr id="15" name="Caja SV [s4]"/>
          <p:cNvSpPr/>
          <p:nvPr/>
        </p:nvSpPr>
        <p:spPr>
          <a:xfrm>
            <a:off x="3209785" y="1721719"/>
            <a:ext cx="1201955" cy="681108"/>
          </a:xfrm>
          <a:prstGeom prst="roundRect">
            <a:avLst>
              <a:gd name="adj" fmla="val 10740"/>
            </a:avLst>
          </a:prstGeom>
          <a:solidFill>
            <a:srgbClr val="2E75B6"/>
          </a:solidFill>
          <a:ln w="6350">
            <a:solidFill>
              <a:srgbClr val="2E75B6"/>
            </a:solidFill>
            <a:prstDash val="solid"/>
          </a:ln>
        </p:spPr>
      </p:sp>
      <p:sp>
        <p:nvSpPr>
          <p:cNvPr id="16" name="Elemento [s4]"/>
          <p:cNvSpPr txBox="1"/>
          <p:nvPr/>
        </p:nvSpPr>
        <p:spPr>
          <a:xfrm>
            <a:off x="3209785" y="1721719"/>
            <a:ext cx="1201955" cy="68110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SV</a:t>
            </a:r>
            <a:endParaRPr lang="en-US" sz="1800" dirty="0"/>
          </a:p>
        </p:txBody>
      </p:sp>
      <p:sp>
        <p:nvSpPr>
          <p:cNvPr id="17" name="Elemento [s4]"/>
          <p:cNvSpPr/>
          <p:nvPr/>
        </p:nvSpPr>
        <p:spPr>
          <a:xfrm>
            <a:off x="2208156" y="2062273"/>
            <a:ext cx="961564" cy="0"/>
          </a:xfrm>
          <a:prstGeom prst="line">
            <a:avLst/>
          </a:prstGeom>
          <a:noFill/>
          <a:ln w="33388">
            <a:solidFill>
              <a:srgbClr val="1F4E79"/>
            </a:solidFill>
            <a:prstDash val="solid"/>
            <a:headEnd type="triangle"/>
            <a:tailEnd type="triangle"/>
          </a:ln>
        </p:spPr>
      </p:sp>
      <p:sp>
        <p:nvSpPr>
          <p:cNvPr id="18" name="Elemento [s4]"/>
          <p:cNvSpPr txBox="1"/>
          <p:nvPr/>
        </p:nvSpPr>
        <p:spPr>
          <a:xfrm>
            <a:off x="2128025" y="2122371"/>
            <a:ext cx="1121824" cy="320521"/>
          </a:xfrm>
          <a:prstGeom prst="rect">
            <a:avLst/>
          </a:prstGeom>
          <a:noFill/>
          <a:ln/>
        </p:spPr>
        <p:txBody>
          <a:bodyPr wrap="square" lIns="0" tIns="0" rIns="0" bIns="0" rtlCol="0" anchor="t"/>
          <a:lstStyle/>
          <a:p>
            <a:pPr algn="ctr" indent="0" marL="0">
              <a:buNone/>
            </a:pPr>
            <a:r>
              <a:rPr lang="en-US" sz="1440" dirty="0">
                <a:solidFill>
                  <a:srgbClr val="1F4E79"/>
                </a:solidFill>
                <a:latin typeface="Arial" pitchFamily="34" charset="0"/>
                <a:ea typeface="Arial" pitchFamily="34" charset="-122"/>
                <a:cs typeface="Arial" pitchFamily="34" charset="-120"/>
              </a:rPr>
              <a:t>se acoplan</a:t>
            </a:r>
            <a:endParaRPr lang="en-US" sz="1440" dirty="0"/>
          </a:p>
        </p:txBody>
      </p:sp>
      <p:sp>
        <p:nvSpPr>
          <p:cNvPr id="19" name="Caja SH [s4]"/>
          <p:cNvSpPr/>
          <p:nvPr/>
        </p:nvSpPr>
        <p:spPr>
          <a:xfrm>
            <a:off x="5613694" y="1721719"/>
            <a:ext cx="1602606" cy="681108"/>
          </a:xfrm>
          <a:prstGeom prst="roundRect">
            <a:avLst>
              <a:gd name="adj" fmla="val 10740"/>
            </a:avLst>
          </a:prstGeom>
          <a:solidFill>
            <a:srgbClr val="C55A11"/>
          </a:solidFill>
          <a:ln w="6350">
            <a:solidFill>
              <a:srgbClr val="C55A11"/>
            </a:solidFill>
            <a:prstDash val="solid"/>
          </a:ln>
        </p:spPr>
      </p:sp>
      <p:sp>
        <p:nvSpPr>
          <p:cNvPr id="20" name="Elemento [s4]"/>
          <p:cNvSpPr txBox="1"/>
          <p:nvPr/>
        </p:nvSpPr>
        <p:spPr>
          <a:xfrm>
            <a:off x="5613694" y="1721719"/>
            <a:ext cx="1602606" cy="68110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SH</a:t>
            </a:r>
            <a:endParaRPr lang="en-US" sz="1800" dirty="0"/>
          </a:p>
        </p:txBody>
      </p:sp>
      <p:sp>
        <p:nvSpPr>
          <p:cNvPr id="21" name="Elemento [s4]"/>
          <p:cNvSpPr txBox="1"/>
          <p:nvPr/>
        </p:nvSpPr>
        <p:spPr>
          <a:xfrm>
            <a:off x="5373303" y="2442892"/>
            <a:ext cx="2083388" cy="320521"/>
          </a:xfrm>
          <a:prstGeom prst="rect">
            <a:avLst/>
          </a:prstGeom>
          <a:noFill/>
          <a:ln/>
        </p:spPr>
        <p:txBody>
          <a:bodyPr wrap="square" lIns="0" tIns="0" rIns="0" bIns="0" rtlCol="0" anchor="t"/>
          <a:lstStyle/>
          <a:p>
            <a:pPr algn="ctr" indent="0" marL="0">
              <a:buNone/>
            </a:pPr>
            <a:r>
              <a:rPr lang="en-US" sz="1440" dirty="0">
                <a:solidFill>
                  <a:srgbClr val="C55A11"/>
                </a:solidFill>
                <a:latin typeface="Arial" pitchFamily="34" charset="0"/>
                <a:ea typeface="Arial" pitchFamily="34" charset="-122"/>
                <a:cs typeface="Arial" pitchFamily="34" charset="-120"/>
              </a:rPr>
              <a:t>solo genera SH</a:t>
            </a:r>
            <a:endParaRPr lang="en-US" sz="1440" dirty="0"/>
          </a:p>
        </p:txBody>
      </p:sp>
      <p:sp>
        <p:nvSpPr>
          <p:cNvPr id="22" name="Elemento [s4]"/>
          <p:cNvSpPr/>
          <p:nvPr/>
        </p:nvSpPr>
        <p:spPr>
          <a:xfrm>
            <a:off x="2688938" y="2523022"/>
            <a:ext cx="0" cy="600977"/>
          </a:xfrm>
          <a:prstGeom prst="line">
            <a:avLst/>
          </a:prstGeom>
          <a:noFill/>
          <a:ln w="33388">
            <a:solidFill>
              <a:srgbClr val="1F4E79"/>
            </a:solidFill>
            <a:prstDash val="solid"/>
            <a:tailEnd type="triangle"/>
          </a:ln>
        </p:spPr>
      </p:sp>
      <p:sp>
        <p:nvSpPr>
          <p:cNvPr id="23" name="Elemento [s4]"/>
          <p:cNvSpPr/>
          <p:nvPr/>
        </p:nvSpPr>
        <p:spPr>
          <a:xfrm>
            <a:off x="6414997" y="2803478"/>
            <a:ext cx="0" cy="320521"/>
          </a:xfrm>
          <a:prstGeom prst="line">
            <a:avLst/>
          </a:prstGeom>
          <a:noFill/>
          <a:ln w="33388">
            <a:solidFill>
              <a:srgbClr val="C55A11"/>
            </a:solidFill>
            <a:prstDash val="solid"/>
            <a:tailEnd type="triangle"/>
          </a:ln>
        </p:spPr>
      </p:sp>
      <p:sp>
        <p:nvSpPr>
          <p:cNvPr id="24" name="Resultado Rayleigh [s4]"/>
          <p:cNvSpPr/>
          <p:nvPr/>
        </p:nvSpPr>
        <p:spPr>
          <a:xfrm>
            <a:off x="966136" y="3164065"/>
            <a:ext cx="3445604" cy="721173"/>
          </a:xfrm>
          <a:prstGeom prst="roundRect">
            <a:avLst>
              <a:gd name="adj" fmla="val 10143"/>
            </a:avLst>
          </a:prstGeom>
          <a:solidFill>
            <a:srgbClr val="1F4E79"/>
          </a:solidFill>
          <a:ln w="6350">
            <a:solidFill>
              <a:srgbClr val="1F4E79"/>
            </a:solidFill>
            <a:prstDash val="solid"/>
          </a:ln>
        </p:spPr>
      </p:sp>
      <p:sp>
        <p:nvSpPr>
          <p:cNvPr id="25" name="Elemento [s4]"/>
          <p:cNvSpPr txBox="1"/>
          <p:nvPr/>
        </p:nvSpPr>
        <p:spPr>
          <a:xfrm>
            <a:off x="966136" y="3164065"/>
            <a:ext cx="3445604" cy="721173"/>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Ondas Rayleigh</a:t>
            </a:r>
            <a:endParaRPr lang="en-US" sz="1800" dirty="0"/>
          </a:p>
        </p:txBody>
      </p:sp>
      <p:sp>
        <p:nvSpPr>
          <p:cNvPr id="26" name="Resultado Love [s4]"/>
          <p:cNvSpPr/>
          <p:nvPr/>
        </p:nvSpPr>
        <p:spPr>
          <a:xfrm>
            <a:off x="5052782" y="3164065"/>
            <a:ext cx="2884691" cy="721173"/>
          </a:xfrm>
          <a:prstGeom prst="roundRect">
            <a:avLst>
              <a:gd name="adj" fmla="val 10143"/>
            </a:avLst>
          </a:prstGeom>
          <a:solidFill>
            <a:srgbClr val="C55A11"/>
          </a:solidFill>
          <a:ln w="6350">
            <a:solidFill>
              <a:srgbClr val="C55A11"/>
            </a:solidFill>
            <a:prstDash val="solid"/>
          </a:ln>
        </p:spPr>
      </p:sp>
      <p:sp>
        <p:nvSpPr>
          <p:cNvPr id="27" name="Elemento [s4]"/>
          <p:cNvSpPr txBox="1"/>
          <p:nvPr/>
        </p:nvSpPr>
        <p:spPr>
          <a:xfrm>
            <a:off x="5052782" y="3164065"/>
            <a:ext cx="2884691" cy="721173"/>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Ondas Love</a:t>
            </a:r>
            <a:endParaRPr lang="en-US" sz="1800" dirty="0"/>
          </a:p>
        </p:txBody>
      </p:sp>
      <p:sp>
        <p:nvSpPr>
          <p:cNvPr id="28" name="Elemento [s4]"/>
          <p:cNvSpPr txBox="1"/>
          <p:nvPr/>
        </p:nvSpPr>
        <p:spPr>
          <a:xfrm>
            <a:off x="966136" y="3965368"/>
            <a:ext cx="3445604" cy="320521"/>
          </a:xfrm>
          <a:prstGeom prst="rect">
            <a:avLst/>
          </a:prstGeom>
          <a:noFill/>
          <a:ln/>
        </p:spPr>
        <p:txBody>
          <a:bodyPr wrap="square" lIns="0" tIns="0" rIns="0" bIns="0" rtlCol="0" anchor="t"/>
          <a:lstStyle/>
          <a:p>
            <a:pPr algn="ctr" indent="0" marL="0">
              <a:buNone/>
            </a:pPr>
            <a:r>
              <a:rPr lang="en-US" sz="1440" dirty="0">
                <a:solidFill>
                  <a:srgbClr val="6B6B6B"/>
                </a:solidFill>
                <a:latin typeface="Arial" pitchFamily="34" charset="0"/>
                <a:ea typeface="Arial" pitchFamily="34" charset="-122"/>
                <a:cs typeface="Arial" pitchFamily="34" charset="-120"/>
              </a:rPr>
              <a:t>Movimiento en el plano vertical</a:t>
            </a:r>
            <a:endParaRPr lang="en-US" sz="1440" dirty="0"/>
          </a:p>
        </p:txBody>
      </p:sp>
      <p:sp>
        <p:nvSpPr>
          <p:cNvPr id="29" name="Elemento [s4]"/>
          <p:cNvSpPr txBox="1"/>
          <p:nvPr/>
        </p:nvSpPr>
        <p:spPr>
          <a:xfrm>
            <a:off x="4892521" y="3965368"/>
            <a:ext cx="3205213" cy="320521"/>
          </a:xfrm>
          <a:prstGeom prst="rect">
            <a:avLst/>
          </a:prstGeom>
          <a:noFill/>
          <a:ln/>
        </p:spPr>
        <p:txBody>
          <a:bodyPr wrap="square" lIns="0" tIns="0" rIns="0" bIns="0" rtlCol="0" anchor="t"/>
          <a:lstStyle/>
          <a:p>
            <a:pPr algn="ctr" indent="0" marL="0">
              <a:buNone/>
            </a:pPr>
            <a:r>
              <a:rPr lang="en-US" sz="1440" dirty="0">
                <a:solidFill>
                  <a:srgbClr val="6B6B6B"/>
                </a:solidFill>
                <a:latin typeface="Arial" pitchFamily="34" charset="0"/>
                <a:ea typeface="Arial" pitchFamily="34" charset="-122"/>
                <a:cs typeface="Arial" pitchFamily="34" charset="-120"/>
              </a:rPr>
              <a:t>Solo con capa blanda sobre medio rápido</a:t>
            </a:r>
            <a:endParaRPr lang="en-US" sz="1440" dirty="0"/>
          </a:p>
        </p:txBody>
      </p:sp>
      <p:sp>
        <p:nvSpPr>
          <p:cNvPr id="30"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ondas de cuerpo, al llegar a una interfaz, se reflejan y se transmiten</a:t>
            </a:r>
            <a:endParaRPr lang="en-US" sz="1400" dirty="0"/>
          </a:p>
        </p:txBody>
      </p:sp>
      <p:sp>
        <p:nvSpPr>
          <p:cNvPr id="31"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32"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el caso de una superficie libre, la energía vuelve al terreno</a:t>
            </a:r>
            <a:endParaRPr lang="en-US" sz="1400" dirty="0"/>
          </a:p>
        </p:txBody>
      </p:sp>
      <p:sp>
        <p:nvSpPr>
          <p:cNvPr id="33"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34"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Respecto a la superficie libre, la onda S se clasifica en SV y SH</a:t>
            </a:r>
            <a:endParaRPr lang="en-US" sz="1400" dirty="0"/>
          </a:p>
        </p:txBody>
      </p:sp>
      <p:sp>
        <p:nvSpPr>
          <p:cNvPr id="35"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la polarización de la onda S.</a:t>
            </a:r>
            <a:endParaRPr lang="en-US" sz="800" dirty="0"/>
          </a:p>
        </p:txBody>
      </p:sp>
      <p:sp>
        <p:nvSpPr>
          <p:cNvPr id="36"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Los ángulos de las ondas generadas se relacionan con la ley de Snell</a:t>
            </a:r>
            <a:endParaRPr lang="en-US" sz="1400" dirty="0"/>
          </a:p>
        </p:txBody>
      </p:sp>
      <p:sp>
        <p:nvSpPr>
          <p:cNvPr id="37"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SLB (s. f.), The Defining Series: Beginner's Guide to Seismic Surveying, traducida.</a:t>
            </a:r>
            <a:endParaRPr lang="en-US" sz="800" dirty="0"/>
          </a:p>
        </p:txBody>
      </p:sp>
      <p:sp>
        <p:nvSpPr>
          <p:cNvPr id="38"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la superficie libre, P y SV se convierten entre sí; SH queda aparte</a:t>
            </a:r>
            <a:endParaRPr lang="en-US" sz="1400" dirty="0"/>
          </a:p>
        </p:txBody>
      </p:sp>
      <p:sp>
        <p:nvSpPr>
          <p:cNvPr id="39"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979" fill="hold">
                      <p:stCondLst>
                        <p:cond delay="indefinite"/>
                      </p:stCondLst>
                      <p:childTnLst>
                        <p:par>
                          <p:cTn id="1980" fill="hold">
                            <p:stCondLst>
                              <p:cond delay="0"/>
                            </p:stCondLst>
                            <p:childTnLst>
                              <p:par>
                                <p:cTn id="1955" presetID="10" presetClass="exit" presetSubtype="0" fill="hold" nodeType="clickEffect">
                                  <p:stCondLst>
                                    <p:cond delay="0"/>
                                  </p:stCondLst>
                                  <p:childTnLst>
                                    <p:animEffect transition="out" filter="fade">
                                      <p:cBhvr>
                                        <p:cTn id="1956" dur="400"/>
                                        <p:tgtEl>
                                          <p:spTgt spid="3"/>
                                        </p:tgtEl>
                                      </p:cBhvr>
                                    </p:animEffect>
                                    <p:set>
                                      <p:cBhvr>
                                        <p:cTn id="1957" dur="1" fill="hold">
                                          <p:stCondLst>
                                            <p:cond delay="399"/>
                                          </p:stCondLst>
                                        </p:cTn>
                                        <p:tgtEl>
                                          <p:spTgt spid="3"/>
                                        </p:tgtEl>
                                        <p:attrNameLst>
                                          <p:attrName>style.visibility</p:attrName>
                                        </p:attrNameLst>
                                      </p:cBhvr>
                                      <p:to>
                                        <p:strVal val="hidden"/>
                                      </p:to>
                                    </p:set>
                                  </p:childTnLst>
                                </p:cTn>
                              </p:par>
                              <p:par>
                                <p:cTn id="1958" presetID="10" presetClass="exit" presetSubtype="0" fill="hold" nodeType="withEffect">
                                  <p:stCondLst>
                                    <p:cond delay="0"/>
                                  </p:stCondLst>
                                  <p:childTnLst>
                                    <p:animEffect transition="out" filter="fade">
                                      <p:cBhvr>
                                        <p:cTn id="1959" dur="400"/>
                                        <p:tgtEl>
                                          <p:spTgt spid="4"/>
                                        </p:tgtEl>
                                      </p:cBhvr>
                                    </p:animEffect>
                                    <p:set>
                                      <p:cBhvr>
                                        <p:cTn id="1960" dur="1" fill="hold">
                                          <p:stCondLst>
                                            <p:cond delay="399"/>
                                          </p:stCondLst>
                                        </p:cTn>
                                        <p:tgtEl>
                                          <p:spTgt spid="4"/>
                                        </p:tgtEl>
                                        <p:attrNameLst>
                                          <p:attrName>style.visibility</p:attrName>
                                        </p:attrNameLst>
                                      </p:cBhvr>
                                      <p:to>
                                        <p:strVal val="hidden"/>
                                      </p:to>
                                    </p:set>
                                  </p:childTnLst>
                                </p:cTn>
                              </p:par>
                              <p:par>
                                <p:cTn id="1961" presetID="10" presetClass="exit" presetSubtype="0" fill="hold" nodeType="withEffect">
                                  <p:stCondLst>
                                    <p:cond delay="0"/>
                                  </p:stCondLst>
                                  <p:childTnLst>
                                    <p:animEffect transition="out" filter="fade">
                                      <p:cBhvr>
                                        <p:cTn id="1962" dur="400"/>
                                        <p:tgtEl>
                                          <p:spTgt spid="30"/>
                                        </p:tgtEl>
                                      </p:cBhvr>
                                    </p:animEffect>
                                    <p:set>
                                      <p:cBhvr>
                                        <p:cTn id="1963" dur="1" fill="hold">
                                          <p:stCondLst>
                                            <p:cond delay="399"/>
                                          </p:stCondLst>
                                        </p:cTn>
                                        <p:tgtEl>
                                          <p:spTgt spid="30"/>
                                        </p:tgtEl>
                                        <p:attrNameLst>
                                          <p:attrName>style.visibility</p:attrName>
                                        </p:attrNameLst>
                                      </p:cBhvr>
                                      <p:to>
                                        <p:strVal val="hidden"/>
                                      </p:to>
                                    </p:set>
                                  </p:childTnLst>
                                </p:cTn>
                              </p:par>
                              <p:par>
                                <p:cTn id="1964" presetID="10" presetClass="exit" presetSubtype="0" fill="hold" nodeType="withEffect">
                                  <p:stCondLst>
                                    <p:cond delay="0"/>
                                  </p:stCondLst>
                                  <p:childTnLst>
                                    <p:animEffect transition="out" filter="fade">
                                      <p:cBhvr>
                                        <p:cTn id="1965" dur="400"/>
                                        <p:tgtEl>
                                          <p:spTgt spid="31"/>
                                        </p:tgtEl>
                                      </p:cBhvr>
                                    </p:animEffect>
                                    <p:set>
                                      <p:cBhvr>
                                        <p:cTn id="1966" dur="1" fill="hold">
                                          <p:stCondLst>
                                            <p:cond delay="399"/>
                                          </p:stCondLst>
                                        </p:cTn>
                                        <p:tgtEl>
                                          <p:spTgt spid="31"/>
                                        </p:tgtEl>
                                        <p:attrNameLst>
                                          <p:attrName>style.visibility</p:attrName>
                                        </p:attrNameLst>
                                      </p:cBhvr>
                                      <p:to>
                                        <p:strVal val="hidden"/>
                                      </p:to>
                                    </p:set>
                                  </p:childTnLst>
                                </p:cTn>
                              </p:par>
                              <p:par>
                                <p:cTn id="1967" presetID="10" presetClass="entr" presetSubtype="0" fill="hold" nodeType="withEffect">
                                  <p:stCondLst>
                                    <p:cond delay="200"/>
                                  </p:stCondLst>
                                  <p:childTnLst>
                                    <p:set>
                                      <p:cBhvr>
                                        <p:cTn id="1968" dur="1" fill="hold">
                                          <p:stCondLst>
                                            <p:cond delay="0"/>
                                          </p:stCondLst>
                                        </p:cTn>
                                        <p:tgtEl>
                                          <p:spTgt spid="5"/>
                                        </p:tgtEl>
                                        <p:attrNameLst>
                                          <p:attrName>style.visibility</p:attrName>
                                        </p:attrNameLst>
                                      </p:cBhvr>
                                      <p:to>
                                        <p:strVal val="visible"/>
                                      </p:to>
                                    </p:set>
                                    <p:animEffect transition="in" filter="fade">
                                      <p:cBhvr>
                                        <p:cTn id="1969" dur="500"/>
                                        <p:tgtEl>
                                          <p:spTgt spid="5"/>
                                        </p:tgtEl>
                                      </p:cBhvr>
                                    </p:animEffect>
                                  </p:childTnLst>
                                </p:cTn>
                              </p:par>
                              <p:par>
                                <p:cTn id="1970" presetID="10" presetClass="entr" presetSubtype="0" fill="hold" nodeType="withEffect">
                                  <p:stCondLst>
                                    <p:cond delay="270"/>
                                  </p:stCondLst>
                                  <p:childTnLst>
                                    <p:set>
                                      <p:cBhvr>
                                        <p:cTn id="1971" dur="1" fill="hold">
                                          <p:stCondLst>
                                            <p:cond delay="0"/>
                                          </p:stCondLst>
                                        </p:cTn>
                                        <p:tgtEl>
                                          <p:spTgt spid="6"/>
                                        </p:tgtEl>
                                        <p:attrNameLst>
                                          <p:attrName>style.visibility</p:attrName>
                                        </p:attrNameLst>
                                      </p:cBhvr>
                                      <p:to>
                                        <p:strVal val="visible"/>
                                      </p:to>
                                    </p:set>
                                    <p:animEffect transition="in" filter="fade">
                                      <p:cBhvr>
                                        <p:cTn id="1972" dur="500"/>
                                        <p:tgtEl>
                                          <p:spTgt spid="6"/>
                                        </p:tgtEl>
                                      </p:cBhvr>
                                    </p:animEffect>
                                  </p:childTnLst>
                                </p:cTn>
                              </p:par>
                              <p:par>
                                <p:cTn id="1973" presetID="10" presetClass="entr" presetSubtype="0" fill="hold" nodeType="withEffect">
                                  <p:stCondLst>
                                    <p:cond delay="340"/>
                                  </p:stCondLst>
                                  <p:childTnLst>
                                    <p:set>
                                      <p:cBhvr>
                                        <p:cTn id="1974" dur="1" fill="hold">
                                          <p:stCondLst>
                                            <p:cond delay="0"/>
                                          </p:stCondLst>
                                        </p:cTn>
                                        <p:tgtEl>
                                          <p:spTgt spid="32"/>
                                        </p:tgtEl>
                                        <p:attrNameLst>
                                          <p:attrName>style.visibility</p:attrName>
                                        </p:attrNameLst>
                                      </p:cBhvr>
                                      <p:to>
                                        <p:strVal val="visible"/>
                                      </p:to>
                                    </p:set>
                                    <p:animEffect transition="in" filter="fade">
                                      <p:cBhvr>
                                        <p:cTn id="1975" dur="500"/>
                                        <p:tgtEl>
                                          <p:spTgt spid="32"/>
                                        </p:tgtEl>
                                      </p:cBhvr>
                                    </p:animEffect>
                                  </p:childTnLst>
                                </p:cTn>
                              </p:par>
                              <p:par>
                                <p:cTn id="1976" presetID="10" presetClass="entr" presetSubtype="0" fill="hold" nodeType="withEffect">
                                  <p:stCondLst>
                                    <p:cond delay="410"/>
                                  </p:stCondLst>
                                  <p:childTnLst>
                                    <p:set>
                                      <p:cBhvr>
                                        <p:cTn id="1977" dur="1" fill="hold">
                                          <p:stCondLst>
                                            <p:cond delay="0"/>
                                          </p:stCondLst>
                                        </p:cTn>
                                        <p:tgtEl>
                                          <p:spTgt spid="33"/>
                                        </p:tgtEl>
                                        <p:attrNameLst>
                                          <p:attrName>style.visibility</p:attrName>
                                        </p:attrNameLst>
                                      </p:cBhvr>
                                      <p:to>
                                        <p:strVal val="visible"/>
                                      </p:to>
                                    </p:set>
                                    <p:animEffect transition="in" filter="fade">
                                      <p:cBhvr>
                                        <p:cTn id="1978" dur="500"/>
                                        <p:tgtEl>
                                          <p:spTgt spid="33"/>
                                        </p:tgtEl>
                                      </p:cBhvr>
                                    </p:animEffect>
                                  </p:childTnLst>
                                </p:cTn>
                              </p:par>
                            </p:childTnLst>
                          </p:cTn>
                        </p:par>
                      </p:childTnLst>
                    </p:cTn>
                  </p:par>
                  <p:par>
                    <p:cTn id="2005" fill="hold">
                      <p:stCondLst>
                        <p:cond delay="indefinite"/>
                      </p:stCondLst>
                      <p:childTnLst>
                        <p:par>
                          <p:cTn id="2006" fill="hold">
                            <p:stCondLst>
                              <p:cond delay="0"/>
                            </p:stCondLst>
                            <p:childTnLst>
                              <p:par>
                                <p:cTn id="1981" presetID="10" presetClass="exit" presetSubtype="0" fill="hold" nodeType="clickEffect">
                                  <p:stCondLst>
                                    <p:cond delay="0"/>
                                  </p:stCondLst>
                                  <p:childTnLst>
                                    <p:animEffect transition="out" filter="fade">
                                      <p:cBhvr>
                                        <p:cTn id="1982" dur="400"/>
                                        <p:tgtEl>
                                          <p:spTgt spid="5"/>
                                        </p:tgtEl>
                                      </p:cBhvr>
                                    </p:animEffect>
                                    <p:set>
                                      <p:cBhvr>
                                        <p:cTn id="1983" dur="1" fill="hold">
                                          <p:stCondLst>
                                            <p:cond delay="399"/>
                                          </p:stCondLst>
                                        </p:cTn>
                                        <p:tgtEl>
                                          <p:spTgt spid="5"/>
                                        </p:tgtEl>
                                        <p:attrNameLst>
                                          <p:attrName>style.visibility</p:attrName>
                                        </p:attrNameLst>
                                      </p:cBhvr>
                                      <p:to>
                                        <p:strVal val="hidden"/>
                                      </p:to>
                                    </p:set>
                                  </p:childTnLst>
                                </p:cTn>
                              </p:par>
                              <p:par>
                                <p:cTn id="1984" presetID="10" presetClass="exit" presetSubtype="0" fill="hold" nodeType="withEffect">
                                  <p:stCondLst>
                                    <p:cond delay="0"/>
                                  </p:stCondLst>
                                  <p:childTnLst>
                                    <p:animEffect transition="out" filter="fade">
                                      <p:cBhvr>
                                        <p:cTn id="1985" dur="400"/>
                                        <p:tgtEl>
                                          <p:spTgt spid="6"/>
                                        </p:tgtEl>
                                      </p:cBhvr>
                                    </p:animEffect>
                                    <p:set>
                                      <p:cBhvr>
                                        <p:cTn id="1986" dur="1" fill="hold">
                                          <p:stCondLst>
                                            <p:cond delay="399"/>
                                          </p:stCondLst>
                                        </p:cTn>
                                        <p:tgtEl>
                                          <p:spTgt spid="6"/>
                                        </p:tgtEl>
                                        <p:attrNameLst>
                                          <p:attrName>style.visibility</p:attrName>
                                        </p:attrNameLst>
                                      </p:cBhvr>
                                      <p:to>
                                        <p:strVal val="hidden"/>
                                      </p:to>
                                    </p:set>
                                  </p:childTnLst>
                                </p:cTn>
                              </p:par>
                              <p:par>
                                <p:cTn id="1987" presetID="10" presetClass="exit" presetSubtype="0" fill="hold" nodeType="withEffect">
                                  <p:stCondLst>
                                    <p:cond delay="0"/>
                                  </p:stCondLst>
                                  <p:childTnLst>
                                    <p:animEffect transition="out" filter="fade">
                                      <p:cBhvr>
                                        <p:cTn id="1988" dur="400"/>
                                        <p:tgtEl>
                                          <p:spTgt spid="32"/>
                                        </p:tgtEl>
                                      </p:cBhvr>
                                    </p:animEffect>
                                    <p:set>
                                      <p:cBhvr>
                                        <p:cTn id="1989" dur="1" fill="hold">
                                          <p:stCondLst>
                                            <p:cond delay="399"/>
                                          </p:stCondLst>
                                        </p:cTn>
                                        <p:tgtEl>
                                          <p:spTgt spid="32"/>
                                        </p:tgtEl>
                                        <p:attrNameLst>
                                          <p:attrName>style.visibility</p:attrName>
                                        </p:attrNameLst>
                                      </p:cBhvr>
                                      <p:to>
                                        <p:strVal val="hidden"/>
                                      </p:to>
                                    </p:set>
                                  </p:childTnLst>
                                </p:cTn>
                              </p:par>
                              <p:par>
                                <p:cTn id="1990" presetID="10" presetClass="exit" presetSubtype="0" fill="hold" nodeType="withEffect">
                                  <p:stCondLst>
                                    <p:cond delay="0"/>
                                  </p:stCondLst>
                                  <p:childTnLst>
                                    <p:animEffect transition="out" filter="fade">
                                      <p:cBhvr>
                                        <p:cTn id="1991" dur="400"/>
                                        <p:tgtEl>
                                          <p:spTgt spid="33"/>
                                        </p:tgtEl>
                                      </p:cBhvr>
                                    </p:animEffect>
                                    <p:set>
                                      <p:cBhvr>
                                        <p:cTn id="1992" dur="1" fill="hold">
                                          <p:stCondLst>
                                            <p:cond delay="399"/>
                                          </p:stCondLst>
                                        </p:cTn>
                                        <p:tgtEl>
                                          <p:spTgt spid="33"/>
                                        </p:tgtEl>
                                        <p:attrNameLst>
                                          <p:attrName>style.visibility</p:attrName>
                                        </p:attrNameLst>
                                      </p:cBhvr>
                                      <p:to>
                                        <p:strVal val="hidden"/>
                                      </p:to>
                                    </p:set>
                                  </p:childTnLst>
                                </p:cTn>
                              </p:par>
                              <p:par>
                                <p:cTn id="1993" presetID="22" presetClass="entr" presetSubtype="8" fill="hold" nodeType="withEffect">
                                  <p:stCondLst>
                                    <p:cond delay="200"/>
                                  </p:stCondLst>
                                  <p:childTnLst>
                                    <p:set>
                                      <p:cBhvr>
                                        <p:cTn id="1994" dur="1" fill="hold">
                                          <p:stCondLst>
                                            <p:cond delay="0"/>
                                          </p:stCondLst>
                                        </p:cTn>
                                        <p:tgtEl>
                                          <p:spTgt spid="7"/>
                                        </p:tgtEl>
                                        <p:attrNameLst>
                                          <p:attrName>style.visibility</p:attrName>
                                        </p:attrNameLst>
                                      </p:cBhvr>
                                      <p:to>
                                        <p:strVal val="visible"/>
                                      </p:to>
                                    </p:set>
                                    <p:animEffect transition="in" filter="wipe(left)">
                                      <p:cBhvr>
                                        <p:cTn id="1995" dur="500"/>
                                        <p:tgtEl>
                                          <p:spTgt spid="7"/>
                                        </p:tgtEl>
                                      </p:cBhvr>
                                    </p:animEffect>
                                  </p:childTnLst>
                                </p:cTn>
                              </p:par>
                              <p:par>
                                <p:cTn id="1996" presetID="22" presetClass="entr" presetSubtype="8" fill="hold" nodeType="withEffect">
                                  <p:stCondLst>
                                    <p:cond delay="270"/>
                                  </p:stCondLst>
                                  <p:childTnLst>
                                    <p:set>
                                      <p:cBhvr>
                                        <p:cTn id="1997" dur="1" fill="hold">
                                          <p:stCondLst>
                                            <p:cond delay="0"/>
                                          </p:stCondLst>
                                        </p:cTn>
                                        <p:tgtEl>
                                          <p:spTgt spid="8"/>
                                        </p:tgtEl>
                                        <p:attrNameLst>
                                          <p:attrName>style.visibility</p:attrName>
                                        </p:attrNameLst>
                                      </p:cBhvr>
                                      <p:to>
                                        <p:strVal val="visible"/>
                                      </p:to>
                                    </p:set>
                                    <p:animEffect transition="in" filter="wipe(left)">
                                      <p:cBhvr>
                                        <p:cTn id="1998" dur="500"/>
                                        <p:tgtEl>
                                          <p:spTgt spid="8"/>
                                        </p:tgtEl>
                                      </p:cBhvr>
                                    </p:animEffect>
                                  </p:childTnLst>
                                </p:cTn>
                              </p:par>
                              <p:par>
                                <p:cTn id="1999" presetID="22" presetClass="entr" presetSubtype="8" fill="hold" nodeType="withEffect">
                                  <p:stCondLst>
                                    <p:cond delay="340"/>
                                  </p:stCondLst>
                                  <p:childTnLst>
                                    <p:set>
                                      <p:cBhvr>
                                        <p:cTn id="2000" dur="1" fill="hold">
                                          <p:stCondLst>
                                            <p:cond delay="0"/>
                                          </p:stCondLst>
                                        </p:cTn>
                                        <p:tgtEl>
                                          <p:spTgt spid="34"/>
                                        </p:tgtEl>
                                        <p:attrNameLst>
                                          <p:attrName>style.visibility</p:attrName>
                                        </p:attrNameLst>
                                      </p:cBhvr>
                                      <p:to>
                                        <p:strVal val="visible"/>
                                      </p:to>
                                    </p:set>
                                    <p:animEffect transition="in" filter="wipe(left)">
                                      <p:cBhvr>
                                        <p:cTn id="2001" dur="500"/>
                                        <p:tgtEl>
                                          <p:spTgt spid="34"/>
                                        </p:tgtEl>
                                      </p:cBhvr>
                                    </p:animEffect>
                                  </p:childTnLst>
                                </p:cTn>
                              </p:par>
                              <p:par>
                                <p:cTn id="2002" presetID="22" presetClass="entr" presetSubtype="8" fill="hold" nodeType="withEffect">
                                  <p:stCondLst>
                                    <p:cond delay="410"/>
                                  </p:stCondLst>
                                  <p:childTnLst>
                                    <p:set>
                                      <p:cBhvr>
                                        <p:cTn id="2003" dur="1" fill="hold">
                                          <p:stCondLst>
                                            <p:cond delay="0"/>
                                          </p:stCondLst>
                                        </p:cTn>
                                        <p:tgtEl>
                                          <p:spTgt spid="35"/>
                                        </p:tgtEl>
                                        <p:attrNameLst>
                                          <p:attrName>style.visibility</p:attrName>
                                        </p:attrNameLst>
                                      </p:cBhvr>
                                      <p:to>
                                        <p:strVal val="visible"/>
                                      </p:to>
                                    </p:set>
                                    <p:animEffect transition="in" filter="wipe(left)">
                                      <p:cBhvr>
                                        <p:cTn id="2004" dur="500"/>
                                        <p:tgtEl>
                                          <p:spTgt spid="35"/>
                                        </p:tgtEl>
                                      </p:cBhvr>
                                    </p:animEffect>
                                  </p:childTnLst>
                                </p:cTn>
                              </p:par>
                            </p:childTnLst>
                          </p:cTn>
                        </p:par>
                      </p:childTnLst>
                    </p:cTn>
                  </p:par>
                  <p:par>
                    <p:cTn id="2037" fill="hold">
                      <p:stCondLst>
                        <p:cond delay="indefinite"/>
                      </p:stCondLst>
                      <p:childTnLst>
                        <p:par>
                          <p:cTn id="2038" fill="hold">
                            <p:stCondLst>
                              <p:cond delay="0"/>
                            </p:stCondLst>
                            <p:childTnLst>
                              <p:par>
                                <p:cTn id="2007" presetID="10" presetClass="exit" presetSubtype="0" fill="hold" nodeType="clickEffect">
                                  <p:stCondLst>
                                    <p:cond delay="0"/>
                                  </p:stCondLst>
                                  <p:childTnLst>
                                    <p:animEffect transition="out" filter="fade">
                                      <p:cBhvr>
                                        <p:cTn id="2008" dur="400"/>
                                        <p:tgtEl>
                                          <p:spTgt spid="7"/>
                                        </p:tgtEl>
                                      </p:cBhvr>
                                    </p:animEffect>
                                    <p:set>
                                      <p:cBhvr>
                                        <p:cTn id="2009" dur="1" fill="hold">
                                          <p:stCondLst>
                                            <p:cond delay="399"/>
                                          </p:stCondLst>
                                        </p:cTn>
                                        <p:tgtEl>
                                          <p:spTgt spid="7"/>
                                        </p:tgtEl>
                                        <p:attrNameLst>
                                          <p:attrName>style.visibility</p:attrName>
                                        </p:attrNameLst>
                                      </p:cBhvr>
                                      <p:to>
                                        <p:strVal val="hidden"/>
                                      </p:to>
                                    </p:set>
                                  </p:childTnLst>
                                </p:cTn>
                              </p:par>
                              <p:par>
                                <p:cTn id="2010" presetID="10" presetClass="exit" presetSubtype="0" fill="hold" nodeType="withEffect">
                                  <p:stCondLst>
                                    <p:cond delay="0"/>
                                  </p:stCondLst>
                                  <p:childTnLst>
                                    <p:animEffect transition="out" filter="fade">
                                      <p:cBhvr>
                                        <p:cTn id="2011" dur="400"/>
                                        <p:tgtEl>
                                          <p:spTgt spid="8"/>
                                        </p:tgtEl>
                                      </p:cBhvr>
                                    </p:animEffect>
                                    <p:set>
                                      <p:cBhvr>
                                        <p:cTn id="2012" dur="1" fill="hold">
                                          <p:stCondLst>
                                            <p:cond delay="399"/>
                                          </p:stCondLst>
                                        </p:cTn>
                                        <p:tgtEl>
                                          <p:spTgt spid="8"/>
                                        </p:tgtEl>
                                        <p:attrNameLst>
                                          <p:attrName>style.visibility</p:attrName>
                                        </p:attrNameLst>
                                      </p:cBhvr>
                                      <p:to>
                                        <p:strVal val="hidden"/>
                                      </p:to>
                                    </p:set>
                                  </p:childTnLst>
                                </p:cTn>
                              </p:par>
                              <p:par>
                                <p:cTn id="2013" presetID="10" presetClass="exit" presetSubtype="0" fill="hold" nodeType="withEffect">
                                  <p:stCondLst>
                                    <p:cond delay="0"/>
                                  </p:stCondLst>
                                  <p:childTnLst>
                                    <p:animEffect transition="out" filter="fade">
                                      <p:cBhvr>
                                        <p:cTn id="2014" dur="400"/>
                                        <p:tgtEl>
                                          <p:spTgt spid="34"/>
                                        </p:tgtEl>
                                      </p:cBhvr>
                                    </p:animEffect>
                                    <p:set>
                                      <p:cBhvr>
                                        <p:cTn id="2015" dur="1" fill="hold">
                                          <p:stCondLst>
                                            <p:cond delay="399"/>
                                          </p:stCondLst>
                                        </p:cTn>
                                        <p:tgtEl>
                                          <p:spTgt spid="34"/>
                                        </p:tgtEl>
                                        <p:attrNameLst>
                                          <p:attrName>style.visibility</p:attrName>
                                        </p:attrNameLst>
                                      </p:cBhvr>
                                      <p:to>
                                        <p:strVal val="hidden"/>
                                      </p:to>
                                    </p:set>
                                  </p:childTnLst>
                                </p:cTn>
                              </p:par>
                              <p:par>
                                <p:cTn id="2016" presetID="10" presetClass="exit" presetSubtype="0" fill="hold" nodeType="withEffect">
                                  <p:stCondLst>
                                    <p:cond delay="0"/>
                                  </p:stCondLst>
                                  <p:childTnLst>
                                    <p:animEffect transition="out" filter="fade">
                                      <p:cBhvr>
                                        <p:cTn id="2017" dur="400"/>
                                        <p:tgtEl>
                                          <p:spTgt spid="35"/>
                                        </p:tgtEl>
                                      </p:cBhvr>
                                    </p:animEffect>
                                    <p:set>
                                      <p:cBhvr>
                                        <p:cTn id="2018" dur="1" fill="hold">
                                          <p:stCondLst>
                                            <p:cond delay="399"/>
                                          </p:stCondLst>
                                        </p:cTn>
                                        <p:tgtEl>
                                          <p:spTgt spid="35"/>
                                        </p:tgtEl>
                                        <p:attrNameLst>
                                          <p:attrName>style.visibility</p:attrName>
                                        </p:attrNameLst>
                                      </p:cBhvr>
                                      <p:to>
                                        <p:strVal val="hidden"/>
                                      </p:to>
                                    </p:set>
                                  </p:childTnLst>
                                </p:cTn>
                              </p:par>
                              <p:par>
                                <p:cTn id="2019" presetID="22" presetClass="entr" presetSubtype="4" fill="hold" nodeType="withEffect">
                                  <p:stCondLst>
                                    <p:cond delay="200"/>
                                  </p:stCondLst>
                                  <p:childTnLst>
                                    <p:set>
                                      <p:cBhvr>
                                        <p:cTn id="2020" dur="1" fill="hold">
                                          <p:stCondLst>
                                            <p:cond delay="0"/>
                                          </p:stCondLst>
                                        </p:cTn>
                                        <p:tgtEl>
                                          <p:spTgt spid="9"/>
                                        </p:tgtEl>
                                        <p:attrNameLst>
                                          <p:attrName>style.visibility</p:attrName>
                                        </p:attrNameLst>
                                      </p:cBhvr>
                                      <p:to>
                                        <p:strVal val="visible"/>
                                      </p:to>
                                    </p:set>
                                    <p:animEffect transition="in" filter="wipe(down)">
                                      <p:cBhvr>
                                        <p:cTn id="2021" dur="500"/>
                                        <p:tgtEl>
                                          <p:spTgt spid="9"/>
                                        </p:tgtEl>
                                      </p:cBhvr>
                                    </p:animEffect>
                                  </p:childTnLst>
                                </p:cTn>
                              </p:par>
                              <p:par>
                                <p:cTn id="2022" presetID="22" presetClass="entr" presetSubtype="4" fill="hold" nodeType="withEffect">
                                  <p:stCondLst>
                                    <p:cond delay="270"/>
                                  </p:stCondLst>
                                  <p:childTnLst>
                                    <p:set>
                                      <p:cBhvr>
                                        <p:cTn id="2023" dur="1" fill="hold">
                                          <p:stCondLst>
                                            <p:cond delay="0"/>
                                          </p:stCondLst>
                                        </p:cTn>
                                        <p:tgtEl>
                                          <p:spTgt spid="10"/>
                                        </p:tgtEl>
                                        <p:attrNameLst>
                                          <p:attrName>style.visibility</p:attrName>
                                        </p:attrNameLst>
                                      </p:cBhvr>
                                      <p:to>
                                        <p:strVal val="visible"/>
                                      </p:to>
                                    </p:set>
                                    <p:animEffect transition="in" filter="wipe(down)">
                                      <p:cBhvr>
                                        <p:cTn id="2024" dur="500"/>
                                        <p:tgtEl>
                                          <p:spTgt spid="10"/>
                                        </p:tgtEl>
                                      </p:cBhvr>
                                    </p:animEffect>
                                  </p:childTnLst>
                                </p:cTn>
                              </p:par>
                              <p:par>
                                <p:cTn id="2025" presetID="22" presetClass="entr" presetSubtype="4" fill="hold" nodeType="withEffect">
                                  <p:stCondLst>
                                    <p:cond delay="340"/>
                                  </p:stCondLst>
                                  <p:childTnLst>
                                    <p:set>
                                      <p:cBhvr>
                                        <p:cTn id="2026" dur="1" fill="hold">
                                          <p:stCondLst>
                                            <p:cond delay="0"/>
                                          </p:stCondLst>
                                        </p:cTn>
                                        <p:tgtEl>
                                          <p:spTgt spid="11"/>
                                        </p:tgtEl>
                                        <p:attrNameLst>
                                          <p:attrName>style.visibility</p:attrName>
                                        </p:attrNameLst>
                                      </p:cBhvr>
                                      <p:to>
                                        <p:strVal val="visible"/>
                                      </p:to>
                                    </p:set>
                                    <p:animEffect transition="in" filter="wipe(down)">
                                      <p:cBhvr>
                                        <p:cTn id="2027" dur="500"/>
                                        <p:tgtEl>
                                          <p:spTgt spid="11"/>
                                        </p:tgtEl>
                                      </p:cBhvr>
                                    </p:animEffect>
                                  </p:childTnLst>
                                </p:cTn>
                              </p:par>
                              <p:par>
                                <p:cTn id="2028" presetID="22" presetClass="entr" presetSubtype="4" fill="hold" nodeType="withEffect">
                                  <p:stCondLst>
                                    <p:cond delay="410"/>
                                  </p:stCondLst>
                                  <p:childTnLst>
                                    <p:set>
                                      <p:cBhvr>
                                        <p:cTn id="2029" dur="1" fill="hold">
                                          <p:stCondLst>
                                            <p:cond delay="0"/>
                                          </p:stCondLst>
                                        </p:cTn>
                                        <p:tgtEl>
                                          <p:spTgt spid="12"/>
                                        </p:tgtEl>
                                        <p:attrNameLst>
                                          <p:attrName>style.visibility</p:attrName>
                                        </p:attrNameLst>
                                      </p:cBhvr>
                                      <p:to>
                                        <p:strVal val="visible"/>
                                      </p:to>
                                    </p:set>
                                    <p:animEffect transition="in" filter="wipe(down)">
                                      <p:cBhvr>
                                        <p:cTn id="2030" dur="500"/>
                                        <p:tgtEl>
                                          <p:spTgt spid="12"/>
                                        </p:tgtEl>
                                      </p:cBhvr>
                                    </p:animEffect>
                                  </p:childTnLst>
                                </p:cTn>
                              </p:par>
                              <p:par>
                                <p:cTn id="2031" presetID="22" presetClass="entr" presetSubtype="4" fill="hold" nodeType="withEffect">
                                  <p:stCondLst>
                                    <p:cond delay="480"/>
                                  </p:stCondLst>
                                  <p:childTnLst>
                                    <p:set>
                                      <p:cBhvr>
                                        <p:cTn id="2032" dur="1" fill="hold">
                                          <p:stCondLst>
                                            <p:cond delay="0"/>
                                          </p:stCondLst>
                                        </p:cTn>
                                        <p:tgtEl>
                                          <p:spTgt spid="36"/>
                                        </p:tgtEl>
                                        <p:attrNameLst>
                                          <p:attrName>style.visibility</p:attrName>
                                        </p:attrNameLst>
                                      </p:cBhvr>
                                      <p:to>
                                        <p:strVal val="visible"/>
                                      </p:to>
                                    </p:set>
                                    <p:animEffect transition="in" filter="wipe(down)">
                                      <p:cBhvr>
                                        <p:cTn id="2033" dur="500"/>
                                        <p:tgtEl>
                                          <p:spTgt spid="36"/>
                                        </p:tgtEl>
                                      </p:cBhvr>
                                    </p:animEffect>
                                  </p:childTnLst>
                                </p:cTn>
                              </p:par>
                              <p:par>
                                <p:cTn id="2034" presetID="22" presetClass="entr" presetSubtype="4" fill="hold" nodeType="withEffect">
                                  <p:stCondLst>
                                    <p:cond delay="550"/>
                                  </p:stCondLst>
                                  <p:childTnLst>
                                    <p:set>
                                      <p:cBhvr>
                                        <p:cTn id="2035" dur="1" fill="hold">
                                          <p:stCondLst>
                                            <p:cond delay="0"/>
                                          </p:stCondLst>
                                        </p:cTn>
                                        <p:tgtEl>
                                          <p:spTgt spid="37"/>
                                        </p:tgtEl>
                                        <p:attrNameLst>
                                          <p:attrName>style.visibility</p:attrName>
                                        </p:attrNameLst>
                                      </p:cBhvr>
                                      <p:to>
                                        <p:strVal val="visible"/>
                                      </p:to>
                                    </p:set>
                                    <p:animEffect transition="in" filter="wipe(down)">
                                      <p:cBhvr>
                                        <p:cTn id="2036" dur="500"/>
                                        <p:tgtEl>
                                          <p:spTgt spid="37"/>
                                        </p:tgtEl>
                                      </p:cBhvr>
                                    </p:animEffect>
                                  </p:childTnLst>
                                </p:cTn>
                              </p:par>
                            </p:childTnLst>
                          </p:cTn>
                        </p:par>
                      </p:childTnLst>
                    </p:cTn>
                  </p:par>
                  <p:par>
                    <p:cTn id="2114" fill="hold">
                      <p:stCondLst>
                        <p:cond delay="indefinite"/>
                      </p:stCondLst>
                      <p:childTnLst>
                        <p:par>
                          <p:cTn id="2115" fill="hold">
                            <p:stCondLst>
                              <p:cond delay="0"/>
                            </p:stCondLst>
                            <p:childTnLst>
                              <p:par>
                                <p:cTn id="2039" presetID="10" presetClass="exit" presetSubtype="0" fill="hold" nodeType="clickEffect">
                                  <p:stCondLst>
                                    <p:cond delay="0"/>
                                  </p:stCondLst>
                                  <p:childTnLst>
                                    <p:animEffect transition="out" filter="fade">
                                      <p:cBhvr>
                                        <p:cTn id="2040" dur="400"/>
                                        <p:tgtEl>
                                          <p:spTgt spid="9"/>
                                        </p:tgtEl>
                                      </p:cBhvr>
                                    </p:animEffect>
                                    <p:set>
                                      <p:cBhvr>
                                        <p:cTn id="2041" dur="1" fill="hold">
                                          <p:stCondLst>
                                            <p:cond delay="399"/>
                                          </p:stCondLst>
                                        </p:cTn>
                                        <p:tgtEl>
                                          <p:spTgt spid="9"/>
                                        </p:tgtEl>
                                        <p:attrNameLst>
                                          <p:attrName>style.visibility</p:attrName>
                                        </p:attrNameLst>
                                      </p:cBhvr>
                                      <p:to>
                                        <p:strVal val="hidden"/>
                                      </p:to>
                                    </p:set>
                                  </p:childTnLst>
                                </p:cTn>
                              </p:par>
                              <p:par>
                                <p:cTn id="2042" presetID="10" presetClass="exit" presetSubtype="0" fill="hold" nodeType="withEffect">
                                  <p:stCondLst>
                                    <p:cond delay="0"/>
                                  </p:stCondLst>
                                  <p:childTnLst>
                                    <p:animEffect transition="out" filter="fade">
                                      <p:cBhvr>
                                        <p:cTn id="2043" dur="400"/>
                                        <p:tgtEl>
                                          <p:spTgt spid="10"/>
                                        </p:tgtEl>
                                      </p:cBhvr>
                                    </p:animEffect>
                                    <p:set>
                                      <p:cBhvr>
                                        <p:cTn id="2044" dur="1" fill="hold">
                                          <p:stCondLst>
                                            <p:cond delay="399"/>
                                          </p:stCondLst>
                                        </p:cTn>
                                        <p:tgtEl>
                                          <p:spTgt spid="10"/>
                                        </p:tgtEl>
                                        <p:attrNameLst>
                                          <p:attrName>style.visibility</p:attrName>
                                        </p:attrNameLst>
                                      </p:cBhvr>
                                      <p:to>
                                        <p:strVal val="hidden"/>
                                      </p:to>
                                    </p:set>
                                  </p:childTnLst>
                                </p:cTn>
                              </p:par>
                              <p:par>
                                <p:cTn id="2045" presetID="10" presetClass="exit" presetSubtype="0" fill="hold" nodeType="withEffect">
                                  <p:stCondLst>
                                    <p:cond delay="0"/>
                                  </p:stCondLst>
                                  <p:childTnLst>
                                    <p:animEffect transition="out" filter="fade">
                                      <p:cBhvr>
                                        <p:cTn id="2046" dur="400"/>
                                        <p:tgtEl>
                                          <p:spTgt spid="11"/>
                                        </p:tgtEl>
                                      </p:cBhvr>
                                    </p:animEffect>
                                    <p:set>
                                      <p:cBhvr>
                                        <p:cTn id="2047" dur="1" fill="hold">
                                          <p:stCondLst>
                                            <p:cond delay="399"/>
                                          </p:stCondLst>
                                        </p:cTn>
                                        <p:tgtEl>
                                          <p:spTgt spid="11"/>
                                        </p:tgtEl>
                                        <p:attrNameLst>
                                          <p:attrName>style.visibility</p:attrName>
                                        </p:attrNameLst>
                                      </p:cBhvr>
                                      <p:to>
                                        <p:strVal val="hidden"/>
                                      </p:to>
                                    </p:set>
                                  </p:childTnLst>
                                </p:cTn>
                              </p:par>
                              <p:par>
                                <p:cTn id="2048" presetID="10" presetClass="exit" presetSubtype="0" fill="hold" nodeType="withEffect">
                                  <p:stCondLst>
                                    <p:cond delay="0"/>
                                  </p:stCondLst>
                                  <p:childTnLst>
                                    <p:animEffect transition="out" filter="fade">
                                      <p:cBhvr>
                                        <p:cTn id="2049" dur="400"/>
                                        <p:tgtEl>
                                          <p:spTgt spid="12"/>
                                        </p:tgtEl>
                                      </p:cBhvr>
                                    </p:animEffect>
                                    <p:set>
                                      <p:cBhvr>
                                        <p:cTn id="2050" dur="1" fill="hold">
                                          <p:stCondLst>
                                            <p:cond delay="399"/>
                                          </p:stCondLst>
                                        </p:cTn>
                                        <p:tgtEl>
                                          <p:spTgt spid="12"/>
                                        </p:tgtEl>
                                        <p:attrNameLst>
                                          <p:attrName>style.visibility</p:attrName>
                                        </p:attrNameLst>
                                      </p:cBhvr>
                                      <p:to>
                                        <p:strVal val="hidden"/>
                                      </p:to>
                                    </p:set>
                                  </p:childTnLst>
                                </p:cTn>
                              </p:par>
                              <p:par>
                                <p:cTn id="2051" presetID="10" presetClass="exit" presetSubtype="0" fill="hold" nodeType="withEffect">
                                  <p:stCondLst>
                                    <p:cond delay="0"/>
                                  </p:stCondLst>
                                  <p:childTnLst>
                                    <p:animEffect transition="out" filter="fade">
                                      <p:cBhvr>
                                        <p:cTn id="2052" dur="400"/>
                                        <p:tgtEl>
                                          <p:spTgt spid="36"/>
                                        </p:tgtEl>
                                      </p:cBhvr>
                                    </p:animEffect>
                                    <p:set>
                                      <p:cBhvr>
                                        <p:cTn id="2053" dur="1" fill="hold">
                                          <p:stCondLst>
                                            <p:cond delay="399"/>
                                          </p:stCondLst>
                                        </p:cTn>
                                        <p:tgtEl>
                                          <p:spTgt spid="36"/>
                                        </p:tgtEl>
                                        <p:attrNameLst>
                                          <p:attrName>style.visibility</p:attrName>
                                        </p:attrNameLst>
                                      </p:cBhvr>
                                      <p:to>
                                        <p:strVal val="hidden"/>
                                      </p:to>
                                    </p:set>
                                  </p:childTnLst>
                                </p:cTn>
                              </p:par>
                              <p:par>
                                <p:cTn id="2054" presetID="10" presetClass="exit" presetSubtype="0" fill="hold" nodeType="withEffect">
                                  <p:stCondLst>
                                    <p:cond delay="0"/>
                                  </p:stCondLst>
                                  <p:childTnLst>
                                    <p:animEffect transition="out" filter="fade">
                                      <p:cBhvr>
                                        <p:cTn id="2055" dur="400"/>
                                        <p:tgtEl>
                                          <p:spTgt spid="37"/>
                                        </p:tgtEl>
                                      </p:cBhvr>
                                    </p:animEffect>
                                    <p:set>
                                      <p:cBhvr>
                                        <p:cTn id="2056" dur="1" fill="hold">
                                          <p:stCondLst>
                                            <p:cond delay="399"/>
                                          </p:stCondLst>
                                        </p:cTn>
                                        <p:tgtEl>
                                          <p:spTgt spid="37"/>
                                        </p:tgtEl>
                                        <p:attrNameLst>
                                          <p:attrName>style.visibility</p:attrName>
                                        </p:attrNameLst>
                                      </p:cBhvr>
                                      <p:to>
                                        <p:strVal val="hidden"/>
                                      </p:to>
                                    </p:set>
                                  </p:childTnLst>
                                </p:cTn>
                              </p:par>
                              <p:par>
                                <p:cTn id="2057" presetID="10" presetClass="entr" presetSubtype="0" fill="hold" nodeType="withEffect">
                                  <p:stCondLst>
                                    <p:cond delay="200"/>
                                  </p:stCondLst>
                                  <p:childTnLst>
                                    <p:set>
                                      <p:cBhvr>
                                        <p:cTn id="2058" dur="1" fill="hold">
                                          <p:stCondLst>
                                            <p:cond delay="0"/>
                                          </p:stCondLst>
                                        </p:cTn>
                                        <p:tgtEl>
                                          <p:spTgt spid="13"/>
                                        </p:tgtEl>
                                        <p:attrNameLst>
                                          <p:attrName>style.visibility</p:attrName>
                                        </p:attrNameLst>
                                      </p:cBhvr>
                                      <p:to>
                                        <p:strVal val="visible"/>
                                      </p:to>
                                    </p:set>
                                    <p:animEffect transition="in" filter="fade">
                                      <p:cBhvr>
                                        <p:cTn id="2059" dur="500"/>
                                        <p:tgtEl>
                                          <p:spTgt spid="13"/>
                                        </p:tgtEl>
                                      </p:cBhvr>
                                    </p:animEffect>
                                  </p:childTnLst>
                                </p:cTn>
                              </p:par>
                              <p:par>
                                <p:cTn id="2060" presetID="10" presetClass="entr" presetSubtype="0" fill="hold" nodeType="withEffect">
                                  <p:stCondLst>
                                    <p:cond delay="270"/>
                                  </p:stCondLst>
                                  <p:childTnLst>
                                    <p:set>
                                      <p:cBhvr>
                                        <p:cTn id="2061" dur="1" fill="hold">
                                          <p:stCondLst>
                                            <p:cond delay="0"/>
                                          </p:stCondLst>
                                        </p:cTn>
                                        <p:tgtEl>
                                          <p:spTgt spid="14"/>
                                        </p:tgtEl>
                                        <p:attrNameLst>
                                          <p:attrName>style.visibility</p:attrName>
                                        </p:attrNameLst>
                                      </p:cBhvr>
                                      <p:to>
                                        <p:strVal val="visible"/>
                                      </p:to>
                                    </p:set>
                                    <p:animEffect transition="in" filter="fade">
                                      <p:cBhvr>
                                        <p:cTn id="2062" dur="500"/>
                                        <p:tgtEl>
                                          <p:spTgt spid="14"/>
                                        </p:tgtEl>
                                      </p:cBhvr>
                                    </p:animEffect>
                                  </p:childTnLst>
                                </p:cTn>
                              </p:par>
                              <p:par>
                                <p:cTn id="2063" presetID="10" presetClass="entr" presetSubtype="0" fill="hold" nodeType="withEffect">
                                  <p:stCondLst>
                                    <p:cond delay="340"/>
                                  </p:stCondLst>
                                  <p:childTnLst>
                                    <p:set>
                                      <p:cBhvr>
                                        <p:cTn id="2064" dur="1" fill="hold">
                                          <p:stCondLst>
                                            <p:cond delay="0"/>
                                          </p:stCondLst>
                                        </p:cTn>
                                        <p:tgtEl>
                                          <p:spTgt spid="15"/>
                                        </p:tgtEl>
                                        <p:attrNameLst>
                                          <p:attrName>style.visibility</p:attrName>
                                        </p:attrNameLst>
                                      </p:cBhvr>
                                      <p:to>
                                        <p:strVal val="visible"/>
                                      </p:to>
                                    </p:set>
                                    <p:animEffect transition="in" filter="fade">
                                      <p:cBhvr>
                                        <p:cTn id="2065" dur="500"/>
                                        <p:tgtEl>
                                          <p:spTgt spid="15"/>
                                        </p:tgtEl>
                                      </p:cBhvr>
                                    </p:animEffect>
                                  </p:childTnLst>
                                </p:cTn>
                              </p:par>
                              <p:par>
                                <p:cTn id="2066" presetID="10" presetClass="entr" presetSubtype="0" fill="hold" nodeType="withEffect">
                                  <p:stCondLst>
                                    <p:cond delay="410"/>
                                  </p:stCondLst>
                                  <p:childTnLst>
                                    <p:set>
                                      <p:cBhvr>
                                        <p:cTn id="2067" dur="1" fill="hold">
                                          <p:stCondLst>
                                            <p:cond delay="0"/>
                                          </p:stCondLst>
                                        </p:cTn>
                                        <p:tgtEl>
                                          <p:spTgt spid="16"/>
                                        </p:tgtEl>
                                        <p:attrNameLst>
                                          <p:attrName>style.visibility</p:attrName>
                                        </p:attrNameLst>
                                      </p:cBhvr>
                                      <p:to>
                                        <p:strVal val="visible"/>
                                      </p:to>
                                    </p:set>
                                    <p:animEffect transition="in" filter="fade">
                                      <p:cBhvr>
                                        <p:cTn id="2068" dur="500"/>
                                        <p:tgtEl>
                                          <p:spTgt spid="16"/>
                                        </p:tgtEl>
                                      </p:cBhvr>
                                    </p:animEffect>
                                  </p:childTnLst>
                                </p:cTn>
                              </p:par>
                              <p:par>
                                <p:cTn id="2069" presetID="10" presetClass="entr" presetSubtype="0" fill="hold" nodeType="withEffect">
                                  <p:stCondLst>
                                    <p:cond delay="480"/>
                                  </p:stCondLst>
                                  <p:childTnLst>
                                    <p:set>
                                      <p:cBhvr>
                                        <p:cTn id="2070" dur="1" fill="hold">
                                          <p:stCondLst>
                                            <p:cond delay="0"/>
                                          </p:stCondLst>
                                        </p:cTn>
                                        <p:tgtEl>
                                          <p:spTgt spid="17"/>
                                        </p:tgtEl>
                                        <p:attrNameLst>
                                          <p:attrName>style.visibility</p:attrName>
                                        </p:attrNameLst>
                                      </p:cBhvr>
                                      <p:to>
                                        <p:strVal val="visible"/>
                                      </p:to>
                                    </p:set>
                                    <p:animEffect transition="in" filter="fade">
                                      <p:cBhvr>
                                        <p:cTn id="2071" dur="500"/>
                                        <p:tgtEl>
                                          <p:spTgt spid="17"/>
                                        </p:tgtEl>
                                      </p:cBhvr>
                                    </p:animEffect>
                                  </p:childTnLst>
                                </p:cTn>
                              </p:par>
                              <p:par>
                                <p:cTn id="2072" presetID="10" presetClass="entr" presetSubtype="0" fill="hold" nodeType="withEffect">
                                  <p:stCondLst>
                                    <p:cond delay="550"/>
                                  </p:stCondLst>
                                  <p:childTnLst>
                                    <p:set>
                                      <p:cBhvr>
                                        <p:cTn id="2073" dur="1" fill="hold">
                                          <p:stCondLst>
                                            <p:cond delay="0"/>
                                          </p:stCondLst>
                                        </p:cTn>
                                        <p:tgtEl>
                                          <p:spTgt spid="18"/>
                                        </p:tgtEl>
                                        <p:attrNameLst>
                                          <p:attrName>style.visibility</p:attrName>
                                        </p:attrNameLst>
                                      </p:cBhvr>
                                      <p:to>
                                        <p:strVal val="visible"/>
                                      </p:to>
                                    </p:set>
                                    <p:animEffect transition="in" filter="fade">
                                      <p:cBhvr>
                                        <p:cTn id="2074" dur="500"/>
                                        <p:tgtEl>
                                          <p:spTgt spid="18"/>
                                        </p:tgtEl>
                                      </p:cBhvr>
                                    </p:animEffect>
                                  </p:childTnLst>
                                </p:cTn>
                              </p:par>
                              <p:par>
                                <p:cTn id="2075" presetID="10" presetClass="entr" presetSubtype="0" fill="hold" nodeType="withEffect">
                                  <p:stCondLst>
                                    <p:cond delay="620"/>
                                  </p:stCondLst>
                                  <p:childTnLst>
                                    <p:set>
                                      <p:cBhvr>
                                        <p:cTn id="2076" dur="1" fill="hold">
                                          <p:stCondLst>
                                            <p:cond delay="0"/>
                                          </p:stCondLst>
                                        </p:cTn>
                                        <p:tgtEl>
                                          <p:spTgt spid="19"/>
                                        </p:tgtEl>
                                        <p:attrNameLst>
                                          <p:attrName>style.visibility</p:attrName>
                                        </p:attrNameLst>
                                      </p:cBhvr>
                                      <p:to>
                                        <p:strVal val="visible"/>
                                      </p:to>
                                    </p:set>
                                    <p:animEffect transition="in" filter="fade">
                                      <p:cBhvr>
                                        <p:cTn id="2077" dur="500"/>
                                        <p:tgtEl>
                                          <p:spTgt spid="19"/>
                                        </p:tgtEl>
                                      </p:cBhvr>
                                    </p:animEffect>
                                  </p:childTnLst>
                                </p:cTn>
                              </p:par>
                              <p:par>
                                <p:cTn id="2078" presetID="10" presetClass="entr" presetSubtype="0" fill="hold" nodeType="withEffect">
                                  <p:stCondLst>
                                    <p:cond delay="690"/>
                                  </p:stCondLst>
                                  <p:childTnLst>
                                    <p:set>
                                      <p:cBhvr>
                                        <p:cTn id="2079" dur="1" fill="hold">
                                          <p:stCondLst>
                                            <p:cond delay="0"/>
                                          </p:stCondLst>
                                        </p:cTn>
                                        <p:tgtEl>
                                          <p:spTgt spid="20"/>
                                        </p:tgtEl>
                                        <p:attrNameLst>
                                          <p:attrName>style.visibility</p:attrName>
                                        </p:attrNameLst>
                                      </p:cBhvr>
                                      <p:to>
                                        <p:strVal val="visible"/>
                                      </p:to>
                                    </p:set>
                                    <p:animEffect transition="in" filter="fade">
                                      <p:cBhvr>
                                        <p:cTn id="2080" dur="500"/>
                                        <p:tgtEl>
                                          <p:spTgt spid="20"/>
                                        </p:tgtEl>
                                      </p:cBhvr>
                                    </p:animEffect>
                                  </p:childTnLst>
                                </p:cTn>
                              </p:par>
                              <p:par>
                                <p:cTn id="2081" presetID="10" presetClass="entr" presetSubtype="0" fill="hold" nodeType="withEffect">
                                  <p:stCondLst>
                                    <p:cond delay="760"/>
                                  </p:stCondLst>
                                  <p:childTnLst>
                                    <p:set>
                                      <p:cBhvr>
                                        <p:cTn id="2082" dur="1" fill="hold">
                                          <p:stCondLst>
                                            <p:cond delay="0"/>
                                          </p:stCondLst>
                                        </p:cTn>
                                        <p:tgtEl>
                                          <p:spTgt spid="21"/>
                                        </p:tgtEl>
                                        <p:attrNameLst>
                                          <p:attrName>style.visibility</p:attrName>
                                        </p:attrNameLst>
                                      </p:cBhvr>
                                      <p:to>
                                        <p:strVal val="visible"/>
                                      </p:to>
                                    </p:set>
                                    <p:animEffect transition="in" filter="fade">
                                      <p:cBhvr>
                                        <p:cTn id="2083" dur="500"/>
                                        <p:tgtEl>
                                          <p:spTgt spid="21"/>
                                        </p:tgtEl>
                                      </p:cBhvr>
                                    </p:animEffect>
                                  </p:childTnLst>
                                </p:cTn>
                              </p:par>
                              <p:par>
                                <p:cTn id="2084" presetID="10" presetClass="entr" presetSubtype="0" fill="hold" nodeType="withEffect">
                                  <p:stCondLst>
                                    <p:cond delay="830"/>
                                  </p:stCondLst>
                                  <p:childTnLst>
                                    <p:set>
                                      <p:cBhvr>
                                        <p:cTn id="2085" dur="1" fill="hold">
                                          <p:stCondLst>
                                            <p:cond delay="0"/>
                                          </p:stCondLst>
                                        </p:cTn>
                                        <p:tgtEl>
                                          <p:spTgt spid="22"/>
                                        </p:tgtEl>
                                        <p:attrNameLst>
                                          <p:attrName>style.visibility</p:attrName>
                                        </p:attrNameLst>
                                      </p:cBhvr>
                                      <p:to>
                                        <p:strVal val="visible"/>
                                      </p:to>
                                    </p:set>
                                    <p:animEffect transition="in" filter="fade">
                                      <p:cBhvr>
                                        <p:cTn id="2086" dur="500"/>
                                        <p:tgtEl>
                                          <p:spTgt spid="22"/>
                                        </p:tgtEl>
                                      </p:cBhvr>
                                    </p:animEffect>
                                  </p:childTnLst>
                                </p:cTn>
                              </p:par>
                              <p:par>
                                <p:cTn id="2087" presetID="10" presetClass="entr" presetSubtype="0" fill="hold" nodeType="withEffect">
                                  <p:stCondLst>
                                    <p:cond delay="900"/>
                                  </p:stCondLst>
                                  <p:childTnLst>
                                    <p:set>
                                      <p:cBhvr>
                                        <p:cTn id="2088" dur="1" fill="hold">
                                          <p:stCondLst>
                                            <p:cond delay="0"/>
                                          </p:stCondLst>
                                        </p:cTn>
                                        <p:tgtEl>
                                          <p:spTgt spid="23"/>
                                        </p:tgtEl>
                                        <p:attrNameLst>
                                          <p:attrName>style.visibility</p:attrName>
                                        </p:attrNameLst>
                                      </p:cBhvr>
                                      <p:to>
                                        <p:strVal val="visible"/>
                                      </p:to>
                                    </p:set>
                                    <p:animEffect transition="in" filter="fade">
                                      <p:cBhvr>
                                        <p:cTn id="2089" dur="500"/>
                                        <p:tgtEl>
                                          <p:spTgt spid="23"/>
                                        </p:tgtEl>
                                      </p:cBhvr>
                                    </p:animEffect>
                                  </p:childTnLst>
                                </p:cTn>
                              </p:par>
                              <p:par>
                                <p:cTn id="2090" presetID="10" presetClass="entr" presetSubtype="0" fill="hold" nodeType="withEffect">
                                  <p:stCondLst>
                                    <p:cond delay="900"/>
                                  </p:stCondLst>
                                  <p:childTnLst>
                                    <p:set>
                                      <p:cBhvr>
                                        <p:cTn id="2091" dur="1" fill="hold">
                                          <p:stCondLst>
                                            <p:cond delay="0"/>
                                          </p:stCondLst>
                                        </p:cTn>
                                        <p:tgtEl>
                                          <p:spTgt spid="24"/>
                                        </p:tgtEl>
                                        <p:attrNameLst>
                                          <p:attrName>style.visibility</p:attrName>
                                        </p:attrNameLst>
                                      </p:cBhvr>
                                      <p:to>
                                        <p:strVal val="visible"/>
                                      </p:to>
                                    </p:set>
                                    <p:animEffect transition="in" filter="fade">
                                      <p:cBhvr>
                                        <p:cTn id="2092" dur="500"/>
                                        <p:tgtEl>
                                          <p:spTgt spid="24"/>
                                        </p:tgtEl>
                                      </p:cBhvr>
                                    </p:animEffect>
                                  </p:childTnLst>
                                </p:cTn>
                              </p:par>
                              <p:par>
                                <p:cTn id="2093" presetID="10" presetClass="entr" presetSubtype="0" fill="hold" nodeType="withEffect">
                                  <p:stCondLst>
                                    <p:cond delay="900"/>
                                  </p:stCondLst>
                                  <p:childTnLst>
                                    <p:set>
                                      <p:cBhvr>
                                        <p:cTn id="2094" dur="1" fill="hold">
                                          <p:stCondLst>
                                            <p:cond delay="0"/>
                                          </p:stCondLst>
                                        </p:cTn>
                                        <p:tgtEl>
                                          <p:spTgt spid="25"/>
                                        </p:tgtEl>
                                        <p:attrNameLst>
                                          <p:attrName>style.visibility</p:attrName>
                                        </p:attrNameLst>
                                      </p:cBhvr>
                                      <p:to>
                                        <p:strVal val="visible"/>
                                      </p:to>
                                    </p:set>
                                    <p:animEffect transition="in" filter="fade">
                                      <p:cBhvr>
                                        <p:cTn id="2095" dur="500"/>
                                        <p:tgtEl>
                                          <p:spTgt spid="25"/>
                                        </p:tgtEl>
                                      </p:cBhvr>
                                    </p:animEffect>
                                  </p:childTnLst>
                                </p:cTn>
                              </p:par>
                              <p:par>
                                <p:cTn id="2096" presetID="10" presetClass="entr" presetSubtype="0" fill="hold" nodeType="withEffect">
                                  <p:stCondLst>
                                    <p:cond delay="900"/>
                                  </p:stCondLst>
                                  <p:childTnLst>
                                    <p:set>
                                      <p:cBhvr>
                                        <p:cTn id="2097" dur="1" fill="hold">
                                          <p:stCondLst>
                                            <p:cond delay="0"/>
                                          </p:stCondLst>
                                        </p:cTn>
                                        <p:tgtEl>
                                          <p:spTgt spid="26"/>
                                        </p:tgtEl>
                                        <p:attrNameLst>
                                          <p:attrName>style.visibility</p:attrName>
                                        </p:attrNameLst>
                                      </p:cBhvr>
                                      <p:to>
                                        <p:strVal val="visible"/>
                                      </p:to>
                                    </p:set>
                                    <p:animEffect transition="in" filter="fade">
                                      <p:cBhvr>
                                        <p:cTn id="2098" dur="500"/>
                                        <p:tgtEl>
                                          <p:spTgt spid="26"/>
                                        </p:tgtEl>
                                      </p:cBhvr>
                                    </p:animEffect>
                                  </p:childTnLst>
                                </p:cTn>
                              </p:par>
                              <p:par>
                                <p:cTn id="2099" presetID="10" presetClass="entr" presetSubtype="0" fill="hold" nodeType="withEffect">
                                  <p:stCondLst>
                                    <p:cond delay="900"/>
                                  </p:stCondLst>
                                  <p:childTnLst>
                                    <p:set>
                                      <p:cBhvr>
                                        <p:cTn id="2100" dur="1" fill="hold">
                                          <p:stCondLst>
                                            <p:cond delay="0"/>
                                          </p:stCondLst>
                                        </p:cTn>
                                        <p:tgtEl>
                                          <p:spTgt spid="27"/>
                                        </p:tgtEl>
                                        <p:attrNameLst>
                                          <p:attrName>style.visibility</p:attrName>
                                        </p:attrNameLst>
                                      </p:cBhvr>
                                      <p:to>
                                        <p:strVal val="visible"/>
                                      </p:to>
                                    </p:set>
                                    <p:animEffect transition="in" filter="fade">
                                      <p:cBhvr>
                                        <p:cTn id="2101" dur="500"/>
                                        <p:tgtEl>
                                          <p:spTgt spid="27"/>
                                        </p:tgtEl>
                                      </p:cBhvr>
                                    </p:animEffect>
                                  </p:childTnLst>
                                </p:cTn>
                              </p:par>
                              <p:par>
                                <p:cTn id="2102" presetID="10" presetClass="entr" presetSubtype="0" fill="hold" nodeType="withEffect">
                                  <p:stCondLst>
                                    <p:cond delay="900"/>
                                  </p:stCondLst>
                                  <p:childTnLst>
                                    <p:set>
                                      <p:cBhvr>
                                        <p:cTn id="2103" dur="1" fill="hold">
                                          <p:stCondLst>
                                            <p:cond delay="0"/>
                                          </p:stCondLst>
                                        </p:cTn>
                                        <p:tgtEl>
                                          <p:spTgt spid="28"/>
                                        </p:tgtEl>
                                        <p:attrNameLst>
                                          <p:attrName>style.visibility</p:attrName>
                                        </p:attrNameLst>
                                      </p:cBhvr>
                                      <p:to>
                                        <p:strVal val="visible"/>
                                      </p:to>
                                    </p:set>
                                    <p:animEffect transition="in" filter="fade">
                                      <p:cBhvr>
                                        <p:cTn id="2104" dur="500"/>
                                        <p:tgtEl>
                                          <p:spTgt spid="28"/>
                                        </p:tgtEl>
                                      </p:cBhvr>
                                    </p:animEffect>
                                  </p:childTnLst>
                                </p:cTn>
                              </p:par>
                              <p:par>
                                <p:cTn id="2105" presetID="10" presetClass="entr" presetSubtype="0" fill="hold" nodeType="withEffect">
                                  <p:stCondLst>
                                    <p:cond delay="900"/>
                                  </p:stCondLst>
                                  <p:childTnLst>
                                    <p:set>
                                      <p:cBhvr>
                                        <p:cTn id="2106" dur="1" fill="hold">
                                          <p:stCondLst>
                                            <p:cond delay="0"/>
                                          </p:stCondLst>
                                        </p:cTn>
                                        <p:tgtEl>
                                          <p:spTgt spid="29"/>
                                        </p:tgtEl>
                                        <p:attrNameLst>
                                          <p:attrName>style.visibility</p:attrName>
                                        </p:attrNameLst>
                                      </p:cBhvr>
                                      <p:to>
                                        <p:strVal val="visible"/>
                                      </p:to>
                                    </p:set>
                                    <p:animEffect transition="in" filter="fade">
                                      <p:cBhvr>
                                        <p:cTn id="2107" dur="500"/>
                                        <p:tgtEl>
                                          <p:spTgt spid="29"/>
                                        </p:tgtEl>
                                      </p:cBhvr>
                                    </p:animEffect>
                                  </p:childTnLst>
                                </p:cTn>
                              </p:par>
                              <p:par>
                                <p:cTn id="2108" presetID="10" presetClass="entr" presetSubtype="0" fill="hold" nodeType="withEffect">
                                  <p:stCondLst>
                                    <p:cond delay="900"/>
                                  </p:stCondLst>
                                  <p:childTnLst>
                                    <p:set>
                                      <p:cBhvr>
                                        <p:cTn id="2109" dur="1" fill="hold">
                                          <p:stCondLst>
                                            <p:cond delay="0"/>
                                          </p:stCondLst>
                                        </p:cTn>
                                        <p:tgtEl>
                                          <p:spTgt spid="38"/>
                                        </p:tgtEl>
                                        <p:attrNameLst>
                                          <p:attrName>style.visibility</p:attrName>
                                        </p:attrNameLst>
                                      </p:cBhvr>
                                      <p:to>
                                        <p:strVal val="visible"/>
                                      </p:to>
                                    </p:set>
                                    <p:animEffect transition="in" filter="fade">
                                      <p:cBhvr>
                                        <p:cTn id="2110" dur="500"/>
                                        <p:tgtEl>
                                          <p:spTgt spid="38"/>
                                        </p:tgtEl>
                                      </p:cBhvr>
                                    </p:animEffect>
                                  </p:childTnLst>
                                </p:cTn>
                              </p:par>
                              <p:par>
                                <p:cTn id="2111" presetID="10" presetClass="entr" presetSubtype="0" fill="hold" nodeType="withEffect">
                                  <p:stCondLst>
                                    <p:cond delay="900"/>
                                  </p:stCondLst>
                                  <p:childTnLst>
                                    <p:set>
                                      <p:cBhvr>
                                        <p:cTn id="2112" dur="1" fill="hold">
                                          <p:stCondLst>
                                            <p:cond delay="0"/>
                                          </p:stCondLst>
                                        </p:cTn>
                                        <p:tgtEl>
                                          <p:spTgt spid="39"/>
                                        </p:tgtEl>
                                        <p:attrNameLst>
                                          <p:attrName>style.visibility</p:attrName>
                                        </p:attrNameLst>
                                      </p:cBhvr>
                                      <p:to>
                                        <p:strVal val="visible"/>
                                      </p:to>
                                    </p:set>
                                    <p:animEffect transition="in" filter="fade">
                                      <p:cBhvr>
                                        <p:cTn id="211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Love y Rayleigh: las ondas de superficie que usa el método</a:t>
            </a:r>
            <a:endParaRPr lang="en-US" sz="2200" dirty="0"/>
          </a:p>
        </p:txBody>
      </p:sp>
      <p:pic>
        <p:nvPicPr>
          <p:cNvPr id="3" name="Figura condición Love [s0]" descr="Onda SH atrapada en una capa blanda por reflexión total en la interfaz y reflexión en la superficie libre">    </p:cNvPr>
          <p:cNvPicPr>
            <a:picLocks noChangeAspect="1"/>
          </p:cNvPicPr>
          <p:nvPr/>
        </p:nvPicPr>
        <p:blipFill>
          <a:blip r:embed="rId1"/>
          <a:stretch>
            <a:fillRect/>
          </a:stretch>
        </p:blipFill>
        <p:spPr>
          <a:xfrm>
            <a:off x="966136" y="1601523"/>
            <a:ext cx="4487298" cy="2724431"/>
          </a:xfrm>
          <a:prstGeom prst="rect">
            <a:avLst/>
          </a:prstGeom>
        </p:spPr>
      </p:pic>
      <p:sp>
        <p:nvSpPr>
          <p:cNvPr id="4" name="Fondo thc [s0]"/>
          <p:cNvSpPr/>
          <p:nvPr/>
        </p:nvSpPr>
        <p:spPr>
          <a:xfrm>
            <a:off x="5613694" y="1641589"/>
            <a:ext cx="2564170" cy="72117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 name="Ecuación E_thc [s0]"/>
              <p:cNvSpPr txBox="1"/>
              <p:nvPr/>
            </p:nvSpPr>
            <p:spPr>
              <a:xfrm>
                <a:off x="5613694" y="1641589"/>
                <a:ext cx="2564170" cy="72117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θ</m:t>
                          </m:r>
                        </m:e>
                        <m:sub>
                          <m:r>
                            <m:rPr>
                              <m:sty m:val="p"/>
                            </m:rPr>
                            <a:rPr lang="es-ES" sz="1800">
                              <a:solidFill>
                                <a:srgbClr val="1F4E79"/>
                              </a:solidFill>
                              <a:latin typeface="Cambria Math" panose="02040503050406030204" pitchFamily="18" charset="0"/>
                            </a:rPr>
                            <m:t xml:space="preserve">c</m:t>
                          </m:r>
                        </m:sub>
                      </m:sSub>
                      <m:r>
                        <a:rPr lang="es-ES" sz="1800" i="1">
                          <a:solidFill>
                            <a:srgbClr val="1F4E79"/>
                          </a:solidFill>
                          <a:latin typeface="Cambria Math" panose="02040503050406030204" pitchFamily="18" charset="0"/>
                        </a:rPr>
                        <m:t xml:space="preserve">=arcsin</m:t>
                      </m:r>
                      <m:r>
                        <a:rPr lang="es-ES" sz="1800" i="1">
                          <a:solidFill>
                            <a:srgbClr val="1F4E79"/>
                          </a:solidFill>
                          <a:latin typeface="Cambria Math" panose="02040503050406030204" pitchFamily="18" charset="0"/>
                        </a:rPr>
                        <m:t xml:space="preserve">(</m:t>
                      </m:r>
                      <m:f>
                        <m:fPr>
                          <m:ctrlPr>
                            <a:rPr lang="es-ES" sz="1800" i="1">
                              <a:latin typeface="Cambria Math" panose="02040503050406030204" pitchFamily="18" charset="0"/>
                            </a:rPr>
                          </m:ctrlPr>
                        </m:fPr>
                        <m:num>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V</m:t>
                              </m:r>
                            </m:e>
                            <m:sub>
                              <m:r>
                                <a:rPr lang="es-ES" sz="1800" i="1">
                                  <a:solidFill>
                                    <a:srgbClr val="1F4E79"/>
                                  </a:solidFill>
                                  <a:latin typeface="Cambria Math" panose="02040503050406030204" pitchFamily="18" charset="0"/>
                                </a:rPr>
                                <m:t xml:space="preserve">s1</m:t>
                              </m:r>
                            </m:sub>
                          </m:sSub>
                        </m:num>
                        <m:den>
                          <m:sSub>
                            <m:sSubPr>
                              <m:ctrlPr>
                                <a:rPr lang="es-ES" sz="1800" i="1">
                                  <a:latin typeface="Cambria Math" panose="02040503050406030204" pitchFamily="18" charset="0"/>
                                </a:rPr>
                              </m:ctrlPr>
                            </m:sSubPr>
                            <m:e>
                              <m:r>
                                <a:rPr lang="es-ES" sz="1800" i="1">
                                  <a:solidFill>
                                    <a:srgbClr val="1F4E79"/>
                                  </a:solidFill>
                                  <a:latin typeface="Cambria Math" panose="02040503050406030204" pitchFamily="18" charset="0"/>
                                </a:rPr>
                                <m:t xml:space="preserve">V</m:t>
                              </m:r>
                            </m:e>
                            <m:sub>
                              <m:r>
                                <a:rPr lang="es-ES" sz="1800" i="1">
                                  <a:solidFill>
                                    <a:srgbClr val="1F4E79"/>
                                  </a:solidFill>
                                  <a:latin typeface="Cambria Math" panose="02040503050406030204" pitchFamily="18" charset="0"/>
                                </a:rPr>
                                <m:t xml:space="preserve">s2</m:t>
                              </m:r>
                            </m:sub>
                          </m:sSub>
                        </m:den>
                      </m:f>
                      <m:r>
                        <a:rPr lang="es-ES" sz="1800" i="1">
                          <a:solidFill>
                            <a:srgbClr val="1F4E79"/>
                          </a:solidFill>
                          <a:latin typeface="Cambria Math" panose="02040503050406030204" pitchFamily="18" charset="0"/>
                        </a:rPr>
                        <m:t xml:space="preserve">)</m:t>
                      </m:r>
                    </m:oMath>
                  </m:oMathPara>
                </a14:m>
                <a:endParaRPr lang="es-ES"/>
              </a:p>
            </p:txBody>
          </p:sp>
        </mc:Choice>
        <mc:Fallback>
          <p:sp>
            <p:nvSpPr>
              <p:cNvPr id="5" name="Ecuación E_thc [s0]"/>
              <p:cNvSpPr txBox="1"/>
              <p:nvPr/>
            </p:nvSpPr>
            <p:spPr>
              <a:xfrm>
                <a:off x="5613694" y="1641589"/>
                <a:ext cx="2564170" cy="72117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θc = arcsin(Vs1 / Vs2)</a:t>
                </a:r>
                <a:endParaRPr lang="en-US" sz="2159" dirty="0"/>
              </a:p>
            </p:txBody>
          </p:sp>
        </mc:Fallback>
      </mc:AlternateContent>
      <p:sp>
        <p:nvSpPr>
          <p:cNvPr id="6" name="Cuerpo [s0]"/>
          <p:cNvSpPr txBox="1"/>
          <p:nvPr/>
        </p:nvSpPr>
        <p:spPr>
          <a:xfrm>
            <a:off x="5613694" y="2523022"/>
            <a:ext cx="2564170" cy="1923128"/>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Queda atrapada entre la superficie libre y la interfaz</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Exige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m:rPr>
                            <m:sty m:val="p"/>
                          </m:rPr>
                          <a:rPr lang="es-ES" sz="1440">
                            <a:solidFill>
                              <a:srgbClr val="2D2D2D"/>
                            </a:solidFill>
                            <a:latin typeface="Cambria Math" panose="02040503050406030204" pitchFamily="18" charset="0"/>
                          </a:rPr>
                          <m:t xml:space="preserve">s1</m:t>
                        </m:r>
                      </m:sub>
                    </m:sSub>
                    <m:r>
                      <m:rPr>
                        <m:sty m:val="p"/>
                      </m:rPr>
                      <a:rPr lang="es-ES" sz="1440">
                        <a:solidFill>
                          <a:srgbClr val="2D2D2D"/>
                        </a:solidFill>
                        <a:latin typeface="Cambria Math" panose="02040503050406030204" pitchFamily="18" charset="0"/>
                      </a:rPr>
                      <m:t xml:space="preserve">&lt;</m:t>
                    </m:r>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m:rPr>
                            <m:sty m:val="p"/>
                          </m:rPr>
                          <a:rPr lang="es-ES" sz="1440">
                            <a:solidFill>
                              <a:srgbClr val="2D2D2D"/>
                            </a:solidFill>
                            <a:latin typeface="Cambria Math" panose="02040503050406030204" pitchFamily="18" charset="0"/>
                          </a:rPr>
                          <m:t xml:space="preserve">s2</m:t>
                        </m:r>
                      </m:sub>
                    </m:sSub>
                  </m:oMath>
                </a14:m>
              </mc:Choice>
              <mc:Fallback>
                <a:r>
                  <a:rPr lang="en-US" sz="1440" dirty="0">
                    <a:solidFill>
                      <a:srgbClr val="2D2D2D"/>
                    </a:solidFill>
                    <a:latin typeface="Arial" pitchFamily="34" charset="0"/>
                    <a:ea typeface="Arial" pitchFamily="34" charset="-122"/>
                    <a:cs typeface="Arial" pitchFamily="34" charset="-120"/>
                  </a:rPr>
                  <a:t>Vs1 &lt; Vs2</a:t>
                </a:r>
              </mc:Fallback>
            </mc:AlternateContent>
            <a:endParaRPr lang="en-US" sz="1440" dirty="0"/>
          </a:p>
        </p:txBody>
      </p:sp>
      <p:pic>
        <p:nvPicPr>
          <p:cNvPr id="7" name="Onda Love [s1]" descr="Onda Love: movimiento horizontal transversal a la propagación">    </p:cNvPr>
          <p:cNvPicPr>
            <a:picLocks noChangeAspect="1"/>
          </p:cNvPicPr>
          <p:nvPr/>
        </p:nvPicPr>
        <p:blipFill>
          <a:blip r:embed="rId2"/>
          <a:stretch>
            <a:fillRect/>
          </a:stretch>
        </p:blipFill>
        <p:spPr>
          <a:xfrm>
            <a:off x="966136" y="1641589"/>
            <a:ext cx="4487298" cy="2243649"/>
          </a:xfrm>
          <a:prstGeom prst="rect">
            <a:avLst/>
          </a:prstGeom>
        </p:spPr>
      </p:pic>
      <p:sp>
        <p:nvSpPr>
          <p:cNvPr id="8" name="Cuerpo [s1]"/>
          <p:cNvSpPr txBox="1"/>
          <p:nvPr/>
        </p:nvSpPr>
        <p:spPr>
          <a:xfrm>
            <a:off x="5693824" y="1681654"/>
            <a:ext cx="2484040" cy="2724431"/>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Resulta de la interferencia constructiva de las SH atrapadas</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Sin componente vertical: un geófono vertical no la registra</a:t>
            </a:r>
            <a:endParaRPr lang="en-US" sz="1440" dirty="0"/>
          </a:p>
        </p:txBody>
      </p:sp>
      <p:pic>
        <p:nvPicPr>
          <p:cNvPr id="9" name="Onda Rayleigh [s2]" descr="Onda Rayleigh: movimiento elíptico retrógrado en el plano vertical">    </p:cNvPr>
          <p:cNvPicPr>
            <a:picLocks noChangeAspect="1"/>
          </p:cNvPicPr>
          <p:nvPr/>
        </p:nvPicPr>
        <p:blipFill>
          <a:blip r:embed="rId3"/>
          <a:stretch>
            <a:fillRect/>
          </a:stretch>
        </p:blipFill>
        <p:spPr>
          <a:xfrm>
            <a:off x="966136" y="1641589"/>
            <a:ext cx="4487298" cy="2243649"/>
          </a:xfrm>
          <a:prstGeom prst="rect">
            <a:avLst/>
          </a:prstGeom>
        </p:spPr>
      </p:pic>
      <p:sp>
        <p:nvSpPr>
          <p:cNvPr id="10" name="Cuerpo [s2]"/>
          <p:cNvSpPr txBox="1"/>
          <p:nvPr/>
        </p:nvSpPr>
        <p:spPr>
          <a:xfrm>
            <a:off x="5693824" y="1681654"/>
            <a:ext cx="2484040" cy="2724431"/>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Acopla P y SV en la superficie libre</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Movimiento elíptico retrógrado en el plano vertical</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Existe incluso en un semiespacio homogéneo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Tiene componente vertical: la registra el geófono vertical</a:t>
            </a:r>
            <a:endParaRPr lang="en-US" sz="1440" dirty="0"/>
          </a:p>
        </p:txBody>
      </p:sp>
      <p:graphicFrame>
        <p:nvGraphicFramePr>
          <p:cNvPr id="11" name="Elemento [s3]" descr=""/>
          <p:cNvGraphicFramePr/>
          <p:nvPr/>
        </p:nvGraphicFramePr>
        <p:xfrm>
          <a:off x="966136" y="1561458"/>
          <a:ext cx="4006516" cy="2884691"/>
        </p:xfrm>
        <a:graphic xmlns:a="http://schemas.openxmlformats.org/drawingml/2006/main">
          <a:graphicData uri="http://schemas.openxmlformats.org/drawingml/2006/chart">
            <c:chart xmlns:c="http://schemas.openxmlformats.org/drawingml/2006/chart" r:id="rId4"/>
          </a:graphicData>
        </a:graphic>
      </p:graphicFrame>
      <p:sp>
        <p:nvSpPr>
          <p:cNvPr id="12" name="Cuerpo [s3]"/>
          <p:cNvSpPr txBox="1"/>
          <p:nvPr/>
        </p:nvSpPr>
        <p:spPr>
          <a:xfrm>
            <a:off x="5213043" y="1721719"/>
            <a:ext cx="2964822" cy="1362215"/>
          </a:xfrm>
          <a:prstGeom prst="rect">
            <a:avLst/>
          </a:prstGeom>
          <a:noFill/>
          <a:ln/>
        </p:spPr>
        <p:txBody>
          <a:bodyPr wrap="square" lIns="0" tIns="0" rIns="0" bIns="0" rtlCol="0" anchor="t"/>
          <a:lstStyle/>
          <a:p>
            <a:pPr marL="342900" indent="-342900">
              <a:spcAft>
                <a:spcPts val="1080"/>
              </a:spcAft>
              <a:buSzPct val="100000"/>
              <a:buChar char="•"/>
            </a:pPr>
            <a:r>
              <a:rPr lang="en-US" sz="1800" dirty="0">
                <a:solidFill>
                  <a:srgbClr val="2D2D2D"/>
                </a:solidFill>
                <a:latin typeface="Arial" pitchFamily="34" charset="0"/>
                <a:ea typeface="Arial" pitchFamily="34" charset="-122"/>
                <a:cs typeface="Arial" pitchFamily="34" charset="-120"/>
              </a:rPr>
              <a:t>Rayleigh 67 %, S 26 %, P 7 %</a:t>
            </a:r>
            <a:endParaRPr lang="en-US" sz="1800" dirty="0"/>
          </a:p>
          <a:p>
            <a:pPr marL="342900" indent="-342900">
              <a:spcAft>
                <a:spcPts val="1080"/>
              </a:spcAft>
              <a:buSzPct val="100000"/>
              <a:buChar char="•"/>
            </a:pPr>
            <a:r>
              <a:rPr lang="en-US" sz="1800" dirty="0">
                <a:solidFill>
                  <a:srgbClr val="2D2D2D"/>
                </a:solidFill>
                <a:latin typeface="Arial" pitchFamily="34" charset="0"/>
                <a:ea typeface="Arial" pitchFamily="34" charset="-122"/>
                <a:cs typeface="Arial" pitchFamily="34" charset="-120"/>
              </a:rPr>
              <a:t>Las Rayleigh dominan el registro en superficie</a:t>
            </a:r>
            <a:endParaRPr lang="en-US" sz="1800" dirty="0"/>
          </a:p>
        </p:txBody>
      </p:sp>
      <p:sp>
        <p:nvSpPr>
          <p:cNvPr id="13" name="Supuestos [s3]"/>
          <p:cNvSpPr txBox="1"/>
          <p:nvPr/>
        </p:nvSpPr>
        <p:spPr>
          <a:xfrm>
            <a:off x="5213043" y="3244195"/>
            <a:ext cx="2964822" cy="801303"/>
          </a:xfrm>
          <a:prstGeom prst="rect">
            <a:avLst/>
          </a:prstGeom>
          <a:noFill/>
          <a:ln/>
        </p:spPr>
        <p:txBody>
          <a:bodyPr wrap="square" lIns="0" tIns="0" rIns="0" bIns="0" rtlCol="0" anchor="t"/>
          <a:lstStyle/>
          <a:p>
            <a:pPr indent="0" marL="0">
              <a:buNone/>
            </a:pPr>
            <a:r>
              <a:rPr lang="en-US" sz="1440" dirty="0">
                <a:solidFill>
                  <a:srgbClr val="6B6B6B"/>
                </a:solidFill>
                <a:latin typeface="Arial" pitchFamily="34" charset="0"/>
                <a:ea typeface="Arial" pitchFamily="34" charset="-122"/>
                <a:cs typeface="Arial" pitchFamily="34" charset="-120"/>
              </a:rPr>
              <a:t>Supone </a:t>
            </a:r>
            <mc:AlternateContent xmlns:mc="http://schemas.openxmlformats.org/markup-compatibility/2006">
              <mc:Choice xmlns:a14="http://schemas.microsoft.com/office/drawing/2010/main" Requires="a14">
                <a14:m>
                  <m:oMath xmlns:m="http://schemas.openxmlformats.org/officeDocument/2006/math">
                    <m:r>
                      <a:rPr lang="es-ES" sz="1440" i="1">
                        <a:solidFill>
                          <a:srgbClr val="6B6B6B"/>
                        </a:solidFill>
                        <a:latin typeface="Cambria Math" panose="02040503050406030204" pitchFamily="18" charset="0"/>
                      </a:rPr>
                      <m:t xml:space="preserve">ν</m:t>
                    </m:r>
                    <m:r>
                      <m:rPr>
                        <m:sty m:val="p"/>
                      </m:rPr>
                      <a:rPr lang="es-ES" sz="1440">
                        <a:solidFill>
                          <a:srgbClr val="6B6B6B"/>
                        </a:solidFill>
                        <a:latin typeface="Cambria Math" panose="02040503050406030204" pitchFamily="18" charset="0"/>
                      </a:rPr>
                      <m:t xml:space="preserve">=</m:t>
                    </m:r>
                    <m:r>
                      <m:rPr>
                        <m:sty m:val="p"/>
                      </m:rPr>
                      <a:rPr lang="es-ES" sz="1440">
                        <a:solidFill>
                          <a:srgbClr val="6B6B6B"/>
                        </a:solidFill>
                        <a:latin typeface="Cambria Math" panose="02040503050406030204" pitchFamily="18" charset="0"/>
                      </a:rPr>
                      <m:t xml:space="preserve">0,25</m:t>
                    </m:r>
                  </m:oMath>
                </a14:m>
              </mc:Choice>
              <mc:Fallback>
                <a:r>
                  <a:rPr lang="en-US" sz="1440" dirty="0">
                    <a:solidFill>
                      <a:srgbClr val="6B6B6B"/>
                    </a:solidFill>
                    <a:latin typeface="Arial" pitchFamily="34" charset="0"/>
                    <a:ea typeface="Arial" pitchFamily="34" charset="-122"/>
                    <a:cs typeface="Arial" pitchFamily="34" charset="-120"/>
                  </a:rPr>
                  <a:t>ν = 0,25</a:t>
                </a:r>
              </mc:Fallback>
            </mc:AlternateContent>
            <a:r>
              <a:rPr lang="en-US" sz="1440" dirty="0">
                <a:solidFill>
                  <a:srgbClr val="6B6B6B"/>
                </a:solidFill>
                <a:latin typeface="Arial" pitchFamily="34" charset="0"/>
                <a:ea typeface="Arial" pitchFamily="34" charset="-122"/>
                <a:cs typeface="Arial" pitchFamily="34" charset="-120"/>
              </a:rPr>
              <a:t>, fuente vertical circular y semiespacio homogéneo e isótropo</a:t>
            </a:r>
            <a:endParaRPr lang="en-US" sz="1440" dirty="0"/>
          </a:p>
        </p:txBody>
      </p:sp>
      <p:graphicFrame>
        <p:nvGraphicFramePr>
          <p:cNvPr id="14" name="Elemento [s4]" descr=""/>
          <p:cNvGraphicFramePr/>
          <p:nvPr/>
        </p:nvGraphicFramePr>
        <p:xfrm>
          <a:off x="966136" y="1561458"/>
          <a:ext cx="4487298" cy="2884691"/>
        </p:xfrm>
        <a:graphic xmlns:a="http://schemas.openxmlformats.org/drawingml/2006/main">
          <a:graphicData uri="http://schemas.openxmlformats.org/drawingml/2006/chart">
            <c:chart xmlns:c="http://schemas.openxmlformats.org/drawingml/2006/chart" r:id="rId5"/>
          </a:graphicData>
        </a:graphic>
      </p:graphicFrame>
      <p:sp>
        <p:nvSpPr>
          <p:cNvPr id="15" name="Cuerpo [s4]"/>
          <p:cNvSpPr txBox="1"/>
          <p:nvPr/>
        </p:nvSpPr>
        <p:spPr>
          <a:xfrm>
            <a:off x="5693824" y="1721719"/>
            <a:ext cx="2484040" cy="2644300"/>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Rayleigh: amplitud ∝ 1/√r</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Cuerpo: 1/r en el interior, 1/r² a lo largo de la superficie</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Lejos de la fuente, domina la Rayleigh</a:t>
            </a:r>
            <a:endParaRPr lang="en-US" sz="1440" dirty="0"/>
          </a:p>
        </p:txBody>
      </p:sp>
      <p:graphicFrame>
        <p:nvGraphicFramePr>
          <p:cNvPr id="16" name="Elemento [s5]" descr=""/>
          <p:cNvGraphicFramePr/>
          <p:nvPr/>
        </p:nvGraphicFramePr>
        <p:xfrm>
          <a:off x="966136" y="1561458"/>
          <a:ext cx="3685995" cy="2403909"/>
        </p:xfrm>
        <a:graphic xmlns:a="http://schemas.openxmlformats.org/drawingml/2006/main">
          <a:graphicData uri="http://schemas.openxmlformats.org/drawingml/2006/chart">
            <c:chart xmlns:c="http://schemas.openxmlformats.org/drawingml/2006/chart" r:id="rId6"/>
          </a:graphicData>
        </a:graphic>
      </p:graphicFrame>
      <p:sp>
        <p:nvSpPr>
          <p:cNvPr id="17" name="Fondo cR [s5]"/>
          <p:cNvSpPr/>
          <p:nvPr/>
        </p:nvSpPr>
        <p:spPr>
          <a:xfrm>
            <a:off x="4892521" y="1601523"/>
            <a:ext cx="3285343" cy="56091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Ecuación E_cr [s5]"/>
              <p:cNvSpPr txBox="1"/>
              <p:nvPr/>
            </p:nvSpPr>
            <p:spPr>
              <a:xfrm>
                <a:off x="4892521" y="1601523"/>
                <a:ext cx="3285343" cy="56091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c</m:t>
                          </m:r>
                        </m:e>
                        <m:sub>
                          <m:r>
                            <a:rPr lang="es-ES" sz="2500" i="1">
                              <a:solidFill>
                                <a:srgbClr val="1F4E79"/>
                              </a:solidFill>
                              <a:latin typeface="Cambria Math" panose="02040503050406030204" pitchFamily="18" charset="0"/>
                            </a:rPr>
                            <m:t xml:space="preserve">R</m:t>
                          </m:r>
                        </m:sub>
                      </m:sSub>
                      <m:r>
                        <a:rPr lang="es-ES" sz="2500" i="1">
                          <a:solidFill>
                            <a:srgbClr val="1F4E79"/>
                          </a:solidFill>
                          <a:latin typeface="Cambria Math" panose="02040503050406030204" pitchFamily="18" charset="0"/>
                        </a:rPr>
                        <m:t xml:space="preserve">≈0,9·</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a:rPr lang="es-ES" sz="2500" i="1">
                              <a:solidFill>
                                <a:srgbClr val="1F4E79"/>
                              </a:solidFill>
                              <a:latin typeface="Cambria Math" panose="02040503050406030204" pitchFamily="18" charset="0"/>
                            </a:rPr>
                            <m:t xml:space="preserve">s</m:t>
                          </m:r>
                        </m:sub>
                      </m:sSub>
                    </m:oMath>
                  </m:oMathPara>
                </a14:m>
                <a:endParaRPr lang="es-ES"/>
              </a:p>
            </p:txBody>
          </p:sp>
        </mc:Choice>
        <mc:Fallback>
          <p:sp>
            <p:nvSpPr>
              <p:cNvPr id="18" name="Ecuación E_cr [s5]"/>
              <p:cNvSpPr txBox="1"/>
              <p:nvPr/>
            </p:nvSpPr>
            <p:spPr>
              <a:xfrm>
                <a:off x="4892521" y="1601523"/>
                <a:ext cx="3285343" cy="56091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cR ≈ 0,9 · Vs</a:t>
                </a:r>
                <a:endParaRPr lang="en-US" sz="2159" dirty="0"/>
              </a:p>
            </p:txBody>
          </p:sp>
        </mc:Fallback>
      </mc:AlternateContent>
      <p:sp>
        <p:nvSpPr>
          <p:cNvPr id="19" name="Fondo cR nu [s5]"/>
          <p:cNvSpPr/>
          <p:nvPr/>
        </p:nvSpPr>
        <p:spPr>
          <a:xfrm>
            <a:off x="4892521" y="2242566"/>
            <a:ext cx="3285343" cy="72117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0" name="Ecuación E_crnu [s5]"/>
              <p:cNvSpPr txBox="1"/>
              <p:nvPr/>
            </p:nvSpPr>
            <p:spPr>
              <a:xfrm>
                <a:off x="4892521" y="2242566"/>
                <a:ext cx="3285343" cy="72117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c</m:t>
                          </m:r>
                        </m:e>
                        <m:sub>
                          <m:r>
                            <a:rPr lang="es-ES" sz="2200" i="1">
                              <a:solidFill>
                                <a:srgbClr val="1F4E79"/>
                              </a:solidFill>
                              <a:latin typeface="Cambria Math" panose="02040503050406030204" pitchFamily="18" charset="0"/>
                            </a:rPr>
                            <m:t xml:space="preserve">R</m:t>
                          </m:r>
                        </m:sub>
                      </m:sSub>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0,862+1,14ν</m:t>
                          </m:r>
                        </m:num>
                        <m:den>
                          <m:r>
                            <a:rPr lang="es-ES" sz="2200" i="1">
                              <a:solidFill>
                                <a:srgbClr val="1F4E79"/>
                              </a:solidFill>
                              <a:latin typeface="Cambria Math" panose="02040503050406030204" pitchFamily="18" charset="0"/>
                            </a:rPr>
                            <m:t xml:space="preserve">1+ν</m:t>
                          </m:r>
                        </m:den>
                      </m:f>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oMath>
                  </m:oMathPara>
                </a14:m>
                <a:endParaRPr lang="es-ES"/>
              </a:p>
            </p:txBody>
          </p:sp>
        </mc:Choice>
        <mc:Fallback>
          <p:sp>
            <p:nvSpPr>
              <p:cNvPr id="20" name="Ecuación E_crnu [s5]"/>
              <p:cNvSpPr txBox="1"/>
              <p:nvPr/>
            </p:nvSpPr>
            <p:spPr>
              <a:xfrm>
                <a:off x="4892521" y="2242566"/>
                <a:ext cx="3285343" cy="72117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cR ≈ (0,862 + 1,14ν)/(1 + ν) · Vs</a:t>
                </a:r>
                <a:endParaRPr lang="en-US" sz="2159" dirty="0"/>
              </a:p>
            </p:txBody>
          </p:sp>
        </mc:Fallback>
      </mc:AlternateContent>
      <p:sp>
        <p:nvSpPr>
          <p:cNvPr id="21" name="Cuerpo [s5]"/>
          <p:cNvSpPr txBox="1"/>
          <p:nvPr/>
        </p:nvSpPr>
        <p:spPr>
          <a:xfrm>
            <a:off x="4892521" y="3043869"/>
            <a:ext cx="3285343" cy="801303"/>
          </a:xfrm>
          <a:prstGeom prst="rect">
            <a:avLst/>
          </a:prstGeom>
          <a:noFill/>
          <a:ln/>
        </p:spPr>
        <p:txBody>
          <a:bodyPr wrap="square" lIns="0" tIns="0" rIns="0" bIns="0" rtlCol="0" anchor="t"/>
          <a:lstStyle/>
          <a:p>
            <a:pPr marL="342900" indent="-342900">
              <a:spcAft>
                <a:spcPts val="54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260" i="1">
                            <a:latin typeface="Cambria Math" panose="02040503050406030204" pitchFamily="18" charset="0"/>
                          </a:rPr>
                        </m:ctrlPr>
                      </m:sSubPr>
                      <m:e>
                        <m:r>
                          <a:rPr lang="es-ES" sz="1260" i="1">
                            <a:solidFill>
                              <a:srgbClr val="2D2D2D"/>
                            </a:solidFill>
                            <a:latin typeface="Cambria Math" panose="02040503050406030204" pitchFamily="18" charset="0"/>
                          </a:rPr>
                          <m:t xml:space="preserve">c</m:t>
                        </m:r>
                      </m:e>
                      <m:sub>
                        <m:r>
                          <a:rPr lang="es-ES" sz="1260" i="1">
                            <a:solidFill>
                              <a:srgbClr val="2D2D2D"/>
                            </a:solidFill>
                            <a:latin typeface="Cambria Math" panose="02040503050406030204" pitchFamily="18" charset="0"/>
                          </a:rPr>
                          <m:t xml:space="preserve">R</m:t>
                        </m:r>
                      </m:sub>
                    </m:sSub>
                    <m:r>
                      <m:rPr>
                        <m:sty m:val="p"/>
                      </m:rPr>
                      <a:rPr lang="es-ES" sz="1260">
                        <a:solidFill>
                          <a:srgbClr val="2D2D2D"/>
                        </a:solidFill>
                        <a:latin typeface="Cambria Math" panose="02040503050406030204" pitchFamily="18" charset="0"/>
                      </a:rPr>
                      <m:t xml:space="preserve">/</m:t>
                    </m:r>
                    <m:sSub>
                      <m:sSubPr>
                        <m:ctrlPr>
                          <a:rPr lang="es-ES" sz="1260" i="1">
                            <a:latin typeface="Cambria Math" panose="02040503050406030204" pitchFamily="18" charset="0"/>
                          </a:rPr>
                        </m:ctrlPr>
                      </m:sSubPr>
                      <m:e>
                        <m:r>
                          <a:rPr lang="es-ES" sz="1260" i="1">
                            <a:solidFill>
                              <a:srgbClr val="2D2D2D"/>
                            </a:solidFill>
                            <a:latin typeface="Cambria Math" panose="02040503050406030204" pitchFamily="18" charset="0"/>
                          </a:rPr>
                          <m:t xml:space="preserve">V</m:t>
                        </m:r>
                      </m:e>
                      <m:sub>
                        <m:r>
                          <a:rPr lang="es-ES" sz="1260" i="1">
                            <a:solidFill>
                              <a:srgbClr val="2D2D2D"/>
                            </a:solidFill>
                            <a:latin typeface="Cambria Math" panose="02040503050406030204" pitchFamily="18" charset="0"/>
                          </a:rPr>
                          <m:t xml:space="preserve">s</m:t>
                        </m:r>
                      </m:sub>
                    </m:sSub>
                  </m:oMath>
                </a14:m>
              </mc:Choice>
              <mc:Fallback>
                <a:r>
                  <a:rPr lang="en-US" sz="1260" dirty="0">
                    <a:solidFill>
                      <a:srgbClr val="2D2D2D"/>
                    </a:solidFill>
                    <a:latin typeface="Arial" pitchFamily="34" charset="0"/>
                    <a:ea typeface="Arial" pitchFamily="34" charset="-122"/>
                    <a:cs typeface="Arial" pitchFamily="34" charset="-120"/>
                  </a:rPr>
                  <a:t>cR / Vs</a:t>
                </a:r>
              </mc:Fallback>
            </mc:AlternateContent>
            <a:r>
              <a:rPr lang="en-US" sz="1260" dirty="0">
                <a:solidFill>
                  <a:srgbClr val="2D2D2D"/>
                </a:solidFill>
                <a:latin typeface="Arial" pitchFamily="34" charset="0"/>
                <a:ea typeface="Arial" pitchFamily="34" charset="-122"/>
                <a:cs typeface="Arial" pitchFamily="34" charset="-120"/>
              </a:rPr>
              <a:t> va de 0,86 a 0,95 según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ν</m:t>
                    </m:r>
                  </m:oMath>
                </a14:m>
              </mc:Choice>
              <mc:Fallback>
                <a:r>
                  <a:rPr lang="en-US" sz="1260" dirty="0">
                    <a:solidFill>
                      <a:srgbClr val="2D2D2D"/>
                    </a:solidFill>
                    <a:latin typeface="Arial" pitchFamily="34" charset="0"/>
                    <a:ea typeface="Arial" pitchFamily="34" charset="-122"/>
                    <a:cs typeface="Arial" pitchFamily="34" charset="-120"/>
                  </a:rPr>
                  <a:t>ν</a:t>
                </a:r>
              </mc:Fallback>
            </mc:AlternateContent>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No hay dispersión: todas las frecuencias van a la misma </a:t>
            </a:r>
            <mc:AlternateContent xmlns:mc="http://schemas.openxmlformats.org/markup-compatibility/2006">
              <mc:Choice xmlns:a14="http://schemas.microsoft.com/office/drawing/2010/main" Requires="a14">
                <a14:m>
                  <m:oMath xmlns:m="http://schemas.openxmlformats.org/officeDocument/2006/math">
                    <m:sSub>
                      <m:sSubPr>
                        <m:ctrlPr>
                          <a:rPr lang="es-ES" sz="1260" i="1">
                            <a:latin typeface="Cambria Math" panose="02040503050406030204" pitchFamily="18" charset="0"/>
                          </a:rPr>
                        </m:ctrlPr>
                      </m:sSubPr>
                      <m:e>
                        <m:r>
                          <a:rPr lang="es-ES" sz="1260" i="1">
                            <a:solidFill>
                              <a:srgbClr val="2D2D2D"/>
                            </a:solidFill>
                            <a:latin typeface="Cambria Math" panose="02040503050406030204" pitchFamily="18" charset="0"/>
                          </a:rPr>
                          <m:t xml:space="preserve">c</m:t>
                        </m:r>
                      </m:e>
                      <m:sub>
                        <m:r>
                          <a:rPr lang="es-ES" sz="1260" i="1">
                            <a:solidFill>
                              <a:srgbClr val="2D2D2D"/>
                            </a:solidFill>
                            <a:latin typeface="Cambria Math" panose="02040503050406030204" pitchFamily="18" charset="0"/>
                          </a:rPr>
                          <m:t xml:space="preserve">R</m:t>
                        </m:r>
                      </m:sub>
                    </m:sSub>
                  </m:oMath>
                </a14:m>
              </mc:Choice>
              <mc:Fallback>
                <a:r>
                  <a:rPr lang="en-US" sz="1260" dirty="0">
                    <a:solidFill>
                      <a:srgbClr val="2D2D2D"/>
                    </a:solidFill>
                    <a:latin typeface="Arial" pitchFamily="34" charset="0"/>
                    <a:ea typeface="Arial" pitchFamily="34" charset="-122"/>
                    <a:cs typeface="Arial" pitchFamily="34" charset="-120"/>
                  </a:rPr>
                  <a:t>cR</a:t>
                </a:r>
              </mc:Fallback>
            </mc:AlternateContent>
            <a:endParaRPr lang="en-US" sz="1260" dirty="0"/>
          </a:p>
        </p:txBody>
      </p:sp>
      <p:sp>
        <p:nvSpPr>
          <p:cNvPr id="22" name="Fondo Vs cR [s5]"/>
          <p:cNvSpPr/>
          <p:nvPr/>
        </p:nvSpPr>
        <p:spPr>
          <a:xfrm>
            <a:off x="4892521" y="3885237"/>
            <a:ext cx="3285343" cy="56091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3" name="Ecuación E_vsc [s5]"/>
              <p:cNvSpPr txBox="1"/>
              <p:nvPr/>
            </p:nvSpPr>
            <p:spPr>
              <a:xfrm>
                <a:off x="4892521" y="3885237"/>
                <a:ext cx="3285343" cy="56091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a:rPr lang="es-ES" sz="2500" i="1">
                              <a:solidFill>
                                <a:srgbClr val="1F4E79"/>
                              </a:solidFill>
                              <a:latin typeface="Cambria Math" panose="02040503050406030204" pitchFamily="18" charset="0"/>
                            </a:rPr>
                            <m:t xml:space="preserve">s</m:t>
                          </m:r>
                        </m:sub>
                      </m:sSub>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c</m:t>
                              </m:r>
                            </m:e>
                            <m:sub>
                              <m:r>
                                <a:rPr lang="es-ES" sz="2500" i="1">
                                  <a:solidFill>
                                    <a:srgbClr val="1F4E79"/>
                                  </a:solidFill>
                                  <a:latin typeface="Cambria Math" panose="02040503050406030204" pitchFamily="18" charset="0"/>
                                </a:rPr>
                                <m:t xml:space="preserve">R</m:t>
                              </m:r>
                            </m:sub>
                          </m:sSub>
                        </m:num>
                        <m:den>
                          <m:r>
                            <a:rPr lang="es-ES" sz="2500" i="1">
                              <a:solidFill>
                                <a:srgbClr val="1F4E79"/>
                              </a:solidFill>
                              <a:latin typeface="Cambria Math" panose="02040503050406030204" pitchFamily="18" charset="0"/>
                            </a:rPr>
                            <m:t xml:space="preserve">0,9</m:t>
                          </m:r>
                        </m:den>
                      </m:f>
                    </m:oMath>
                  </m:oMathPara>
                </a14:m>
                <a:endParaRPr lang="es-ES"/>
              </a:p>
            </p:txBody>
          </p:sp>
        </mc:Choice>
        <mc:Fallback>
          <p:sp>
            <p:nvSpPr>
              <p:cNvPr id="23" name="Ecuación E_vsc [s5]"/>
              <p:cNvSpPr txBox="1"/>
              <p:nvPr/>
            </p:nvSpPr>
            <p:spPr>
              <a:xfrm>
                <a:off x="4892521" y="3885237"/>
                <a:ext cx="3285343" cy="56091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Vs ≈ cR / 0,9</a:t>
                </a:r>
                <a:endParaRPr lang="en-US" sz="2159" dirty="0"/>
              </a:p>
            </p:txBody>
          </p:sp>
        </mc:Fallback>
      </mc:AlternateContent>
      <p:sp>
        <p:nvSpPr>
          <p:cNvPr id="24"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Las ondas Love solo existen si una capa blanda cubre un medio más rápido</a:t>
            </a:r>
            <a:endParaRPr lang="en-US" sz="1400" dirty="0"/>
          </a:p>
        </p:txBody>
      </p:sp>
      <p:sp>
        <p:nvSpPr>
          <p:cNvPr id="25"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ver Foti et al. (2014), cap. 2 (a confirmar).</a:t>
            </a:r>
            <a:endParaRPr lang="en-US" sz="800" dirty="0"/>
          </a:p>
        </p:txBody>
      </p:sp>
      <p:sp>
        <p:nvSpPr>
          <p:cNvPr id="26"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Love: movimiento horizontal, perpendicular a la propagación</a:t>
            </a:r>
            <a:endParaRPr lang="en-US" sz="1400" dirty="0"/>
          </a:p>
        </p:txBody>
      </p:sp>
      <p:sp>
        <p:nvSpPr>
          <p:cNvPr id="27"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28"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Onda Rayleigh: P y SV acopladas en la superficie libre, con órbita elíptica</a:t>
            </a:r>
            <a:endParaRPr lang="en-US" sz="1400" dirty="0"/>
          </a:p>
        </p:txBody>
      </p:sp>
      <p:sp>
        <p:nvSpPr>
          <p:cNvPr id="29"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Wikimedia Commons, «Overview Seismic Waves» (CC BY-SA 4.0; LukeTriton, S. Earle, M. Bačić et al.), recortada y traducida.</a:t>
            </a:r>
            <a:endParaRPr lang="en-US" sz="800" dirty="0"/>
          </a:p>
        </p:txBody>
      </p:sp>
      <p:sp>
        <p:nvSpPr>
          <p:cNvPr id="30"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fuente en superficie envía dos tercios de su energía en ondas Rayleigh</a:t>
            </a:r>
            <a:endParaRPr lang="en-US" sz="1400" dirty="0"/>
          </a:p>
        </p:txBody>
      </p:sp>
      <p:sp>
        <p:nvSpPr>
          <p:cNvPr id="31"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Miller y Pursey (1955); reproducido en Foti et al. (2014), cap. 2 (a confirmar).</a:t>
            </a:r>
            <a:endParaRPr lang="en-US" sz="800" dirty="0"/>
          </a:p>
        </p:txBody>
      </p:sp>
      <p:sp>
        <p:nvSpPr>
          <p:cNvPr id="32"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Además, las Rayleigh se atenúan menos con la distancia que las de cuerpo</a:t>
            </a:r>
            <a:endParaRPr lang="en-US" sz="1400" dirty="0"/>
          </a:p>
        </p:txBody>
      </p:sp>
      <p:sp>
        <p:nvSpPr>
          <p:cNvPr id="33"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Richart, Hall y Woods (1970); Foti et al. (2014), cap. 2 (a confirmar).</a:t>
            </a:r>
            <a:endParaRPr lang="en-US" sz="800" dirty="0"/>
          </a:p>
        </p:txBody>
      </p:sp>
      <p:sp>
        <p:nvSpPr>
          <p:cNvPr id="34" name="Encabezado [s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un semiespacio homogéneo, Rayleigh viaja a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c</m:t>
                        </m:r>
                      </m:e>
                      <m:sub>
                        <m:r>
                          <a:rPr lang="es-ES" sz="1400" i="1">
                            <a:solidFill>
                              <a:srgbClr val="2E75B6"/>
                            </a:solidFill>
                            <a:latin typeface="Cambria Math" panose="02040503050406030204" pitchFamily="18" charset="0"/>
                          </a:rPr>
                          <m:t xml:space="preserve">R</m:t>
                        </m:r>
                      </m:sub>
                    </m:sSub>
                    <m:r>
                      <m:rPr>
                        <m:sty m:val="p"/>
                      </m:rPr>
                      <a:rPr lang="es-ES" sz="1400">
                        <a:solidFill>
                          <a:srgbClr val="2E75B6"/>
                        </a:solidFill>
                        <a:latin typeface="Cambria Math" panose="02040503050406030204" pitchFamily="18" charset="0"/>
                      </a:rPr>
                      <m:t xml:space="preserve">≈</m:t>
                    </m:r>
                    <m:r>
                      <m:rPr>
                        <m:sty m:val="p"/>
                      </m:rPr>
                      <a:rPr lang="es-ES" sz="1400">
                        <a:solidFill>
                          <a:srgbClr val="2E75B6"/>
                        </a:solidFill>
                        <a:latin typeface="Cambria Math" panose="02040503050406030204" pitchFamily="18" charset="0"/>
                      </a:rPr>
                      <m:t xml:space="preserve">0,9</m:t>
                    </m:r>
                    <m:r>
                      <m:rPr>
                        <m:sty m:val="p"/>
                      </m:rPr>
                      <a:rPr lang="es-ES" sz="1400">
                        <a:solidFill>
                          <a:srgbClr val="2E75B6"/>
                        </a:solidFill>
                        <a:latin typeface="Cambria Math" panose="02040503050406030204" pitchFamily="18" charset="0"/>
                      </a:rPr>
                      <m:t xml:space="preserve">·</m:t>
                    </m:r>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cR ≈ 0,9·Vs</a:t>
                </a:r>
              </mc:Fallback>
            </mc:AlternateContent>
            <a:r>
              <a:rPr lang="en-US" sz="1400" b="1" dirty="0">
                <a:solidFill>
                  <a:srgbClr val="2E75B6"/>
                </a:solidFill>
                <a:latin typeface="Arial" pitchFamily="34" charset="0"/>
                <a:ea typeface="Arial" pitchFamily="34" charset="-122"/>
                <a:cs typeface="Arial" pitchFamily="34" charset="-120"/>
              </a:rPr>
              <a:t> y no depende de la frecuencia</a:t>
            </a:r>
            <a:endParaRPr lang="en-US" sz="1400" dirty="0"/>
          </a:p>
        </p:txBody>
      </p:sp>
      <p:sp>
        <p:nvSpPr>
          <p:cNvPr id="35" name="Cita [s5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Aproximación de Viktorov (1967), en Foti et al. (2014), cap. 2 (a confirmar).</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46" fill="hold">
                      <p:stCondLst>
                        <p:cond delay="indefinite"/>
                      </p:stCondLst>
                      <p:childTnLst>
                        <p:par>
                          <p:cTn id="2147" fill="hold">
                            <p:stCondLst>
                              <p:cond delay="0"/>
                            </p:stCondLst>
                            <p:childTnLst>
                              <p:par>
                                <p:cTn id="2116" presetID="10" presetClass="exit" presetSubtype="0" fill="hold" nodeType="clickEffect">
                                  <p:stCondLst>
                                    <p:cond delay="0"/>
                                  </p:stCondLst>
                                  <p:childTnLst>
                                    <p:animEffect transition="out" filter="fade">
                                      <p:cBhvr>
                                        <p:cTn id="2117" dur="400"/>
                                        <p:tgtEl>
                                          <p:spTgt spid="3"/>
                                        </p:tgtEl>
                                      </p:cBhvr>
                                    </p:animEffect>
                                    <p:set>
                                      <p:cBhvr>
                                        <p:cTn id="2118" dur="1" fill="hold">
                                          <p:stCondLst>
                                            <p:cond delay="399"/>
                                          </p:stCondLst>
                                        </p:cTn>
                                        <p:tgtEl>
                                          <p:spTgt spid="3"/>
                                        </p:tgtEl>
                                        <p:attrNameLst>
                                          <p:attrName>style.visibility</p:attrName>
                                        </p:attrNameLst>
                                      </p:cBhvr>
                                      <p:to>
                                        <p:strVal val="hidden"/>
                                      </p:to>
                                    </p:set>
                                  </p:childTnLst>
                                </p:cTn>
                              </p:par>
                              <p:par>
                                <p:cTn id="2119" presetID="10" presetClass="exit" presetSubtype="0" fill="hold" nodeType="withEffect">
                                  <p:stCondLst>
                                    <p:cond delay="0"/>
                                  </p:stCondLst>
                                  <p:childTnLst>
                                    <p:animEffect transition="out" filter="fade">
                                      <p:cBhvr>
                                        <p:cTn id="2120" dur="400"/>
                                        <p:tgtEl>
                                          <p:spTgt spid="4"/>
                                        </p:tgtEl>
                                      </p:cBhvr>
                                    </p:animEffect>
                                    <p:set>
                                      <p:cBhvr>
                                        <p:cTn id="2121" dur="1" fill="hold">
                                          <p:stCondLst>
                                            <p:cond delay="399"/>
                                          </p:stCondLst>
                                        </p:cTn>
                                        <p:tgtEl>
                                          <p:spTgt spid="4"/>
                                        </p:tgtEl>
                                        <p:attrNameLst>
                                          <p:attrName>style.visibility</p:attrName>
                                        </p:attrNameLst>
                                      </p:cBhvr>
                                      <p:to>
                                        <p:strVal val="hidden"/>
                                      </p:to>
                                    </p:set>
                                  </p:childTnLst>
                                </p:cTn>
                              </p:par>
                              <p:par>
                                <p:cTn id="2122" presetID="10" presetClass="exit" presetSubtype="0" fill="hold" nodeType="withEffect">
                                  <p:stCondLst>
                                    <p:cond delay="0"/>
                                  </p:stCondLst>
                                  <p:childTnLst>
                                    <p:animEffect transition="out" filter="fade">
                                      <p:cBhvr>
                                        <p:cTn id="2123" dur="400"/>
                                        <p:tgtEl>
                                          <p:spTgt spid="5"/>
                                        </p:tgtEl>
                                      </p:cBhvr>
                                    </p:animEffect>
                                    <p:set>
                                      <p:cBhvr>
                                        <p:cTn id="2124" dur="1" fill="hold">
                                          <p:stCondLst>
                                            <p:cond delay="399"/>
                                          </p:stCondLst>
                                        </p:cTn>
                                        <p:tgtEl>
                                          <p:spTgt spid="5"/>
                                        </p:tgtEl>
                                        <p:attrNameLst>
                                          <p:attrName>style.visibility</p:attrName>
                                        </p:attrNameLst>
                                      </p:cBhvr>
                                      <p:to>
                                        <p:strVal val="hidden"/>
                                      </p:to>
                                    </p:set>
                                  </p:childTnLst>
                                </p:cTn>
                              </p:par>
                              <p:par>
                                <p:cTn id="2125" presetID="10" presetClass="exit" presetSubtype="0" fill="hold" nodeType="withEffect">
                                  <p:stCondLst>
                                    <p:cond delay="0"/>
                                  </p:stCondLst>
                                  <p:childTnLst>
                                    <p:animEffect transition="out" filter="fade">
                                      <p:cBhvr>
                                        <p:cTn id="2126" dur="400"/>
                                        <p:tgtEl>
                                          <p:spTgt spid="6"/>
                                        </p:tgtEl>
                                      </p:cBhvr>
                                    </p:animEffect>
                                    <p:set>
                                      <p:cBhvr>
                                        <p:cTn id="2127" dur="1" fill="hold">
                                          <p:stCondLst>
                                            <p:cond delay="399"/>
                                          </p:stCondLst>
                                        </p:cTn>
                                        <p:tgtEl>
                                          <p:spTgt spid="6"/>
                                        </p:tgtEl>
                                        <p:attrNameLst>
                                          <p:attrName>style.visibility</p:attrName>
                                        </p:attrNameLst>
                                      </p:cBhvr>
                                      <p:to>
                                        <p:strVal val="hidden"/>
                                      </p:to>
                                    </p:set>
                                  </p:childTnLst>
                                </p:cTn>
                              </p:par>
                              <p:par>
                                <p:cTn id="2128" presetID="10" presetClass="exit" presetSubtype="0" fill="hold" nodeType="withEffect">
                                  <p:stCondLst>
                                    <p:cond delay="0"/>
                                  </p:stCondLst>
                                  <p:childTnLst>
                                    <p:animEffect transition="out" filter="fade">
                                      <p:cBhvr>
                                        <p:cTn id="2129" dur="400"/>
                                        <p:tgtEl>
                                          <p:spTgt spid="24"/>
                                        </p:tgtEl>
                                      </p:cBhvr>
                                    </p:animEffect>
                                    <p:set>
                                      <p:cBhvr>
                                        <p:cTn id="2130" dur="1" fill="hold">
                                          <p:stCondLst>
                                            <p:cond delay="399"/>
                                          </p:stCondLst>
                                        </p:cTn>
                                        <p:tgtEl>
                                          <p:spTgt spid="24"/>
                                        </p:tgtEl>
                                        <p:attrNameLst>
                                          <p:attrName>style.visibility</p:attrName>
                                        </p:attrNameLst>
                                      </p:cBhvr>
                                      <p:to>
                                        <p:strVal val="hidden"/>
                                      </p:to>
                                    </p:set>
                                  </p:childTnLst>
                                </p:cTn>
                              </p:par>
                              <p:par>
                                <p:cTn id="2131" presetID="10" presetClass="exit" presetSubtype="0" fill="hold" nodeType="withEffect">
                                  <p:stCondLst>
                                    <p:cond delay="0"/>
                                  </p:stCondLst>
                                  <p:childTnLst>
                                    <p:animEffect transition="out" filter="fade">
                                      <p:cBhvr>
                                        <p:cTn id="2132" dur="400"/>
                                        <p:tgtEl>
                                          <p:spTgt spid="25"/>
                                        </p:tgtEl>
                                      </p:cBhvr>
                                    </p:animEffect>
                                    <p:set>
                                      <p:cBhvr>
                                        <p:cTn id="2133" dur="1" fill="hold">
                                          <p:stCondLst>
                                            <p:cond delay="399"/>
                                          </p:stCondLst>
                                        </p:cTn>
                                        <p:tgtEl>
                                          <p:spTgt spid="25"/>
                                        </p:tgtEl>
                                        <p:attrNameLst>
                                          <p:attrName>style.visibility</p:attrName>
                                        </p:attrNameLst>
                                      </p:cBhvr>
                                      <p:to>
                                        <p:strVal val="hidden"/>
                                      </p:to>
                                    </p:set>
                                  </p:childTnLst>
                                </p:cTn>
                              </p:par>
                              <p:par>
                                <p:cTn id="2134" presetID="10" presetClass="entr" presetSubtype="0" fill="hold" nodeType="withEffect">
                                  <p:stCondLst>
                                    <p:cond delay="200"/>
                                  </p:stCondLst>
                                  <p:childTnLst>
                                    <p:set>
                                      <p:cBhvr>
                                        <p:cTn id="2135" dur="1" fill="hold">
                                          <p:stCondLst>
                                            <p:cond delay="0"/>
                                          </p:stCondLst>
                                        </p:cTn>
                                        <p:tgtEl>
                                          <p:spTgt spid="7"/>
                                        </p:tgtEl>
                                        <p:attrNameLst>
                                          <p:attrName>style.visibility</p:attrName>
                                        </p:attrNameLst>
                                      </p:cBhvr>
                                      <p:to>
                                        <p:strVal val="visible"/>
                                      </p:to>
                                    </p:set>
                                    <p:animEffect transition="in" filter="fade">
                                      <p:cBhvr>
                                        <p:cTn id="2136" dur="500"/>
                                        <p:tgtEl>
                                          <p:spTgt spid="7"/>
                                        </p:tgtEl>
                                      </p:cBhvr>
                                    </p:animEffect>
                                  </p:childTnLst>
                                </p:cTn>
                              </p:par>
                              <p:par>
                                <p:cTn id="2137" presetID="10" presetClass="entr" presetSubtype="0" fill="hold" nodeType="withEffect">
                                  <p:stCondLst>
                                    <p:cond delay="270"/>
                                  </p:stCondLst>
                                  <p:childTnLst>
                                    <p:set>
                                      <p:cBhvr>
                                        <p:cTn id="2138" dur="1" fill="hold">
                                          <p:stCondLst>
                                            <p:cond delay="0"/>
                                          </p:stCondLst>
                                        </p:cTn>
                                        <p:tgtEl>
                                          <p:spTgt spid="8"/>
                                        </p:tgtEl>
                                        <p:attrNameLst>
                                          <p:attrName>style.visibility</p:attrName>
                                        </p:attrNameLst>
                                      </p:cBhvr>
                                      <p:to>
                                        <p:strVal val="visible"/>
                                      </p:to>
                                    </p:set>
                                    <p:animEffect transition="in" filter="fade">
                                      <p:cBhvr>
                                        <p:cTn id="2139" dur="500"/>
                                        <p:tgtEl>
                                          <p:spTgt spid="8"/>
                                        </p:tgtEl>
                                      </p:cBhvr>
                                    </p:animEffect>
                                  </p:childTnLst>
                                </p:cTn>
                              </p:par>
                              <p:par>
                                <p:cTn id="2140" presetID="10" presetClass="entr" presetSubtype="0" fill="hold" nodeType="withEffect">
                                  <p:stCondLst>
                                    <p:cond delay="340"/>
                                  </p:stCondLst>
                                  <p:childTnLst>
                                    <p:set>
                                      <p:cBhvr>
                                        <p:cTn id="2141" dur="1" fill="hold">
                                          <p:stCondLst>
                                            <p:cond delay="0"/>
                                          </p:stCondLst>
                                        </p:cTn>
                                        <p:tgtEl>
                                          <p:spTgt spid="26"/>
                                        </p:tgtEl>
                                        <p:attrNameLst>
                                          <p:attrName>style.visibility</p:attrName>
                                        </p:attrNameLst>
                                      </p:cBhvr>
                                      <p:to>
                                        <p:strVal val="visible"/>
                                      </p:to>
                                    </p:set>
                                    <p:animEffect transition="in" filter="fade">
                                      <p:cBhvr>
                                        <p:cTn id="2142" dur="500"/>
                                        <p:tgtEl>
                                          <p:spTgt spid="26"/>
                                        </p:tgtEl>
                                      </p:cBhvr>
                                    </p:animEffect>
                                  </p:childTnLst>
                                </p:cTn>
                              </p:par>
                              <p:par>
                                <p:cTn id="2143" presetID="10" presetClass="entr" presetSubtype="0" fill="hold" nodeType="withEffect">
                                  <p:stCondLst>
                                    <p:cond delay="410"/>
                                  </p:stCondLst>
                                  <p:childTnLst>
                                    <p:set>
                                      <p:cBhvr>
                                        <p:cTn id="2144" dur="1" fill="hold">
                                          <p:stCondLst>
                                            <p:cond delay="0"/>
                                          </p:stCondLst>
                                        </p:cTn>
                                        <p:tgtEl>
                                          <p:spTgt spid="27"/>
                                        </p:tgtEl>
                                        <p:attrNameLst>
                                          <p:attrName>style.visibility</p:attrName>
                                        </p:attrNameLst>
                                      </p:cBhvr>
                                      <p:to>
                                        <p:strVal val="visible"/>
                                      </p:to>
                                    </p:set>
                                    <p:animEffect transition="in" filter="fade">
                                      <p:cBhvr>
                                        <p:cTn id="2145" dur="500"/>
                                        <p:tgtEl>
                                          <p:spTgt spid="27"/>
                                        </p:tgtEl>
                                      </p:cBhvr>
                                    </p:animEffect>
                                  </p:childTnLst>
                                </p:cTn>
                              </p:par>
                            </p:childTnLst>
                          </p:cTn>
                        </p:par>
                      </p:childTnLst>
                    </p:cTn>
                  </p:par>
                  <p:par>
                    <p:cTn id="2172" fill="hold">
                      <p:stCondLst>
                        <p:cond delay="indefinite"/>
                      </p:stCondLst>
                      <p:childTnLst>
                        <p:par>
                          <p:cTn id="2173" fill="hold">
                            <p:stCondLst>
                              <p:cond delay="0"/>
                            </p:stCondLst>
                            <p:childTnLst>
                              <p:par>
                                <p:cTn id="2148" presetID="10" presetClass="exit" presetSubtype="0" fill="hold" nodeType="clickEffect">
                                  <p:stCondLst>
                                    <p:cond delay="0"/>
                                  </p:stCondLst>
                                  <p:childTnLst>
                                    <p:animEffect transition="out" filter="fade">
                                      <p:cBhvr>
                                        <p:cTn id="2149" dur="400"/>
                                        <p:tgtEl>
                                          <p:spTgt spid="7"/>
                                        </p:tgtEl>
                                      </p:cBhvr>
                                    </p:animEffect>
                                    <p:set>
                                      <p:cBhvr>
                                        <p:cTn id="2150" dur="1" fill="hold">
                                          <p:stCondLst>
                                            <p:cond delay="399"/>
                                          </p:stCondLst>
                                        </p:cTn>
                                        <p:tgtEl>
                                          <p:spTgt spid="7"/>
                                        </p:tgtEl>
                                        <p:attrNameLst>
                                          <p:attrName>style.visibility</p:attrName>
                                        </p:attrNameLst>
                                      </p:cBhvr>
                                      <p:to>
                                        <p:strVal val="hidden"/>
                                      </p:to>
                                    </p:set>
                                  </p:childTnLst>
                                </p:cTn>
                              </p:par>
                              <p:par>
                                <p:cTn id="2151" presetID="10" presetClass="exit" presetSubtype="0" fill="hold" nodeType="withEffect">
                                  <p:stCondLst>
                                    <p:cond delay="0"/>
                                  </p:stCondLst>
                                  <p:childTnLst>
                                    <p:animEffect transition="out" filter="fade">
                                      <p:cBhvr>
                                        <p:cTn id="2152" dur="400"/>
                                        <p:tgtEl>
                                          <p:spTgt spid="8"/>
                                        </p:tgtEl>
                                      </p:cBhvr>
                                    </p:animEffect>
                                    <p:set>
                                      <p:cBhvr>
                                        <p:cTn id="2153" dur="1" fill="hold">
                                          <p:stCondLst>
                                            <p:cond delay="399"/>
                                          </p:stCondLst>
                                        </p:cTn>
                                        <p:tgtEl>
                                          <p:spTgt spid="8"/>
                                        </p:tgtEl>
                                        <p:attrNameLst>
                                          <p:attrName>style.visibility</p:attrName>
                                        </p:attrNameLst>
                                      </p:cBhvr>
                                      <p:to>
                                        <p:strVal val="hidden"/>
                                      </p:to>
                                    </p:set>
                                  </p:childTnLst>
                                </p:cTn>
                              </p:par>
                              <p:par>
                                <p:cTn id="2154" presetID="10" presetClass="exit" presetSubtype="0" fill="hold" nodeType="withEffect">
                                  <p:stCondLst>
                                    <p:cond delay="0"/>
                                  </p:stCondLst>
                                  <p:childTnLst>
                                    <p:animEffect transition="out" filter="fade">
                                      <p:cBhvr>
                                        <p:cTn id="2155" dur="400"/>
                                        <p:tgtEl>
                                          <p:spTgt spid="26"/>
                                        </p:tgtEl>
                                      </p:cBhvr>
                                    </p:animEffect>
                                    <p:set>
                                      <p:cBhvr>
                                        <p:cTn id="2156" dur="1" fill="hold">
                                          <p:stCondLst>
                                            <p:cond delay="399"/>
                                          </p:stCondLst>
                                        </p:cTn>
                                        <p:tgtEl>
                                          <p:spTgt spid="26"/>
                                        </p:tgtEl>
                                        <p:attrNameLst>
                                          <p:attrName>style.visibility</p:attrName>
                                        </p:attrNameLst>
                                      </p:cBhvr>
                                      <p:to>
                                        <p:strVal val="hidden"/>
                                      </p:to>
                                    </p:set>
                                  </p:childTnLst>
                                </p:cTn>
                              </p:par>
                              <p:par>
                                <p:cTn id="2157" presetID="10" presetClass="exit" presetSubtype="0" fill="hold" nodeType="withEffect">
                                  <p:stCondLst>
                                    <p:cond delay="0"/>
                                  </p:stCondLst>
                                  <p:childTnLst>
                                    <p:animEffect transition="out" filter="fade">
                                      <p:cBhvr>
                                        <p:cTn id="2158" dur="400"/>
                                        <p:tgtEl>
                                          <p:spTgt spid="27"/>
                                        </p:tgtEl>
                                      </p:cBhvr>
                                    </p:animEffect>
                                    <p:set>
                                      <p:cBhvr>
                                        <p:cTn id="2159" dur="1" fill="hold">
                                          <p:stCondLst>
                                            <p:cond delay="399"/>
                                          </p:stCondLst>
                                        </p:cTn>
                                        <p:tgtEl>
                                          <p:spTgt spid="27"/>
                                        </p:tgtEl>
                                        <p:attrNameLst>
                                          <p:attrName>style.visibility</p:attrName>
                                        </p:attrNameLst>
                                      </p:cBhvr>
                                      <p:to>
                                        <p:strVal val="hidden"/>
                                      </p:to>
                                    </p:set>
                                  </p:childTnLst>
                                </p:cTn>
                              </p:par>
                              <p:par>
                                <p:cTn id="2160" presetID="22" presetClass="entr" presetSubtype="8" fill="hold" nodeType="withEffect">
                                  <p:stCondLst>
                                    <p:cond delay="200"/>
                                  </p:stCondLst>
                                  <p:childTnLst>
                                    <p:set>
                                      <p:cBhvr>
                                        <p:cTn id="2161" dur="1" fill="hold">
                                          <p:stCondLst>
                                            <p:cond delay="0"/>
                                          </p:stCondLst>
                                        </p:cTn>
                                        <p:tgtEl>
                                          <p:spTgt spid="9"/>
                                        </p:tgtEl>
                                        <p:attrNameLst>
                                          <p:attrName>style.visibility</p:attrName>
                                        </p:attrNameLst>
                                      </p:cBhvr>
                                      <p:to>
                                        <p:strVal val="visible"/>
                                      </p:to>
                                    </p:set>
                                    <p:animEffect transition="in" filter="wipe(left)">
                                      <p:cBhvr>
                                        <p:cTn id="2162" dur="500"/>
                                        <p:tgtEl>
                                          <p:spTgt spid="9"/>
                                        </p:tgtEl>
                                      </p:cBhvr>
                                    </p:animEffect>
                                  </p:childTnLst>
                                </p:cTn>
                              </p:par>
                              <p:par>
                                <p:cTn id="2163" presetID="22" presetClass="entr" presetSubtype="8" fill="hold" nodeType="withEffect">
                                  <p:stCondLst>
                                    <p:cond delay="270"/>
                                  </p:stCondLst>
                                  <p:childTnLst>
                                    <p:set>
                                      <p:cBhvr>
                                        <p:cTn id="2164" dur="1" fill="hold">
                                          <p:stCondLst>
                                            <p:cond delay="0"/>
                                          </p:stCondLst>
                                        </p:cTn>
                                        <p:tgtEl>
                                          <p:spTgt spid="10"/>
                                        </p:tgtEl>
                                        <p:attrNameLst>
                                          <p:attrName>style.visibility</p:attrName>
                                        </p:attrNameLst>
                                      </p:cBhvr>
                                      <p:to>
                                        <p:strVal val="visible"/>
                                      </p:to>
                                    </p:set>
                                    <p:animEffect transition="in" filter="wipe(left)">
                                      <p:cBhvr>
                                        <p:cTn id="2165" dur="500"/>
                                        <p:tgtEl>
                                          <p:spTgt spid="10"/>
                                        </p:tgtEl>
                                      </p:cBhvr>
                                    </p:animEffect>
                                  </p:childTnLst>
                                </p:cTn>
                              </p:par>
                              <p:par>
                                <p:cTn id="2166" presetID="22" presetClass="entr" presetSubtype="8" fill="hold" nodeType="withEffect">
                                  <p:stCondLst>
                                    <p:cond delay="340"/>
                                  </p:stCondLst>
                                  <p:childTnLst>
                                    <p:set>
                                      <p:cBhvr>
                                        <p:cTn id="2167" dur="1" fill="hold">
                                          <p:stCondLst>
                                            <p:cond delay="0"/>
                                          </p:stCondLst>
                                        </p:cTn>
                                        <p:tgtEl>
                                          <p:spTgt spid="28"/>
                                        </p:tgtEl>
                                        <p:attrNameLst>
                                          <p:attrName>style.visibility</p:attrName>
                                        </p:attrNameLst>
                                      </p:cBhvr>
                                      <p:to>
                                        <p:strVal val="visible"/>
                                      </p:to>
                                    </p:set>
                                    <p:animEffect transition="in" filter="wipe(left)">
                                      <p:cBhvr>
                                        <p:cTn id="2168" dur="500"/>
                                        <p:tgtEl>
                                          <p:spTgt spid="28"/>
                                        </p:tgtEl>
                                      </p:cBhvr>
                                    </p:animEffect>
                                  </p:childTnLst>
                                </p:cTn>
                              </p:par>
                              <p:par>
                                <p:cTn id="2169" presetID="22" presetClass="entr" presetSubtype="8" fill="hold" nodeType="withEffect">
                                  <p:stCondLst>
                                    <p:cond delay="410"/>
                                  </p:stCondLst>
                                  <p:childTnLst>
                                    <p:set>
                                      <p:cBhvr>
                                        <p:cTn id="2170" dur="1" fill="hold">
                                          <p:stCondLst>
                                            <p:cond delay="0"/>
                                          </p:stCondLst>
                                        </p:cTn>
                                        <p:tgtEl>
                                          <p:spTgt spid="29"/>
                                        </p:tgtEl>
                                        <p:attrNameLst>
                                          <p:attrName>style.visibility</p:attrName>
                                        </p:attrNameLst>
                                      </p:cBhvr>
                                      <p:to>
                                        <p:strVal val="visible"/>
                                      </p:to>
                                    </p:set>
                                    <p:animEffect transition="in" filter="wipe(left)">
                                      <p:cBhvr>
                                        <p:cTn id="2171" dur="500"/>
                                        <p:tgtEl>
                                          <p:spTgt spid="29"/>
                                        </p:tgtEl>
                                      </p:cBhvr>
                                    </p:animEffect>
                                  </p:childTnLst>
                                </p:cTn>
                              </p:par>
                            </p:childTnLst>
                          </p:cTn>
                        </p:par>
                      </p:childTnLst>
                    </p:cTn>
                  </p:par>
                  <p:par>
                    <p:cTn id="2201" fill="hold">
                      <p:stCondLst>
                        <p:cond delay="indefinite"/>
                      </p:stCondLst>
                      <p:childTnLst>
                        <p:par>
                          <p:cTn id="2202" fill="hold">
                            <p:stCondLst>
                              <p:cond delay="0"/>
                            </p:stCondLst>
                            <p:childTnLst>
                              <p:par>
                                <p:cTn id="2174" presetID="10" presetClass="exit" presetSubtype="0" fill="hold" nodeType="clickEffect">
                                  <p:stCondLst>
                                    <p:cond delay="0"/>
                                  </p:stCondLst>
                                  <p:childTnLst>
                                    <p:animEffect transition="out" filter="fade">
                                      <p:cBhvr>
                                        <p:cTn id="2175" dur="400"/>
                                        <p:tgtEl>
                                          <p:spTgt spid="9"/>
                                        </p:tgtEl>
                                      </p:cBhvr>
                                    </p:animEffect>
                                    <p:set>
                                      <p:cBhvr>
                                        <p:cTn id="2176" dur="1" fill="hold">
                                          <p:stCondLst>
                                            <p:cond delay="399"/>
                                          </p:stCondLst>
                                        </p:cTn>
                                        <p:tgtEl>
                                          <p:spTgt spid="9"/>
                                        </p:tgtEl>
                                        <p:attrNameLst>
                                          <p:attrName>style.visibility</p:attrName>
                                        </p:attrNameLst>
                                      </p:cBhvr>
                                      <p:to>
                                        <p:strVal val="hidden"/>
                                      </p:to>
                                    </p:set>
                                  </p:childTnLst>
                                </p:cTn>
                              </p:par>
                              <p:par>
                                <p:cTn id="2177" presetID="10" presetClass="exit" presetSubtype="0" fill="hold" nodeType="withEffect">
                                  <p:stCondLst>
                                    <p:cond delay="0"/>
                                  </p:stCondLst>
                                  <p:childTnLst>
                                    <p:animEffect transition="out" filter="fade">
                                      <p:cBhvr>
                                        <p:cTn id="2178" dur="400"/>
                                        <p:tgtEl>
                                          <p:spTgt spid="10"/>
                                        </p:tgtEl>
                                      </p:cBhvr>
                                    </p:animEffect>
                                    <p:set>
                                      <p:cBhvr>
                                        <p:cTn id="2179" dur="1" fill="hold">
                                          <p:stCondLst>
                                            <p:cond delay="399"/>
                                          </p:stCondLst>
                                        </p:cTn>
                                        <p:tgtEl>
                                          <p:spTgt spid="10"/>
                                        </p:tgtEl>
                                        <p:attrNameLst>
                                          <p:attrName>style.visibility</p:attrName>
                                        </p:attrNameLst>
                                      </p:cBhvr>
                                      <p:to>
                                        <p:strVal val="hidden"/>
                                      </p:to>
                                    </p:set>
                                  </p:childTnLst>
                                </p:cTn>
                              </p:par>
                              <p:par>
                                <p:cTn id="2180" presetID="10" presetClass="exit" presetSubtype="0" fill="hold" nodeType="withEffect">
                                  <p:stCondLst>
                                    <p:cond delay="0"/>
                                  </p:stCondLst>
                                  <p:childTnLst>
                                    <p:animEffect transition="out" filter="fade">
                                      <p:cBhvr>
                                        <p:cTn id="2181" dur="400"/>
                                        <p:tgtEl>
                                          <p:spTgt spid="28"/>
                                        </p:tgtEl>
                                      </p:cBhvr>
                                    </p:animEffect>
                                    <p:set>
                                      <p:cBhvr>
                                        <p:cTn id="2182" dur="1" fill="hold">
                                          <p:stCondLst>
                                            <p:cond delay="399"/>
                                          </p:stCondLst>
                                        </p:cTn>
                                        <p:tgtEl>
                                          <p:spTgt spid="28"/>
                                        </p:tgtEl>
                                        <p:attrNameLst>
                                          <p:attrName>style.visibility</p:attrName>
                                        </p:attrNameLst>
                                      </p:cBhvr>
                                      <p:to>
                                        <p:strVal val="hidden"/>
                                      </p:to>
                                    </p:set>
                                  </p:childTnLst>
                                </p:cTn>
                              </p:par>
                              <p:par>
                                <p:cTn id="2183" presetID="10" presetClass="exit" presetSubtype="0" fill="hold" nodeType="withEffect">
                                  <p:stCondLst>
                                    <p:cond delay="0"/>
                                  </p:stCondLst>
                                  <p:childTnLst>
                                    <p:animEffect transition="out" filter="fade">
                                      <p:cBhvr>
                                        <p:cTn id="2184" dur="400"/>
                                        <p:tgtEl>
                                          <p:spTgt spid="29"/>
                                        </p:tgtEl>
                                      </p:cBhvr>
                                    </p:animEffect>
                                    <p:set>
                                      <p:cBhvr>
                                        <p:cTn id="2185" dur="1" fill="hold">
                                          <p:stCondLst>
                                            <p:cond delay="399"/>
                                          </p:stCondLst>
                                        </p:cTn>
                                        <p:tgtEl>
                                          <p:spTgt spid="29"/>
                                        </p:tgtEl>
                                        <p:attrNameLst>
                                          <p:attrName>style.visibility</p:attrName>
                                        </p:attrNameLst>
                                      </p:cBhvr>
                                      <p:to>
                                        <p:strVal val="hidden"/>
                                      </p:to>
                                    </p:set>
                                  </p:childTnLst>
                                </p:cTn>
                              </p:par>
                              <p:par>
                                <p:cTn id="2186" presetID="22" presetClass="entr" presetSubtype="4" fill="hold" nodeType="withEffect">
                                  <p:stCondLst>
                                    <p:cond delay="200"/>
                                  </p:stCondLst>
                                  <p:childTnLst>
                                    <p:set>
                                      <p:cBhvr>
                                        <p:cTn id="2187" dur="1" fill="hold">
                                          <p:stCondLst>
                                            <p:cond delay="0"/>
                                          </p:stCondLst>
                                        </p:cTn>
                                        <p:tgtEl>
                                          <p:spTgt spid="11"/>
                                        </p:tgtEl>
                                        <p:attrNameLst>
                                          <p:attrName>style.visibility</p:attrName>
                                        </p:attrNameLst>
                                      </p:cBhvr>
                                      <p:to>
                                        <p:strVal val="visible"/>
                                      </p:to>
                                    </p:set>
                                    <p:animEffect transition="in" filter="wipe(down)">
                                      <p:cBhvr>
                                        <p:cTn id="2188" dur="500"/>
                                        <p:tgtEl>
                                          <p:spTgt spid="11"/>
                                        </p:tgtEl>
                                      </p:cBhvr>
                                    </p:animEffect>
                                  </p:childTnLst>
                                </p:cTn>
                              </p:par>
                              <p:par>
                                <p:cTn id="2189" presetID="22" presetClass="entr" presetSubtype="4" fill="hold" nodeType="withEffect">
                                  <p:stCondLst>
                                    <p:cond delay="270"/>
                                  </p:stCondLst>
                                  <p:childTnLst>
                                    <p:set>
                                      <p:cBhvr>
                                        <p:cTn id="2190" dur="1" fill="hold">
                                          <p:stCondLst>
                                            <p:cond delay="0"/>
                                          </p:stCondLst>
                                        </p:cTn>
                                        <p:tgtEl>
                                          <p:spTgt spid="12"/>
                                        </p:tgtEl>
                                        <p:attrNameLst>
                                          <p:attrName>style.visibility</p:attrName>
                                        </p:attrNameLst>
                                      </p:cBhvr>
                                      <p:to>
                                        <p:strVal val="visible"/>
                                      </p:to>
                                    </p:set>
                                    <p:animEffect transition="in" filter="wipe(down)">
                                      <p:cBhvr>
                                        <p:cTn id="2191" dur="500"/>
                                        <p:tgtEl>
                                          <p:spTgt spid="12"/>
                                        </p:tgtEl>
                                      </p:cBhvr>
                                    </p:animEffect>
                                  </p:childTnLst>
                                </p:cTn>
                              </p:par>
                              <p:par>
                                <p:cTn id="2192" presetID="22" presetClass="entr" presetSubtype="4" fill="hold" nodeType="withEffect">
                                  <p:stCondLst>
                                    <p:cond delay="340"/>
                                  </p:stCondLst>
                                  <p:childTnLst>
                                    <p:set>
                                      <p:cBhvr>
                                        <p:cTn id="2193" dur="1" fill="hold">
                                          <p:stCondLst>
                                            <p:cond delay="0"/>
                                          </p:stCondLst>
                                        </p:cTn>
                                        <p:tgtEl>
                                          <p:spTgt spid="13"/>
                                        </p:tgtEl>
                                        <p:attrNameLst>
                                          <p:attrName>style.visibility</p:attrName>
                                        </p:attrNameLst>
                                      </p:cBhvr>
                                      <p:to>
                                        <p:strVal val="visible"/>
                                      </p:to>
                                    </p:set>
                                    <p:animEffect transition="in" filter="wipe(down)">
                                      <p:cBhvr>
                                        <p:cTn id="2194" dur="500"/>
                                        <p:tgtEl>
                                          <p:spTgt spid="13"/>
                                        </p:tgtEl>
                                      </p:cBhvr>
                                    </p:animEffect>
                                  </p:childTnLst>
                                </p:cTn>
                              </p:par>
                              <p:par>
                                <p:cTn id="2195" presetID="22" presetClass="entr" presetSubtype="4" fill="hold" nodeType="withEffect">
                                  <p:stCondLst>
                                    <p:cond delay="410"/>
                                  </p:stCondLst>
                                  <p:childTnLst>
                                    <p:set>
                                      <p:cBhvr>
                                        <p:cTn id="2196" dur="1" fill="hold">
                                          <p:stCondLst>
                                            <p:cond delay="0"/>
                                          </p:stCondLst>
                                        </p:cTn>
                                        <p:tgtEl>
                                          <p:spTgt spid="30"/>
                                        </p:tgtEl>
                                        <p:attrNameLst>
                                          <p:attrName>style.visibility</p:attrName>
                                        </p:attrNameLst>
                                      </p:cBhvr>
                                      <p:to>
                                        <p:strVal val="visible"/>
                                      </p:to>
                                    </p:set>
                                    <p:animEffect transition="in" filter="wipe(down)">
                                      <p:cBhvr>
                                        <p:cTn id="2197" dur="500"/>
                                        <p:tgtEl>
                                          <p:spTgt spid="30"/>
                                        </p:tgtEl>
                                      </p:cBhvr>
                                    </p:animEffect>
                                  </p:childTnLst>
                                </p:cTn>
                              </p:par>
                              <p:par>
                                <p:cTn id="2198" presetID="22" presetClass="entr" presetSubtype="4" fill="hold" nodeType="withEffect">
                                  <p:stCondLst>
                                    <p:cond delay="480"/>
                                  </p:stCondLst>
                                  <p:childTnLst>
                                    <p:set>
                                      <p:cBhvr>
                                        <p:cTn id="2199" dur="1" fill="hold">
                                          <p:stCondLst>
                                            <p:cond delay="0"/>
                                          </p:stCondLst>
                                        </p:cTn>
                                        <p:tgtEl>
                                          <p:spTgt spid="31"/>
                                        </p:tgtEl>
                                        <p:attrNameLst>
                                          <p:attrName>style.visibility</p:attrName>
                                        </p:attrNameLst>
                                      </p:cBhvr>
                                      <p:to>
                                        <p:strVal val="visible"/>
                                      </p:to>
                                    </p:set>
                                    <p:animEffect transition="in" filter="wipe(down)">
                                      <p:cBhvr>
                                        <p:cTn id="2200" dur="500"/>
                                        <p:tgtEl>
                                          <p:spTgt spid="31"/>
                                        </p:tgtEl>
                                      </p:cBhvr>
                                    </p:animEffect>
                                  </p:childTnLst>
                                </p:cTn>
                              </p:par>
                            </p:childTnLst>
                          </p:cTn>
                        </p:par>
                      </p:childTnLst>
                    </p:cTn>
                  </p:par>
                  <p:par>
                    <p:cTn id="2230" fill="hold">
                      <p:stCondLst>
                        <p:cond delay="indefinite"/>
                      </p:stCondLst>
                      <p:childTnLst>
                        <p:par>
                          <p:cTn id="2231" fill="hold">
                            <p:stCondLst>
                              <p:cond delay="0"/>
                            </p:stCondLst>
                            <p:childTnLst>
                              <p:par>
                                <p:cTn id="2203" presetID="10" presetClass="exit" presetSubtype="0" fill="hold" nodeType="clickEffect">
                                  <p:stCondLst>
                                    <p:cond delay="0"/>
                                  </p:stCondLst>
                                  <p:childTnLst>
                                    <p:animEffect transition="out" filter="fade">
                                      <p:cBhvr>
                                        <p:cTn id="2204" dur="400"/>
                                        <p:tgtEl>
                                          <p:spTgt spid="11"/>
                                        </p:tgtEl>
                                      </p:cBhvr>
                                    </p:animEffect>
                                    <p:set>
                                      <p:cBhvr>
                                        <p:cTn id="2205" dur="1" fill="hold">
                                          <p:stCondLst>
                                            <p:cond delay="399"/>
                                          </p:stCondLst>
                                        </p:cTn>
                                        <p:tgtEl>
                                          <p:spTgt spid="11"/>
                                        </p:tgtEl>
                                        <p:attrNameLst>
                                          <p:attrName>style.visibility</p:attrName>
                                        </p:attrNameLst>
                                      </p:cBhvr>
                                      <p:to>
                                        <p:strVal val="hidden"/>
                                      </p:to>
                                    </p:set>
                                  </p:childTnLst>
                                </p:cTn>
                              </p:par>
                              <p:par>
                                <p:cTn id="2206" presetID="10" presetClass="exit" presetSubtype="0" fill="hold" nodeType="withEffect">
                                  <p:stCondLst>
                                    <p:cond delay="0"/>
                                  </p:stCondLst>
                                  <p:childTnLst>
                                    <p:animEffect transition="out" filter="fade">
                                      <p:cBhvr>
                                        <p:cTn id="2207" dur="400"/>
                                        <p:tgtEl>
                                          <p:spTgt spid="12"/>
                                        </p:tgtEl>
                                      </p:cBhvr>
                                    </p:animEffect>
                                    <p:set>
                                      <p:cBhvr>
                                        <p:cTn id="2208" dur="1" fill="hold">
                                          <p:stCondLst>
                                            <p:cond delay="399"/>
                                          </p:stCondLst>
                                        </p:cTn>
                                        <p:tgtEl>
                                          <p:spTgt spid="12"/>
                                        </p:tgtEl>
                                        <p:attrNameLst>
                                          <p:attrName>style.visibility</p:attrName>
                                        </p:attrNameLst>
                                      </p:cBhvr>
                                      <p:to>
                                        <p:strVal val="hidden"/>
                                      </p:to>
                                    </p:set>
                                  </p:childTnLst>
                                </p:cTn>
                              </p:par>
                              <p:par>
                                <p:cTn id="2209" presetID="10" presetClass="exit" presetSubtype="0" fill="hold" nodeType="withEffect">
                                  <p:stCondLst>
                                    <p:cond delay="0"/>
                                  </p:stCondLst>
                                  <p:childTnLst>
                                    <p:animEffect transition="out" filter="fade">
                                      <p:cBhvr>
                                        <p:cTn id="2210" dur="400"/>
                                        <p:tgtEl>
                                          <p:spTgt spid="13"/>
                                        </p:tgtEl>
                                      </p:cBhvr>
                                    </p:animEffect>
                                    <p:set>
                                      <p:cBhvr>
                                        <p:cTn id="2211" dur="1" fill="hold">
                                          <p:stCondLst>
                                            <p:cond delay="399"/>
                                          </p:stCondLst>
                                        </p:cTn>
                                        <p:tgtEl>
                                          <p:spTgt spid="13"/>
                                        </p:tgtEl>
                                        <p:attrNameLst>
                                          <p:attrName>style.visibility</p:attrName>
                                        </p:attrNameLst>
                                      </p:cBhvr>
                                      <p:to>
                                        <p:strVal val="hidden"/>
                                      </p:to>
                                    </p:set>
                                  </p:childTnLst>
                                </p:cTn>
                              </p:par>
                              <p:par>
                                <p:cTn id="2212" presetID="10" presetClass="exit" presetSubtype="0" fill="hold" nodeType="withEffect">
                                  <p:stCondLst>
                                    <p:cond delay="0"/>
                                  </p:stCondLst>
                                  <p:childTnLst>
                                    <p:animEffect transition="out" filter="fade">
                                      <p:cBhvr>
                                        <p:cTn id="2213" dur="400"/>
                                        <p:tgtEl>
                                          <p:spTgt spid="30"/>
                                        </p:tgtEl>
                                      </p:cBhvr>
                                    </p:animEffect>
                                    <p:set>
                                      <p:cBhvr>
                                        <p:cTn id="2214" dur="1" fill="hold">
                                          <p:stCondLst>
                                            <p:cond delay="399"/>
                                          </p:stCondLst>
                                        </p:cTn>
                                        <p:tgtEl>
                                          <p:spTgt spid="30"/>
                                        </p:tgtEl>
                                        <p:attrNameLst>
                                          <p:attrName>style.visibility</p:attrName>
                                        </p:attrNameLst>
                                      </p:cBhvr>
                                      <p:to>
                                        <p:strVal val="hidden"/>
                                      </p:to>
                                    </p:set>
                                  </p:childTnLst>
                                </p:cTn>
                              </p:par>
                              <p:par>
                                <p:cTn id="2215" presetID="10" presetClass="exit" presetSubtype="0" fill="hold" nodeType="withEffect">
                                  <p:stCondLst>
                                    <p:cond delay="0"/>
                                  </p:stCondLst>
                                  <p:childTnLst>
                                    <p:animEffect transition="out" filter="fade">
                                      <p:cBhvr>
                                        <p:cTn id="2216" dur="400"/>
                                        <p:tgtEl>
                                          <p:spTgt spid="31"/>
                                        </p:tgtEl>
                                      </p:cBhvr>
                                    </p:animEffect>
                                    <p:set>
                                      <p:cBhvr>
                                        <p:cTn id="2217" dur="1" fill="hold">
                                          <p:stCondLst>
                                            <p:cond delay="399"/>
                                          </p:stCondLst>
                                        </p:cTn>
                                        <p:tgtEl>
                                          <p:spTgt spid="31"/>
                                        </p:tgtEl>
                                        <p:attrNameLst>
                                          <p:attrName>style.visibility</p:attrName>
                                        </p:attrNameLst>
                                      </p:cBhvr>
                                      <p:to>
                                        <p:strVal val="hidden"/>
                                      </p:to>
                                    </p:set>
                                  </p:childTnLst>
                                </p:cTn>
                              </p:par>
                              <p:par>
                                <p:cTn id="2218" presetID="10" presetClass="entr" presetSubtype="0" fill="hold" nodeType="withEffect">
                                  <p:stCondLst>
                                    <p:cond delay="200"/>
                                  </p:stCondLst>
                                  <p:childTnLst>
                                    <p:set>
                                      <p:cBhvr>
                                        <p:cTn id="2219" dur="1" fill="hold">
                                          <p:stCondLst>
                                            <p:cond delay="0"/>
                                          </p:stCondLst>
                                        </p:cTn>
                                        <p:tgtEl>
                                          <p:spTgt spid="14"/>
                                        </p:tgtEl>
                                        <p:attrNameLst>
                                          <p:attrName>style.visibility</p:attrName>
                                        </p:attrNameLst>
                                      </p:cBhvr>
                                      <p:to>
                                        <p:strVal val="visible"/>
                                      </p:to>
                                    </p:set>
                                    <p:animEffect transition="in" filter="fade">
                                      <p:cBhvr>
                                        <p:cTn id="2220" dur="500"/>
                                        <p:tgtEl>
                                          <p:spTgt spid="14"/>
                                        </p:tgtEl>
                                      </p:cBhvr>
                                    </p:animEffect>
                                  </p:childTnLst>
                                </p:cTn>
                              </p:par>
                              <p:par>
                                <p:cTn id="2221" presetID="10" presetClass="entr" presetSubtype="0" fill="hold" nodeType="withEffect">
                                  <p:stCondLst>
                                    <p:cond delay="270"/>
                                  </p:stCondLst>
                                  <p:childTnLst>
                                    <p:set>
                                      <p:cBhvr>
                                        <p:cTn id="2222" dur="1" fill="hold">
                                          <p:stCondLst>
                                            <p:cond delay="0"/>
                                          </p:stCondLst>
                                        </p:cTn>
                                        <p:tgtEl>
                                          <p:spTgt spid="15"/>
                                        </p:tgtEl>
                                        <p:attrNameLst>
                                          <p:attrName>style.visibility</p:attrName>
                                        </p:attrNameLst>
                                      </p:cBhvr>
                                      <p:to>
                                        <p:strVal val="visible"/>
                                      </p:to>
                                    </p:set>
                                    <p:animEffect transition="in" filter="fade">
                                      <p:cBhvr>
                                        <p:cTn id="2223" dur="500"/>
                                        <p:tgtEl>
                                          <p:spTgt spid="15"/>
                                        </p:tgtEl>
                                      </p:cBhvr>
                                    </p:animEffect>
                                  </p:childTnLst>
                                </p:cTn>
                              </p:par>
                              <p:par>
                                <p:cTn id="2224" presetID="10" presetClass="entr" presetSubtype="0" fill="hold" nodeType="withEffect">
                                  <p:stCondLst>
                                    <p:cond delay="340"/>
                                  </p:stCondLst>
                                  <p:childTnLst>
                                    <p:set>
                                      <p:cBhvr>
                                        <p:cTn id="2225" dur="1" fill="hold">
                                          <p:stCondLst>
                                            <p:cond delay="0"/>
                                          </p:stCondLst>
                                        </p:cTn>
                                        <p:tgtEl>
                                          <p:spTgt spid="32"/>
                                        </p:tgtEl>
                                        <p:attrNameLst>
                                          <p:attrName>style.visibility</p:attrName>
                                        </p:attrNameLst>
                                      </p:cBhvr>
                                      <p:to>
                                        <p:strVal val="visible"/>
                                      </p:to>
                                    </p:set>
                                    <p:animEffect transition="in" filter="fade">
                                      <p:cBhvr>
                                        <p:cTn id="2226" dur="500"/>
                                        <p:tgtEl>
                                          <p:spTgt spid="32"/>
                                        </p:tgtEl>
                                      </p:cBhvr>
                                    </p:animEffect>
                                  </p:childTnLst>
                                </p:cTn>
                              </p:par>
                              <p:par>
                                <p:cTn id="2227" presetID="10" presetClass="entr" presetSubtype="0" fill="hold" nodeType="withEffect">
                                  <p:stCondLst>
                                    <p:cond delay="410"/>
                                  </p:stCondLst>
                                  <p:childTnLst>
                                    <p:set>
                                      <p:cBhvr>
                                        <p:cTn id="2228" dur="1" fill="hold">
                                          <p:stCondLst>
                                            <p:cond delay="0"/>
                                          </p:stCondLst>
                                        </p:cTn>
                                        <p:tgtEl>
                                          <p:spTgt spid="33"/>
                                        </p:tgtEl>
                                        <p:attrNameLst>
                                          <p:attrName>style.visibility</p:attrName>
                                        </p:attrNameLst>
                                      </p:cBhvr>
                                      <p:to>
                                        <p:strVal val="visible"/>
                                      </p:to>
                                    </p:set>
                                    <p:animEffect transition="in" filter="fade">
                                      <p:cBhvr>
                                        <p:cTn id="2229" dur="500"/>
                                        <p:tgtEl>
                                          <p:spTgt spid="33"/>
                                        </p:tgtEl>
                                      </p:cBhvr>
                                    </p:animEffect>
                                  </p:childTnLst>
                                </p:cTn>
                              </p:par>
                            </p:childTnLst>
                          </p:cTn>
                        </p:par>
                      </p:childTnLst>
                    </p:cTn>
                  </p:par>
                  <p:par>
                    <p:cTn id="2274" fill="hold">
                      <p:stCondLst>
                        <p:cond delay="indefinite"/>
                      </p:stCondLst>
                      <p:childTnLst>
                        <p:par>
                          <p:cTn id="2275" fill="hold">
                            <p:stCondLst>
                              <p:cond delay="0"/>
                            </p:stCondLst>
                            <p:childTnLst>
                              <p:par>
                                <p:cTn id="2232" presetID="10" presetClass="exit" presetSubtype="0" fill="hold" nodeType="clickEffect">
                                  <p:stCondLst>
                                    <p:cond delay="0"/>
                                  </p:stCondLst>
                                  <p:childTnLst>
                                    <p:animEffect transition="out" filter="fade">
                                      <p:cBhvr>
                                        <p:cTn id="2233" dur="400"/>
                                        <p:tgtEl>
                                          <p:spTgt spid="14"/>
                                        </p:tgtEl>
                                      </p:cBhvr>
                                    </p:animEffect>
                                    <p:set>
                                      <p:cBhvr>
                                        <p:cTn id="2234" dur="1" fill="hold">
                                          <p:stCondLst>
                                            <p:cond delay="399"/>
                                          </p:stCondLst>
                                        </p:cTn>
                                        <p:tgtEl>
                                          <p:spTgt spid="14"/>
                                        </p:tgtEl>
                                        <p:attrNameLst>
                                          <p:attrName>style.visibility</p:attrName>
                                        </p:attrNameLst>
                                      </p:cBhvr>
                                      <p:to>
                                        <p:strVal val="hidden"/>
                                      </p:to>
                                    </p:set>
                                  </p:childTnLst>
                                </p:cTn>
                              </p:par>
                              <p:par>
                                <p:cTn id="2235" presetID="10" presetClass="exit" presetSubtype="0" fill="hold" nodeType="withEffect">
                                  <p:stCondLst>
                                    <p:cond delay="0"/>
                                  </p:stCondLst>
                                  <p:childTnLst>
                                    <p:animEffect transition="out" filter="fade">
                                      <p:cBhvr>
                                        <p:cTn id="2236" dur="400"/>
                                        <p:tgtEl>
                                          <p:spTgt spid="15"/>
                                        </p:tgtEl>
                                      </p:cBhvr>
                                    </p:animEffect>
                                    <p:set>
                                      <p:cBhvr>
                                        <p:cTn id="2237" dur="1" fill="hold">
                                          <p:stCondLst>
                                            <p:cond delay="399"/>
                                          </p:stCondLst>
                                        </p:cTn>
                                        <p:tgtEl>
                                          <p:spTgt spid="15"/>
                                        </p:tgtEl>
                                        <p:attrNameLst>
                                          <p:attrName>style.visibility</p:attrName>
                                        </p:attrNameLst>
                                      </p:cBhvr>
                                      <p:to>
                                        <p:strVal val="hidden"/>
                                      </p:to>
                                    </p:set>
                                  </p:childTnLst>
                                </p:cTn>
                              </p:par>
                              <p:par>
                                <p:cTn id="2238" presetID="10" presetClass="exit" presetSubtype="0" fill="hold" nodeType="withEffect">
                                  <p:stCondLst>
                                    <p:cond delay="0"/>
                                  </p:stCondLst>
                                  <p:childTnLst>
                                    <p:animEffect transition="out" filter="fade">
                                      <p:cBhvr>
                                        <p:cTn id="2239" dur="400"/>
                                        <p:tgtEl>
                                          <p:spTgt spid="32"/>
                                        </p:tgtEl>
                                      </p:cBhvr>
                                    </p:animEffect>
                                    <p:set>
                                      <p:cBhvr>
                                        <p:cTn id="2240" dur="1" fill="hold">
                                          <p:stCondLst>
                                            <p:cond delay="399"/>
                                          </p:stCondLst>
                                        </p:cTn>
                                        <p:tgtEl>
                                          <p:spTgt spid="32"/>
                                        </p:tgtEl>
                                        <p:attrNameLst>
                                          <p:attrName>style.visibility</p:attrName>
                                        </p:attrNameLst>
                                      </p:cBhvr>
                                      <p:to>
                                        <p:strVal val="hidden"/>
                                      </p:to>
                                    </p:set>
                                  </p:childTnLst>
                                </p:cTn>
                              </p:par>
                              <p:par>
                                <p:cTn id="2241" presetID="10" presetClass="exit" presetSubtype="0" fill="hold" nodeType="withEffect">
                                  <p:stCondLst>
                                    <p:cond delay="0"/>
                                  </p:stCondLst>
                                  <p:childTnLst>
                                    <p:animEffect transition="out" filter="fade">
                                      <p:cBhvr>
                                        <p:cTn id="2242" dur="400"/>
                                        <p:tgtEl>
                                          <p:spTgt spid="33"/>
                                        </p:tgtEl>
                                      </p:cBhvr>
                                    </p:animEffect>
                                    <p:set>
                                      <p:cBhvr>
                                        <p:cTn id="2243" dur="1" fill="hold">
                                          <p:stCondLst>
                                            <p:cond delay="399"/>
                                          </p:stCondLst>
                                        </p:cTn>
                                        <p:tgtEl>
                                          <p:spTgt spid="33"/>
                                        </p:tgtEl>
                                        <p:attrNameLst>
                                          <p:attrName>style.visibility</p:attrName>
                                        </p:attrNameLst>
                                      </p:cBhvr>
                                      <p:to>
                                        <p:strVal val="hidden"/>
                                      </p:to>
                                    </p:set>
                                  </p:childTnLst>
                                </p:cTn>
                              </p:par>
                              <p:par>
                                <p:cTn id="2244" presetID="22" presetClass="entr" presetSubtype="8" fill="hold" nodeType="withEffect">
                                  <p:stCondLst>
                                    <p:cond delay="200"/>
                                  </p:stCondLst>
                                  <p:childTnLst>
                                    <p:set>
                                      <p:cBhvr>
                                        <p:cTn id="2245" dur="1" fill="hold">
                                          <p:stCondLst>
                                            <p:cond delay="0"/>
                                          </p:stCondLst>
                                        </p:cTn>
                                        <p:tgtEl>
                                          <p:spTgt spid="16"/>
                                        </p:tgtEl>
                                        <p:attrNameLst>
                                          <p:attrName>style.visibility</p:attrName>
                                        </p:attrNameLst>
                                      </p:cBhvr>
                                      <p:to>
                                        <p:strVal val="visible"/>
                                      </p:to>
                                    </p:set>
                                    <p:animEffect transition="in" filter="wipe(left)">
                                      <p:cBhvr>
                                        <p:cTn id="2246" dur="500"/>
                                        <p:tgtEl>
                                          <p:spTgt spid="16"/>
                                        </p:tgtEl>
                                      </p:cBhvr>
                                    </p:animEffect>
                                  </p:childTnLst>
                                </p:cTn>
                              </p:par>
                              <p:par>
                                <p:cTn id="2247" presetID="22" presetClass="entr" presetSubtype="8" fill="hold" nodeType="withEffect">
                                  <p:stCondLst>
                                    <p:cond delay="270"/>
                                  </p:stCondLst>
                                  <p:childTnLst>
                                    <p:set>
                                      <p:cBhvr>
                                        <p:cTn id="2248" dur="1" fill="hold">
                                          <p:stCondLst>
                                            <p:cond delay="0"/>
                                          </p:stCondLst>
                                        </p:cTn>
                                        <p:tgtEl>
                                          <p:spTgt spid="17"/>
                                        </p:tgtEl>
                                        <p:attrNameLst>
                                          <p:attrName>style.visibility</p:attrName>
                                        </p:attrNameLst>
                                      </p:cBhvr>
                                      <p:to>
                                        <p:strVal val="visible"/>
                                      </p:to>
                                    </p:set>
                                    <p:animEffect transition="in" filter="wipe(left)">
                                      <p:cBhvr>
                                        <p:cTn id="2249" dur="500"/>
                                        <p:tgtEl>
                                          <p:spTgt spid="17"/>
                                        </p:tgtEl>
                                      </p:cBhvr>
                                    </p:animEffect>
                                  </p:childTnLst>
                                </p:cTn>
                              </p:par>
                              <p:par>
                                <p:cTn id="2250" presetID="22" presetClass="entr" presetSubtype="8" fill="hold" nodeType="withEffect">
                                  <p:stCondLst>
                                    <p:cond delay="340"/>
                                  </p:stCondLst>
                                  <p:childTnLst>
                                    <p:set>
                                      <p:cBhvr>
                                        <p:cTn id="2251" dur="1" fill="hold">
                                          <p:stCondLst>
                                            <p:cond delay="0"/>
                                          </p:stCondLst>
                                        </p:cTn>
                                        <p:tgtEl>
                                          <p:spTgt spid="18"/>
                                        </p:tgtEl>
                                        <p:attrNameLst>
                                          <p:attrName>style.visibility</p:attrName>
                                        </p:attrNameLst>
                                      </p:cBhvr>
                                      <p:to>
                                        <p:strVal val="visible"/>
                                      </p:to>
                                    </p:set>
                                    <p:animEffect transition="in" filter="wipe(left)">
                                      <p:cBhvr>
                                        <p:cTn id="2252" dur="500"/>
                                        <p:tgtEl>
                                          <p:spTgt spid="18"/>
                                        </p:tgtEl>
                                      </p:cBhvr>
                                    </p:animEffect>
                                  </p:childTnLst>
                                </p:cTn>
                              </p:par>
                              <p:par>
                                <p:cTn id="2253" presetID="22" presetClass="entr" presetSubtype="8" fill="hold" nodeType="withEffect">
                                  <p:stCondLst>
                                    <p:cond delay="410"/>
                                  </p:stCondLst>
                                  <p:childTnLst>
                                    <p:set>
                                      <p:cBhvr>
                                        <p:cTn id="2254" dur="1" fill="hold">
                                          <p:stCondLst>
                                            <p:cond delay="0"/>
                                          </p:stCondLst>
                                        </p:cTn>
                                        <p:tgtEl>
                                          <p:spTgt spid="19"/>
                                        </p:tgtEl>
                                        <p:attrNameLst>
                                          <p:attrName>style.visibility</p:attrName>
                                        </p:attrNameLst>
                                      </p:cBhvr>
                                      <p:to>
                                        <p:strVal val="visible"/>
                                      </p:to>
                                    </p:set>
                                    <p:animEffect transition="in" filter="wipe(left)">
                                      <p:cBhvr>
                                        <p:cTn id="2255" dur="500"/>
                                        <p:tgtEl>
                                          <p:spTgt spid="19"/>
                                        </p:tgtEl>
                                      </p:cBhvr>
                                    </p:animEffect>
                                  </p:childTnLst>
                                </p:cTn>
                              </p:par>
                              <p:par>
                                <p:cTn id="2256" presetID="22" presetClass="entr" presetSubtype="8" fill="hold" nodeType="withEffect">
                                  <p:stCondLst>
                                    <p:cond delay="480"/>
                                  </p:stCondLst>
                                  <p:childTnLst>
                                    <p:set>
                                      <p:cBhvr>
                                        <p:cTn id="2257" dur="1" fill="hold">
                                          <p:stCondLst>
                                            <p:cond delay="0"/>
                                          </p:stCondLst>
                                        </p:cTn>
                                        <p:tgtEl>
                                          <p:spTgt spid="20"/>
                                        </p:tgtEl>
                                        <p:attrNameLst>
                                          <p:attrName>style.visibility</p:attrName>
                                        </p:attrNameLst>
                                      </p:cBhvr>
                                      <p:to>
                                        <p:strVal val="visible"/>
                                      </p:to>
                                    </p:set>
                                    <p:animEffect transition="in" filter="wipe(left)">
                                      <p:cBhvr>
                                        <p:cTn id="2258" dur="500"/>
                                        <p:tgtEl>
                                          <p:spTgt spid="20"/>
                                        </p:tgtEl>
                                      </p:cBhvr>
                                    </p:animEffect>
                                  </p:childTnLst>
                                </p:cTn>
                              </p:par>
                              <p:par>
                                <p:cTn id="2259" presetID="22" presetClass="entr" presetSubtype="8" fill="hold" nodeType="withEffect">
                                  <p:stCondLst>
                                    <p:cond delay="550"/>
                                  </p:stCondLst>
                                  <p:childTnLst>
                                    <p:set>
                                      <p:cBhvr>
                                        <p:cTn id="2260" dur="1" fill="hold">
                                          <p:stCondLst>
                                            <p:cond delay="0"/>
                                          </p:stCondLst>
                                        </p:cTn>
                                        <p:tgtEl>
                                          <p:spTgt spid="21"/>
                                        </p:tgtEl>
                                        <p:attrNameLst>
                                          <p:attrName>style.visibility</p:attrName>
                                        </p:attrNameLst>
                                      </p:cBhvr>
                                      <p:to>
                                        <p:strVal val="visible"/>
                                      </p:to>
                                    </p:set>
                                    <p:animEffect transition="in" filter="wipe(left)">
                                      <p:cBhvr>
                                        <p:cTn id="2261" dur="500"/>
                                        <p:tgtEl>
                                          <p:spTgt spid="21"/>
                                        </p:tgtEl>
                                      </p:cBhvr>
                                    </p:animEffect>
                                  </p:childTnLst>
                                </p:cTn>
                              </p:par>
                              <p:par>
                                <p:cTn id="2262" presetID="22" presetClass="entr" presetSubtype="8" fill="hold" nodeType="withEffect">
                                  <p:stCondLst>
                                    <p:cond delay="620"/>
                                  </p:stCondLst>
                                  <p:childTnLst>
                                    <p:set>
                                      <p:cBhvr>
                                        <p:cTn id="2263" dur="1" fill="hold">
                                          <p:stCondLst>
                                            <p:cond delay="0"/>
                                          </p:stCondLst>
                                        </p:cTn>
                                        <p:tgtEl>
                                          <p:spTgt spid="22"/>
                                        </p:tgtEl>
                                        <p:attrNameLst>
                                          <p:attrName>style.visibility</p:attrName>
                                        </p:attrNameLst>
                                      </p:cBhvr>
                                      <p:to>
                                        <p:strVal val="visible"/>
                                      </p:to>
                                    </p:set>
                                    <p:animEffect transition="in" filter="wipe(left)">
                                      <p:cBhvr>
                                        <p:cTn id="2264" dur="500"/>
                                        <p:tgtEl>
                                          <p:spTgt spid="22"/>
                                        </p:tgtEl>
                                      </p:cBhvr>
                                    </p:animEffect>
                                  </p:childTnLst>
                                </p:cTn>
                              </p:par>
                              <p:par>
                                <p:cTn id="2265" presetID="22" presetClass="entr" presetSubtype="8" fill="hold" nodeType="withEffect">
                                  <p:stCondLst>
                                    <p:cond delay="690"/>
                                  </p:stCondLst>
                                  <p:childTnLst>
                                    <p:set>
                                      <p:cBhvr>
                                        <p:cTn id="2266" dur="1" fill="hold">
                                          <p:stCondLst>
                                            <p:cond delay="0"/>
                                          </p:stCondLst>
                                        </p:cTn>
                                        <p:tgtEl>
                                          <p:spTgt spid="23"/>
                                        </p:tgtEl>
                                        <p:attrNameLst>
                                          <p:attrName>style.visibility</p:attrName>
                                        </p:attrNameLst>
                                      </p:cBhvr>
                                      <p:to>
                                        <p:strVal val="visible"/>
                                      </p:to>
                                    </p:set>
                                    <p:animEffect transition="in" filter="wipe(left)">
                                      <p:cBhvr>
                                        <p:cTn id="2267" dur="500"/>
                                        <p:tgtEl>
                                          <p:spTgt spid="23"/>
                                        </p:tgtEl>
                                      </p:cBhvr>
                                    </p:animEffect>
                                  </p:childTnLst>
                                </p:cTn>
                              </p:par>
                              <p:par>
                                <p:cTn id="2268" presetID="22" presetClass="entr" presetSubtype="8" fill="hold" nodeType="withEffect">
                                  <p:stCondLst>
                                    <p:cond delay="760"/>
                                  </p:stCondLst>
                                  <p:childTnLst>
                                    <p:set>
                                      <p:cBhvr>
                                        <p:cTn id="2269" dur="1" fill="hold">
                                          <p:stCondLst>
                                            <p:cond delay="0"/>
                                          </p:stCondLst>
                                        </p:cTn>
                                        <p:tgtEl>
                                          <p:spTgt spid="34"/>
                                        </p:tgtEl>
                                        <p:attrNameLst>
                                          <p:attrName>style.visibility</p:attrName>
                                        </p:attrNameLst>
                                      </p:cBhvr>
                                      <p:to>
                                        <p:strVal val="visible"/>
                                      </p:to>
                                    </p:set>
                                    <p:animEffect transition="in" filter="wipe(left)">
                                      <p:cBhvr>
                                        <p:cTn id="2270" dur="500"/>
                                        <p:tgtEl>
                                          <p:spTgt spid="34"/>
                                        </p:tgtEl>
                                      </p:cBhvr>
                                    </p:animEffect>
                                  </p:childTnLst>
                                </p:cTn>
                              </p:par>
                              <p:par>
                                <p:cTn id="2271" presetID="22" presetClass="entr" presetSubtype="8" fill="hold" nodeType="withEffect">
                                  <p:stCondLst>
                                    <p:cond delay="830"/>
                                  </p:stCondLst>
                                  <p:childTnLst>
                                    <p:set>
                                      <p:cBhvr>
                                        <p:cTn id="2272" dur="1" fill="hold">
                                          <p:stCondLst>
                                            <p:cond delay="0"/>
                                          </p:stCondLst>
                                        </p:cTn>
                                        <p:tgtEl>
                                          <p:spTgt spid="35"/>
                                        </p:tgtEl>
                                        <p:attrNameLst>
                                          <p:attrName>style.visibility</p:attrName>
                                        </p:attrNameLst>
                                      </p:cBhvr>
                                      <p:to>
                                        <p:strVal val="visible"/>
                                      </p:to>
                                    </p:set>
                                    <p:animEffect transition="in" filter="wipe(left)">
                                      <p:cBhvr>
                                        <p:cTn id="227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En un terreno estratificado, cada frecuencia ve una profundidad distinta</a:t>
            </a:r>
            <a:endParaRPr lang="en-US" sz="2200" dirty="0"/>
          </a:p>
        </p:txBody>
      </p:sp>
      <p:pic>
        <p:nvPicPr>
          <p:cNvPr id="3" name="Perfil Vs [s0]" descr="Perfil de Vs en escalones: 150, 250 y 450 m/s con la profundidad">    </p:cNvPr>
          <p:cNvPicPr>
            <a:picLocks noChangeAspect="1"/>
          </p:cNvPicPr>
          <p:nvPr/>
        </p:nvPicPr>
        <p:blipFill>
          <a:blip r:embed="rId1"/>
          <a:stretch>
            <a:fillRect/>
          </a:stretch>
        </p:blipFill>
        <p:spPr>
          <a:xfrm>
            <a:off x="966136" y="1641589"/>
            <a:ext cx="3525734" cy="2724431"/>
          </a:xfrm>
          <a:prstGeom prst="rect">
            <a:avLst/>
          </a:prstGeom>
        </p:spPr>
      </p:pic>
      <p:sp>
        <p:nvSpPr>
          <p:cNvPr id="4" name="Cuerpo [s0]"/>
          <p:cNvSpPr txBox="1"/>
          <p:nvPr/>
        </p:nvSpPr>
        <p:spPr>
          <a:xfrm>
            <a:off x="4732261" y="1601523"/>
            <a:ext cx="3445604" cy="2243649"/>
          </a:xfrm>
          <a:prstGeom prst="rect">
            <a:avLst/>
          </a:prstGeom>
          <a:noFill/>
          <a:ln/>
        </p:spPr>
        <p:txBody>
          <a:bodyPr wrap="square" lIns="0" tIns="0" rIns="0" bIns="0" rtlCol="0" anchor="t"/>
          <a:lstStyle/>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La rigidez cambia con la profundidad, y con ella la velocidad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Es común que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 aumente (terreno más rocoso), pero no siempre ocurre</a:t>
            </a:r>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La densidad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ρ</m:t>
                    </m:r>
                  </m:oMath>
                </a14:m>
              </mc:Choice>
              <mc:Fallback>
                <a:r>
                  <a:rPr lang="en-US" sz="1440" dirty="0">
                    <a:solidFill>
                      <a:srgbClr val="2D2D2D"/>
                    </a:solidFill>
                    <a:latin typeface="Arial" pitchFamily="34" charset="0"/>
                    <a:ea typeface="Arial" pitchFamily="34" charset="-122"/>
                    <a:cs typeface="Arial" pitchFamily="34" charset="-120"/>
                  </a:rPr>
                  <a:t>ρ</a:t>
                </a:r>
              </mc:Fallback>
            </mc:AlternateContent>
            <a:r>
              <a:rPr lang="en-US" sz="1440" dirty="0">
                <a:solidFill>
                  <a:srgbClr val="2D2D2D"/>
                </a:solidFill>
                <a:latin typeface="Arial" pitchFamily="34" charset="0"/>
                <a:ea typeface="Arial" pitchFamily="34" charset="-122"/>
                <a:cs typeface="Arial" pitchFamily="34" charset="-120"/>
              </a:rPr>
              <a:t> suele variar poco en comparación con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V</m:t>
                        </m:r>
                      </m:e>
                      <m:sub>
                        <m:r>
                          <a:rPr lang="es-ES" sz="1440" i="1">
                            <a:solidFill>
                              <a:srgbClr val="2D2D2D"/>
                            </a:solidFill>
                            <a:latin typeface="Cambria Math" panose="02040503050406030204" pitchFamily="18" charset="0"/>
                          </a:rPr>
                          <m:t xml:space="preserve">s</m:t>
                        </m:r>
                      </m:sub>
                    </m:sSub>
                  </m:oMath>
                </a14:m>
              </mc:Choice>
              <mc:Fallback>
                <a:r>
                  <a:rPr lang="en-US" sz="1440" dirty="0">
                    <a:solidFill>
                      <a:srgbClr val="2D2D2D"/>
                    </a:solidFill>
                    <a:latin typeface="Arial" pitchFamily="34" charset="0"/>
                    <a:ea typeface="Arial" pitchFamily="34" charset="-122"/>
                    <a:cs typeface="Arial" pitchFamily="34" charset="-120"/>
                  </a:rPr>
                  <a:t>Vs</a:t>
                </a:r>
              </mc:Fallback>
            </mc:AlternateContent>
            <a:r>
              <a:rPr lang="en-US" sz="1440" dirty="0">
                <a:solidFill>
                  <a:srgbClr val="2D2D2D"/>
                </a:solidFill>
                <a:latin typeface="Arial" pitchFamily="34" charset="0"/>
                <a:ea typeface="Arial" pitchFamily="34" charset="-122"/>
                <a:cs typeface="Arial" pitchFamily="34" charset="-120"/>
              </a:rPr>
              <a:t>(z), estimamos el módulo de corte máximo:</a:t>
            </a:r>
            <a:endParaRPr lang="en-US" sz="1440" dirty="0"/>
          </a:p>
        </p:txBody>
      </p:sp>
      <p:sp>
        <p:nvSpPr>
          <p:cNvPr id="5" name="Fondo Gmax [s0]"/>
          <p:cNvSpPr/>
          <p:nvPr/>
        </p:nvSpPr>
        <p:spPr>
          <a:xfrm>
            <a:off x="4732261" y="3885237"/>
            <a:ext cx="3445604" cy="60097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 name="Ecuación E_gmaxz [s0]"/>
              <p:cNvSpPr txBox="1"/>
              <p:nvPr/>
            </p:nvSpPr>
            <p:spPr>
              <a:xfrm>
                <a:off x="4732261" y="3885237"/>
                <a:ext cx="3445604" cy="60097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m:rPr>
                              <m:sty m:val="p"/>
                            </m:rPr>
                            <a:rPr lang="es-ES" sz="2200">
                              <a:solidFill>
                                <a:srgbClr val="1F4E79"/>
                              </a:solidFill>
                              <a:latin typeface="Cambria Math" panose="02040503050406030204" pitchFamily="18" charset="0"/>
                            </a:rPr>
                            <m:t xml:space="preserve">max</m:t>
                          </m:r>
                        </m:sub>
                      </m:sSub>
                      <m:r>
                        <a:rPr lang="es-ES" sz="2200" i="1">
                          <a:solidFill>
                            <a:srgbClr val="1F4E79"/>
                          </a:solidFill>
                          <a:latin typeface="Cambria Math" panose="02040503050406030204" pitchFamily="18" charset="0"/>
                        </a:rPr>
                        <m:t xml:space="preserve">(z)=ρ(z)·</m:t>
                      </m:r>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a:rPr lang="es-ES" sz="2200" i="1">
                                  <a:solidFill>
                                    <a:srgbClr val="1F4E79"/>
                                  </a:solidFill>
                                  <a:latin typeface="Cambria Math" panose="02040503050406030204" pitchFamily="18" charset="0"/>
                                </a:rPr>
                                <m:t xml:space="preserve">s</m:t>
                              </m:r>
                            </m:sub>
                          </m:sSub>
                        </m:e>
                        <m:sup>
                          <m:r>
                            <a:rPr lang="es-ES" sz="2200" i="1">
                              <a:solidFill>
                                <a:srgbClr val="1F4E79"/>
                              </a:solidFill>
                              <a:latin typeface="Cambria Math" panose="02040503050406030204" pitchFamily="18" charset="0"/>
                            </a:rPr>
                            <m:t xml:space="preserve">2</m:t>
                          </m:r>
                        </m:sup>
                      </m:sSup>
                      <m:r>
                        <a:rPr lang="es-ES" sz="2200" i="1">
                          <a:solidFill>
                            <a:srgbClr val="1F4E79"/>
                          </a:solidFill>
                          <a:latin typeface="Cambria Math" panose="02040503050406030204" pitchFamily="18" charset="0"/>
                        </a:rPr>
                        <m:t xml:space="preserve">(z)</m:t>
                      </m:r>
                    </m:oMath>
                  </m:oMathPara>
                </a14:m>
                <a:endParaRPr lang="es-ES"/>
              </a:p>
            </p:txBody>
          </p:sp>
        </mc:Choice>
        <mc:Fallback>
          <p:sp>
            <p:nvSpPr>
              <p:cNvPr id="6" name="Ecuación E_gmaxz [s0]"/>
              <p:cNvSpPr txBox="1"/>
              <p:nvPr/>
            </p:nvSpPr>
            <p:spPr>
              <a:xfrm>
                <a:off x="4732261" y="3885237"/>
                <a:ext cx="3445604" cy="600977"/>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Gmax(z) = ρ(z) · Vs²(z)</a:t>
                </a:r>
                <a:endParaRPr lang="en-US" sz="2159" dirty="0"/>
              </a:p>
            </p:txBody>
          </p:sp>
        </mc:Fallback>
      </mc:AlternateContent>
      <p:pic>
        <p:nvPicPr>
          <p:cNvPr id="7" name="Desplazamiento vs profundidad [s1]" descr="Desplazamiento vertical de la onda Rayleigh en función de la profundidad: a 15 Hz queda en la capa superior; a 9,5 Hz llega hasta unos 25 m">    </p:cNvPr>
          <p:cNvPicPr>
            <a:picLocks noChangeAspect="1"/>
          </p:cNvPicPr>
          <p:nvPr/>
        </p:nvPicPr>
        <p:blipFill>
          <a:blip r:embed="rId2"/>
          <a:stretch>
            <a:fillRect/>
          </a:stretch>
        </p:blipFill>
        <p:spPr>
          <a:xfrm>
            <a:off x="886005" y="1601523"/>
            <a:ext cx="4487298" cy="2908730"/>
          </a:xfrm>
          <a:prstGeom prst="rect">
            <a:avLst/>
          </a:prstGeom>
        </p:spPr>
      </p:pic>
      <p:sp>
        <p:nvSpPr>
          <p:cNvPr id="8" name="Fondo lambda [s1]"/>
          <p:cNvSpPr/>
          <p:nvPr/>
        </p:nvSpPr>
        <p:spPr>
          <a:xfrm>
            <a:off x="5533564" y="1681654"/>
            <a:ext cx="2644300"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9" name="Ecuación E_lam [s1]"/>
              <p:cNvSpPr txBox="1"/>
              <p:nvPr/>
            </p:nvSpPr>
            <p:spPr>
              <a:xfrm>
                <a:off x="5533564" y="1681654"/>
                <a:ext cx="2644300"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λ=</m:t>
                      </m:r>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c</m:t>
                          </m:r>
                        </m:num>
                        <m:den>
                          <m:r>
                            <a:rPr lang="es-ES" sz="2500" i="1">
                              <a:solidFill>
                                <a:srgbClr val="1F4E79"/>
                              </a:solidFill>
                              <a:latin typeface="Cambria Math" panose="02040503050406030204" pitchFamily="18" charset="0"/>
                            </a:rPr>
                            <m:t xml:space="preserve">f</m:t>
                          </m:r>
                        </m:den>
                      </m:f>
                    </m:oMath>
                  </m:oMathPara>
                </a14:m>
                <a:endParaRPr lang="es-ES"/>
              </a:p>
            </p:txBody>
          </p:sp>
        </mc:Choice>
        <mc:Fallback>
          <p:sp>
            <p:nvSpPr>
              <p:cNvPr id="9" name="Ecuación E_lam [s1]"/>
              <p:cNvSpPr txBox="1"/>
              <p:nvPr/>
            </p:nvSpPr>
            <p:spPr>
              <a:xfrm>
                <a:off x="5533564" y="1681654"/>
                <a:ext cx="2644300"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λ = c / f</a:t>
                </a:r>
                <a:endParaRPr lang="en-US" sz="2159" dirty="0"/>
              </a:p>
            </p:txBody>
          </p:sp>
        </mc:Fallback>
      </mc:AlternateContent>
      <p:sp>
        <p:nvSpPr>
          <p:cNvPr id="10" name="Cuerpo [s1]"/>
          <p:cNvSpPr txBox="1"/>
          <p:nvPr/>
        </p:nvSpPr>
        <p:spPr>
          <a:xfrm>
            <a:off x="5533564" y="2523022"/>
            <a:ext cx="2644300" cy="1923128"/>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Alta frecuencia: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λ</m:t>
                    </m:r>
                  </m:oMath>
                </a14:m>
              </mc:Choice>
              <mc:Fallback>
                <a:r>
                  <a:rPr lang="en-US" sz="1440" dirty="0">
                    <a:solidFill>
                      <a:srgbClr val="2D2D2D"/>
                    </a:solidFill>
                    <a:latin typeface="Arial" pitchFamily="34" charset="0"/>
                    <a:ea typeface="Arial" pitchFamily="34" charset="-122"/>
                    <a:cs typeface="Arial" pitchFamily="34" charset="-120"/>
                  </a:rPr>
                  <a:t>λ</a:t>
                </a:r>
              </mc:Fallback>
            </mc:AlternateContent>
            <a:r>
              <a:rPr lang="en-US" sz="1440" dirty="0">
                <a:solidFill>
                  <a:srgbClr val="2D2D2D"/>
                </a:solidFill>
                <a:latin typeface="Arial" pitchFamily="34" charset="0"/>
                <a:ea typeface="Arial" pitchFamily="34" charset="-122"/>
                <a:cs typeface="Arial" pitchFamily="34" charset="-120"/>
              </a:rPr>
              <a:t> corta, el movimiento queda en las capas superiores</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Baja frecuencia: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λ</m:t>
                    </m:r>
                  </m:oMath>
                </a14:m>
              </mc:Choice>
              <mc:Fallback>
                <a:r>
                  <a:rPr lang="en-US" sz="1440" dirty="0">
                    <a:solidFill>
                      <a:srgbClr val="2D2D2D"/>
                    </a:solidFill>
                    <a:latin typeface="Arial" pitchFamily="34" charset="0"/>
                    <a:ea typeface="Arial" pitchFamily="34" charset="-122"/>
                    <a:cs typeface="Arial" pitchFamily="34" charset="-120"/>
                  </a:rPr>
                  <a:t>λ</a:t>
                </a:r>
              </mc:Fallback>
            </mc:AlternateContent>
            <a:r>
              <a:rPr lang="en-US" sz="1440" dirty="0">
                <a:solidFill>
                  <a:srgbClr val="2D2D2D"/>
                </a:solidFill>
                <a:latin typeface="Arial" pitchFamily="34" charset="0"/>
                <a:ea typeface="Arial" pitchFamily="34" charset="-122"/>
                <a:cs typeface="Arial" pitchFamily="34" charset="-120"/>
              </a:rPr>
              <a:t> larga, el movimiento llega a capas más profundas</a:t>
            </a:r>
            <a:endParaRPr lang="en-US" sz="1440" dirty="0"/>
          </a:p>
        </p:txBody>
      </p:sp>
      <p:graphicFrame>
        <p:nvGraphicFramePr>
          <p:cNvPr id="11" name="Elemento [s2]" descr=""/>
          <p:cNvGraphicFramePr/>
          <p:nvPr/>
        </p:nvGraphicFramePr>
        <p:xfrm>
          <a:off x="966136" y="1641589"/>
          <a:ext cx="4567428" cy="2804561"/>
        </p:xfrm>
        <a:graphic xmlns:a="http://schemas.openxmlformats.org/drawingml/2006/main">
          <a:graphicData uri="http://schemas.openxmlformats.org/drawingml/2006/chart">
            <c:chart xmlns:c="http://schemas.openxmlformats.org/drawingml/2006/chart" r:id="rId3"/>
          </a:graphicData>
        </a:graphic>
      </p:graphicFrame>
      <p:sp>
        <p:nvSpPr>
          <p:cNvPr id="12" name="Cuerpo [s2]"/>
          <p:cNvSpPr txBox="1"/>
          <p:nvPr/>
        </p:nvSpPr>
        <p:spPr>
          <a:xfrm>
            <a:off x="5693824" y="1721719"/>
            <a:ext cx="2484040" cy="2724431"/>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Este fenómeno se llama dispersión</a:t>
            </a:r>
            <a:endParaRPr lang="en-US" sz="1440" dirty="0"/>
          </a:p>
        </p:txBody>
      </p:sp>
      <p:sp>
        <p:nvSpPr>
          <p:cNvPr id="13" name="Registros [s3]"/>
          <p:cNvSpPr/>
          <p:nvPr/>
        </p:nvSpPr>
        <p:spPr>
          <a:xfrm>
            <a:off x="966136" y="1721719"/>
            <a:ext cx="1602606" cy="761238"/>
          </a:xfrm>
          <a:prstGeom prst="roundRect">
            <a:avLst>
              <a:gd name="adj" fmla="val 9610"/>
            </a:avLst>
          </a:prstGeom>
          <a:solidFill>
            <a:srgbClr val="2E75B6"/>
          </a:solidFill>
          <a:ln w="6350">
            <a:solidFill>
              <a:srgbClr val="2E75B6"/>
            </a:solidFill>
            <a:prstDash val="solid"/>
          </a:ln>
        </p:spPr>
      </p:sp>
      <p:sp>
        <p:nvSpPr>
          <p:cNvPr id="14" name="Elemento [s3]"/>
          <p:cNvSpPr txBox="1"/>
          <p:nvPr/>
        </p:nvSpPr>
        <p:spPr>
          <a:xfrm>
            <a:off x="966136" y="1721719"/>
            <a:ext cx="1602606" cy="761238"/>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Registros de campo</a:t>
            </a:r>
            <a:endParaRPr lang="en-US" sz="1440" dirty="0"/>
          </a:p>
        </p:txBody>
      </p:sp>
      <p:sp>
        <p:nvSpPr>
          <p:cNvPr id="15" name="Curva experimental [s3]"/>
          <p:cNvSpPr/>
          <p:nvPr/>
        </p:nvSpPr>
        <p:spPr>
          <a:xfrm>
            <a:off x="2969394" y="1721719"/>
            <a:ext cx="1923128" cy="761238"/>
          </a:xfrm>
          <a:prstGeom prst="roundRect">
            <a:avLst>
              <a:gd name="adj" fmla="val 9610"/>
            </a:avLst>
          </a:prstGeom>
          <a:solidFill>
            <a:srgbClr val="2E75B6"/>
          </a:solidFill>
          <a:ln w="6350">
            <a:solidFill>
              <a:srgbClr val="2E75B6"/>
            </a:solidFill>
            <a:prstDash val="solid"/>
          </a:ln>
        </p:spPr>
      </p:sp>
      <p:sp>
        <p:nvSpPr>
          <p:cNvPr id="16" name="Elemento [s3]"/>
          <p:cNvSpPr txBox="1"/>
          <p:nvPr/>
        </p:nvSpPr>
        <p:spPr>
          <a:xfrm>
            <a:off x="2969394" y="1721719"/>
            <a:ext cx="1923128" cy="761238"/>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Curva de dispersión experimental</a:t>
            </a:r>
            <a:endParaRPr lang="en-US" sz="1440" dirty="0"/>
          </a:p>
        </p:txBody>
      </p:sp>
      <p:sp>
        <p:nvSpPr>
          <p:cNvPr id="17" name="Comparar [s3]"/>
          <p:cNvSpPr/>
          <p:nvPr/>
        </p:nvSpPr>
        <p:spPr>
          <a:xfrm>
            <a:off x="5293173" y="1721719"/>
            <a:ext cx="1362215" cy="761238"/>
          </a:xfrm>
          <a:prstGeom prst="roundRect">
            <a:avLst>
              <a:gd name="adj" fmla="val 9610"/>
            </a:avLst>
          </a:prstGeom>
          <a:solidFill>
            <a:srgbClr val="1F4E79"/>
          </a:solidFill>
          <a:ln w="6350">
            <a:solidFill>
              <a:srgbClr val="1F4E79"/>
            </a:solidFill>
            <a:prstDash val="solid"/>
          </a:ln>
        </p:spPr>
      </p:sp>
      <p:sp>
        <p:nvSpPr>
          <p:cNvPr id="18" name="Elemento [s3]"/>
          <p:cNvSpPr txBox="1"/>
          <p:nvPr/>
        </p:nvSpPr>
        <p:spPr>
          <a:xfrm>
            <a:off x="5293173" y="1721719"/>
            <a:ext cx="1362215" cy="761238"/>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Comparar</a:t>
            </a:r>
            <a:endParaRPr lang="en-US" sz="1440" dirty="0"/>
          </a:p>
        </p:txBody>
      </p:sp>
      <p:sp>
        <p:nvSpPr>
          <p:cNvPr id="19" name="Perfil final [s3]"/>
          <p:cNvSpPr/>
          <p:nvPr/>
        </p:nvSpPr>
        <p:spPr>
          <a:xfrm>
            <a:off x="6975909" y="1721719"/>
            <a:ext cx="1201955" cy="761238"/>
          </a:xfrm>
          <a:prstGeom prst="roundRect">
            <a:avLst>
              <a:gd name="adj" fmla="val 9610"/>
            </a:avLst>
          </a:prstGeom>
          <a:solidFill>
            <a:srgbClr val="C55A11"/>
          </a:solidFill>
          <a:ln w="6350">
            <a:solidFill>
              <a:srgbClr val="C55A11"/>
            </a:solidFill>
            <a:prstDash val="solid"/>
          </a:ln>
        </p:spPr>
      </p:sp>
      <p:sp>
        <p:nvSpPr>
          <p:cNvPr id="20" name="Elemento [s3]"/>
          <p:cNvSpPr txBox="1"/>
          <p:nvPr/>
        </p:nvSpPr>
        <p:spPr>
          <a:xfrm>
            <a:off x="6975909" y="1721719"/>
            <a:ext cx="1201955" cy="761238"/>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Perfil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FFFFFF"/>
                            </a:solidFill>
                            <a:latin typeface="Cambria Math" panose="02040503050406030204" pitchFamily="18" charset="0"/>
                          </a:rPr>
                          <m:t xml:space="preserve">V</m:t>
                        </m:r>
                      </m:e>
                      <m:sub>
                        <m:r>
                          <a:rPr lang="es-ES" sz="1440" i="1">
                            <a:solidFill>
                              <a:srgbClr val="FFFFFF"/>
                            </a:solidFill>
                            <a:latin typeface="Cambria Math" panose="02040503050406030204" pitchFamily="18" charset="0"/>
                          </a:rPr>
                          <m:t xml:space="preserve">s</m:t>
                        </m:r>
                      </m:sub>
                    </m:sSub>
                  </m:oMath>
                </a14:m>
              </mc:Choice>
              <mc:Fallback>
                <a:r>
                  <a:rPr lang="en-US" sz="1440" b="1" dirty="0">
                    <a:solidFill>
                      <a:srgbClr val="FFFFFF"/>
                    </a:solidFill>
                    <a:latin typeface="Arial" pitchFamily="34" charset="0"/>
                    <a:ea typeface="Arial" pitchFamily="34" charset="-122"/>
                    <a:cs typeface="Arial" pitchFamily="34" charset="-120"/>
                  </a:rPr>
                  <a:t>Vs</a:t>
                </a:r>
              </mc:Fallback>
            </mc:AlternateContent>
            <a:r>
              <a:rPr lang="en-US" sz="1440" b="1" dirty="0">
                <a:solidFill>
                  <a:srgbClr val="FFFFFF"/>
                </a:solidFill>
                <a:latin typeface="Arial" pitchFamily="34" charset="0"/>
                <a:ea typeface="Arial" pitchFamily="34" charset="-122"/>
                <a:cs typeface="Arial" pitchFamily="34" charset="-120"/>
              </a:rPr>
              <a:t>(z)</a:t>
            </a:r>
            <a:endParaRPr lang="en-US" sz="1440" dirty="0"/>
          </a:p>
        </p:txBody>
      </p:sp>
      <p:sp>
        <p:nvSpPr>
          <p:cNvPr id="21" name="Elemento [s3]"/>
          <p:cNvSpPr/>
          <p:nvPr/>
        </p:nvSpPr>
        <p:spPr>
          <a:xfrm>
            <a:off x="2568742" y="2102338"/>
            <a:ext cx="400652" cy="0"/>
          </a:xfrm>
          <a:prstGeom prst="line">
            <a:avLst/>
          </a:prstGeom>
          <a:noFill/>
          <a:ln w="27823">
            <a:solidFill>
              <a:srgbClr val="1F4E79"/>
            </a:solidFill>
            <a:prstDash val="solid"/>
            <a:tailEnd type="triangle"/>
          </a:ln>
        </p:spPr>
      </p:sp>
      <p:sp>
        <p:nvSpPr>
          <p:cNvPr id="22" name="Elemento [s3]"/>
          <p:cNvSpPr/>
          <p:nvPr/>
        </p:nvSpPr>
        <p:spPr>
          <a:xfrm>
            <a:off x="4892521" y="2102338"/>
            <a:ext cx="400652" cy="0"/>
          </a:xfrm>
          <a:prstGeom prst="line">
            <a:avLst/>
          </a:prstGeom>
          <a:noFill/>
          <a:ln w="27823">
            <a:solidFill>
              <a:srgbClr val="1F4E79"/>
            </a:solidFill>
            <a:prstDash val="solid"/>
            <a:tailEnd type="triangle"/>
          </a:ln>
        </p:spPr>
      </p:sp>
      <p:sp>
        <p:nvSpPr>
          <p:cNvPr id="23" name="Elemento [s3]"/>
          <p:cNvSpPr/>
          <p:nvPr/>
        </p:nvSpPr>
        <p:spPr>
          <a:xfrm>
            <a:off x="6655388" y="2102338"/>
            <a:ext cx="320521" cy="0"/>
          </a:xfrm>
          <a:prstGeom prst="line">
            <a:avLst/>
          </a:prstGeom>
          <a:noFill/>
          <a:ln w="27823">
            <a:solidFill>
              <a:srgbClr val="C55A11"/>
            </a:solidFill>
            <a:prstDash val="solid"/>
            <a:tailEnd type="triangle"/>
          </a:ln>
        </p:spPr>
      </p:sp>
      <p:sp>
        <p:nvSpPr>
          <p:cNvPr id="24" name="Elemento [s3]"/>
          <p:cNvSpPr txBox="1"/>
          <p:nvPr/>
        </p:nvSpPr>
        <p:spPr>
          <a:xfrm>
            <a:off x="6535193" y="1441263"/>
            <a:ext cx="961564" cy="240391"/>
          </a:xfrm>
          <a:prstGeom prst="rect">
            <a:avLst/>
          </a:prstGeom>
          <a:noFill/>
          <a:ln/>
        </p:spPr>
        <p:txBody>
          <a:bodyPr wrap="square" lIns="0" tIns="0" rIns="0" bIns="0" rtlCol="0" anchor="t"/>
          <a:lstStyle/>
          <a:p>
            <a:pPr algn="ctr" indent="0" marL="0">
              <a:buNone/>
            </a:pPr>
            <a:r>
              <a:rPr lang="en-US" sz="1260" dirty="0">
                <a:solidFill>
                  <a:srgbClr val="C55A11"/>
                </a:solidFill>
                <a:latin typeface="Arial" pitchFamily="34" charset="0"/>
                <a:ea typeface="Arial" pitchFamily="34" charset="-122"/>
                <a:cs typeface="Arial" pitchFamily="34" charset="-120"/>
              </a:rPr>
              <a:t>coinciden</a:t>
            </a:r>
            <a:endParaRPr lang="en-US" sz="1260" dirty="0"/>
          </a:p>
        </p:txBody>
      </p:sp>
      <p:sp>
        <p:nvSpPr>
          <p:cNvPr id="25" name="Modelo [s3]"/>
          <p:cNvSpPr/>
          <p:nvPr/>
        </p:nvSpPr>
        <p:spPr>
          <a:xfrm>
            <a:off x="966136" y="3123999"/>
            <a:ext cx="1602606" cy="761238"/>
          </a:xfrm>
          <a:prstGeom prst="roundRect">
            <a:avLst>
              <a:gd name="adj" fmla="val 9610"/>
            </a:avLst>
          </a:prstGeom>
          <a:solidFill>
            <a:srgbClr val="6B6B6B"/>
          </a:solidFill>
          <a:ln w="6350">
            <a:solidFill>
              <a:srgbClr val="6B6B6B"/>
            </a:solidFill>
            <a:prstDash val="solid"/>
          </a:ln>
        </p:spPr>
      </p:sp>
      <p:sp>
        <p:nvSpPr>
          <p:cNvPr id="26" name="Elemento [s3]"/>
          <p:cNvSpPr txBox="1"/>
          <p:nvPr/>
        </p:nvSpPr>
        <p:spPr>
          <a:xfrm>
            <a:off x="966136" y="3123999"/>
            <a:ext cx="1602606" cy="761238"/>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Modelo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FFFFFF"/>
                            </a:solidFill>
                            <a:latin typeface="Cambria Math" panose="02040503050406030204" pitchFamily="18" charset="0"/>
                          </a:rPr>
                          <m:t xml:space="preserve">V</m:t>
                        </m:r>
                      </m:e>
                      <m:sub>
                        <m:r>
                          <a:rPr lang="es-ES" sz="1440" i="1">
                            <a:solidFill>
                              <a:srgbClr val="FFFFFF"/>
                            </a:solidFill>
                            <a:latin typeface="Cambria Math" panose="02040503050406030204" pitchFamily="18" charset="0"/>
                          </a:rPr>
                          <m:t xml:space="preserve">s</m:t>
                        </m:r>
                      </m:sub>
                    </m:sSub>
                  </m:oMath>
                </a14:m>
              </mc:Choice>
              <mc:Fallback>
                <a:r>
                  <a:rPr lang="en-US" sz="1440" b="1" dirty="0">
                    <a:solidFill>
                      <a:srgbClr val="FFFFFF"/>
                    </a:solidFill>
                    <a:latin typeface="Arial" pitchFamily="34" charset="0"/>
                    <a:ea typeface="Arial" pitchFamily="34" charset="-122"/>
                    <a:cs typeface="Arial" pitchFamily="34" charset="-120"/>
                  </a:rPr>
                  <a:t>Vs</a:t>
                </a:r>
              </mc:Fallback>
            </mc:AlternateContent>
            <a:r>
              <a:rPr lang="en-US" sz="1440" b="1" dirty="0">
                <a:solidFill>
                  <a:srgbClr val="FFFFFF"/>
                </a:solidFill>
                <a:latin typeface="Arial" pitchFamily="34" charset="0"/>
                <a:ea typeface="Arial" pitchFamily="34" charset="-122"/>
                <a:cs typeface="Arial" pitchFamily="34" charset="-120"/>
              </a:rPr>
              <a:t>(z) propuesto</a:t>
            </a:r>
            <a:endParaRPr lang="en-US" sz="1440" dirty="0"/>
          </a:p>
        </p:txBody>
      </p:sp>
      <p:sp>
        <p:nvSpPr>
          <p:cNvPr id="27" name="Curva teórica [s3]"/>
          <p:cNvSpPr/>
          <p:nvPr/>
        </p:nvSpPr>
        <p:spPr>
          <a:xfrm>
            <a:off x="2969394" y="3123999"/>
            <a:ext cx="1923128" cy="761238"/>
          </a:xfrm>
          <a:prstGeom prst="roundRect">
            <a:avLst>
              <a:gd name="adj" fmla="val 9610"/>
            </a:avLst>
          </a:prstGeom>
          <a:solidFill>
            <a:srgbClr val="6B6B6B"/>
          </a:solidFill>
          <a:ln w="6350">
            <a:solidFill>
              <a:srgbClr val="6B6B6B"/>
            </a:solidFill>
            <a:prstDash val="solid"/>
          </a:ln>
        </p:spPr>
      </p:sp>
      <p:sp>
        <p:nvSpPr>
          <p:cNvPr id="28" name="Elemento [s3]"/>
          <p:cNvSpPr txBox="1"/>
          <p:nvPr/>
        </p:nvSpPr>
        <p:spPr>
          <a:xfrm>
            <a:off x="2969394" y="3123999"/>
            <a:ext cx="1923128" cy="761238"/>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Curva teórica del modelo</a:t>
            </a:r>
            <a:endParaRPr lang="en-US" sz="1440" dirty="0"/>
          </a:p>
        </p:txBody>
      </p:sp>
      <p:sp>
        <p:nvSpPr>
          <p:cNvPr id="29" name="Elemento [s3]"/>
          <p:cNvSpPr/>
          <p:nvPr/>
        </p:nvSpPr>
        <p:spPr>
          <a:xfrm>
            <a:off x="2568742" y="3504618"/>
            <a:ext cx="400652" cy="0"/>
          </a:xfrm>
          <a:prstGeom prst="line">
            <a:avLst/>
          </a:prstGeom>
          <a:noFill/>
          <a:ln w="27823">
            <a:solidFill>
              <a:srgbClr val="6B6B6B"/>
            </a:solidFill>
            <a:prstDash val="solid"/>
            <a:tailEnd type="triangle"/>
          </a:ln>
        </p:spPr>
      </p:sp>
      <p:sp>
        <p:nvSpPr>
          <p:cNvPr id="30" name="Elemento [s3]"/>
          <p:cNvSpPr/>
          <p:nvPr/>
        </p:nvSpPr>
        <p:spPr>
          <a:xfrm>
            <a:off x="4892521" y="3504618"/>
            <a:ext cx="560912" cy="0"/>
          </a:xfrm>
          <a:prstGeom prst="line">
            <a:avLst/>
          </a:prstGeom>
          <a:noFill/>
          <a:ln w="27823">
            <a:solidFill>
              <a:srgbClr val="6B6B6B"/>
            </a:solidFill>
            <a:prstDash val="solid"/>
          </a:ln>
        </p:spPr>
      </p:sp>
      <p:sp>
        <p:nvSpPr>
          <p:cNvPr id="31" name="Elemento [s3]"/>
          <p:cNvSpPr/>
          <p:nvPr/>
        </p:nvSpPr>
        <p:spPr>
          <a:xfrm flipV="1">
            <a:off x="5453433" y="2482957"/>
            <a:ext cx="0" cy="1021662"/>
          </a:xfrm>
          <a:prstGeom prst="line">
            <a:avLst/>
          </a:prstGeom>
          <a:noFill/>
          <a:ln w="27823">
            <a:solidFill>
              <a:srgbClr val="6B6B6B"/>
            </a:solidFill>
            <a:prstDash val="solid"/>
            <a:tailEnd type="triangle"/>
          </a:ln>
        </p:spPr>
      </p:sp>
      <p:sp>
        <p:nvSpPr>
          <p:cNvPr id="32" name="Elemento [s3]"/>
          <p:cNvSpPr txBox="1"/>
          <p:nvPr/>
        </p:nvSpPr>
        <p:spPr>
          <a:xfrm>
            <a:off x="1767439" y="4285889"/>
            <a:ext cx="4647558" cy="240391"/>
          </a:xfrm>
          <a:prstGeom prst="rect">
            <a:avLst/>
          </a:prstGeom>
          <a:noFill/>
          <a:ln/>
        </p:spPr>
        <p:txBody>
          <a:bodyPr wrap="square" lIns="0" tIns="0" rIns="0" bIns="0" rtlCol="0" anchor="t"/>
          <a:lstStyle/>
          <a:p>
            <a:pPr algn="ctr" indent="0" marL="0">
              <a:buNone/>
            </a:pPr>
            <a:r>
              <a:rPr lang="en-US" sz="1440" b="1" dirty="0">
                <a:solidFill>
                  <a:srgbClr val="C55A11"/>
                </a:solidFill>
                <a:latin typeface="Arial" pitchFamily="34" charset="0"/>
                <a:ea typeface="Arial" pitchFamily="34" charset="-122"/>
                <a:cs typeface="Arial" pitchFamily="34" charset="-120"/>
              </a:rPr>
              <a:t>No coinciden: se modifica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C55A11"/>
                            </a:solidFill>
                            <a:latin typeface="Cambria Math" panose="02040503050406030204" pitchFamily="18" charset="0"/>
                          </a:rPr>
                          <m:t xml:space="preserve">V</m:t>
                        </m:r>
                      </m:e>
                      <m:sub>
                        <m:r>
                          <a:rPr lang="es-ES" sz="1440" i="1">
                            <a:solidFill>
                              <a:srgbClr val="C55A11"/>
                            </a:solidFill>
                            <a:latin typeface="Cambria Math" panose="02040503050406030204" pitchFamily="18" charset="0"/>
                          </a:rPr>
                          <m:t xml:space="preserve">s</m:t>
                        </m:r>
                      </m:sub>
                    </m:sSub>
                  </m:oMath>
                </a14:m>
              </mc:Choice>
              <mc:Fallback>
                <a:r>
                  <a:rPr lang="en-US" sz="1440" b="1" dirty="0">
                    <a:solidFill>
                      <a:srgbClr val="C55A11"/>
                    </a:solidFill>
                    <a:latin typeface="Arial" pitchFamily="34" charset="0"/>
                    <a:ea typeface="Arial" pitchFamily="34" charset="-122"/>
                    <a:cs typeface="Arial" pitchFamily="34" charset="-120"/>
                  </a:rPr>
                  <a:t>Vs</a:t>
                </a:r>
              </mc:Fallback>
            </mc:AlternateContent>
            <a:r>
              <a:rPr lang="en-US" sz="1440" b="1" dirty="0">
                <a:solidFill>
                  <a:srgbClr val="C55A11"/>
                </a:solidFill>
                <a:latin typeface="Arial" pitchFamily="34" charset="0"/>
                <a:ea typeface="Arial" pitchFamily="34" charset="-122"/>
                <a:cs typeface="Arial" pitchFamily="34" charset="-120"/>
              </a:rPr>
              <a:t>(z)</a:t>
            </a:r>
            <a:endParaRPr lang="en-US" sz="1440" dirty="0"/>
          </a:p>
        </p:txBody>
      </p:sp>
      <p:sp>
        <p:nvSpPr>
          <p:cNvPr id="33" name="Elemento [s3]"/>
          <p:cNvSpPr/>
          <p:nvPr/>
        </p:nvSpPr>
        <p:spPr>
          <a:xfrm>
            <a:off x="6414997" y="2482957"/>
            <a:ext cx="0" cy="1762867"/>
          </a:xfrm>
          <a:prstGeom prst="line">
            <a:avLst/>
          </a:prstGeom>
          <a:noFill/>
          <a:ln w="27823">
            <a:solidFill>
              <a:srgbClr val="C55A11"/>
            </a:solidFill>
            <a:prstDash val="solid"/>
          </a:ln>
        </p:spPr>
      </p:sp>
      <p:sp>
        <p:nvSpPr>
          <p:cNvPr id="34" name="Elemento [s3]"/>
          <p:cNvSpPr/>
          <p:nvPr/>
        </p:nvSpPr>
        <p:spPr>
          <a:xfrm>
            <a:off x="1767439" y="4245824"/>
            <a:ext cx="4647558" cy="0"/>
          </a:xfrm>
          <a:prstGeom prst="line">
            <a:avLst/>
          </a:prstGeom>
          <a:noFill/>
          <a:ln w="27823">
            <a:solidFill>
              <a:srgbClr val="C55A11"/>
            </a:solidFill>
            <a:prstDash val="solid"/>
          </a:ln>
        </p:spPr>
      </p:sp>
      <p:sp>
        <p:nvSpPr>
          <p:cNvPr id="35" name="Elemento [s3]"/>
          <p:cNvSpPr/>
          <p:nvPr/>
        </p:nvSpPr>
        <p:spPr>
          <a:xfrm>
            <a:off x="1767439" y="3885237"/>
            <a:ext cx="0" cy="360586"/>
          </a:xfrm>
          <a:prstGeom prst="line">
            <a:avLst/>
          </a:prstGeom>
          <a:noFill/>
          <a:ln w="27823">
            <a:solidFill>
              <a:srgbClr val="C55A11"/>
            </a:solidFill>
            <a:prstDash val="solid"/>
            <a:headEnd type="triangle"/>
          </a:ln>
        </p:spPr>
      </p:sp>
      <p:sp>
        <p:nvSpPr>
          <p:cNvPr id="36" name="Cabecera Capas profundas [s4]"/>
          <p:cNvSpPr/>
          <p:nvPr/>
        </p:nvSpPr>
        <p:spPr>
          <a:xfrm>
            <a:off x="966136" y="1681654"/>
            <a:ext cx="3525734" cy="400652"/>
          </a:xfrm>
          <a:prstGeom prst="rect">
            <a:avLst/>
          </a:prstGeom>
          <a:solidFill>
            <a:srgbClr val="1F4E79"/>
          </a:solidFill>
          <a:ln w="6350">
            <a:solidFill>
              <a:srgbClr val="1F4E79"/>
            </a:solidFill>
            <a:prstDash val="solid"/>
          </a:ln>
        </p:spPr>
      </p:sp>
      <p:sp>
        <p:nvSpPr>
          <p:cNvPr id="37" name="Elemento [s4]"/>
          <p:cNvSpPr txBox="1"/>
          <p:nvPr/>
        </p:nvSpPr>
        <p:spPr>
          <a:xfrm>
            <a:off x="966136" y="1681654"/>
            <a:ext cx="3525734" cy="4006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Capas profundas</a:t>
            </a:r>
            <a:endParaRPr lang="en-US" sz="1800" dirty="0"/>
          </a:p>
        </p:txBody>
      </p:sp>
      <p:sp>
        <p:nvSpPr>
          <p:cNvPr id="38" name="Tarjeta Capas profundas [s4]"/>
          <p:cNvSpPr/>
          <p:nvPr/>
        </p:nvSpPr>
        <p:spPr>
          <a:xfrm>
            <a:off x="966136" y="2082305"/>
            <a:ext cx="3525734" cy="801303"/>
          </a:xfrm>
          <a:prstGeom prst="rect">
            <a:avLst/>
          </a:prstGeom>
          <a:solidFill>
            <a:srgbClr val="FFFFFF"/>
          </a:solidFill>
          <a:ln w="16694">
            <a:solidFill>
              <a:srgbClr val="1F4E79"/>
            </a:solidFill>
            <a:prstDash val="solid"/>
          </a:ln>
        </p:spPr>
      </p:sp>
      <p:sp>
        <p:nvSpPr>
          <p:cNvPr id="39" name="Elemento [s4]"/>
          <p:cNvSpPr txBox="1"/>
          <p:nvPr/>
        </p:nvSpPr>
        <p:spPr>
          <a:xfrm>
            <a:off x="1086331" y="2122371"/>
            <a:ext cx="3285343" cy="721173"/>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Dependen de las bajas frecuencias y se resuelven peor</a:t>
            </a:r>
            <a:endParaRPr lang="en-US" sz="1620" dirty="0"/>
          </a:p>
        </p:txBody>
      </p:sp>
      <p:sp>
        <p:nvSpPr>
          <p:cNvPr id="40" name="Cabecera Supuestos [s4]"/>
          <p:cNvSpPr/>
          <p:nvPr/>
        </p:nvSpPr>
        <p:spPr>
          <a:xfrm>
            <a:off x="4652130" y="1681654"/>
            <a:ext cx="3525734" cy="400652"/>
          </a:xfrm>
          <a:prstGeom prst="rect">
            <a:avLst/>
          </a:prstGeom>
          <a:solidFill>
            <a:srgbClr val="1F4E79"/>
          </a:solidFill>
          <a:ln w="6350">
            <a:solidFill>
              <a:srgbClr val="1F4E79"/>
            </a:solidFill>
            <a:prstDash val="solid"/>
          </a:ln>
        </p:spPr>
      </p:sp>
      <p:sp>
        <p:nvSpPr>
          <p:cNvPr id="41" name="Elemento [s4]"/>
          <p:cNvSpPr txBox="1"/>
          <p:nvPr/>
        </p:nvSpPr>
        <p:spPr>
          <a:xfrm>
            <a:off x="4652130" y="1681654"/>
            <a:ext cx="3525734" cy="4006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Supuestos</a:t>
            </a:r>
            <a:endParaRPr lang="en-US" sz="1800" dirty="0"/>
          </a:p>
        </p:txBody>
      </p:sp>
      <p:sp>
        <p:nvSpPr>
          <p:cNvPr id="42" name="Tarjeta Supuestos [s4]"/>
          <p:cNvSpPr/>
          <p:nvPr/>
        </p:nvSpPr>
        <p:spPr>
          <a:xfrm>
            <a:off x="4652130" y="2082305"/>
            <a:ext cx="3525734" cy="801303"/>
          </a:xfrm>
          <a:prstGeom prst="rect">
            <a:avLst/>
          </a:prstGeom>
          <a:solidFill>
            <a:srgbClr val="FFFFFF"/>
          </a:solidFill>
          <a:ln w="16694">
            <a:solidFill>
              <a:srgbClr val="1F4E79"/>
            </a:solidFill>
            <a:prstDash val="solid"/>
          </a:ln>
        </p:spPr>
      </p:sp>
      <p:sp>
        <p:nvSpPr>
          <p:cNvPr id="43" name="Elemento [s4]"/>
          <p:cNvSpPr txBox="1"/>
          <p:nvPr/>
        </p:nvSpPr>
        <p:spPr>
          <a:xfrm>
            <a:off x="4772326" y="2122371"/>
            <a:ext cx="3285343" cy="721173"/>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Densidad </a:t>
            </a:r>
            <mc:AlternateContent xmlns:mc="http://schemas.openxmlformats.org/markup-compatibility/2006">
              <mc:Choice xmlns:a14="http://schemas.microsoft.com/office/drawing/2010/main" Requires="a14">
                <a14:m>
                  <m:oMath xmlns:m="http://schemas.openxmlformats.org/officeDocument/2006/math">
                    <m:r>
                      <a:rPr lang="es-ES" sz="1620" i="1">
                        <a:solidFill>
                          <a:srgbClr val="2D2D2D"/>
                        </a:solidFill>
                        <a:latin typeface="Cambria Math" panose="02040503050406030204" pitchFamily="18" charset="0"/>
                      </a:rPr>
                      <m:t xml:space="preserve">ρ</m:t>
                    </m:r>
                  </m:oMath>
                </a14:m>
              </mc:Choice>
              <mc:Fallback>
                <a:r>
                  <a:rPr lang="en-US" sz="1620" dirty="0">
                    <a:solidFill>
                      <a:srgbClr val="2D2D2D"/>
                    </a:solidFill>
                    <a:latin typeface="Arial" pitchFamily="34" charset="0"/>
                    <a:ea typeface="Arial" pitchFamily="34" charset="-122"/>
                    <a:cs typeface="Arial" pitchFamily="34" charset="-120"/>
                  </a:rPr>
                  <a:t>ρ</a:t>
                </a:r>
              </mc:Fallback>
            </mc:AlternateContent>
            <a:r>
              <a:rPr lang="en-US" sz="1620" dirty="0">
                <a:solidFill>
                  <a:srgbClr val="2D2D2D"/>
                </a:solidFill>
                <a:latin typeface="Arial" pitchFamily="34" charset="0"/>
                <a:ea typeface="Arial" pitchFamily="34" charset="-122"/>
                <a:cs typeface="Arial" pitchFamily="34" charset="-120"/>
              </a:rPr>
              <a:t>, número de capas y modelo inicial se suponen</a:t>
            </a:r>
            <a:endParaRPr lang="en-US" sz="1620" dirty="0"/>
          </a:p>
        </p:txBody>
      </p:sp>
      <p:sp>
        <p:nvSpPr>
          <p:cNvPr id="44" name="Cabecera No unicidad [s4]"/>
          <p:cNvSpPr/>
          <p:nvPr/>
        </p:nvSpPr>
        <p:spPr>
          <a:xfrm>
            <a:off x="966136" y="3043869"/>
            <a:ext cx="3525734" cy="400652"/>
          </a:xfrm>
          <a:prstGeom prst="rect">
            <a:avLst/>
          </a:prstGeom>
          <a:solidFill>
            <a:srgbClr val="1F4E79"/>
          </a:solidFill>
          <a:ln w="6350">
            <a:solidFill>
              <a:srgbClr val="1F4E79"/>
            </a:solidFill>
            <a:prstDash val="solid"/>
          </a:ln>
        </p:spPr>
      </p:sp>
      <p:sp>
        <p:nvSpPr>
          <p:cNvPr id="45" name="Elemento [s4]"/>
          <p:cNvSpPr txBox="1"/>
          <p:nvPr/>
        </p:nvSpPr>
        <p:spPr>
          <a:xfrm>
            <a:off x="966136" y="3043869"/>
            <a:ext cx="3525734" cy="4006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No unicidad</a:t>
            </a:r>
            <a:endParaRPr lang="en-US" sz="1800" dirty="0"/>
          </a:p>
        </p:txBody>
      </p:sp>
      <p:sp>
        <p:nvSpPr>
          <p:cNvPr id="46" name="Tarjeta No unicidad [s4]"/>
          <p:cNvSpPr/>
          <p:nvPr/>
        </p:nvSpPr>
        <p:spPr>
          <a:xfrm>
            <a:off x="966136" y="3444521"/>
            <a:ext cx="3525734" cy="801303"/>
          </a:xfrm>
          <a:prstGeom prst="rect">
            <a:avLst/>
          </a:prstGeom>
          <a:solidFill>
            <a:srgbClr val="FFFFFF"/>
          </a:solidFill>
          <a:ln w="16694">
            <a:solidFill>
              <a:srgbClr val="1F4E79"/>
            </a:solidFill>
            <a:prstDash val="solid"/>
          </a:ln>
        </p:spPr>
      </p:sp>
      <p:sp>
        <p:nvSpPr>
          <p:cNvPr id="47" name="Elemento [s4]"/>
          <p:cNvSpPr txBox="1"/>
          <p:nvPr/>
        </p:nvSpPr>
        <p:spPr>
          <a:xfrm>
            <a:off x="1086331" y="3484586"/>
            <a:ext cx="3285343" cy="721173"/>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Perfiles distintos pueden dar curvas casi iguales</a:t>
            </a:r>
            <a:endParaRPr lang="en-US" sz="1620" dirty="0"/>
          </a:p>
        </p:txBody>
      </p:sp>
      <p:sp>
        <p:nvSpPr>
          <p:cNvPr id="48" name="Cabecera Otras mediciones [s4]"/>
          <p:cNvSpPr/>
          <p:nvPr/>
        </p:nvSpPr>
        <p:spPr>
          <a:xfrm>
            <a:off x="4652130" y="3043869"/>
            <a:ext cx="3525734" cy="400652"/>
          </a:xfrm>
          <a:prstGeom prst="rect">
            <a:avLst/>
          </a:prstGeom>
          <a:solidFill>
            <a:srgbClr val="C55A11"/>
          </a:solidFill>
          <a:ln w="6350">
            <a:solidFill>
              <a:srgbClr val="C55A11"/>
            </a:solidFill>
            <a:prstDash val="solid"/>
          </a:ln>
        </p:spPr>
      </p:sp>
      <p:sp>
        <p:nvSpPr>
          <p:cNvPr id="49" name="Elemento [s4]"/>
          <p:cNvSpPr txBox="1"/>
          <p:nvPr/>
        </p:nvSpPr>
        <p:spPr>
          <a:xfrm>
            <a:off x="4652130" y="3043869"/>
            <a:ext cx="3525734" cy="40065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Otras mediciones</a:t>
            </a:r>
            <a:endParaRPr lang="en-US" sz="1800" dirty="0"/>
          </a:p>
        </p:txBody>
      </p:sp>
      <p:sp>
        <p:nvSpPr>
          <p:cNvPr id="50" name="Tarjeta Otras mediciones [s4]"/>
          <p:cNvSpPr/>
          <p:nvPr/>
        </p:nvSpPr>
        <p:spPr>
          <a:xfrm>
            <a:off x="4652130" y="3444521"/>
            <a:ext cx="3525734" cy="801303"/>
          </a:xfrm>
          <a:prstGeom prst="rect">
            <a:avLst/>
          </a:prstGeom>
          <a:solidFill>
            <a:srgbClr val="FFFFFF"/>
          </a:solidFill>
          <a:ln w="16694">
            <a:solidFill>
              <a:srgbClr val="C55A11"/>
            </a:solidFill>
            <a:prstDash val="solid"/>
          </a:ln>
        </p:spPr>
      </p:sp>
      <p:sp>
        <p:nvSpPr>
          <p:cNvPr id="51" name="Elemento [s4]"/>
          <p:cNvSpPr txBox="1"/>
          <p:nvPr/>
        </p:nvSpPr>
        <p:spPr>
          <a:xfrm>
            <a:off x="4772326" y="3484586"/>
            <a:ext cx="3285343" cy="721173"/>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620" dirty="0"/>
          </a:p>
        </p:txBody>
      </p:sp>
      <p:sp>
        <p:nvSpPr>
          <p:cNvPr id="52"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un terreno estratificado, la rigidez y la velocidad de corte cambian con la profundidad</a:t>
            </a:r>
            <a:endParaRPr lang="en-US" sz="1400" dirty="0"/>
          </a:p>
        </p:txBody>
      </p:sp>
      <p:sp>
        <p:nvSpPr>
          <p:cNvPr id="53"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Modelo de ejemplo propio (ilustrativo): 3 capas,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ν</m:t>
                    </m:r>
                    <m:r>
                      <m:rPr>
                        <m:sty m:val="p"/>
                      </m:rPr>
                      <a:rPr lang="es-ES" sz="800">
                        <a:solidFill>
                          <a:srgbClr val="6B6B6B"/>
                        </a:solidFill>
                        <a:latin typeface="Cambria Math" panose="02040503050406030204" pitchFamily="18" charset="0"/>
                      </a:rPr>
                      <m:t xml:space="preserve">=</m:t>
                    </m:r>
                    <m:r>
                      <m:rPr>
                        <m:sty m:val="p"/>
                      </m:rPr>
                      <a:rPr lang="es-ES" sz="800">
                        <a:solidFill>
                          <a:srgbClr val="6B6B6B"/>
                        </a:solidFill>
                        <a:latin typeface="Cambria Math" panose="02040503050406030204" pitchFamily="18" charset="0"/>
                      </a:rPr>
                      <m:t xml:space="preserve">0,3</m:t>
                    </m:r>
                  </m:oMath>
                </a14:m>
              </mc:Choice>
              <mc:Fallback>
                <a:r>
                  <a:rPr lang="en-US" sz="800" dirty="0">
                    <a:solidFill>
                      <a:srgbClr val="6B6B6B"/>
                    </a:solidFill>
                    <a:latin typeface="Arial" pitchFamily="34" charset="0"/>
                    <a:ea typeface="Arial" pitchFamily="34" charset="-122"/>
                    <a:cs typeface="Arial" pitchFamily="34" charset="-120"/>
                  </a:rPr>
                  <a:t>ν = 0,3</a:t>
                </a:r>
              </mc:Fallback>
            </mc:AlternateContent>
            <a:r>
              <a:rPr lang="en-US" sz="800" dirty="0">
                <a:solidFill>
                  <a:srgbClr val="6B6B6B"/>
                </a:solidFill>
                <a:latin typeface="Arial" pitchFamily="34" charset="0"/>
                <a:ea typeface="Arial" pitchFamily="34" charset="-122"/>
                <a:cs typeface="Arial" pitchFamily="34" charset="-120"/>
              </a:rPr>
              <a:t>. Variación de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ρ</m:t>
                    </m:r>
                  </m:oMath>
                </a14:m>
              </mc:Choice>
              <mc:Fallback>
                <a:r>
                  <a:rPr lang="en-US" sz="800" dirty="0">
                    <a:solidFill>
                      <a:srgbClr val="6B6B6B"/>
                    </a:solidFill>
                    <a:latin typeface="Arial" pitchFamily="34" charset="0"/>
                    <a:ea typeface="Arial" pitchFamily="34" charset="-122"/>
                    <a:cs typeface="Arial" pitchFamily="34" charset="-120"/>
                  </a:rPr>
                  <a:t>ρ</a:t>
                </a:r>
              </mc:Fallback>
            </mc:AlternateContent>
            <a:r>
              <a:rPr lang="en-US" sz="800" dirty="0">
                <a:solidFill>
                  <a:srgbClr val="6B6B6B"/>
                </a:solidFill>
                <a:latin typeface="Arial" pitchFamily="34" charset="0"/>
                <a:ea typeface="Arial" pitchFamily="34" charset="-122"/>
                <a:cs typeface="Arial" pitchFamily="34" charset="-120"/>
              </a:rPr>
              <a:t>: Kramer (1996), por confirmar página.</a:t>
            </a:r>
            <a:endParaRPr lang="en-US" sz="800" dirty="0"/>
          </a:p>
        </p:txBody>
      </p:sp>
      <p:sp>
        <p:nvSpPr>
          <p:cNvPr id="54"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longitud de onda «ve» una profundidad distinta del terreno</a:t>
            </a:r>
            <a:endParaRPr lang="en-US" sz="1400" dirty="0"/>
          </a:p>
        </p:txBody>
      </p:sp>
      <p:sp>
        <p:nvSpPr>
          <p:cNvPr id="55"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disba (Luu, 2021), modelo de la slide 39. Idea: Foti et al. (2014), fig. 2.13 (por confirmar).</a:t>
            </a:r>
            <a:endParaRPr lang="en-US" sz="800" dirty="0"/>
          </a:p>
        </p:txBody>
      </p:sp>
      <p:sp>
        <p:nvSpPr>
          <p:cNvPr id="56"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1400" dirty="0"/>
          </a:p>
        </p:txBody>
      </p:sp>
      <p:sp>
        <p:nvSpPr>
          <p:cNvPr id="57"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disba (Luu, 2021), modelo de la slide 39.</a:t>
            </a:r>
            <a:endParaRPr lang="en-US" sz="800" dirty="0"/>
          </a:p>
        </p:txBody>
      </p:sp>
      <p:sp>
        <p:nvSpPr>
          <p:cNvPr id="58"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dispersión permite reconstruir un modelo estratificado compatible con las mediciones de campo</a:t>
            </a:r>
            <a:endParaRPr lang="en-US" sz="1400" dirty="0"/>
          </a:p>
        </p:txBody>
      </p:sp>
      <p:sp>
        <p:nvSpPr>
          <p:cNvPr id="59"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el procedimiento general de inversión (Foti et al., 2014, a confirmar).</a:t>
            </a:r>
            <a:endParaRPr lang="en-US" sz="800" dirty="0"/>
          </a:p>
        </p:txBody>
      </p:sp>
      <p:sp>
        <p:nvSpPr>
          <p:cNvPr id="60"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inversión tiene límites: depende de supuestos y se apoya en otras mediciones</a:t>
            </a:r>
            <a:endParaRPr lang="en-US" sz="1400" dirty="0"/>
          </a:p>
        </p:txBody>
      </p:sp>
      <p:sp>
        <p:nvSpPr>
          <p:cNvPr id="61"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Foti et al. (2014), capítulo de inversión (a confirmar); Socco y Strobbia (2004); Xia et al. (1999), p. 694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ρ</m:t>
                    </m:r>
                  </m:oMath>
                </a14:m>
              </mc:Choice>
              <mc:Fallback>
                <a:r>
                  <a:rPr lang="en-US" sz="800" dirty="0">
                    <a:solidFill>
                      <a:srgbClr val="6B6B6B"/>
                    </a:solidFill>
                    <a:latin typeface="Arial" pitchFamily="34" charset="0"/>
                    <a:ea typeface="Arial" pitchFamily="34" charset="-122"/>
                    <a:cs typeface="Arial" pitchFamily="34" charset="-120"/>
                  </a:rPr>
                  <a:t>ρ</a:t>
                </a:r>
              </mc:Fallback>
            </mc:AlternateContent>
            <a:r>
              <a:rPr lang="en-US" sz="800" dirty="0">
                <a:solidFill>
                  <a:srgbClr val="6B6B6B"/>
                </a:solidFill>
                <a:latin typeface="Arial" pitchFamily="34" charset="0"/>
                <a:ea typeface="Arial" pitchFamily="34" charset="-122"/>
                <a:cs typeface="Arial" pitchFamily="34" charset="-120"/>
              </a:rPr>
              <a:t> supuesta conocida).</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12" fill="hold">
                      <p:stCondLst>
                        <p:cond delay="indefinite"/>
                      </p:stCondLst>
                      <p:childTnLst>
                        <p:par>
                          <p:cTn id="2313" fill="hold">
                            <p:stCondLst>
                              <p:cond delay="0"/>
                            </p:stCondLst>
                            <p:childTnLst>
                              <p:par>
                                <p:cTn id="2276" presetID="10" presetClass="exit" presetSubtype="0" fill="hold" nodeType="clickEffect">
                                  <p:stCondLst>
                                    <p:cond delay="0"/>
                                  </p:stCondLst>
                                  <p:childTnLst>
                                    <p:animEffect transition="out" filter="fade">
                                      <p:cBhvr>
                                        <p:cTn id="2277" dur="400"/>
                                        <p:tgtEl>
                                          <p:spTgt spid="3"/>
                                        </p:tgtEl>
                                      </p:cBhvr>
                                    </p:animEffect>
                                    <p:set>
                                      <p:cBhvr>
                                        <p:cTn id="2278" dur="1" fill="hold">
                                          <p:stCondLst>
                                            <p:cond delay="399"/>
                                          </p:stCondLst>
                                        </p:cTn>
                                        <p:tgtEl>
                                          <p:spTgt spid="3"/>
                                        </p:tgtEl>
                                        <p:attrNameLst>
                                          <p:attrName>style.visibility</p:attrName>
                                        </p:attrNameLst>
                                      </p:cBhvr>
                                      <p:to>
                                        <p:strVal val="hidden"/>
                                      </p:to>
                                    </p:set>
                                  </p:childTnLst>
                                </p:cTn>
                              </p:par>
                              <p:par>
                                <p:cTn id="2279" presetID="10" presetClass="exit" presetSubtype="0" fill="hold" nodeType="withEffect">
                                  <p:stCondLst>
                                    <p:cond delay="0"/>
                                  </p:stCondLst>
                                  <p:childTnLst>
                                    <p:animEffect transition="out" filter="fade">
                                      <p:cBhvr>
                                        <p:cTn id="2280" dur="400"/>
                                        <p:tgtEl>
                                          <p:spTgt spid="4"/>
                                        </p:tgtEl>
                                      </p:cBhvr>
                                    </p:animEffect>
                                    <p:set>
                                      <p:cBhvr>
                                        <p:cTn id="2281" dur="1" fill="hold">
                                          <p:stCondLst>
                                            <p:cond delay="399"/>
                                          </p:stCondLst>
                                        </p:cTn>
                                        <p:tgtEl>
                                          <p:spTgt spid="4"/>
                                        </p:tgtEl>
                                        <p:attrNameLst>
                                          <p:attrName>style.visibility</p:attrName>
                                        </p:attrNameLst>
                                      </p:cBhvr>
                                      <p:to>
                                        <p:strVal val="hidden"/>
                                      </p:to>
                                    </p:set>
                                  </p:childTnLst>
                                </p:cTn>
                              </p:par>
                              <p:par>
                                <p:cTn id="2282" presetID="10" presetClass="exit" presetSubtype="0" fill="hold" nodeType="withEffect">
                                  <p:stCondLst>
                                    <p:cond delay="0"/>
                                  </p:stCondLst>
                                  <p:childTnLst>
                                    <p:animEffect transition="out" filter="fade">
                                      <p:cBhvr>
                                        <p:cTn id="2283" dur="400"/>
                                        <p:tgtEl>
                                          <p:spTgt spid="5"/>
                                        </p:tgtEl>
                                      </p:cBhvr>
                                    </p:animEffect>
                                    <p:set>
                                      <p:cBhvr>
                                        <p:cTn id="2284" dur="1" fill="hold">
                                          <p:stCondLst>
                                            <p:cond delay="399"/>
                                          </p:stCondLst>
                                        </p:cTn>
                                        <p:tgtEl>
                                          <p:spTgt spid="5"/>
                                        </p:tgtEl>
                                        <p:attrNameLst>
                                          <p:attrName>style.visibility</p:attrName>
                                        </p:attrNameLst>
                                      </p:cBhvr>
                                      <p:to>
                                        <p:strVal val="hidden"/>
                                      </p:to>
                                    </p:set>
                                  </p:childTnLst>
                                </p:cTn>
                              </p:par>
                              <p:par>
                                <p:cTn id="2285" presetID="10" presetClass="exit" presetSubtype="0" fill="hold" nodeType="withEffect">
                                  <p:stCondLst>
                                    <p:cond delay="0"/>
                                  </p:stCondLst>
                                  <p:childTnLst>
                                    <p:animEffect transition="out" filter="fade">
                                      <p:cBhvr>
                                        <p:cTn id="2286" dur="400"/>
                                        <p:tgtEl>
                                          <p:spTgt spid="6"/>
                                        </p:tgtEl>
                                      </p:cBhvr>
                                    </p:animEffect>
                                    <p:set>
                                      <p:cBhvr>
                                        <p:cTn id="2287" dur="1" fill="hold">
                                          <p:stCondLst>
                                            <p:cond delay="399"/>
                                          </p:stCondLst>
                                        </p:cTn>
                                        <p:tgtEl>
                                          <p:spTgt spid="6"/>
                                        </p:tgtEl>
                                        <p:attrNameLst>
                                          <p:attrName>style.visibility</p:attrName>
                                        </p:attrNameLst>
                                      </p:cBhvr>
                                      <p:to>
                                        <p:strVal val="hidden"/>
                                      </p:to>
                                    </p:set>
                                  </p:childTnLst>
                                </p:cTn>
                              </p:par>
                              <p:par>
                                <p:cTn id="2288" presetID="10" presetClass="exit" presetSubtype="0" fill="hold" nodeType="withEffect">
                                  <p:stCondLst>
                                    <p:cond delay="0"/>
                                  </p:stCondLst>
                                  <p:childTnLst>
                                    <p:animEffect transition="out" filter="fade">
                                      <p:cBhvr>
                                        <p:cTn id="2289" dur="400"/>
                                        <p:tgtEl>
                                          <p:spTgt spid="52"/>
                                        </p:tgtEl>
                                      </p:cBhvr>
                                    </p:animEffect>
                                    <p:set>
                                      <p:cBhvr>
                                        <p:cTn id="2290" dur="1" fill="hold">
                                          <p:stCondLst>
                                            <p:cond delay="399"/>
                                          </p:stCondLst>
                                        </p:cTn>
                                        <p:tgtEl>
                                          <p:spTgt spid="52"/>
                                        </p:tgtEl>
                                        <p:attrNameLst>
                                          <p:attrName>style.visibility</p:attrName>
                                        </p:attrNameLst>
                                      </p:cBhvr>
                                      <p:to>
                                        <p:strVal val="hidden"/>
                                      </p:to>
                                    </p:set>
                                  </p:childTnLst>
                                </p:cTn>
                              </p:par>
                              <p:par>
                                <p:cTn id="2291" presetID="10" presetClass="exit" presetSubtype="0" fill="hold" nodeType="withEffect">
                                  <p:stCondLst>
                                    <p:cond delay="0"/>
                                  </p:stCondLst>
                                  <p:childTnLst>
                                    <p:animEffect transition="out" filter="fade">
                                      <p:cBhvr>
                                        <p:cTn id="2292" dur="400"/>
                                        <p:tgtEl>
                                          <p:spTgt spid="53"/>
                                        </p:tgtEl>
                                      </p:cBhvr>
                                    </p:animEffect>
                                    <p:set>
                                      <p:cBhvr>
                                        <p:cTn id="2293" dur="1" fill="hold">
                                          <p:stCondLst>
                                            <p:cond delay="399"/>
                                          </p:stCondLst>
                                        </p:cTn>
                                        <p:tgtEl>
                                          <p:spTgt spid="53"/>
                                        </p:tgtEl>
                                        <p:attrNameLst>
                                          <p:attrName>style.visibility</p:attrName>
                                        </p:attrNameLst>
                                      </p:cBhvr>
                                      <p:to>
                                        <p:strVal val="hidden"/>
                                      </p:to>
                                    </p:set>
                                  </p:childTnLst>
                                </p:cTn>
                              </p:par>
                              <p:par>
                                <p:cTn id="2294" presetID="10" presetClass="entr" presetSubtype="0" fill="hold" nodeType="withEffect">
                                  <p:stCondLst>
                                    <p:cond delay="200"/>
                                  </p:stCondLst>
                                  <p:childTnLst>
                                    <p:set>
                                      <p:cBhvr>
                                        <p:cTn id="2295" dur="1" fill="hold">
                                          <p:stCondLst>
                                            <p:cond delay="0"/>
                                          </p:stCondLst>
                                        </p:cTn>
                                        <p:tgtEl>
                                          <p:spTgt spid="7"/>
                                        </p:tgtEl>
                                        <p:attrNameLst>
                                          <p:attrName>style.visibility</p:attrName>
                                        </p:attrNameLst>
                                      </p:cBhvr>
                                      <p:to>
                                        <p:strVal val="visible"/>
                                      </p:to>
                                    </p:set>
                                    <p:animEffect transition="in" filter="fade">
                                      <p:cBhvr>
                                        <p:cTn id="2296" dur="500"/>
                                        <p:tgtEl>
                                          <p:spTgt spid="7"/>
                                        </p:tgtEl>
                                      </p:cBhvr>
                                    </p:animEffect>
                                  </p:childTnLst>
                                </p:cTn>
                              </p:par>
                              <p:par>
                                <p:cTn id="2297" presetID="10" presetClass="entr" presetSubtype="0" fill="hold" nodeType="withEffect">
                                  <p:stCondLst>
                                    <p:cond delay="270"/>
                                  </p:stCondLst>
                                  <p:childTnLst>
                                    <p:set>
                                      <p:cBhvr>
                                        <p:cTn id="2298" dur="1" fill="hold">
                                          <p:stCondLst>
                                            <p:cond delay="0"/>
                                          </p:stCondLst>
                                        </p:cTn>
                                        <p:tgtEl>
                                          <p:spTgt spid="8"/>
                                        </p:tgtEl>
                                        <p:attrNameLst>
                                          <p:attrName>style.visibility</p:attrName>
                                        </p:attrNameLst>
                                      </p:cBhvr>
                                      <p:to>
                                        <p:strVal val="visible"/>
                                      </p:to>
                                    </p:set>
                                    <p:animEffect transition="in" filter="fade">
                                      <p:cBhvr>
                                        <p:cTn id="2299" dur="500"/>
                                        <p:tgtEl>
                                          <p:spTgt spid="8"/>
                                        </p:tgtEl>
                                      </p:cBhvr>
                                    </p:animEffect>
                                  </p:childTnLst>
                                </p:cTn>
                              </p:par>
                              <p:par>
                                <p:cTn id="2300" presetID="10" presetClass="entr" presetSubtype="0" fill="hold" nodeType="withEffect">
                                  <p:stCondLst>
                                    <p:cond delay="340"/>
                                  </p:stCondLst>
                                  <p:childTnLst>
                                    <p:set>
                                      <p:cBhvr>
                                        <p:cTn id="2301" dur="1" fill="hold">
                                          <p:stCondLst>
                                            <p:cond delay="0"/>
                                          </p:stCondLst>
                                        </p:cTn>
                                        <p:tgtEl>
                                          <p:spTgt spid="9"/>
                                        </p:tgtEl>
                                        <p:attrNameLst>
                                          <p:attrName>style.visibility</p:attrName>
                                        </p:attrNameLst>
                                      </p:cBhvr>
                                      <p:to>
                                        <p:strVal val="visible"/>
                                      </p:to>
                                    </p:set>
                                    <p:animEffect transition="in" filter="fade">
                                      <p:cBhvr>
                                        <p:cTn id="2302" dur="500"/>
                                        <p:tgtEl>
                                          <p:spTgt spid="9"/>
                                        </p:tgtEl>
                                      </p:cBhvr>
                                    </p:animEffect>
                                  </p:childTnLst>
                                </p:cTn>
                              </p:par>
                              <p:par>
                                <p:cTn id="2303" presetID="10" presetClass="entr" presetSubtype="0" fill="hold" nodeType="withEffect">
                                  <p:stCondLst>
                                    <p:cond delay="410"/>
                                  </p:stCondLst>
                                  <p:childTnLst>
                                    <p:set>
                                      <p:cBhvr>
                                        <p:cTn id="2304" dur="1" fill="hold">
                                          <p:stCondLst>
                                            <p:cond delay="0"/>
                                          </p:stCondLst>
                                        </p:cTn>
                                        <p:tgtEl>
                                          <p:spTgt spid="10"/>
                                        </p:tgtEl>
                                        <p:attrNameLst>
                                          <p:attrName>style.visibility</p:attrName>
                                        </p:attrNameLst>
                                      </p:cBhvr>
                                      <p:to>
                                        <p:strVal val="visible"/>
                                      </p:to>
                                    </p:set>
                                    <p:animEffect transition="in" filter="fade">
                                      <p:cBhvr>
                                        <p:cTn id="2305" dur="500"/>
                                        <p:tgtEl>
                                          <p:spTgt spid="10"/>
                                        </p:tgtEl>
                                      </p:cBhvr>
                                    </p:animEffect>
                                  </p:childTnLst>
                                </p:cTn>
                              </p:par>
                              <p:par>
                                <p:cTn id="2306" presetID="10" presetClass="entr" presetSubtype="0" fill="hold" nodeType="withEffect">
                                  <p:stCondLst>
                                    <p:cond delay="480"/>
                                  </p:stCondLst>
                                  <p:childTnLst>
                                    <p:set>
                                      <p:cBhvr>
                                        <p:cTn id="2307" dur="1" fill="hold">
                                          <p:stCondLst>
                                            <p:cond delay="0"/>
                                          </p:stCondLst>
                                        </p:cTn>
                                        <p:tgtEl>
                                          <p:spTgt spid="54"/>
                                        </p:tgtEl>
                                        <p:attrNameLst>
                                          <p:attrName>style.visibility</p:attrName>
                                        </p:attrNameLst>
                                      </p:cBhvr>
                                      <p:to>
                                        <p:strVal val="visible"/>
                                      </p:to>
                                    </p:set>
                                    <p:animEffect transition="in" filter="fade">
                                      <p:cBhvr>
                                        <p:cTn id="2308" dur="500"/>
                                        <p:tgtEl>
                                          <p:spTgt spid="54"/>
                                        </p:tgtEl>
                                      </p:cBhvr>
                                    </p:animEffect>
                                  </p:childTnLst>
                                </p:cTn>
                              </p:par>
                              <p:par>
                                <p:cTn id="2309" presetID="10" presetClass="entr" presetSubtype="0" fill="hold" nodeType="withEffect">
                                  <p:stCondLst>
                                    <p:cond delay="550"/>
                                  </p:stCondLst>
                                  <p:childTnLst>
                                    <p:set>
                                      <p:cBhvr>
                                        <p:cTn id="2310" dur="1" fill="hold">
                                          <p:stCondLst>
                                            <p:cond delay="0"/>
                                          </p:stCondLst>
                                        </p:cTn>
                                        <p:tgtEl>
                                          <p:spTgt spid="55"/>
                                        </p:tgtEl>
                                        <p:attrNameLst>
                                          <p:attrName>style.visibility</p:attrName>
                                        </p:attrNameLst>
                                      </p:cBhvr>
                                      <p:to>
                                        <p:strVal val="visible"/>
                                      </p:to>
                                    </p:set>
                                    <p:animEffect transition="in" filter="fade">
                                      <p:cBhvr>
                                        <p:cTn id="2311" dur="500"/>
                                        <p:tgtEl>
                                          <p:spTgt spid="55"/>
                                        </p:tgtEl>
                                      </p:cBhvr>
                                    </p:animEffect>
                                  </p:childTnLst>
                                </p:cTn>
                              </p:par>
                            </p:childTnLst>
                          </p:cTn>
                        </p:par>
                      </p:childTnLst>
                    </p:cTn>
                  </p:par>
                  <p:par>
                    <p:cTn id="2344" fill="hold">
                      <p:stCondLst>
                        <p:cond delay="indefinite"/>
                      </p:stCondLst>
                      <p:childTnLst>
                        <p:par>
                          <p:cTn id="2345" fill="hold">
                            <p:stCondLst>
                              <p:cond delay="0"/>
                            </p:stCondLst>
                            <p:childTnLst>
                              <p:par>
                                <p:cTn id="2314" presetID="10" presetClass="exit" presetSubtype="0" fill="hold" nodeType="clickEffect">
                                  <p:stCondLst>
                                    <p:cond delay="0"/>
                                  </p:stCondLst>
                                  <p:childTnLst>
                                    <p:animEffect transition="out" filter="fade">
                                      <p:cBhvr>
                                        <p:cTn id="2315" dur="400"/>
                                        <p:tgtEl>
                                          <p:spTgt spid="7"/>
                                        </p:tgtEl>
                                      </p:cBhvr>
                                    </p:animEffect>
                                    <p:set>
                                      <p:cBhvr>
                                        <p:cTn id="2316" dur="1" fill="hold">
                                          <p:stCondLst>
                                            <p:cond delay="399"/>
                                          </p:stCondLst>
                                        </p:cTn>
                                        <p:tgtEl>
                                          <p:spTgt spid="7"/>
                                        </p:tgtEl>
                                        <p:attrNameLst>
                                          <p:attrName>style.visibility</p:attrName>
                                        </p:attrNameLst>
                                      </p:cBhvr>
                                      <p:to>
                                        <p:strVal val="hidden"/>
                                      </p:to>
                                    </p:set>
                                  </p:childTnLst>
                                </p:cTn>
                              </p:par>
                              <p:par>
                                <p:cTn id="2317" presetID="10" presetClass="exit" presetSubtype="0" fill="hold" nodeType="withEffect">
                                  <p:stCondLst>
                                    <p:cond delay="0"/>
                                  </p:stCondLst>
                                  <p:childTnLst>
                                    <p:animEffect transition="out" filter="fade">
                                      <p:cBhvr>
                                        <p:cTn id="2318" dur="400"/>
                                        <p:tgtEl>
                                          <p:spTgt spid="8"/>
                                        </p:tgtEl>
                                      </p:cBhvr>
                                    </p:animEffect>
                                    <p:set>
                                      <p:cBhvr>
                                        <p:cTn id="2319" dur="1" fill="hold">
                                          <p:stCondLst>
                                            <p:cond delay="399"/>
                                          </p:stCondLst>
                                        </p:cTn>
                                        <p:tgtEl>
                                          <p:spTgt spid="8"/>
                                        </p:tgtEl>
                                        <p:attrNameLst>
                                          <p:attrName>style.visibility</p:attrName>
                                        </p:attrNameLst>
                                      </p:cBhvr>
                                      <p:to>
                                        <p:strVal val="hidden"/>
                                      </p:to>
                                    </p:set>
                                  </p:childTnLst>
                                </p:cTn>
                              </p:par>
                              <p:par>
                                <p:cTn id="2320" presetID="10" presetClass="exit" presetSubtype="0" fill="hold" nodeType="withEffect">
                                  <p:stCondLst>
                                    <p:cond delay="0"/>
                                  </p:stCondLst>
                                  <p:childTnLst>
                                    <p:animEffect transition="out" filter="fade">
                                      <p:cBhvr>
                                        <p:cTn id="2321" dur="400"/>
                                        <p:tgtEl>
                                          <p:spTgt spid="9"/>
                                        </p:tgtEl>
                                      </p:cBhvr>
                                    </p:animEffect>
                                    <p:set>
                                      <p:cBhvr>
                                        <p:cTn id="2322" dur="1" fill="hold">
                                          <p:stCondLst>
                                            <p:cond delay="399"/>
                                          </p:stCondLst>
                                        </p:cTn>
                                        <p:tgtEl>
                                          <p:spTgt spid="9"/>
                                        </p:tgtEl>
                                        <p:attrNameLst>
                                          <p:attrName>style.visibility</p:attrName>
                                        </p:attrNameLst>
                                      </p:cBhvr>
                                      <p:to>
                                        <p:strVal val="hidden"/>
                                      </p:to>
                                    </p:set>
                                  </p:childTnLst>
                                </p:cTn>
                              </p:par>
                              <p:par>
                                <p:cTn id="2323" presetID="10" presetClass="exit" presetSubtype="0" fill="hold" nodeType="withEffect">
                                  <p:stCondLst>
                                    <p:cond delay="0"/>
                                  </p:stCondLst>
                                  <p:childTnLst>
                                    <p:animEffect transition="out" filter="fade">
                                      <p:cBhvr>
                                        <p:cTn id="2324" dur="400"/>
                                        <p:tgtEl>
                                          <p:spTgt spid="10"/>
                                        </p:tgtEl>
                                      </p:cBhvr>
                                    </p:animEffect>
                                    <p:set>
                                      <p:cBhvr>
                                        <p:cTn id="2325" dur="1" fill="hold">
                                          <p:stCondLst>
                                            <p:cond delay="399"/>
                                          </p:stCondLst>
                                        </p:cTn>
                                        <p:tgtEl>
                                          <p:spTgt spid="10"/>
                                        </p:tgtEl>
                                        <p:attrNameLst>
                                          <p:attrName>style.visibility</p:attrName>
                                        </p:attrNameLst>
                                      </p:cBhvr>
                                      <p:to>
                                        <p:strVal val="hidden"/>
                                      </p:to>
                                    </p:set>
                                  </p:childTnLst>
                                </p:cTn>
                              </p:par>
                              <p:par>
                                <p:cTn id="2326" presetID="10" presetClass="exit" presetSubtype="0" fill="hold" nodeType="withEffect">
                                  <p:stCondLst>
                                    <p:cond delay="0"/>
                                  </p:stCondLst>
                                  <p:childTnLst>
                                    <p:animEffect transition="out" filter="fade">
                                      <p:cBhvr>
                                        <p:cTn id="2327" dur="400"/>
                                        <p:tgtEl>
                                          <p:spTgt spid="54"/>
                                        </p:tgtEl>
                                      </p:cBhvr>
                                    </p:animEffect>
                                    <p:set>
                                      <p:cBhvr>
                                        <p:cTn id="2328" dur="1" fill="hold">
                                          <p:stCondLst>
                                            <p:cond delay="399"/>
                                          </p:stCondLst>
                                        </p:cTn>
                                        <p:tgtEl>
                                          <p:spTgt spid="54"/>
                                        </p:tgtEl>
                                        <p:attrNameLst>
                                          <p:attrName>style.visibility</p:attrName>
                                        </p:attrNameLst>
                                      </p:cBhvr>
                                      <p:to>
                                        <p:strVal val="hidden"/>
                                      </p:to>
                                    </p:set>
                                  </p:childTnLst>
                                </p:cTn>
                              </p:par>
                              <p:par>
                                <p:cTn id="2329" presetID="10" presetClass="exit" presetSubtype="0" fill="hold" nodeType="withEffect">
                                  <p:stCondLst>
                                    <p:cond delay="0"/>
                                  </p:stCondLst>
                                  <p:childTnLst>
                                    <p:animEffect transition="out" filter="fade">
                                      <p:cBhvr>
                                        <p:cTn id="2330" dur="400"/>
                                        <p:tgtEl>
                                          <p:spTgt spid="55"/>
                                        </p:tgtEl>
                                      </p:cBhvr>
                                    </p:animEffect>
                                    <p:set>
                                      <p:cBhvr>
                                        <p:cTn id="2331" dur="1" fill="hold">
                                          <p:stCondLst>
                                            <p:cond delay="399"/>
                                          </p:stCondLst>
                                        </p:cTn>
                                        <p:tgtEl>
                                          <p:spTgt spid="55"/>
                                        </p:tgtEl>
                                        <p:attrNameLst>
                                          <p:attrName>style.visibility</p:attrName>
                                        </p:attrNameLst>
                                      </p:cBhvr>
                                      <p:to>
                                        <p:strVal val="hidden"/>
                                      </p:to>
                                    </p:set>
                                  </p:childTnLst>
                                </p:cTn>
                              </p:par>
                              <p:par>
                                <p:cTn id="2332" presetID="22" presetClass="entr" presetSubtype="8" fill="hold" nodeType="withEffect">
                                  <p:stCondLst>
                                    <p:cond delay="200"/>
                                  </p:stCondLst>
                                  <p:childTnLst>
                                    <p:set>
                                      <p:cBhvr>
                                        <p:cTn id="2333" dur="1" fill="hold">
                                          <p:stCondLst>
                                            <p:cond delay="0"/>
                                          </p:stCondLst>
                                        </p:cTn>
                                        <p:tgtEl>
                                          <p:spTgt spid="11"/>
                                        </p:tgtEl>
                                        <p:attrNameLst>
                                          <p:attrName>style.visibility</p:attrName>
                                        </p:attrNameLst>
                                      </p:cBhvr>
                                      <p:to>
                                        <p:strVal val="visible"/>
                                      </p:to>
                                    </p:set>
                                    <p:animEffect transition="in" filter="wipe(left)">
                                      <p:cBhvr>
                                        <p:cTn id="2334" dur="500"/>
                                        <p:tgtEl>
                                          <p:spTgt spid="11"/>
                                        </p:tgtEl>
                                      </p:cBhvr>
                                    </p:animEffect>
                                  </p:childTnLst>
                                </p:cTn>
                              </p:par>
                              <p:par>
                                <p:cTn id="2335" presetID="22" presetClass="entr" presetSubtype="8" fill="hold" nodeType="withEffect">
                                  <p:stCondLst>
                                    <p:cond delay="270"/>
                                  </p:stCondLst>
                                  <p:childTnLst>
                                    <p:set>
                                      <p:cBhvr>
                                        <p:cTn id="2336" dur="1" fill="hold">
                                          <p:stCondLst>
                                            <p:cond delay="0"/>
                                          </p:stCondLst>
                                        </p:cTn>
                                        <p:tgtEl>
                                          <p:spTgt spid="12"/>
                                        </p:tgtEl>
                                        <p:attrNameLst>
                                          <p:attrName>style.visibility</p:attrName>
                                        </p:attrNameLst>
                                      </p:cBhvr>
                                      <p:to>
                                        <p:strVal val="visible"/>
                                      </p:to>
                                    </p:set>
                                    <p:animEffect transition="in" filter="wipe(left)">
                                      <p:cBhvr>
                                        <p:cTn id="2337" dur="500"/>
                                        <p:tgtEl>
                                          <p:spTgt spid="12"/>
                                        </p:tgtEl>
                                      </p:cBhvr>
                                    </p:animEffect>
                                  </p:childTnLst>
                                </p:cTn>
                              </p:par>
                              <p:par>
                                <p:cTn id="2338" presetID="22" presetClass="entr" presetSubtype="8" fill="hold" nodeType="withEffect">
                                  <p:stCondLst>
                                    <p:cond delay="340"/>
                                  </p:stCondLst>
                                  <p:childTnLst>
                                    <p:set>
                                      <p:cBhvr>
                                        <p:cTn id="2339" dur="1" fill="hold">
                                          <p:stCondLst>
                                            <p:cond delay="0"/>
                                          </p:stCondLst>
                                        </p:cTn>
                                        <p:tgtEl>
                                          <p:spTgt spid="56"/>
                                        </p:tgtEl>
                                        <p:attrNameLst>
                                          <p:attrName>style.visibility</p:attrName>
                                        </p:attrNameLst>
                                      </p:cBhvr>
                                      <p:to>
                                        <p:strVal val="visible"/>
                                      </p:to>
                                    </p:set>
                                    <p:animEffect transition="in" filter="wipe(left)">
                                      <p:cBhvr>
                                        <p:cTn id="2340" dur="500"/>
                                        <p:tgtEl>
                                          <p:spTgt spid="56"/>
                                        </p:tgtEl>
                                      </p:cBhvr>
                                    </p:animEffect>
                                  </p:childTnLst>
                                </p:cTn>
                              </p:par>
                              <p:par>
                                <p:cTn id="2341" presetID="22" presetClass="entr" presetSubtype="8" fill="hold" nodeType="withEffect">
                                  <p:stCondLst>
                                    <p:cond delay="410"/>
                                  </p:stCondLst>
                                  <p:childTnLst>
                                    <p:set>
                                      <p:cBhvr>
                                        <p:cTn id="2342" dur="1" fill="hold">
                                          <p:stCondLst>
                                            <p:cond delay="0"/>
                                          </p:stCondLst>
                                        </p:cTn>
                                        <p:tgtEl>
                                          <p:spTgt spid="57"/>
                                        </p:tgtEl>
                                        <p:attrNameLst>
                                          <p:attrName>style.visibility</p:attrName>
                                        </p:attrNameLst>
                                      </p:cBhvr>
                                      <p:to>
                                        <p:strVal val="visible"/>
                                      </p:to>
                                    </p:set>
                                    <p:animEffect transition="in" filter="wipe(left)">
                                      <p:cBhvr>
                                        <p:cTn id="2343" dur="500"/>
                                        <p:tgtEl>
                                          <p:spTgt spid="57"/>
                                        </p:tgtEl>
                                      </p:cBhvr>
                                    </p:animEffect>
                                  </p:childTnLst>
                                </p:cTn>
                              </p:par>
                            </p:childTnLst>
                          </p:cTn>
                        </p:par>
                      </p:childTnLst>
                    </p:cTn>
                  </p:par>
                  <p:par>
                    <p:cTn id="2433" fill="hold">
                      <p:stCondLst>
                        <p:cond delay="indefinite"/>
                      </p:stCondLst>
                      <p:childTnLst>
                        <p:par>
                          <p:cTn id="2434" fill="hold">
                            <p:stCondLst>
                              <p:cond delay="0"/>
                            </p:stCondLst>
                            <p:childTnLst>
                              <p:par>
                                <p:cTn id="2346" presetID="10" presetClass="exit" presetSubtype="0" fill="hold" nodeType="clickEffect">
                                  <p:stCondLst>
                                    <p:cond delay="0"/>
                                  </p:stCondLst>
                                  <p:childTnLst>
                                    <p:animEffect transition="out" filter="fade">
                                      <p:cBhvr>
                                        <p:cTn id="2347" dur="400"/>
                                        <p:tgtEl>
                                          <p:spTgt spid="11"/>
                                        </p:tgtEl>
                                      </p:cBhvr>
                                    </p:animEffect>
                                    <p:set>
                                      <p:cBhvr>
                                        <p:cTn id="2348" dur="1" fill="hold">
                                          <p:stCondLst>
                                            <p:cond delay="399"/>
                                          </p:stCondLst>
                                        </p:cTn>
                                        <p:tgtEl>
                                          <p:spTgt spid="11"/>
                                        </p:tgtEl>
                                        <p:attrNameLst>
                                          <p:attrName>style.visibility</p:attrName>
                                        </p:attrNameLst>
                                      </p:cBhvr>
                                      <p:to>
                                        <p:strVal val="hidden"/>
                                      </p:to>
                                    </p:set>
                                  </p:childTnLst>
                                </p:cTn>
                              </p:par>
                              <p:par>
                                <p:cTn id="2349" presetID="10" presetClass="exit" presetSubtype="0" fill="hold" nodeType="withEffect">
                                  <p:stCondLst>
                                    <p:cond delay="0"/>
                                  </p:stCondLst>
                                  <p:childTnLst>
                                    <p:animEffect transition="out" filter="fade">
                                      <p:cBhvr>
                                        <p:cTn id="2350" dur="400"/>
                                        <p:tgtEl>
                                          <p:spTgt spid="12"/>
                                        </p:tgtEl>
                                      </p:cBhvr>
                                    </p:animEffect>
                                    <p:set>
                                      <p:cBhvr>
                                        <p:cTn id="2351" dur="1" fill="hold">
                                          <p:stCondLst>
                                            <p:cond delay="399"/>
                                          </p:stCondLst>
                                        </p:cTn>
                                        <p:tgtEl>
                                          <p:spTgt spid="12"/>
                                        </p:tgtEl>
                                        <p:attrNameLst>
                                          <p:attrName>style.visibility</p:attrName>
                                        </p:attrNameLst>
                                      </p:cBhvr>
                                      <p:to>
                                        <p:strVal val="hidden"/>
                                      </p:to>
                                    </p:set>
                                  </p:childTnLst>
                                </p:cTn>
                              </p:par>
                              <p:par>
                                <p:cTn id="2352" presetID="10" presetClass="exit" presetSubtype="0" fill="hold" nodeType="withEffect">
                                  <p:stCondLst>
                                    <p:cond delay="0"/>
                                  </p:stCondLst>
                                  <p:childTnLst>
                                    <p:animEffect transition="out" filter="fade">
                                      <p:cBhvr>
                                        <p:cTn id="2353" dur="400"/>
                                        <p:tgtEl>
                                          <p:spTgt spid="56"/>
                                        </p:tgtEl>
                                      </p:cBhvr>
                                    </p:animEffect>
                                    <p:set>
                                      <p:cBhvr>
                                        <p:cTn id="2354" dur="1" fill="hold">
                                          <p:stCondLst>
                                            <p:cond delay="399"/>
                                          </p:stCondLst>
                                        </p:cTn>
                                        <p:tgtEl>
                                          <p:spTgt spid="56"/>
                                        </p:tgtEl>
                                        <p:attrNameLst>
                                          <p:attrName>style.visibility</p:attrName>
                                        </p:attrNameLst>
                                      </p:cBhvr>
                                      <p:to>
                                        <p:strVal val="hidden"/>
                                      </p:to>
                                    </p:set>
                                  </p:childTnLst>
                                </p:cTn>
                              </p:par>
                              <p:par>
                                <p:cTn id="2355" presetID="10" presetClass="exit" presetSubtype="0" fill="hold" nodeType="withEffect">
                                  <p:stCondLst>
                                    <p:cond delay="0"/>
                                  </p:stCondLst>
                                  <p:childTnLst>
                                    <p:animEffect transition="out" filter="fade">
                                      <p:cBhvr>
                                        <p:cTn id="2356" dur="400"/>
                                        <p:tgtEl>
                                          <p:spTgt spid="57"/>
                                        </p:tgtEl>
                                      </p:cBhvr>
                                    </p:animEffect>
                                    <p:set>
                                      <p:cBhvr>
                                        <p:cTn id="2357" dur="1" fill="hold">
                                          <p:stCondLst>
                                            <p:cond delay="399"/>
                                          </p:stCondLst>
                                        </p:cTn>
                                        <p:tgtEl>
                                          <p:spTgt spid="57"/>
                                        </p:tgtEl>
                                        <p:attrNameLst>
                                          <p:attrName>style.visibility</p:attrName>
                                        </p:attrNameLst>
                                      </p:cBhvr>
                                      <p:to>
                                        <p:strVal val="hidden"/>
                                      </p:to>
                                    </p:set>
                                  </p:childTnLst>
                                </p:cTn>
                              </p:par>
                              <p:par>
                                <p:cTn id="2358" presetID="22" presetClass="entr" presetSubtype="4" fill="hold" nodeType="withEffect">
                                  <p:stCondLst>
                                    <p:cond delay="200"/>
                                  </p:stCondLst>
                                  <p:childTnLst>
                                    <p:set>
                                      <p:cBhvr>
                                        <p:cTn id="2359" dur="1" fill="hold">
                                          <p:stCondLst>
                                            <p:cond delay="0"/>
                                          </p:stCondLst>
                                        </p:cTn>
                                        <p:tgtEl>
                                          <p:spTgt spid="13"/>
                                        </p:tgtEl>
                                        <p:attrNameLst>
                                          <p:attrName>style.visibility</p:attrName>
                                        </p:attrNameLst>
                                      </p:cBhvr>
                                      <p:to>
                                        <p:strVal val="visible"/>
                                      </p:to>
                                    </p:set>
                                    <p:animEffect transition="in" filter="wipe(down)">
                                      <p:cBhvr>
                                        <p:cTn id="2360" dur="500"/>
                                        <p:tgtEl>
                                          <p:spTgt spid="13"/>
                                        </p:tgtEl>
                                      </p:cBhvr>
                                    </p:animEffect>
                                  </p:childTnLst>
                                </p:cTn>
                              </p:par>
                              <p:par>
                                <p:cTn id="2361" presetID="22" presetClass="entr" presetSubtype="4" fill="hold" nodeType="withEffect">
                                  <p:stCondLst>
                                    <p:cond delay="270"/>
                                  </p:stCondLst>
                                  <p:childTnLst>
                                    <p:set>
                                      <p:cBhvr>
                                        <p:cTn id="2362" dur="1" fill="hold">
                                          <p:stCondLst>
                                            <p:cond delay="0"/>
                                          </p:stCondLst>
                                        </p:cTn>
                                        <p:tgtEl>
                                          <p:spTgt spid="14"/>
                                        </p:tgtEl>
                                        <p:attrNameLst>
                                          <p:attrName>style.visibility</p:attrName>
                                        </p:attrNameLst>
                                      </p:cBhvr>
                                      <p:to>
                                        <p:strVal val="visible"/>
                                      </p:to>
                                    </p:set>
                                    <p:animEffect transition="in" filter="wipe(down)">
                                      <p:cBhvr>
                                        <p:cTn id="2363" dur="500"/>
                                        <p:tgtEl>
                                          <p:spTgt spid="14"/>
                                        </p:tgtEl>
                                      </p:cBhvr>
                                    </p:animEffect>
                                  </p:childTnLst>
                                </p:cTn>
                              </p:par>
                              <p:par>
                                <p:cTn id="2364" presetID="22" presetClass="entr" presetSubtype="4" fill="hold" nodeType="withEffect">
                                  <p:stCondLst>
                                    <p:cond delay="340"/>
                                  </p:stCondLst>
                                  <p:childTnLst>
                                    <p:set>
                                      <p:cBhvr>
                                        <p:cTn id="2365" dur="1" fill="hold">
                                          <p:stCondLst>
                                            <p:cond delay="0"/>
                                          </p:stCondLst>
                                        </p:cTn>
                                        <p:tgtEl>
                                          <p:spTgt spid="15"/>
                                        </p:tgtEl>
                                        <p:attrNameLst>
                                          <p:attrName>style.visibility</p:attrName>
                                        </p:attrNameLst>
                                      </p:cBhvr>
                                      <p:to>
                                        <p:strVal val="visible"/>
                                      </p:to>
                                    </p:set>
                                    <p:animEffect transition="in" filter="wipe(down)">
                                      <p:cBhvr>
                                        <p:cTn id="2366" dur="500"/>
                                        <p:tgtEl>
                                          <p:spTgt spid="15"/>
                                        </p:tgtEl>
                                      </p:cBhvr>
                                    </p:animEffect>
                                  </p:childTnLst>
                                </p:cTn>
                              </p:par>
                              <p:par>
                                <p:cTn id="2367" presetID="22" presetClass="entr" presetSubtype="4" fill="hold" nodeType="withEffect">
                                  <p:stCondLst>
                                    <p:cond delay="410"/>
                                  </p:stCondLst>
                                  <p:childTnLst>
                                    <p:set>
                                      <p:cBhvr>
                                        <p:cTn id="2368" dur="1" fill="hold">
                                          <p:stCondLst>
                                            <p:cond delay="0"/>
                                          </p:stCondLst>
                                        </p:cTn>
                                        <p:tgtEl>
                                          <p:spTgt spid="16"/>
                                        </p:tgtEl>
                                        <p:attrNameLst>
                                          <p:attrName>style.visibility</p:attrName>
                                        </p:attrNameLst>
                                      </p:cBhvr>
                                      <p:to>
                                        <p:strVal val="visible"/>
                                      </p:to>
                                    </p:set>
                                    <p:animEffect transition="in" filter="wipe(down)">
                                      <p:cBhvr>
                                        <p:cTn id="2369" dur="500"/>
                                        <p:tgtEl>
                                          <p:spTgt spid="16"/>
                                        </p:tgtEl>
                                      </p:cBhvr>
                                    </p:animEffect>
                                  </p:childTnLst>
                                </p:cTn>
                              </p:par>
                              <p:par>
                                <p:cTn id="2370" presetID="22" presetClass="entr" presetSubtype="4" fill="hold" nodeType="withEffect">
                                  <p:stCondLst>
                                    <p:cond delay="480"/>
                                  </p:stCondLst>
                                  <p:childTnLst>
                                    <p:set>
                                      <p:cBhvr>
                                        <p:cTn id="2371" dur="1" fill="hold">
                                          <p:stCondLst>
                                            <p:cond delay="0"/>
                                          </p:stCondLst>
                                        </p:cTn>
                                        <p:tgtEl>
                                          <p:spTgt spid="17"/>
                                        </p:tgtEl>
                                        <p:attrNameLst>
                                          <p:attrName>style.visibility</p:attrName>
                                        </p:attrNameLst>
                                      </p:cBhvr>
                                      <p:to>
                                        <p:strVal val="visible"/>
                                      </p:to>
                                    </p:set>
                                    <p:animEffect transition="in" filter="wipe(down)">
                                      <p:cBhvr>
                                        <p:cTn id="2372" dur="500"/>
                                        <p:tgtEl>
                                          <p:spTgt spid="17"/>
                                        </p:tgtEl>
                                      </p:cBhvr>
                                    </p:animEffect>
                                  </p:childTnLst>
                                </p:cTn>
                              </p:par>
                              <p:par>
                                <p:cTn id="2373" presetID="22" presetClass="entr" presetSubtype="4" fill="hold" nodeType="withEffect">
                                  <p:stCondLst>
                                    <p:cond delay="550"/>
                                  </p:stCondLst>
                                  <p:childTnLst>
                                    <p:set>
                                      <p:cBhvr>
                                        <p:cTn id="2374" dur="1" fill="hold">
                                          <p:stCondLst>
                                            <p:cond delay="0"/>
                                          </p:stCondLst>
                                        </p:cTn>
                                        <p:tgtEl>
                                          <p:spTgt spid="18"/>
                                        </p:tgtEl>
                                        <p:attrNameLst>
                                          <p:attrName>style.visibility</p:attrName>
                                        </p:attrNameLst>
                                      </p:cBhvr>
                                      <p:to>
                                        <p:strVal val="visible"/>
                                      </p:to>
                                    </p:set>
                                    <p:animEffect transition="in" filter="wipe(down)">
                                      <p:cBhvr>
                                        <p:cTn id="2375" dur="500"/>
                                        <p:tgtEl>
                                          <p:spTgt spid="18"/>
                                        </p:tgtEl>
                                      </p:cBhvr>
                                    </p:animEffect>
                                  </p:childTnLst>
                                </p:cTn>
                              </p:par>
                              <p:par>
                                <p:cTn id="2376" presetID="22" presetClass="entr" presetSubtype="4" fill="hold" nodeType="withEffect">
                                  <p:stCondLst>
                                    <p:cond delay="620"/>
                                  </p:stCondLst>
                                  <p:childTnLst>
                                    <p:set>
                                      <p:cBhvr>
                                        <p:cTn id="2377" dur="1" fill="hold">
                                          <p:stCondLst>
                                            <p:cond delay="0"/>
                                          </p:stCondLst>
                                        </p:cTn>
                                        <p:tgtEl>
                                          <p:spTgt spid="19"/>
                                        </p:tgtEl>
                                        <p:attrNameLst>
                                          <p:attrName>style.visibility</p:attrName>
                                        </p:attrNameLst>
                                      </p:cBhvr>
                                      <p:to>
                                        <p:strVal val="visible"/>
                                      </p:to>
                                    </p:set>
                                    <p:animEffect transition="in" filter="wipe(down)">
                                      <p:cBhvr>
                                        <p:cTn id="2378" dur="500"/>
                                        <p:tgtEl>
                                          <p:spTgt spid="19"/>
                                        </p:tgtEl>
                                      </p:cBhvr>
                                    </p:animEffect>
                                  </p:childTnLst>
                                </p:cTn>
                              </p:par>
                              <p:par>
                                <p:cTn id="2379" presetID="22" presetClass="entr" presetSubtype="4" fill="hold" nodeType="withEffect">
                                  <p:stCondLst>
                                    <p:cond delay="690"/>
                                  </p:stCondLst>
                                  <p:childTnLst>
                                    <p:set>
                                      <p:cBhvr>
                                        <p:cTn id="2380" dur="1" fill="hold">
                                          <p:stCondLst>
                                            <p:cond delay="0"/>
                                          </p:stCondLst>
                                        </p:cTn>
                                        <p:tgtEl>
                                          <p:spTgt spid="20"/>
                                        </p:tgtEl>
                                        <p:attrNameLst>
                                          <p:attrName>style.visibility</p:attrName>
                                        </p:attrNameLst>
                                      </p:cBhvr>
                                      <p:to>
                                        <p:strVal val="visible"/>
                                      </p:to>
                                    </p:set>
                                    <p:animEffect transition="in" filter="wipe(down)">
                                      <p:cBhvr>
                                        <p:cTn id="2381" dur="500"/>
                                        <p:tgtEl>
                                          <p:spTgt spid="20"/>
                                        </p:tgtEl>
                                      </p:cBhvr>
                                    </p:animEffect>
                                  </p:childTnLst>
                                </p:cTn>
                              </p:par>
                              <p:par>
                                <p:cTn id="2382" presetID="22" presetClass="entr" presetSubtype="4" fill="hold" nodeType="withEffect">
                                  <p:stCondLst>
                                    <p:cond delay="760"/>
                                  </p:stCondLst>
                                  <p:childTnLst>
                                    <p:set>
                                      <p:cBhvr>
                                        <p:cTn id="2383" dur="1" fill="hold">
                                          <p:stCondLst>
                                            <p:cond delay="0"/>
                                          </p:stCondLst>
                                        </p:cTn>
                                        <p:tgtEl>
                                          <p:spTgt spid="21"/>
                                        </p:tgtEl>
                                        <p:attrNameLst>
                                          <p:attrName>style.visibility</p:attrName>
                                        </p:attrNameLst>
                                      </p:cBhvr>
                                      <p:to>
                                        <p:strVal val="visible"/>
                                      </p:to>
                                    </p:set>
                                    <p:animEffect transition="in" filter="wipe(down)">
                                      <p:cBhvr>
                                        <p:cTn id="2384" dur="500"/>
                                        <p:tgtEl>
                                          <p:spTgt spid="21"/>
                                        </p:tgtEl>
                                      </p:cBhvr>
                                    </p:animEffect>
                                  </p:childTnLst>
                                </p:cTn>
                              </p:par>
                              <p:par>
                                <p:cTn id="2385" presetID="22" presetClass="entr" presetSubtype="4" fill="hold" nodeType="withEffect">
                                  <p:stCondLst>
                                    <p:cond delay="830"/>
                                  </p:stCondLst>
                                  <p:childTnLst>
                                    <p:set>
                                      <p:cBhvr>
                                        <p:cTn id="2386" dur="1" fill="hold">
                                          <p:stCondLst>
                                            <p:cond delay="0"/>
                                          </p:stCondLst>
                                        </p:cTn>
                                        <p:tgtEl>
                                          <p:spTgt spid="22"/>
                                        </p:tgtEl>
                                        <p:attrNameLst>
                                          <p:attrName>style.visibility</p:attrName>
                                        </p:attrNameLst>
                                      </p:cBhvr>
                                      <p:to>
                                        <p:strVal val="visible"/>
                                      </p:to>
                                    </p:set>
                                    <p:animEffect transition="in" filter="wipe(down)">
                                      <p:cBhvr>
                                        <p:cTn id="2387" dur="500"/>
                                        <p:tgtEl>
                                          <p:spTgt spid="22"/>
                                        </p:tgtEl>
                                      </p:cBhvr>
                                    </p:animEffect>
                                  </p:childTnLst>
                                </p:cTn>
                              </p:par>
                              <p:par>
                                <p:cTn id="2388" presetID="22" presetClass="entr" presetSubtype="4" fill="hold" nodeType="withEffect">
                                  <p:stCondLst>
                                    <p:cond delay="900"/>
                                  </p:stCondLst>
                                  <p:childTnLst>
                                    <p:set>
                                      <p:cBhvr>
                                        <p:cTn id="2389" dur="1" fill="hold">
                                          <p:stCondLst>
                                            <p:cond delay="0"/>
                                          </p:stCondLst>
                                        </p:cTn>
                                        <p:tgtEl>
                                          <p:spTgt spid="23"/>
                                        </p:tgtEl>
                                        <p:attrNameLst>
                                          <p:attrName>style.visibility</p:attrName>
                                        </p:attrNameLst>
                                      </p:cBhvr>
                                      <p:to>
                                        <p:strVal val="visible"/>
                                      </p:to>
                                    </p:set>
                                    <p:animEffect transition="in" filter="wipe(down)">
                                      <p:cBhvr>
                                        <p:cTn id="2390" dur="500"/>
                                        <p:tgtEl>
                                          <p:spTgt spid="23"/>
                                        </p:tgtEl>
                                      </p:cBhvr>
                                    </p:animEffect>
                                  </p:childTnLst>
                                </p:cTn>
                              </p:par>
                              <p:par>
                                <p:cTn id="2391" presetID="22" presetClass="entr" presetSubtype="4" fill="hold" nodeType="withEffect">
                                  <p:stCondLst>
                                    <p:cond delay="900"/>
                                  </p:stCondLst>
                                  <p:childTnLst>
                                    <p:set>
                                      <p:cBhvr>
                                        <p:cTn id="2392" dur="1" fill="hold">
                                          <p:stCondLst>
                                            <p:cond delay="0"/>
                                          </p:stCondLst>
                                        </p:cTn>
                                        <p:tgtEl>
                                          <p:spTgt spid="24"/>
                                        </p:tgtEl>
                                        <p:attrNameLst>
                                          <p:attrName>style.visibility</p:attrName>
                                        </p:attrNameLst>
                                      </p:cBhvr>
                                      <p:to>
                                        <p:strVal val="visible"/>
                                      </p:to>
                                    </p:set>
                                    <p:animEffect transition="in" filter="wipe(down)">
                                      <p:cBhvr>
                                        <p:cTn id="2393" dur="500"/>
                                        <p:tgtEl>
                                          <p:spTgt spid="24"/>
                                        </p:tgtEl>
                                      </p:cBhvr>
                                    </p:animEffect>
                                  </p:childTnLst>
                                </p:cTn>
                              </p:par>
                              <p:par>
                                <p:cTn id="2394" presetID="22" presetClass="entr" presetSubtype="4" fill="hold" nodeType="withEffect">
                                  <p:stCondLst>
                                    <p:cond delay="900"/>
                                  </p:stCondLst>
                                  <p:childTnLst>
                                    <p:set>
                                      <p:cBhvr>
                                        <p:cTn id="2395" dur="1" fill="hold">
                                          <p:stCondLst>
                                            <p:cond delay="0"/>
                                          </p:stCondLst>
                                        </p:cTn>
                                        <p:tgtEl>
                                          <p:spTgt spid="25"/>
                                        </p:tgtEl>
                                        <p:attrNameLst>
                                          <p:attrName>style.visibility</p:attrName>
                                        </p:attrNameLst>
                                      </p:cBhvr>
                                      <p:to>
                                        <p:strVal val="visible"/>
                                      </p:to>
                                    </p:set>
                                    <p:animEffect transition="in" filter="wipe(down)">
                                      <p:cBhvr>
                                        <p:cTn id="2396" dur="500"/>
                                        <p:tgtEl>
                                          <p:spTgt spid="25"/>
                                        </p:tgtEl>
                                      </p:cBhvr>
                                    </p:animEffect>
                                  </p:childTnLst>
                                </p:cTn>
                              </p:par>
                              <p:par>
                                <p:cTn id="2397" presetID="22" presetClass="entr" presetSubtype="4" fill="hold" nodeType="withEffect">
                                  <p:stCondLst>
                                    <p:cond delay="900"/>
                                  </p:stCondLst>
                                  <p:childTnLst>
                                    <p:set>
                                      <p:cBhvr>
                                        <p:cTn id="2398" dur="1" fill="hold">
                                          <p:stCondLst>
                                            <p:cond delay="0"/>
                                          </p:stCondLst>
                                        </p:cTn>
                                        <p:tgtEl>
                                          <p:spTgt spid="26"/>
                                        </p:tgtEl>
                                        <p:attrNameLst>
                                          <p:attrName>style.visibility</p:attrName>
                                        </p:attrNameLst>
                                      </p:cBhvr>
                                      <p:to>
                                        <p:strVal val="visible"/>
                                      </p:to>
                                    </p:set>
                                    <p:animEffect transition="in" filter="wipe(down)">
                                      <p:cBhvr>
                                        <p:cTn id="2399" dur="500"/>
                                        <p:tgtEl>
                                          <p:spTgt spid="26"/>
                                        </p:tgtEl>
                                      </p:cBhvr>
                                    </p:animEffect>
                                  </p:childTnLst>
                                </p:cTn>
                              </p:par>
                              <p:par>
                                <p:cTn id="2400" presetID="22" presetClass="entr" presetSubtype="4" fill="hold" nodeType="withEffect">
                                  <p:stCondLst>
                                    <p:cond delay="900"/>
                                  </p:stCondLst>
                                  <p:childTnLst>
                                    <p:set>
                                      <p:cBhvr>
                                        <p:cTn id="2401" dur="1" fill="hold">
                                          <p:stCondLst>
                                            <p:cond delay="0"/>
                                          </p:stCondLst>
                                        </p:cTn>
                                        <p:tgtEl>
                                          <p:spTgt spid="27"/>
                                        </p:tgtEl>
                                        <p:attrNameLst>
                                          <p:attrName>style.visibility</p:attrName>
                                        </p:attrNameLst>
                                      </p:cBhvr>
                                      <p:to>
                                        <p:strVal val="visible"/>
                                      </p:to>
                                    </p:set>
                                    <p:animEffect transition="in" filter="wipe(down)">
                                      <p:cBhvr>
                                        <p:cTn id="2402" dur="500"/>
                                        <p:tgtEl>
                                          <p:spTgt spid="27"/>
                                        </p:tgtEl>
                                      </p:cBhvr>
                                    </p:animEffect>
                                  </p:childTnLst>
                                </p:cTn>
                              </p:par>
                              <p:par>
                                <p:cTn id="2403" presetID="22" presetClass="entr" presetSubtype="4" fill="hold" nodeType="withEffect">
                                  <p:stCondLst>
                                    <p:cond delay="900"/>
                                  </p:stCondLst>
                                  <p:childTnLst>
                                    <p:set>
                                      <p:cBhvr>
                                        <p:cTn id="2404" dur="1" fill="hold">
                                          <p:stCondLst>
                                            <p:cond delay="0"/>
                                          </p:stCondLst>
                                        </p:cTn>
                                        <p:tgtEl>
                                          <p:spTgt spid="28"/>
                                        </p:tgtEl>
                                        <p:attrNameLst>
                                          <p:attrName>style.visibility</p:attrName>
                                        </p:attrNameLst>
                                      </p:cBhvr>
                                      <p:to>
                                        <p:strVal val="visible"/>
                                      </p:to>
                                    </p:set>
                                    <p:animEffect transition="in" filter="wipe(down)">
                                      <p:cBhvr>
                                        <p:cTn id="2405" dur="500"/>
                                        <p:tgtEl>
                                          <p:spTgt spid="28"/>
                                        </p:tgtEl>
                                      </p:cBhvr>
                                    </p:animEffect>
                                  </p:childTnLst>
                                </p:cTn>
                              </p:par>
                              <p:par>
                                <p:cTn id="2406" presetID="22" presetClass="entr" presetSubtype="4" fill="hold" nodeType="withEffect">
                                  <p:stCondLst>
                                    <p:cond delay="900"/>
                                  </p:stCondLst>
                                  <p:childTnLst>
                                    <p:set>
                                      <p:cBhvr>
                                        <p:cTn id="2407" dur="1" fill="hold">
                                          <p:stCondLst>
                                            <p:cond delay="0"/>
                                          </p:stCondLst>
                                        </p:cTn>
                                        <p:tgtEl>
                                          <p:spTgt spid="29"/>
                                        </p:tgtEl>
                                        <p:attrNameLst>
                                          <p:attrName>style.visibility</p:attrName>
                                        </p:attrNameLst>
                                      </p:cBhvr>
                                      <p:to>
                                        <p:strVal val="visible"/>
                                      </p:to>
                                    </p:set>
                                    <p:animEffect transition="in" filter="wipe(down)">
                                      <p:cBhvr>
                                        <p:cTn id="2408" dur="500"/>
                                        <p:tgtEl>
                                          <p:spTgt spid="29"/>
                                        </p:tgtEl>
                                      </p:cBhvr>
                                    </p:animEffect>
                                  </p:childTnLst>
                                </p:cTn>
                              </p:par>
                              <p:par>
                                <p:cTn id="2409" presetID="22" presetClass="entr" presetSubtype="4" fill="hold" nodeType="withEffect">
                                  <p:stCondLst>
                                    <p:cond delay="900"/>
                                  </p:stCondLst>
                                  <p:childTnLst>
                                    <p:set>
                                      <p:cBhvr>
                                        <p:cTn id="2410" dur="1" fill="hold">
                                          <p:stCondLst>
                                            <p:cond delay="0"/>
                                          </p:stCondLst>
                                        </p:cTn>
                                        <p:tgtEl>
                                          <p:spTgt spid="30"/>
                                        </p:tgtEl>
                                        <p:attrNameLst>
                                          <p:attrName>style.visibility</p:attrName>
                                        </p:attrNameLst>
                                      </p:cBhvr>
                                      <p:to>
                                        <p:strVal val="visible"/>
                                      </p:to>
                                    </p:set>
                                    <p:animEffect transition="in" filter="wipe(down)">
                                      <p:cBhvr>
                                        <p:cTn id="2411" dur="500"/>
                                        <p:tgtEl>
                                          <p:spTgt spid="30"/>
                                        </p:tgtEl>
                                      </p:cBhvr>
                                    </p:animEffect>
                                  </p:childTnLst>
                                </p:cTn>
                              </p:par>
                              <p:par>
                                <p:cTn id="2412" presetID="22" presetClass="entr" presetSubtype="4" fill="hold" nodeType="withEffect">
                                  <p:stCondLst>
                                    <p:cond delay="900"/>
                                  </p:stCondLst>
                                  <p:childTnLst>
                                    <p:set>
                                      <p:cBhvr>
                                        <p:cTn id="2413" dur="1" fill="hold">
                                          <p:stCondLst>
                                            <p:cond delay="0"/>
                                          </p:stCondLst>
                                        </p:cTn>
                                        <p:tgtEl>
                                          <p:spTgt spid="31"/>
                                        </p:tgtEl>
                                        <p:attrNameLst>
                                          <p:attrName>style.visibility</p:attrName>
                                        </p:attrNameLst>
                                      </p:cBhvr>
                                      <p:to>
                                        <p:strVal val="visible"/>
                                      </p:to>
                                    </p:set>
                                    <p:animEffect transition="in" filter="wipe(down)">
                                      <p:cBhvr>
                                        <p:cTn id="2414" dur="500"/>
                                        <p:tgtEl>
                                          <p:spTgt spid="31"/>
                                        </p:tgtEl>
                                      </p:cBhvr>
                                    </p:animEffect>
                                  </p:childTnLst>
                                </p:cTn>
                              </p:par>
                              <p:par>
                                <p:cTn id="2415" presetID="22" presetClass="entr" presetSubtype="4" fill="hold" nodeType="withEffect">
                                  <p:stCondLst>
                                    <p:cond delay="900"/>
                                  </p:stCondLst>
                                  <p:childTnLst>
                                    <p:set>
                                      <p:cBhvr>
                                        <p:cTn id="2416" dur="1" fill="hold">
                                          <p:stCondLst>
                                            <p:cond delay="0"/>
                                          </p:stCondLst>
                                        </p:cTn>
                                        <p:tgtEl>
                                          <p:spTgt spid="32"/>
                                        </p:tgtEl>
                                        <p:attrNameLst>
                                          <p:attrName>style.visibility</p:attrName>
                                        </p:attrNameLst>
                                      </p:cBhvr>
                                      <p:to>
                                        <p:strVal val="visible"/>
                                      </p:to>
                                    </p:set>
                                    <p:animEffect transition="in" filter="wipe(down)">
                                      <p:cBhvr>
                                        <p:cTn id="2417" dur="500"/>
                                        <p:tgtEl>
                                          <p:spTgt spid="32"/>
                                        </p:tgtEl>
                                      </p:cBhvr>
                                    </p:animEffect>
                                  </p:childTnLst>
                                </p:cTn>
                              </p:par>
                              <p:par>
                                <p:cTn id="2418" presetID="22" presetClass="entr" presetSubtype="4" fill="hold" nodeType="withEffect">
                                  <p:stCondLst>
                                    <p:cond delay="900"/>
                                  </p:stCondLst>
                                  <p:childTnLst>
                                    <p:set>
                                      <p:cBhvr>
                                        <p:cTn id="2419" dur="1" fill="hold">
                                          <p:stCondLst>
                                            <p:cond delay="0"/>
                                          </p:stCondLst>
                                        </p:cTn>
                                        <p:tgtEl>
                                          <p:spTgt spid="33"/>
                                        </p:tgtEl>
                                        <p:attrNameLst>
                                          <p:attrName>style.visibility</p:attrName>
                                        </p:attrNameLst>
                                      </p:cBhvr>
                                      <p:to>
                                        <p:strVal val="visible"/>
                                      </p:to>
                                    </p:set>
                                    <p:animEffect transition="in" filter="wipe(down)">
                                      <p:cBhvr>
                                        <p:cTn id="2420" dur="500"/>
                                        <p:tgtEl>
                                          <p:spTgt spid="33"/>
                                        </p:tgtEl>
                                      </p:cBhvr>
                                    </p:animEffect>
                                  </p:childTnLst>
                                </p:cTn>
                              </p:par>
                              <p:par>
                                <p:cTn id="2421" presetID="22" presetClass="entr" presetSubtype="4" fill="hold" nodeType="withEffect">
                                  <p:stCondLst>
                                    <p:cond delay="900"/>
                                  </p:stCondLst>
                                  <p:childTnLst>
                                    <p:set>
                                      <p:cBhvr>
                                        <p:cTn id="2422" dur="1" fill="hold">
                                          <p:stCondLst>
                                            <p:cond delay="0"/>
                                          </p:stCondLst>
                                        </p:cTn>
                                        <p:tgtEl>
                                          <p:spTgt spid="34"/>
                                        </p:tgtEl>
                                        <p:attrNameLst>
                                          <p:attrName>style.visibility</p:attrName>
                                        </p:attrNameLst>
                                      </p:cBhvr>
                                      <p:to>
                                        <p:strVal val="visible"/>
                                      </p:to>
                                    </p:set>
                                    <p:animEffect transition="in" filter="wipe(down)">
                                      <p:cBhvr>
                                        <p:cTn id="2423" dur="500"/>
                                        <p:tgtEl>
                                          <p:spTgt spid="34"/>
                                        </p:tgtEl>
                                      </p:cBhvr>
                                    </p:animEffect>
                                  </p:childTnLst>
                                </p:cTn>
                              </p:par>
                              <p:par>
                                <p:cTn id="2424" presetID="22" presetClass="entr" presetSubtype="4" fill="hold" nodeType="withEffect">
                                  <p:stCondLst>
                                    <p:cond delay="900"/>
                                  </p:stCondLst>
                                  <p:childTnLst>
                                    <p:set>
                                      <p:cBhvr>
                                        <p:cTn id="2425" dur="1" fill="hold">
                                          <p:stCondLst>
                                            <p:cond delay="0"/>
                                          </p:stCondLst>
                                        </p:cTn>
                                        <p:tgtEl>
                                          <p:spTgt spid="35"/>
                                        </p:tgtEl>
                                        <p:attrNameLst>
                                          <p:attrName>style.visibility</p:attrName>
                                        </p:attrNameLst>
                                      </p:cBhvr>
                                      <p:to>
                                        <p:strVal val="visible"/>
                                      </p:to>
                                    </p:set>
                                    <p:animEffect transition="in" filter="wipe(down)">
                                      <p:cBhvr>
                                        <p:cTn id="2426" dur="500"/>
                                        <p:tgtEl>
                                          <p:spTgt spid="35"/>
                                        </p:tgtEl>
                                      </p:cBhvr>
                                    </p:animEffect>
                                  </p:childTnLst>
                                </p:cTn>
                              </p:par>
                              <p:par>
                                <p:cTn id="2427" presetID="22" presetClass="entr" presetSubtype="4" fill="hold" nodeType="withEffect">
                                  <p:stCondLst>
                                    <p:cond delay="900"/>
                                  </p:stCondLst>
                                  <p:childTnLst>
                                    <p:set>
                                      <p:cBhvr>
                                        <p:cTn id="2428" dur="1" fill="hold">
                                          <p:stCondLst>
                                            <p:cond delay="0"/>
                                          </p:stCondLst>
                                        </p:cTn>
                                        <p:tgtEl>
                                          <p:spTgt spid="58"/>
                                        </p:tgtEl>
                                        <p:attrNameLst>
                                          <p:attrName>style.visibility</p:attrName>
                                        </p:attrNameLst>
                                      </p:cBhvr>
                                      <p:to>
                                        <p:strVal val="visible"/>
                                      </p:to>
                                    </p:set>
                                    <p:animEffect transition="in" filter="wipe(down)">
                                      <p:cBhvr>
                                        <p:cTn id="2429" dur="500"/>
                                        <p:tgtEl>
                                          <p:spTgt spid="58"/>
                                        </p:tgtEl>
                                      </p:cBhvr>
                                    </p:animEffect>
                                  </p:childTnLst>
                                </p:cTn>
                              </p:par>
                              <p:par>
                                <p:cTn id="2430" presetID="22" presetClass="entr" presetSubtype="4" fill="hold" nodeType="withEffect">
                                  <p:stCondLst>
                                    <p:cond delay="900"/>
                                  </p:stCondLst>
                                  <p:childTnLst>
                                    <p:set>
                                      <p:cBhvr>
                                        <p:cTn id="2431" dur="1" fill="hold">
                                          <p:stCondLst>
                                            <p:cond delay="0"/>
                                          </p:stCondLst>
                                        </p:cTn>
                                        <p:tgtEl>
                                          <p:spTgt spid="59"/>
                                        </p:tgtEl>
                                        <p:attrNameLst>
                                          <p:attrName>style.visibility</p:attrName>
                                        </p:attrNameLst>
                                      </p:cBhvr>
                                      <p:to>
                                        <p:strVal val="visible"/>
                                      </p:to>
                                    </p:set>
                                    <p:animEffect transition="in" filter="wipe(down)">
                                      <p:cBhvr>
                                        <p:cTn id="2432" dur="500"/>
                                        <p:tgtEl>
                                          <p:spTgt spid="59"/>
                                        </p:tgtEl>
                                      </p:cBhvr>
                                    </p:animEffect>
                                  </p:childTnLst>
                                </p:cTn>
                              </p:par>
                            </p:childTnLst>
                          </p:cTn>
                        </p:par>
                      </p:childTnLst>
                    </p:cTn>
                  </p:par>
                  <p:par>
                    <p:cTn id="2564" fill="hold">
                      <p:stCondLst>
                        <p:cond delay="indefinite"/>
                      </p:stCondLst>
                      <p:childTnLst>
                        <p:par>
                          <p:cTn id="2565" fill="hold">
                            <p:stCondLst>
                              <p:cond delay="0"/>
                            </p:stCondLst>
                            <p:childTnLst>
                              <p:par>
                                <p:cTn id="2435" presetID="10" presetClass="exit" presetSubtype="0" fill="hold" nodeType="clickEffect">
                                  <p:stCondLst>
                                    <p:cond delay="0"/>
                                  </p:stCondLst>
                                  <p:childTnLst>
                                    <p:animEffect transition="out" filter="fade">
                                      <p:cBhvr>
                                        <p:cTn id="2436" dur="400"/>
                                        <p:tgtEl>
                                          <p:spTgt spid="13"/>
                                        </p:tgtEl>
                                      </p:cBhvr>
                                    </p:animEffect>
                                    <p:set>
                                      <p:cBhvr>
                                        <p:cTn id="2437" dur="1" fill="hold">
                                          <p:stCondLst>
                                            <p:cond delay="399"/>
                                          </p:stCondLst>
                                        </p:cTn>
                                        <p:tgtEl>
                                          <p:spTgt spid="13"/>
                                        </p:tgtEl>
                                        <p:attrNameLst>
                                          <p:attrName>style.visibility</p:attrName>
                                        </p:attrNameLst>
                                      </p:cBhvr>
                                      <p:to>
                                        <p:strVal val="hidden"/>
                                      </p:to>
                                    </p:set>
                                  </p:childTnLst>
                                </p:cTn>
                              </p:par>
                              <p:par>
                                <p:cTn id="2438" presetID="10" presetClass="exit" presetSubtype="0" fill="hold" nodeType="withEffect">
                                  <p:stCondLst>
                                    <p:cond delay="0"/>
                                  </p:stCondLst>
                                  <p:childTnLst>
                                    <p:animEffect transition="out" filter="fade">
                                      <p:cBhvr>
                                        <p:cTn id="2439" dur="400"/>
                                        <p:tgtEl>
                                          <p:spTgt spid="14"/>
                                        </p:tgtEl>
                                      </p:cBhvr>
                                    </p:animEffect>
                                    <p:set>
                                      <p:cBhvr>
                                        <p:cTn id="2440" dur="1" fill="hold">
                                          <p:stCondLst>
                                            <p:cond delay="399"/>
                                          </p:stCondLst>
                                        </p:cTn>
                                        <p:tgtEl>
                                          <p:spTgt spid="14"/>
                                        </p:tgtEl>
                                        <p:attrNameLst>
                                          <p:attrName>style.visibility</p:attrName>
                                        </p:attrNameLst>
                                      </p:cBhvr>
                                      <p:to>
                                        <p:strVal val="hidden"/>
                                      </p:to>
                                    </p:set>
                                  </p:childTnLst>
                                </p:cTn>
                              </p:par>
                              <p:par>
                                <p:cTn id="2441" presetID="10" presetClass="exit" presetSubtype="0" fill="hold" nodeType="withEffect">
                                  <p:stCondLst>
                                    <p:cond delay="0"/>
                                  </p:stCondLst>
                                  <p:childTnLst>
                                    <p:animEffect transition="out" filter="fade">
                                      <p:cBhvr>
                                        <p:cTn id="2442" dur="400"/>
                                        <p:tgtEl>
                                          <p:spTgt spid="15"/>
                                        </p:tgtEl>
                                      </p:cBhvr>
                                    </p:animEffect>
                                    <p:set>
                                      <p:cBhvr>
                                        <p:cTn id="2443" dur="1" fill="hold">
                                          <p:stCondLst>
                                            <p:cond delay="399"/>
                                          </p:stCondLst>
                                        </p:cTn>
                                        <p:tgtEl>
                                          <p:spTgt spid="15"/>
                                        </p:tgtEl>
                                        <p:attrNameLst>
                                          <p:attrName>style.visibility</p:attrName>
                                        </p:attrNameLst>
                                      </p:cBhvr>
                                      <p:to>
                                        <p:strVal val="hidden"/>
                                      </p:to>
                                    </p:set>
                                  </p:childTnLst>
                                </p:cTn>
                              </p:par>
                              <p:par>
                                <p:cTn id="2444" presetID="10" presetClass="exit" presetSubtype="0" fill="hold" nodeType="withEffect">
                                  <p:stCondLst>
                                    <p:cond delay="0"/>
                                  </p:stCondLst>
                                  <p:childTnLst>
                                    <p:animEffect transition="out" filter="fade">
                                      <p:cBhvr>
                                        <p:cTn id="2445" dur="400"/>
                                        <p:tgtEl>
                                          <p:spTgt spid="16"/>
                                        </p:tgtEl>
                                      </p:cBhvr>
                                    </p:animEffect>
                                    <p:set>
                                      <p:cBhvr>
                                        <p:cTn id="2446" dur="1" fill="hold">
                                          <p:stCondLst>
                                            <p:cond delay="399"/>
                                          </p:stCondLst>
                                        </p:cTn>
                                        <p:tgtEl>
                                          <p:spTgt spid="16"/>
                                        </p:tgtEl>
                                        <p:attrNameLst>
                                          <p:attrName>style.visibility</p:attrName>
                                        </p:attrNameLst>
                                      </p:cBhvr>
                                      <p:to>
                                        <p:strVal val="hidden"/>
                                      </p:to>
                                    </p:set>
                                  </p:childTnLst>
                                </p:cTn>
                              </p:par>
                              <p:par>
                                <p:cTn id="2447" presetID="10" presetClass="exit" presetSubtype="0" fill="hold" nodeType="withEffect">
                                  <p:stCondLst>
                                    <p:cond delay="0"/>
                                  </p:stCondLst>
                                  <p:childTnLst>
                                    <p:animEffect transition="out" filter="fade">
                                      <p:cBhvr>
                                        <p:cTn id="2448" dur="400"/>
                                        <p:tgtEl>
                                          <p:spTgt spid="17"/>
                                        </p:tgtEl>
                                      </p:cBhvr>
                                    </p:animEffect>
                                    <p:set>
                                      <p:cBhvr>
                                        <p:cTn id="2449" dur="1" fill="hold">
                                          <p:stCondLst>
                                            <p:cond delay="399"/>
                                          </p:stCondLst>
                                        </p:cTn>
                                        <p:tgtEl>
                                          <p:spTgt spid="17"/>
                                        </p:tgtEl>
                                        <p:attrNameLst>
                                          <p:attrName>style.visibility</p:attrName>
                                        </p:attrNameLst>
                                      </p:cBhvr>
                                      <p:to>
                                        <p:strVal val="hidden"/>
                                      </p:to>
                                    </p:set>
                                  </p:childTnLst>
                                </p:cTn>
                              </p:par>
                              <p:par>
                                <p:cTn id="2450" presetID="10" presetClass="exit" presetSubtype="0" fill="hold" nodeType="withEffect">
                                  <p:stCondLst>
                                    <p:cond delay="0"/>
                                  </p:stCondLst>
                                  <p:childTnLst>
                                    <p:animEffect transition="out" filter="fade">
                                      <p:cBhvr>
                                        <p:cTn id="2451" dur="400"/>
                                        <p:tgtEl>
                                          <p:spTgt spid="18"/>
                                        </p:tgtEl>
                                      </p:cBhvr>
                                    </p:animEffect>
                                    <p:set>
                                      <p:cBhvr>
                                        <p:cTn id="2452" dur="1" fill="hold">
                                          <p:stCondLst>
                                            <p:cond delay="399"/>
                                          </p:stCondLst>
                                        </p:cTn>
                                        <p:tgtEl>
                                          <p:spTgt spid="18"/>
                                        </p:tgtEl>
                                        <p:attrNameLst>
                                          <p:attrName>style.visibility</p:attrName>
                                        </p:attrNameLst>
                                      </p:cBhvr>
                                      <p:to>
                                        <p:strVal val="hidden"/>
                                      </p:to>
                                    </p:set>
                                  </p:childTnLst>
                                </p:cTn>
                              </p:par>
                              <p:par>
                                <p:cTn id="2453" presetID="10" presetClass="exit" presetSubtype="0" fill="hold" nodeType="withEffect">
                                  <p:stCondLst>
                                    <p:cond delay="0"/>
                                  </p:stCondLst>
                                  <p:childTnLst>
                                    <p:animEffect transition="out" filter="fade">
                                      <p:cBhvr>
                                        <p:cTn id="2454" dur="400"/>
                                        <p:tgtEl>
                                          <p:spTgt spid="19"/>
                                        </p:tgtEl>
                                      </p:cBhvr>
                                    </p:animEffect>
                                    <p:set>
                                      <p:cBhvr>
                                        <p:cTn id="2455" dur="1" fill="hold">
                                          <p:stCondLst>
                                            <p:cond delay="399"/>
                                          </p:stCondLst>
                                        </p:cTn>
                                        <p:tgtEl>
                                          <p:spTgt spid="19"/>
                                        </p:tgtEl>
                                        <p:attrNameLst>
                                          <p:attrName>style.visibility</p:attrName>
                                        </p:attrNameLst>
                                      </p:cBhvr>
                                      <p:to>
                                        <p:strVal val="hidden"/>
                                      </p:to>
                                    </p:set>
                                  </p:childTnLst>
                                </p:cTn>
                              </p:par>
                              <p:par>
                                <p:cTn id="2456" presetID="10" presetClass="exit" presetSubtype="0" fill="hold" nodeType="withEffect">
                                  <p:stCondLst>
                                    <p:cond delay="0"/>
                                  </p:stCondLst>
                                  <p:childTnLst>
                                    <p:animEffect transition="out" filter="fade">
                                      <p:cBhvr>
                                        <p:cTn id="2457" dur="400"/>
                                        <p:tgtEl>
                                          <p:spTgt spid="20"/>
                                        </p:tgtEl>
                                      </p:cBhvr>
                                    </p:animEffect>
                                    <p:set>
                                      <p:cBhvr>
                                        <p:cTn id="2458" dur="1" fill="hold">
                                          <p:stCondLst>
                                            <p:cond delay="399"/>
                                          </p:stCondLst>
                                        </p:cTn>
                                        <p:tgtEl>
                                          <p:spTgt spid="20"/>
                                        </p:tgtEl>
                                        <p:attrNameLst>
                                          <p:attrName>style.visibility</p:attrName>
                                        </p:attrNameLst>
                                      </p:cBhvr>
                                      <p:to>
                                        <p:strVal val="hidden"/>
                                      </p:to>
                                    </p:set>
                                  </p:childTnLst>
                                </p:cTn>
                              </p:par>
                              <p:par>
                                <p:cTn id="2459" presetID="10" presetClass="exit" presetSubtype="0" fill="hold" nodeType="withEffect">
                                  <p:stCondLst>
                                    <p:cond delay="0"/>
                                  </p:stCondLst>
                                  <p:childTnLst>
                                    <p:animEffect transition="out" filter="fade">
                                      <p:cBhvr>
                                        <p:cTn id="2460" dur="400"/>
                                        <p:tgtEl>
                                          <p:spTgt spid="21"/>
                                        </p:tgtEl>
                                      </p:cBhvr>
                                    </p:animEffect>
                                    <p:set>
                                      <p:cBhvr>
                                        <p:cTn id="2461" dur="1" fill="hold">
                                          <p:stCondLst>
                                            <p:cond delay="399"/>
                                          </p:stCondLst>
                                        </p:cTn>
                                        <p:tgtEl>
                                          <p:spTgt spid="21"/>
                                        </p:tgtEl>
                                        <p:attrNameLst>
                                          <p:attrName>style.visibility</p:attrName>
                                        </p:attrNameLst>
                                      </p:cBhvr>
                                      <p:to>
                                        <p:strVal val="hidden"/>
                                      </p:to>
                                    </p:set>
                                  </p:childTnLst>
                                </p:cTn>
                              </p:par>
                              <p:par>
                                <p:cTn id="2462" presetID="10" presetClass="exit" presetSubtype="0" fill="hold" nodeType="withEffect">
                                  <p:stCondLst>
                                    <p:cond delay="0"/>
                                  </p:stCondLst>
                                  <p:childTnLst>
                                    <p:animEffect transition="out" filter="fade">
                                      <p:cBhvr>
                                        <p:cTn id="2463" dur="400"/>
                                        <p:tgtEl>
                                          <p:spTgt spid="22"/>
                                        </p:tgtEl>
                                      </p:cBhvr>
                                    </p:animEffect>
                                    <p:set>
                                      <p:cBhvr>
                                        <p:cTn id="2464" dur="1" fill="hold">
                                          <p:stCondLst>
                                            <p:cond delay="399"/>
                                          </p:stCondLst>
                                        </p:cTn>
                                        <p:tgtEl>
                                          <p:spTgt spid="22"/>
                                        </p:tgtEl>
                                        <p:attrNameLst>
                                          <p:attrName>style.visibility</p:attrName>
                                        </p:attrNameLst>
                                      </p:cBhvr>
                                      <p:to>
                                        <p:strVal val="hidden"/>
                                      </p:to>
                                    </p:set>
                                  </p:childTnLst>
                                </p:cTn>
                              </p:par>
                              <p:par>
                                <p:cTn id="2465" presetID="10" presetClass="exit" presetSubtype="0" fill="hold" nodeType="withEffect">
                                  <p:stCondLst>
                                    <p:cond delay="0"/>
                                  </p:stCondLst>
                                  <p:childTnLst>
                                    <p:animEffect transition="out" filter="fade">
                                      <p:cBhvr>
                                        <p:cTn id="2466" dur="400"/>
                                        <p:tgtEl>
                                          <p:spTgt spid="23"/>
                                        </p:tgtEl>
                                      </p:cBhvr>
                                    </p:animEffect>
                                    <p:set>
                                      <p:cBhvr>
                                        <p:cTn id="2467" dur="1" fill="hold">
                                          <p:stCondLst>
                                            <p:cond delay="399"/>
                                          </p:stCondLst>
                                        </p:cTn>
                                        <p:tgtEl>
                                          <p:spTgt spid="23"/>
                                        </p:tgtEl>
                                        <p:attrNameLst>
                                          <p:attrName>style.visibility</p:attrName>
                                        </p:attrNameLst>
                                      </p:cBhvr>
                                      <p:to>
                                        <p:strVal val="hidden"/>
                                      </p:to>
                                    </p:set>
                                  </p:childTnLst>
                                </p:cTn>
                              </p:par>
                              <p:par>
                                <p:cTn id="2468" presetID="10" presetClass="exit" presetSubtype="0" fill="hold" nodeType="withEffect">
                                  <p:stCondLst>
                                    <p:cond delay="0"/>
                                  </p:stCondLst>
                                  <p:childTnLst>
                                    <p:animEffect transition="out" filter="fade">
                                      <p:cBhvr>
                                        <p:cTn id="2469" dur="400"/>
                                        <p:tgtEl>
                                          <p:spTgt spid="24"/>
                                        </p:tgtEl>
                                      </p:cBhvr>
                                    </p:animEffect>
                                    <p:set>
                                      <p:cBhvr>
                                        <p:cTn id="2470" dur="1" fill="hold">
                                          <p:stCondLst>
                                            <p:cond delay="399"/>
                                          </p:stCondLst>
                                        </p:cTn>
                                        <p:tgtEl>
                                          <p:spTgt spid="24"/>
                                        </p:tgtEl>
                                        <p:attrNameLst>
                                          <p:attrName>style.visibility</p:attrName>
                                        </p:attrNameLst>
                                      </p:cBhvr>
                                      <p:to>
                                        <p:strVal val="hidden"/>
                                      </p:to>
                                    </p:set>
                                  </p:childTnLst>
                                </p:cTn>
                              </p:par>
                              <p:par>
                                <p:cTn id="2471" presetID="10" presetClass="exit" presetSubtype="0" fill="hold" nodeType="withEffect">
                                  <p:stCondLst>
                                    <p:cond delay="0"/>
                                  </p:stCondLst>
                                  <p:childTnLst>
                                    <p:animEffect transition="out" filter="fade">
                                      <p:cBhvr>
                                        <p:cTn id="2472" dur="400"/>
                                        <p:tgtEl>
                                          <p:spTgt spid="25"/>
                                        </p:tgtEl>
                                      </p:cBhvr>
                                    </p:animEffect>
                                    <p:set>
                                      <p:cBhvr>
                                        <p:cTn id="2473" dur="1" fill="hold">
                                          <p:stCondLst>
                                            <p:cond delay="399"/>
                                          </p:stCondLst>
                                        </p:cTn>
                                        <p:tgtEl>
                                          <p:spTgt spid="25"/>
                                        </p:tgtEl>
                                        <p:attrNameLst>
                                          <p:attrName>style.visibility</p:attrName>
                                        </p:attrNameLst>
                                      </p:cBhvr>
                                      <p:to>
                                        <p:strVal val="hidden"/>
                                      </p:to>
                                    </p:set>
                                  </p:childTnLst>
                                </p:cTn>
                              </p:par>
                              <p:par>
                                <p:cTn id="2474" presetID="10" presetClass="exit" presetSubtype="0" fill="hold" nodeType="withEffect">
                                  <p:stCondLst>
                                    <p:cond delay="0"/>
                                  </p:stCondLst>
                                  <p:childTnLst>
                                    <p:animEffect transition="out" filter="fade">
                                      <p:cBhvr>
                                        <p:cTn id="2475" dur="400"/>
                                        <p:tgtEl>
                                          <p:spTgt spid="26"/>
                                        </p:tgtEl>
                                      </p:cBhvr>
                                    </p:animEffect>
                                    <p:set>
                                      <p:cBhvr>
                                        <p:cTn id="2476" dur="1" fill="hold">
                                          <p:stCondLst>
                                            <p:cond delay="399"/>
                                          </p:stCondLst>
                                        </p:cTn>
                                        <p:tgtEl>
                                          <p:spTgt spid="26"/>
                                        </p:tgtEl>
                                        <p:attrNameLst>
                                          <p:attrName>style.visibility</p:attrName>
                                        </p:attrNameLst>
                                      </p:cBhvr>
                                      <p:to>
                                        <p:strVal val="hidden"/>
                                      </p:to>
                                    </p:set>
                                  </p:childTnLst>
                                </p:cTn>
                              </p:par>
                              <p:par>
                                <p:cTn id="2477" presetID="10" presetClass="exit" presetSubtype="0" fill="hold" nodeType="withEffect">
                                  <p:stCondLst>
                                    <p:cond delay="0"/>
                                  </p:stCondLst>
                                  <p:childTnLst>
                                    <p:animEffect transition="out" filter="fade">
                                      <p:cBhvr>
                                        <p:cTn id="2478" dur="400"/>
                                        <p:tgtEl>
                                          <p:spTgt spid="27"/>
                                        </p:tgtEl>
                                      </p:cBhvr>
                                    </p:animEffect>
                                    <p:set>
                                      <p:cBhvr>
                                        <p:cTn id="2479" dur="1" fill="hold">
                                          <p:stCondLst>
                                            <p:cond delay="399"/>
                                          </p:stCondLst>
                                        </p:cTn>
                                        <p:tgtEl>
                                          <p:spTgt spid="27"/>
                                        </p:tgtEl>
                                        <p:attrNameLst>
                                          <p:attrName>style.visibility</p:attrName>
                                        </p:attrNameLst>
                                      </p:cBhvr>
                                      <p:to>
                                        <p:strVal val="hidden"/>
                                      </p:to>
                                    </p:set>
                                  </p:childTnLst>
                                </p:cTn>
                              </p:par>
                              <p:par>
                                <p:cTn id="2480" presetID="10" presetClass="exit" presetSubtype="0" fill="hold" nodeType="withEffect">
                                  <p:stCondLst>
                                    <p:cond delay="0"/>
                                  </p:stCondLst>
                                  <p:childTnLst>
                                    <p:animEffect transition="out" filter="fade">
                                      <p:cBhvr>
                                        <p:cTn id="2481" dur="400"/>
                                        <p:tgtEl>
                                          <p:spTgt spid="28"/>
                                        </p:tgtEl>
                                      </p:cBhvr>
                                    </p:animEffect>
                                    <p:set>
                                      <p:cBhvr>
                                        <p:cTn id="2482" dur="1" fill="hold">
                                          <p:stCondLst>
                                            <p:cond delay="399"/>
                                          </p:stCondLst>
                                        </p:cTn>
                                        <p:tgtEl>
                                          <p:spTgt spid="28"/>
                                        </p:tgtEl>
                                        <p:attrNameLst>
                                          <p:attrName>style.visibility</p:attrName>
                                        </p:attrNameLst>
                                      </p:cBhvr>
                                      <p:to>
                                        <p:strVal val="hidden"/>
                                      </p:to>
                                    </p:set>
                                  </p:childTnLst>
                                </p:cTn>
                              </p:par>
                              <p:par>
                                <p:cTn id="2483" presetID="10" presetClass="exit" presetSubtype="0" fill="hold" nodeType="withEffect">
                                  <p:stCondLst>
                                    <p:cond delay="0"/>
                                  </p:stCondLst>
                                  <p:childTnLst>
                                    <p:animEffect transition="out" filter="fade">
                                      <p:cBhvr>
                                        <p:cTn id="2484" dur="400"/>
                                        <p:tgtEl>
                                          <p:spTgt spid="29"/>
                                        </p:tgtEl>
                                      </p:cBhvr>
                                    </p:animEffect>
                                    <p:set>
                                      <p:cBhvr>
                                        <p:cTn id="2485" dur="1" fill="hold">
                                          <p:stCondLst>
                                            <p:cond delay="399"/>
                                          </p:stCondLst>
                                        </p:cTn>
                                        <p:tgtEl>
                                          <p:spTgt spid="29"/>
                                        </p:tgtEl>
                                        <p:attrNameLst>
                                          <p:attrName>style.visibility</p:attrName>
                                        </p:attrNameLst>
                                      </p:cBhvr>
                                      <p:to>
                                        <p:strVal val="hidden"/>
                                      </p:to>
                                    </p:set>
                                  </p:childTnLst>
                                </p:cTn>
                              </p:par>
                              <p:par>
                                <p:cTn id="2486" presetID="10" presetClass="exit" presetSubtype="0" fill="hold" nodeType="withEffect">
                                  <p:stCondLst>
                                    <p:cond delay="0"/>
                                  </p:stCondLst>
                                  <p:childTnLst>
                                    <p:animEffect transition="out" filter="fade">
                                      <p:cBhvr>
                                        <p:cTn id="2487" dur="400"/>
                                        <p:tgtEl>
                                          <p:spTgt spid="30"/>
                                        </p:tgtEl>
                                      </p:cBhvr>
                                    </p:animEffect>
                                    <p:set>
                                      <p:cBhvr>
                                        <p:cTn id="2488" dur="1" fill="hold">
                                          <p:stCondLst>
                                            <p:cond delay="399"/>
                                          </p:stCondLst>
                                        </p:cTn>
                                        <p:tgtEl>
                                          <p:spTgt spid="30"/>
                                        </p:tgtEl>
                                        <p:attrNameLst>
                                          <p:attrName>style.visibility</p:attrName>
                                        </p:attrNameLst>
                                      </p:cBhvr>
                                      <p:to>
                                        <p:strVal val="hidden"/>
                                      </p:to>
                                    </p:set>
                                  </p:childTnLst>
                                </p:cTn>
                              </p:par>
                              <p:par>
                                <p:cTn id="2489" presetID="10" presetClass="exit" presetSubtype="0" fill="hold" nodeType="withEffect">
                                  <p:stCondLst>
                                    <p:cond delay="0"/>
                                  </p:stCondLst>
                                  <p:childTnLst>
                                    <p:animEffect transition="out" filter="fade">
                                      <p:cBhvr>
                                        <p:cTn id="2490" dur="400"/>
                                        <p:tgtEl>
                                          <p:spTgt spid="31"/>
                                        </p:tgtEl>
                                      </p:cBhvr>
                                    </p:animEffect>
                                    <p:set>
                                      <p:cBhvr>
                                        <p:cTn id="2491" dur="1" fill="hold">
                                          <p:stCondLst>
                                            <p:cond delay="399"/>
                                          </p:stCondLst>
                                        </p:cTn>
                                        <p:tgtEl>
                                          <p:spTgt spid="31"/>
                                        </p:tgtEl>
                                        <p:attrNameLst>
                                          <p:attrName>style.visibility</p:attrName>
                                        </p:attrNameLst>
                                      </p:cBhvr>
                                      <p:to>
                                        <p:strVal val="hidden"/>
                                      </p:to>
                                    </p:set>
                                  </p:childTnLst>
                                </p:cTn>
                              </p:par>
                              <p:par>
                                <p:cTn id="2492" presetID="10" presetClass="exit" presetSubtype="0" fill="hold" nodeType="withEffect">
                                  <p:stCondLst>
                                    <p:cond delay="0"/>
                                  </p:stCondLst>
                                  <p:childTnLst>
                                    <p:animEffect transition="out" filter="fade">
                                      <p:cBhvr>
                                        <p:cTn id="2493" dur="400"/>
                                        <p:tgtEl>
                                          <p:spTgt spid="32"/>
                                        </p:tgtEl>
                                      </p:cBhvr>
                                    </p:animEffect>
                                    <p:set>
                                      <p:cBhvr>
                                        <p:cTn id="2494" dur="1" fill="hold">
                                          <p:stCondLst>
                                            <p:cond delay="399"/>
                                          </p:stCondLst>
                                        </p:cTn>
                                        <p:tgtEl>
                                          <p:spTgt spid="32"/>
                                        </p:tgtEl>
                                        <p:attrNameLst>
                                          <p:attrName>style.visibility</p:attrName>
                                        </p:attrNameLst>
                                      </p:cBhvr>
                                      <p:to>
                                        <p:strVal val="hidden"/>
                                      </p:to>
                                    </p:set>
                                  </p:childTnLst>
                                </p:cTn>
                              </p:par>
                              <p:par>
                                <p:cTn id="2495" presetID="10" presetClass="exit" presetSubtype="0" fill="hold" nodeType="withEffect">
                                  <p:stCondLst>
                                    <p:cond delay="0"/>
                                  </p:stCondLst>
                                  <p:childTnLst>
                                    <p:animEffect transition="out" filter="fade">
                                      <p:cBhvr>
                                        <p:cTn id="2496" dur="400"/>
                                        <p:tgtEl>
                                          <p:spTgt spid="33"/>
                                        </p:tgtEl>
                                      </p:cBhvr>
                                    </p:animEffect>
                                    <p:set>
                                      <p:cBhvr>
                                        <p:cTn id="2497" dur="1" fill="hold">
                                          <p:stCondLst>
                                            <p:cond delay="399"/>
                                          </p:stCondLst>
                                        </p:cTn>
                                        <p:tgtEl>
                                          <p:spTgt spid="33"/>
                                        </p:tgtEl>
                                        <p:attrNameLst>
                                          <p:attrName>style.visibility</p:attrName>
                                        </p:attrNameLst>
                                      </p:cBhvr>
                                      <p:to>
                                        <p:strVal val="hidden"/>
                                      </p:to>
                                    </p:set>
                                  </p:childTnLst>
                                </p:cTn>
                              </p:par>
                              <p:par>
                                <p:cTn id="2498" presetID="10" presetClass="exit" presetSubtype="0" fill="hold" nodeType="withEffect">
                                  <p:stCondLst>
                                    <p:cond delay="0"/>
                                  </p:stCondLst>
                                  <p:childTnLst>
                                    <p:animEffect transition="out" filter="fade">
                                      <p:cBhvr>
                                        <p:cTn id="2499" dur="400"/>
                                        <p:tgtEl>
                                          <p:spTgt spid="34"/>
                                        </p:tgtEl>
                                      </p:cBhvr>
                                    </p:animEffect>
                                    <p:set>
                                      <p:cBhvr>
                                        <p:cTn id="2500" dur="1" fill="hold">
                                          <p:stCondLst>
                                            <p:cond delay="399"/>
                                          </p:stCondLst>
                                        </p:cTn>
                                        <p:tgtEl>
                                          <p:spTgt spid="34"/>
                                        </p:tgtEl>
                                        <p:attrNameLst>
                                          <p:attrName>style.visibility</p:attrName>
                                        </p:attrNameLst>
                                      </p:cBhvr>
                                      <p:to>
                                        <p:strVal val="hidden"/>
                                      </p:to>
                                    </p:set>
                                  </p:childTnLst>
                                </p:cTn>
                              </p:par>
                              <p:par>
                                <p:cTn id="2501" presetID="10" presetClass="exit" presetSubtype="0" fill="hold" nodeType="withEffect">
                                  <p:stCondLst>
                                    <p:cond delay="0"/>
                                  </p:stCondLst>
                                  <p:childTnLst>
                                    <p:animEffect transition="out" filter="fade">
                                      <p:cBhvr>
                                        <p:cTn id="2502" dur="400"/>
                                        <p:tgtEl>
                                          <p:spTgt spid="35"/>
                                        </p:tgtEl>
                                      </p:cBhvr>
                                    </p:animEffect>
                                    <p:set>
                                      <p:cBhvr>
                                        <p:cTn id="2503" dur="1" fill="hold">
                                          <p:stCondLst>
                                            <p:cond delay="399"/>
                                          </p:stCondLst>
                                        </p:cTn>
                                        <p:tgtEl>
                                          <p:spTgt spid="35"/>
                                        </p:tgtEl>
                                        <p:attrNameLst>
                                          <p:attrName>style.visibility</p:attrName>
                                        </p:attrNameLst>
                                      </p:cBhvr>
                                      <p:to>
                                        <p:strVal val="hidden"/>
                                      </p:to>
                                    </p:set>
                                  </p:childTnLst>
                                </p:cTn>
                              </p:par>
                              <p:par>
                                <p:cTn id="2504" presetID="10" presetClass="exit" presetSubtype="0" fill="hold" nodeType="withEffect">
                                  <p:stCondLst>
                                    <p:cond delay="0"/>
                                  </p:stCondLst>
                                  <p:childTnLst>
                                    <p:animEffect transition="out" filter="fade">
                                      <p:cBhvr>
                                        <p:cTn id="2505" dur="400"/>
                                        <p:tgtEl>
                                          <p:spTgt spid="58"/>
                                        </p:tgtEl>
                                      </p:cBhvr>
                                    </p:animEffect>
                                    <p:set>
                                      <p:cBhvr>
                                        <p:cTn id="2506" dur="1" fill="hold">
                                          <p:stCondLst>
                                            <p:cond delay="399"/>
                                          </p:stCondLst>
                                        </p:cTn>
                                        <p:tgtEl>
                                          <p:spTgt spid="58"/>
                                        </p:tgtEl>
                                        <p:attrNameLst>
                                          <p:attrName>style.visibility</p:attrName>
                                        </p:attrNameLst>
                                      </p:cBhvr>
                                      <p:to>
                                        <p:strVal val="hidden"/>
                                      </p:to>
                                    </p:set>
                                  </p:childTnLst>
                                </p:cTn>
                              </p:par>
                              <p:par>
                                <p:cTn id="2507" presetID="10" presetClass="exit" presetSubtype="0" fill="hold" nodeType="withEffect">
                                  <p:stCondLst>
                                    <p:cond delay="0"/>
                                  </p:stCondLst>
                                  <p:childTnLst>
                                    <p:animEffect transition="out" filter="fade">
                                      <p:cBhvr>
                                        <p:cTn id="2508" dur="400"/>
                                        <p:tgtEl>
                                          <p:spTgt spid="59"/>
                                        </p:tgtEl>
                                      </p:cBhvr>
                                    </p:animEffect>
                                    <p:set>
                                      <p:cBhvr>
                                        <p:cTn id="2509" dur="1" fill="hold">
                                          <p:stCondLst>
                                            <p:cond delay="399"/>
                                          </p:stCondLst>
                                        </p:cTn>
                                        <p:tgtEl>
                                          <p:spTgt spid="59"/>
                                        </p:tgtEl>
                                        <p:attrNameLst>
                                          <p:attrName>style.visibility</p:attrName>
                                        </p:attrNameLst>
                                      </p:cBhvr>
                                      <p:to>
                                        <p:strVal val="hidden"/>
                                      </p:to>
                                    </p:set>
                                  </p:childTnLst>
                                </p:cTn>
                              </p:par>
                              <p:par>
                                <p:cTn id="2510" presetID="10" presetClass="entr" presetSubtype="0" fill="hold" nodeType="withEffect">
                                  <p:stCondLst>
                                    <p:cond delay="200"/>
                                  </p:stCondLst>
                                  <p:childTnLst>
                                    <p:set>
                                      <p:cBhvr>
                                        <p:cTn id="2511" dur="1" fill="hold">
                                          <p:stCondLst>
                                            <p:cond delay="0"/>
                                          </p:stCondLst>
                                        </p:cTn>
                                        <p:tgtEl>
                                          <p:spTgt spid="36"/>
                                        </p:tgtEl>
                                        <p:attrNameLst>
                                          <p:attrName>style.visibility</p:attrName>
                                        </p:attrNameLst>
                                      </p:cBhvr>
                                      <p:to>
                                        <p:strVal val="visible"/>
                                      </p:to>
                                    </p:set>
                                    <p:animEffect transition="in" filter="fade">
                                      <p:cBhvr>
                                        <p:cTn id="2512" dur="500"/>
                                        <p:tgtEl>
                                          <p:spTgt spid="36"/>
                                        </p:tgtEl>
                                      </p:cBhvr>
                                    </p:animEffect>
                                  </p:childTnLst>
                                </p:cTn>
                              </p:par>
                              <p:par>
                                <p:cTn id="2513" presetID="10" presetClass="entr" presetSubtype="0" fill="hold" nodeType="withEffect">
                                  <p:stCondLst>
                                    <p:cond delay="270"/>
                                  </p:stCondLst>
                                  <p:childTnLst>
                                    <p:set>
                                      <p:cBhvr>
                                        <p:cTn id="2514" dur="1" fill="hold">
                                          <p:stCondLst>
                                            <p:cond delay="0"/>
                                          </p:stCondLst>
                                        </p:cTn>
                                        <p:tgtEl>
                                          <p:spTgt spid="37"/>
                                        </p:tgtEl>
                                        <p:attrNameLst>
                                          <p:attrName>style.visibility</p:attrName>
                                        </p:attrNameLst>
                                      </p:cBhvr>
                                      <p:to>
                                        <p:strVal val="visible"/>
                                      </p:to>
                                    </p:set>
                                    <p:animEffect transition="in" filter="fade">
                                      <p:cBhvr>
                                        <p:cTn id="2515" dur="500"/>
                                        <p:tgtEl>
                                          <p:spTgt spid="37"/>
                                        </p:tgtEl>
                                      </p:cBhvr>
                                    </p:animEffect>
                                  </p:childTnLst>
                                </p:cTn>
                              </p:par>
                              <p:par>
                                <p:cTn id="2516" presetID="10" presetClass="entr" presetSubtype="0" fill="hold" nodeType="withEffect">
                                  <p:stCondLst>
                                    <p:cond delay="340"/>
                                  </p:stCondLst>
                                  <p:childTnLst>
                                    <p:set>
                                      <p:cBhvr>
                                        <p:cTn id="2517" dur="1" fill="hold">
                                          <p:stCondLst>
                                            <p:cond delay="0"/>
                                          </p:stCondLst>
                                        </p:cTn>
                                        <p:tgtEl>
                                          <p:spTgt spid="38"/>
                                        </p:tgtEl>
                                        <p:attrNameLst>
                                          <p:attrName>style.visibility</p:attrName>
                                        </p:attrNameLst>
                                      </p:cBhvr>
                                      <p:to>
                                        <p:strVal val="visible"/>
                                      </p:to>
                                    </p:set>
                                    <p:animEffect transition="in" filter="fade">
                                      <p:cBhvr>
                                        <p:cTn id="2518" dur="500"/>
                                        <p:tgtEl>
                                          <p:spTgt spid="38"/>
                                        </p:tgtEl>
                                      </p:cBhvr>
                                    </p:animEffect>
                                  </p:childTnLst>
                                </p:cTn>
                              </p:par>
                              <p:par>
                                <p:cTn id="2519" presetID="10" presetClass="entr" presetSubtype="0" fill="hold" nodeType="withEffect">
                                  <p:stCondLst>
                                    <p:cond delay="410"/>
                                  </p:stCondLst>
                                  <p:childTnLst>
                                    <p:set>
                                      <p:cBhvr>
                                        <p:cTn id="2520" dur="1" fill="hold">
                                          <p:stCondLst>
                                            <p:cond delay="0"/>
                                          </p:stCondLst>
                                        </p:cTn>
                                        <p:tgtEl>
                                          <p:spTgt spid="39"/>
                                        </p:tgtEl>
                                        <p:attrNameLst>
                                          <p:attrName>style.visibility</p:attrName>
                                        </p:attrNameLst>
                                      </p:cBhvr>
                                      <p:to>
                                        <p:strVal val="visible"/>
                                      </p:to>
                                    </p:set>
                                    <p:animEffect transition="in" filter="fade">
                                      <p:cBhvr>
                                        <p:cTn id="2521" dur="500"/>
                                        <p:tgtEl>
                                          <p:spTgt spid="39"/>
                                        </p:tgtEl>
                                      </p:cBhvr>
                                    </p:animEffect>
                                  </p:childTnLst>
                                </p:cTn>
                              </p:par>
                              <p:par>
                                <p:cTn id="2522" presetID="10" presetClass="entr" presetSubtype="0" fill="hold" nodeType="withEffect">
                                  <p:stCondLst>
                                    <p:cond delay="480"/>
                                  </p:stCondLst>
                                  <p:childTnLst>
                                    <p:set>
                                      <p:cBhvr>
                                        <p:cTn id="2523" dur="1" fill="hold">
                                          <p:stCondLst>
                                            <p:cond delay="0"/>
                                          </p:stCondLst>
                                        </p:cTn>
                                        <p:tgtEl>
                                          <p:spTgt spid="40"/>
                                        </p:tgtEl>
                                        <p:attrNameLst>
                                          <p:attrName>style.visibility</p:attrName>
                                        </p:attrNameLst>
                                      </p:cBhvr>
                                      <p:to>
                                        <p:strVal val="visible"/>
                                      </p:to>
                                    </p:set>
                                    <p:animEffect transition="in" filter="fade">
                                      <p:cBhvr>
                                        <p:cTn id="2524" dur="500"/>
                                        <p:tgtEl>
                                          <p:spTgt spid="40"/>
                                        </p:tgtEl>
                                      </p:cBhvr>
                                    </p:animEffect>
                                  </p:childTnLst>
                                </p:cTn>
                              </p:par>
                              <p:par>
                                <p:cTn id="2525" presetID="10" presetClass="entr" presetSubtype="0" fill="hold" nodeType="withEffect">
                                  <p:stCondLst>
                                    <p:cond delay="550"/>
                                  </p:stCondLst>
                                  <p:childTnLst>
                                    <p:set>
                                      <p:cBhvr>
                                        <p:cTn id="2526" dur="1" fill="hold">
                                          <p:stCondLst>
                                            <p:cond delay="0"/>
                                          </p:stCondLst>
                                        </p:cTn>
                                        <p:tgtEl>
                                          <p:spTgt spid="41"/>
                                        </p:tgtEl>
                                        <p:attrNameLst>
                                          <p:attrName>style.visibility</p:attrName>
                                        </p:attrNameLst>
                                      </p:cBhvr>
                                      <p:to>
                                        <p:strVal val="visible"/>
                                      </p:to>
                                    </p:set>
                                    <p:animEffect transition="in" filter="fade">
                                      <p:cBhvr>
                                        <p:cTn id="2527" dur="500"/>
                                        <p:tgtEl>
                                          <p:spTgt spid="41"/>
                                        </p:tgtEl>
                                      </p:cBhvr>
                                    </p:animEffect>
                                  </p:childTnLst>
                                </p:cTn>
                              </p:par>
                              <p:par>
                                <p:cTn id="2528" presetID="10" presetClass="entr" presetSubtype="0" fill="hold" nodeType="withEffect">
                                  <p:stCondLst>
                                    <p:cond delay="620"/>
                                  </p:stCondLst>
                                  <p:childTnLst>
                                    <p:set>
                                      <p:cBhvr>
                                        <p:cTn id="2529" dur="1" fill="hold">
                                          <p:stCondLst>
                                            <p:cond delay="0"/>
                                          </p:stCondLst>
                                        </p:cTn>
                                        <p:tgtEl>
                                          <p:spTgt spid="42"/>
                                        </p:tgtEl>
                                        <p:attrNameLst>
                                          <p:attrName>style.visibility</p:attrName>
                                        </p:attrNameLst>
                                      </p:cBhvr>
                                      <p:to>
                                        <p:strVal val="visible"/>
                                      </p:to>
                                    </p:set>
                                    <p:animEffect transition="in" filter="fade">
                                      <p:cBhvr>
                                        <p:cTn id="2530" dur="500"/>
                                        <p:tgtEl>
                                          <p:spTgt spid="42"/>
                                        </p:tgtEl>
                                      </p:cBhvr>
                                    </p:animEffect>
                                  </p:childTnLst>
                                </p:cTn>
                              </p:par>
                              <p:par>
                                <p:cTn id="2531" presetID="10" presetClass="entr" presetSubtype="0" fill="hold" nodeType="withEffect">
                                  <p:stCondLst>
                                    <p:cond delay="690"/>
                                  </p:stCondLst>
                                  <p:childTnLst>
                                    <p:set>
                                      <p:cBhvr>
                                        <p:cTn id="2532" dur="1" fill="hold">
                                          <p:stCondLst>
                                            <p:cond delay="0"/>
                                          </p:stCondLst>
                                        </p:cTn>
                                        <p:tgtEl>
                                          <p:spTgt spid="43"/>
                                        </p:tgtEl>
                                        <p:attrNameLst>
                                          <p:attrName>style.visibility</p:attrName>
                                        </p:attrNameLst>
                                      </p:cBhvr>
                                      <p:to>
                                        <p:strVal val="visible"/>
                                      </p:to>
                                    </p:set>
                                    <p:animEffect transition="in" filter="fade">
                                      <p:cBhvr>
                                        <p:cTn id="2533" dur="500"/>
                                        <p:tgtEl>
                                          <p:spTgt spid="43"/>
                                        </p:tgtEl>
                                      </p:cBhvr>
                                    </p:animEffect>
                                  </p:childTnLst>
                                </p:cTn>
                              </p:par>
                              <p:par>
                                <p:cTn id="2534" presetID="10" presetClass="entr" presetSubtype="0" fill="hold" nodeType="withEffect">
                                  <p:stCondLst>
                                    <p:cond delay="760"/>
                                  </p:stCondLst>
                                  <p:childTnLst>
                                    <p:set>
                                      <p:cBhvr>
                                        <p:cTn id="2535" dur="1" fill="hold">
                                          <p:stCondLst>
                                            <p:cond delay="0"/>
                                          </p:stCondLst>
                                        </p:cTn>
                                        <p:tgtEl>
                                          <p:spTgt spid="44"/>
                                        </p:tgtEl>
                                        <p:attrNameLst>
                                          <p:attrName>style.visibility</p:attrName>
                                        </p:attrNameLst>
                                      </p:cBhvr>
                                      <p:to>
                                        <p:strVal val="visible"/>
                                      </p:to>
                                    </p:set>
                                    <p:animEffect transition="in" filter="fade">
                                      <p:cBhvr>
                                        <p:cTn id="2536" dur="500"/>
                                        <p:tgtEl>
                                          <p:spTgt spid="44"/>
                                        </p:tgtEl>
                                      </p:cBhvr>
                                    </p:animEffect>
                                  </p:childTnLst>
                                </p:cTn>
                              </p:par>
                              <p:par>
                                <p:cTn id="2537" presetID="10" presetClass="entr" presetSubtype="0" fill="hold" nodeType="withEffect">
                                  <p:stCondLst>
                                    <p:cond delay="830"/>
                                  </p:stCondLst>
                                  <p:childTnLst>
                                    <p:set>
                                      <p:cBhvr>
                                        <p:cTn id="2538" dur="1" fill="hold">
                                          <p:stCondLst>
                                            <p:cond delay="0"/>
                                          </p:stCondLst>
                                        </p:cTn>
                                        <p:tgtEl>
                                          <p:spTgt spid="45"/>
                                        </p:tgtEl>
                                        <p:attrNameLst>
                                          <p:attrName>style.visibility</p:attrName>
                                        </p:attrNameLst>
                                      </p:cBhvr>
                                      <p:to>
                                        <p:strVal val="visible"/>
                                      </p:to>
                                    </p:set>
                                    <p:animEffect transition="in" filter="fade">
                                      <p:cBhvr>
                                        <p:cTn id="2539" dur="500"/>
                                        <p:tgtEl>
                                          <p:spTgt spid="45"/>
                                        </p:tgtEl>
                                      </p:cBhvr>
                                    </p:animEffect>
                                  </p:childTnLst>
                                </p:cTn>
                              </p:par>
                              <p:par>
                                <p:cTn id="2540" presetID="10" presetClass="entr" presetSubtype="0" fill="hold" nodeType="withEffect">
                                  <p:stCondLst>
                                    <p:cond delay="900"/>
                                  </p:stCondLst>
                                  <p:childTnLst>
                                    <p:set>
                                      <p:cBhvr>
                                        <p:cTn id="2541" dur="1" fill="hold">
                                          <p:stCondLst>
                                            <p:cond delay="0"/>
                                          </p:stCondLst>
                                        </p:cTn>
                                        <p:tgtEl>
                                          <p:spTgt spid="46"/>
                                        </p:tgtEl>
                                        <p:attrNameLst>
                                          <p:attrName>style.visibility</p:attrName>
                                        </p:attrNameLst>
                                      </p:cBhvr>
                                      <p:to>
                                        <p:strVal val="visible"/>
                                      </p:to>
                                    </p:set>
                                    <p:animEffect transition="in" filter="fade">
                                      <p:cBhvr>
                                        <p:cTn id="2542" dur="500"/>
                                        <p:tgtEl>
                                          <p:spTgt spid="46"/>
                                        </p:tgtEl>
                                      </p:cBhvr>
                                    </p:animEffect>
                                  </p:childTnLst>
                                </p:cTn>
                              </p:par>
                              <p:par>
                                <p:cTn id="2543" presetID="10" presetClass="entr" presetSubtype="0" fill="hold" nodeType="withEffect">
                                  <p:stCondLst>
                                    <p:cond delay="900"/>
                                  </p:stCondLst>
                                  <p:childTnLst>
                                    <p:set>
                                      <p:cBhvr>
                                        <p:cTn id="2544" dur="1" fill="hold">
                                          <p:stCondLst>
                                            <p:cond delay="0"/>
                                          </p:stCondLst>
                                        </p:cTn>
                                        <p:tgtEl>
                                          <p:spTgt spid="47"/>
                                        </p:tgtEl>
                                        <p:attrNameLst>
                                          <p:attrName>style.visibility</p:attrName>
                                        </p:attrNameLst>
                                      </p:cBhvr>
                                      <p:to>
                                        <p:strVal val="visible"/>
                                      </p:to>
                                    </p:set>
                                    <p:animEffect transition="in" filter="fade">
                                      <p:cBhvr>
                                        <p:cTn id="2545" dur="500"/>
                                        <p:tgtEl>
                                          <p:spTgt spid="47"/>
                                        </p:tgtEl>
                                      </p:cBhvr>
                                    </p:animEffect>
                                  </p:childTnLst>
                                </p:cTn>
                              </p:par>
                              <p:par>
                                <p:cTn id="2546" presetID="10" presetClass="entr" presetSubtype="0" fill="hold" nodeType="withEffect">
                                  <p:stCondLst>
                                    <p:cond delay="900"/>
                                  </p:stCondLst>
                                  <p:childTnLst>
                                    <p:set>
                                      <p:cBhvr>
                                        <p:cTn id="2547" dur="1" fill="hold">
                                          <p:stCondLst>
                                            <p:cond delay="0"/>
                                          </p:stCondLst>
                                        </p:cTn>
                                        <p:tgtEl>
                                          <p:spTgt spid="48"/>
                                        </p:tgtEl>
                                        <p:attrNameLst>
                                          <p:attrName>style.visibility</p:attrName>
                                        </p:attrNameLst>
                                      </p:cBhvr>
                                      <p:to>
                                        <p:strVal val="visible"/>
                                      </p:to>
                                    </p:set>
                                    <p:animEffect transition="in" filter="fade">
                                      <p:cBhvr>
                                        <p:cTn id="2548" dur="500"/>
                                        <p:tgtEl>
                                          <p:spTgt spid="48"/>
                                        </p:tgtEl>
                                      </p:cBhvr>
                                    </p:animEffect>
                                  </p:childTnLst>
                                </p:cTn>
                              </p:par>
                              <p:par>
                                <p:cTn id="2549" presetID="10" presetClass="entr" presetSubtype="0" fill="hold" nodeType="withEffect">
                                  <p:stCondLst>
                                    <p:cond delay="900"/>
                                  </p:stCondLst>
                                  <p:childTnLst>
                                    <p:set>
                                      <p:cBhvr>
                                        <p:cTn id="2550" dur="1" fill="hold">
                                          <p:stCondLst>
                                            <p:cond delay="0"/>
                                          </p:stCondLst>
                                        </p:cTn>
                                        <p:tgtEl>
                                          <p:spTgt spid="49"/>
                                        </p:tgtEl>
                                        <p:attrNameLst>
                                          <p:attrName>style.visibility</p:attrName>
                                        </p:attrNameLst>
                                      </p:cBhvr>
                                      <p:to>
                                        <p:strVal val="visible"/>
                                      </p:to>
                                    </p:set>
                                    <p:animEffect transition="in" filter="fade">
                                      <p:cBhvr>
                                        <p:cTn id="2551" dur="500"/>
                                        <p:tgtEl>
                                          <p:spTgt spid="49"/>
                                        </p:tgtEl>
                                      </p:cBhvr>
                                    </p:animEffect>
                                  </p:childTnLst>
                                </p:cTn>
                              </p:par>
                              <p:par>
                                <p:cTn id="2552" presetID="10" presetClass="entr" presetSubtype="0" fill="hold" nodeType="withEffect">
                                  <p:stCondLst>
                                    <p:cond delay="900"/>
                                  </p:stCondLst>
                                  <p:childTnLst>
                                    <p:set>
                                      <p:cBhvr>
                                        <p:cTn id="2553" dur="1" fill="hold">
                                          <p:stCondLst>
                                            <p:cond delay="0"/>
                                          </p:stCondLst>
                                        </p:cTn>
                                        <p:tgtEl>
                                          <p:spTgt spid="50"/>
                                        </p:tgtEl>
                                        <p:attrNameLst>
                                          <p:attrName>style.visibility</p:attrName>
                                        </p:attrNameLst>
                                      </p:cBhvr>
                                      <p:to>
                                        <p:strVal val="visible"/>
                                      </p:to>
                                    </p:set>
                                    <p:animEffect transition="in" filter="fade">
                                      <p:cBhvr>
                                        <p:cTn id="2554" dur="500"/>
                                        <p:tgtEl>
                                          <p:spTgt spid="50"/>
                                        </p:tgtEl>
                                      </p:cBhvr>
                                    </p:animEffect>
                                  </p:childTnLst>
                                </p:cTn>
                              </p:par>
                              <p:par>
                                <p:cTn id="2555" presetID="10" presetClass="entr" presetSubtype="0" fill="hold" nodeType="withEffect">
                                  <p:stCondLst>
                                    <p:cond delay="900"/>
                                  </p:stCondLst>
                                  <p:childTnLst>
                                    <p:set>
                                      <p:cBhvr>
                                        <p:cTn id="2556" dur="1" fill="hold">
                                          <p:stCondLst>
                                            <p:cond delay="0"/>
                                          </p:stCondLst>
                                        </p:cTn>
                                        <p:tgtEl>
                                          <p:spTgt spid="51"/>
                                        </p:tgtEl>
                                        <p:attrNameLst>
                                          <p:attrName>style.visibility</p:attrName>
                                        </p:attrNameLst>
                                      </p:cBhvr>
                                      <p:to>
                                        <p:strVal val="visible"/>
                                      </p:to>
                                    </p:set>
                                    <p:animEffect transition="in" filter="fade">
                                      <p:cBhvr>
                                        <p:cTn id="2557" dur="500"/>
                                        <p:tgtEl>
                                          <p:spTgt spid="51"/>
                                        </p:tgtEl>
                                      </p:cBhvr>
                                    </p:animEffect>
                                  </p:childTnLst>
                                </p:cTn>
                              </p:par>
                              <p:par>
                                <p:cTn id="2558" presetID="10" presetClass="entr" presetSubtype="0" fill="hold" nodeType="withEffect">
                                  <p:stCondLst>
                                    <p:cond delay="900"/>
                                  </p:stCondLst>
                                  <p:childTnLst>
                                    <p:set>
                                      <p:cBhvr>
                                        <p:cTn id="2559" dur="1" fill="hold">
                                          <p:stCondLst>
                                            <p:cond delay="0"/>
                                          </p:stCondLst>
                                        </p:cTn>
                                        <p:tgtEl>
                                          <p:spTgt spid="60"/>
                                        </p:tgtEl>
                                        <p:attrNameLst>
                                          <p:attrName>style.visibility</p:attrName>
                                        </p:attrNameLst>
                                      </p:cBhvr>
                                      <p:to>
                                        <p:strVal val="visible"/>
                                      </p:to>
                                    </p:set>
                                    <p:animEffect transition="in" filter="fade">
                                      <p:cBhvr>
                                        <p:cTn id="2560" dur="500"/>
                                        <p:tgtEl>
                                          <p:spTgt spid="60"/>
                                        </p:tgtEl>
                                      </p:cBhvr>
                                    </p:animEffect>
                                  </p:childTnLst>
                                </p:cTn>
                              </p:par>
                              <p:par>
                                <p:cTn id="2561" presetID="10" presetClass="entr" presetSubtype="0" fill="hold" nodeType="withEffect">
                                  <p:stCondLst>
                                    <p:cond delay="900"/>
                                  </p:stCondLst>
                                  <p:childTnLst>
                                    <p:set>
                                      <p:cBhvr>
                                        <p:cTn id="2562" dur="1" fill="hold">
                                          <p:stCondLst>
                                            <p:cond delay="0"/>
                                          </p:stCondLst>
                                        </p:cTn>
                                        <p:tgtEl>
                                          <p:spTgt spid="61"/>
                                        </p:tgtEl>
                                        <p:attrNameLst>
                                          <p:attrName>style.visibility</p:attrName>
                                        </p:attrNameLst>
                                      </p:cBhvr>
                                      <p:to>
                                        <p:strVal val="visible"/>
                                      </p:to>
                                    </p:set>
                                    <p:animEffect transition="in" filter="fade">
                                      <p:cBhvr>
                                        <p:cTn id="256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SASW y MASW: de dos receptores a un registro espacio–tiempo</a:t>
            </a:r>
            <a:endParaRPr lang="en-US" sz="2200" dirty="0"/>
          </a:p>
        </p:txBody>
      </p:sp>
      <p:pic>
        <p:nvPicPr>
          <p:cNvPr id="3" name="Figura SASW [s0]" descr="Arreglo SASW: fuente vertical y dos receptores separados una distancia d">    </p:cNvPr>
          <p:cNvPicPr>
            <a:picLocks noChangeAspect="1"/>
          </p:cNvPicPr>
          <p:nvPr/>
        </p:nvPicPr>
        <p:blipFill>
          <a:blip r:embed="rId1"/>
          <a:stretch>
            <a:fillRect/>
          </a:stretch>
        </p:blipFill>
        <p:spPr>
          <a:xfrm>
            <a:off x="966136" y="1601523"/>
            <a:ext cx="4487298" cy="1976224"/>
          </a:xfrm>
          <a:prstGeom prst="rect">
            <a:avLst/>
          </a:prstGeom>
        </p:spPr>
      </p:pic>
      <p:sp>
        <p:nvSpPr>
          <p:cNvPr id="4" name="Fondo SASW [s0]"/>
          <p:cNvSpPr/>
          <p:nvPr/>
        </p:nvSpPr>
        <p:spPr>
          <a:xfrm>
            <a:off x="966136" y="3724977"/>
            <a:ext cx="448729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 name="Ecuación E_sasw [s0]"/>
              <p:cNvSpPr txBox="1"/>
              <p:nvPr/>
            </p:nvSpPr>
            <p:spPr>
              <a:xfrm>
                <a:off x="966136" y="3724977"/>
                <a:ext cx="448729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c</m:t>
                          </m:r>
                        </m:e>
                        <m:sub>
                          <m:r>
                            <a:rPr lang="es-ES" sz="2200" i="1">
                              <a:solidFill>
                                <a:srgbClr val="1F4E79"/>
                              </a:solidFill>
                              <a:latin typeface="Cambria Math" panose="02040503050406030204" pitchFamily="18" charset="0"/>
                            </a:rPr>
                            <m:t xml:space="preserve">R</m:t>
                          </m:r>
                        </m:sub>
                      </m:sSub>
                      <m:r>
                        <a:rPr lang="es-ES" sz="2200" i="1">
                          <a:solidFill>
                            <a:srgbClr val="1F4E79"/>
                          </a:solidFill>
                          <a:latin typeface="Cambria Math" panose="02040503050406030204" pitchFamily="18" charset="0"/>
                        </a:rPr>
                        <m:t xml:space="preserve">(f)=</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2πf·d</m:t>
                          </m:r>
                        </m:num>
                        <m:den>
                          <m:r>
                            <a:rPr lang="es-ES" sz="22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s0]"/>
              <p:cNvSpPr txBox="1"/>
              <p:nvPr/>
            </p:nvSpPr>
            <p:spPr>
              <a:xfrm>
                <a:off x="966136" y="3724977"/>
                <a:ext cx="448729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cR(f) = 2π·f·d / Δφ(f)</a:t>
                </a:r>
                <a:endParaRPr lang="en-US" sz="2159" dirty="0"/>
              </a:p>
            </p:txBody>
          </p:sp>
        </mc:Fallback>
      </mc:AlternateContent>
      <p:sp>
        <p:nvSpPr>
          <p:cNvPr id="6" name="Cuerpo [s0]"/>
          <p:cNvSpPr txBox="1"/>
          <p:nvPr/>
        </p:nvSpPr>
        <p:spPr>
          <a:xfrm>
            <a:off x="5693824" y="1721719"/>
            <a:ext cx="2484040" cy="2724431"/>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Fuente vertical y dos receptores separados una distancia d</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Se mide la diferencia de fase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Δ</m:t>
                    </m:r>
                    <m:r>
                      <a:rPr lang="es-ES" sz="1440" i="1">
                        <a:solidFill>
                          <a:srgbClr val="2D2D2D"/>
                        </a:solidFill>
                        <a:latin typeface="Cambria Math" panose="02040503050406030204" pitchFamily="18" charset="0"/>
                      </a:rPr>
                      <m:t xml:space="preserve">φ</m:t>
                    </m:r>
                  </m:oMath>
                </a14:m>
              </mc:Choice>
              <mc:Fallback>
                <a:r>
                  <a:rPr lang="en-US" sz="1440" dirty="0">
                    <a:solidFill>
                      <a:srgbClr val="2D2D2D"/>
                    </a:solidFill>
                    <a:latin typeface="Arial" pitchFamily="34" charset="0"/>
                    <a:ea typeface="Arial" pitchFamily="34" charset="-122"/>
                    <a:cs typeface="Arial" pitchFamily="34" charset="-120"/>
                  </a:rPr>
                  <a:t>Δφ</a:t>
                </a:r>
              </mc:Fallback>
            </mc:AlternateContent>
            <a:r>
              <a:rPr lang="en-US" sz="1440" dirty="0">
                <a:solidFill>
                  <a:srgbClr val="2D2D2D"/>
                </a:solidFill>
                <a:latin typeface="Arial" pitchFamily="34" charset="0"/>
                <a:ea typeface="Arial" pitchFamily="34" charset="-122"/>
                <a:cs typeface="Arial" pitchFamily="34" charset="-120"/>
              </a:rPr>
              <a:t> entre ambos, para cada frecuencia</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De </a:t>
            </a:r>
            <mc:AlternateContent xmlns:mc="http://schemas.openxmlformats.org/markup-compatibility/2006">
              <mc:Choice xmlns:a14="http://schemas.microsoft.com/office/drawing/2010/main" Requires="a14">
                <a14:m>
                  <m:oMath xmlns:m="http://schemas.openxmlformats.org/officeDocument/2006/math">
                    <m:r>
                      <a:rPr lang="es-ES" sz="1440" i="1">
                        <a:solidFill>
                          <a:srgbClr val="2D2D2D"/>
                        </a:solidFill>
                        <a:latin typeface="Cambria Math" panose="02040503050406030204" pitchFamily="18" charset="0"/>
                      </a:rPr>
                      <m:t xml:space="preserve">Δ</m:t>
                    </m:r>
                    <m:r>
                      <a:rPr lang="es-ES" sz="1440" i="1">
                        <a:solidFill>
                          <a:srgbClr val="2D2D2D"/>
                        </a:solidFill>
                        <a:latin typeface="Cambria Math" panose="02040503050406030204" pitchFamily="18" charset="0"/>
                      </a:rPr>
                      <m:t xml:space="preserve">φ</m:t>
                    </m:r>
                  </m:oMath>
                </a14:m>
              </mc:Choice>
              <mc:Fallback>
                <a:r>
                  <a:rPr lang="en-US" sz="1440" dirty="0">
                    <a:solidFill>
                      <a:srgbClr val="2D2D2D"/>
                    </a:solidFill>
                    <a:latin typeface="Arial" pitchFamily="34" charset="0"/>
                    <a:ea typeface="Arial" pitchFamily="34" charset="-122"/>
                    <a:cs typeface="Arial" pitchFamily="34" charset="-120"/>
                  </a:rPr>
                  <a:t>Δφ</a:t>
                </a:r>
              </mc:Fallback>
            </mc:AlternateContent>
            <a:r>
              <a:rPr lang="en-US" sz="1440" dirty="0">
                <a:solidFill>
                  <a:srgbClr val="2D2D2D"/>
                </a:solidFill>
                <a:latin typeface="Arial" pitchFamily="34" charset="0"/>
                <a:ea typeface="Arial" pitchFamily="34" charset="-122"/>
                <a:cs typeface="Arial" pitchFamily="34" charset="-120"/>
              </a:rPr>
              <a:t>(f) sale la velocidad de fase </a:t>
            </a:r>
            <mc:AlternateContent xmlns:mc="http://schemas.openxmlformats.org/markup-compatibility/2006">
              <mc:Choice xmlns:a14="http://schemas.microsoft.com/office/drawing/2010/main" Requires="a14">
                <a14:m>
                  <m:oMath xmlns:m="http://schemas.openxmlformats.org/officeDocument/2006/math">
                    <m:sSub>
                      <m:sSubPr>
                        <m:ctrlPr>
                          <a:rPr lang="es-ES" sz="1440" i="1">
                            <a:latin typeface="Cambria Math" panose="02040503050406030204" pitchFamily="18" charset="0"/>
                          </a:rPr>
                        </m:ctrlPr>
                      </m:sSubPr>
                      <m:e>
                        <m:r>
                          <a:rPr lang="es-ES" sz="1440" i="1">
                            <a:solidFill>
                              <a:srgbClr val="2D2D2D"/>
                            </a:solidFill>
                            <a:latin typeface="Cambria Math" panose="02040503050406030204" pitchFamily="18" charset="0"/>
                          </a:rPr>
                          <m:t xml:space="preserve">c</m:t>
                        </m:r>
                      </m:e>
                      <m:sub>
                        <m:r>
                          <a:rPr lang="es-ES" sz="1440" i="1">
                            <a:solidFill>
                              <a:srgbClr val="2D2D2D"/>
                            </a:solidFill>
                            <a:latin typeface="Cambria Math" panose="02040503050406030204" pitchFamily="18" charset="0"/>
                          </a:rPr>
                          <m:t xml:space="preserve">R</m:t>
                        </m:r>
                      </m:sub>
                    </m:sSub>
                  </m:oMath>
                </a14:m>
              </mc:Choice>
              <mc:Fallback>
                <a:r>
                  <a:rPr lang="en-US" sz="1440" dirty="0">
                    <a:solidFill>
                      <a:srgbClr val="2D2D2D"/>
                    </a:solidFill>
                    <a:latin typeface="Arial" pitchFamily="34" charset="0"/>
                    <a:ea typeface="Arial" pitchFamily="34" charset="-122"/>
                    <a:cs typeface="Arial" pitchFamily="34" charset="-120"/>
                  </a:rPr>
                  <a:t>cR</a:t>
                </a:r>
              </mc:Fallback>
            </mc:AlternateContent>
            <a:r>
              <a:rPr lang="en-US" sz="1440" dirty="0">
                <a:solidFill>
                  <a:srgbClr val="2D2D2D"/>
                </a:solidFill>
                <a:latin typeface="Arial" pitchFamily="34" charset="0"/>
                <a:ea typeface="Arial" pitchFamily="34" charset="-122"/>
                <a:cs typeface="Arial" pitchFamily="34" charset="-120"/>
              </a:rPr>
              <a:t>(f)</a:t>
            </a:r>
            <a:endParaRPr lang="en-US" sz="1440" dirty="0"/>
          </a:p>
        </p:txBody>
      </p:sp>
      <p:sp>
        <p:nvSpPr>
          <p:cNvPr id="7" name="Cabecera Ventaja [s1]"/>
          <p:cNvSpPr/>
          <p:nvPr/>
        </p:nvSpPr>
        <p:spPr>
          <a:xfrm>
            <a:off x="966136" y="1681654"/>
            <a:ext cx="3445604" cy="440717"/>
          </a:xfrm>
          <a:prstGeom prst="rect">
            <a:avLst/>
          </a:prstGeom>
          <a:solidFill>
            <a:srgbClr val="1F4E79"/>
          </a:solidFill>
          <a:ln w="6350">
            <a:solidFill>
              <a:srgbClr val="1F4E79"/>
            </a:solidFill>
            <a:prstDash val="solid"/>
          </a:ln>
        </p:spPr>
      </p:sp>
      <p:sp>
        <p:nvSpPr>
          <p:cNvPr id="8" name="Elemento [s1]"/>
          <p:cNvSpPr txBox="1"/>
          <p:nvPr/>
        </p:nvSpPr>
        <p:spPr>
          <a:xfrm>
            <a:off x="966136" y="1681654"/>
            <a:ext cx="3445604" cy="440717"/>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Ventaja</a:t>
            </a:r>
            <a:endParaRPr lang="en-US" sz="1800" dirty="0"/>
          </a:p>
        </p:txBody>
      </p:sp>
      <p:sp>
        <p:nvSpPr>
          <p:cNvPr id="9" name="Tarjeta Ventaja [s1]"/>
          <p:cNvSpPr/>
          <p:nvPr/>
        </p:nvSpPr>
        <p:spPr>
          <a:xfrm>
            <a:off x="966136" y="2122371"/>
            <a:ext cx="3445604" cy="2403909"/>
          </a:xfrm>
          <a:prstGeom prst="rect">
            <a:avLst/>
          </a:prstGeom>
          <a:solidFill>
            <a:srgbClr val="FFFFFF"/>
          </a:solidFill>
          <a:ln w="16694">
            <a:solidFill>
              <a:srgbClr val="1F4E79"/>
            </a:solidFill>
            <a:prstDash val="solid"/>
          </a:ln>
        </p:spPr>
      </p:sp>
      <p:sp>
        <p:nvSpPr>
          <p:cNvPr id="10" name="Elemento [s1]"/>
          <p:cNvSpPr txBox="1"/>
          <p:nvPr/>
        </p:nvSpPr>
        <p:spPr>
          <a:xfrm>
            <a:off x="1086331" y="2162436"/>
            <a:ext cx="3205213" cy="2323779"/>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Instrumentación sencilla: solo dos receptores</a:t>
            </a:r>
            <a:endParaRPr lang="en-US" sz="1620" dirty="0"/>
          </a:p>
        </p:txBody>
      </p:sp>
      <p:sp>
        <p:nvSpPr>
          <p:cNvPr id="11" name="Cabecera Limitaciones [s1]"/>
          <p:cNvSpPr/>
          <p:nvPr/>
        </p:nvSpPr>
        <p:spPr>
          <a:xfrm>
            <a:off x="4732261" y="1681654"/>
            <a:ext cx="3445604" cy="440717"/>
          </a:xfrm>
          <a:prstGeom prst="rect">
            <a:avLst/>
          </a:prstGeom>
          <a:solidFill>
            <a:srgbClr val="C55A11"/>
          </a:solidFill>
          <a:ln w="6350">
            <a:solidFill>
              <a:srgbClr val="C55A11"/>
            </a:solidFill>
            <a:prstDash val="solid"/>
          </a:ln>
        </p:spPr>
      </p:sp>
      <p:sp>
        <p:nvSpPr>
          <p:cNvPr id="12" name="Elemento [s1]"/>
          <p:cNvSpPr txBox="1"/>
          <p:nvPr/>
        </p:nvSpPr>
        <p:spPr>
          <a:xfrm>
            <a:off x="4732261" y="1681654"/>
            <a:ext cx="3445604" cy="440717"/>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Limitaciones</a:t>
            </a:r>
            <a:endParaRPr lang="en-US" sz="1800" dirty="0"/>
          </a:p>
        </p:txBody>
      </p:sp>
      <p:sp>
        <p:nvSpPr>
          <p:cNvPr id="13" name="Tarjeta Limitaciones [s1]"/>
          <p:cNvSpPr/>
          <p:nvPr/>
        </p:nvSpPr>
        <p:spPr>
          <a:xfrm>
            <a:off x="4732261" y="2122371"/>
            <a:ext cx="3445604" cy="2403909"/>
          </a:xfrm>
          <a:prstGeom prst="rect">
            <a:avLst/>
          </a:prstGeom>
          <a:solidFill>
            <a:srgbClr val="FFFFFF"/>
          </a:solidFill>
          <a:ln w="16694">
            <a:solidFill>
              <a:srgbClr val="C55A11"/>
            </a:solidFill>
            <a:prstDash val="solid"/>
          </a:ln>
        </p:spPr>
      </p:sp>
      <p:sp>
        <p:nvSpPr>
          <p:cNvPr id="14" name="Elemento [s1]"/>
          <p:cNvSpPr txBox="1"/>
          <p:nvPr/>
        </p:nvSpPr>
        <p:spPr>
          <a:xfrm>
            <a:off x="4852456" y="2162436"/>
            <a:ext cx="3205213" cy="2323779"/>
          </a:xfrm>
          <a:prstGeom prst="rect">
            <a:avLst/>
          </a:prstGeom>
          <a:noFill/>
          <a:ln/>
        </p:spPr>
        <p:txBody>
          <a:bodyPr wrap="square" lIns="0" tIns="0" rIns="0" bIns="0" rtlCol="0" anchor="ctr"/>
          <a:lstStyle/>
          <a:p>
            <a:pPr indent="0" marL="0">
              <a:buNone/>
            </a:pPr>
            <a:endParaRPr lang="en-US" sz="1620" dirty="0"/>
          </a:p>
        </p:txBody>
      </p:sp>
      <p:sp>
        <p:nvSpPr>
          <p:cNvPr id="15" name="Cuerpo limitaciones [s1]"/>
          <p:cNvSpPr txBox="1"/>
          <p:nvPr/>
        </p:nvSpPr>
        <p:spPr>
          <a:xfrm>
            <a:off x="4892521" y="2202501"/>
            <a:ext cx="3125082" cy="2243649"/>
          </a:xfrm>
          <a:prstGeom prst="rect">
            <a:avLst/>
          </a:prstGeom>
          <a:noFill/>
          <a:ln/>
        </p:spPr>
        <p:txBody>
          <a:bodyPr wrap="square" lIns="0" tIns="0" rIns="0" bIns="0" rtlCol="0" anchor="t"/>
          <a:lstStyle/>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La fase se conoce salvo ciclos enteros: </a:t>
            </a:r>
            <mc:AlternateContent xmlns:mc="http://schemas.openxmlformats.org/markup-compatibility/2006">
              <mc:Choice xmlns:a14="http://schemas.microsoft.com/office/drawing/2010/main" Requires="a14">
                <a14:m>
                  <m:oMath xmlns:m="http://schemas.openxmlformats.org/officeDocument/2006/math">
                    <m:r>
                      <a:rPr lang="es-ES" sz="1620" i="1">
                        <a:solidFill>
                          <a:srgbClr val="2D2D2D"/>
                        </a:solidFill>
                        <a:latin typeface="Cambria Math" panose="02040503050406030204" pitchFamily="18" charset="0"/>
                      </a:rPr>
                      <m:t xml:space="preserve">Δ</m:t>
                    </m:r>
                    <m:r>
                      <a:rPr lang="es-ES" sz="1620" i="1">
                        <a:solidFill>
                          <a:srgbClr val="2D2D2D"/>
                        </a:solidFill>
                        <a:latin typeface="Cambria Math" panose="02040503050406030204" pitchFamily="18" charset="0"/>
                      </a:rPr>
                      <m:t xml:space="preserve">φ</m:t>
                    </m:r>
                  </m:oMath>
                </a14:m>
              </mc:Choice>
              <mc:Fallback>
                <a:r>
                  <a:rPr lang="en-US" sz="1620" dirty="0">
                    <a:solidFill>
                      <a:srgbClr val="2D2D2D"/>
                    </a:solidFill>
                    <a:latin typeface="Arial" pitchFamily="34" charset="0"/>
                    <a:ea typeface="Arial" pitchFamily="34" charset="-122"/>
                    <a:cs typeface="Arial" pitchFamily="34" charset="-120"/>
                  </a:rPr>
                  <a:t>Δφ</a:t>
                </a:r>
              </mc:Fallback>
            </mc:AlternateContent>
            <a:r>
              <a:rPr lang="en-US" sz="1620" dirty="0">
                <a:solidFill>
                  <a:srgbClr val="2D2D2D"/>
                </a:solidFill>
                <a:latin typeface="Arial" pitchFamily="34" charset="0"/>
                <a:ea typeface="Arial" pitchFamily="34" charset="-122"/>
                <a:cs typeface="Arial" pitchFamily="34" charset="-120"/>
              </a:rPr>
              <a:t> + 2πN</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Poca redundancia para separar contribuciones superpuestas</a:t>
            </a:r>
            <a:endParaRPr lang="en-US" sz="1620" dirty="0"/>
          </a:p>
          <a:p>
            <a:pPr marL="342900" indent="-342900">
              <a:spcAft>
                <a:spcPts val="900"/>
              </a:spcAft>
              <a:buSzPct val="100000"/>
              <a:buChar char="•"/>
            </a:pPr>
            <a:r>
              <a:rPr lang="en-US" sz="1620" dirty="0">
                <a:solidFill>
                  <a:srgbClr val="2D2D2D"/>
                </a:solidFill>
                <a:latin typeface="Arial" pitchFamily="34" charset="0"/>
                <a:ea typeface="Arial" pitchFamily="34" charset="-122"/>
                <a:cs typeface="Arial" pitchFamily="34" charset="-120"/>
              </a:rPr>
              <a:t>Se repite con distintas separaciones</a:t>
            </a:r>
            <a:endParaRPr lang="en-US" sz="1620" dirty="0"/>
          </a:p>
        </p:txBody>
      </p:sp>
      <p:pic>
        <p:nvPicPr>
          <p:cNvPr id="16" name="Figura MASW [s2]" descr="Arreglo MASW: fuente y una línea de geófonos con espaciamiento dx">    </p:cNvPr>
          <p:cNvPicPr>
            <a:picLocks noChangeAspect="1"/>
          </p:cNvPicPr>
          <p:nvPr/>
        </p:nvPicPr>
        <p:blipFill>
          <a:blip r:embed="rId2"/>
          <a:stretch>
            <a:fillRect/>
          </a:stretch>
        </p:blipFill>
        <p:spPr>
          <a:xfrm>
            <a:off x="966136" y="1601523"/>
            <a:ext cx="4487298" cy="2103155"/>
          </a:xfrm>
          <a:prstGeom prst="rect">
            <a:avLst/>
          </a:prstGeom>
        </p:spPr>
      </p:pic>
      <p:sp>
        <p:nvSpPr>
          <p:cNvPr id="17" name="Cuerpo [s2]"/>
          <p:cNvSpPr txBox="1"/>
          <p:nvPr/>
        </p:nvSpPr>
        <p:spPr>
          <a:xfrm>
            <a:off x="5693824" y="1721719"/>
            <a:ext cx="2484040" cy="2724431"/>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Un transductor y un canal por posición</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La redundancia espacial permite reconocer patrones coherentes</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Se distinguen contribuciones superpuestas</a:t>
            </a:r>
            <a:endParaRPr lang="en-US" sz="1440" dirty="0"/>
          </a:p>
        </p:txBody>
      </p:sp>
      <p:pic>
        <p:nvPicPr>
          <p:cNvPr id="18" name="Registro espacio-tiempo [s3]" descr="Registro sintético: trazas por posición, con el tiempo de llegada creciendo con la distancia">    </p:cNvPr>
          <p:cNvPicPr>
            <a:picLocks noChangeAspect="1"/>
          </p:cNvPicPr>
          <p:nvPr/>
        </p:nvPicPr>
        <p:blipFill>
          <a:blip r:embed="rId3"/>
          <a:stretch>
            <a:fillRect/>
          </a:stretch>
        </p:blipFill>
        <p:spPr>
          <a:xfrm>
            <a:off x="966136" y="1641589"/>
            <a:ext cx="4327037" cy="2724431"/>
          </a:xfrm>
          <a:prstGeom prst="rect">
            <a:avLst/>
          </a:prstGeom>
        </p:spPr>
      </p:pic>
      <p:sp>
        <p:nvSpPr>
          <p:cNvPr id="19" name="Fondo U [s3]"/>
          <p:cNvSpPr/>
          <p:nvPr/>
        </p:nvSpPr>
        <p:spPr>
          <a:xfrm>
            <a:off x="5533564" y="1681654"/>
            <a:ext cx="2644300"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0" name="Ecuación E_U [s3]"/>
              <p:cNvSpPr txBox="1"/>
              <p:nvPr/>
            </p:nvSpPr>
            <p:spPr>
              <a:xfrm>
                <a:off x="5533564" y="1681654"/>
                <a:ext cx="2644300"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U[m,n]=</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u</m:t>
                          </m:r>
                        </m:e>
                        <m:sub>
                          <m:r>
                            <a:rPr lang="es-ES" sz="2200" i="1">
                              <a:solidFill>
                                <a:srgbClr val="1F4E79"/>
                              </a:solidFill>
                              <a:latin typeface="Cambria Math" panose="02040503050406030204" pitchFamily="18" charset="0"/>
                            </a:rPr>
                            <m:t xml:space="preserve">z</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x</m:t>
                          </m:r>
                        </m:e>
                        <m:sub>
                          <m:r>
                            <a:rPr lang="es-ES" sz="2200" i="1">
                              <a:solidFill>
                                <a:srgbClr val="1F4E79"/>
                              </a:solidFill>
                              <a:latin typeface="Cambria Math" panose="02040503050406030204" pitchFamily="18" charset="0"/>
                            </a:rPr>
                            <m:t xml:space="preserve">m</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t</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oMath>
                  </m:oMathPara>
                </a14:m>
                <a:endParaRPr lang="es-ES"/>
              </a:p>
            </p:txBody>
          </p:sp>
        </mc:Choice>
        <mc:Fallback>
          <p:sp>
            <p:nvSpPr>
              <p:cNvPr id="20" name="Ecuación E_U [s3]"/>
              <p:cNvSpPr txBox="1"/>
              <p:nvPr/>
            </p:nvSpPr>
            <p:spPr>
              <a:xfrm>
                <a:off x="5533564" y="1681654"/>
                <a:ext cx="2644300"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U[m, n] = uz(xm, tn)</a:t>
                </a:r>
                <a:endParaRPr lang="en-US" sz="2159" dirty="0"/>
              </a:p>
            </p:txBody>
          </p:sp>
        </mc:Fallback>
      </mc:AlternateContent>
      <p:sp>
        <p:nvSpPr>
          <p:cNvPr id="21" name="Cuerpo [s3]"/>
          <p:cNvSpPr txBox="1"/>
          <p:nvPr/>
        </p:nvSpPr>
        <p:spPr>
          <a:xfrm>
            <a:off x="5533564" y="2523022"/>
            <a:ext cx="2644300" cy="1923128"/>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Cada fila es la traza de una posición</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El conjunto es un registro espacio–tiempo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440" dirty="0"/>
          </a:p>
        </p:txBody>
      </p:sp>
      <p:pic>
        <p:nvPicPr>
          <p:cNvPr id="22" name="Figura dimensión sintetizada [s4]" descr="Arreglo convencional con un receptor por posición y arreglo sintetizado con un receptor fijo y la fuente en posiciones sucesivas">    </p:cNvPr>
          <p:cNvPicPr>
            <a:picLocks noChangeAspect="1"/>
          </p:cNvPicPr>
          <p:nvPr/>
        </p:nvPicPr>
        <p:blipFill>
          <a:blip r:embed="rId4"/>
          <a:stretch>
            <a:fillRect/>
          </a:stretch>
        </p:blipFill>
        <p:spPr>
          <a:xfrm>
            <a:off x="966136" y="1641589"/>
            <a:ext cx="4807819" cy="2554154"/>
          </a:xfrm>
          <a:prstGeom prst="rect">
            <a:avLst/>
          </a:prstGeom>
        </p:spPr>
      </p:pic>
      <p:sp>
        <p:nvSpPr>
          <p:cNvPr id="23" name="Cuerpo [s4]"/>
          <p:cNvSpPr txBox="1"/>
          <p:nvPr/>
        </p:nvSpPr>
        <p:spPr>
          <a:xfrm>
            <a:off x="5934215" y="1721719"/>
            <a:ext cx="2243649" cy="2724431"/>
          </a:xfrm>
          <a:prstGeom prst="rect">
            <a:avLst/>
          </a:prstGeom>
          <a:noFill/>
          <a:ln/>
        </p:spPr>
        <p:txBody>
          <a:bodyPr wrap="square" lIns="0" tIns="0" rIns="0" bIns="0" rtlCol="0" anchor="t"/>
          <a:lstStyle/>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Reduce el costo instrumental: menos canales</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440" dirty="0"/>
          </a:p>
          <a:p>
            <a:pPr marL="342900" indent="-342900">
              <a:spcAft>
                <a:spcPts val="1080"/>
              </a:spcAft>
              <a:buSzPct val="100000"/>
              <a:buChar char="•"/>
            </a:pPr>
            <a:r>
              <a:rPr lang="en-US" sz="1440" dirty="0">
                <a:solidFill>
                  <a:srgbClr val="2D2D2D"/>
                </a:solidFill>
                <a:latin typeface="Arial" pitchFamily="34" charset="0"/>
                <a:ea typeface="Arial" pitchFamily="34" charset="-122"/>
                <a:cs typeface="Arial" pitchFamily="34" charset="-120"/>
              </a:rPr>
              <a:t>Es la configuración recíproca de mover el receptor</a:t>
            </a:r>
            <a:endParaRPr lang="en-US" sz="1440" dirty="0"/>
          </a:p>
        </p:txBody>
      </p:sp>
      <p:sp>
        <p:nvSpPr>
          <p:cNvPr id="24"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SASW: la diferencia de fase entre dos receptores da la velocidad de fase</a:t>
            </a:r>
            <a:endParaRPr lang="en-US" sz="1400" dirty="0"/>
          </a:p>
        </p:txBody>
      </p:sp>
      <p:sp>
        <p:nvSpPr>
          <p:cNvPr id="25"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esquema SASW/MASW (fuente original por confirmar), traducido. Resumen firmado, sec. 4; Foti et al. (2014).</a:t>
            </a:r>
            <a:endParaRPr lang="en-US" sz="800" dirty="0"/>
          </a:p>
        </p:txBody>
      </p:sp>
      <p:sp>
        <p:nvSpPr>
          <p:cNvPr id="26"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SASW es simple, pero deja ambigüedades y poca redundancia espacial</a:t>
            </a:r>
            <a:endParaRPr lang="en-US" sz="1400" dirty="0"/>
          </a:p>
        </p:txBody>
      </p:sp>
      <p:sp>
        <p:nvSpPr>
          <p:cNvPr id="27"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 Foti et al. (2014) (a confirmar).</a:t>
            </a:r>
            <a:endParaRPr lang="en-US" sz="800" dirty="0"/>
          </a:p>
        </p:txBody>
      </p:sp>
      <p:sp>
        <p:nvSpPr>
          <p:cNvPr id="28"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MASW extiende el principio a múltiples posiciones a lo largo del terreno</a:t>
            </a:r>
            <a:endParaRPr lang="en-US" sz="1400" dirty="0"/>
          </a:p>
        </p:txBody>
      </p:sp>
      <p:sp>
        <p:nvSpPr>
          <p:cNvPr id="29"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Imagen: esquema SASW/MASW (fuente original por confirmar), traducido. Park et al. (1998, 1999); Foti et al. (2018).</a:t>
            </a:r>
            <a:endParaRPr lang="en-US" sz="800" dirty="0"/>
          </a:p>
        </p:txBody>
      </p:sp>
      <p:sp>
        <p:nvSpPr>
          <p:cNvPr id="30"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registro MASW es una matriz espacio–tiempo: una traza por posición</a:t>
            </a:r>
            <a:endParaRPr lang="en-US" sz="1400" dirty="0"/>
          </a:p>
        </p:txBody>
      </p:sp>
      <p:sp>
        <p:nvSpPr>
          <p:cNvPr id="31"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Registro sintético propio (ilustrativo), con la curva de la slide 41. Resumen firmado, ec. (6).</a:t>
            </a:r>
            <a:endParaRPr lang="en-US" sz="800" dirty="0"/>
          </a:p>
        </p:txBody>
      </p:sp>
      <p:sp>
        <p:nvSpPr>
          <p:cNvPr id="32"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dimensión espacial puede sintetizarse con adquisiciones sucesivas</a:t>
            </a:r>
            <a:endParaRPr lang="en-US" sz="1400" dirty="0"/>
          </a:p>
        </p:txBody>
      </p:sp>
      <p:sp>
        <p:nvSpPr>
          <p:cNvPr id="33"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Lin y Ashlock (2016), según el resumen firmado (a confirmar en el artículo).</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617" fill="hold">
                      <p:stCondLst>
                        <p:cond delay="indefinite"/>
                      </p:stCondLst>
                      <p:childTnLst>
                        <p:par>
                          <p:cTn id="2618" fill="hold">
                            <p:stCondLst>
                              <p:cond delay="0"/>
                            </p:stCondLst>
                            <p:childTnLst>
                              <p:par>
                                <p:cTn id="2566" presetID="10" presetClass="exit" presetSubtype="0" fill="hold" nodeType="clickEffect">
                                  <p:stCondLst>
                                    <p:cond delay="0"/>
                                  </p:stCondLst>
                                  <p:childTnLst>
                                    <p:animEffect transition="out" filter="fade">
                                      <p:cBhvr>
                                        <p:cTn id="2567" dur="400"/>
                                        <p:tgtEl>
                                          <p:spTgt spid="3"/>
                                        </p:tgtEl>
                                      </p:cBhvr>
                                    </p:animEffect>
                                    <p:set>
                                      <p:cBhvr>
                                        <p:cTn id="2568" dur="1" fill="hold">
                                          <p:stCondLst>
                                            <p:cond delay="399"/>
                                          </p:stCondLst>
                                        </p:cTn>
                                        <p:tgtEl>
                                          <p:spTgt spid="3"/>
                                        </p:tgtEl>
                                        <p:attrNameLst>
                                          <p:attrName>style.visibility</p:attrName>
                                        </p:attrNameLst>
                                      </p:cBhvr>
                                      <p:to>
                                        <p:strVal val="hidden"/>
                                      </p:to>
                                    </p:set>
                                  </p:childTnLst>
                                </p:cTn>
                              </p:par>
                              <p:par>
                                <p:cTn id="2569" presetID="10" presetClass="exit" presetSubtype="0" fill="hold" nodeType="withEffect">
                                  <p:stCondLst>
                                    <p:cond delay="0"/>
                                  </p:stCondLst>
                                  <p:childTnLst>
                                    <p:animEffect transition="out" filter="fade">
                                      <p:cBhvr>
                                        <p:cTn id="2570" dur="400"/>
                                        <p:tgtEl>
                                          <p:spTgt spid="4"/>
                                        </p:tgtEl>
                                      </p:cBhvr>
                                    </p:animEffect>
                                    <p:set>
                                      <p:cBhvr>
                                        <p:cTn id="2571" dur="1" fill="hold">
                                          <p:stCondLst>
                                            <p:cond delay="399"/>
                                          </p:stCondLst>
                                        </p:cTn>
                                        <p:tgtEl>
                                          <p:spTgt spid="4"/>
                                        </p:tgtEl>
                                        <p:attrNameLst>
                                          <p:attrName>style.visibility</p:attrName>
                                        </p:attrNameLst>
                                      </p:cBhvr>
                                      <p:to>
                                        <p:strVal val="hidden"/>
                                      </p:to>
                                    </p:set>
                                  </p:childTnLst>
                                </p:cTn>
                              </p:par>
                              <p:par>
                                <p:cTn id="2572" presetID="10" presetClass="exit" presetSubtype="0" fill="hold" nodeType="withEffect">
                                  <p:stCondLst>
                                    <p:cond delay="0"/>
                                  </p:stCondLst>
                                  <p:childTnLst>
                                    <p:animEffect transition="out" filter="fade">
                                      <p:cBhvr>
                                        <p:cTn id="2573" dur="400"/>
                                        <p:tgtEl>
                                          <p:spTgt spid="5"/>
                                        </p:tgtEl>
                                      </p:cBhvr>
                                    </p:animEffect>
                                    <p:set>
                                      <p:cBhvr>
                                        <p:cTn id="2574" dur="1" fill="hold">
                                          <p:stCondLst>
                                            <p:cond delay="399"/>
                                          </p:stCondLst>
                                        </p:cTn>
                                        <p:tgtEl>
                                          <p:spTgt spid="5"/>
                                        </p:tgtEl>
                                        <p:attrNameLst>
                                          <p:attrName>style.visibility</p:attrName>
                                        </p:attrNameLst>
                                      </p:cBhvr>
                                      <p:to>
                                        <p:strVal val="hidden"/>
                                      </p:to>
                                    </p:set>
                                  </p:childTnLst>
                                </p:cTn>
                              </p:par>
                              <p:par>
                                <p:cTn id="2575" presetID="10" presetClass="exit" presetSubtype="0" fill="hold" nodeType="withEffect">
                                  <p:stCondLst>
                                    <p:cond delay="0"/>
                                  </p:stCondLst>
                                  <p:childTnLst>
                                    <p:animEffect transition="out" filter="fade">
                                      <p:cBhvr>
                                        <p:cTn id="2576" dur="400"/>
                                        <p:tgtEl>
                                          <p:spTgt spid="6"/>
                                        </p:tgtEl>
                                      </p:cBhvr>
                                    </p:animEffect>
                                    <p:set>
                                      <p:cBhvr>
                                        <p:cTn id="2577" dur="1" fill="hold">
                                          <p:stCondLst>
                                            <p:cond delay="399"/>
                                          </p:stCondLst>
                                        </p:cTn>
                                        <p:tgtEl>
                                          <p:spTgt spid="6"/>
                                        </p:tgtEl>
                                        <p:attrNameLst>
                                          <p:attrName>style.visibility</p:attrName>
                                        </p:attrNameLst>
                                      </p:cBhvr>
                                      <p:to>
                                        <p:strVal val="hidden"/>
                                      </p:to>
                                    </p:set>
                                  </p:childTnLst>
                                </p:cTn>
                              </p:par>
                              <p:par>
                                <p:cTn id="2578" presetID="10" presetClass="exit" presetSubtype="0" fill="hold" nodeType="withEffect">
                                  <p:stCondLst>
                                    <p:cond delay="0"/>
                                  </p:stCondLst>
                                  <p:childTnLst>
                                    <p:animEffect transition="out" filter="fade">
                                      <p:cBhvr>
                                        <p:cTn id="2579" dur="400"/>
                                        <p:tgtEl>
                                          <p:spTgt spid="24"/>
                                        </p:tgtEl>
                                      </p:cBhvr>
                                    </p:animEffect>
                                    <p:set>
                                      <p:cBhvr>
                                        <p:cTn id="2580" dur="1" fill="hold">
                                          <p:stCondLst>
                                            <p:cond delay="399"/>
                                          </p:stCondLst>
                                        </p:cTn>
                                        <p:tgtEl>
                                          <p:spTgt spid="24"/>
                                        </p:tgtEl>
                                        <p:attrNameLst>
                                          <p:attrName>style.visibility</p:attrName>
                                        </p:attrNameLst>
                                      </p:cBhvr>
                                      <p:to>
                                        <p:strVal val="hidden"/>
                                      </p:to>
                                    </p:set>
                                  </p:childTnLst>
                                </p:cTn>
                              </p:par>
                              <p:par>
                                <p:cTn id="2581" presetID="10" presetClass="exit" presetSubtype="0" fill="hold" nodeType="withEffect">
                                  <p:stCondLst>
                                    <p:cond delay="0"/>
                                  </p:stCondLst>
                                  <p:childTnLst>
                                    <p:animEffect transition="out" filter="fade">
                                      <p:cBhvr>
                                        <p:cTn id="2582" dur="400"/>
                                        <p:tgtEl>
                                          <p:spTgt spid="25"/>
                                        </p:tgtEl>
                                      </p:cBhvr>
                                    </p:animEffect>
                                    <p:set>
                                      <p:cBhvr>
                                        <p:cTn id="2583" dur="1" fill="hold">
                                          <p:stCondLst>
                                            <p:cond delay="399"/>
                                          </p:stCondLst>
                                        </p:cTn>
                                        <p:tgtEl>
                                          <p:spTgt spid="25"/>
                                        </p:tgtEl>
                                        <p:attrNameLst>
                                          <p:attrName>style.visibility</p:attrName>
                                        </p:attrNameLst>
                                      </p:cBhvr>
                                      <p:to>
                                        <p:strVal val="hidden"/>
                                      </p:to>
                                    </p:set>
                                  </p:childTnLst>
                                </p:cTn>
                              </p:par>
                              <p:par>
                                <p:cTn id="2584" presetID="10" presetClass="entr" presetSubtype="0" fill="hold" nodeType="withEffect">
                                  <p:stCondLst>
                                    <p:cond delay="200"/>
                                  </p:stCondLst>
                                  <p:childTnLst>
                                    <p:set>
                                      <p:cBhvr>
                                        <p:cTn id="2585" dur="1" fill="hold">
                                          <p:stCondLst>
                                            <p:cond delay="0"/>
                                          </p:stCondLst>
                                        </p:cTn>
                                        <p:tgtEl>
                                          <p:spTgt spid="7"/>
                                        </p:tgtEl>
                                        <p:attrNameLst>
                                          <p:attrName>style.visibility</p:attrName>
                                        </p:attrNameLst>
                                      </p:cBhvr>
                                      <p:to>
                                        <p:strVal val="visible"/>
                                      </p:to>
                                    </p:set>
                                    <p:animEffect transition="in" filter="fade">
                                      <p:cBhvr>
                                        <p:cTn id="2586" dur="500"/>
                                        <p:tgtEl>
                                          <p:spTgt spid="7"/>
                                        </p:tgtEl>
                                      </p:cBhvr>
                                    </p:animEffect>
                                  </p:childTnLst>
                                </p:cTn>
                              </p:par>
                              <p:par>
                                <p:cTn id="2587" presetID="10" presetClass="entr" presetSubtype="0" fill="hold" nodeType="withEffect">
                                  <p:stCondLst>
                                    <p:cond delay="270"/>
                                  </p:stCondLst>
                                  <p:childTnLst>
                                    <p:set>
                                      <p:cBhvr>
                                        <p:cTn id="2588" dur="1" fill="hold">
                                          <p:stCondLst>
                                            <p:cond delay="0"/>
                                          </p:stCondLst>
                                        </p:cTn>
                                        <p:tgtEl>
                                          <p:spTgt spid="8"/>
                                        </p:tgtEl>
                                        <p:attrNameLst>
                                          <p:attrName>style.visibility</p:attrName>
                                        </p:attrNameLst>
                                      </p:cBhvr>
                                      <p:to>
                                        <p:strVal val="visible"/>
                                      </p:to>
                                    </p:set>
                                    <p:animEffect transition="in" filter="fade">
                                      <p:cBhvr>
                                        <p:cTn id="2589" dur="500"/>
                                        <p:tgtEl>
                                          <p:spTgt spid="8"/>
                                        </p:tgtEl>
                                      </p:cBhvr>
                                    </p:animEffect>
                                  </p:childTnLst>
                                </p:cTn>
                              </p:par>
                              <p:par>
                                <p:cTn id="2590" presetID="10" presetClass="entr" presetSubtype="0" fill="hold" nodeType="withEffect">
                                  <p:stCondLst>
                                    <p:cond delay="340"/>
                                  </p:stCondLst>
                                  <p:childTnLst>
                                    <p:set>
                                      <p:cBhvr>
                                        <p:cTn id="2591" dur="1" fill="hold">
                                          <p:stCondLst>
                                            <p:cond delay="0"/>
                                          </p:stCondLst>
                                        </p:cTn>
                                        <p:tgtEl>
                                          <p:spTgt spid="9"/>
                                        </p:tgtEl>
                                        <p:attrNameLst>
                                          <p:attrName>style.visibility</p:attrName>
                                        </p:attrNameLst>
                                      </p:cBhvr>
                                      <p:to>
                                        <p:strVal val="visible"/>
                                      </p:to>
                                    </p:set>
                                    <p:animEffect transition="in" filter="fade">
                                      <p:cBhvr>
                                        <p:cTn id="2592" dur="500"/>
                                        <p:tgtEl>
                                          <p:spTgt spid="9"/>
                                        </p:tgtEl>
                                      </p:cBhvr>
                                    </p:animEffect>
                                  </p:childTnLst>
                                </p:cTn>
                              </p:par>
                              <p:par>
                                <p:cTn id="2593" presetID="10" presetClass="entr" presetSubtype="0" fill="hold" nodeType="withEffect">
                                  <p:stCondLst>
                                    <p:cond delay="410"/>
                                  </p:stCondLst>
                                  <p:childTnLst>
                                    <p:set>
                                      <p:cBhvr>
                                        <p:cTn id="2594" dur="1" fill="hold">
                                          <p:stCondLst>
                                            <p:cond delay="0"/>
                                          </p:stCondLst>
                                        </p:cTn>
                                        <p:tgtEl>
                                          <p:spTgt spid="10"/>
                                        </p:tgtEl>
                                        <p:attrNameLst>
                                          <p:attrName>style.visibility</p:attrName>
                                        </p:attrNameLst>
                                      </p:cBhvr>
                                      <p:to>
                                        <p:strVal val="visible"/>
                                      </p:to>
                                    </p:set>
                                    <p:animEffect transition="in" filter="fade">
                                      <p:cBhvr>
                                        <p:cTn id="2595" dur="500"/>
                                        <p:tgtEl>
                                          <p:spTgt spid="10"/>
                                        </p:tgtEl>
                                      </p:cBhvr>
                                    </p:animEffect>
                                  </p:childTnLst>
                                </p:cTn>
                              </p:par>
                              <p:par>
                                <p:cTn id="2596" presetID="10" presetClass="entr" presetSubtype="0" fill="hold" nodeType="withEffect">
                                  <p:stCondLst>
                                    <p:cond delay="480"/>
                                  </p:stCondLst>
                                  <p:childTnLst>
                                    <p:set>
                                      <p:cBhvr>
                                        <p:cTn id="2597" dur="1" fill="hold">
                                          <p:stCondLst>
                                            <p:cond delay="0"/>
                                          </p:stCondLst>
                                        </p:cTn>
                                        <p:tgtEl>
                                          <p:spTgt spid="11"/>
                                        </p:tgtEl>
                                        <p:attrNameLst>
                                          <p:attrName>style.visibility</p:attrName>
                                        </p:attrNameLst>
                                      </p:cBhvr>
                                      <p:to>
                                        <p:strVal val="visible"/>
                                      </p:to>
                                    </p:set>
                                    <p:animEffect transition="in" filter="fade">
                                      <p:cBhvr>
                                        <p:cTn id="2598" dur="500"/>
                                        <p:tgtEl>
                                          <p:spTgt spid="11"/>
                                        </p:tgtEl>
                                      </p:cBhvr>
                                    </p:animEffect>
                                  </p:childTnLst>
                                </p:cTn>
                              </p:par>
                              <p:par>
                                <p:cTn id="2599" presetID="10" presetClass="entr" presetSubtype="0" fill="hold" nodeType="withEffect">
                                  <p:stCondLst>
                                    <p:cond delay="550"/>
                                  </p:stCondLst>
                                  <p:childTnLst>
                                    <p:set>
                                      <p:cBhvr>
                                        <p:cTn id="2600" dur="1" fill="hold">
                                          <p:stCondLst>
                                            <p:cond delay="0"/>
                                          </p:stCondLst>
                                        </p:cTn>
                                        <p:tgtEl>
                                          <p:spTgt spid="12"/>
                                        </p:tgtEl>
                                        <p:attrNameLst>
                                          <p:attrName>style.visibility</p:attrName>
                                        </p:attrNameLst>
                                      </p:cBhvr>
                                      <p:to>
                                        <p:strVal val="visible"/>
                                      </p:to>
                                    </p:set>
                                    <p:animEffect transition="in" filter="fade">
                                      <p:cBhvr>
                                        <p:cTn id="2601" dur="500"/>
                                        <p:tgtEl>
                                          <p:spTgt spid="12"/>
                                        </p:tgtEl>
                                      </p:cBhvr>
                                    </p:animEffect>
                                  </p:childTnLst>
                                </p:cTn>
                              </p:par>
                              <p:par>
                                <p:cTn id="2602" presetID="10" presetClass="entr" presetSubtype="0" fill="hold" nodeType="withEffect">
                                  <p:stCondLst>
                                    <p:cond delay="620"/>
                                  </p:stCondLst>
                                  <p:childTnLst>
                                    <p:set>
                                      <p:cBhvr>
                                        <p:cTn id="2603" dur="1" fill="hold">
                                          <p:stCondLst>
                                            <p:cond delay="0"/>
                                          </p:stCondLst>
                                        </p:cTn>
                                        <p:tgtEl>
                                          <p:spTgt spid="13"/>
                                        </p:tgtEl>
                                        <p:attrNameLst>
                                          <p:attrName>style.visibility</p:attrName>
                                        </p:attrNameLst>
                                      </p:cBhvr>
                                      <p:to>
                                        <p:strVal val="visible"/>
                                      </p:to>
                                    </p:set>
                                    <p:animEffect transition="in" filter="fade">
                                      <p:cBhvr>
                                        <p:cTn id="2604" dur="500"/>
                                        <p:tgtEl>
                                          <p:spTgt spid="13"/>
                                        </p:tgtEl>
                                      </p:cBhvr>
                                    </p:animEffect>
                                  </p:childTnLst>
                                </p:cTn>
                              </p:par>
                              <p:par>
                                <p:cTn id="2605" presetID="10" presetClass="entr" presetSubtype="0" fill="hold" nodeType="withEffect">
                                  <p:stCondLst>
                                    <p:cond delay="690"/>
                                  </p:stCondLst>
                                  <p:childTnLst>
                                    <p:set>
                                      <p:cBhvr>
                                        <p:cTn id="2606" dur="1" fill="hold">
                                          <p:stCondLst>
                                            <p:cond delay="0"/>
                                          </p:stCondLst>
                                        </p:cTn>
                                        <p:tgtEl>
                                          <p:spTgt spid="14"/>
                                        </p:tgtEl>
                                        <p:attrNameLst>
                                          <p:attrName>style.visibility</p:attrName>
                                        </p:attrNameLst>
                                      </p:cBhvr>
                                      <p:to>
                                        <p:strVal val="visible"/>
                                      </p:to>
                                    </p:set>
                                    <p:animEffect transition="in" filter="fade">
                                      <p:cBhvr>
                                        <p:cTn id="2607" dur="500"/>
                                        <p:tgtEl>
                                          <p:spTgt spid="14"/>
                                        </p:tgtEl>
                                      </p:cBhvr>
                                    </p:animEffect>
                                  </p:childTnLst>
                                </p:cTn>
                              </p:par>
                              <p:par>
                                <p:cTn id="2608" presetID="10" presetClass="entr" presetSubtype="0" fill="hold" nodeType="withEffect">
                                  <p:stCondLst>
                                    <p:cond delay="760"/>
                                  </p:stCondLst>
                                  <p:childTnLst>
                                    <p:set>
                                      <p:cBhvr>
                                        <p:cTn id="2609" dur="1" fill="hold">
                                          <p:stCondLst>
                                            <p:cond delay="0"/>
                                          </p:stCondLst>
                                        </p:cTn>
                                        <p:tgtEl>
                                          <p:spTgt spid="15"/>
                                        </p:tgtEl>
                                        <p:attrNameLst>
                                          <p:attrName>style.visibility</p:attrName>
                                        </p:attrNameLst>
                                      </p:cBhvr>
                                      <p:to>
                                        <p:strVal val="visible"/>
                                      </p:to>
                                    </p:set>
                                    <p:animEffect transition="in" filter="fade">
                                      <p:cBhvr>
                                        <p:cTn id="2610" dur="500"/>
                                        <p:tgtEl>
                                          <p:spTgt spid="15"/>
                                        </p:tgtEl>
                                      </p:cBhvr>
                                    </p:animEffect>
                                  </p:childTnLst>
                                </p:cTn>
                              </p:par>
                              <p:par>
                                <p:cTn id="2611" presetID="10" presetClass="entr" presetSubtype="0" fill="hold" nodeType="withEffect">
                                  <p:stCondLst>
                                    <p:cond delay="830"/>
                                  </p:stCondLst>
                                  <p:childTnLst>
                                    <p:set>
                                      <p:cBhvr>
                                        <p:cTn id="2612" dur="1" fill="hold">
                                          <p:stCondLst>
                                            <p:cond delay="0"/>
                                          </p:stCondLst>
                                        </p:cTn>
                                        <p:tgtEl>
                                          <p:spTgt spid="26"/>
                                        </p:tgtEl>
                                        <p:attrNameLst>
                                          <p:attrName>style.visibility</p:attrName>
                                        </p:attrNameLst>
                                      </p:cBhvr>
                                      <p:to>
                                        <p:strVal val="visible"/>
                                      </p:to>
                                    </p:set>
                                    <p:animEffect transition="in" filter="fade">
                                      <p:cBhvr>
                                        <p:cTn id="2613" dur="500"/>
                                        <p:tgtEl>
                                          <p:spTgt spid="26"/>
                                        </p:tgtEl>
                                      </p:cBhvr>
                                    </p:animEffect>
                                  </p:childTnLst>
                                </p:cTn>
                              </p:par>
                              <p:par>
                                <p:cTn id="2614" presetID="10" presetClass="entr" presetSubtype="0" fill="hold" nodeType="withEffect">
                                  <p:stCondLst>
                                    <p:cond delay="900"/>
                                  </p:stCondLst>
                                  <p:childTnLst>
                                    <p:set>
                                      <p:cBhvr>
                                        <p:cTn id="2615" dur="1" fill="hold">
                                          <p:stCondLst>
                                            <p:cond delay="0"/>
                                          </p:stCondLst>
                                        </p:cTn>
                                        <p:tgtEl>
                                          <p:spTgt spid="27"/>
                                        </p:tgtEl>
                                        <p:attrNameLst>
                                          <p:attrName>style.visibility</p:attrName>
                                        </p:attrNameLst>
                                      </p:cBhvr>
                                      <p:to>
                                        <p:strVal val="visible"/>
                                      </p:to>
                                    </p:set>
                                    <p:animEffect transition="in" filter="fade">
                                      <p:cBhvr>
                                        <p:cTn id="2616" dur="500"/>
                                        <p:tgtEl>
                                          <p:spTgt spid="27"/>
                                        </p:tgtEl>
                                      </p:cBhvr>
                                    </p:animEffect>
                                  </p:childTnLst>
                                </p:cTn>
                              </p:par>
                            </p:childTnLst>
                          </p:cTn>
                        </p:par>
                      </p:childTnLst>
                    </p:cTn>
                  </p:par>
                  <p:par>
                    <p:cTn id="2664" fill="hold">
                      <p:stCondLst>
                        <p:cond delay="indefinite"/>
                      </p:stCondLst>
                      <p:childTnLst>
                        <p:par>
                          <p:cTn id="2665" fill="hold">
                            <p:stCondLst>
                              <p:cond delay="0"/>
                            </p:stCondLst>
                            <p:childTnLst>
                              <p:par>
                                <p:cTn id="2619" presetID="10" presetClass="exit" presetSubtype="0" fill="hold" nodeType="clickEffect">
                                  <p:stCondLst>
                                    <p:cond delay="0"/>
                                  </p:stCondLst>
                                  <p:childTnLst>
                                    <p:animEffect transition="out" filter="fade">
                                      <p:cBhvr>
                                        <p:cTn id="2620" dur="400"/>
                                        <p:tgtEl>
                                          <p:spTgt spid="7"/>
                                        </p:tgtEl>
                                      </p:cBhvr>
                                    </p:animEffect>
                                    <p:set>
                                      <p:cBhvr>
                                        <p:cTn id="2621" dur="1" fill="hold">
                                          <p:stCondLst>
                                            <p:cond delay="399"/>
                                          </p:stCondLst>
                                        </p:cTn>
                                        <p:tgtEl>
                                          <p:spTgt spid="7"/>
                                        </p:tgtEl>
                                        <p:attrNameLst>
                                          <p:attrName>style.visibility</p:attrName>
                                        </p:attrNameLst>
                                      </p:cBhvr>
                                      <p:to>
                                        <p:strVal val="hidden"/>
                                      </p:to>
                                    </p:set>
                                  </p:childTnLst>
                                </p:cTn>
                              </p:par>
                              <p:par>
                                <p:cTn id="2622" presetID="10" presetClass="exit" presetSubtype="0" fill="hold" nodeType="withEffect">
                                  <p:stCondLst>
                                    <p:cond delay="0"/>
                                  </p:stCondLst>
                                  <p:childTnLst>
                                    <p:animEffect transition="out" filter="fade">
                                      <p:cBhvr>
                                        <p:cTn id="2623" dur="400"/>
                                        <p:tgtEl>
                                          <p:spTgt spid="8"/>
                                        </p:tgtEl>
                                      </p:cBhvr>
                                    </p:animEffect>
                                    <p:set>
                                      <p:cBhvr>
                                        <p:cTn id="2624" dur="1" fill="hold">
                                          <p:stCondLst>
                                            <p:cond delay="399"/>
                                          </p:stCondLst>
                                        </p:cTn>
                                        <p:tgtEl>
                                          <p:spTgt spid="8"/>
                                        </p:tgtEl>
                                        <p:attrNameLst>
                                          <p:attrName>style.visibility</p:attrName>
                                        </p:attrNameLst>
                                      </p:cBhvr>
                                      <p:to>
                                        <p:strVal val="hidden"/>
                                      </p:to>
                                    </p:set>
                                  </p:childTnLst>
                                </p:cTn>
                              </p:par>
                              <p:par>
                                <p:cTn id="2625" presetID="10" presetClass="exit" presetSubtype="0" fill="hold" nodeType="withEffect">
                                  <p:stCondLst>
                                    <p:cond delay="0"/>
                                  </p:stCondLst>
                                  <p:childTnLst>
                                    <p:animEffect transition="out" filter="fade">
                                      <p:cBhvr>
                                        <p:cTn id="2626" dur="400"/>
                                        <p:tgtEl>
                                          <p:spTgt spid="9"/>
                                        </p:tgtEl>
                                      </p:cBhvr>
                                    </p:animEffect>
                                    <p:set>
                                      <p:cBhvr>
                                        <p:cTn id="2627" dur="1" fill="hold">
                                          <p:stCondLst>
                                            <p:cond delay="399"/>
                                          </p:stCondLst>
                                        </p:cTn>
                                        <p:tgtEl>
                                          <p:spTgt spid="9"/>
                                        </p:tgtEl>
                                        <p:attrNameLst>
                                          <p:attrName>style.visibility</p:attrName>
                                        </p:attrNameLst>
                                      </p:cBhvr>
                                      <p:to>
                                        <p:strVal val="hidden"/>
                                      </p:to>
                                    </p:set>
                                  </p:childTnLst>
                                </p:cTn>
                              </p:par>
                              <p:par>
                                <p:cTn id="2628" presetID="10" presetClass="exit" presetSubtype="0" fill="hold" nodeType="withEffect">
                                  <p:stCondLst>
                                    <p:cond delay="0"/>
                                  </p:stCondLst>
                                  <p:childTnLst>
                                    <p:animEffect transition="out" filter="fade">
                                      <p:cBhvr>
                                        <p:cTn id="2629" dur="400"/>
                                        <p:tgtEl>
                                          <p:spTgt spid="10"/>
                                        </p:tgtEl>
                                      </p:cBhvr>
                                    </p:animEffect>
                                    <p:set>
                                      <p:cBhvr>
                                        <p:cTn id="2630" dur="1" fill="hold">
                                          <p:stCondLst>
                                            <p:cond delay="399"/>
                                          </p:stCondLst>
                                        </p:cTn>
                                        <p:tgtEl>
                                          <p:spTgt spid="10"/>
                                        </p:tgtEl>
                                        <p:attrNameLst>
                                          <p:attrName>style.visibility</p:attrName>
                                        </p:attrNameLst>
                                      </p:cBhvr>
                                      <p:to>
                                        <p:strVal val="hidden"/>
                                      </p:to>
                                    </p:set>
                                  </p:childTnLst>
                                </p:cTn>
                              </p:par>
                              <p:par>
                                <p:cTn id="2631" presetID="10" presetClass="exit" presetSubtype="0" fill="hold" nodeType="withEffect">
                                  <p:stCondLst>
                                    <p:cond delay="0"/>
                                  </p:stCondLst>
                                  <p:childTnLst>
                                    <p:animEffect transition="out" filter="fade">
                                      <p:cBhvr>
                                        <p:cTn id="2632" dur="400"/>
                                        <p:tgtEl>
                                          <p:spTgt spid="11"/>
                                        </p:tgtEl>
                                      </p:cBhvr>
                                    </p:animEffect>
                                    <p:set>
                                      <p:cBhvr>
                                        <p:cTn id="2633" dur="1" fill="hold">
                                          <p:stCondLst>
                                            <p:cond delay="399"/>
                                          </p:stCondLst>
                                        </p:cTn>
                                        <p:tgtEl>
                                          <p:spTgt spid="11"/>
                                        </p:tgtEl>
                                        <p:attrNameLst>
                                          <p:attrName>style.visibility</p:attrName>
                                        </p:attrNameLst>
                                      </p:cBhvr>
                                      <p:to>
                                        <p:strVal val="hidden"/>
                                      </p:to>
                                    </p:set>
                                  </p:childTnLst>
                                </p:cTn>
                              </p:par>
                              <p:par>
                                <p:cTn id="2634" presetID="10" presetClass="exit" presetSubtype="0" fill="hold" nodeType="withEffect">
                                  <p:stCondLst>
                                    <p:cond delay="0"/>
                                  </p:stCondLst>
                                  <p:childTnLst>
                                    <p:animEffect transition="out" filter="fade">
                                      <p:cBhvr>
                                        <p:cTn id="2635" dur="400"/>
                                        <p:tgtEl>
                                          <p:spTgt spid="12"/>
                                        </p:tgtEl>
                                      </p:cBhvr>
                                    </p:animEffect>
                                    <p:set>
                                      <p:cBhvr>
                                        <p:cTn id="2636" dur="1" fill="hold">
                                          <p:stCondLst>
                                            <p:cond delay="399"/>
                                          </p:stCondLst>
                                        </p:cTn>
                                        <p:tgtEl>
                                          <p:spTgt spid="12"/>
                                        </p:tgtEl>
                                        <p:attrNameLst>
                                          <p:attrName>style.visibility</p:attrName>
                                        </p:attrNameLst>
                                      </p:cBhvr>
                                      <p:to>
                                        <p:strVal val="hidden"/>
                                      </p:to>
                                    </p:set>
                                  </p:childTnLst>
                                </p:cTn>
                              </p:par>
                              <p:par>
                                <p:cTn id="2637" presetID="10" presetClass="exit" presetSubtype="0" fill="hold" nodeType="withEffect">
                                  <p:stCondLst>
                                    <p:cond delay="0"/>
                                  </p:stCondLst>
                                  <p:childTnLst>
                                    <p:animEffect transition="out" filter="fade">
                                      <p:cBhvr>
                                        <p:cTn id="2638" dur="400"/>
                                        <p:tgtEl>
                                          <p:spTgt spid="13"/>
                                        </p:tgtEl>
                                      </p:cBhvr>
                                    </p:animEffect>
                                    <p:set>
                                      <p:cBhvr>
                                        <p:cTn id="2639" dur="1" fill="hold">
                                          <p:stCondLst>
                                            <p:cond delay="399"/>
                                          </p:stCondLst>
                                        </p:cTn>
                                        <p:tgtEl>
                                          <p:spTgt spid="13"/>
                                        </p:tgtEl>
                                        <p:attrNameLst>
                                          <p:attrName>style.visibility</p:attrName>
                                        </p:attrNameLst>
                                      </p:cBhvr>
                                      <p:to>
                                        <p:strVal val="hidden"/>
                                      </p:to>
                                    </p:set>
                                  </p:childTnLst>
                                </p:cTn>
                              </p:par>
                              <p:par>
                                <p:cTn id="2640" presetID="10" presetClass="exit" presetSubtype="0" fill="hold" nodeType="withEffect">
                                  <p:stCondLst>
                                    <p:cond delay="0"/>
                                  </p:stCondLst>
                                  <p:childTnLst>
                                    <p:animEffect transition="out" filter="fade">
                                      <p:cBhvr>
                                        <p:cTn id="2641" dur="400"/>
                                        <p:tgtEl>
                                          <p:spTgt spid="14"/>
                                        </p:tgtEl>
                                      </p:cBhvr>
                                    </p:animEffect>
                                    <p:set>
                                      <p:cBhvr>
                                        <p:cTn id="2642" dur="1" fill="hold">
                                          <p:stCondLst>
                                            <p:cond delay="399"/>
                                          </p:stCondLst>
                                        </p:cTn>
                                        <p:tgtEl>
                                          <p:spTgt spid="14"/>
                                        </p:tgtEl>
                                        <p:attrNameLst>
                                          <p:attrName>style.visibility</p:attrName>
                                        </p:attrNameLst>
                                      </p:cBhvr>
                                      <p:to>
                                        <p:strVal val="hidden"/>
                                      </p:to>
                                    </p:set>
                                  </p:childTnLst>
                                </p:cTn>
                              </p:par>
                              <p:par>
                                <p:cTn id="2643" presetID="10" presetClass="exit" presetSubtype="0" fill="hold" nodeType="withEffect">
                                  <p:stCondLst>
                                    <p:cond delay="0"/>
                                  </p:stCondLst>
                                  <p:childTnLst>
                                    <p:animEffect transition="out" filter="fade">
                                      <p:cBhvr>
                                        <p:cTn id="2644" dur="400"/>
                                        <p:tgtEl>
                                          <p:spTgt spid="15"/>
                                        </p:tgtEl>
                                      </p:cBhvr>
                                    </p:animEffect>
                                    <p:set>
                                      <p:cBhvr>
                                        <p:cTn id="2645" dur="1" fill="hold">
                                          <p:stCondLst>
                                            <p:cond delay="399"/>
                                          </p:stCondLst>
                                        </p:cTn>
                                        <p:tgtEl>
                                          <p:spTgt spid="15"/>
                                        </p:tgtEl>
                                        <p:attrNameLst>
                                          <p:attrName>style.visibility</p:attrName>
                                        </p:attrNameLst>
                                      </p:cBhvr>
                                      <p:to>
                                        <p:strVal val="hidden"/>
                                      </p:to>
                                    </p:set>
                                  </p:childTnLst>
                                </p:cTn>
                              </p:par>
                              <p:par>
                                <p:cTn id="2646" presetID="10" presetClass="exit" presetSubtype="0" fill="hold" nodeType="withEffect">
                                  <p:stCondLst>
                                    <p:cond delay="0"/>
                                  </p:stCondLst>
                                  <p:childTnLst>
                                    <p:animEffect transition="out" filter="fade">
                                      <p:cBhvr>
                                        <p:cTn id="2647" dur="400"/>
                                        <p:tgtEl>
                                          <p:spTgt spid="26"/>
                                        </p:tgtEl>
                                      </p:cBhvr>
                                    </p:animEffect>
                                    <p:set>
                                      <p:cBhvr>
                                        <p:cTn id="2648" dur="1" fill="hold">
                                          <p:stCondLst>
                                            <p:cond delay="399"/>
                                          </p:stCondLst>
                                        </p:cTn>
                                        <p:tgtEl>
                                          <p:spTgt spid="26"/>
                                        </p:tgtEl>
                                        <p:attrNameLst>
                                          <p:attrName>style.visibility</p:attrName>
                                        </p:attrNameLst>
                                      </p:cBhvr>
                                      <p:to>
                                        <p:strVal val="hidden"/>
                                      </p:to>
                                    </p:set>
                                  </p:childTnLst>
                                </p:cTn>
                              </p:par>
                              <p:par>
                                <p:cTn id="2649" presetID="10" presetClass="exit" presetSubtype="0" fill="hold" nodeType="withEffect">
                                  <p:stCondLst>
                                    <p:cond delay="0"/>
                                  </p:stCondLst>
                                  <p:childTnLst>
                                    <p:animEffect transition="out" filter="fade">
                                      <p:cBhvr>
                                        <p:cTn id="2650" dur="400"/>
                                        <p:tgtEl>
                                          <p:spTgt spid="27"/>
                                        </p:tgtEl>
                                      </p:cBhvr>
                                    </p:animEffect>
                                    <p:set>
                                      <p:cBhvr>
                                        <p:cTn id="2651" dur="1" fill="hold">
                                          <p:stCondLst>
                                            <p:cond delay="399"/>
                                          </p:stCondLst>
                                        </p:cTn>
                                        <p:tgtEl>
                                          <p:spTgt spid="27"/>
                                        </p:tgtEl>
                                        <p:attrNameLst>
                                          <p:attrName>style.visibility</p:attrName>
                                        </p:attrNameLst>
                                      </p:cBhvr>
                                      <p:to>
                                        <p:strVal val="hidden"/>
                                      </p:to>
                                    </p:set>
                                  </p:childTnLst>
                                </p:cTn>
                              </p:par>
                              <p:par>
                                <p:cTn id="2652" presetID="22" presetClass="entr" presetSubtype="8" fill="hold" nodeType="withEffect">
                                  <p:stCondLst>
                                    <p:cond delay="200"/>
                                  </p:stCondLst>
                                  <p:childTnLst>
                                    <p:set>
                                      <p:cBhvr>
                                        <p:cTn id="2653" dur="1" fill="hold">
                                          <p:stCondLst>
                                            <p:cond delay="0"/>
                                          </p:stCondLst>
                                        </p:cTn>
                                        <p:tgtEl>
                                          <p:spTgt spid="16"/>
                                        </p:tgtEl>
                                        <p:attrNameLst>
                                          <p:attrName>style.visibility</p:attrName>
                                        </p:attrNameLst>
                                      </p:cBhvr>
                                      <p:to>
                                        <p:strVal val="visible"/>
                                      </p:to>
                                    </p:set>
                                    <p:animEffect transition="in" filter="wipe(left)">
                                      <p:cBhvr>
                                        <p:cTn id="2654" dur="500"/>
                                        <p:tgtEl>
                                          <p:spTgt spid="16"/>
                                        </p:tgtEl>
                                      </p:cBhvr>
                                    </p:animEffect>
                                  </p:childTnLst>
                                </p:cTn>
                              </p:par>
                              <p:par>
                                <p:cTn id="2655" presetID="22" presetClass="entr" presetSubtype="8" fill="hold" nodeType="withEffect">
                                  <p:stCondLst>
                                    <p:cond delay="270"/>
                                  </p:stCondLst>
                                  <p:childTnLst>
                                    <p:set>
                                      <p:cBhvr>
                                        <p:cTn id="2656" dur="1" fill="hold">
                                          <p:stCondLst>
                                            <p:cond delay="0"/>
                                          </p:stCondLst>
                                        </p:cTn>
                                        <p:tgtEl>
                                          <p:spTgt spid="17"/>
                                        </p:tgtEl>
                                        <p:attrNameLst>
                                          <p:attrName>style.visibility</p:attrName>
                                        </p:attrNameLst>
                                      </p:cBhvr>
                                      <p:to>
                                        <p:strVal val="visible"/>
                                      </p:to>
                                    </p:set>
                                    <p:animEffect transition="in" filter="wipe(left)">
                                      <p:cBhvr>
                                        <p:cTn id="2657" dur="500"/>
                                        <p:tgtEl>
                                          <p:spTgt spid="17"/>
                                        </p:tgtEl>
                                      </p:cBhvr>
                                    </p:animEffect>
                                  </p:childTnLst>
                                </p:cTn>
                              </p:par>
                              <p:par>
                                <p:cTn id="2658" presetID="22" presetClass="entr" presetSubtype="8" fill="hold" nodeType="withEffect">
                                  <p:stCondLst>
                                    <p:cond delay="340"/>
                                  </p:stCondLst>
                                  <p:childTnLst>
                                    <p:set>
                                      <p:cBhvr>
                                        <p:cTn id="2659" dur="1" fill="hold">
                                          <p:stCondLst>
                                            <p:cond delay="0"/>
                                          </p:stCondLst>
                                        </p:cTn>
                                        <p:tgtEl>
                                          <p:spTgt spid="28"/>
                                        </p:tgtEl>
                                        <p:attrNameLst>
                                          <p:attrName>style.visibility</p:attrName>
                                        </p:attrNameLst>
                                      </p:cBhvr>
                                      <p:to>
                                        <p:strVal val="visible"/>
                                      </p:to>
                                    </p:set>
                                    <p:animEffect transition="in" filter="wipe(left)">
                                      <p:cBhvr>
                                        <p:cTn id="2660" dur="500"/>
                                        <p:tgtEl>
                                          <p:spTgt spid="28"/>
                                        </p:tgtEl>
                                      </p:cBhvr>
                                    </p:animEffect>
                                  </p:childTnLst>
                                </p:cTn>
                              </p:par>
                              <p:par>
                                <p:cTn id="2661" presetID="22" presetClass="entr" presetSubtype="8" fill="hold" nodeType="withEffect">
                                  <p:stCondLst>
                                    <p:cond delay="410"/>
                                  </p:stCondLst>
                                  <p:childTnLst>
                                    <p:set>
                                      <p:cBhvr>
                                        <p:cTn id="2662" dur="1" fill="hold">
                                          <p:stCondLst>
                                            <p:cond delay="0"/>
                                          </p:stCondLst>
                                        </p:cTn>
                                        <p:tgtEl>
                                          <p:spTgt spid="29"/>
                                        </p:tgtEl>
                                        <p:attrNameLst>
                                          <p:attrName>style.visibility</p:attrName>
                                        </p:attrNameLst>
                                      </p:cBhvr>
                                      <p:to>
                                        <p:strVal val="visible"/>
                                      </p:to>
                                    </p:set>
                                    <p:animEffect transition="in" filter="wipe(left)">
                                      <p:cBhvr>
                                        <p:cTn id="2663" dur="500"/>
                                        <p:tgtEl>
                                          <p:spTgt spid="29"/>
                                        </p:tgtEl>
                                      </p:cBhvr>
                                    </p:animEffect>
                                  </p:childTnLst>
                                </p:cTn>
                              </p:par>
                            </p:childTnLst>
                          </p:cTn>
                        </p:par>
                      </p:childTnLst>
                    </p:cTn>
                  </p:par>
                  <p:par>
                    <p:cTn id="2696" fill="hold">
                      <p:stCondLst>
                        <p:cond delay="indefinite"/>
                      </p:stCondLst>
                      <p:childTnLst>
                        <p:par>
                          <p:cTn id="2697" fill="hold">
                            <p:stCondLst>
                              <p:cond delay="0"/>
                            </p:stCondLst>
                            <p:childTnLst>
                              <p:par>
                                <p:cTn id="2666" presetID="10" presetClass="exit" presetSubtype="0" fill="hold" nodeType="clickEffect">
                                  <p:stCondLst>
                                    <p:cond delay="0"/>
                                  </p:stCondLst>
                                  <p:childTnLst>
                                    <p:animEffect transition="out" filter="fade">
                                      <p:cBhvr>
                                        <p:cTn id="2667" dur="400"/>
                                        <p:tgtEl>
                                          <p:spTgt spid="16"/>
                                        </p:tgtEl>
                                      </p:cBhvr>
                                    </p:animEffect>
                                    <p:set>
                                      <p:cBhvr>
                                        <p:cTn id="2668" dur="1" fill="hold">
                                          <p:stCondLst>
                                            <p:cond delay="399"/>
                                          </p:stCondLst>
                                        </p:cTn>
                                        <p:tgtEl>
                                          <p:spTgt spid="16"/>
                                        </p:tgtEl>
                                        <p:attrNameLst>
                                          <p:attrName>style.visibility</p:attrName>
                                        </p:attrNameLst>
                                      </p:cBhvr>
                                      <p:to>
                                        <p:strVal val="hidden"/>
                                      </p:to>
                                    </p:set>
                                  </p:childTnLst>
                                </p:cTn>
                              </p:par>
                              <p:par>
                                <p:cTn id="2669" presetID="10" presetClass="exit" presetSubtype="0" fill="hold" nodeType="withEffect">
                                  <p:stCondLst>
                                    <p:cond delay="0"/>
                                  </p:stCondLst>
                                  <p:childTnLst>
                                    <p:animEffect transition="out" filter="fade">
                                      <p:cBhvr>
                                        <p:cTn id="2670" dur="400"/>
                                        <p:tgtEl>
                                          <p:spTgt spid="17"/>
                                        </p:tgtEl>
                                      </p:cBhvr>
                                    </p:animEffect>
                                    <p:set>
                                      <p:cBhvr>
                                        <p:cTn id="2671" dur="1" fill="hold">
                                          <p:stCondLst>
                                            <p:cond delay="399"/>
                                          </p:stCondLst>
                                        </p:cTn>
                                        <p:tgtEl>
                                          <p:spTgt spid="17"/>
                                        </p:tgtEl>
                                        <p:attrNameLst>
                                          <p:attrName>style.visibility</p:attrName>
                                        </p:attrNameLst>
                                      </p:cBhvr>
                                      <p:to>
                                        <p:strVal val="hidden"/>
                                      </p:to>
                                    </p:set>
                                  </p:childTnLst>
                                </p:cTn>
                              </p:par>
                              <p:par>
                                <p:cTn id="2672" presetID="10" presetClass="exit" presetSubtype="0" fill="hold" nodeType="withEffect">
                                  <p:stCondLst>
                                    <p:cond delay="0"/>
                                  </p:stCondLst>
                                  <p:childTnLst>
                                    <p:animEffect transition="out" filter="fade">
                                      <p:cBhvr>
                                        <p:cTn id="2673" dur="400"/>
                                        <p:tgtEl>
                                          <p:spTgt spid="28"/>
                                        </p:tgtEl>
                                      </p:cBhvr>
                                    </p:animEffect>
                                    <p:set>
                                      <p:cBhvr>
                                        <p:cTn id="2674" dur="1" fill="hold">
                                          <p:stCondLst>
                                            <p:cond delay="399"/>
                                          </p:stCondLst>
                                        </p:cTn>
                                        <p:tgtEl>
                                          <p:spTgt spid="28"/>
                                        </p:tgtEl>
                                        <p:attrNameLst>
                                          <p:attrName>style.visibility</p:attrName>
                                        </p:attrNameLst>
                                      </p:cBhvr>
                                      <p:to>
                                        <p:strVal val="hidden"/>
                                      </p:to>
                                    </p:set>
                                  </p:childTnLst>
                                </p:cTn>
                              </p:par>
                              <p:par>
                                <p:cTn id="2675" presetID="10" presetClass="exit" presetSubtype="0" fill="hold" nodeType="withEffect">
                                  <p:stCondLst>
                                    <p:cond delay="0"/>
                                  </p:stCondLst>
                                  <p:childTnLst>
                                    <p:animEffect transition="out" filter="fade">
                                      <p:cBhvr>
                                        <p:cTn id="2676" dur="400"/>
                                        <p:tgtEl>
                                          <p:spTgt spid="29"/>
                                        </p:tgtEl>
                                      </p:cBhvr>
                                    </p:animEffect>
                                    <p:set>
                                      <p:cBhvr>
                                        <p:cTn id="2677" dur="1" fill="hold">
                                          <p:stCondLst>
                                            <p:cond delay="399"/>
                                          </p:stCondLst>
                                        </p:cTn>
                                        <p:tgtEl>
                                          <p:spTgt spid="29"/>
                                        </p:tgtEl>
                                        <p:attrNameLst>
                                          <p:attrName>style.visibility</p:attrName>
                                        </p:attrNameLst>
                                      </p:cBhvr>
                                      <p:to>
                                        <p:strVal val="hidden"/>
                                      </p:to>
                                    </p:set>
                                  </p:childTnLst>
                                </p:cTn>
                              </p:par>
                              <p:par>
                                <p:cTn id="2678" presetID="22" presetClass="entr" presetSubtype="4" fill="hold" nodeType="withEffect">
                                  <p:stCondLst>
                                    <p:cond delay="200"/>
                                  </p:stCondLst>
                                  <p:childTnLst>
                                    <p:set>
                                      <p:cBhvr>
                                        <p:cTn id="2679" dur="1" fill="hold">
                                          <p:stCondLst>
                                            <p:cond delay="0"/>
                                          </p:stCondLst>
                                        </p:cTn>
                                        <p:tgtEl>
                                          <p:spTgt spid="18"/>
                                        </p:tgtEl>
                                        <p:attrNameLst>
                                          <p:attrName>style.visibility</p:attrName>
                                        </p:attrNameLst>
                                      </p:cBhvr>
                                      <p:to>
                                        <p:strVal val="visible"/>
                                      </p:to>
                                    </p:set>
                                    <p:animEffect transition="in" filter="wipe(down)">
                                      <p:cBhvr>
                                        <p:cTn id="2680" dur="500"/>
                                        <p:tgtEl>
                                          <p:spTgt spid="18"/>
                                        </p:tgtEl>
                                      </p:cBhvr>
                                    </p:animEffect>
                                  </p:childTnLst>
                                </p:cTn>
                              </p:par>
                              <p:par>
                                <p:cTn id="2681" presetID="22" presetClass="entr" presetSubtype="4" fill="hold" nodeType="withEffect">
                                  <p:stCondLst>
                                    <p:cond delay="270"/>
                                  </p:stCondLst>
                                  <p:childTnLst>
                                    <p:set>
                                      <p:cBhvr>
                                        <p:cTn id="2682" dur="1" fill="hold">
                                          <p:stCondLst>
                                            <p:cond delay="0"/>
                                          </p:stCondLst>
                                        </p:cTn>
                                        <p:tgtEl>
                                          <p:spTgt spid="19"/>
                                        </p:tgtEl>
                                        <p:attrNameLst>
                                          <p:attrName>style.visibility</p:attrName>
                                        </p:attrNameLst>
                                      </p:cBhvr>
                                      <p:to>
                                        <p:strVal val="visible"/>
                                      </p:to>
                                    </p:set>
                                    <p:animEffect transition="in" filter="wipe(down)">
                                      <p:cBhvr>
                                        <p:cTn id="2683" dur="500"/>
                                        <p:tgtEl>
                                          <p:spTgt spid="19"/>
                                        </p:tgtEl>
                                      </p:cBhvr>
                                    </p:animEffect>
                                  </p:childTnLst>
                                </p:cTn>
                              </p:par>
                              <p:par>
                                <p:cTn id="2684" presetID="22" presetClass="entr" presetSubtype="4" fill="hold" nodeType="withEffect">
                                  <p:stCondLst>
                                    <p:cond delay="340"/>
                                  </p:stCondLst>
                                  <p:childTnLst>
                                    <p:set>
                                      <p:cBhvr>
                                        <p:cTn id="2685" dur="1" fill="hold">
                                          <p:stCondLst>
                                            <p:cond delay="0"/>
                                          </p:stCondLst>
                                        </p:cTn>
                                        <p:tgtEl>
                                          <p:spTgt spid="20"/>
                                        </p:tgtEl>
                                        <p:attrNameLst>
                                          <p:attrName>style.visibility</p:attrName>
                                        </p:attrNameLst>
                                      </p:cBhvr>
                                      <p:to>
                                        <p:strVal val="visible"/>
                                      </p:to>
                                    </p:set>
                                    <p:animEffect transition="in" filter="wipe(down)">
                                      <p:cBhvr>
                                        <p:cTn id="2686" dur="500"/>
                                        <p:tgtEl>
                                          <p:spTgt spid="20"/>
                                        </p:tgtEl>
                                      </p:cBhvr>
                                    </p:animEffect>
                                  </p:childTnLst>
                                </p:cTn>
                              </p:par>
                              <p:par>
                                <p:cTn id="2687" presetID="22" presetClass="entr" presetSubtype="4" fill="hold" nodeType="withEffect">
                                  <p:stCondLst>
                                    <p:cond delay="410"/>
                                  </p:stCondLst>
                                  <p:childTnLst>
                                    <p:set>
                                      <p:cBhvr>
                                        <p:cTn id="2688" dur="1" fill="hold">
                                          <p:stCondLst>
                                            <p:cond delay="0"/>
                                          </p:stCondLst>
                                        </p:cTn>
                                        <p:tgtEl>
                                          <p:spTgt spid="21"/>
                                        </p:tgtEl>
                                        <p:attrNameLst>
                                          <p:attrName>style.visibility</p:attrName>
                                        </p:attrNameLst>
                                      </p:cBhvr>
                                      <p:to>
                                        <p:strVal val="visible"/>
                                      </p:to>
                                    </p:set>
                                    <p:animEffect transition="in" filter="wipe(down)">
                                      <p:cBhvr>
                                        <p:cTn id="2689" dur="500"/>
                                        <p:tgtEl>
                                          <p:spTgt spid="21"/>
                                        </p:tgtEl>
                                      </p:cBhvr>
                                    </p:animEffect>
                                  </p:childTnLst>
                                </p:cTn>
                              </p:par>
                              <p:par>
                                <p:cTn id="2690" presetID="22" presetClass="entr" presetSubtype="4" fill="hold" nodeType="withEffect">
                                  <p:stCondLst>
                                    <p:cond delay="480"/>
                                  </p:stCondLst>
                                  <p:childTnLst>
                                    <p:set>
                                      <p:cBhvr>
                                        <p:cTn id="2691" dur="1" fill="hold">
                                          <p:stCondLst>
                                            <p:cond delay="0"/>
                                          </p:stCondLst>
                                        </p:cTn>
                                        <p:tgtEl>
                                          <p:spTgt spid="30"/>
                                        </p:tgtEl>
                                        <p:attrNameLst>
                                          <p:attrName>style.visibility</p:attrName>
                                        </p:attrNameLst>
                                      </p:cBhvr>
                                      <p:to>
                                        <p:strVal val="visible"/>
                                      </p:to>
                                    </p:set>
                                    <p:animEffect transition="in" filter="wipe(down)">
                                      <p:cBhvr>
                                        <p:cTn id="2692" dur="500"/>
                                        <p:tgtEl>
                                          <p:spTgt spid="30"/>
                                        </p:tgtEl>
                                      </p:cBhvr>
                                    </p:animEffect>
                                  </p:childTnLst>
                                </p:cTn>
                              </p:par>
                              <p:par>
                                <p:cTn id="2693" presetID="22" presetClass="entr" presetSubtype="4" fill="hold" nodeType="withEffect">
                                  <p:stCondLst>
                                    <p:cond delay="550"/>
                                  </p:stCondLst>
                                  <p:childTnLst>
                                    <p:set>
                                      <p:cBhvr>
                                        <p:cTn id="2694" dur="1" fill="hold">
                                          <p:stCondLst>
                                            <p:cond delay="0"/>
                                          </p:stCondLst>
                                        </p:cTn>
                                        <p:tgtEl>
                                          <p:spTgt spid="31"/>
                                        </p:tgtEl>
                                        <p:attrNameLst>
                                          <p:attrName>style.visibility</p:attrName>
                                        </p:attrNameLst>
                                      </p:cBhvr>
                                      <p:to>
                                        <p:strVal val="visible"/>
                                      </p:to>
                                    </p:set>
                                    <p:animEffect transition="in" filter="wipe(down)">
                                      <p:cBhvr>
                                        <p:cTn id="2695" dur="500"/>
                                        <p:tgtEl>
                                          <p:spTgt spid="31"/>
                                        </p:tgtEl>
                                      </p:cBhvr>
                                    </p:animEffect>
                                  </p:childTnLst>
                                </p:cTn>
                              </p:par>
                            </p:childTnLst>
                          </p:cTn>
                        </p:par>
                      </p:childTnLst>
                    </p:cTn>
                  </p:par>
                  <p:par>
                    <p:cTn id="2728" fill="hold">
                      <p:stCondLst>
                        <p:cond delay="indefinite"/>
                      </p:stCondLst>
                      <p:childTnLst>
                        <p:par>
                          <p:cTn id="2729" fill="hold">
                            <p:stCondLst>
                              <p:cond delay="0"/>
                            </p:stCondLst>
                            <p:childTnLst>
                              <p:par>
                                <p:cTn id="2698" presetID="10" presetClass="exit" presetSubtype="0" fill="hold" nodeType="clickEffect">
                                  <p:stCondLst>
                                    <p:cond delay="0"/>
                                  </p:stCondLst>
                                  <p:childTnLst>
                                    <p:animEffect transition="out" filter="fade">
                                      <p:cBhvr>
                                        <p:cTn id="2699" dur="400"/>
                                        <p:tgtEl>
                                          <p:spTgt spid="18"/>
                                        </p:tgtEl>
                                      </p:cBhvr>
                                    </p:animEffect>
                                    <p:set>
                                      <p:cBhvr>
                                        <p:cTn id="2700" dur="1" fill="hold">
                                          <p:stCondLst>
                                            <p:cond delay="399"/>
                                          </p:stCondLst>
                                        </p:cTn>
                                        <p:tgtEl>
                                          <p:spTgt spid="18"/>
                                        </p:tgtEl>
                                        <p:attrNameLst>
                                          <p:attrName>style.visibility</p:attrName>
                                        </p:attrNameLst>
                                      </p:cBhvr>
                                      <p:to>
                                        <p:strVal val="hidden"/>
                                      </p:to>
                                    </p:set>
                                  </p:childTnLst>
                                </p:cTn>
                              </p:par>
                              <p:par>
                                <p:cTn id="2701" presetID="10" presetClass="exit" presetSubtype="0" fill="hold" nodeType="withEffect">
                                  <p:stCondLst>
                                    <p:cond delay="0"/>
                                  </p:stCondLst>
                                  <p:childTnLst>
                                    <p:animEffect transition="out" filter="fade">
                                      <p:cBhvr>
                                        <p:cTn id="2702" dur="400"/>
                                        <p:tgtEl>
                                          <p:spTgt spid="19"/>
                                        </p:tgtEl>
                                      </p:cBhvr>
                                    </p:animEffect>
                                    <p:set>
                                      <p:cBhvr>
                                        <p:cTn id="2703" dur="1" fill="hold">
                                          <p:stCondLst>
                                            <p:cond delay="399"/>
                                          </p:stCondLst>
                                        </p:cTn>
                                        <p:tgtEl>
                                          <p:spTgt spid="19"/>
                                        </p:tgtEl>
                                        <p:attrNameLst>
                                          <p:attrName>style.visibility</p:attrName>
                                        </p:attrNameLst>
                                      </p:cBhvr>
                                      <p:to>
                                        <p:strVal val="hidden"/>
                                      </p:to>
                                    </p:set>
                                  </p:childTnLst>
                                </p:cTn>
                              </p:par>
                              <p:par>
                                <p:cTn id="2704" presetID="10" presetClass="exit" presetSubtype="0" fill="hold" nodeType="withEffect">
                                  <p:stCondLst>
                                    <p:cond delay="0"/>
                                  </p:stCondLst>
                                  <p:childTnLst>
                                    <p:animEffect transition="out" filter="fade">
                                      <p:cBhvr>
                                        <p:cTn id="2705" dur="400"/>
                                        <p:tgtEl>
                                          <p:spTgt spid="20"/>
                                        </p:tgtEl>
                                      </p:cBhvr>
                                    </p:animEffect>
                                    <p:set>
                                      <p:cBhvr>
                                        <p:cTn id="2706" dur="1" fill="hold">
                                          <p:stCondLst>
                                            <p:cond delay="399"/>
                                          </p:stCondLst>
                                        </p:cTn>
                                        <p:tgtEl>
                                          <p:spTgt spid="20"/>
                                        </p:tgtEl>
                                        <p:attrNameLst>
                                          <p:attrName>style.visibility</p:attrName>
                                        </p:attrNameLst>
                                      </p:cBhvr>
                                      <p:to>
                                        <p:strVal val="hidden"/>
                                      </p:to>
                                    </p:set>
                                  </p:childTnLst>
                                </p:cTn>
                              </p:par>
                              <p:par>
                                <p:cTn id="2707" presetID="10" presetClass="exit" presetSubtype="0" fill="hold" nodeType="withEffect">
                                  <p:stCondLst>
                                    <p:cond delay="0"/>
                                  </p:stCondLst>
                                  <p:childTnLst>
                                    <p:animEffect transition="out" filter="fade">
                                      <p:cBhvr>
                                        <p:cTn id="2708" dur="400"/>
                                        <p:tgtEl>
                                          <p:spTgt spid="21"/>
                                        </p:tgtEl>
                                      </p:cBhvr>
                                    </p:animEffect>
                                    <p:set>
                                      <p:cBhvr>
                                        <p:cTn id="2709" dur="1" fill="hold">
                                          <p:stCondLst>
                                            <p:cond delay="399"/>
                                          </p:stCondLst>
                                        </p:cTn>
                                        <p:tgtEl>
                                          <p:spTgt spid="21"/>
                                        </p:tgtEl>
                                        <p:attrNameLst>
                                          <p:attrName>style.visibility</p:attrName>
                                        </p:attrNameLst>
                                      </p:cBhvr>
                                      <p:to>
                                        <p:strVal val="hidden"/>
                                      </p:to>
                                    </p:set>
                                  </p:childTnLst>
                                </p:cTn>
                              </p:par>
                              <p:par>
                                <p:cTn id="2710" presetID="10" presetClass="exit" presetSubtype="0" fill="hold" nodeType="withEffect">
                                  <p:stCondLst>
                                    <p:cond delay="0"/>
                                  </p:stCondLst>
                                  <p:childTnLst>
                                    <p:animEffect transition="out" filter="fade">
                                      <p:cBhvr>
                                        <p:cTn id="2711" dur="400"/>
                                        <p:tgtEl>
                                          <p:spTgt spid="30"/>
                                        </p:tgtEl>
                                      </p:cBhvr>
                                    </p:animEffect>
                                    <p:set>
                                      <p:cBhvr>
                                        <p:cTn id="2712" dur="1" fill="hold">
                                          <p:stCondLst>
                                            <p:cond delay="399"/>
                                          </p:stCondLst>
                                        </p:cTn>
                                        <p:tgtEl>
                                          <p:spTgt spid="30"/>
                                        </p:tgtEl>
                                        <p:attrNameLst>
                                          <p:attrName>style.visibility</p:attrName>
                                        </p:attrNameLst>
                                      </p:cBhvr>
                                      <p:to>
                                        <p:strVal val="hidden"/>
                                      </p:to>
                                    </p:set>
                                  </p:childTnLst>
                                </p:cTn>
                              </p:par>
                              <p:par>
                                <p:cTn id="2713" presetID="10" presetClass="exit" presetSubtype="0" fill="hold" nodeType="withEffect">
                                  <p:stCondLst>
                                    <p:cond delay="0"/>
                                  </p:stCondLst>
                                  <p:childTnLst>
                                    <p:animEffect transition="out" filter="fade">
                                      <p:cBhvr>
                                        <p:cTn id="2714" dur="400"/>
                                        <p:tgtEl>
                                          <p:spTgt spid="31"/>
                                        </p:tgtEl>
                                      </p:cBhvr>
                                    </p:animEffect>
                                    <p:set>
                                      <p:cBhvr>
                                        <p:cTn id="2715" dur="1" fill="hold">
                                          <p:stCondLst>
                                            <p:cond delay="399"/>
                                          </p:stCondLst>
                                        </p:cTn>
                                        <p:tgtEl>
                                          <p:spTgt spid="31"/>
                                        </p:tgtEl>
                                        <p:attrNameLst>
                                          <p:attrName>style.visibility</p:attrName>
                                        </p:attrNameLst>
                                      </p:cBhvr>
                                      <p:to>
                                        <p:strVal val="hidden"/>
                                      </p:to>
                                    </p:set>
                                  </p:childTnLst>
                                </p:cTn>
                              </p:par>
                              <p:par>
                                <p:cTn id="2716" presetID="10" presetClass="entr" presetSubtype="0" fill="hold" nodeType="withEffect">
                                  <p:stCondLst>
                                    <p:cond delay="200"/>
                                  </p:stCondLst>
                                  <p:childTnLst>
                                    <p:set>
                                      <p:cBhvr>
                                        <p:cTn id="2717" dur="1" fill="hold">
                                          <p:stCondLst>
                                            <p:cond delay="0"/>
                                          </p:stCondLst>
                                        </p:cTn>
                                        <p:tgtEl>
                                          <p:spTgt spid="22"/>
                                        </p:tgtEl>
                                        <p:attrNameLst>
                                          <p:attrName>style.visibility</p:attrName>
                                        </p:attrNameLst>
                                      </p:cBhvr>
                                      <p:to>
                                        <p:strVal val="visible"/>
                                      </p:to>
                                    </p:set>
                                    <p:animEffect transition="in" filter="fade">
                                      <p:cBhvr>
                                        <p:cTn id="2718" dur="500"/>
                                        <p:tgtEl>
                                          <p:spTgt spid="22"/>
                                        </p:tgtEl>
                                      </p:cBhvr>
                                    </p:animEffect>
                                  </p:childTnLst>
                                </p:cTn>
                              </p:par>
                              <p:par>
                                <p:cTn id="2719" presetID="10" presetClass="entr" presetSubtype="0" fill="hold" nodeType="withEffect">
                                  <p:stCondLst>
                                    <p:cond delay="270"/>
                                  </p:stCondLst>
                                  <p:childTnLst>
                                    <p:set>
                                      <p:cBhvr>
                                        <p:cTn id="2720" dur="1" fill="hold">
                                          <p:stCondLst>
                                            <p:cond delay="0"/>
                                          </p:stCondLst>
                                        </p:cTn>
                                        <p:tgtEl>
                                          <p:spTgt spid="23"/>
                                        </p:tgtEl>
                                        <p:attrNameLst>
                                          <p:attrName>style.visibility</p:attrName>
                                        </p:attrNameLst>
                                      </p:cBhvr>
                                      <p:to>
                                        <p:strVal val="visible"/>
                                      </p:to>
                                    </p:set>
                                    <p:animEffect transition="in" filter="fade">
                                      <p:cBhvr>
                                        <p:cTn id="2721" dur="500"/>
                                        <p:tgtEl>
                                          <p:spTgt spid="23"/>
                                        </p:tgtEl>
                                      </p:cBhvr>
                                    </p:animEffect>
                                  </p:childTnLst>
                                </p:cTn>
                              </p:par>
                              <p:par>
                                <p:cTn id="2722" presetID="10" presetClass="entr" presetSubtype="0" fill="hold" nodeType="withEffect">
                                  <p:stCondLst>
                                    <p:cond delay="340"/>
                                  </p:stCondLst>
                                  <p:childTnLst>
                                    <p:set>
                                      <p:cBhvr>
                                        <p:cTn id="2723" dur="1" fill="hold">
                                          <p:stCondLst>
                                            <p:cond delay="0"/>
                                          </p:stCondLst>
                                        </p:cTn>
                                        <p:tgtEl>
                                          <p:spTgt spid="32"/>
                                        </p:tgtEl>
                                        <p:attrNameLst>
                                          <p:attrName>style.visibility</p:attrName>
                                        </p:attrNameLst>
                                      </p:cBhvr>
                                      <p:to>
                                        <p:strVal val="visible"/>
                                      </p:to>
                                    </p:set>
                                    <p:animEffect transition="in" filter="fade">
                                      <p:cBhvr>
                                        <p:cTn id="2724" dur="500"/>
                                        <p:tgtEl>
                                          <p:spTgt spid="32"/>
                                        </p:tgtEl>
                                      </p:cBhvr>
                                    </p:animEffect>
                                  </p:childTnLst>
                                </p:cTn>
                              </p:par>
                              <p:par>
                                <p:cTn id="2725" presetID="10" presetClass="entr" presetSubtype="0" fill="hold" nodeType="withEffect">
                                  <p:stCondLst>
                                    <p:cond delay="410"/>
                                  </p:stCondLst>
                                  <p:childTnLst>
                                    <p:set>
                                      <p:cBhvr>
                                        <p:cTn id="2726" dur="1" fill="hold">
                                          <p:stCondLst>
                                            <p:cond delay="0"/>
                                          </p:stCondLst>
                                        </p:cTn>
                                        <p:tgtEl>
                                          <p:spTgt spid="33"/>
                                        </p:tgtEl>
                                        <p:attrNameLst>
                                          <p:attrName>style.visibility</p:attrName>
                                        </p:attrNameLst>
                                      </p:cBhvr>
                                      <p:to>
                                        <p:strVal val="visible"/>
                                      </p:to>
                                    </p:set>
                                    <p:animEffect transition="in" filter="fade">
                                      <p:cBhvr>
                                        <p:cTn id="272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medición fija requerimientos; el sistema responde con un maestro y nodos</a:t>
            </a:r>
            <a:endParaRPr lang="en-US" sz="2200" dirty="0"/>
          </a:p>
        </p:txBody>
      </p:sp>
      <p:sp>
        <p:nvSpPr>
          <p:cNvPr id="3" name="Cabecera Tiempo y posición [s0]"/>
          <p:cNvSpPr/>
          <p:nvPr/>
        </p:nvSpPr>
        <p:spPr>
          <a:xfrm>
            <a:off x="966136" y="1681654"/>
            <a:ext cx="2323779" cy="480782"/>
          </a:xfrm>
          <a:prstGeom prst="rect">
            <a:avLst/>
          </a:prstGeom>
          <a:solidFill>
            <a:srgbClr val="1F4E79"/>
          </a:solidFill>
          <a:ln w="6350">
            <a:solidFill>
              <a:srgbClr val="1F4E79"/>
            </a:solidFill>
            <a:prstDash val="solid"/>
          </a:ln>
        </p:spPr>
      </p:sp>
      <p:sp>
        <p:nvSpPr>
          <p:cNvPr id="4" name="Elemento [s0]"/>
          <p:cNvSpPr txBox="1"/>
          <p:nvPr/>
        </p:nvSpPr>
        <p:spPr>
          <a:xfrm>
            <a:off x="966136"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Tiempo y posición</a:t>
            </a:r>
            <a:endParaRPr lang="en-US" sz="1620" dirty="0"/>
          </a:p>
        </p:txBody>
      </p:sp>
      <p:sp>
        <p:nvSpPr>
          <p:cNvPr id="5" name="Tarjeta Tiempo y posición [s0]"/>
          <p:cNvSpPr/>
          <p:nvPr/>
        </p:nvSpPr>
        <p:spPr>
          <a:xfrm>
            <a:off x="966136" y="2162436"/>
            <a:ext cx="2323779" cy="1522476"/>
          </a:xfrm>
          <a:prstGeom prst="rect">
            <a:avLst/>
          </a:prstGeom>
          <a:solidFill>
            <a:srgbClr val="FFFFFF"/>
          </a:solidFill>
          <a:ln w="16694">
            <a:solidFill>
              <a:srgbClr val="1F4E79"/>
            </a:solidFill>
            <a:prstDash val="solid"/>
          </a:ln>
        </p:spPr>
      </p:sp>
      <p:sp>
        <p:nvSpPr>
          <p:cNvPr id="6" name="Elemento [s0]"/>
          <p:cNvSpPr txBox="1"/>
          <p:nvPr/>
        </p:nvSpPr>
        <p:spPr>
          <a:xfrm>
            <a:off x="1086331"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Conservar la información temporal y espacial de cada traza</a:t>
            </a:r>
            <a:endParaRPr lang="en-US" sz="1530" dirty="0"/>
          </a:p>
        </p:txBody>
      </p:sp>
      <p:sp>
        <p:nvSpPr>
          <p:cNvPr id="7" name="Cabecera Referencia temporal [s0]"/>
          <p:cNvSpPr/>
          <p:nvPr/>
        </p:nvSpPr>
        <p:spPr>
          <a:xfrm>
            <a:off x="3410110" y="1681654"/>
            <a:ext cx="2323779" cy="480782"/>
          </a:xfrm>
          <a:prstGeom prst="rect">
            <a:avLst/>
          </a:prstGeom>
          <a:solidFill>
            <a:srgbClr val="1F4E79"/>
          </a:solidFill>
          <a:ln w="6350">
            <a:solidFill>
              <a:srgbClr val="1F4E79"/>
            </a:solidFill>
            <a:prstDash val="solid"/>
          </a:ln>
        </p:spPr>
      </p:sp>
      <p:sp>
        <p:nvSpPr>
          <p:cNvPr id="8" name="Elemento [s0]"/>
          <p:cNvSpPr txBox="1"/>
          <p:nvPr/>
        </p:nvSpPr>
        <p:spPr>
          <a:xfrm>
            <a:off x="3410110"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Referencia temporal</a:t>
            </a:r>
            <a:endParaRPr lang="en-US" sz="1620" dirty="0"/>
          </a:p>
        </p:txBody>
      </p:sp>
      <p:sp>
        <p:nvSpPr>
          <p:cNvPr id="9" name="Tarjeta Referencia temporal [s0]"/>
          <p:cNvSpPr/>
          <p:nvPr/>
        </p:nvSpPr>
        <p:spPr>
          <a:xfrm>
            <a:off x="3410110" y="2162436"/>
            <a:ext cx="2323779" cy="1522476"/>
          </a:xfrm>
          <a:prstGeom prst="rect">
            <a:avLst/>
          </a:prstGeom>
          <a:solidFill>
            <a:srgbClr val="FFFFFF"/>
          </a:solidFill>
          <a:ln w="16694">
            <a:solidFill>
              <a:srgbClr val="1F4E79"/>
            </a:solidFill>
            <a:prstDash val="solid"/>
          </a:ln>
        </p:spPr>
      </p:sp>
      <p:sp>
        <p:nvSpPr>
          <p:cNvPr id="10" name="Elemento [s0]"/>
          <p:cNvSpPr txBox="1"/>
          <p:nvPr/>
        </p:nvSpPr>
        <p:spPr>
          <a:xfrm>
            <a:off x="3530306"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Mantener una referencia temporal entre registros</a:t>
            </a:r>
            <a:endParaRPr lang="en-US" sz="1530" dirty="0"/>
          </a:p>
        </p:txBody>
      </p:sp>
      <p:sp>
        <p:nvSpPr>
          <p:cNvPr id="11" name="Cabecera Forma de onda [s0]"/>
          <p:cNvSpPr/>
          <p:nvPr/>
        </p:nvSpPr>
        <p:spPr>
          <a:xfrm>
            <a:off x="5854085" y="1681654"/>
            <a:ext cx="2323779" cy="480782"/>
          </a:xfrm>
          <a:prstGeom prst="rect">
            <a:avLst/>
          </a:prstGeom>
          <a:solidFill>
            <a:srgbClr val="1F4E79"/>
          </a:solidFill>
          <a:ln w="6350">
            <a:solidFill>
              <a:srgbClr val="1F4E79"/>
            </a:solidFill>
            <a:prstDash val="solid"/>
          </a:ln>
        </p:spPr>
      </p:sp>
      <p:sp>
        <p:nvSpPr>
          <p:cNvPr id="12" name="Elemento [s0]"/>
          <p:cNvSpPr txBox="1"/>
          <p:nvPr/>
        </p:nvSpPr>
        <p:spPr>
          <a:xfrm>
            <a:off x="5854085" y="1681654"/>
            <a:ext cx="2323779" cy="480782"/>
          </a:xfrm>
          <a:prstGeom prst="rect">
            <a:avLst/>
          </a:prstGeom>
          <a:noFill/>
          <a:ln/>
        </p:spPr>
        <p:txBody>
          <a:bodyPr wrap="square" lIns="50800" tIns="50800" rIns="50800" bIns="5080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Forma de onda</a:t>
            </a:r>
            <a:endParaRPr lang="en-US" sz="1620" dirty="0"/>
          </a:p>
        </p:txBody>
      </p:sp>
      <p:sp>
        <p:nvSpPr>
          <p:cNvPr id="13" name="Tarjeta Forma de onda [s0]"/>
          <p:cNvSpPr/>
          <p:nvPr/>
        </p:nvSpPr>
        <p:spPr>
          <a:xfrm>
            <a:off x="5854085" y="2162436"/>
            <a:ext cx="2323779" cy="1522476"/>
          </a:xfrm>
          <a:prstGeom prst="rect">
            <a:avLst/>
          </a:prstGeom>
          <a:solidFill>
            <a:srgbClr val="FFFFFF"/>
          </a:solidFill>
          <a:ln w="16694">
            <a:solidFill>
              <a:srgbClr val="1F4E79"/>
            </a:solidFill>
            <a:prstDash val="solid"/>
          </a:ln>
        </p:spPr>
      </p:sp>
      <p:sp>
        <p:nvSpPr>
          <p:cNvPr id="14" name="Elemento [s0]"/>
          <p:cNvSpPr txBox="1"/>
          <p:nvPr/>
        </p:nvSpPr>
        <p:spPr>
          <a:xfrm>
            <a:off x="5974281" y="2202501"/>
            <a:ext cx="2083388" cy="1442346"/>
          </a:xfrm>
          <a:prstGeom prst="rect">
            <a:avLst/>
          </a:prstGeom>
          <a:noFill/>
          <a:ln/>
        </p:spPr>
        <p:txBody>
          <a:bodyPr wrap="square" lIns="0" tIns="0" rIns="0" bIns="0" rtlCol="0" anchor="ctr"/>
          <a:lstStyle/>
          <a:p>
            <a:pPr indent="0" marL="0">
              <a:buNone/>
            </a:pPr>
            <a:r>
              <a:rPr lang="en-US" sz="1530" dirty="0">
                <a:solidFill>
                  <a:srgbClr val="2D2D2D"/>
                </a:solidFill>
                <a:latin typeface="Arial" pitchFamily="34" charset="0"/>
                <a:ea typeface="Arial" pitchFamily="34" charset="-122"/>
                <a:cs typeface="Arial" pitchFamily="34" charset="-120"/>
              </a:rPr>
              <a:t>Preservar la forma de la onda</a:t>
            </a:r>
            <a:endParaRPr lang="en-US" sz="1530" dirty="0"/>
          </a:p>
        </p:txBody>
      </p:sp>
      <p:sp>
        <p:nvSpPr>
          <p:cNvPr id="15" name="Mensaje [s0]"/>
          <p:cNvSpPr txBox="1"/>
          <p:nvPr/>
        </p:nvSpPr>
        <p:spPr>
          <a:xfrm>
            <a:off x="966136" y="3805107"/>
            <a:ext cx="7211728" cy="641043"/>
          </a:xfrm>
          <a:prstGeom prst="rect">
            <a:avLst/>
          </a:prstGeom>
          <a:noFill/>
          <a:ln/>
        </p:spPr>
        <p:txBody>
          <a:bodyPr wrap="square" lIns="0" tIns="0" rIns="0" bIns="0" rtlCol="0" anchor="t"/>
          <a:lstStyle/>
          <a:p>
            <a:pPr indent="0" marL="0">
              <a:buNone/>
            </a:pPr>
            <a:r>
              <a:rPr lang="en-US" sz="162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620" dirty="0"/>
          </a:p>
        </p:txBody>
      </p:sp>
      <p:sp>
        <p:nvSpPr>
          <p:cNvPr id="16" name="Cabecera Banda y fase [s1]"/>
          <p:cNvSpPr/>
          <p:nvPr/>
        </p:nvSpPr>
        <p:spPr>
          <a:xfrm>
            <a:off x="966136" y="1601523"/>
            <a:ext cx="2323779" cy="440717"/>
          </a:xfrm>
          <a:prstGeom prst="rect">
            <a:avLst/>
          </a:prstGeom>
          <a:solidFill>
            <a:srgbClr val="1F4E79"/>
          </a:solidFill>
          <a:ln w="6350">
            <a:solidFill>
              <a:srgbClr val="1F4E79"/>
            </a:solidFill>
            <a:prstDash val="solid"/>
          </a:ln>
        </p:spPr>
      </p:sp>
      <p:sp>
        <p:nvSpPr>
          <p:cNvPr id="17" name="Elemento [s1]"/>
          <p:cNvSpPr txBox="1"/>
          <p:nvPr/>
        </p:nvSpPr>
        <p:spPr>
          <a:xfrm>
            <a:off x="966136"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Banda y fase</a:t>
            </a:r>
            <a:endParaRPr lang="en-US" sz="1440" dirty="0"/>
          </a:p>
        </p:txBody>
      </p:sp>
      <p:sp>
        <p:nvSpPr>
          <p:cNvPr id="18" name="Tarjeta Banda y fase [s1]"/>
          <p:cNvSpPr/>
          <p:nvPr/>
        </p:nvSpPr>
        <p:spPr>
          <a:xfrm>
            <a:off x="966136" y="2042240"/>
            <a:ext cx="2323779" cy="1121824"/>
          </a:xfrm>
          <a:prstGeom prst="rect">
            <a:avLst/>
          </a:prstGeom>
          <a:solidFill>
            <a:srgbClr val="FFFFFF"/>
          </a:solidFill>
          <a:ln w="16694">
            <a:solidFill>
              <a:srgbClr val="1F4E79"/>
            </a:solidFill>
            <a:prstDash val="solid"/>
          </a:ln>
        </p:spPr>
      </p:sp>
      <p:sp>
        <p:nvSpPr>
          <p:cNvPr id="19" name="Elemento [s1]"/>
          <p:cNvSpPr txBox="1"/>
          <p:nvPr/>
        </p:nvSpPr>
        <p:spPr>
          <a:xfrm>
            <a:off x="1086331"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440" dirty="0"/>
          </a:p>
        </p:txBody>
      </p:sp>
      <p:sp>
        <p:nvSpPr>
          <p:cNvPr id="20" name="Cabecera Margen dinámico [s1]"/>
          <p:cNvSpPr/>
          <p:nvPr/>
        </p:nvSpPr>
        <p:spPr>
          <a:xfrm>
            <a:off x="3410110" y="1601523"/>
            <a:ext cx="2323779" cy="440717"/>
          </a:xfrm>
          <a:prstGeom prst="rect">
            <a:avLst/>
          </a:prstGeom>
          <a:solidFill>
            <a:srgbClr val="1F4E79"/>
          </a:solidFill>
          <a:ln w="6350">
            <a:solidFill>
              <a:srgbClr val="1F4E79"/>
            </a:solidFill>
            <a:prstDash val="solid"/>
          </a:ln>
        </p:spPr>
      </p:sp>
      <p:sp>
        <p:nvSpPr>
          <p:cNvPr id="21" name="Elemento [s1]"/>
          <p:cNvSpPr txBox="1"/>
          <p:nvPr/>
        </p:nvSpPr>
        <p:spPr>
          <a:xfrm>
            <a:off x="3410110"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Margen dinámico</a:t>
            </a:r>
            <a:endParaRPr lang="en-US" sz="1440" dirty="0"/>
          </a:p>
        </p:txBody>
      </p:sp>
      <p:sp>
        <p:nvSpPr>
          <p:cNvPr id="22" name="Tarjeta Margen dinámico [s1]"/>
          <p:cNvSpPr/>
          <p:nvPr/>
        </p:nvSpPr>
        <p:spPr>
          <a:xfrm>
            <a:off x="3410110" y="2042240"/>
            <a:ext cx="2323779" cy="1121824"/>
          </a:xfrm>
          <a:prstGeom prst="rect">
            <a:avLst/>
          </a:prstGeom>
          <a:solidFill>
            <a:srgbClr val="FFFFFF"/>
          </a:solidFill>
          <a:ln w="16694">
            <a:solidFill>
              <a:srgbClr val="1F4E79"/>
            </a:solidFill>
            <a:prstDash val="solid"/>
          </a:ln>
        </p:spPr>
      </p:sp>
      <p:sp>
        <p:nvSpPr>
          <p:cNvPr id="23" name="Elemento [s1]"/>
          <p:cNvSpPr txBox="1"/>
          <p:nvPr/>
        </p:nvSpPr>
        <p:spPr>
          <a:xfrm>
            <a:off x="3530306"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440" dirty="0"/>
          </a:p>
        </p:txBody>
      </p:sp>
      <p:sp>
        <p:nvSpPr>
          <p:cNvPr id="24" name="Cabecera Sincronización temporal [s1]"/>
          <p:cNvSpPr/>
          <p:nvPr/>
        </p:nvSpPr>
        <p:spPr>
          <a:xfrm>
            <a:off x="5854085" y="1601523"/>
            <a:ext cx="2323779" cy="440717"/>
          </a:xfrm>
          <a:prstGeom prst="rect">
            <a:avLst/>
          </a:prstGeom>
          <a:solidFill>
            <a:srgbClr val="1F4E79"/>
          </a:solidFill>
          <a:ln w="6350">
            <a:solidFill>
              <a:srgbClr val="1F4E79"/>
            </a:solidFill>
            <a:prstDash val="solid"/>
          </a:ln>
        </p:spPr>
      </p:sp>
      <p:sp>
        <p:nvSpPr>
          <p:cNvPr id="25" name="Elemento [s1]"/>
          <p:cNvSpPr txBox="1"/>
          <p:nvPr/>
        </p:nvSpPr>
        <p:spPr>
          <a:xfrm>
            <a:off x="5854085" y="1601523"/>
            <a:ext cx="2323779" cy="440717"/>
          </a:xfrm>
          <a:prstGeom prst="rect">
            <a:avLst/>
          </a:prstGeom>
          <a:noFill/>
          <a:ln/>
        </p:spPr>
        <p:txBody>
          <a:bodyPr wrap="square" lIns="50800" tIns="50800" rIns="50800" bIns="5080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Sincronización temporal</a:t>
            </a:r>
            <a:endParaRPr lang="en-US" sz="1440" dirty="0"/>
          </a:p>
        </p:txBody>
      </p:sp>
      <p:sp>
        <p:nvSpPr>
          <p:cNvPr id="26" name="Tarjeta Sincronización temporal [s1]"/>
          <p:cNvSpPr/>
          <p:nvPr/>
        </p:nvSpPr>
        <p:spPr>
          <a:xfrm>
            <a:off x="5854085" y="2042240"/>
            <a:ext cx="2323779" cy="1121824"/>
          </a:xfrm>
          <a:prstGeom prst="rect">
            <a:avLst/>
          </a:prstGeom>
          <a:solidFill>
            <a:srgbClr val="FFFFFF"/>
          </a:solidFill>
          <a:ln w="16694">
            <a:solidFill>
              <a:srgbClr val="1F4E79"/>
            </a:solidFill>
            <a:prstDash val="solid"/>
          </a:ln>
        </p:spPr>
      </p:sp>
      <p:sp>
        <p:nvSpPr>
          <p:cNvPr id="27" name="Elemento [s1]"/>
          <p:cNvSpPr txBox="1"/>
          <p:nvPr/>
        </p:nvSpPr>
        <p:spPr>
          <a:xfrm>
            <a:off x="5974281" y="2082305"/>
            <a:ext cx="2083388" cy="1041694"/>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Referencia de tiempo común entre nodos y con la excitación</a:t>
            </a:r>
            <a:endParaRPr lang="en-US" sz="1440" dirty="0"/>
          </a:p>
        </p:txBody>
      </p:sp>
      <p:sp>
        <p:nvSpPr>
          <p:cNvPr id="28" name="Cabecera Geometría [s1]"/>
          <p:cNvSpPr/>
          <p:nvPr/>
        </p:nvSpPr>
        <p:spPr>
          <a:xfrm>
            <a:off x="966136" y="3324325"/>
            <a:ext cx="3525734" cy="400652"/>
          </a:xfrm>
          <a:prstGeom prst="rect">
            <a:avLst/>
          </a:prstGeom>
          <a:solidFill>
            <a:srgbClr val="1F4E79"/>
          </a:solidFill>
          <a:ln w="6350">
            <a:solidFill>
              <a:srgbClr val="1F4E79"/>
            </a:solidFill>
            <a:prstDash val="solid"/>
          </a:ln>
        </p:spPr>
      </p:sp>
      <p:sp>
        <p:nvSpPr>
          <p:cNvPr id="29" name="Elemento [s1]"/>
          <p:cNvSpPr txBox="1"/>
          <p:nvPr/>
        </p:nvSpPr>
        <p:spPr>
          <a:xfrm>
            <a:off x="966136" y="3324325"/>
            <a:ext cx="3525734" cy="400652"/>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Geometría</a:t>
            </a:r>
            <a:endParaRPr lang="en-US" sz="1800" dirty="0"/>
          </a:p>
        </p:txBody>
      </p:sp>
      <p:sp>
        <p:nvSpPr>
          <p:cNvPr id="30" name="Tarjeta Geometría [s1]"/>
          <p:cNvSpPr/>
          <p:nvPr/>
        </p:nvSpPr>
        <p:spPr>
          <a:xfrm>
            <a:off x="966136" y="3724977"/>
            <a:ext cx="3525734" cy="761238"/>
          </a:xfrm>
          <a:prstGeom prst="rect">
            <a:avLst/>
          </a:prstGeom>
          <a:solidFill>
            <a:srgbClr val="FFFFFF"/>
          </a:solidFill>
          <a:ln w="16694">
            <a:solidFill>
              <a:srgbClr val="1F4E79"/>
            </a:solidFill>
            <a:prstDash val="solid"/>
          </a:ln>
        </p:spPr>
      </p:sp>
      <p:sp>
        <p:nvSpPr>
          <p:cNvPr id="31" name="Elemento [s1]"/>
          <p:cNvSpPr txBox="1"/>
          <p:nvPr/>
        </p:nvSpPr>
        <p:spPr>
          <a:xfrm>
            <a:off x="1086331" y="3765042"/>
            <a:ext cx="3285343"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Posición conocida de cada traza respecto de la fuente</a:t>
            </a:r>
            <a:endParaRPr lang="en-US" sz="1620" dirty="0"/>
          </a:p>
        </p:txBody>
      </p:sp>
      <p:sp>
        <p:nvSpPr>
          <p:cNvPr id="32" name="Cabecera Operación en campo [s1]"/>
          <p:cNvSpPr/>
          <p:nvPr/>
        </p:nvSpPr>
        <p:spPr>
          <a:xfrm>
            <a:off x="4652130" y="3324325"/>
            <a:ext cx="3525734" cy="400652"/>
          </a:xfrm>
          <a:prstGeom prst="rect">
            <a:avLst/>
          </a:prstGeom>
          <a:solidFill>
            <a:srgbClr val="1F4E79"/>
          </a:solidFill>
          <a:ln w="6350">
            <a:solidFill>
              <a:srgbClr val="1F4E79"/>
            </a:solidFill>
            <a:prstDash val="solid"/>
          </a:ln>
        </p:spPr>
      </p:sp>
      <p:sp>
        <p:nvSpPr>
          <p:cNvPr id="33" name="Elemento [s1]"/>
          <p:cNvSpPr txBox="1"/>
          <p:nvPr/>
        </p:nvSpPr>
        <p:spPr>
          <a:xfrm>
            <a:off x="4652130" y="3324325"/>
            <a:ext cx="3525734" cy="400652"/>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Operación en campo</a:t>
            </a:r>
            <a:endParaRPr lang="en-US" sz="1800" dirty="0"/>
          </a:p>
        </p:txBody>
      </p:sp>
      <p:sp>
        <p:nvSpPr>
          <p:cNvPr id="34" name="Tarjeta Operación en campo [s1]"/>
          <p:cNvSpPr/>
          <p:nvPr/>
        </p:nvSpPr>
        <p:spPr>
          <a:xfrm>
            <a:off x="4652130" y="3724977"/>
            <a:ext cx="3525734" cy="761238"/>
          </a:xfrm>
          <a:prstGeom prst="rect">
            <a:avLst/>
          </a:prstGeom>
          <a:solidFill>
            <a:srgbClr val="FFFFFF"/>
          </a:solidFill>
          <a:ln w="16694">
            <a:solidFill>
              <a:srgbClr val="1F4E79"/>
            </a:solidFill>
            <a:prstDash val="solid"/>
          </a:ln>
        </p:spPr>
      </p:sp>
      <p:sp>
        <p:nvSpPr>
          <p:cNvPr id="35" name="Elemento [s1]"/>
          <p:cNvSpPr txBox="1"/>
          <p:nvPr/>
        </p:nvSpPr>
        <p:spPr>
          <a:xfrm>
            <a:off x="4772326" y="3765042"/>
            <a:ext cx="3285343" cy="681108"/>
          </a:xfrm>
          <a:prstGeom prst="rect">
            <a:avLst/>
          </a:prstGeom>
          <a:noFill/>
          <a:ln/>
        </p:spPr>
        <p:txBody>
          <a:bodyPr wrap="square" lIns="0" tIns="0" rIns="0" bIns="0" rtlCol="0" anchor="ctr"/>
          <a:lstStyle/>
          <a:p>
            <a:pPr indent="0" marL="0">
              <a:buNone/>
            </a:pPr>
            <a:r>
              <a:rPr lang="en-US" sz="162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620" dirty="0"/>
          </a:p>
        </p:txBody>
      </p:sp>
      <p:pic>
        <p:nvPicPr>
          <p:cNvPr id="36" name="Arquitectura [s2]" descr="Arquitectura del sistema: navegador, maestro ESP32, nodos GEO y nodo HAMMER, cada uno con ESP32 y PSoC 5LP">    </p:cNvPr>
          <p:cNvPicPr>
            <a:picLocks noChangeAspect="1"/>
          </p:cNvPicPr>
          <p:nvPr/>
        </p:nvPicPr>
        <p:blipFill>
          <a:blip r:embed="rId1"/>
          <a:stretch>
            <a:fillRect/>
          </a:stretch>
        </p:blipFill>
        <p:spPr>
          <a:xfrm>
            <a:off x="1046266" y="1601523"/>
            <a:ext cx="7051468" cy="2586200"/>
          </a:xfrm>
          <a:prstGeom prst="rect">
            <a:avLst/>
          </a:prstGeom>
        </p:spPr>
      </p:pic>
      <p:sp>
        <p:nvSpPr>
          <p:cNvPr id="37" name="Elemento [s2]"/>
          <p:cNvSpPr txBox="1"/>
          <p:nvPr/>
        </p:nvSpPr>
        <p:spPr>
          <a:xfrm>
            <a:off x="966136" y="4221785"/>
            <a:ext cx="7211728" cy="280456"/>
          </a:xfrm>
          <a:prstGeom prst="rect">
            <a:avLst/>
          </a:prstGeom>
          <a:noFill/>
          <a:ln/>
        </p:spPr>
        <p:txBody>
          <a:bodyPr wrap="square" lIns="0" tIns="0" rIns="0" bIns="0" rtlCol="0" anchor="t"/>
          <a:lstStyle/>
          <a:p>
            <a:pPr indent="0" marL="0">
              <a:buNone/>
            </a:pPr>
            <a:r>
              <a:rPr lang="en-US" sz="135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350" dirty="0"/>
          </a:p>
        </p:txBody>
      </p:sp>
      <p:sp>
        <p:nvSpPr>
          <p:cNvPr id="38"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medición MASW fija tres requerimientos de adquisición</a:t>
            </a:r>
            <a:endParaRPr lang="en-US" sz="1400" dirty="0"/>
          </a:p>
        </p:txBody>
      </p:sp>
      <p:sp>
        <p:nvSpPr>
          <p:cNvPr id="39"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3.</a:t>
            </a:r>
            <a:endParaRPr lang="en-US" sz="800" dirty="0"/>
          </a:p>
        </p:txBody>
      </p:sp>
      <p:sp>
        <p:nvSpPr>
          <p:cNvPr id="40"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Esos requerimientos se traducen en cinco condiciones de diseño del sistema</a:t>
            </a:r>
            <a:endParaRPr lang="en-US" sz="1400" dirty="0"/>
          </a:p>
        </p:txBody>
      </p:sp>
      <p:sp>
        <p:nvSpPr>
          <p:cNvPr id="41"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a:t>
            </a:r>
            <a:endParaRPr lang="en-US" sz="800" dirty="0"/>
          </a:p>
        </p:txBody>
      </p:sp>
      <p:sp>
        <p:nvSpPr>
          <p:cNvPr id="42"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plataforma consta de un maestro y de nodos independientes que se comunican por ESP-NOW</a:t>
            </a:r>
            <a:endParaRPr lang="en-US" sz="1400" dirty="0"/>
          </a:p>
        </p:txBody>
      </p:sp>
      <p:sp>
        <p:nvSpPr>
          <p:cNvPr id="43"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propio sobre la fig. 11 del resumen firmado (sec. 4.7).</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41" fill="hold">
                      <p:stCondLst>
                        <p:cond delay="indefinite"/>
                      </p:stCondLst>
                      <p:childTnLst>
                        <p:par>
                          <p:cTn id="2842" fill="hold">
                            <p:stCondLst>
                              <p:cond delay="0"/>
                            </p:stCondLst>
                            <p:childTnLst>
                              <p:par>
                                <p:cTn id="2730" presetID="10" presetClass="exit" presetSubtype="0" fill="hold" nodeType="clickEffect">
                                  <p:stCondLst>
                                    <p:cond delay="0"/>
                                  </p:stCondLst>
                                  <p:childTnLst>
                                    <p:animEffect transition="out" filter="fade">
                                      <p:cBhvr>
                                        <p:cTn id="2731" dur="400"/>
                                        <p:tgtEl>
                                          <p:spTgt spid="3"/>
                                        </p:tgtEl>
                                      </p:cBhvr>
                                    </p:animEffect>
                                    <p:set>
                                      <p:cBhvr>
                                        <p:cTn id="2732" dur="1" fill="hold">
                                          <p:stCondLst>
                                            <p:cond delay="399"/>
                                          </p:stCondLst>
                                        </p:cTn>
                                        <p:tgtEl>
                                          <p:spTgt spid="3"/>
                                        </p:tgtEl>
                                        <p:attrNameLst>
                                          <p:attrName>style.visibility</p:attrName>
                                        </p:attrNameLst>
                                      </p:cBhvr>
                                      <p:to>
                                        <p:strVal val="hidden"/>
                                      </p:to>
                                    </p:set>
                                  </p:childTnLst>
                                </p:cTn>
                              </p:par>
                              <p:par>
                                <p:cTn id="2733" presetID="10" presetClass="exit" presetSubtype="0" fill="hold" nodeType="withEffect">
                                  <p:stCondLst>
                                    <p:cond delay="0"/>
                                  </p:stCondLst>
                                  <p:childTnLst>
                                    <p:animEffect transition="out" filter="fade">
                                      <p:cBhvr>
                                        <p:cTn id="2734" dur="400"/>
                                        <p:tgtEl>
                                          <p:spTgt spid="4"/>
                                        </p:tgtEl>
                                      </p:cBhvr>
                                    </p:animEffect>
                                    <p:set>
                                      <p:cBhvr>
                                        <p:cTn id="2735" dur="1" fill="hold">
                                          <p:stCondLst>
                                            <p:cond delay="399"/>
                                          </p:stCondLst>
                                        </p:cTn>
                                        <p:tgtEl>
                                          <p:spTgt spid="4"/>
                                        </p:tgtEl>
                                        <p:attrNameLst>
                                          <p:attrName>style.visibility</p:attrName>
                                        </p:attrNameLst>
                                      </p:cBhvr>
                                      <p:to>
                                        <p:strVal val="hidden"/>
                                      </p:to>
                                    </p:set>
                                  </p:childTnLst>
                                </p:cTn>
                              </p:par>
                              <p:par>
                                <p:cTn id="2736" presetID="10" presetClass="exit" presetSubtype="0" fill="hold" nodeType="withEffect">
                                  <p:stCondLst>
                                    <p:cond delay="0"/>
                                  </p:stCondLst>
                                  <p:childTnLst>
                                    <p:animEffect transition="out" filter="fade">
                                      <p:cBhvr>
                                        <p:cTn id="2737" dur="400"/>
                                        <p:tgtEl>
                                          <p:spTgt spid="5"/>
                                        </p:tgtEl>
                                      </p:cBhvr>
                                    </p:animEffect>
                                    <p:set>
                                      <p:cBhvr>
                                        <p:cTn id="2738" dur="1" fill="hold">
                                          <p:stCondLst>
                                            <p:cond delay="399"/>
                                          </p:stCondLst>
                                        </p:cTn>
                                        <p:tgtEl>
                                          <p:spTgt spid="5"/>
                                        </p:tgtEl>
                                        <p:attrNameLst>
                                          <p:attrName>style.visibility</p:attrName>
                                        </p:attrNameLst>
                                      </p:cBhvr>
                                      <p:to>
                                        <p:strVal val="hidden"/>
                                      </p:to>
                                    </p:set>
                                  </p:childTnLst>
                                </p:cTn>
                              </p:par>
                              <p:par>
                                <p:cTn id="2739" presetID="10" presetClass="exit" presetSubtype="0" fill="hold" nodeType="withEffect">
                                  <p:stCondLst>
                                    <p:cond delay="0"/>
                                  </p:stCondLst>
                                  <p:childTnLst>
                                    <p:animEffect transition="out" filter="fade">
                                      <p:cBhvr>
                                        <p:cTn id="2740" dur="400"/>
                                        <p:tgtEl>
                                          <p:spTgt spid="6"/>
                                        </p:tgtEl>
                                      </p:cBhvr>
                                    </p:animEffect>
                                    <p:set>
                                      <p:cBhvr>
                                        <p:cTn id="2741" dur="1" fill="hold">
                                          <p:stCondLst>
                                            <p:cond delay="399"/>
                                          </p:stCondLst>
                                        </p:cTn>
                                        <p:tgtEl>
                                          <p:spTgt spid="6"/>
                                        </p:tgtEl>
                                        <p:attrNameLst>
                                          <p:attrName>style.visibility</p:attrName>
                                        </p:attrNameLst>
                                      </p:cBhvr>
                                      <p:to>
                                        <p:strVal val="hidden"/>
                                      </p:to>
                                    </p:set>
                                  </p:childTnLst>
                                </p:cTn>
                              </p:par>
                              <p:par>
                                <p:cTn id="2742" presetID="10" presetClass="exit" presetSubtype="0" fill="hold" nodeType="withEffect">
                                  <p:stCondLst>
                                    <p:cond delay="0"/>
                                  </p:stCondLst>
                                  <p:childTnLst>
                                    <p:animEffect transition="out" filter="fade">
                                      <p:cBhvr>
                                        <p:cTn id="2743" dur="400"/>
                                        <p:tgtEl>
                                          <p:spTgt spid="7"/>
                                        </p:tgtEl>
                                      </p:cBhvr>
                                    </p:animEffect>
                                    <p:set>
                                      <p:cBhvr>
                                        <p:cTn id="2744" dur="1" fill="hold">
                                          <p:stCondLst>
                                            <p:cond delay="399"/>
                                          </p:stCondLst>
                                        </p:cTn>
                                        <p:tgtEl>
                                          <p:spTgt spid="7"/>
                                        </p:tgtEl>
                                        <p:attrNameLst>
                                          <p:attrName>style.visibility</p:attrName>
                                        </p:attrNameLst>
                                      </p:cBhvr>
                                      <p:to>
                                        <p:strVal val="hidden"/>
                                      </p:to>
                                    </p:set>
                                  </p:childTnLst>
                                </p:cTn>
                              </p:par>
                              <p:par>
                                <p:cTn id="2745" presetID="10" presetClass="exit" presetSubtype="0" fill="hold" nodeType="withEffect">
                                  <p:stCondLst>
                                    <p:cond delay="0"/>
                                  </p:stCondLst>
                                  <p:childTnLst>
                                    <p:animEffect transition="out" filter="fade">
                                      <p:cBhvr>
                                        <p:cTn id="2746" dur="400"/>
                                        <p:tgtEl>
                                          <p:spTgt spid="8"/>
                                        </p:tgtEl>
                                      </p:cBhvr>
                                    </p:animEffect>
                                    <p:set>
                                      <p:cBhvr>
                                        <p:cTn id="2747" dur="1" fill="hold">
                                          <p:stCondLst>
                                            <p:cond delay="399"/>
                                          </p:stCondLst>
                                        </p:cTn>
                                        <p:tgtEl>
                                          <p:spTgt spid="8"/>
                                        </p:tgtEl>
                                        <p:attrNameLst>
                                          <p:attrName>style.visibility</p:attrName>
                                        </p:attrNameLst>
                                      </p:cBhvr>
                                      <p:to>
                                        <p:strVal val="hidden"/>
                                      </p:to>
                                    </p:set>
                                  </p:childTnLst>
                                </p:cTn>
                              </p:par>
                              <p:par>
                                <p:cTn id="2748" presetID="10" presetClass="exit" presetSubtype="0" fill="hold" nodeType="withEffect">
                                  <p:stCondLst>
                                    <p:cond delay="0"/>
                                  </p:stCondLst>
                                  <p:childTnLst>
                                    <p:animEffect transition="out" filter="fade">
                                      <p:cBhvr>
                                        <p:cTn id="2749" dur="400"/>
                                        <p:tgtEl>
                                          <p:spTgt spid="9"/>
                                        </p:tgtEl>
                                      </p:cBhvr>
                                    </p:animEffect>
                                    <p:set>
                                      <p:cBhvr>
                                        <p:cTn id="2750" dur="1" fill="hold">
                                          <p:stCondLst>
                                            <p:cond delay="399"/>
                                          </p:stCondLst>
                                        </p:cTn>
                                        <p:tgtEl>
                                          <p:spTgt spid="9"/>
                                        </p:tgtEl>
                                        <p:attrNameLst>
                                          <p:attrName>style.visibility</p:attrName>
                                        </p:attrNameLst>
                                      </p:cBhvr>
                                      <p:to>
                                        <p:strVal val="hidden"/>
                                      </p:to>
                                    </p:set>
                                  </p:childTnLst>
                                </p:cTn>
                              </p:par>
                              <p:par>
                                <p:cTn id="2751" presetID="10" presetClass="exit" presetSubtype="0" fill="hold" nodeType="withEffect">
                                  <p:stCondLst>
                                    <p:cond delay="0"/>
                                  </p:stCondLst>
                                  <p:childTnLst>
                                    <p:animEffect transition="out" filter="fade">
                                      <p:cBhvr>
                                        <p:cTn id="2752" dur="400"/>
                                        <p:tgtEl>
                                          <p:spTgt spid="10"/>
                                        </p:tgtEl>
                                      </p:cBhvr>
                                    </p:animEffect>
                                    <p:set>
                                      <p:cBhvr>
                                        <p:cTn id="2753" dur="1" fill="hold">
                                          <p:stCondLst>
                                            <p:cond delay="399"/>
                                          </p:stCondLst>
                                        </p:cTn>
                                        <p:tgtEl>
                                          <p:spTgt spid="10"/>
                                        </p:tgtEl>
                                        <p:attrNameLst>
                                          <p:attrName>style.visibility</p:attrName>
                                        </p:attrNameLst>
                                      </p:cBhvr>
                                      <p:to>
                                        <p:strVal val="hidden"/>
                                      </p:to>
                                    </p:set>
                                  </p:childTnLst>
                                </p:cTn>
                              </p:par>
                              <p:par>
                                <p:cTn id="2754" presetID="10" presetClass="exit" presetSubtype="0" fill="hold" nodeType="withEffect">
                                  <p:stCondLst>
                                    <p:cond delay="0"/>
                                  </p:stCondLst>
                                  <p:childTnLst>
                                    <p:animEffect transition="out" filter="fade">
                                      <p:cBhvr>
                                        <p:cTn id="2755" dur="400"/>
                                        <p:tgtEl>
                                          <p:spTgt spid="11"/>
                                        </p:tgtEl>
                                      </p:cBhvr>
                                    </p:animEffect>
                                    <p:set>
                                      <p:cBhvr>
                                        <p:cTn id="2756" dur="1" fill="hold">
                                          <p:stCondLst>
                                            <p:cond delay="399"/>
                                          </p:stCondLst>
                                        </p:cTn>
                                        <p:tgtEl>
                                          <p:spTgt spid="11"/>
                                        </p:tgtEl>
                                        <p:attrNameLst>
                                          <p:attrName>style.visibility</p:attrName>
                                        </p:attrNameLst>
                                      </p:cBhvr>
                                      <p:to>
                                        <p:strVal val="hidden"/>
                                      </p:to>
                                    </p:set>
                                  </p:childTnLst>
                                </p:cTn>
                              </p:par>
                              <p:par>
                                <p:cTn id="2757" presetID="10" presetClass="exit" presetSubtype="0" fill="hold" nodeType="withEffect">
                                  <p:stCondLst>
                                    <p:cond delay="0"/>
                                  </p:stCondLst>
                                  <p:childTnLst>
                                    <p:animEffect transition="out" filter="fade">
                                      <p:cBhvr>
                                        <p:cTn id="2758" dur="400"/>
                                        <p:tgtEl>
                                          <p:spTgt spid="12"/>
                                        </p:tgtEl>
                                      </p:cBhvr>
                                    </p:animEffect>
                                    <p:set>
                                      <p:cBhvr>
                                        <p:cTn id="2759" dur="1" fill="hold">
                                          <p:stCondLst>
                                            <p:cond delay="399"/>
                                          </p:stCondLst>
                                        </p:cTn>
                                        <p:tgtEl>
                                          <p:spTgt spid="12"/>
                                        </p:tgtEl>
                                        <p:attrNameLst>
                                          <p:attrName>style.visibility</p:attrName>
                                        </p:attrNameLst>
                                      </p:cBhvr>
                                      <p:to>
                                        <p:strVal val="hidden"/>
                                      </p:to>
                                    </p:set>
                                  </p:childTnLst>
                                </p:cTn>
                              </p:par>
                              <p:par>
                                <p:cTn id="2760" presetID="10" presetClass="exit" presetSubtype="0" fill="hold" nodeType="withEffect">
                                  <p:stCondLst>
                                    <p:cond delay="0"/>
                                  </p:stCondLst>
                                  <p:childTnLst>
                                    <p:animEffect transition="out" filter="fade">
                                      <p:cBhvr>
                                        <p:cTn id="2761" dur="400"/>
                                        <p:tgtEl>
                                          <p:spTgt spid="13"/>
                                        </p:tgtEl>
                                      </p:cBhvr>
                                    </p:animEffect>
                                    <p:set>
                                      <p:cBhvr>
                                        <p:cTn id="2762" dur="1" fill="hold">
                                          <p:stCondLst>
                                            <p:cond delay="399"/>
                                          </p:stCondLst>
                                        </p:cTn>
                                        <p:tgtEl>
                                          <p:spTgt spid="13"/>
                                        </p:tgtEl>
                                        <p:attrNameLst>
                                          <p:attrName>style.visibility</p:attrName>
                                        </p:attrNameLst>
                                      </p:cBhvr>
                                      <p:to>
                                        <p:strVal val="hidden"/>
                                      </p:to>
                                    </p:set>
                                  </p:childTnLst>
                                </p:cTn>
                              </p:par>
                              <p:par>
                                <p:cTn id="2763" presetID="10" presetClass="exit" presetSubtype="0" fill="hold" nodeType="withEffect">
                                  <p:stCondLst>
                                    <p:cond delay="0"/>
                                  </p:stCondLst>
                                  <p:childTnLst>
                                    <p:animEffect transition="out" filter="fade">
                                      <p:cBhvr>
                                        <p:cTn id="2764" dur="400"/>
                                        <p:tgtEl>
                                          <p:spTgt spid="14"/>
                                        </p:tgtEl>
                                      </p:cBhvr>
                                    </p:animEffect>
                                    <p:set>
                                      <p:cBhvr>
                                        <p:cTn id="2765" dur="1" fill="hold">
                                          <p:stCondLst>
                                            <p:cond delay="399"/>
                                          </p:stCondLst>
                                        </p:cTn>
                                        <p:tgtEl>
                                          <p:spTgt spid="14"/>
                                        </p:tgtEl>
                                        <p:attrNameLst>
                                          <p:attrName>style.visibility</p:attrName>
                                        </p:attrNameLst>
                                      </p:cBhvr>
                                      <p:to>
                                        <p:strVal val="hidden"/>
                                      </p:to>
                                    </p:set>
                                  </p:childTnLst>
                                </p:cTn>
                              </p:par>
                              <p:par>
                                <p:cTn id="2766" presetID="10" presetClass="exit" presetSubtype="0" fill="hold" nodeType="withEffect">
                                  <p:stCondLst>
                                    <p:cond delay="0"/>
                                  </p:stCondLst>
                                  <p:childTnLst>
                                    <p:animEffect transition="out" filter="fade">
                                      <p:cBhvr>
                                        <p:cTn id="2767" dur="400"/>
                                        <p:tgtEl>
                                          <p:spTgt spid="15"/>
                                        </p:tgtEl>
                                      </p:cBhvr>
                                    </p:animEffect>
                                    <p:set>
                                      <p:cBhvr>
                                        <p:cTn id="2768" dur="1" fill="hold">
                                          <p:stCondLst>
                                            <p:cond delay="399"/>
                                          </p:stCondLst>
                                        </p:cTn>
                                        <p:tgtEl>
                                          <p:spTgt spid="15"/>
                                        </p:tgtEl>
                                        <p:attrNameLst>
                                          <p:attrName>style.visibility</p:attrName>
                                        </p:attrNameLst>
                                      </p:cBhvr>
                                      <p:to>
                                        <p:strVal val="hidden"/>
                                      </p:to>
                                    </p:set>
                                  </p:childTnLst>
                                </p:cTn>
                              </p:par>
                              <p:par>
                                <p:cTn id="2769" presetID="10" presetClass="exit" presetSubtype="0" fill="hold" nodeType="withEffect">
                                  <p:stCondLst>
                                    <p:cond delay="0"/>
                                  </p:stCondLst>
                                  <p:childTnLst>
                                    <p:animEffect transition="out" filter="fade">
                                      <p:cBhvr>
                                        <p:cTn id="2770" dur="400"/>
                                        <p:tgtEl>
                                          <p:spTgt spid="38"/>
                                        </p:tgtEl>
                                      </p:cBhvr>
                                    </p:animEffect>
                                    <p:set>
                                      <p:cBhvr>
                                        <p:cTn id="2771" dur="1" fill="hold">
                                          <p:stCondLst>
                                            <p:cond delay="399"/>
                                          </p:stCondLst>
                                        </p:cTn>
                                        <p:tgtEl>
                                          <p:spTgt spid="38"/>
                                        </p:tgtEl>
                                        <p:attrNameLst>
                                          <p:attrName>style.visibility</p:attrName>
                                        </p:attrNameLst>
                                      </p:cBhvr>
                                      <p:to>
                                        <p:strVal val="hidden"/>
                                      </p:to>
                                    </p:set>
                                  </p:childTnLst>
                                </p:cTn>
                              </p:par>
                              <p:par>
                                <p:cTn id="2772" presetID="10" presetClass="exit" presetSubtype="0" fill="hold" nodeType="withEffect">
                                  <p:stCondLst>
                                    <p:cond delay="0"/>
                                  </p:stCondLst>
                                  <p:childTnLst>
                                    <p:animEffect transition="out" filter="fade">
                                      <p:cBhvr>
                                        <p:cTn id="2773" dur="400"/>
                                        <p:tgtEl>
                                          <p:spTgt spid="39"/>
                                        </p:tgtEl>
                                      </p:cBhvr>
                                    </p:animEffect>
                                    <p:set>
                                      <p:cBhvr>
                                        <p:cTn id="2774" dur="1" fill="hold">
                                          <p:stCondLst>
                                            <p:cond delay="399"/>
                                          </p:stCondLst>
                                        </p:cTn>
                                        <p:tgtEl>
                                          <p:spTgt spid="39"/>
                                        </p:tgtEl>
                                        <p:attrNameLst>
                                          <p:attrName>style.visibility</p:attrName>
                                        </p:attrNameLst>
                                      </p:cBhvr>
                                      <p:to>
                                        <p:strVal val="hidden"/>
                                      </p:to>
                                    </p:set>
                                  </p:childTnLst>
                                </p:cTn>
                              </p:par>
                              <p:par>
                                <p:cTn id="2775" presetID="10" presetClass="entr" presetSubtype="0" fill="hold" nodeType="withEffect">
                                  <p:stCondLst>
                                    <p:cond delay="200"/>
                                  </p:stCondLst>
                                  <p:childTnLst>
                                    <p:set>
                                      <p:cBhvr>
                                        <p:cTn id="2776" dur="1" fill="hold">
                                          <p:stCondLst>
                                            <p:cond delay="0"/>
                                          </p:stCondLst>
                                        </p:cTn>
                                        <p:tgtEl>
                                          <p:spTgt spid="16"/>
                                        </p:tgtEl>
                                        <p:attrNameLst>
                                          <p:attrName>style.visibility</p:attrName>
                                        </p:attrNameLst>
                                      </p:cBhvr>
                                      <p:to>
                                        <p:strVal val="visible"/>
                                      </p:to>
                                    </p:set>
                                    <p:animEffect transition="in" filter="fade">
                                      <p:cBhvr>
                                        <p:cTn id="2777" dur="500"/>
                                        <p:tgtEl>
                                          <p:spTgt spid="16"/>
                                        </p:tgtEl>
                                      </p:cBhvr>
                                    </p:animEffect>
                                  </p:childTnLst>
                                </p:cTn>
                              </p:par>
                              <p:par>
                                <p:cTn id="2778" presetID="10" presetClass="entr" presetSubtype="0" fill="hold" nodeType="withEffect">
                                  <p:stCondLst>
                                    <p:cond delay="270"/>
                                  </p:stCondLst>
                                  <p:childTnLst>
                                    <p:set>
                                      <p:cBhvr>
                                        <p:cTn id="2779" dur="1" fill="hold">
                                          <p:stCondLst>
                                            <p:cond delay="0"/>
                                          </p:stCondLst>
                                        </p:cTn>
                                        <p:tgtEl>
                                          <p:spTgt spid="17"/>
                                        </p:tgtEl>
                                        <p:attrNameLst>
                                          <p:attrName>style.visibility</p:attrName>
                                        </p:attrNameLst>
                                      </p:cBhvr>
                                      <p:to>
                                        <p:strVal val="visible"/>
                                      </p:to>
                                    </p:set>
                                    <p:animEffect transition="in" filter="fade">
                                      <p:cBhvr>
                                        <p:cTn id="2780" dur="500"/>
                                        <p:tgtEl>
                                          <p:spTgt spid="17"/>
                                        </p:tgtEl>
                                      </p:cBhvr>
                                    </p:animEffect>
                                  </p:childTnLst>
                                </p:cTn>
                              </p:par>
                              <p:par>
                                <p:cTn id="2781" presetID="10" presetClass="entr" presetSubtype="0" fill="hold" nodeType="withEffect">
                                  <p:stCondLst>
                                    <p:cond delay="340"/>
                                  </p:stCondLst>
                                  <p:childTnLst>
                                    <p:set>
                                      <p:cBhvr>
                                        <p:cTn id="2782" dur="1" fill="hold">
                                          <p:stCondLst>
                                            <p:cond delay="0"/>
                                          </p:stCondLst>
                                        </p:cTn>
                                        <p:tgtEl>
                                          <p:spTgt spid="18"/>
                                        </p:tgtEl>
                                        <p:attrNameLst>
                                          <p:attrName>style.visibility</p:attrName>
                                        </p:attrNameLst>
                                      </p:cBhvr>
                                      <p:to>
                                        <p:strVal val="visible"/>
                                      </p:to>
                                    </p:set>
                                    <p:animEffect transition="in" filter="fade">
                                      <p:cBhvr>
                                        <p:cTn id="2783" dur="500"/>
                                        <p:tgtEl>
                                          <p:spTgt spid="18"/>
                                        </p:tgtEl>
                                      </p:cBhvr>
                                    </p:animEffect>
                                  </p:childTnLst>
                                </p:cTn>
                              </p:par>
                              <p:par>
                                <p:cTn id="2784" presetID="10" presetClass="entr" presetSubtype="0" fill="hold" nodeType="withEffect">
                                  <p:stCondLst>
                                    <p:cond delay="410"/>
                                  </p:stCondLst>
                                  <p:childTnLst>
                                    <p:set>
                                      <p:cBhvr>
                                        <p:cTn id="2785" dur="1" fill="hold">
                                          <p:stCondLst>
                                            <p:cond delay="0"/>
                                          </p:stCondLst>
                                        </p:cTn>
                                        <p:tgtEl>
                                          <p:spTgt spid="19"/>
                                        </p:tgtEl>
                                        <p:attrNameLst>
                                          <p:attrName>style.visibility</p:attrName>
                                        </p:attrNameLst>
                                      </p:cBhvr>
                                      <p:to>
                                        <p:strVal val="visible"/>
                                      </p:to>
                                    </p:set>
                                    <p:animEffect transition="in" filter="fade">
                                      <p:cBhvr>
                                        <p:cTn id="2786" dur="500"/>
                                        <p:tgtEl>
                                          <p:spTgt spid="19"/>
                                        </p:tgtEl>
                                      </p:cBhvr>
                                    </p:animEffect>
                                  </p:childTnLst>
                                </p:cTn>
                              </p:par>
                              <p:par>
                                <p:cTn id="2787" presetID="10" presetClass="entr" presetSubtype="0" fill="hold" nodeType="withEffect">
                                  <p:stCondLst>
                                    <p:cond delay="480"/>
                                  </p:stCondLst>
                                  <p:childTnLst>
                                    <p:set>
                                      <p:cBhvr>
                                        <p:cTn id="2788" dur="1" fill="hold">
                                          <p:stCondLst>
                                            <p:cond delay="0"/>
                                          </p:stCondLst>
                                        </p:cTn>
                                        <p:tgtEl>
                                          <p:spTgt spid="20"/>
                                        </p:tgtEl>
                                        <p:attrNameLst>
                                          <p:attrName>style.visibility</p:attrName>
                                        </p:attrNameLst>
                                      </p:cBhvr>
                                      <p:to>
                                        <p:strVal val="visible"/>
                                      </p:to>
                                    </p:set>
                                    <p:animEffect transition="in" filter="fade">
                                      <p:cBhvr>
                                        <p:cTn id="2789" dur="500"/>
                                        <p:tgtEl>
                                          <p:spTgt spid="20"/>
                                        </p:tgtEl>
                                      </p:cBhvr>
                                    </p:animEffect>
                                  </p:childTnLst>
                                </p:cTn>
                              </p:par>
                              <p:par>
                                <p:cTn id="2790" presetID="10" presetClass="entr" presetSubtype="0" fill="hold" nodeType="withEffect">
                                  <p:stCondLst>
                                    <p:cond delay="550"/>
                                  </p:stCondLst>
                                  <p:childTnLst>
                                    <p:set>
                                      <p:cBhvr>
                                        <p:cTn id="2791" dur="1" fill="hold">
                                          <p:stCondLst>
                                            <p:cond delay="0"/>
                                          </p:stCondLst>
                                        </p:cTn>
                                        <p:tgtEl>
                                          <p:spTgt spid="21"/>
                                        </p:tgtEl>
                                        <p:attrNameLst>
                                          <p:attrName>style.visibility</p:attrName>
                                        </p:attrNameLst>
                                      </p:cBhvr>
                                      <p:to>
                                        <p:strVal val="visible"/>
                                      </p:to>
                                    </p:set>
                                    <p:animEffect transition="in" filter="fade">
                                      <p:cBhvr>
                                        <p:cTn id="2792" dur="500"/>
                                        <p:tgtEl>
                                          <p:spTgt spid="21"/>
                                        </p:tgtEl>
                                      </p:cBhvr>
                                    </p:animEffect>
                                  </p:childTnLst>
                                </p:cTn>
                              </p:par>
                              <p:par>
                                <p:cTn id="2793" presetID="10" presetClass="entr" presetSubtype="0" fill="hold" nodeType="withEffect">
                                  <p:stCondLst>
                                    <p:cond delay="620"/>
                                  </p:stCondLst>
                                  <p:childTnLst>
                                    <p:set>
                                      <p:cBhvr>
                                        <p:cTn id="2794" dur="1" fill="hold">
                                          <p:stCondLst>
                                            <p:cond delay="0"/>
                                          </p:stCondLst>
                                        </p:cTn>
                                        <p:tgtEl>
                                          <p:spTgt spid="22"/>
                                        </p:tgtEl>
                                        <p:attrNameLst>
                                          <p:attrName>style.visibility</p:attrName>
                                        </p:attrNameLst>
                                      </p:cBhvr>
                                      <p:to>
                                        <p:strVal val="visible"/>
                                      </p:to>
                                    </p:set>
                                    <p:animEffect transition="in" filter="fade">
                                      <p:cBhvr>
                                        <p:cTn id="2795" dur="500"/>
                                        <p:tgtEl>
                                          <p:spTgt spid="22"/>
                                        </p:tgtEl>
                                      </p:cBhvr>
                                    </p:animEffect>
                                  </p:childTnLst>
                                </p:cTn>
                              </p:par>
                              <p:par>
                                <p:cTn id="2796" presetID="10" presetClass="entr" presetSubtype="0" fill="hold" nodeType="withEffect">
                                  <p:stCondLst>
                                    <p:cond delay="690"/>
                                  </p:stCondLst>
                                  <p:childTnLst>
                                    <p:set>
                                      <p:cBhvr>
                                        <p:cTn id="2797" dur="1" fill="hold">
                                          <p:stCondLst>
                                            <p:cond delay="0"/>
                                          </p:stCondLst>
                                        </p:cTn>
                                        <p:tgtEl>
                                          <p:spTgt spid="23"/>
                                        </p:tgtEl>
                                        <p:attrNameLst>
                                          <p:attrName>style.visibility</p:attrName>
                                        </p:attrNameLst>
                                      </p:cBhvr>
                                      <p:to>
                                        <p:strVal val="visible"/>
                                      </p:to>
                                    </p:set>
                                    <p:animEffect transition="in" filter="fade">
                                      <p:cBhvr>
                                        <p:cTn id="2798" dur="500"/>
                                        <p:tgtEl>
                                          <p:spTgt spid="23"/>
                                        </p:tgtEl>
                                      </p:cBhvr>
                                    </p:animEffect>
                                  </p:childTnLst>
                                </p:cTn>
                              </p:par>
                              <p:par>
                                <p:cTn id="2799" presetID="10" presetClass="entr" presetSubtype="0" fill="hold" nodeType="withEffect">
                                  <p:stCondLst>
                                    <p:cond delay="760"/>
                                  </p:stCondLst>
                                  <p:childTnLst>
                                    <p:set>
                                      <p:cBhvr>
                                        <p:cTn id="2800" dur="1" fill="hold">
                                          <p:stCondLst>
                                            <p:cond delay="0"/>
                                          </p:stCondLst>
                                        </p:cTn>
                                        <p:tgtEl>
                                          <p:spTgt spid="24"/>
                                        </p:tgtEl>
                                        <p:attrNameLst>
                                          <p:attrName>style.visibility</p:attrName>
                                        </p:attrNameLst>
                                      </p:cBhvr>
                                      <p:to>
                                        <p:strVal val="visible"/>
                                      </p:to>
                                    </p:set>
                                    <p:animEffect transition="in" filter="fade">
                                      <p:cBhvr>
                                        <p:cTn id="2801" dur="500"/>
                                        <p:tgtEl>
                                          <p:spTgt spid="24"/>
                                        </p:tgtEl>
                                      </p:cBhvr>
                                    </p:animEffect>
                                  </p:childTnLst>
                                </p:cTn>
                              </p:par>
                              <p:par>
                                <p:cTn id="2802" presetID="10" presetClass="entr" presetSubtype="0" fill="hold" nodeType="withEffect">
                                  <p:stCondLst>
                                    <p:cond delay="830"/>
                                  </p:stCondLst>
                                  <p:childTnLst>
                                    <p:set>
                                      <p:cBhvr>
                                        <p:cTn id="2803" dur="1" fill="hold">
                                          <p:stCondLst>
                                            <p:cond delay="0"/>
                                          </p:stCondLst>
                                        </p:cTn>
                                        <p:tgtEl>
                                          <p:spTgt spid="25"/>
                                        </p:tgtEl>
                                        <p:attrNameLst>
                                          <p:attrName>style.visibility</p:attrName>
                                        </p:attrNameLst>
                                      </p:cBhvr>
                                      <p:to>
                                        <p:strVal val="visible"/>
                                      </p:to>
                                    </p:set>
                                    <p:animEffect transition="in" filter="fade">
                                      <p:cBhvr>
                                        <p:cTn id="2804" dur="500"/>
                                        <p:tgtEl>
                                          <p:spTgt spid="25"/>
                                        </p:tgtEl>
                                      </p:cBhvr>
                                    </p:animEffect>
                                  </p:childTnLst>
                                </p:cTn>
                              </p:par>
                              <p:par>
                                <p:cTn id="2805" presetID="10" presetClass="entr" presetSubtype="0" fill="hold" nodeType="withEffect">
                                  <p:stCondLst>
                                    <p:cond delay="900"/>
                                  </p:stCondLst>
                                  <p:childTnLst>
                                    <p:set>
                                      <p:cBhvr>
                                        <p:cTn id="2806" dur="1" fill="hold">
                                          <p:stCondLst>
                                            <p:cond delay="0"/>
                                          </p:stCondLst>
                                        </p:cTn>
                                        <p:tgtEl>
                                          <p:spTgt spid="26"/>
                                        </p:tgtEl>
                                        <p:attrNameLst>
                                          <p:attrName>style.visibility</p:attrName>
                                        </p:attrNameLst>
                                      </p:cBhvr>
                                      <p:to>
                                        <p:strVal val="visible"/>
                                      </p:to>
                                    </p:set>
                                    <p:animEffect transition="in" filter="fade">
                                      <p:cBhvr>
                                        <p:cTn id="2807" dur="500"/>
                                        <p:tgtEl>
                                          <p:spTgt spid="26"/>
                                        </p:tgtEl>
                                      </p:cBhvr>
                                    </p:animEffect>
                                  </p:childTnLst>
                                </p:cTn>
                              </p:par>
                              <p:par>
                                <p:cTn id="2808" presetID="10" presetClass="entr" presetSubtype="0" fill="hold" nodeType="withEffect">
                                  <p:stCondLst>
                                    <p:cond delay="900"/>
                                  </p:stCondLst>
                                  <p:childTnLst>
                                    <p:set>
                                      <p:cBhvr>
                                        <p:cTn id="2809" dur="1" fill="hold">
                                          <p:stCondLst>
                                            <p:cond delay="0"/>
                                          </p:stCondLst>
                                        </p:cTn>
                                        <p:tgtEl>
                                          <p:spTgt spid="27"/>
                                        </p:tgtEl>
                                        <p:attrNameLst>
                                          <p:attrName>style.visibility</p:attrName>
                                        </p:attrNameLst>
                                      </p:cBhvr>
                                      <p:to>
                                        <p:strVal val="visible"/>
                                      </p:to>
                                    </p:set>
                                    <p:animEffect transition="in" filter="fade">
                                      <p:cBhvr>
                                        <p:cTn id="2810" dur="500"/>
                                        <p:tgtEl>
                                          <p:spTgt spid="27"/>
                                        </p:tgtEl>
                                      </p:cBhvr>
                                    </p:animEffect>
                                  </p:childTnLst>
                                </p:cTn>
                              </p:par>
                              <p:par>
                                <p:cTn id="2811" presetID="10" presetClass="entr" presetSubtype="0" fill="hold" nodeType="withEffect">
                                  <p:stCondLst>
                                    <p:cond delay="900"/>
                                  </p:stCondLst>
                                  <p:childTnLst>
                                    <p:set>
                                      <p:cBhvr>
                                        <p:cTn id="2812" dur="1" fill="hold">
                                          <p:stCondLst>
                                            <p:cond delay="0"/>
                                          </p:stCondLst>
                                        </p:cTn>
                                        <p:tgtEl>
                                          <p:spTgt spid="28"/>
                                        </p:tgtEl>
                                        <p:attrNameLst>
                                          <p:attrName>style.visibility</p:attrName>
                                        </p:attrNameLst>
                                      </p:cBhvr>
                                      <p:to>
                                        <p:strVal val="visible"/>
                                      </p:to>
                                    </p:set>
                                    <p:animEffect transition="in" filter="fade">
                                      <p:cBhvr>
                                        <p:cTn id="2813" dur="500"/>
                                        <p:tgtEl>
                                          <p:spTgt spid="28"/>
                                        </p:tgtEl>
                                      </p:cBhvr>
                                    </p:animEffect>
                                  </p:childTnLst>
                                </p:cTn>
                              </p:par>
                              <p:par>
                                <p:cTn id="2814" presetID="10" presetClass="entr" presetSubtype="0" fill="hold" nodeType="withEffect">
                                  <p:stCondLst>
                                    <p:cond delay="900"/>
                                  </p:stCondLst>
                                  <p:childTnLst>
                                    <p:set>
                                      <p:cBhvr>
                                        <p:cTn id="2815" dur="1" fill="hold">
                                          <p:stCondLst>
                                            <p:cond delay="0"/>
                                          </p:stCondLst>
                                        </p:cTn>
                                        <p:tgtEl>
                                          <p:spTgt spid="29"/>
                                        </p:tgtEl>
                                        <p:attrNameLst>
                                          <p:attrName>style.visibility</p:attrName>
                                        </p:attrNameLst>
                                      </p:cBhvr>
                                      <p:to>
                                        <p:strVal val="visible"/>
                                      </p:to>
                                    </p:set>
                                    <p:animEffect transition="in" filter="fade">
                                      <p:cBhvr>
                                        <p:cTn id="2816" dur="500"/>
                                        <p:tgtEl>
                                          <p:spTgt spid="29"/>
                                        </p:tgtEl>
                                      </p:cBhvr>
                                    </p:animEffect>
                                  </p:childTnLst>
                                </p:cTn>
                              </p:par>
                              <p:par>
                                <p:cTn id="2817" presetID="10" presetClass="entr" presetSubtype="0" fill="hold" nodeType="withEffect">
                                  <p:stCondLst>
                                    <p:cond delay="900"/>
                                  </p:stCondLst>
                                  <p:childTnLst>
                                    <p:set>
                                      <p:cBhvr>
                                        <p:cTn id="2818" dur="1" fill="hold">
                                          <p:stCondLst>
                                            <p:cond delay="0"/>
                                          </p:stCondLst>
                                        </p:cTn>
                                        <p:tgtEl>
                                          <p:spTgt spid="30"/>
                                        </p:tgtEl>
                                        <p:attrNameLst>
                                          <p:attrName>style.visibility</p:attrName>
                                        </p:attrNameLst>
                                      </p:cBhvr>
                                      <p:to>
                                        <p:strVal val="visible"/>
                                      </p:to>
                                    </p:set>
                                    <p:animEffect transition="in" filter="fade">
                                      <p:cBhvr>
                                        <p:cTn id="2819" dur="500"/>
                                        <p:tgtEl>
                                          <p:spTgt spid="30"/>
                                        </p:tgtEl>
                                      </p:cBhvr>
                                    </p:animEffect>
                                  </p:childTnLst>
                                </p:cTn>
                              </p:par>
                              <p:par>
                                <p:cTn id="2820" presetID="10" presetClass="entr" presetSubtype="0" fill="hold" nodeType="withEffect">
                                  <p:stCondLst>
                                    <p:cond delay="900"/>
                                  </p:stCondLst>
                                  <p:childTnLst>
                                    <p:set>
                                      <p:cBhvr>
                                        <p:cTn id="2821" dur="1" fill="hold">
                                          <p:stCondLst>
                                            <p:cond delay="0"/>
                                          </p:stCondLst>
                                        </p:cTn>
                                        <p:tgtEl>
                                          <p:spTgt spid="31"/>
                                        </p:tgtEl>
                                        <p:attrNameLst>
                                          <p:attrName>style.visibility</p:attrName>
                                        </p:attrNameLst>
                                      </p:cBhvr>
                                      <p:to>
                                        <p:strVal val="visible"/>
                                      </p:to>
                                    </p:set>
                                    <p:animEffect transition="in" filter="fade">
                                      <p:cBhvr>
                                        <p:cTn id="2822" dur="500"/>
                                        <p:tgtEl>
                                          <p:spTgt spid="31"/>
                                        </p:tgtEl>
                                      </p:cBhvr>
                                    </p:animEffect>
                                  </p:childTnLst>
                                </p:cTn>
                              </p:par>
                              <p:par>
                                <p:cTn id="2823" presetID="10" presetClass="entr" presetSubtype="0" fill="hold" nodeType="withEffect">
                                  <p:stCondLst>
                                    <p:cond delay="900"/>
                                  </p:stCondLst>
                                  <p:childTnLst>
                                    <p:set>
                                      <p:cBhvr>
                                        <p:cTn id="2824" dur="1" fill="hold">
                                          <p:stCondLst>
                                            <p:cond delay="0"/>
                                          </p:stCondLst>
                                        </p:cTn>
                                        <p:tgtEl>
                                          <p:spTgt spid="32"/>
                                        </p:tgtEl>
                                        <p:attrNameLst>
                                          <p:attrName>style.visibility</p:attrName>
                                        </p:attrNameLst>
                                      </p:cBhvr>
                                      <p:to>
                                        <p:strVal val="visible"/>
                                      </p:to>
                                    </p:set>
                                    <p:animEffect transition="in" filter="fade">
                                      <p:cBhvr>
                                        <p:cTn id="2825" dur="500"/>
                                        <p:tgtEl>
                                          <p:spTgt spid="32"/>
                                        </p:tgtEl>
                                      </p:cBhvr>
                                    </p:animEffect>
                                  </p:childTnLst>
                                </p:cTn>
                              </p:par>
                              <p:par>
                                <p:cTn id="2826" presetID="10" presetClass="entr" presetSubtype="0" fill="hold" nodeType="withEffect">
                                  <p:stCondLst>
                                    <p:cond delay="900"/>
                                  </p:stCondLst>
                                  <p:childTnLst>
                                    <p:set>
                                      <p:cBhvr>
                                        <p:cTn id="2827" dur="1" fill="hold">
                                          <p:stCondLst>
                                            <p:cond delay="0"/>
                                          </p:stCondLst>
                                        </p:cTn>
                                        <p:tgtEl>
                                          <p:spTgt spid="33"/>
                                        </p:tgtEl>
                                        <p:attrNameLst>
                                          <p:attrName>style.visibility</p:attrName>
                                        </p:attrNameLst>
                                      </p:cBhvr>
                                      <p:to>
                                        <p:strVal val="visible"/>
                                      </p:to>
                                    </p:set>
                                    <p:animEffect transition="in" filter="fade">
                                      <p:cBhvr>
                                        <p:cTn id="2828" dur="500"/>
                                        <p:tgtEl>
                                          <p:spTgt spid="33"/>
                                        </p:tgtEl>
                                      </p:cBhvr>
                                    </p:animEffect>
                                  </p:childTnLst>
                                </p:cTn>
                              </p:par>
                              <p:par>
                                <p:cTn id="2829" presetID="10" presetClass="entr" presetSubtype="0" fill="hold" nodeType="withEffect">
                                  <p:stCondLst>
                                    <p:cond delay="900"/>
                                  </p:stCondLst>
                                  <p:childTnLst>
                                    <p:set>
                                      <p:cBhvr>
                                        <p:cTn id="2830" dur="1" fill="hold">
                                          <p:stCondLst>
                                            <p:cond delay="0"/>
                                          </p:stCondLst>
                                        </p:cTn>
                                        <p:tgtEl>
                                          <p:spTgt spid="34"/>
                                        </p:tgtEl>
                                        <p:attrNameLst>
                                          <p:attrName>style.visibility</p:attrName>
                                        </p:attrNameLst>
                                      </p:cBhvr>
                                      <p:to>
                                        <p:strVal val="visible"/>
                                      </p:to>
                                    </p:set>
                                    <p:animEffect transition="in" filter="fade">
                                      <p:cBhvr>
                                        <p:cTn id="2831" dur="500"/>
                                        <p:tgtEl>
                                          <p:spTgt spid="34"/>
                                        </p:tgtEl>
                                      </p:cBhvr>
                                    </p:animEffect>
                                  </p:childTnLst>
                                </p:cTn>
                              </p:par>
                              <p:par>
                                <p:cTn id="2832" presetID="10" presetClass="entr" presetSubtype="0" fill="hold" nodeType="withEffect">
                                  <p:stCondLst>
                                    <p:cond delay="900"/>
                                  </p:stCondLst>
                                  <p:childTnLst>
                                    <p:set>
                                      <p:cBhvr>
                                        <p:cTn id="2833" dur="1" fill="hold">
                                          <p:stCondLst>
                                            <p:cond delay="0"/>
                                          </p:stCondLst>
                                        </p:cTn>
                                        <p:tgtEl>
                                          <p:spTgt spid="35"/>
                                        </p:tgtEl>
                                        <p:attrNameLst>
                                          <p:attrName>style.visibility</p:attrName>
                                        </p:attrNameLst>
                                      </p:cBhvr>
                                      <p:to>
                                        <p:strVal val="visible"/>
                                      </p:to>
                                    </p:set>
                                    <p:animEffect transition="in" filter="fade">
                                      <p:cBhvr>
                                        <p:cTn id="2834" dur="500"/>
                                        <p:tgtEl>
                                          <p:spTgt spid="35"/>
                                        </p:tgtEl>
                                      </p:cBhvr>
                                    </p:animEffect>
                                  </p:childTnLst>
                                </p:cTn>
                              </p:par>
                              <p:par>
                                <p:cTn id="2835" presetID="10" presetClass="entr" presetSubtype="0" fill="hold" nodeType="withEffect">
                                  <p:stCondLst>
                                    <p:cond delay="900"/>
                                  </p:stCondLst>
                                  <p:childTnLst>
                                    <p:set>
                                      <p:cBhvr>
                                        <p:cTn id="2836" dur="1" fill="hold">
                                          <p:stCondLst>
                                            <p:cond delay="0"/>
                                          </p:stCondLst>
                                        </p:cTn>
                                        <p:tgtEl>
                                          <p:spTgt spid="40"/>
                                        </p:tgtEl>
                                        <p:attrNameLst>
                                          <p:attrName>style.visibility</p:attrName>
                                        </p:attrNameLst>
                                      </p:cBhvr>
                                      <p:to>
                                        <p:strVal val="visible"/>
                                      </p:to>
                                    </p:set>
                                    <p:animEffect transition="in" filter="fade">
                                      <p:cBhvr>
                                        <p:cTn id="2837" dur="500"/>
                                        <p:tgtEl>
                                          <p:spTgt spid="40"/>
                                        </p:tgtEl>
                                      </p:cBhvr>
                                    </p:animEffect>
                                  </p:childTnLst>
                                </p:cTn>
                              </p:par>
                              <p:par>
                                <p:cTn id="2838" presetID="10" presetClass="entr" presetSubtype="0" fill="hold" nodeType="withEffect">
                                  <p:stCondLst>
                                    <p:cond delay="900"/>
                                  </p:stCondLst>
                                  <p:childTnLst>
                                    <p:set>
                                      <p:cBhvr>
                                        <p:cTn id="2839" dur="1" fill="hold">
                                          <p:stCondLst>
                                            <p:cond delay="0"/>
                                          </p:stCondLst>
                                        </p:cTn>
                                        <p:tgtEl>
                                          <p:spTgt spid="41"/>
                                        </p:tgtEl>
                                        <p:attrNameLst>
                                          <p:attrName>style.visibility</p:attrName>
                                        </p:attrNameLst>
                                      </p:cBhvr>
                                      <p:to>
                                        <p:strVal val="visible"/>
                                      </p:to>
                                    </p:set>
                                    <p:animEffect transition="in" filter="fade">
                                      <p:cBhvr>
                                        <p:cTn id="2840" dur="500"/>
                                        <p:tgtEl>
                                          <p:spTgt spid="41"/>
                                        </p:tgtEl>
                                      </p:cBhvr>
                                    </p:animEffect>
                                  </p:childTnLst>
                                </p:cTn>
                              </p:par>
                            </p:childTnLst>
                          </p:cTn>
                        </p:par>
                      </p:childTnLst>
                    </p:cTn>
                  </p:par>
                  <p:par>
                    <p:cTn id="2921" fill="hold">
                      <p:stCondLst>
                        <p:cond delay="indefinite"/>
                      </p:stCondLst>
                      <p:childTnLst>
                        <p:par>
                          <p:cTn id="2922" fill="hold">
                            <p:stCondLst>
                              <p:cond delay="0"/>
                            </p:stCondLst>
                            <p:childTnLst>
                              <p:par>
                                <p:cTn id="2843" presetID="10" presetClass="exit" presetSubtype="0" fill="hold" nodeType="clickEffect">
                                  <p:stCondLst>
                                    <p:cond delay="0"/>
                                  </p:stCondLst>
                                  <p:childTnLst>
                                    <p:animEffect transition="out" filter="fade">
                                      <p:cBhvr>
                                        <p:cTn id="2844" dur="400"/>
                                        <p:tgtEl>
                                          <p:spTgt spid="16"/>
                                        </p:tgtEl>
                                      </p:cBhvr>
                                    </p:animEffect>
                                    <p:set>
                                      <p:cBhvr>
                                        <p:cTn id="2845" dur="1" fill="hold">
                                          <p:stCondLst>
                                            <p:cond delay="399"/>
                                          </p:stCondLst>
                                        </p:cTn>
                                        <p:tgtEl>
                                          <p:spTgt spid="16"/>
                                        </p:tgtEl>
                                        <p:attrNameLst>
                                          <p:attrName>style.visibility</p:attrName>
                                        </p:attrNameLst>
                                      </p:cBhvr>
                                      <p:to>
                                        <p:strVal val="hidden"/>
                                      </p:to>
                                    </p:set>
                                  </p:childTnLst>
                                </p:cTn>
                              </p:par>
                              <p:par>
                                <p:cTn id="2846" presetID="10" presetClass="exit" presetSubtype="0" fill="hold" nodeType="withEffect">
                                  <p:stCondLst>
                                    <p:cond delay="0"/>
                                  </p:stCondLst>
                                  <p:childTnLst>
                                    <p:animEffect transition="out" filter="fade">
                                      <p:cBhvr>
                                        <p:cTn id="2847" dur="400"/>
                                        <p:tgtEl>
                                          <p:spTgt spid="17"/>
                                        </p:tgtEl>
                                      </p:cBhvr>
                                    </p:animEffect>
                                    <p:set>
                                      <p:cBhvr>
                                        <p:cTn id="2848" dur="1" fill="hold">
                                          <p:stCondLst>
                                            <p:cond delay="399"/>
                                          </p:stCondLst>
                                        </p:cTn>
                                        <p:tgtEl>
                                          <p:spTgt spid="17"/>
                                        </p:tgtEl>
                                        <p:attrNameLst>
                                          <p:attrName>style.visibility</p:attrName>
                                        </p:attrNameLst>
                                      </p:cBhvr>
                                      <p:to>
                                        <p:strVal val="hidden"/>
                                      </p:to>
                                    </p:set>
                                  </p:childTnLst>
                                </p:cTn>
                              </p:par>
                              <p:par>
                                <p:cTn id="2849" presetID="10" presetClass="exit" presetSubtype="0" fill="hold" nodeType="withEffect">
                                  <p:stCondLst>
                                    <p:cond delay="0"/>
                                  </p:stCondLst>
                                  <p:childTnLst>
                                    <p:animEffect transition="out" filter="fade">
                                      <p:cBhvr>
                                        <p:cTn id="2850" dur="400"/>
                                        <p:tgtEl>
                                          <p:spTgt spid="18"/>
                                        </p:tgtEl>
                                      </p:cBhvr>
                                    </p:animEffect>
                                    <p:set>
                                      <p:cBhvr>
                                        <p:cTn id="2851" dur="1" fill="hold">
                                          <p:stCondLst>
                                            <p:cond delay="399"/>
                                          </p:stCondLst>
                                        </p:cTn>
                                        <p:tgtEl>
                                          <p:spTgt spid="18"/>
                                        </p:tgtEl>
                                        <p:attrNameLst>
                                          <p:attrName>style.visibility</p:attrName>
                                        </p:attrNameLst>
                                      </p:cBhvr>
                                      <p:to>
                                        <p:strVal val="hidden"/>
                                      </p:to>
                                    </p:set>
                                  </p:childTnLst>
                                </p:cTn>
                              </p:par>
                              <p:par>
                                <p:cTn id="2852" presetID="10" presetClass="exit" presetSubtype="0" fill="hold" nodeType="withEffect">
                                  <p:stCondLst>
                                    <p:cond delay="0"/>
                                  </p:stCondLst>
                                  <p:childTnLst>
                                    <p:animEffect transition="out" filter="fade">
                                      <p:cBhvr>
                                        <p:cTn id="2853" dur="400"/>
                                        <p:tgtEl>
                                          <p:spTgt spid="19"/>
                                        </p:tgtEl>
                                      </p:cBhvr>
                                    </p:animEffect>
                                    <p:set>
                                      <p:cBhvr>
                                        <p:cTn id="2854" dur="1" fill="hold">
                                          <p:stCondLst>
                                            <p:cond delay="399"/>
                                          </p:stCondLst>
                                        </p:cTn>
                                        <p:tgtEl>
                                          <p:spTgt spid="19"/>
                                        </p:tgtEl>
                                        <p:attrNameLst>
                                          <p:attrName>style.visibility</p:attrName>
                                        </p:attrNameLst>
                                      </p:cBhvr>
                                      <p:to>
                                        <p:strVal val="hidden"/>
                                      </p:to>
                                    </p:set>
                                  </p:childTnLst>
                                </p:cTn>
                              </p:par>
                              <p:par>
                                <p:cTn id="2855" presetID="10" presetClass="exit" presetSubtype="0" fill="hold" nodeType="withEffect">
                                  <p:stCondLst>
                                    <p:cond delay="0"/>
                                  </p:stCondLst>
                                  <p:childTnLst>
                                    <p:animEffect transition="out" filter="fade">
                                      <p:cBhvr>
                                        <p:cTn id="2856" dur="400"/>
                                        <p:tgtEl>
                                          <p:spTgt spid="20"/>
                                        </p:tgtEl>
                                      </p:cBhvr>
                                    </p:animEffect>
                                    <p:set>
                                      <p:cBhvr>
                                        <p:cTn id="2857" dur="1" fill="hold">
                                          <p:stCondLst>
                                            <p:cond delay="399"/>
                                          </p:stCondLst>
                                        </p:cTn>
                                        <p:tgtEl>
                                          <p:spTgt spid="20"/>
                                        </p:tgtEl>
                                        <p:attrNameLst>
                                          <p:attrName>style.visibility</p:attrName>
                                        </p:attrNameLst>
                                      </p:cBhvr>
                                      <p:to>
                                        <p:strVal val="hidden"/>
                                      </p:to>
                                    </p:set>
                                  </p:childTnLst>
                                </p:cTn>
                              </p:par>
                              <p:par>
                                <p:cTn id="2858" presetID="10" presetClass="exit" presetSubtype="0" fill="hold" nodeType="withEffect">
                                  <p:stCondLst>
                                    <p:cond delay="0"/>
                                  </p:stCondLst>
                                  <p:childTnLst>
                                    <p:animEffect transition="out" filter="fade">
                                      <p:cBhvr>
                                        <p:cTn id="2859" dur="400"/>
                                        <p:tgtEl>
                                          <p:spTgt spid="21"/>
                                        </p:tgtEl>
                                      </p:cBhvr>
                                    </p:animEffect>
                                    <p:set>
                                      <p:cBhvr>
                                        <p:cTn id="2860" dur="1" fill="hold">
                                          <p:stCondLst>
                                            <p:cond delay="399"/>
                                          </p:stCondLst>
                                        </p:cTn>
                                        <p:tgtEl>
                                          <p:spTgt spid="21"/>
                                        </p:tgtEl>
                                        <p:attrNameLst>
                                          <p:attrName>style.visibility</p:attrName>
                                        </p:attrNameLst>
                                      </p:cBhvr>
                                      <p:to>
                                        <p:strVal val="hidden"/>
                                      </p:to>
                                    </p:set>
                                  </p:childTnLst>
                                </p:cTn>
                              </p:par>
                              <p:par>
                                <p:cTn id="2861" presetID="10" presetClass="exit" presetSubtype="0" fill="hold" nodeType="withEffect">
                                  <p:stCondLst>
                                    <p:cond delay="0"/>
                                  </p:stCondLst>
                                  <p:childTnLst>
                                    <p:animEffect transition="out" filter="fade">
                                      <p:cBhvr>
                                        <p:cTn id="2862" dur="400"/>
                                        <p:tgtEl>
                                          <p:spTgt spid="22"/>
                                        </p:tgtEl>
                                      </p:cBhvr>
                                    </p:animEffect>
                                    <p:set>
                                      <p:cBhvr>
                                        <p:cTn id="2863" dur="1" fill="hold">
                                          <p:stCondLst>
                                            <p:cond delay="399"/>
                                          </p:stCondLst>
                                        </p:cTn>
                                        <p:tgtEl>
                                          <p:spTgt spid="22"/>
                                        </p:tgtEl>
                                        <p:attrNameLst>
                                          <p:attrName>style.visibility</p:attrName>
                                        </p:attrNameLst>
                                      </p:cBhvr>
                                      <p:to>
                                        <p:strVal val="hidden"/>
                                      </p:to>
                                    </p:set>
                                  </p:childTnLst>
                                </p:cTn>
                              </p:par>
                              <p:par>
                                <p:cTn id="2864" presetID="10" presetClass="exit" presetSubtype="0" fill="hold" nodeType="withEffect">
                                  <p:stCondLst>
                                    <p:cond delay="0"/>
                                  </p:stCondLst>
                                  <p:childTnLst>
                                    <p:animEffect transition="out" filter="fade">
                                      <p:cBhvr>
                                        <p:cTn id="2865" dur="400"/>
                                        <p:tgtEl>
                                          <p:spTgt spid="23"/>
                                        </p:tgtEl>
                                      </p:cBhvr>
                                    </p:animEffect>
                                    <p:set>
                                      <p:cBhvr>
                                        <p:cTn id="2866" dur="1" fill="hold">
                                          <p:stCondLst>
                                            <p:cond delay="399"/>
                                          </p:stCondLst>
                                        </p:cTn>
                                        <p:tgtEl>
                                          <p:spTgt spid="23"/>
                                        </p:tgtEl>
                                        <p:attrNameLst>
                                          <p:attrName>style.visibility</p:attrName>
                                        </p:attrNameLst>
                                      </p:cBhvr>
                                      <p:to>
                                        <p:strVal val="hidden"/>
                                      </p:to>
                                    </p:set>
                                  </p:childTnLst>
                                </p:cTn>
                              </p:par>
                              <p:par>
                                <p:cTn id="2867" presetID="10" presetClass="exit" presetSubtype="0" fill="hold" nodeType="withEffect">
                                  <p:stCondLst>
                                    <p:cond delay="0"/>
                                  </p:stCondLst>
                                  <p:childTnLst>
                                    <p:animEffect transition="out" filter="fade">
                                      <p:cBhvr>
                                        <p:cTn id="2868" dur="400"/>
                                        <p:tgtEl>
                                          <p:spTgt spid="24"/>
                                        </p:tgtEl>
                                      </p:cBhvr>
                                    </p:animEffect>
                                    <p:set>
                                      <p:cBhvr>
                                        <p:cTn id="2869" dur="1" fill="hold">
                                          <p:stCondLst>
                                            <p:cond delay="399"/>
                                          </p:stCondLst>
                                        </p:cTn>
                                        <p:tgtEl>
                                          <p:spTgt spid="24"/>
                                        </p:tgtEl>
                                        <p:attrNameLst>
                                          <p:attrName>style.visibility</p:attrName>
                                        </p:attrNameLst>
                                      </p:cBhvr>
                                      <p:to>
                                        <p:strVal val="hidden"/>
                                      </p:to>
                                    </p:set>
                                  </p:childTnLst>
                                </p:cTn>
                              </p:par>
                              <p:par>
                                <p:cTn id="2870" presetID="10" presetClass="exit" presetSubtype="0" fill="hold" nodeType="withEffect">
                                  <p:stCondLst>
                                    <p:cond delay="0"/>
                                  </p:stCondLst>
                                  <p:childTnLst>
                                    <p:animEffect transition="out" filter="fade">
                                      <p:cBhvr>
                                        <p:cTn id="2871" dur="400"/>
                                        <p:tgtEl>
                                          <p:spTgt spid="25"/>
                                        </p:tgtEl>
                                      </p:cBhvr>
                                    </p:animEffect>
                                    <p:set>
                                      <p:cBhvr>
                                        <p:cTn id="2872" dur="1" fill="hold">
                                          <p:stCondLst>
                                            <p:cond delay="399"/>
                                          </p:stCondLst>
                                        </p:cTn>
                                        <p:tgtEl>
                                          <p:spTgt spid="25"/>
                                        </p:tgtEl>
                                        <p:attrNameLst>
                                          <p:attrName>style.visibility</p:attrName>
                                        </p:attrNameLst>
                                      </p:cBhvr>
                                      <p:to>
                                        <p:strVal val="hidden"/>
                                      </p:to>
                                    </p:set>
                                  </p:childTnLst>
                                </p:cTn>
                              </p:par>
                              <p:par>
                                <p:cTn id="2873" presetID="10" presetClass="exit" presetSubtype="0" fill="hold" nodeType="withEffect">
                                  <p:stCondLst>
                                    <p:cond delay="0"/>
                                  </p:stCondLst>
                                  <p:childTnLst>
                                    <p:animEffect transition="out" filter="fade">
                                      <p:cBhvr>
                                        <p:cTn id="2874" dur="400"/>
                                        <p:tgtEl>
                                          <p:spTgt spid="26"/>
                                        </p:tgtEl>
                                      </p:cBhvr>
                                    </p:animEffect>
                                    <p:set>
                                      <p:cBhvr>
                                        <p:cTn id="2875" dur="1" fill="hold">
                                          <p:stCondLst>
                                            <p:cond delay="399"/>
                                          </p:stCondLst>
                                        </p:cTn>
                                        <p:tgtEl>
                                          <p:spTgt spid="26"/>
                                        </p:tgtEl>
                                        <p:attrNameLst>
                                          <p:attrName>style.visibility</p:attrName>
                                        </p:attrNameLst>
                                      </p:cBhvr>
                                      <p:to>
                                        <p:strVal val="hidden"/>
                                      </p:to>
                                    </p:set>
                                  </p:childTnLst>
                                </p:cTn>
                              </p:par>
                              <p:par>
                                <p:cTn id="2876" presetID="10" presetClass="exit" presetSubtype="0" fill="hold" nodeType="withEffect">
                                  <p:stCondLst>
                                    <p:cond delay="0"/>
                                  </p:stCondLst>
                                  <p:childTnLst>
                                    <p:animEffect transition="out" filter="fade">
                                      <p:cBhvr>
                                        <p:cTn id="2877" dur="400"/>
                                        <p:tgtEl>
                                          <p:spTgt spid="27"/>
                                        </p:tgtEl>
                                      </p:cBhvr>
                                    </p:animEffect>
                                    <p:set>
                                      <p:cBhvr>
                                        <p:cTn id="2878" dur="1" fill="hold">
                                          <p:stCondLst>
                                            <p:cond delay="399"/>
                                          </p:stCondLst>
                                        </p:cTn>
                                        <p:tgtEl>
                                          <p:spTgt spid="27"/>
                                        </p:tgtEl>
                                        <p:attrNameLst>
                                          <p:attrName>style.visibility</p:attrName>
                                        </p:attrNameLst>
                                      </p:cBhvr>
                                      <p:to>
                                        <p:strVal val="hidden"/>
                                      </p:to>
                                    </p:set>
                                  </p:childTnLst>
                                </p:cTn>
                              </p:par>
                              <p:par>
                                <p:cTn id="2879" presetID="10" presetClass="exit" presetSubtype="0" fill="hold" nodeType="withEffect">
                                  <p:stCondLst>
                                    <p:cond delay="0"/>
                                  </p:stCondLst>
                                  <p:childTnLst>
                                    <p:animEffect transition="out" filter="fade">
                                      <p:cBhvr>
                                        <p:cTn id="2880" dur="400"/>
                                        <p:tgtEl>
                                          <p:spTgt spid="28"/>
                                        </p:tgtEl>
                                      </p:cBhvr>
                                    </p:animEffect>
                                    <p:set>
                                      <p:cBhvr>
                                        <p:cTn id="2881" dur="1" fill="hold">
                                          <p:stCondLst>
                                            <p:cond delay="399"/>
                                          </p:stCondLst>
                                        </p:cTn>
                                        <p:tgtEl>
                                          <p:spTgt spid="28"/>
                                        </p:tgtEl>
                                        <p:attrNameLst>
                                          <p:attrName>style.visibility</p:attrName>
                                        </p:attrNameLst>
                                      </p:cBhvr>
                                      <p:to>
                                        <p:strVal val="hidden"/>
                                      </p:to>
                                    </p:set>
                                  </p:childTnLst>
                                </p:cTn>
                              </p:par>
                              <p:par>
                                <p:cTn id="2882" presetID="10" presetClass="exit" presetSubtype="0" fill="hold" nodeType="withEffect">
                                  <p:stCondLst>
                                    <p:cond delay="0"/>
                                  </p:stCondLst>
                                  <p:childTnLst>
                                    <p:animEffect transition="out" filter="fade">
                                      <p:cBhvr>
                                        <p:cTn id="2883" dur="400"/>
                                        <p:tgtEl>
                                          <p:spTgt spid="29"/>
                                        </p:tgtEl>
                                      </p:cBhvr>
                                    </p:animEffect>
                                    <p:set>
                                      <p:cBhvr>
                                        <p:cTn id="2884" dur="1" fill="hold">
                                          <p:stCondLst>
                                            <p:cond delay="399"/>
                                          </p:stCondLst>
                                        </p:cTn>
                                        <p:tgtEl>
                                          <p:spTgt spid="29"/>
                                        </p:tgtEl>
                                        <p:attrNameLst>
                                          <p:attrName>style.visibility</p:attrName>
                                        </p:attrNameLst>
                                      </p:cBhvr>
                                      <p:to>
                                        <p:strVal val="hidden"/>
                                      </p:to>
                                    </p:set>
                                  </p:childTnLst>
                                </p:cTn>
                              </p:par>
                              <p:par>
                                <p:cTn id="2885" presetID="10" presetClass="exit" presetSubtype="0" fill="hold" nodeType="withEffect">
                                  <p:stCondLst>
                                    <p:cond delay="0"/>
                                  </p:stCondLst>
                                  <p:childTnLst>
                                    <p:animEffect transition="out" filter="fade">
                                      <p:cBhvr>
                                        <p:cTn id="2886" dur="400"/>
                                        <p:tgtEl>
                                          <p:spTgt spid="30"/>
                                        </p:tgtEl>
                                      </p:cBhvr>
                                    </p:animEffect>
                                    <p:set>
                                      <p:cBhvr>
                                        <p:cTn id="2887" dur="1" fill="hold">
                                          <p:stCondLst>
                                            <p:cond delay="399"/>
                                          </p:stCondLst>
                                        </p:cTn>
                                        <p:tgtEl>
                                          <p:spTgt spid="30"/>
                                        </p:tgtEl>
                                        <p:attrNameLst>
                                          <p:attrName>style.visibility</p:attrName>
                                        </p:attrNameLst>
                                      </p:cBhvr>
                                      <p:to>
                                        <p:strVal val="hidden"/>
                                      </p:to>
                                    </p:set>
                                  </p:childTnLst>
                                </p:cTn>
                              </p:par>
                              <p:par>
                                <p:cTn id="2888" presetID="10" presetClass="exit" presetSubtype="0" fill="hold" nodeType="withEffect">
                                  <p:stCondLst>
                                    <p:cond delay="0"/>
                                  </p:stCondLst>
                                  <p:childTnLst>
                                    <p:animEffect transition="out" filter="fade">
                                      <p:cBhvr>
                                        <p:cTn id="2889" dur="400"/>
                                        <p:tgtEl>
                                          <p:spTgt spid="31"/>
                                        </p:tgtEl>
                                      </p:cBhvr>
                                    </p:animEffect>
                                    <p:set>
                                      <p:cBhvr>
                                        <p:cTn id="2890" dur="1" fill="hold">
                                          <p:stCondLst>
                                            <p:cond delay="399"/>
                                          </p:stCondLst>
                                        </p:cTn>
                                        <p:tgtEl>
                                          <p:spTgt spid="31"/>
                                        </p:tgtEl>
                                        <p:attrNameLst>
                                          <p:attrName>style.visibility</p:attrName>
                                        </p:attrNameLst>
                                      </p:cBhvr>
                                      <p:to>
                                        <p:strVal val="hidden"/>
                                      </p:to>
                                    </p:set>
                                  </p:childTnLst>
                                </p:cTn>
                              </p:par>
                              <p:par>
                                <p:cTn id="2891" presetID="10" presetClass="exit" presetSubtype="0" fill="hold" nodeType="withEffect">
                                  <p:stCondLst>
                                    <p:cond delay="0"/>
                                  </p:stCondLst>
                                  <p:childTnLst>
                                    <p:animEffect transition="out" filter="fade">
                                      <p:cBhvr>
                                        <p:cTn id="2892" dur="400"/>
                                        <p:tgtEl>
                                          <p:spTgt spid="32"/>
                                        </p:tgtEl>
                                      </p:cBhvr>
                                    </p:animEffect>
                                    <p:set>
                                      <p:cBhvr>
                                        <p:cTn id="2893" dur="1" fill="hold">
                                          <p:stCondLst>
                                            <p:cond delay="399"/>
                                          </p:stCondLst>
                                        </p:cTn>
                                        <p:tgtEl>
                                          <p:spTgt spid="32"/>
                                        </p:tgtEl>
                                        <p:attrNameLst>
                                          <p:attrName>style.visibility</p:attrName>
                                        </p:attrNameLst>
                                      </p:cBhvr>
                                      <p:to>
                                        <p:strVal val="hidden"/>
                                      </p:to>
                                    </p:set>
                                  </p:childTnLst>
                                </p:cTn>
                              </p:par>
                              <p:par>
                                <p:cTn id="2894" presetID="10" presetClass="exit" presetSubtype="0" fill="hold" nodeType="withEffect">
                                  <p:stCondLst>
                                    <p:cond delay="0"/>
                                  </p:stCondLst>
                                  <p:childTnLst>
                                    <p:animEffect transition="out" filter="fade">
                                      <p:cBhvr>
                                        <p:cTn id="2895" dur="400"/>
                                        <p:tgtEl>
                                          <p:spTgt spid="33"/>
                                        </p:tgtEl>
                                      </p:cBhvr>
                                    </p:animEffect>
                                    <p:set>
                                      <p:cBhvr>
                                        <p:cTn id="2896" dur="1" fill="hold">
                                          <p:stCondLst>
                                            <p:cond delay="399"/>
                                          </p:stCondLst>
                                        </p:cTn>
                                        <p:tgtEl>
                                          <p:spTgt spid="33"/>
                                        </p:tgtEl>
                                        <p:attrNameLst>
                                          <p:attrName>style.visibility</p:attrName>
                                        </p:attrNameLst>
                                      </p:cBhvr>
                                      <p:to>
                                        <p:strVal val="hidden"/>
                                      </p:to>
                                    </p:set>
                                  </p:childTnLst>
                                </p:cTn>
                              </p:par>
                              <p:par>
                                <p:cTn id="2897" presetID="10" presetClass="exit" presetSubtype="0" fill="hold" nodeType="withEffect">
                                  <p:stCondLst>
                                    <p:cond delay="0"/>
                                  </p:stCondLst>
                                  <p:childTnLst>
                                    <p:animEffect transition="out" filter="fade">
                                      <p:cBhvr>
                                        <p:cTn id="2898" dur="400"/>
                                        <p:tgtEl>
                                          <p:spTgt spid="34"/>
                                        </p:tgtEl>
                                      </p:cBhvr>
                                    </p:animEffect>
                                    <p:set>
                                      <p:cBhvr>
                                        <p:cTn id="2899" dur="1" fill="hold">
                                          <p:stCondLst>
                                            <p:cond delay="399"/>
                                          </p:stCondLst>
                                        </p:cTn>
                                        <p:tgtEl>
                                          <p:spTgt spid="34"/>
                                        </p:tgtEl>
                                        <p:attrNameLst>
                                          <p:attrName>style.visibility</p:attrName>
                                        </p:attrNameLst>
                                      </p:cBhvr>
                                      <p:to>
                                        <p:strVal val="hidden"/>
                                      </p:to>
                                    </p:set>
                                  </p:childTnLst>
                                </p:cTn>
                              </p:par>
                              <p:par>
                                <p:cTn id="2900" presetID="10" presetClass="exit" presetSubtype="0" fill="hold" nodeType="withEffect">
                                  <p:stCondLst>
                                    <p:cond delay="0"/>
                                  </p:stCondLst>
                                  <p:childTnLst>
                                    <p:animEffect transition="out" filter="fade">
                                      <p:cBhvr>
                                        <p:cTn id="2901" dur="400"/>
                                        <p:tgtEl>
                                          <p:spTgt spid="35"/>
                                        </p:tgtEl>
                                      </p:cBhvr>
                                    </p:animEffect>
                                    <p:set>
                                      <p:cBhvr>
                                        <p:cTn id="2902" dur="1" fill="hold">
                                          <p:stCondLst>
                                            <p:cond delay="399"/>
                                          </p:stCondLst>
                                        </p:cTn>
                                        <p:tgtEl>
                                          <p:spTgt spid="35"/>
                                        </p:tgtEl>
                                        <p:attrNameLst>
                                          <p:attrName>style.visibility</p:attrName>
                                        </p:attrNameLst>
                                      </p:cBhvr>
                                      <p:to>
                                        <p:strVal val="hidden"/>
                                      </p:to>
                                    </p:set>
                                  </p:childTnLst>
                                </p:cTn>
                              </p:par>
                              <p:par>
                                <p:cTn id="2903" presetID="10" presetClass="exit" presetSubtype="0" fill="hold" nodeType="withEffect">
                                  <p:stCondLst>
                                    <p:cond delay="0"/>
                                  </p:stCondLst>
                                  <p:childTnLst>
                                    <p:animEffect transition="out" filter="fade">
                                      <p:cBhvr>
                                        <p:cTn id="2904" dur="400"/>
                                        <p:tgtEl>
                                          <p:spTgt spid="40"/>
                                        </p:tgtEl>
                                      </p:cBhvr>
                                    </p:animEffect>
                                    <p:set>
                                      <p:cBhvr>
                                        <p:cTn id="2905" dur="1" fill="hold">
                                          <p:stCondLst>
                                            <p:cond delay="399"/>
                                          </p:stCondLst>
                                        </p:cTn>
                                        <p:tgtEl>
                                          <p:spTgt spid="40"/>
                                        </p:tgtEl>
                                        <p:attrNameLst>
                                          <p:attrName>style.visibility</p:attrName>
                                        </p:attrNameLst>
                                      </p:cBhvr>
                                      <p:to>
                                        <p:strVal val="hidden"/>
                                      </p:to>
                                    </p:set>
                                  </p:childTnLst>
                                </p:cTn>
                              </p:par>
                              <p:par>
                                <p:cTn id="2906" presetID="10" presetClass="exit" presetSubtype="0" fill="hold" nodeType="withEffect">
                                  <p:stCondLst>
                                    <p:cond delay="0"/>
                                  </p:stCondLst>
                                  <p:childTnLst>
                                    <p:animEffect transition="out" filter="fade">
                                      <p:cBhvr>
                                        <p:cTn id="2907" dur="400"/>
                                        <p:tgtEl>
                                          <p:spTgt spid="41"/>
                                        </p:tgtEl>
                                      </p:cBhvr>
                                    </p:animEffect>
                                    <p:set>
                                      <p:cBhvr>
                                        <p:cTn id="2908" dur="1" fill="hold">
                                          <p:stCondLst>
                                            <p:cond delay="399"/>
                                          </p:stCondLst>
                                        </p:cTn>
                                        <p:tgtEl>
                                          <p:spTgt spid="41"/>
                                        </p:tgtEl>
                                        <p:attrNameLst>
                                          <p:attrName>style.visibility</p:attrName>
                                        </p:attrNameLst>
                                      </p:cBhvr>
                                      <p:to>
                                        <p:strVal val="hidden"/>
                                      </p:to>
                                    </p:set>
                                  </p:childTnLst>
                                </p:cTn>
                              </p:par>
                              <p:par>
                                <p:cTn id="2909" presetID="22" presetClass="entr" presetSubtype="8" fill="hold" nodeType="withEffect">
                                  <p:stCondLst>
                                    <p:cond delay="200"/>
                                  </p:stCondLst>
                                  <p:childTnLst>
                                    <p:set>
                                      <p:cBhvr>
                                        <p:cTn id="2910" dur="1" fill="hold">
                                          <p:stCondLst>
                                            <p:cond delay="0"/>
                                          </p:stCondLst>
                                        </p:cTn>
                                        <p:tgtEl>
                                          <p:spTgt spid="36"/>
                                        </p:tgtEl>
                                        <p:attrNameLst>
                                          <p:attrName>style.visibility</p:attrName>
                                        </p:attrNameLst>
                                      </p:cBhvr>
                                      <p:to>
                                        <p:strVal val="visible"/>
                                      </p:to>
                                    </p:set>
                                    <p:animEffect transition="in" filter="wipe(left)">
                                      <p:cBhvr>
                                        <p:cTn id="2911" dur="500"/>
                                        <p:tgtEl>
                                          <p:spTgt spid="36"/>
                                        </p:tgtEl>
                                      </p:cBhvr>
                                    </p:animEffect>
                                  </p:childTnLst>
                                </p:cTn>
                              </p:par>
                              <p:par>
                                <p:cTn id="2912" presetID="22" presetClass="entr" presetSubtype="8" fill="hold" nodeType="withEffect">
                                  <p:stCondLst>
                                    <p:cond delay="270"/>
                                  </p:stCondLst>
                                  <p:childTnLst>
                                    <p:set>
                                      <p:cBhvr>
                                        <p:cTn id="2913" dur="1" fill="hold">
                                          <p:stCondLst>
                                            <p:cond delay="0"/>
                                          </p:stCondLst>
                                        </p:cTn>
                                        <p:tgtEl>
                                          <p:spTgt spid="37"/>
                                        </p:tgtEl>
                                        <p:attrNameLst>
                                          <p:attrName>style.visibility</p:attrName>
                                        </p:attrNameLst>
                                      </p:cBhvr>
                                      <p:to>
                                        <p:strVal val="visible"/>
                                      </p:to>
                                    </p:set>
                                    <p:animEffect transition="in" filter="wipe(left)">
                                      <p:cBhvr>
                                        <p:cTn id="2914" dur="500"/>
                                        <p:tgtEl>
                                          <p:spTgt spid="37"/>
                                        </p:tgtEl>
                                      </p:cBhvr>
                                    </p:animEffect>
                                  </p:childTnLst>
                                </p:cTn>
                              </p:par>
                              <p:par>
                                <p:cTn id="2915" presetID="22" presetClass="entr" presetSubtype="8" fill="hold" nodeType="withEffect">
                                  <p:stCondLst>
                                    <p:cond delay="340"/>
                                  </p:stCondLst>
                                  <p:childTnLst>
                                    <p:set>
                                      <p:cBhvr>
                                        <p:cTn id="2916" dur="1" fill="hold">
                                          <p:stCondLst>
                                            <p:cond delay="0"/>
                                          </p:stCondLst>
                                        </p:cTn>
                                        <p:tgtEl>
                                          <p:spTgt spid="42"/>
                                        </p:tgtEl>
                                        <p:attrNameLst>
                                          <p:attrName>style.visibility</p:attrName>
                                        </p:attrNameLst>
                                      </p:cBhvr>
                                      <p:to>
                                        <p:strVal val="visible"/>
                                      </p:to>
                                    </p:set>
                                    <p:animEffect transition="in" filter="wipe(left)">
                                      <p:cBhvr>
                                        <p:cTn id="2917" dur="500"/>
                                        <p:tgtEl>
                                          <p:spTgt spid="42"/>
                                        </p:tgtEl>
                                      </p:cBhvr>
                                    </p:animEffect>
                                  </p:childTnLst>
                                </p:cTn>
                              </p:par>
                              <p:par>
                                <p:cTn id="2918" presetID="22" presetClass="entr" presetSubtype="8" fill="hold" nodeType="withEffect">
                                  <p:stCondLst>
                                    <p:cond delay="410"/>
                                  </p:stCondLst>
                                  <p:childTnLst>
                                    <p:set>
                                      <p:cBhvr>
                                        <p:cTn id="2919" dur="1" fill="hold">
                                          <p:stCondLst>
                                            <p:cond delay="0"/>
                                          </p:stCondLst>
                                        </p:cTn>
                                        <p:tgtEl>
                                          <p:spTgt spid="43"/>
                                        </p:tgtEl>
                                        <p:attrNameLst>
                                          <p:attrName>style.visibility</p:attrName>
                                        </p:attrNameLst>
                                      </p:cBhvr>
                                      <p:to>
                                        <p:strVal val="visible"/>
                                      </p:to>
                                    </p:set>
                                    <p:animEffect transition="in" filter="wipe(left)">
                                      <p:cBhvr>
                                        <p:cTn id="2920"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SM-24 pierde sensibilidad justo en las bajas frecuencias</a:t>
            </a:r>
            <a:endParaRPr lang="en-US" sz="2200" dirty="0"/>
          </a:p>
        </p:txBody>
      </p:sp>
      <p:pic>
        <p:nvPicPr>
          <p:cNvPr id="3" name="Foto SM-24 [s0]" descr="Foto del geófono SM-24 con carcasa amarilla y punta">    </p:cNvPr>
          <p:cNvPicPr>
            <a:picLocks noChangeAspect="1"/>
          </p:cNvPicPr>
          <p:nvPr/>
        </p:nvPicPr>
        <p:blipFill>
          <a:blip r:embed="rId1"/>
          <a:stretch>
            <a:fillRect/>
          </a:stretch>
        </p:blipFill>
        <p:spPr>
          <a:xfrm>
            <a:off x="966136" y="1641589"/>
            <a:ext cx="1482411" cy="1482411"/>
          </a:xfrm>
          <a:prstGeom prst="rect">
            <a:avLst/>
          </a:prstGeom>
        </p:spPr>
      </p:pic>
      <p:pic>
        <p:nvPicPr>
          <p:cNvPr id="4" name="Corte geófono [s0]" descr="Corte interno de un geófono de bobina móvil: carcasa, resortes, imán y bobinas">    </p:cNvPr>
          <p:cNvPicPr>
            <a:picLocks noChangeAspect="1"/>
          </p:cNvPicPr>
          <p:nvPr/>
        </p:nvPicPr>
        <p:blipFill>
          <a:blip r:embed="rId2"/>
          <a:stretch>
            <a:fillRect/>
          </a:stretch>
        </p:blipFill>
        <p:spPr>
          <a:xfrm>
            <a:off x="2528677" y="1641589"/>
            <a:ext cx="1963193" cy="1482938"/>
          </a:xfrm>
          <a:prstGeom prst="rect">
            <a:avLst/>
          </a:prstGeom>
        </p:spPr>
      </p:pic>
      <p:sp>
        <p:nvSpPr>
          <p:cNvPr id="5" name="Cuerpo [s0]"/>
          <p:cNvSpPr txBox="1"/>
          <p:nvPr/>
        </p:nvSpPr>
        <p:spPr>
          <a:xfrm>
            <a:off x="4732261" y="1641589"/>
            <a:ext cx="3445604" cy="1682737"/>
          </a:xfrm>
          <a:prstGeom prst="rect">
            <a:avLst/>
          </a:prstGeom>
          <a:noFill/>
          <a:ln/>
        </p:spPr>
        <p:txBody>
          <a:bodyPr wrap="square" lIns="0" tIns="0" rIns="0" bIns="0" rtlCol="0" anchor="t"/>
          <a:lstStyle/>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Mide el movimiento vertical del suelo</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Frecuencia natural: 10 Hz ±2,5 %</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Sensibilidad: 28,8 V·s/m ±2,5 %</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En circuito abierto: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ζ</m:t>
                    </m:r>
                    <m:r>
                      <m:rPr>
                        <m:sty m:val="p"/>
                      </m:rPr>
                      <a:rPr lang="es-ES" sz="1260">
                        <a:solidFill>
                          <a:srgbClr val="2D2D2D"/>
                        </a:solidFill>
                        <a:latin typeface="Cambria Math" panose="02040503050406030204" pitchFamily="18" charset="0"/>
                      </a:rPr>
                      <m:t xml:space="preserve">≈</m:t>
                    </m:r>
                    <m:r>
                      <m:rPr>
                        <m:sty m:val="p"/>
                      </m:rPr>
                      <a:rPr lang="es-ES" sz="1260">
                        <a:solidFill>
                          <a:srgbClr val="2D2D2D"/>
                        </a:solidFill>
                        <a:latin typeface="Cambria Math" panose="02040503050406030204" pitchFamily="18" charset="0"/>
                      </a:rPr>
                      <m:t xml:space="preserve">0,25</m:t>
                    </m:r>
                  </m:oMath>
                </a14:m>
              </mc:Choice>
              <mc:Fallback>
                <a:r>
                  <a:rPr lang="en-US" sz="1260" dirty="0">
                    <a:solidFill>
                      <a:srgbClr val="2D2D2D"/>
                    </a:solidFill>
                    <a:latin typeface="Arial" pitchFamily="34" charset="0"/>
                    <a:ea typeface="Arial" pitchFamily="34" charset="-122"/>
                    <a:cs typeface="Arial" pitchFamily="34" charset="-120"/>
                  </a:rPr>
                  <a:t>ζ ≈ 0,25</a:t>
                </a:r>
              </mc:Fallback>
            </mc:AlternateContent>
            <a:r>
              <a:rPr lang="en-US" sz="1260" dirty="0">
                <a:solidFill>
                  <a:srgbClr val="2D2D2D"/>
                </a:solidFill>
                <a:latin typeface="Arial" pitchFamily="34" charset="0"/>
                <a:ea typeface="Arial" pitchFamily="34" charset="-122"/>
                <a:cs typeface="Arial" pitchFamily="34" charset="-120"/>
              </a:rPr>
              <a:t>; con 1339 Ω de carga: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ζ</m:t>
                    </m:r>
                    <m:r>
                      <m:rPr>
                        <m:sty m:val="p"/>
                      </m:rPr>
                      <a:rPr lang="es-ES" sz="1260">
                        <a:solidFill>
                          <a:srgbClr val="2D2D2D"/>
                        </a:solidFill>
                        <a:latin typeface="Cambria Math" panose="02040503050406030204" pitchFamily="18" charset="0"/>
                      </a:rPr>
                      <m:t xml:space="preserve">=</m:t>
                    </m:r>
                    <m:r>
                      <m:rPr>
                        <m:sty m:val="p"/>
                      </m:rPr>
                      <a:rPr lang="es-ES" sz="1260">
                        <a:solidFill>
                          <a:srgbClr val="2D2D2D"/>
                        </a:solidFill>
                        <a:latin typeface="Cambria Math" panose="02040503050406030204" pitchFamily="18" charset="0"/>
                      </a:rPr>
                      <m:t xml:space="preserve">0,60</m:t>
                    </m:r>
                  </m:oMath>
                </a14:m>
              </mc:Choice>
              <mc:Fallback>
                <a:r>
                  <a:rPr lang="en-US" sz="1260" dirty="0">
                    <a:solidFill>
                      <a:srgbClr val="2D2D2D"/>
                    </a:solidFill>
                    <a:latin typeface="Arial" pitchFamily="34" charset="0"/>
                    <a:ea typeface="Arial" pitchFamily="34" charset="-122"/>
                    <a:cs typeface="Arial" pitchFamily="34" charset="-120"/>
                  </a:rPr>
                  <a:t>ζ = 0,60</a:t>
                </a:r>
              </mc:Fallback>
            </mc:AlternateContent>
            <a:endParaRPr lang="en-US" sz="1260" dirty="0"/>
          </a:p>
        </p:txBody>
      </p:sp>
      <p:sp>
        <p:nvSpPr>
          <p:cNvPr id="6" name="Fondo E_zeta [s0]"/>
          <p:cNvSpPr/>
          <p:nvPr/>
        </p:nvSpPr>
        <p:spPr>
          <a:xfrm>
            <a:off x="966136" y="3364390"/>
            <a:ext cx="721172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7" name="Ecuación E_zeta [s0]"/>
              <p:cNvSpPr txBox="1"/>
              <p:nvPr/>
            </p:nvSpPr>
            <p:spPr>
              <a:xfrm>
                <a:off x="966136" y="3364390"/>
                <a:ext cx="721172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000" i="1">
                          <a:solidFill>
                            <a:srgbClr val="1F4E79"/>
                          </a:solidFill>
                          <a:latin typeface="Cambria Math" panose="02040503050406030204" pitchFamily="18" charset="0"/>
                        </a:rPr>
                        <m:t xml:space="preserve">ζ=</m:t>
                      </m:r>
                      <m:f>
                        <m:fPr>
                          <m:ctrlPr>
                            <a:rPr lang="es-ES" sz="2000" i="1">
                              <a:latin typeface="Cambria Math" panose="02040503050406030204" pitchFamily="18" charset="0"/>
                            </a:rPr>
                          </m:ctrlPr>
                        </m:fPr>
                        <m:num>
                          <m:r>
                            <a:rPr lang="es-ES" sz="2000" i="1">
                              <a:solidFill>
                                <a:srgbClr val="1F4E79"/>
                              </a:solidFill>
                              <a:latin typeface="Cambria Math" panose="02040503050406030204" pitchFamily="18" charset="0"/>
                            </a:rPr>
                            <m:t xml:space="preserve">c</m:t>
                          </m:r>
                        </m:num>
                        <m:den>
                          <m:r>
                            <a:rPr lang="es-ES" sz="2000" i="1">
                              <a:solidFill>
                                <a:srgbClr val="1F4E79"/>
                              </a:solidFill>
                              <a:latin typeface="Cambria Math" panose="02040503050406030204" pitchFamily="18" charset="0"/>
                            </a:rPr>
                            <m:t xml:space="preserve">2m</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ω</m:t>
                              </m:r>
                            </m:e>
                            <m:sub>
                              <m:r>
                                <a:rPr lang="es-ES" sz="2000" i="1">
                                  <a:solidFill>
                                    <a:srgbClr val="1F4E79"/>
                                  </a:solidFill>
                                  <a:latin typeface="Cambria Math" panose="02040503050406030204" pitchFamily="18" charset="0"/>
                                </a:rPr>
                                <m:t xml:space="preserve">n</m:t>
                              </m:r>
                            </m:sub>
                          </m:sSub>
                        </m:den>
                      </m:f>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p>
                            <m:sSupPr>
                              <m:ctrlPr>
                                <a:rPr lang="es-ES" sz="2000" i="1">
                                  <a:latin typeface="Cambria Math" panose="02040503050406030204" pitchFamily="18" charset="0"/>
                                </a:rPr>
                              </m:ctrlPr>
                            </m:sSupPr>
                            <m:e>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G</m:t>
                                  </m:r>
                                </m:e>
                                <m:sub>
                                  <m:r>
                                    <a:rPr lang="es-ES" sz="2000" i="1">
                                      <a:solidFill>
                                        <a:srgbClr val="1F4E79"/>
                                      </a:solidFill>
                                      <a:latin typeface="Cambria Math" panose="02040503050406030204" pitchFamily="18" charset="0"/>
                                    </a:rPr>
                                    <m:t xml:space="preserve">0</m:t>
                                  </m:r>
                                </m:sub>
                              </m:sSub>
                            </m:e>
                            <m:sup>
                              <m:r>
                                <a:rPr lang="es-ES" sz="2000" i="1">
                                  <a:solidFill>
                                    <a:srgbClr val="1F4E79"/>
                                  </a:solidFill>
                                  <a:latin typeface="Cambria Math" panose="02040503050406030204" pitchFamily="18" charset="0"/>
                                </a:rPr>
                                <m:t xml:space="preserve">2</m:t>
                              </m:r>
                            </m:sup>
                          </m:sSup>
                        </m:num>
                        <m:den>
                          <m:r>
                            <a:rPr lang="es-ES" sz="2000" i="1">
                              <a:solidFill>
                                <a:srgbClr val="1F4E79"/>
                              </a:solidFill>
                              <a:latin typeface="Cambria Math" panose="02040503050406030204" pitchFamily="18" charset="0"/>
                            </a:rPr>
                            <m:t xml:space="preserve">2m</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ω</m:t>
                              </m:r>
                            </m:e>
                            <m:sub>
                              <m:r>
                                <a:rPr lang="es-ES" sz="2000" i="1">
                                  <a:solidFill>
                                    <a:srgbClr val="1F4E79"/>
                                  </a:solidFill>
                                  <a:latin typeface="Cambria Math" panose="02040503050406030204" pitchFamily="18" charset="0"/>
                                </a:rPr>
                                <m:t xml:space="preserve">n</m:t>
                              </m:r>
                            </m:sub>
                          </m:sSub>
                          <m:r>
                            <a:rPr lang="es-ES" sz="2000" i="1">
                              <a:solidFill>
                                <a:srgbClr val="1F4E79"/>
                              </a:solidFill>
                              <a:latin typeface="Cambria Math" panose="02040503050406030204" pitchFamily="18" charset="0"/>
                            </a:rPr>
                            <m:t xml:space="preserve">(</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a:rPr lang="es-ES" sz="2000" i="1">
                                  <a:solidFill>
                                    <a:srgbClr val="1F4E79"/>
                                  </a:solidFill>
                                  <a:latin typeface="Cambria Math" panose="02040503050406030204" pitchFamily="18" charset="0"/>
                                </a:rPr>
                                <m:t xml:space="preserve">i</m:t>
                              </m:r>
                            </m:sub>
                          </m:sSub>
                          <m:r>
                            <a:rPr lang="es-ES" sz="2000" i="1">
                              <a:solidFill>
                                <a:srgbClr val="1F4E79"/>
                              </a:solidFill>
                              <a:latin typeface="Cambria Math" panose="02040503050406030204" pitchFamily="18" charset="0"/>
                            </a:rPr>
                            <m:t xml:space="preserve">+</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R</m:t>
                              </m:r>
                            </m:e>
                            <m:sub>
                              <m:r>
                                <a:rPr lang="es-ES" sz="2000" i="1">
                                  <a:solidFill>
                                    <a:srgbClr val="1F4E79"/>
                                  </a:solidFill>
                                  <a:latin typeface="Cambria Math" panose="02040503050406030204" pitchFamily="18" charset="0"/>
                                </a:rPr>
                                <m:t xml:space="preserve">L</m:t>
                              </m:r>
                            </m:sub>
                          </m:sSub>
                          <m:r>
                            <a:rPr lang="es-ES" sz="2000" i="1">
                              <a:solidFill>
                                <a:srgbClr val="1F4E79"/>
                              </a:solidFill>
                              <a:latin typeface="Cambria Math" panose="02040503050406030204" pitchFamily="18" charset="0"/>
                            </a:rPr>
                            <m:t xml:space="preserve">)</m:t>
                          </m:r>
                        </m:den>
                      </m:f>
                    </m:oMath>
                  </m:oMathPara>
                </a14:m>
                <a:endParaRPr lang="es-ES"/>
              </a:p>
            </p:txBody>
          </p:sp>
        </mc:Choice>
        <mc:Fallback>
          <p:sp>
            <p:nvSpPr>
              <p:cNvPr id="7" name="Ecuación E_zeta [s0]"/>
              <p:cNvSpPr txBox="1"/>
              <p:nvPr/>
            </p:nvSpPr>
            <p:spPr>
              <a:xfrm>
                <a:off x="966136" y="3364390"/>
                <a:ext cx="721172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ζ = c/(2mωn) + G0²/(2mωn(Ri + RL))</a:t>
                </a:r>
                <a:endParaRPr lang="en-US" sz="2159" dirty="0"/>
              </a:p>
            </p:txBody>
          </p:sp>
        </mc:Fallback>
      </mc:AlternateContent>
      <p:sp>
        <p:nvSpPr>
          <p:cNvPr id="8" name="Elemento [s0]"/>
          <p:cNvSpPr txBox="1"/>
          <p:nvPr/>
        </p:nvSpPr>
        <p:spPr>
          <a:xfrm>
            <a:off x="966136" y="4125628"/>
            <a:ext cx="7211728" cy="360586"/>
          </a:xfrm>
          <a:prstGeom prst="rect">
            <a:avLst/>
          </a:prstGeom>
          <a:noFill/>
          <a:ln/>
        </p:spPr>
        <p:txBody>
          <a:bodyPr wrap="square" lIns="0" tIns="0" rIns="0" bIns="0" rtlCol="0" anchor="t"/>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170" i="1">
                        <a:solidFill>
                          <a:srgbClr val="6B6B6B"/>
                        </a:solidFill>
                        <a:latin typeface="Cambria Math" panose="02040503050406030204" pitchFamily="18" charset="0"/>
                      </a:rPr>
                      <m:t xml:space="preserve">ζ</m:t>
                    </m:r>
                  </m:oMath>
                </a14:m>
              </mc:Choice>
              <mc:Fallback>
                <a:r>
                  <a:rPr lang="en-US" sz="1170" dirty="0">
                    <a:solidFill>
                      <a:srgbClr val="6B6B6B"/>
                    </a:solidFill>
                    <a:latin typeface="Arial" pitchFamily="34" charset="0"/>
                    <a:ea typeface="Arial" pitchFamily="34" charset="-122"/>
                    <a:cs typeface="Arial" pitchFamily="34" charset="-120"/>
                  </a:rPr>
                  <a:t>ζ</a:t>
                </a:r>
              </mc:Fallback>
            </mc:AlternateContent>
            <a:r>
              <a:rPr lang="en-US" sz="1170" dirty="0">
                <a:solidFill>
                  <a:srgbClr val="6B6B6B"/>
                </a:solidFill>
                <a:latin typeface="Arial" pitchFamily="34" charset="0"/>
                <a:ea typeface="Arial" pitchFamily="34" charset="-122"/>
                <a:cs typeface="Arial" pitchFamily="34" charset="-120"/>
              </a:rPr>
              <a:t>: factor de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170" i="1">
                            <a:latin typeface="Cambria Math" panose="02040503050406030204" pitchFamily="18" charset="0"/>
                          </a:rPr>
                        </m:ctrlPr>
                      </m:sSubPr>
                      <m:e>
                        <m:r>
                          <a:rPr lang="es-ES" sz="1170" i="1">
                            <a:solidFill>
                              <a:srgbClr val="6B6B6B"/>
                            </a:solidFill>
                            <a:latin typeface="Cambria Math" panose="02040503050406030204" pitchFamily="18" charset="0"/>
                          </a:rPr>
                          <m:t xml:space="preserve">R</m:t>
                        </m:r>
                      </m:e>
                      <m:sub>
                        <m:r>
                          <a:rPr lang="es-ES" sz="1170" i="1">
                            <a:solidFill>
                              <a:srgbClr val="6B6B6B"/>
                            </a:solidFill>
                            <a:latin typeface="Cambria Math" panose="02040503050406030204" pitchFamily="18" charset="0"/>
                          </a:rPr>
                          <m:t xml:space="preserve">i</m:t>
                        </m:r>
                      </m:sub>
                    </m:sSub>
                  </m:oMath>
                </a14:m>
              </mc:Choice>
              <mc:Fallback>
                <a:r>
                  <a:rPr lang="en-US" sz="1170" dirty="0">
                    <a:solidFill>
                      <a:srgbClr val="6B6B6B"/>
                    </a:solidFill>
                    <a:latin typeface="Arial" pitchFamily="34" charset="0"/>
                    <a:ea typeface="Arial" pitchFamily="34" charset="-122"/>
                    <a:cs typeface="Arial" pitchFamily="34" charset="-120"/>
                  </a:rPr>
                  <a:t>Ri</a:t>
                </a:r>
              </mc:Fallback>
            </mc:AlternateContent>
            <a:r>
              <a:rPr lang="en-US" sz="1170" dirty="0">
                <a:solidFill>
                  <a:srgbClr val="6B6B6B"/>
                </a:solidFill>
                <a:latin typeface="Arial" pitchFamily="34" charset="0"/>
                <a:ea typeface="Arial" pitchFamily="34" charset="-122"/>
                <a:cs typeface="Arial" pitchFamily="34" charset="-120"/>
              </a:rPr>
              <a:t>: resistencia de la bobina (375 Ω). </a:t>
            </a:r>
            <mc:AlternateContent xmlns:mc="http://schemas.openxmlformats.org/markup-compatibility/2006">
              <mc:Choice xmlns:a14="http://schemas.microsoft.com/office/drawing/2010/main" Requires="a14">
                <a14:m>
                  <m:oMath xmlns:m="http://schemas.openxmlformats.org/officeDocument/2006/math">
                    <m:sSub>
                      <m:sSubPr>
                        <m:ctrlPr>
                          <a:rPr lang="es-ES" sz="1170" i="1">
                            <a:latin typeface="Cambria Math" panose="02040503050406030204" pitchFamily="18" charset="0"/>
                          </a:rPr>
                        </m:ctrlPr>
                      </m:sSubPr>
                      <m:e>
                        <m:r>
                          <a:rPr lang="es-ES" sz="1170" i="1">
                            <a:solidFill>
                              <a:srgbClr val="6B6B6B"/>
                            </a:solidFill>
                            <a:latin typeface="Cambria Math" panose="02040503050406030204" pitchFamily="18" charset="0"/>
                          </a:rPr>
                          <m:t xml:space="preserve">R</m:t>
                        </m:r>
                      </m:e>
                      <m:sub>
                        <m:r>
                          <a:rPr lang="es-ES" sz="1170" i="1">
                            <a:solidFill>
                              <a:srgbClr val="6B6B6B"/>
                            </a:solidFill>
                            <a:latin typeface="Cambria Math" panose="02040503050406030204" pitchFamily="18" charset="0"/>
                          </a:rPr>
                          <m:t xml:space="preserve">L</m:t>
                        </m:r>
                      </m:sub>
                    </m:sSub>
                  </m:oMath>
                </a14:m>
              </mc:Choice>
              <mc:Fallback>
                <a:r>
                  <a:rPr lang="en-US" sz="1170" dirty="0">
                    <a:solidFill>
                      <a:srgbClr val="6B6B6B"/>
                    </a:solidFill>
                    <a:latin typeface="Arial" pitchFamily="34" charset="0"/>
                    <a:ea typeface="Arial" pitchFamily="34" charset="-122"/>
                    <a:cs typeface="Arial" pitchFamily="34" charset="-120"/>
                  </a:rPr>
                  <a:t>RL</a:t>
                </a:r>
              </mc:Fallback>
            </mc:AlternateContent>
            <a:r>
              <a:rPr lang="en-US" sz="1170" dirty="0">
                <a:solidFill>
                  <a:srgbClr val="6B6B6B"/>
                </a:solidFill>
                <a:latin typeface="Arial" pitchFamily="34" charset="0"/>
                <a:ea typeface="Arial" pitchFamily="34" charset="-122"/>
                <a:cs typeface="Arial" pitchFamily="34" charset="-120"/>
              </a:rPr>
              <a:t>: carga del frente analógico, que también amortigua al sensor.</a:t>
            </a:r>
            <a:endParaRPr lang="en-US" sz="1170" dirty="0"/>
          </a:p>
        </p:txBody>
      </p:sp>
      <p:sp>
        <p:nvSpPr>
          <p:cNvPr id="9" name="Fondo E_urel [s1]"/>
          <p:cNvSpPr/>
          <p:nvPr/>
        </p:nvSpPr>
        <p:spPr>
          <a:xfrm>
            <a:off x="966136" y="1681654"/>
            <a:ext cx="2403909"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0" name="Ecuación E_urel [s1]"/>
              <p:cNvSpPr txBox="1"/>
              <p:nvPr/>
            </p:nvSpPr>
            <p:spPr>
              <a:xfrm>
                <a:off x="966136" y="1681654"/>
                <a:ext cx="2403909"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u=</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x</m:t>
                          </m:r>
                        </m:e>
                        <m:sub>
                          <m:r>
                            <a:rPr lang="es-ES" sz="2200" i="1">
                              <a:solidFill>
                                <a:srgbClr val="1F4E79"/>
                              </a:solidFill>
                              <a:latin typeface="Cambria Math" panose="02040503050406030204" pitchFamily="18" charset="0"/>
                            </a:rPr>
                            <m:t xml:space="preserve">m</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x</m:t>
                          </m:r>
                        </m:e>
                        <m:sub>
                          <m:r>
                            <a:rPr lang="es-ES" sz="2200" i="1">
                              <a:solidFill>
                                <a:srgbClr val="1F4E79"/>
                              </a:solidFill>
                              <a:latin typeface="Cambria Math" panose="02040503050406030204" pitchFamily="18" charset="0"/>
                            </a:rPr>
                            <m:t xml:space="preserve">g</m:t>
                          </m:r>
                        </m:sub>
                      </m:sSub>
                    </m:oMath>
                  </m:oMathPara>
                </a14:m>
                <a:endParaRPr lang="es-ES"/>
              </a:p>
            </p:txBody>
          </p:sp>
        </mc:Choice>
        <mc:Fallback>
          <p:sp>
            <p:nvSpPr>
              <p:cNvPr id="10" name="Ecuación E_urel [s1]"/>
              <p:cNvSpPr txBox="1"/>
              <p:nvPr/>
            </p:nvSpPr>
            <p:spPr>
              <a:xfrm>
                <a:off x="966136" y="1681654"/>
                <a:ext cx="2403909"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u = xm − xg</a:t>
                </a:r>
                <a:endParaRPr lang="en-US" sz="2159" dirty="0"/>
              </a:p>
            </p:txBody>
          </p:sp>
        </mc:Fallback>
      </mc:AlternateContent>
      <p:sp>
        <p:nvSpPr>
          <p:cNvPr id="11" name="Fondo E_mech [s1]"/>
          <p:cNvSpPr/>
          <p:nvPr/>
        </p:nvSpPr>
        <p:spPr>
          <a:xfrm>
            <a:off x="3530306" y="1681654"/>
            <a:ext cx="4647558"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2" name="Ecuación E_mech [s1]"/>
              <p:cNvSpPr txBox="1"/>
              <p:nvPr/>
            </p:nvSpPr>
            <p:spPr>
              <a:xfrm>
                <a:off x="3530306" y="1681654"/>
                <a:ext cx="4647558"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m</m:t>
                      </m:r>
                      <m:acc>
                        <m:accPr>
                          <m:chr m:val="̈"/>
                          <m:ctrlPr>
                            <a:rPr lang="es-ES" sz="2200" i="1">
                              <a:latin typeface="Cambria Math" panose="02040503050406030204" pitchFamily="18" charset="0"/>
                            </a:rPr>
                          </m:ctrlPr>
                        </m:accPr>
                        <m:e>
                          <m:r>
                            <a:rPr lang="es-ES" sz="2200" i="1">
                              <a:solidFill>
                                <a:srgbClr val="1F4E79"/>
                              </a:solidFill>
                              <a:latin typeface="Cambria Math" panose="02040503050406030204" pitchFamily="18" charset="0"/>
                            </a:rPr>
                            <m:t xml:space="preserve">u</m:t>
                          </m:r>
                        </m:e>
                      </m:acc>
                      <m:r>
                        <a:rPr lang="es-ES" sz="2200" i="1">
                          <a:solidFill>
                            <a:srgbClr val="1F4E79"/>
                          </a:solidFill>
                          <a:latin typeface="Cambria Math" panose="02040503050406030204" pitchFamily="18" charset="0"/>
                        </a:rPr>
                        <m:t xml:space="preserve">+c</m:t>
                      </m:r>
                      <m:acc>
                        <m:accPr>
                          <m:chr m:val="̇"/>
                          <m:ctrlPr>
                            <a:rPr lang="es-ES" sz="2200" i="1">
                              <a:latin typeface="Cambria Math" panose="02040503050406030204" pitchFamily="18" charset="0"/>
                            </a:rPr>
                          </m:ctrlPr>
                        </m:accPr>
                        <m:e>
                          <m:r>
                            <a:rPr lang="es-ES" sz="2200" i="1">
                              <a:solidFill>
                                <a:srgbClr val="1F4E79"/>
                              </a:solidFill>
                              <a:latin typeface="Cambria Math" panose="02040503050406030204" pitchFamily="18" charset="0"/>
                            </a:rPr>
                            <m:t xml:space="preserve">u</m:t>
                          </m:r>
                        </m:e>
                      </m:acc>
                      <m:r>
                        <a:rPr lang="es-ES" sz="2200" i="1">
                          <a:solidFill>
                            <a:srgbClr val="1F4E79"/>
                          </a:solidFill>
                          <a:latin typeface="Cambria Math" panose="02040503050406030204" pitchFamily="18" charset="0"/>
                        </a:rPr>
                        <m:t xml:space="preserve">+ku=−m</m:t>
                      </m:r>
                      <m:sSub>
                        <m:sSubPr>
                          <m:ctrlPr>
                            <a:rPr lang="es-ES" sz="2200" i="1">
                              <a:latin typeface="Cambria Math" panose="02040503050406030204" pitchFamily="18" charset="0"/>
                            </a:rPr>
                          </m:ctrlPr>
                        </m:sSubPr>
                        <m:e>
                          <m:acc>
                            <m:accPr>
                              <m:chr m:val="̈"/>
                              <m:ctrlPr>
                                <a:rPr lang="es-ES" sz="2200" i="1">
                                  <a:latin typeface="Cambria Math" panose="02040503050406030204" pitchFamily="18" charset="0"/>
                                </a:rPr>
                              </m:ctrlPr>
                            </m:accPr>
                            <m:e>
                              <m:r>
                                <a:rPr lang="es-ES" sz="2200" i="1">
                                  <a:solidFill>
                                    <a:srgbClr val="1F4E79"/>
                                  </a:solidFill>
                                  <a:latin typeface="Cambria Math" panose="02040503050406030204" pitchFamily="18" charset="0"/>
                                </a:rPr>
                                <m:t xml:space="preserve">x</m:t>
                              </m:r>
                            </m:e>
                          </m:acc>
                        </m:e>
                        <m:sub>
                          <m:r>
                            <a:rPr lang="es-ES" sz="2200" i="1">
                              <a:solidFill>
                                <a:srgbClr val="1F4E79"/>
                              </a:solidFill>
                              <a:latin typeface="Cambria Math" panose="02040503050406030204" pitchFamily="18" charset="0"/>
                            </a:rPr>
                            <m:t xml:space="preserve">g</m:t>
                          </m:r>
                        </m:sub>
                      </m:sSub>
                    </m:oMath>
                  </m:oMathPara>
                </a14:m>
                <a:endParaRPr lang="es-ES"/>
              </a:p>
            </p:txBody>
          </p:sp>
        </mc:Choice>
        <mc:Fallback>
          <p:sp>
            <p:nvSpPr>
              <p:cNvPr id="12" name="Ecuación E_mech [s1]"/>
              <p:cNvSpPr txBox="1"/>
              <p:nvPr/>
            </p:nvSpPr>
            <p:spPr>
              <a:xfrm>
                <a:off x="3530306" y="1681654"/>
                <a:ext cx="4647558"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m ü + c u̇ + k u = −m ẍg</a:t>
                </a:r>
                <a:endParaRPr lang="en-US" sz="2159" dirty="0"/>
              </a:p>
            </p:txBody>
          </p:sp>
        </mc:Fallback>
      </mc:AlternateContent>
      <p:sp>
        <p:nvSpPr>
          <p:cNvPr id="13" name="Cuerpo [s1]"/>
          <p:cNvSpPr txBox="1"/>
          <p:nvPr/>
        </p:nvSpPr>
        <p:spPr>
          <a:xfrm>
            <a:off x="966136" y="2523022"/>
            <a:ext cx="7211728" cy="1201955"/>
          </a:xfrm>
          <a:prstGeom prst="rect">
            <a:avLst/>
          </a:prstGeom>
          <a:noFill/>
          <a:ln/>
        </p:spPr>
        <p:txBody>
          <a:bodyPr wrap="square" lIns="0" tIns="0" rIns="0" bIns="0" rtlCol="0" anchor="t"/>
          <a:lstStyle/>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440" dirty="0"/>
          </a:p>
          <a:p>
            <a:pPr marL="342900" indent="-342900">
              <a:spcAft>
                <a:spcPts val="540"/>
              </a:spcAft>
              <a:buSzPct val="100000"/>
              <a:buChar char="•"/>
            </a:pPr>
            <a:r>
              <a:rPr lang="en-US" sz="144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440" dirty="0"/>
          </a:p>
        </p:txBody>
      </p:sp>
      <p:sp>
        <p:nvSpPr>
          <p:cNvPr id="14" name="Fondo E_vo [s1]"/>
          <p:cNvSpPr/>
          <p:nvPr/>
        </p:nvSpPr>
        <p:spPr>
          <a:xfrm>
            <a:off x="2969394" y="3805107"/>
            <a:ext cx="3205213" cy="60097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5" name="Ecuación E_vo [s1]"/>
              <p:cNvSpPr txBox="1"/>
              <p:nvPr/>
            </p:nvSpPr>
            <p:spPr>
              <a:xfrm>
                <a:off x="2969394" y="3805107"/>
                <a:ext cx="3205213" cy="60097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V</m:t>
                          </m:r>
                        </m:e>
                        <m:sub>
                          <m:r>
                            <m:rPr>
                              <m:sty m:val="p"/>
                            </m:rPr>
                            <a:rPr lang="es-ES" sz="2200">
                              <a:solidFill>
                                <a:srgbClr val="1F4E79"/>
                              </a:solidFill>
                              <a:latin typeface="Cambria Math" panose="02040503050406030204" pitchFamily="18" charset="0"/>
                            </a:rPr>
                            <m:t xml:space="preserve">o</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acc>
                        <m:accPr>
                          <m:chr m:val="̇"/>
                          <m:ctrlPr>
                            <a:rPr lang="es-ES" sz="2200" i="1">
                              <a:latin typeface="Cambria Math" panose="02040503050406030204" pitchFamily="18" charset="0"/>
                            </a:rPr>
                          </m:ctrlPr>
                        </m:accPr>
                        <m:e>
                          <m:r>
                            <a:rPr lang="es-ES" sz="2200" i="1">
                              <a:solidFill>
                                <a:srgbClr val="1F4E79"/>
                              </a:solidFill>
                              <a:latin typeface="Cambria Math" panose="02040503050406030204" pitchFamily="18" charset="0"/>
                            </a:rPr>
                            <m:t xml:space="preserve">u</m:t>
                          </m:r>
                        </m:e>
                      </m:acc>
                    </m:oMath>
                  </m:oMathPara>
                </a14:m>
                <a:endParaRPr lang="es-ES"/>
              </a:p>
            </p:txBody>
          </p:sp>
        </mc:Choice>
        <mc:Fallback>
          <p:sp>
            <p:nvSpPr>
              <p:cNvPr id="15" name="Ecuación E_vo [s1]"/>
              <p:cNvSpPr txBox="1"/>
              <p:nvPr/>
            </p:nvSpPr>
            <p:spPr>
              <a:xfrm>
                <a:off x="2969394" y="3805107"/>
                <a:ext cx="3205213" cy="600977"/>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Vo = G0 u̇</a:t>
                </a:r>
                <a:endParaRPr lang="en-US" sz="2159" dirty="0"/>
              </a:p>
            </p:txBody>
          </p:sp>
        </mc:Fallback>
      </mc:AlternateContent>
      <p:pic>
        <p:nvPicPr>
          <p:cNvPr id="16" name="Respuesta SM-24 [s2]" descr="Respuesta nominal del SM-24 referida a velocidad y a aceleración del terreno, con frecuencia natural de 10 Hz">    </p:cNvPr>
          <p:cNvPicPr>
            <a:picLocks noChangeAspect="1"/>
          </p:cNvPicPr>
          <p:nvPr/>
        </p:nvPicPr>
        <p:blipFill>
          <a:blip r:embed="rId3"/>
          <a:stretch>
            <a:fillRect/>
          </a:stretch>
        </p:blipFill>
        <p:spPr>
          <a:xfrm>
            <a:off x="1607178" y="1561458"/>
            <a:ext cx="5929643" cy="2164639"/>
          </a:xfrm>
          <a:prstGeom prst="rect">
            <a:avLst/>
          </a:prstGeom>
        </p:spPr>
      </p:pic>
      <p:sp>
        <p:nvSpPr>
          <p:cNvPr id="17" name="Fondo E_ha [s2]"/>
          <p:cNvSpPr/>
          <p:nvPr/>
        </p:nvSpPr>
        <p:spPr>
          <a:xfrm>
            <a:off x="2328351" y="3805107"/>
            <a:ext cx="4487298"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Ecuación E_ha [s2]"/>
              <p:cNvSpPr txBox="1"/>
              <p:nvPr/>
            </p:nvSpPr>
            <p:spPr>
              <a:xfrm>
                <a:off x="2328351" y="3805107"/>
                <a:ext cx="4487298"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H</m:t>
                          </m:r>
                        </m:e>
                        <m:sub>
                          <m:r>
                            <a:rPr lang="es-ES" sz="2200" i="1">
                              <a:solidFill>
                                <a:srgbClr val="1F4E79"/>
                              </a:solidFill>
                              <a:latin typeface="Cambria Math" panose="02040503050406030204" pitchFamily="18" charset="0"/>
                            </a:rPr>
                            <m:t xml:space="preserve">a</m:t>
                          </m:r>
                        </m:sub>
                      </m:sSub>
                      <m:r>
                        <a:rPr lang="es-ES" sz="2200" i="1">
                          <a:solidFill>
                            <a:srgbClr val="1F4E79"/>
                          </a:solidFill>
                          <a:latin typeface="Cambria Math" panose="02040503050406030204" pitchFamily="18" charset="0"/>
                        </a:rPr>
                        <m:t xml:space="preserve">(s)=−</m:t>
                      </m:r>
                      <m:f>
                        <m:fPr>
                          <m:ctrlPr>
                            <a:rPr lang="es-ES" sz="2200" i="1">
                              <a:latin typeface="Cambria Math" panose="02040503050406030204" pitchFamily="18" charset="0"/>
                            </a:rPr>
                          </m:ctrlPr>
                        </m:fPr>
                        <m:num>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r>
                            <a:rPr lang="es-ES" sz="2200" i="1">
                              <a:solidFill>
                                <a:srgbClr val="1F4E79"/>
                              </a:solidFill>
                              <a:latin typeface="Cambria Math" panose="02040503050406030204" pitchFamily="18" charset="0"/>
                            </a:rPr>
                            <m:t xml:space="preserve">s</m:t>
                          </m:r>
                        </m:num>
                        <m:den>
                          <m:sSup>
                            <m:sSupPr>
                              <m:ctrlPr>
                                <a:rPr lang="es-ES" sz="2200" i="1">
                                  <a:latin typeface="Cambria Math" panose="02040503050406030204" pitchFamily="18" charset="0"/>
                                </a:rPr>
                              </m:ctrlPr>
                            </m:sSupPr>
                            <m:e>
                              <m:r>
                                <a:rPr lang="es-ES" sz="2200" i="1">
                                  <a:solidFill>
                                    <a:srgbClr val="1F4E79"/>
                                  </a:solidFill>
                                  <a:latin typeface="Cambria Math" panose="02040503050406030204" pitchFamily="18" charset="0"/>
                                </a:rPr>
                                <m:t xml:space="preserve">s</m:t>
                              </m:r>
                            </m:e>
                            <m:sup>
                              <m:r>
                                <a:rPr lang="es-ES" sz="2200" i="1">
                                  <a:solidFill>
                                    <a:srgbClr val="1F4E79"/>
                                  </a:solidFill>
                                  <a:latin typeface="Cambria Math" panose="02040503050406030204" pitchFamily="18" charset="0"/>
                                </a:rPr>
                                <m:t xml:space="preserve">2</m:t>
                              </m:r>
                            </m:sup>
                          </m:sSup>
                          <m:r>
                            <a:rPr lang="es-ES" sz="2200" i="1">
                              <a:solidFill>
                                <a:srgbClr val="1F4E79"/>
                              </a:solidFill>
                              <a:latin typeface="Cambria Math" panose="02040503050406030204" pitchFamily="18" charset="0"/>
                            </a:rPr>
                            <m:t xml:space="preserve">+2ζ</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s+</m:t>
                          </m:r>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e>
                            <m:sup>
                              <m:r>
                                <a:rPr lang="es-ES" sz="2200" i="1">
                                  <a:solidFill>
                                    <a:srgbClr val="1F4E79"/>
                                  </a:solidFill>
                                  <a:latin typeface="Cambria Math" panose="02040503050406030204" pitchFamily="18" charset="0"/>
                                </a:rPr>
                                <m:t xml:space="preserve">2</m:t>
                              </m:r>
                            </m:sup>
                          </m:sSup>
                        </m:den>
                      </m:f>
                    </m:oMath>
                  </m:oMathPara>
                </a14:m>
                <a:endParaRPr lang="es-ES"/>
              </a:p>
            </p:txBody>
          </p:sp>
        </mc:Choice>
        <mc:Fallback>
          <p:sp>
            <p:nvSpPr>
              <p:cNvPr id="18" name="Ecuación E_ha [s2]"/>
              <p:cNvSpPr txBox="1"/>
              <p:nvPr/>
            </p:nvSpPr>
            <p:spPr>
              <a:xfrm>
                <a:off x="2328351" y="3805107"/>
                <a:ext cx="4487298"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Ha(s) = −G0·s / (s² + 2ζωn·s + ωn²)</a:t>
                </a:r>
                <a:endParaRPr lang="en-US" sz="2159" dirty="0"/>
              </a:p>
            </p:txBody>
          </p:sp>
        </mc:Fallback>
      </mc:AlternateContent>
      <p:sp>
        <p:nvSpPr>
          <p:cNvPr id="19" name="Cabecera Geófono de 4,5 Hz [s3]"/>
          <p:cNvSpPr/>
          <p:nvPr/>
        </p:nvSpPr>
        <p:spPr>
          <a:xfrm>
            <a:off x="966136" y="1681654"/>
            <a:ext cx="1762867" cy="440717"/>
          </a:xfrm>
          <a:prstGeom prst="rect">
            <a:avLst/>
          </a:prstGeom>
          <a:solidFill>
            <a:srgbClr val="6B6B6B"/>
          </a:solidFill>
          <a:ln w="6350">
            <a:solidFill>
              <a:srgbClr val="6B6B6B"/>
            </a:solidFill>
            <a:prstDash val="solid"/>
          </a:ln>
        </p:spPr>
      </p:sp>
      <p:sp>
        <p:nvSpPr>
          <p:cNvPr id="20" name="Elemento [s3]"/>
          <p:cNvSpPr txBox="1"/>
          <p:nvPr/>
        </p:nvSpPr>
        <p:spPr>
          <a:xfrm>
            <a:off x="966136" y="1681654"/>
            <a:ext cx="1762867" cy="440717"/>
          </a:xfrm>
          <a:prstGeom prst="rect">
            <a:avLst/>
          </a:prstGeom>
          <a:noFill/>
          <a:ln/>
        </p:spPr>
        <p:txBody>
          <a:bodyPr wrap="square" lIns="0" tIns="0" rIns="0" bIns="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Geófono de 4,5 Hz</a:t>
            </a:r>
            <a:endParaRPr lang="en-US" sz="1440" dirty="0"/>
          </a:p>
        </p:txBody>
      </p:sp>
      <p:sp>
        <p:nvSpPr>
          <p:cNvPr id="21" name="Tarjeta Geófono de 4,5 Hz [s3]"/>
          <p:cNvSpPr/>
          <p:nvPr/>
        </p:nvSpPr>
        <p:spPr>
          <a:xfrm>
            <a:off x="966136" y="2122371"/>
            <a:ext cx="1762867" cy="961564"/>
          </a:xfrm>
          <a:prstGeom prst="rect">
            <a:avLst/>
          </a:prstGeom>
          <a:solidFill>
            <a:srgbClr val="FFFFFF"/>
          </a:solidFill>
          <a:ln w="16694">
            <a:solidFill>
              <a:srgbClr val="6B6B6B"/>
            </a:solidFill>
            <a:prstDash val="solid"/>
          </a:ln>
        </p:spPr>
      </p:sp>
      <p:sp>
        <p:nvSpPr>
          <p:cNvPr id="22" name="Elemento [s3]"/>
          <p:cNvSpPr txBox="1"/>
          <p:nvPr/>
        </p:nvSpPr>
        <p:spPr>
          <a:xfrm>
            <a:off x="1046266" y="2162436"/>
            <a:ext cx="1602606" cy="881433"/>
          </a:xfrm>
          <a:prstGeom prst="rect">
            <a:avLst/>
          </a:prstGeom>
          <a:noFill/>
          <a:ln/>
        </p:spPr>
        <p:txBody>
          <a:bodyPr wrap="square" lIns="0" tIns="0" rIns="0" bIns="0" rtlCol="0" anchor="ctr"/>
          <a:lstStyle/>
          <a:p>
            <a:pPr algn="ctr" indent="0" marL="0">
              <a:buNone/>
            </a:pPr>
            <a:r>
              <a:rPr lang="en-US" sz="1620" dirty="0">
                <a:solidFill>
                  <a:srgbClr val="2D2D2D"/>
                </a:solidFill>
                <a:latin typeface="Arial" pitchFamily="34" charset="0"/>
                <a:ea typeface="Arial" pitchFamily="34" charset="-122"/>
                <a:cs typeface="Arial" pitchFamily="34" charset="-120"/>
              </a:rPr>
              <a:t>92 a 154 USD por canal</a:t>
            </a:r>
            <a:endParaRPr lang="en-US" sz="1620" dirty="0"/>
          </a:p>
        </p:txBody>
      </p:sp>
      <p:sp>
        <p:nvSpPr>
          <p:cNvPr id="23" name="Cabecera SM-24 de 10 Hz [s3]"/>
          <p:cNvSpPr/>
          <p:nvPr/>
        </p:nvSpPr>
        <p:spPr>
          <a:xfrm>
            <a:off x="2849198" y="1681654"/>
            <a:ext cx="1762867" cy="440717"/>
          </a:xfrm>
          <a:prstGeom prst="rect">
            <a:avLst/>
          </a:prstGeom>
          <a:solidFill>
            <a:srgbClr val="1F4E79"/>
          </a:solidFill>
          <a:ln w="6350">
            <a:solidFill>
              <a:srgbClr val="1F4E79"/>
            </a:solidFill>
            <a:prstDash val="solid"/>
          </a:ln>
        </p:spPr>
      </p:sp>
      <p:sp>
        <p:nvSpPr>
          <p:cNvPr id="24" name="Elemento [s3]"/>
          <p:cNvSpPr txBox="1"/>
          <p:nvPr/>
        </p:nvSpPr>
        <p:spPr>
          <a:xfrm>
            <a:off x="2849198" y="1681654"/>
            <a:ext cx="1762867" cy="440717"/>
          </a:xfrm>
          <a:prstGeom prst="rect">
            <a:avLst/>
          </a:prstGeom>
          <a:noFill/>
          <a:ln/>
        </p:spPr>
        <p:txBody>
          <a:bodyPr wrap="square" lIns="0" tIns="0" rIns="0" bIns="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SM-24 de 10 Hz</a:t>
            </a:r>
            <a:endParaRPr lang="en-US" sz="1440" dirty="0"/>
          </a:p>
        </p:txBody>
      </p:sp>
      <p:sp>
        <p:nvSpPr>
          <p:cNvPr id="25" name="Tarjeta SM-24 de 10 Hz [s3]"/>
          <p:cNvSpPr/>
          <p:nvPr/>
        </p:nvSpPr>
        <p:spPr>
          <a:xfrm>
            <a:off x="2849198" y="2122371"/>
            <a:ext cx="1762867" cy="961564"/>
          </a:xfrm>
          <a:prstGeom prst="rect">
            <a:avLst/>
          </a:prstGeom>
          <a:solidFill>
            <a:srgbClr val="FFFFFF"/>
          </a:solidFill>
          <a:ln w="16694">
            <a:solidFill>
              <a:srgbClr val="1F4E79"/>
            </a:solidFill>
            <a:prstDash val="solid"/>
          </a:ln>
        </p:spPr>
      </p:sp>
      <p:sp>
        <p:nvSpPr>
          <p:cNvPr id="26" name="Elemento [s3]"/>
          <p:cNvSpPr txBox="1"/>
          <p:nvPr/>
        </p:nvSpPr>
        <p:spPr>
          <a:xfrm>
            <a:off x="2929329" y="2162436"/>
            <a:ext cx="1602606" cy="881433"/>
          </a:xfrm>
          <a:prstGeom prst="rect">
            <a:avLst/>
          </a:prstGeom>
          <a:noFill/>
          <a:ln/>
        </p:spPr>
        <p:txBody>
          <a:bodyPr wrap="square" lIns="0" tIns="0" rIns="0" bIns="0" rtlCol="0" anchor="ctr"/>
          <a:lstStyle/>
          <a:p>
            <a:pPr algn="ctr" indent="0" marL="0">
              <a:buNone/>
            </a:pPr>
            <a:r>
              <a:rPr lang="en-US" sz="1620" dirty="0">
                <a:solidFill>
                  <a:srgbClr val="2D2D2D"/>
                </a:solidFill>
                <a:latin typeface="Arial" pitchFamily="34" charset="0"/>
                <a:ea typeface="Arial" pitchFamily="34" charset="-122"/>
                <a:cs typeface="Arial" pitchFamily="34" charset="-120"/>
              </a:rPr>
              <a:t>unos 70 USD por canal</a:t>
            </a:r>
            <a:endParaRPr lang="en-US" sz="1620" dirty="0"/>
          </a:p>
        </p:txBody>
      </p:sp>
      <p:sp>
        <p:nvSpPr>
          <p:cNvPr id="27" name="Cuerpo [s3]"/>
          <p:cNvSpPr txBox="1"/>
          <p:nvPr/>
        </p:nvSpPr>
        <p:spPr>
          <a:xfrm>
            <a:off x="4812391" y="1681654"/>
            <a:ext cx="3365473" cy="2644300"/>
          </a:xfrm>
          <a:prstGeom prst="rect">
            <a:avLst/>
          </a:prstGeom>
          <a:noFill/>
          <a:ln/>
        </p:spPr>
        <p:txBody>
          <a:bodyPr wrap="square" lIns="0" tIns="0" rIns="0" bIns="0" rtlCol="0" anchor="t"/>
          <a:lstStyle/>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Menor frecuencia: mayor longitud de onda y mayor profundidad</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620" dirty="0"/>
          </a:p>
        </p:txBody>
      </p:sp>
      <p:sp>
        <p:nvSpPr>
          <p:cNvPr id="28" name="Elemento [s3]"/>
          <p:cNvSpPr txBox="1"/>
          <p:nvPr/>
        </p:nvSpPr>
        <p:spPr>
          <a:xfrm>
            <a:off x="966136" y="3244195"/>
            <a:ext cx="3605864" cy="400652"/>
          </a:xfrm>
          <a:prstGeom prst="rect">
            <a:avLst/>
          </a:prstGeom>
          <a:noFill/>
          <a:ln/>
        </p:spPr>
        <p:txBody>
          <a:bodyPr wrap="square" lIns="0" tIns="0" rIns="0" bIns="0" rtlCol="0" anchor="t"/>
          <a:lstStyle/>
          <a:p>
            <a:pPr indent="0" marL="0">
              <a:buNone/>
            </a:pPr>
            <a:r>
              <a:rPr lang="en-US" sz="1260" dirty="0">
                <a:solidFill>
                  <a:srgbClr val="6B6B6B"/>
                </a:solidFill>
                <a:latin typeface="Arial" pitchFamily="34" charset="0"/>
                <a:ea typeface="Arial" pitchFamily="34" charset="-122"/>
                <a:cs typeface="Arial" pitchFamily="34" charset="-120"/>
              </a:rPr>
              <a:t>Precios de referencia consultados por el autor en 2026.</a:t>
            </a:r>
            <a:endParaRPr lang="en-US" sz="1260" dirty="0"/>
          </a:p>
        </p:txBody>
      </p:sp>
      <p:sp>
        <p:nvSpPr>
          <p:cNvPr id="29"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SM-24 es un geófono vertical pasivo de bobina móvil, y su amortiguamiento depende de la carga</a:t>
            </a:r>
            <a:endParaRPr lang="en-US" sz="1400" dirty="0"/>
          </a:p>
        </p:txBody>
      </p:sp>
      <p:sp>
        <p:nvSpPr>
          <p:cNvPr id="30"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Sensor Nederland B.V. (2006), hoja de datos SM-24; resumen firmado, sec. 4.2, ec. (8). Corte: Breslin (2020), crédito DESY, original sin verificar.</a:t>
            </a:r>
            <a:endParaRPr lang="en-US" sz="800" dirty="0"/>
          </a:p>
        </p:txBody>
      </p:sp>
      <p:sp>
        <p:nvSpPr>
          <p:cNvPr id="31"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masa suspendida se mueve respecto de la carcasa, y ese movimiento relativo genera la tensión</a:t>
            </a:r>
            <a:endParaRPr lang="en-US" sz="1400" dirty="0"/>
          </a:p>
        </p:txBody>
      </p:sp>
      <p:sp>
        <p:nvSpPr>
          <p:cNvPr id="32"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4.2, ec. (7)–(9).</a:t>
            </a:r>
            <a:endParaRPr lang="en-US" sz="800" dirty="0"/>
          </a:p>
        </p:txBody>
      </p:sp>
      <p:sp>
        <p:nvSpPr>
          <p:cNvPr id="33"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Por debajo de su frecuencia natural, la tensión del SM-24 cae rápido: a 1 Hz, unos 40 dB</a:t>
            </a:r>
            <a:endParaRPr lang="en-US" sz="1400" dirty="0"/>
          </a:p>
        </p:txBody>
      </p:sp>
      <p:sp>
        <p:nvSpPr>
          <p:cNvPr id="34"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Modelo propio a partir de Sensor Nederland B.V. (2006), circuito abierto; resumen firmado, fig. 4 y ec. (9).</a:t>
            </a:r>
            <a:endParaRPr lang="en-US" sz="800" dirty="0"/>
          </a:p>
        </p:txBody>
      </p:sp>
      <p:sp>
        <p:nvSpPr>
          <p:cNvPr id="35"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pérdida cae justo en las bajas frecuencias, que son las que llegan más profundo</a:t>
            </a:r>
            <a:endParaRPr lang="en-US" sz="1400" dirty="0"/>
          </a:p>
        </p:txBody>
      </p:sp>
      <p:sp>
        <p:nvSpPr>
          <p:cNvPr id="36"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4.2; SparkFun Electronics (2026); R. T. Clark (2026).</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974" fill="hold">
                      <p:stCondLst>
                        <p:cond delay="indefinite"/>
                      </p:stCondLst>
                      <p:childTnLst>
                        <p:par>
                          <p:cTn id="2975" fill="hold">
                            <p:stCondLst>
                              <p:cond delay="0"/>
                            </p:stCondLst>
                            <p:childTnLst>
                              <p:par>
                                <p:cTn id="2923" presetID="10" presetClass="exit" presetSubtype="0" fill="hold" nodeType="clickEffect">
                                  <p:stCondLst>
                                    <p:cond delay="0"/>
                                  </p:stCondLst>
                                  <p:childTnLst>
                                    <p:animEffect transition="out" filter="fade">
                                      <p:cBhvr>
                                        <p:cTn id="2924" dur="400"/>
                                        <p:tgtEl>
                                          <p:spTgt spid="3"/>
                                        </p:tgtEl>
                                      </p:cBhvr>
                                    </p:animEffect>
                                    <p:set>
                                      <p:cBhvr>
                                        <p:cTn id="2925" dur="1" fill="hold">
                                          <p:stCondLst>
                                            <p:cond delay="399"/>
                                          </p:stCondLst>
                                        </p:cTn>
                                        <p:tgtEl>
                                          <p:spTgt spid="3"/>
                                        </p:tgtEl>
                                        <p:attrNameLst>
                                          <p:attrName>style.visibility</p:attrName>
                                        </p:attrNameLst>
                                      </p:cBhvr>
                                      <p:to>
                                        <p:strVal val="hidden"/>
                                      </p:to>
                                    </p:set>
                                  </p:childTnLst>
                                </p:cTn>
                              </p:par>
                              <p:par>
                                <p:cTn id="2926" presetID="10" presetClass="exit" presetSubtype="0" fill="hold" nodeType="withEffect">
                                  <p:stCondLst>
                                    <p:cond delay="0"/>
                                  </p:stCondLst>
                                  <p:childTnLst>
                                    <p:animEffect transition="out" filter="fade">
                                      <p:cBhvr>
                                        <p:cTn id="2927" dur="400"/>
                                        <p:tgtEl>
                                          <p:spTgt spid="4"/>
                                        </p:tgtEl>
                                      </p:cBhvr>
                                    </p:animEffect>
                                    <p:set>
                                      <p:cBhvr>
                                        <p:cTn id="2928" dur="1" fill="hold">
                                          <p:stCondLst>
                                            <p:cond delay="399"/>
                                          </p:stCondLst>
                                        </p:cTn>
                                        <p:tgtEl>
                                          <p:spTgt spid="4"/>
                                        </p:tgtEl>
                                        <p:attrNameLst>
                                          <p:attrName>style.visibility</p:attrName>
                                        </p:attrNameLst>
                                      </p:cBhvr>
                                      <p:to>
                                        <p:strVal val="hidden"/>
                                      </p:to>
                                    </p:set>
                                  </p:childTnLst>
                                </p:cTn>
                              </p:par>
                              <p:par>
                                <p:cTn id="2929" presetID="10" presetClass="exit" presetSubtype="0" fill="hold" nodeType="withEffect">
                                  <p:stCondLst>
                                    <p:cond delay="0"/>
                                  </p:stCondLst>
                                  <p:childTnLst>
                                    <p:animEffect transition="out" filter="fade">
                                      <p:cBhvr>
                                        <p:cTn id="2930" dur="400"/>
                                        <p:tgtEl>
                                          <p:spTgt spid="5"/>
                                        </p:tgtEl>
                                      </p:cBhvr>
                                    </p:animEffect>
                                    <p:set>
                                      <p:cBhvr>
                                        <p:cTn id="2931" dur="1" fill="hold">
                                          <p:stCondLst>
                                            <p:cond delay="399"/>
                                          </p:stCondLst>
                                        </p:cTn>
                                        <p:tgtEl>
                                          <p:spTgt spid="5"/>
                                        </p:tgtEl>
                                        <p:attrNameLst>
                                          <p:attrName>style.visibility</p:attrName>
                                        </p:attrNameLst>
                                      </p:cBhvr>
                                      <p:to>
                                        <p:strVal val="hidden"/>
                                      </p:to>
                                    </p:set>
                                  </p:childTnLst>
                                </p:cTn>
                              </p:par>
                              <p:par>
                                <p:cTn id="2932" presetID="10" presetClass="exit" presetSubtype="0" fill="hold" nodeType="withEffect">
                                  <p:stCondLst>
                                    <p:cond delay="0"/>
                                  </p:stCondLst>
                                  <p:childTnLst>
                                    <p:animEffect transition="out" filter="fade">
                                      <p:cBhvr>
                                        <p:cTn id="2933" dur="400"/>
                                        <p:tgtEl>
                                          <p:spTgt spid="6"/>
                                        </p:tgtEl>
                                      </p:cBhvr>
                                    </p:animEffect>
                                    <p:set>
                                      <p:cBhvr>
                                        <p:cTn id="2934" dur="1" fill="hold">
                                          <p:stCondLst>
                                            <p:cond delay="399"/>
                                          </p:stCondLst>
                                        </p:cTn>
                                        <p:tgtEl>
                                          <p:spTgt spid="6"/>
                                        </p:tgtEl>
                                        <p:attrNameLst>
                                          <p:attrName>style.visibility</p:attrName>
                                        </p:attrNameLst>
                                      </p:cBhvr>
                                      <p:to>
                                        <p:strVal val="hidden"/>
                                      </p:to>
                                    </p:set>
                                  </p:childTnLst>
                                </p:cTn>
                              </p:par>
                              <p:par>
                                <p:cTn id="2935" presetID="10" presetClass="exit" presetSubtype="0" fill="hold" nodeType="withEffect">
                                  <p:stCondLst>
                                    <p:cond delay="0"/>
                                  </p:stCondLst>
                                  <p:childTnLst>
                                    <p:animEffect transition="out" filter="fade">
                                      <p:cBhvr>
                                        <p:cTn id="2936" dur="400"/>
                                        <p:tgtEl>
                                          <p:spTgt spid="7"/>
                                        </p:tgtEl>
                                      </p:cBhvr>
                                    </p:animEffect>
                                    <p:set>
                                      <p:cBhvr>
                                        <p:cTn id="2937" dur="1" fill="hold">
                                          <p:stCondLst>
                                            <p:cond delay="399"/>
                                          </p:stCondLst>
                                        </p:cTn>
                                        <p:tgtEl>
                                          <p:spTgt spid="7"/>
                                        </p:tgtEl>
                                        <p:attrNameLst>
                                          <p:attrName>style.visibility</p:attrName>
                                        </p:attrNameLst>
                                      </p:cBhvr>
                                      <p:to>
                                        <p:strVal val="hidden"/>
                                      </p:to>
                                    </p:set>
                                  </p:childTnLst>
                                </p:cTn>
                              </p:par>
                              <p:par>
                                <p:cTn id="2938" presetID="10" presetClass="exit" presetSubtype="0" fill="hold" nodeType="withEffect">
                                  <p:stCondLst>
                                    <p:cond delay="0"/>
                                  </p:stCondLst>
                                  <p:childTnLst>
                                    <p:animEffect transition="out" filter="fade">
                                      <p:cBhvr>
                                        <p:cTn id="2939" dur="400"/>
                                        <p:tgtEl>
                                          <p:spTgt spid="8"/>
                                        </p:tgtEl>
                                      </p:cBhvr>
                                    </p:animEffect>
                                    <p:set>
                                      <p:cBhvr>
                                        <p:cTn id="2940" dur="1" fill="hold">
                                          <p:stCondLst>
                                            <p:cond delay="399"/>
                                          </p:stCondLst>
                                        </p:cTn>
                                        <p:tgtEl>
                                          <p:spTgt spid="8"/>
                                        </p:tgtEl>
                                        <p:attrNameLst>
                                          <p:attrName>style.visibility</p:attrName>
                                        </p:attrNameLst>
                                      </p:cBhvr>
                                      <p:to>
                                        <p:strVal val="hidden"/>
                                      </p:to>
                                    </p:set>
                                  </p:childTnLst>
                                </p:cTn>
                              </p:par>
                              <p:par>
                                <p:cTn id="2941" presetID="10" presetClass="exit" presetSubtype="0" fill="hold" nodeType="withEffect">
                                  <p:stCondLst>
                                    <p:cond delay="0"/>
                                  </p:stCondLst>
                                  <p:childTnLst>
                                    <p:animEffect transition="out" filter="fade">
                                      <p:cBhvr>
                                        <p:cTn id="2942" dur="400"/>
                                        <p:tgtEl>
                                          <p:spTgt spid="29"/>
                                        </p:tgtEl>
                                      </p:cBhvr>
                                    </p:animEffect>
                                    <p:set>
                                      <p:cBhvr>
                                        <p:cTn id="2943" dur="1" fill="hold">
                                          <p:stCondLst>
                                            <p:cond delay="399"/>
                                          </p:stCondLst>
                                        </p:cTn>
                                        <p:tgtEl>
                                          <p:spTgt spid="29"/>
                                        </p:tgtEl>
                                        <p:attrNameLst>
                                          <p:attrName>style.visibility</p:attrName>
                                        </p:attrNameLst>
                                      </p:cBhvr>
                                      <p:to>
                                        <p:strVal val="hidden"/>
                                      </p:to>
                                    </p:set>
                                  </p:childTnLst>
                                </p:cTn>
                              </p:par>
                              <p:par>
                                <p:cTn id="2944" presetID="10" presetClass="exit" presetSubtype="0" fill="hold" nodeType="withEffect">
                                  <p:stCondLst>
                                    <p:cond delay="0"/>
                                  </p:stCondLst>
                                  <p:childTnLst>
                                    <p:animEffect transition="out" filter="fade">
                                      <p:cBhvr>
                                        <p:cTn id="2945" dur="400"/>
                                        <p:tgtEl>
                                          <p:spTgt spid="30"/>
                                        </p:tgtEl>
                                      </p:cBhvr>
                                    </p:animEffect>
                                    <p:set>
                                      <p:cBhvr>
                                        <p:cTn id="2946" dur="1" fill="hold">
                                          <p:stCondLst>
                                            <p:cond delay="399"/>
                                          </p:stCondLst>
                                        </p:cTn>
                                        <p:tgtEl>
                                          <p:spTgt spid="30"/>
                                        </p:tgtEl>
                                        <p:attrNameLst>
                                          <p:attrName>style.visibility</p:attrName>
                                        </p:attrNameLst>
                                      </p:cBhvr>
                                      <p:to>
                                        <p:strVal val="hidden"/>
                                      </p:to>
                                    </p:set>
                                  </p:childTnLst>
                                </p:cTn>
                              </p:par>
                              <p:par>
                                <p:cTn id="2947" presetID="10" presetClass="entr" presetSubtype="0" fill="hold" nodeType="withEffect">
                                  <p:stCondLst>
                                    <p:cond delay="200"/>
                                  </p:stCondLst>
                                  <p:childTnLst>
                                    <p:set>
                                      <p:cBhvr>
                                        <p:cTn id="2948" dur="1" fill="hold">
                                          <p:stCondLst>
                                            <p:cond delay="0"/>
                                          </p:stCondLst>
                                        </p:cTn>
                                        <p:tgtEl>
                                          <p:spTgt spid="9"/>
                                        </p:tgtEl>
                                        <p:attrNameLst>
                                          <p:attrName>style.visibility</p:attrName>
                                        </p:attrNameLst>
                                      </p:cBhvr>
                                      <p:to>
                                        <p:strVal val="visible"/>
                                      </p:to>
                                    </p:set>
                                    <p:animEffect transition="in" filter="fade">
                                      <p:cBhvr>
                                        <p:cTn id="2949" dur="500"/>
                                        <p:tgtEl>
                                          <p:spTgt spid="9"/>
                                        </p:tgtEl>
                                      </p:cBhvr>
                                    </p:animEffect>
                                  </p:childTnLst>
                                </p:cTn>
                              </p:par>
                              <p:par>
                                <p:cTn id="2950" presetID="10" presetClass="entr" presetSubtype="0" fill="hold" nodeType="withEffect">
                                  <p:stCondLst>
                                    <p:cond delay="270"/>
                                  </p:stCondLst>
                                  <p:childTnLst>
                                    <p:set>
                                      <p:cBhvr>
                                        <p:cTn id="2951" dur="1" fill="hold">
                                          <p:stCondLst>
                                            <p:cond delay="0"/>
                                          </p:stCondLst>
                                        </p:cTn>
                                        <p:tgtEl>
                                          <p:spTgt spid="10"/>
                                        </p:tgtEl>
                                        <p:attrNameLst>
                                          <p:attrName>style.visibility</p:attrName>
                                        </p:attrNameLst>
                                      </p:cBhvr>
                                      <p:to>
                                        <p:strVal val="visible"/>
                                      </p:to>
                                    </p:set>
                                    <p:animEffect transition="in" filter="fade">
                                      <p:cBhvr>
                                        <p:cTn id="2952" dur="500"/>
                                        <p:tgtEl>
                                          <p:spTgt spid="10"/>
                                        </p:tgtEl>
                                      </p:cBhvr>
                                    </p:animEffect>
                                  </p:childTnLst>
                                </p:cTn>
                              </p:par>
                              <p:par>
                                <p:cTn id="2953" presetID="10" presetClass="entr" presetSubtype="0" fill="hold" nodeType="withEffect">
                                  <p:stCondLst>
                                    <p:cond delay="340"/>
                                  </p:stCondLst>
                                  <p:childTnLst>
                                    <p:set>
                                      <p:cBhvr>
                                        <p:cTn id="2954" dur="1" fill="hold">
                                          <p:stCondLst>
                                            <p:cond delay="0"/>
                                          </p:stCondLst>
                                        </p:cTn>
                                        <p:tgtEl>
                                          <p:spTgt spid="11"/>
                                        </p:tgtEl>
                                        <p:attrNameLst>
                                          <p:attrName>style.visibility</p:attrName>
                                        </p:attrNameLst>
                                      </p:cBhvr>
                                      <p:to>
                                        <p:strVal val="visible"/>
                                      </p:to>
                                    </p:set>
                                    <p:animEffect transition="in" filter="fade">
                                      <p:cBhvr>
                                        <p:cTn id="2955" dur="500"/>
                                        <p:tgtEl>
                                          <p:spTgt spid="11"/>
                                        </p:tgtEl>
                                      </p:cBhvr>
                                    </p:animEffect>
                                  </p:childTnLst>
                                </p:cTn>
                              </p:par>
                              <p:par>
                                <p:cTn id="2956" presetID="10" presetClass="entr" presetSubtype="0" fill="hold" nodeType="withEffect">
                                  <p:stCondLst>
                                    <p:cond delay="410"/>
                                  </p:stCondLst>
                                  <p:childTnLst>
                                    <p:set>
                                      <p:cBhvr>
                                        <p:cTn id="2957" dur="1" fill="hold">
                                          <p:stCondLst>
                                            <p:cond delay="0"/>
                                          </p:stCondLst>
                                        </p:cTn>
                                        <p:tgtEl>
                                          <p:spTgt spid="12"/>
                                        </p:tgtEl>
                                        <p:attrNameLst>
                                          <p:attrName>style.visibility</p:attrName>
                                        </p:attrNameLst>
                                      </p:cBhvr>
                                      <p:to>
                                        <p:strVal val="visible"/>
                                      </p:to>
                                    </p:set>
                                    <p:animEffect transition="in" filter="fade">
                                      <p:cBhvr>
                                        <p:cTn id="2958" dur="500"/>
                                        <p:tgtEl>
                                          <p:spTgt spid="12"/>
                                        </p:tgtEl>
                                      </p:cBhvr>
                                    </p:animEffect>
                                  </p:childTnLst>
                                </p:cTn>
                              </p:par>
                              <p:par>
                                <p:cTn id="2959" presetID="10" presetClass="entr" presetSubtype="0" fill="hold" nodeType="withEffect">
                                  <p:stCondLst>
                                    <p:cond delay="480"/>
                                  </p:stCondLst>
                                  <p:childTnLst>
                                    <p:set>
                                      <p:cBhvr>
                                        <p:cTn id="2960" dur="1" fill="hold">
                                          <p:stCondLst>
                                            <p:cond delay="0"/>
                                          </p:stCondLst>
                                        </p:cTn>
                                        <p:tgtEl>
                                          <p:spTgt spid="13"/>
                                        </p:tgtEl>
                                        <p:attrNameLst>
                                          <p:attrName>style.visibility</p:attrName>
                                        </p:attrNameLst>
                                      </p:cBhvr>
                                      <p:to>
                                        <p:strVal val="visible"/>
                                      </p:to>
                                    </p:set>
                                    <p:animEffect transition="in" filter="fade">
                                      <p:cBhvr>
                                        <p:cTn id="2961" dur="500"/>
                                        <p:tgtEl>
                                          <p:spTgt spid="13"/>
                                        </p:tgtEl>
                                      </p:cBhvr>
                                    </p:animEffect>
                                  </p:childTnLst>
                                </p:cTn>
                              </p:par>
                              <p:par>
                                <p:cTn id="2962" presetID="10" presetClass="entr" presetSubtype="0" fill="hold" nodeType="withEffect">
                                  <p:stCondLst>
                                    <p:cond delay="550"/>
                                  </p:stCondLst>
                                  <p:childTnLst>
                                    <p:set>
                                      <p:cBhvr>
                                        <p:cTn id="2963" dur="1" fill="hold">
                                          <p:stCondLst>
                                            <p:cond delay="0"/>
                                          </p:stCondLst>
                                        </p:cTn>
                                        <p:tgtEl>
                                          <p:spTgt spid="14"/>
                                        </p:tgtEl>
                                        <p:attrNameLst>
                                          <p:attrName>style.visibility</p:attrName>
                                        </p:attrNameLst>
                                      </p:cBhvr>
                                      <p:to>
                                        <p:strVal val="visible"/>
                                      </p:to>
                                    </p:set>
                                    <p:animEffect transition="in" filter="fade">
                                      <p:cBhvr>
                                        <p:cTn id="2964" dur="500"/>
                                        <p:tgtEl>
                                          <p:spTgt spid="14"/>
                                        </p:tgtEl>
                                      </p:cBhvr>
                                    </p:animEffect>
                                  </p:childTnLst>
                                </p:cTn>
                              </p:par>
                              <p:par>
                                <p:cTn id="2965" presetID="10" presetClass="entr" presetSubtype="0" fill="hold" nodeType="withEffect">
                                  <p:stCondLst>
                                    <p:cond delay="620"/>
                                  </p:stCondLst>
                                  <p:childTnLst>
                                    <p:set>
                                      <p:cBhvr>
                                        <p:cTn id="2966" dur="1" fill="hold">
                                          <p:stCondLst>
                                            <p:cond delay="0"/>
                                          </p:stCondLst>
                                        </p:cTn>
                                        <p:tgtEl>
                                          <p:spTgt spid="15"/>
                                        </p:tgtEl>
                                        <p:attrNameLst>
                                          <p:attrName>style.visibility</p:attrName>
                                        </p:attrNameLst>
                                      </p:cBhvr>
                                      <p:to>
                                        <p:strVal val="visible"/>
                                      </p:to>
                                    </p:set>
                                    <p:animEffect transition="in" filter="fade">
                                      <p:cBhvr>
                                        <p:cTn id="2967" dur="500"/>
                                        <p:tgtEl>
                                          <p:spTgt spid="15"/>
                                        </p:tgtEl>
                                      </p:cBhvr>
                                    </p:animEffect>
                                  </p:childTnLst>
                                </p:cTn>
                              </p:par>
                              <p:par>
                                <p:cTn id="2968" presetID="10" presetClass="entr" presetSubtype="0" fill="hold" nodeType="withEffect">
                                  <p:stCondLst>
                                    <p:cond delay="690"/>
                                  </p:stCondLst>
                                  <p:childTnLst>
                                    <p:set>
                                      <p:cBhvr>
                                        <p:cTn id="2969" dur="1" fill="hold">
                                          <p:stCondLst>
                                            <p:cond delay="0"/>
                                          </p:stCondLst>
                                        </p:cTn>
                                        <p:tgtEl>
                                          <p:spTgt spid="31"/>
                                        </p:tgtEl>
                                        <p:attrNameLst>
                                          <p:attrName>style.visibility</p:attrName>
                                        </p:attrNameLst>
                                      </p:cBhvr>
                                      <p:to>
                                        <p:strVal val="visible"/>
                                      </p:to>
                                    </p:set>
                                    <p:animEffect transition="in" filter="fade">
                                      <p:cBhvr>
                                        <p:cTn id="2970" dur="500"/>
                                        <p:tgtEl>
                                          <p:spTgt spid="31"/>
                                        </p:tgtEl>
                                      </p:cBhvr>
                                    </p:animEffect>
                                  </p:childTnLst>
                                </p:cTn>
                              </p:par>
                              <p:par>
                                <p:cTn id="2971" presetID="10" presetClass="entr" presetSubtype="0" fill="hold" nodeType="withEffect">
                                  <p:stCondLst>
                                    <p:cond delay="760"/>
                                  </p:stCondLst>
                                  <p:childTnLst>
                                    <p:set>
                                      <p:cBhvr>
                                        <p:cTn id="2972" dur="1" fill="hold">
                                          <p:stCondLst>
                                            <p:cond delay="0"/>
                                          </p:stCondLst>
                                        </p:cTn>
                                        <p:tgtEl>
                                          <p:spTgt spid="32"/>
                                        </p:tgtEl>
                                        <p:attrNameLst>
                                          <p:attrName>style.visibility</p:attrName>
                                        </p:attrNameLst>
                                      </p:cBhvr>
                                      <p:to>
                                        <p:strVal val="visible"/>
                                      </p:to>
                                    </p:set>
                                    <p:animEffect transition="in" filter="fade">
                                      <p:cBhvr>
                                        <p:cTn id="2973" dur="500"/>
                                        <p:tgtEl>
                                          <p:spTgt spid="32"/>
                                        </p:tgtEl>
                                      </p:cBhvr>
                                    </p:animEffect>
                                  </p:childTnLst>
                                </p:cTn>
                              </p:par>
                            </p:childTnLst>
                          </p:cTn>
                        </p:par>
                      </p:childTnLst>
                    </p:cTn>
                  </p:par>
                  <p:par>
                    <p:cTn id="3018" fill="hold">
                      <p:stCondLst>
                        <p:cond delay="indefinite"/>
                      </p:stCondLst>
                      <p:childTnLst>
                        <p:par>
                          <p:cTn id="3019" fill="hold">
                            <p:stCondLst>
                              <p:cond delay="0"/>
                            </p:stCondLst>
                            <p:childTnLst>
                              <p:par>
                                <p:cTn id="2976" presetID="10" presetClass="exit" presetSubtype="0" fill="hold" nodeType="clickEffect">
                                  <p:stCondLst>
                                    <p:cond delay="0"/>
                                  </p:stCondLst>
                                  <p:childTnLst>
                                    <p:animEffect transition="out" filter="fade">
                                      <p:cBhvr>
                                        <p:cTn id="2977" dur="400"/>
                                        <p:tgtEl>
                                          <p:spTgt spid="9"/>
                                        </p:tgtEl>
                                      </p:cBhvr>
                                    </p:animEffect>
                                    <p:set>
                                      <p:cBhvr>
                                        <p:cTn id="2978" dur="1" fill="hold">
                                          <p:stCondLst>
                                            <p:cond delay="399"/>
                                          </p:stCondLst>
                                        </p:cTn>
                                        <p:tgtEl>
                                          <p:spTgt spid="9"/>
                                        </p:tgtEl>
                                        <p:attrNameLst>
                                          <p:attrName>style.visibility</p:attrName>
                                        </p:attrNameLst>
                                      </p:cBhvr>
                                      <p:to>
                                        <p:strVal val="hidden"/>
                                      </p:to>
                                    </p:set>
                                  </p:childTnLst>
                                </p:cTn>
                              </p:par>
                              <p:par>
                                <p:cTn id="2979" presetID="10" presetClass="exit" presetSubtype="0" fill="hold" nodeType="withEffect">
                                  <p:stCondLst>
                                    <p:cond delay="0"/>
                                  </p:stCondLst>
                                  <p:childTnLst>
                                    <p:animEffect transition="out" filter="fade">
                                      <p:cBhvr>
                                        <p:cTn id="2980" dur="400"/>
                                        <p:tgtEl>
                                          <p:spTgt spid="10"/>
                                        </p:tgtEl>
                                      </p:cBhvr>
                                    </p:animEffect>
                                    <p:set>
                                      <p:cBhvr>
                                        <p:cTn id="2981" dur="1" fill="hold">
                                          <p:stCondLst>
                                            <p:cond delay="399"/>
                                          </p:stCondLst>
                                        </p:cTn>
                                        <p:tgtEl>
                                          <p:spTgt spid="10"/>
                                        </p:tgtEl>
                                        <p:attrNameLst>
                                          <p:attrName>style.visibility</p:attrName>
                                        </p:attrNameLst>
                                      </p:cBhvr>
                                      <p:to>
                                        <p:strVal val="hidden"/>
                                      </p:to>
                                    </p:set>
                                  </p:childTnLst>
                                </p:cTn>
                              </p:par>
                              <p:par>
                                <p:cTn id="2982" presetID="10" presetClass="exit" presetSubtype="0" fill="hold" nodeType="withEffect">
                                  <p:stCondLst>
                                    <p:cond delay="0"/>
                                  </p:stCondLst>
                                  <p:childTnLst>
                                    <p:animEffect transition="out" filter="fade">
                                      <p:cBhvr>
                                        <p:cTn id="2983" dur="400"/>
                                        <p:tgtEl>
                                          <p:spTgt spid="11"/>
                                        </p:tgtEl>
                                      </p:cBhvr>
                                    </p:animEffect>
                                    <p:set>
                                      <p:cBhvr>
                                        <p:cTn id="2984" dur="1" fill="hold">
                                          <p:stCondLst>
                                            <p:cond delay="399"/>
                                          </p:stCondLst>
                                        </p:cTn>
                                        <p:tgtEl>
                                          <p:spTgt spid="11"/>
                                        </p:tgtEl>
                                        <p:attrNameLst>
                                          <p:attrName>style.visibility</p:attrName>
                                        </p:attrNameLst>
                                      </p:cBhvr>
                                      <p:to>
                                        <p:strVal val="hidden"/>
                                      </p:to>
                                    </p:set>
                                  </p:childTnLst>
                                </p:cTn>
                              </p:par>
                              <p:par>
                                <p:cTn id="2985" presetID="10" presetClass="exit" presetSubtype="0" fill="hold" nodeType="withEffect">
                                  <p:stCondLst>
                                    <p:cond delay="0"/>
                                  </p:stCondLst>
                                  <p:childTnLst>
                                    <p:animEffect transition="out" filter="fade">
                                      <p:cBhvr>
                                        <p:cTn id="2986" dur="400"/>
                                        <p:tgtEl>
                                          <p:spTgt spid="12"/>
                                        </p:tgtEl>
                                      </p:cBhvr>
                                    </p:animEffect>
                                    <p:set>
                                      <p:cBhvr>
                                        <p:cTn id="2987" dur="1" fill="hold">
                                          <p:stCondLst>
                                            <p:cond delay="399"/>
                                          </p:stCondLst>
                                        </p:cTn>
                                        <p:tgtEl>
                                          <p:spTgt spid="12"/>
                                        </p:tgtEl>
                                        <p:attrNameLst>
                                          <p:attrName>style.visibility</p:attrName>
                                        </p:attrNameLst>
                                      </p:cBhvr>
                                      <p:to>
                                        <p:strVal val="hidden"/>
                                      </p:to>
                                    </p:set>
                                  </p:childTnLst>
                                </p:cTn>
                              </p:par>
                              <p:par>
                                <p:cTn id="2988" presetID="10" presetClass="exit" presetSubtype="0" fill="hold" nodeType="withEffect">
                                  <p:stCondLst>
                                    <p:cond delay="0"/>
                                  </p:stCondLst>
                                  <p:childTnLst>
                                    <p:animEffect transition="out" filter="fade">
                                      <p:cBhvr>
                                        <p:cTn id="2989" dur="400"/>
                                        <p:tgtEl>
                                          <p:spTgt spid="13"/>
                                        </p:tgtEl>
                                      </p:cBhvr>
                                    </p:animEffect>
                                    <p:set>
                                      <p:cBhvr>
                                        <p:cTn id="2990" dur="1" fill="hold">
                                          <p:stCondLst>
                                            <p:cond delay="399"/>
                                          </p:stCondLst>
                                        </p:cTn>
                                        <p:tgtEl>
                                          <p:spTgt spid="13"/>
                                        </p:tgtEl>
                                        <p:attrNameLst>
                                          <p:attrName>style.visibility</p:attrName>
                                        </p:attrNameLst>
                                      </p:cBhvr>
                                      <p:to>
                                        <p:strVal val="hidden"/>
                                      </p:to>
                                    </p:set>
                                  </p:childTnLst>
                                </p:cTn>
                              </p:par>
                              <p:par>
                                <p:cTn id="2991" presetID="10" presetClass="exit" presetSubtype="0" fill="hold" nodeType="withEffect">
                                  <p:stCondLst>
                                    <p:cond delay="0"/>
                                  </p:stCondLst>
                                  <p:childTnLst>
                                    <p:animEffect transition="out" filter="fade">
                                      <p:cBhvr>
                                        <p:cTn id="2992" dur="400"/>
                                        <p:tgtEl>
                                          <p:spTgt spid="14"/>
                                        </p:tgtEl>
                                      </p:cBhvr>
                                    </p:animEffect>
                                    <p:set>
                                      <p:cBhvr>
                                        <p:cTn id="2993" dur="1" fill="hold">
                                          <p:stCondLst>
                                            <p:cond delay="399"/>
                                          </p:stCondLst>
                                        </p:cTn>
                                        <p:tgtEl>
                                          <p:spTgt spid="14"/>
                                        </p:tgtEl>
                                        <p:attrNameLst>
                                          <p:attrName>style.visibility</p:attrName>
                                        </p:attrNameLst>
                                      </p:cBhvr>
                                      <p:to>
                                        <p:strVal val="hidden"/>
                                      </p:to>
                                    </p:set>
                                  </p:childTnLst>
                                </p:cTn>
                              </p:par>
                              <p:par>
                                <p:cTn id="2994" presetID="10" presetClass="exit" presetSubtype="0" fill="hold" nodeType="withEffect">
                                  <p:stCondLst>
                                    <p:cond delay="0"/>
                                  </p:stCondLst>
                                  <p:childTnLst>
                                    <p:animEffect transition="out" filter="fade">
                                      <p:cBhvr>
                                        <p:cTn id="2995" dur="400"/>
                                        <p:tgtEl>
                                          <p:spTgt spid="15"/>
                                        </p:tgtEl>
                                      </p:cBhvr>
                                    </p:animEffect>
                                    <p:set>
                                      <p:cBhvr>
                                        <p:cTn id="2996" dur="1" fill="hold">
                                          <p:stCondLst>
                                            <p:cond delay="399"/>
                                          </p:stCondLst>
                                        </p:cTn>
                                        <p:tgtEl>
                                          <p:spTgt spid="15"/>
                                        </p:tgtEl>
                                        <p:attrNameLst>
                                          <p:attrName>style.visibility</p:attrName>
                                        </p:attrNameLst>
                                      </p:cBhvr>
                                      <p:to>
                                        <p:strVal val="hidden"/>
                                      </p:to>
                                    </p:set>
                                  </p:childTnLst>
                                </p:cTn>
                              </p:par>
                              <p:par>
                                <p:cTn id="2997" presetID="10" presetClass="exit" presetSubtype="0" fill="hold" nodeType="withEffect">
                                  <p:stCondLst>
                                    <p:cond delay="0"/>
                                  </p:stCondLst>
                                  <p:childTnLst>
                                    <p:animEffect transition="out" filter="fade">
                                      <p:cBhvr>
                                        <p:cTn id="2998" dur="400"/>
                                        <p:tgtEl>
                                          <p:spTgt spid="31"/>
                                        </p:tgtEl>
                                      </p:cBhvr>
                                    </p:animEffect>
                                    <p:set>
                                      <p:cBhvr>
                                        <p:cTn id="2999" dur="1" fill="hold">
                                          <p:stCondLst>
                                            <p:cond delay="399"/>
                                          </p:stCondLst>
                                        </p:cTn>
                                        <p:tgtEl>
                                          <p:spTgt spid="31"/>
                                        </p:tgtEl>
                                        <p:attrNameLst>
                                          <p:attrName>style.visibility</p:attrName>
                                        </p:attrNameLst>
                                      </p:cBhvr>
                                      <p:to>
                                        <p:strVal val="hidden"/>
                                      </p:to>
                                    </p:set>
                                  </p:childTnLst>
                                </p:cTn>
                              </p:par>
                              <p:par>
                                <p:cTn id="3000" presetID="10" presetClass="exit" presetSubtype="0" fill="hold" nodeType="withEffect">
                                  <p:stCondLst>
                                    <p:cond delay="0"/>
                                  </p:stCondLst>
                                  <p:childTnLst>
                                    <p:animEffect transition="out" filter="fade">
                                      <p:cBhvr>
                                        <p:cTn id="3001" dur="400"/>
                                        <p:tgtEl>
                                          <p:spTgt spid="32"/>
                                        </p:tgtEl>
                                      </p:cBhvr>
                                    </p:animEffect>
                                    <p:set>
                                      <p:cBhvr>
                                        <p:cTn id="3002" dur="1" fill="hold">
                                          <p:stCondLst>
                                            <p:cond delay="399"/>
                                          </p:stCondLst>
                                        </p:cTn>
                                        <p:tgtEl>
                                          <p:spTgt spid="32"/>
                                        </p:tgtEl>
                                        <p:attrNameLst>
                                          <p:attrName>style.visibility</p:attrName>
                                        </p:attrNameLst>
                                      </p:cBhvr>
                                      <p:to>
                                        <p:strVal val="hidden"/>
                                      </p:to>
                                    </p:set>
                                  </p:childTnLst>
                                </p:cTn>
                              </p:par>
                              <p:par>
                                <p:cTn id="3003" presetID="22" presetClass="entr" presetSubtype="8" fill="hold" nodeType="withEffect">
                                  <p:stCondLst>
                                    <p:cond delay="200"/>
                                  </p:stCondLst>
                                  <p:childTnLst>
                                    <p:set>
                                      <p:cBhvr>
                                        <p:cTn id="3004" dur="1" fill="hold">
                                          <p:stCondLst>
                                            <p:cond delay="0"/>
                                          </p:stCondLst>
                                        </p:cTn>
                                        <p:tgtEl>
                                          <p:spTgt spid="16"/>
                                        </p:tgtEl>
                                        <p:attrNameLst>
                                          <p:attrName>style.visibility</p:attrName>
                                        </p:attrNameLst>
                                      </p:cBhvr>
                                      <p:to>
                                        <p:strVal val="visible"/>
                                      </p:to>
                                    </p:set>
                                    <p:animEffect transition="in" filter="wipe(left)">
                                      <p:cBhvr>
                                        <p:cTn id="3005" dur="500"/>
                                        <p:tgtEl>
                                          <p:spTgt spid="16"/>
                                        </p:tgtEl>
                                      </p:cBhvr>
                                    </p:animEffect>
                                  </p:childTnLst>
                                </p:cTn>
                              </p:par>
                              <p:par>
                                <p:cTn id="3006" presetID="22" presetClass="entr" presetSubtype="8" fill="hold" nodeType="withEffect">
                                  <p:stCondLst>
                                    <p:cond delay="270"/>
                                  </p:stCondLst>
                                  <p:childTnLst>
                                    <p:set>
                                      <p:cBhvr>
                                        <p:cTn id="3007" dur="1" fill="hold">
                                          <p:stCondLst>
                                            <p:cond delay="0"/>
                                          </p:stCondLst>
                                        </p:cTn>
                                        <p:tgtEl>
                                          <p:spTgt spid="17"/>
                                        </p:tgtEl>
                                        <p:attrNameLst>
                                          <p:attrName>style.visibility</p:attrName>
                                        </p:attrNameLst>
                                      </p:cBhvr>
                                      <p:to>
                                        <p:strVal val="visible"/>
                                      </p:to>
                                    </p:set>
                                    <p:animEffect transition="in" filter="wipe(left)">
                                      <p:cBhvr>
                                        <p:cTn id="3008" dur="500"/>
                                        <p:tgtEl>
                                          <p:spTgt spid="17"/>
                                        </p:tgtEl>
                                      </p:cBhvr>
                                    </p:animEffect>
                                  </p:childTnLst>
                                </p:cTn>
                              </p:par>
                              <p:par>
                                <p:cTn id="3009" presetID="22" presetClass="entr" presetSubtype="8" fill="hold" nodeType="withEffect">
                                  <p:stCondLst>
                                    <p:cond delay="340"/>
                                  </p:stCondLst>
                                  <p:childTnLst>
                                    <p:set>
                                      <p:cBhvr>
                                        <p:cTn id="3010" dur="1" fill="hold">
                                          <p:stCondLst>
                                            <p:cond delay="0"/>
                                          </p:stCondLst>
                                        </p:cTn>
                                        <p:tgtEl>
                                          <p:spTgt spid="18"/>
                                        </p:tgtEl>
                                        <p:attrNameLst>
                                          <p:attrName>style.visibility</p:attrName>
                                        </p:attrNameLst>
                                      </p:cBhvr>
                                      <p:to>
                                        <p:strVal val="visible"/>
                                      </p:to>
                                    </p:set>
                                    <p:animEffect transition="in" filter="wipe(left)">
                                      <p:cBhvr>
                                        <p:cTn id="3011" dur="500"/>
                                        <p:tgtEl>
                                          <p:spTgt spid="18"/>
                                        </p:tgtEl>
                                      </p:cBhvr>
                                    </p:animEffect>
                                  </p:childTnLst>
                                </p:cTn>
                              </p:par>
                              <p:par>
                                <p:cTn id="3012" presetID="22" presetClass="entr" presetSubtype="8" fill="hold" nodeType="withEffect">
                                  <p:stCondLst>
                                    <p:cond delay="410"/>
                                  </p:stCondLst>
                                  <p:childTnLst>
                                    <p:set>
                                      <p:cBhvr>
                                        <p:cTn id="3013" dur="1" fill="hold">
                                          <p:stCondLst>
                                            <p:cond delay="0"/>
                                          </p:stCondLst>
                                        </p:cTn>
                                        <p:tgtEl>
                                          <p:spTgt spid="33"/>
                                        </p:tgtEl>
                                        <p:attrNameLst>
                                          <p:attrName>style.visibility</p:attrName>
                                        </p:attrNameLst>
                                      </p:cBhvr>
                                      <p:to>
                                        <p:strVal val="visible"/>
                                      </p:to>
                                    </p:set>
                                    <p:animEffect transition="in" filter="wipe(left)">
                                      <p:cBhvr>
                                        <p:cTn id="3014" dur="500"/>
                                        <p:tgtEl>
                                          <p:spTgt spid="33"/>
                                        </p:tgtEl>
                                      </p:cBhvr>
                                    </p:animEffect>
                                  </p:childTnLst>
                                </p:cTn>
                              </p:par>
                              <p:par>
                                <p:cTn id="3015" presetID="22" presetClass="entr" presetSubtype="8" fill="hold" nodeType="withEffect">
                                  <p:stCondLst>
                                    <p:cond delay="480"/>
                                  </p:stCondLst>
                                  <p:childTnLst>
                                    <p:set>
                                      <p:cBhvr>
                                        <p:cTn id="3016" dur="1" fill="hold">
                                          <p:stCondLst>
                                            <p:cond delay="0"/>
                                          </p:stCondLst>
                                        </p:cTn>
                                        <p:tgtEl>
                                          <p:spTgt spid="34"/>
                                        </p:tgtEl>
                                        <p:attrNameLst>
                                          <p:attrName>style.visibility</p:attrName>
                                        </p:attrNameLst>
                                      </p:cBhvr>
                                      <p:to>
                                        <p:strVal val="visible"/>
                                      </p:to>
                                    </p:set>
                                    <p:animEffect transition="in" filter="wipe(left)">
                                      <p:cBhvr>
                                        <p:cTn id="3017" dur="500"/>
                                        <p:tgtEl>
                                          <p:spTgt spid="34"/>
                                        </p:tgtEl>
                                      </p:cBhvr>
                                    </p:animEffect>
                                  </p:childTnLst>
                                </p:cTn>
                              </p:par>
                            </p:childTnLst>
                          </p:cTn>
                        </p:par>
                      </p:childTnLst>
                    </p:cTn>
                  </p:par>
                  <p:par>
                    <p:cTn id="3071" fill="hold">
                      <p:stCondLst>
                        <p:cond delay="indefinite"/>
                      </p:stCondLst>
                      <p:childTnLst>
                        <p:par>
                          <p:cTn id="3072" fill="hold">
                            <p:stCondLst>
                              <p:cond delay="0"/>
                            </p:stCondLst>
                            <p:childTnLst>
                              <p:par>
                                <p:cTn id="3020" presetID="10" presetClass="exit" presetSubtype="0" fill="hold" nodeType="clickEffect">
                                  <p:stCondLst>
                                    <p:cond delay="0"/>
                                  </p:stCondLst>
                                  <p:childTnLst>
                                    <p:animEffect transition="out" filter="fade">
                                      <p:cBhvr>
                                        <p:cTn id="3021" dur="400"/>
                                        <p:tgtEl>
                                          <p:spTgt spid="16"/>
                                        </p:tgtEl>
                                      </p:cBhvr>
                                    </p:animEffect>
                                    <p:set>
                                      <p:cBhvr>
                                        <p:cTn id="3022" dur="1" fill="hold">
                                          <p:stCondLst>
                                            <p:cond delay="399"/>
                                          </p:stCondLst>
                                        </p:cTn>
                                        <p:tgtEl>
                                          <p:spTgt spid="16"/>
                                        </p:tgtEl>
                                        <p:attrNameLst>
                                          <p:attrName>style.visibility</p:attrName>
                                        </p:attrNameLst>
                                      </p:cBhvr>
                                      <p:to>
                                        <p:strVal val="hidden"/>
                                      </p:to>
                                    </p:set>
                                  </p:childTnLst>
                                </p:cTn>
                              </p:par>
                              <p:par>
                                <p:cTn id="3023" presetID="10" presetClass="exit" presetSubtype="0" fill="hold" nodeType="withEffect">
                                  <p:stCondLst>
                                    <p:cond delay="0"/>
                                  </p:stCondLst>
                                  <p:childTnLst>
                                    <p:animEffect transition="out" filter="fade">
                                      <p:cBhvr>
                                        <p:cTn id="3024" dur="400"/>
                                        <p:tgtEl>
                                          <p:spTgt spid="17"/>
                                        </p:tgtEl>
                                      </p:cBhvr>
                                    </p:animEffect>
                                    <p:set>
                                      <p:cBhvr>
                                        <p:cTn id="3025" dur="1" fill="hold">
                                          <p:stCondLst>
                                            <p:cond delay="399"/>
                                          </p:stCondLst>
                                        </p:cTn>
                                        <p:tgtEl>
                                          <p:spTgt spid="17"/>
                                        </p:tgtEl>
                                        <p:attrNameLst>
                                          <p:attrName>style.visibility</p:attrName>
                                        </p:attrNameLst>
                                      </p:cBhvr>
                                      <p:to>
                                        <p:strVal val="hidden"/>
                                      </p:to>
                                    </p:set>
                                  </p:childTnLst>
                                </p:cTn>
                              </p:par>
                              <p:par>
                                <p:cTn id="3026" presetID="10" presetClass="exit" presetSubtype="0" fill="hold" nodeType="withEffect">
                                  <p:stCondLst>
                                    <p:cond delay="0"/>
                                  </p:stCondLst>
                                  <p:childTnLst>
                                    <p:animEffect transition="out" filter="fade">
                                      <p:cBhvr>
                                        <p:cTn id="3027" dur="400"/>
                                        <p:tgtEl>
                                          <p:spTgt spid="18"/>
                                        </p:tgtEl>
                                      </p:cBhvr>
                                    </p:animEffect>
                                    <p:set>
                                      <p:cBhvr>
                                        <p:cTn id="3028" dur="1" fill="hold">
                                          <p:stCondLst>
                                            <p:cond delay="399"/>
                                          </p:stCondLst>
                                        </p:cTn>
                                        <p:tgtEl>
                                          <p:spTgt spid="18"/>
                                        </p:tgtEl>
                                        <p:attrNameLst>
                                          <p:attrName>style.visibility</p:attrName>
                                        </p:attrNameLst>
                                      </p:cBhvr>
                                      <p:to>
                                        <p:strVal val="hidden"/>
                                      </p:to>
                                    </p:set>
                                  </p:childTnLst>
                                </p:cTn>
                              </p:par>
                              <p:par>
                                <p:cTn id="3029" presetID="10" presetClass="exit" presetSubtype="0" fill="hold" nodeType="withEffect">
                                  <p:stCondLst>
                                    <p:cond delay="0"/>
                                  </p:stCondLst>
                                  <p:childTnLst>
                                    <p:animEffect transition="out" filter="fade">
                                      <p:cBhvr>
                                        <p:cTn id="3030" dur="400"/>
                                        <p:tgtEl>
                                          <p:spTgt spid="33"/>
                                        </p:tgtEl>
                                      </p:cBhvr>
                                    </p:animEffect>
                                    <p:set>
                                      <p:cBhvr>
                                        <p:cTn id="3031" dur="1" fill="hold">
                                          <p:stCondLst>
                                            <p:cond delay="399"/>
                                          </p:stCondLst>
                                        </p:cTn>
                                        <p:tgtEl>
                                          <p:spTgt spid="33"/>
                                        </p:tgtEl>
                                        <p:attrNameLst>
                                          <p:attrName>style.visibility</p:attrName>
                                        </p:attrNameLst>
                                      </p:cBhvr>
                                      <p:to>
                                        <p:strVal val="hidden"/>
                                      </p:to>
                                    </p:set>
                                  </p:childTnLst>
                                </p:cTn>
                              </p:par>
                              <p:par>
                                <p:cTn id="3032" presetID="10" presetClass="exit" presetSubtype="0" fill="hold" nodeType="withEffect">
                                  <p:stCondLst>
                                    <p:cond delay="0"/>
                                  </p:stCondLst>
                                  <p:childTnLst>
                                    <p:animEffect transition="out" filter="fade">
                                      <p:cBhvr>
                                        <p:cTn id="3033" dur="400"/>
                                        <p:tgtEl>
                                          <p:spTgt spid="34"/>
                                        </p:tgtEl>
                                      </p:cBhvr>
                                    </p:animEffect>
                                    <p:set>
                                      <p:cBhvr>
                                        <p:cTn id="3034" dur="1" fill="hold">
                                          <p:stCondLst>
                                            <p:cond delay="399"/>
                                          </p:stCondLst>
                                        </p:cTn>
                                        <p:tgtEl>
                                          <p:spTgt spid="34"/>
                                        </p:tgtEl>
                                        <p:attrNameLst>
                                          <p:attrName>style.visibility</p:attrName>
                                        </p:attrNameLst>
                                      </p:cBhvr>
                                      <p:to>
                                        <p:strVal val="hidden"/>
                                      </p:to>
                                    </p:set>
                                  </p:childTnLst>
                                </p:cTn>
                              </p:par>
                              <p:par>
                                <p:cTn id="3035" presetID="22" presetClass="entr" presetSubtype="4" fill="hold" nodeType="withEffect">
                                  <p:stCondLst>
                                    <p:cond delay="200"/>
                                  </p:stCondLst>
                                  <p:childTnLst>
                                    <p:set>
                                      <p:cBhvr>
                                        <p:cTn id="3036" dur="1" fill="hold">
                                          <p:stCondLst>
                                            <p:cond delay="0"/>
                                          </p:stCondLst>
                                        </p:cTn>
                                        <p:tgtEl>
                                          <p:spTgt spid="19"/>
                                        </p:tgtEl>
                                        <p:attrNameLst>
                                          <p:attrName>style.visibility</p:attrName>
                                        </p:attrNameLst>
                                      </p:cBhvr>
                                      <p:to>
                                        <p:strVal val="visible"/>
                                      </p:to>
                                    </p:set>
                                    <p:animEffect transition="in" filter="wipe(down)">
                                      <p:cBhvr>
                                        <p:cTn id="3037" dur="500"/>
                                        <p:tgtEl>
                                          <p:spTgt spid="19"/>
                                        </p:tgtEl>
                                      </p:cBhvr>
                                    </p:animEffect>
                                  </p:childTnLst>
                                </p:cTn>
                              </p:par>
                              <p:par>
                                <p:cTn id="3038" presetID="22" presetClass="entr" presetSubtype="4" fill="hold" nodeType="withEffect">
                                  <p:stCondLst>
                                    <p:cond delay="270"/>
                                  </p:stCondLst>
                                  <p:childTnLst>
                                    <p:set>
                                      <p:cBhvr>
                                        <p:cTn id="3039" dur="1" fill="hold">
                                          <p:stCondLst>
                                            <p:cond delay="0"/>
                                          </p:stCondLst>
                                        </p:cTn>
                                        <p:tgtEl>
                                          <p:spTgt spid="20"/>
                                        </p:tgtEl>
                                        <p:attrNameLst>
                                          <p:attrName>style.visibility</p:attrName>
                                        </p:attrNameLst>
                                      </p:cBhvr>
                                      <p:to>
                                        <p:strVal val="visible"/>
                                      </p:to>
                                    </p:set>
                                    <p:animEffect transition="in" filter="wipe(down)">
                                      <p:cBhvr>
                                        <p:cTn id="3040" dur="500"/>
                                        <p:tgtEl>
                                          <p:spTgt spid="20"/>
                                        </p:tgtEl>
                                      </p:cBhvr>
                                    </p:animEffect>
                                  </p:childTnLst>
                                </p:cTn>
                              </p:par>
                              <p:par>
                                <p:cTn id="3041" presetID="22" presetClass="entr" presetSubtype="4" fill="hold" nodeType="withEffect">
                                  <p:stCondLst>
                                    <p:cond delay="340"/>
                                  </p:stCondLst>
                                  <p:childTnLst>
                                    <p:set>
                                      <p:cBhvr>
                                        <p:cTn id="3042" dur="1" fill="hold">
                                          <p:stCondLst>
                                            <p:cond delay="0"/>
                                          </p:stCondLst>
                                        </p:cTn>
                                        <p:tgtEl>
                                          <p:spTgt spid="21"/>
                                        </p:tgtEl>
                                        <p:attrNameLst>
                                          <p:attrName>style.visibility</p:attrName>
                                        </p:attrNameLst>
                                      </p:cBhvr>
                                      <p:to>
                                        <p:strVal val="visible"/>
                                      </p:to>
                                    </p:set>
                                    <p:animEffect transition="in" filter="wipe(down)">
                                      <p:cBhvr>
                                        <p:cTn id="3043" dur="500"/>
                                        <p:tgtEl>
                                          <p:spTgt spid="21"/>
                                        </p:tgtEl>
                                      </p:cBhvr>
                                    </p:animEffect>
                                  </p:childTnLst>
                                </p:cTn>
                              </p:par>
                              <p:par>
                                <p:cTn id="3044" presetID="22" presetClass="entr" presetSubtype="4" fill="hold" nodeType="withEffect">
                                  <p:stCondLst>
                                    <p:cond delay="410"/>
                                  </p:stCondLst>
                                  <p:childTnLst>
                                    <p:set>
                                      <p:cBhvr>
                                        <p:cTn id="3045" dur="1" fill="hold">
                                          <p:stCondLst>
                                            <p:cond delay="0"/>
                                          </p:stCondLst>
                                        </p:cTn>
                                        <p:tgtEl>
                                          <p:spTgt spid="22"/>
                                        </p:tgtEl>
                                        <p:attrNameLst>
                                          <p:attrName>style.visibility</p:attrName>
                                        </p:attrNameLst>
                                      </p:cBhvr>
                                      <p:to>
                                        <p:strVal val="visible"/>
                                      </p:to>
                                    </p:set>
                                    <p:animEffect transition="in" filter="wipe(down)">
                                      <p:cBhvr>
                                        <p:cTn id="3046" dur="500"/>
                                        <p:tgtEl>
                                          <p:spTgt spid="22"/>
                                        </p:tgtEl>
                                      </p:cBhvr>
                                    </p:animEffect>
                                  </p:childTnLst>
                                </p:cTn>
                              </p:par>
                              <p:par>
                                <p:cTn id="3047" presetID="22" presetClass="entr" presetSubtype="4" fill="hold" nodeType="withEffect">
                                  <p:stCondLst>
                                    <p:cond delay="480"/>
                                  </p:stCondLst>
                                  <p:childTnLst>
                                    <p:set>
                                      <p:cBhvr>
                                        <p:cTn id="3048" dur="1" fill="hold">
                                          <p:stCondLst>
                                            <p:cond delay="0"/>
                                          </p:stCondLst>
                                        </p:cTn>
                                        <p:tgtEl>
                                          <p:spTgt spid="23"/>
                                        </p:tgtEl>
                                        <p:attrNameLst>
                                          <p:attrName>style.visibility</p:attrName>
                                        </p:attrNameLst>
                                      </p:cBhvr>
                                      <p:to>
                                        <p:strVal val="visible"/>
                                      </p:to>
                                    </p:set>
                                    <p:animEffect transition="in" filter="wipe(down)">
                                      <p:cBhvr>
                                        <p:cTn id="3049" dur="500"/>
                                        <p:tgtEl>
                                          <p:spTgt spid="23"/>
                                        </p:tgtEl>
                                      </p:cBhvr>
                                    </p:animEffect>
                                  </p:childTnLst>
                                </p:cTn>
                              </p:par>
                              <p:par>
                                <p:cTn id="3050" presetID="22" presetClass="entr" presetSubtype="4" fill="hold" nodeType="withEffect">
                                  <p:stCondLst>
                                    <p:cond delay="550"/>
                                  </p:stCondLst>
                                  <p:childTnLst>
                                    <p:set>
                                      <p:cBhvr>
                                        <p:cTn id="3051" dur="1" fill="hold">
                                          <p:stCondLst>
                                            <p:cond delay="0"/>
                                          </p:stCondLst>
                                        </p:cTn>
                                        <p:tgtEl>
                                          <p:spTgt spid="24"/>
                                        </p:tgtEl>
                                        <p:attrNameLst>
                                          <p:attrName>style.visibility</p:attrName>
                                        </p:attrNameLst>
                                      </p:cBhvr>
                                      <p:to>
                                        <p:strVal val="visible"/>
                                      </p:to>
                                    </p:set>
                                    <p:animEffect transition="in" filter="wipe(down)">
                                      <p:cBhvr>
                                        <p:cTn id="3052" dur="500"/>
                                        <p:tgtEl>
                                          <p:spTgt spid="24"/>
                                        </p:tgtEl>
                                      </p:cBhvr>
                                    </p:animEffect>
                                  </p:childTnLst>
                                </p:cTn>
                              </p:par>
                              <p:par>
                                <p:cTn id="3053" presetID="22" presetClass="entr" presetSubtype="4" fill="hold" nodeType="withEffect">
                                  <p:stCondLst>
                                    <p:cond delay="620"/>
                                  </p:stCondLst>
                                  <p:childTnLst>
                                    <p:set>
                                      <p:cBhvr>
                                        <p:cTn id="3054" dur="1" fill="hold">
                                          <p:stCondLst>
                                            <p:cond delay="0"/>
                                          </p:stCondLst>
                                        </p:cTn>
                                        <p:tgtEl>
                                          <p:spTgt spid="25"/>
                                        </p:tgtEl>
                                        <p:attrNameLst>
                                          <p:attrName>style.visibility</p:attrName>
                                        </p:attrNameLst>
                                      </p:cBhvr>
                                      <p:to>
                                        <p:strVal val="visible"/>
                                      </p:to>
                                    </p:set>
                                    <p:animEffect transition="in" filter="wipe(down)">
                                      <p:cBhvr>
                                        <p:cTn id="3055" dur="500"/>
                                        <p:tgtEl>
                                          <p:spTgt spid="25"/>
                                        </p:tgtEl>
                                      </p:cBhvr>
                                    </p:animEffect>
                                  </p:childTnLst>
                                </p:cTn>
                              </p:par>
                              <p:par>
                                <p:cTn id="3056" presetID="22" presetClass="entr" presetSubtype="4" fill="hold" nodeType="withEffect">
                                  <p:stCondLst>
                                    <p:cond delay="690"/>
                                  </p:stCondLst>
                                  <p:childTnLst>
                                    <p:set>
                                      <p:cBhvr>
                                        <p:cTn id="3057" dur="1" fill="hold">
                                          <p:stCondLst>
                                            <p:cond delay="0"/>
                                          </p:stCondLst>
                                        </p:cTn>
                                        <p:tgtEl>
                                          <p:spTgt spid="26"/>
                                        </p:tgtEl>
                                        <p:attrNameLst>
                                          <p:attrName>style.visibility</p:attrName>
                                        </p:attrNameLst>
                                      </p:cBhvr>
                                      <p:to>
                                        <p:strVal val="visible"/>
                                      </p:to>
                                    </p:set>
                                    <p:animEffect transition="in" filter="wipe(down)">
                                      <p:cBhvr>
                                        <p:cTn id="3058" dur="500"/>
                                        <p:tgtEl>
                                          <p:spTgt spid="26"/>
                                        </p:tgtEl>
                                      </p:cBhvr>
                                    </p:animEffect>
                                  </p:childTnLst>
                                </p:cTn>
                              </p:par>
                              <p:par>
                                <p:cTn id="3059" presetID="22" presetClass="entr" presetSubtype="4" fill="hold" nodeType="withEffect">
                                  <p:stCondLst>
                                    <p:cond delay="760"/>
                                  </p:stCondLst>
                                  <p:childTnLst>
                                    <p:set>
                                      <p:cBhvr>
                                        <p:cTn id="3060" dur="1" fill="hold">
                                          <p:stCondLst>
                                            <p:cond delay="0"/>
                                          </p:stCondLst>
                                        </p:cTn>
                                        <p:tgtEl>
                                          <p:spTgt spid="27"/>
                                        </p:tgtEl>
                                        <p:attrNameLst>
                                          <p:attrName>style.visibility</p:attrName>
                                        </p:attrNameLst>
                                      </p:cBhvr>
                                      <p:to>
                                        <p:strVal val="visible"/>
                                      </p:to>
                                    </p:set>
                                    <p:animEffect transition="in" filter="wipe(down)">
                                      <p:cBhvr>
                                        <p:cTn id="3061" dur="500"/>
                                        <p:tgtEl>
                                          <p:spTgt spid="27"/>
                                        </p:tgtEl>
                                      </p:cBhvr>
                                    </p:animEffect>
                                  </p:childTnLst>
                                </p:cTn>
                              </p:par>
                              <p:par>
                                <p:cTn id="3062" presetID="22" presetClass="entr" presetSubtype="4" fill="hold" nodeType="withEffect">
                                  <p:stCondLst>
                                    <p:cond delay="830"/>
                                  </p:stCondLst>
                                  <p:childTnLst>
                                    <p:set>
                                      <p:cBhvr>
                                        <p:cTn id="3063" dur="1" fill="hold">
                                          <p:stCondLst>
                                            <p:cond delay="0"/>
                                          </p:stCondLst>
                                        </p:cTn>
                                        <p:tgtEl>
                                          <p:spTgt spid="28"/>
                                        </p:tgtEl>
                                        <p:attrNameLst>
                                          <p:attrName>style.visibility</p:attrName>
                                        </p:attrNameLst>
                                      </p:cBhvr>
                                      <p:to>
                                        <p:strVal val="visible"/>
                                      </p:to>
                                    </p:set>
                                    <p:animEffect transition="in" filter="wipe(down)">
                                      <p:cBhvr>
                                        <p:cTn id="3064" dur="500"/>
                                        <p:tgtEl>
                                          <p:spTgt spid="28"/>
                                        </p:tgtEl>
                                      </p:cBhvr>
                                    </p:animEffect>
                                  </p:childTnLst>
                                </p:cTn>
                              </p:par>
                              <p:par>
                                <p:cTn id="3065" presetID="22" presetClass="entr" presetSubtype="4" fill="hold" nodeType="withEffect">
                                  <p:stCondLst>
                                    <p:cond delay="900"/>
                                  </p:stCondLst>
                                  <p:childTnLst>
                                    <p:set>
                                      <p:cBhvr>
                                        <p:cTn id="3066" dur="1" fill="hold">
                                          <p:stCondLst>
                                            <p:cond delay="0"/>
                                          </p:stCondLst>
                                        </p:cTn>
                                        <p:tgtEl>
                                          <p:spTgt spid="35"/>
                                        </p:tgtEl>
                                        <p:attrNameLst>
                                          <p:attrName>style.visibility</p:attrName>
                                        </p:attrNameLst>
                                      </p:cBhvr>
                                      <p:to>
                                        <p:strVal val="visible"/>
                                      </p:to>
                                    </p:set>
                                    <p:animEffect transition="in" filter="wipe(down)">
                                      <p:cBhvr>
                                        <p:cTn id="3067" dur="500"/>
                                        <p:tgtEl>
                                          <p:spTgt spid="35"/>
                                        </p:tgtEl>
                                      </p:cBhvr>
                                    </p:animEffect>
                                  </p:childTnLst>
                                </p:cTn>
                              </p:par>
                              <p:par>
                                <p:cTn id="3068" presetID="22" presetClass="entr" presetSubtype="4" fill="hold" nodeType="withEffect">
                                  <p:stCondLst>
                                    <p:cond delay="900"/>
                                  </p:stCondLst>
                                  <p:childTnLst>
                                    <p:set>
                                      <p:cBhvr>
                                        <p:cTn id="3069" dur="1" fill="hold">
                                          <p:stCondLst>
                                            <p:cond delay="0"/>
                                          </p:stCondLst>
                                        </p:cTn>
                                        <p:tgtEl>
                                          <p:spTgt spid="36"/>
                                        </p:tgtEl>
                                        <p:attrNameLst>
                                          <p:attrName>style.visibility</p:attrName>
                                        </p:attrNameLst>
                                      </p:cBhvr>
                                      <p:to>
                                        <p:strVal val="visible"/>
                                      </p:to>
                                    </p:set>
                                    <p:animEffect transition="in" filter="wipe(down)">
                                      <p:cBhvr>
                                        <p:cTn id="307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Cuatro técnicas para mejorar la baja frecuencia; elegimos la de Ma et al.</a:t>
            </a:r>
            <a:endParaRPr lang="en-US" sz="2200" dirty="0"/>
          </a:p>
        </p:txBody>
      </p:sp>
      <p:sp>
        <p:nvSpPr>
          <p:cNvPr id="3" name="Cabecera Modificar la carga del sensor [s0]"/>
          <p:cNvSpPr/>
          <p:nvPr/>
        </p:nvSpPr>
        <p:spPr>
          <a:xfrm>
            <a:off x="966136" y="1681654"/>
            <a:ext cx="1722802" cy="681108"/>
          </a:xfrm>
          <a:prstGeom prst="rect">
            <a:avLst/>
          </a:prstGeom>
          <a:solidFill>
            <a:srgbClr val="6B6B6B"/>
          </a:solidFill>
          <a:ln w="6350">
            <a:solidFill>
              <a:srgbClr val="6B6B6B"/>
            </a:solidFill>
            <a:prstDash val="solid"/>
          </a:ln>
        </p:spPr>
      </p:sp>
      <p:sp>
        <p:nvSpPr>
          <p:cNvPr id="4" name="Elemento [s0]"/>
          <p:cNvSpPr txBox="1"/>
          <p:nvPr/>
        </p:nvSpPr>
        <p:spPr>
          <a:xfrm>
            <a:off x="1006201"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Modificar la carga del sensor</a:t>
            </a:r>
            <a:endParaRPr lang="en-US" sz="1170" dirty="0"/>
          </a:p>
        </p:txBody>
      </p:sp>
      <p:sp>
        <p:nvSpPr>
          <p:cNvPr id="5" name="Tarjeta Modificar la carga del sensor [s0]"/>
          <p:cNvSpPr/>
          <p:nvPr/>
        </p:nvSpPr>
        <p:spPr>
          <a:xfrm>
            <a:off x="966136" y="2362761"/>
            <a:ext cx="1722802" cy="1722802"/>
          </a:xfrm>
          <a:prstGeom prst="rect">
            <a:avLst/>
          </a:prstGeom>
          <a:solidFill>
            <a:srgbClr val="FFFFFF"/>
          </a:solidFill>
          <a:ln w="16694">
            <a:solidFill>
              <a:srgbClr val="6B6B6B"/>
            </a:solidFill>
            <a:prstDash val="solid"/>
          </a:ln>
        </p:spPr>
      </p:sp>
      <p:sp>
        <p:nvSpPr>
          <p:cNvPr id="6" name="Elemento [s0]"/>
          <p:cNvSpPr txBox="1"/>
          <p:nvPr/>
        </p:nvSpPr>
        <p:spPr>
          <a:xfrm>
            <a:off x="1062292"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080" dirty="0"/>
          </a:p>
        </p:txBody>
      </p:sp>
      <p:sp>
        <p:nvSpPr>
          <p:cNvPr id="7" name="Cabecera Compensación inversa (cero–polo) [s0]"/>
          <p:cNvSpPr/>
          <p:nvPr/>
        </p:nvSpPr>
        <p:spPr>
          <a:xfrm>
            <a:off x="2809133" y="1681654"/>
            <a:ext cx="1722802" cy="681108"/>
          </a:xfrm>
          <a:prstGeom prst="rect">
            <a:avLst/>
          </a:prstGeom>
          <a:solidFill>
            <a:srgbClr val="6B6B6B"/>
          </a:solidFill>
          <a:ln w="6350">
            <a:solidFill>
              <a:srgbClr val="6B6B6B"/>
            </a:solidFill>
            <a:prstDash val="solid"/>
          </a:ln>
        </p:spPr>
      </p:sp>
      <p:sp>
        <p:nvSpPr>
          <p:cNvPr id="8" name="Elemento [s0]"/>
          <p:cNvSpPr txBox="1"/>
          <p:nvPr/>
        </p:nvSpPr>
        <p:spPr>
          <a:xfrm>
            <a:off x="2849198"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Compensación inversa (cero–polo)</a:t>
            </a:r>
            <a:endParaRPr lang="en-US" sz="1170" dirty="0"/>
          </a:p>
        </p:txBody>
      </p:sp>
      <p:sp>
        <p:nvSpPr>
          <p:cNvPr id="9" name="Tarjeta Compensación inversa (cero–polo) [s0]"/>
          <p:cNvSpPr/>
          <p:nvPr/>
        </p:nvSpPr>
        <p:spPr>
          <a:xfrm>
            <a:off x="2809133" y="2362761"/>
            <a:ext cx="1722802" cy="1722802"/>
          </a:xfrm>
          <a:prstGeom prst="rect">
            <a:avLst/>
          </a:prstGeom>
          <a:solidFill>
            <a:srgbClr val="FFFFFF"/>
          </a:solidFill>
          <a:ln w="16694">
            <a:solidFill>
              <a:srgbClr val="6B6B6B"/>
            </a:solidFill>
            <a:prstDash val="solid"/>
          </a:ln>
        </p:spPr>
      </p:sp>
      <p:sp>
        <p:nvSpPr>
          <p:cNvPr id="10" name="Elemento [s0]"/>
          <p:cNvSpPr txBox="1"/>
          <p:nvPr/>
        </p:nvSpPr>
        <p:spPr>
          <a:xfrm>
            <a:off x="2905289"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080" dirty="0"/>
          </a:p>
        </p:txBody>
      </p:sp>
      <p:sp>
        <p:nvSpPr>
          <p:cNvPr id="11" name="Cabecera Resistencia negativa y balance de fuerza [s0]"/>
          <p:cNvSpPr/>
          <p:nvPr/>
        </p:nvSpPr>
        <p:spPr>
          <a:xfrm>
            <a:off x="4652130" y="1681654"/>
            <a:ext cx="1722802" cy="681108"/>
          </a:xfrm>
          <a:prstGeom prst="rect">
            <a:avLst/>
          </a:prstGeom>
          <a:solidFill>
            <a:srgbClr val="6B6B6B"/>
          </a:solidFill>
          <a:ln w="6350">
            <a:solidFill>
              <a:srgbClr val="6B6B6B"/>
            </a:solidFill>
            <a:prstDash val="solid"/>
          </a:ln>
        </p:spPr>
      </p:sp>
      <p:sp>
        <p:nvSpPr>
          <p:cNvPr id="12" name="Elemento [s0]"/>
          <p:cNvSpPr txBox="1"/>
          <p:nvPr/>
        </p:nvSpPr>
        <p:spPr>
          <a:xfrm>
            <a:off x="4692195"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Resistencia negativa y balance de fuerza</a:t>
            </a:r>
            <a:endParaRPr lang="en-US" sz="1170" dirty="0"/>
          </a:p>
        </p:txBody>
      </p:sp>
      <p:sp>
        <p:nvSpPr>
          <p:cNvPr id="13" name="Tarjeta Resistencia negativa y balance de fuerza [s0]"/>
          <p:cNvSpPr/>
          <p:nvPr/>
        </p:nvSpPr>
        <p:spPr>
          <a:xfrm>
            <a:off x="4652130" y="2362761"/>
            <a:ext cx="1722802" cy="1722802"/>
          </a:xfrm>
          <a:prstGeom prst="rect">
            <a:avLst/>
          </a:prstGeom>
          <a:solidFill>
            <a:srgbClr val="FFFFFF"/>
          </a:solidFill>
          <a:ln w="16694">
            <a:solidFill>
              <a:srgbClr val="6B6B6B"/>
            </a:solidFill>
            <a:prstDash val="solid"/>
          </a:ln>
        </p:spPr>
      </p:sp>
      <p:sp>
        <p:nvSpPr>
          <p:cNvPr id="14" name="Elemento [s0]"/>
          <p:cNvSpPr txBox="1"/>
          <p:nvPr/>
        </p:nvSpPr>
        <p:spPr>
          <a:xfrm>
            <a:off x="4748287"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080" dirty="0"/>
          </a:p>
        </p:txBody>
      </p:sp>
      <p:sp>
        <p:nvSpPr>
          <p:cNvPr id="15" name="Cabecera Modificar la forma de la respuesta [s0]"/>
          <p:cNvSpPr/>
          <p:nvPr/>
        </p:nvSpPr>
        <p:spPr>
          <a:xfrm>
            <a:off x="6495128" y="1681654"/>
            <a:ext cx="1722802" cy="681108"/>
          </a:xfrm>
          <a:prstGeom prst="rect">
            <a:avLst/>
          </a:prstGeom>
          <a:solidFill>
            <a:srgbClr val="2E75B6"/>
          </a:solidFill>
          <a:ln w="6350">
            <a:solidFill>
              <a:srgbClr val="2E75B6"/>
            </a:solidFill>
            <a:prstDash val="solid"/>
          </a:ln>
        </p:spPr>
      </p:sp>
      <p:sp>
        <p:nvSpPr>
          <p:cNvPr id="16" name="Elemento [s0]"/>
          <p:cNvSpPr txBox="1"/>
          <p:nvPr/>
        </p:nvSpPr>
        <p:spPr>
          <a:xfrm>
            <a:off x="6535193" y="1681654"/>
            <a:ext cx="1642671" cy="681108"/>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Modificar la forma de la respuesta</a:t>
            </a:r>
            <a:endParaRPr lang="en-US" sz="1170" dirty="0"/>
          </a:p>
        </p:txBody>
      </p:sp>
      <p:sp>
        <p:nvSpPr>
          <p:cNvPr id="17" name="Tarjeta Modificar la forma de la respuesta [s0]"/>
          <p:cNvSpPr/>
          <p:nvPr/>
        </p:nvSpPr>
        <p:spPr>
          <a:xfrm>
            <a:off x="6495128" y="2362761"/>
            <a:ext cx="1722802" cy="1722802"/>
          </a:xfrm>
          <a:prstGeom prst="rect">
            <a:avLst/>
          </a:prstGeom>
          <a:solidFill>
            <a:srgbClr val="FFFFFF"/>
          </a:solidFill>
          <a:ln w="16694">
            <a:solidFill>
              <a:srgbClr val="2E75B6"/>
            </a:solidFill>
            <a:prstDash val="solid"/>
          </a:ln>
        </p:spPr>
      </p:sp>
      <p:sp>
        <p:nvSpPr>
          <p:cNvPr id="18" name="Elemento [s0]"/>
          <p:cNvSpPr txBox="1"/>
          <p:nvPr/>
        </p:nvSpPr>
        <p:spPr>
          <a:xfrm>
            <a:off x="6591284" y="2426866"/>
            <a:ext cx="1530489" cy="1594593"/>
          </a:xfrm>
          <a:prstGeom prst="rect">
            <a:avLst/>
          </a:prstGeom>
          <a:noFill/>
          <a:ln/>
        </p:spPr>
        <p:txBody>
          <a:bodyPr wrap="square" lIns="0" tIns="0" rIns="0" bIns="0" rtlCol="0" anchor="ctr"/>
          <a:lstStyle/>
          <a:p>
            <a:pPr algn="l" indent="0" marL="0">
              <a:buNone/>
            </a:pPr>
            <a:r>
              <a:rPr lang="en-US" sz="108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080" dirty="0"/>
          </a:p>
        </p:txBody>
      </p:sp>
      <p:sp>
        <p:nvSpPr>
          <p:cNvPr id="19" name="Elemento [s0]"/>
          <p:cNvSpPr txBox="1"/>
          <p:nvPr/>
        </p:nvSpPr>
        <p:spPr>
          <a:xfrm>
            <a:off x="966136" y="4165694"/>
            <a:ext cx="7211728" cy="320521"/>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440" dirty="0"/>
          </a:p>
        </p:txBody>
      </p:sp>
      <p:sp>
        <p:nvSpPr>
          <p:cNvPr id="20" name="Cuerpo [s1]"/>
          <p:cNvSpPr txBox="1"/>
          <p:nvPr/>
        </p:nvSpPr>
        <p:spPr>
          <a:xfrm>
            <a:off x="966136" y="1681654"/>
            <a:ext cx="4246907" cy="2403909"/>
          </a:xfrm>
          <a:prstGeom prst="rect">
            <a:avLst/>
          </a:prstGeom>
          <a:noFill/>
          <a:ln/>
        </p:spPr>
        <p:txBody>
          <a:bodyPr wrap="square" lIns="0" tIns="0" rIns="0" bIns="0" rtlCol="0" anchor="t"/>
          <a:lstStyle/>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Altísima ganancia cerca de DC</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Offsets y bias pueden llevarla a saturación</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Amplifica el ruido de baja frecuencia fuera de banda</a:t>
            </a:r>
            <a:endParaRPr lang="en-US" sz="1620" dirty="0"/>
          </a:p>
          <a:p>
            <a:pPr marL="342900" indent="-342900">
              <a:spcAft>
                <a:spcPts val="1080"/>
              </a:spcAft>
              <a:buSzPct val="100000"/>
              <a:buChar char="•"/>
            </a:pPr>
            <a:r>
              <a:rPr lang="en-US" sz="162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620" dirty="0"/>
          </a:p>
        </p:txBody>
      </p:sp>
      <p:sp>
        <p:nvSpPr>
          <p:cNvPr id="21" name="Cabecera ganancia [s1]"/>
          <p:cNvSpPr/>
          <p:nvPr/>
        </p:nvSpPr>
        <p:spPr>
          <a:xfrm>
            <a:off x="5533564" y="1721719"/>
            <a:ext cx="2644300" cy="400652"/>
          </a:xfrm>
          <a:prstGeom prst="rect">
            <a:avLst/>
          </a:prstGeom>
          <a:solidFill>
            <a:srgbClr val="C55A11"/>
          </a:solidFill>
          <a:ln w="6350">
            <a:solidFill>
              <a:srgbClr val="C55A11"/>
            </a:solidFill>
            <a:prstDash val="solid"/>
          </a:ln>
        </p:spPr>
      </p:sp>
      <p:sp>
        <p:nvSpPr>
          <p:cNvPr id="22" name="Elemento [s1]"/>
          <p:cNvSpPr txBox="1"/>
          <p:nvPr/>
        </p:nvSpPr>
        <p:spPr>
          <a:xfrm>
            <a:off x="5533564" y="1721719"/>
            <a:ext cx="2644300" cy="400652"/>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Ganancia necesaria a 1 Hz</a:t>
            </a:r>
            <a:endParaRPr lang="en-US" sz="1350" dirty="0"/>
          </a:p>
        </p:txBody>
      </p:sp>
      <p:sp>
        <p:nvSpPr>
          <p:cNvPr id="23" name="Tarjeta ganancia [s1]"/>
          <p:cNvSpPr/>
          <p:nvPr/>
        </p:nvSpPr>
        <p:spPr>
          <a:xfrm>
            <a:off x="5533564" y="2122371"/>
            <a:ext cx="2644300" cy="1362215"/>
          </a:xfrm>
          <a:prstGeom prst="rect">
            <a:avLst/>
          </a:prstGeom>
          <a:solidFill>
            <a:srgbClr val="FFFFFF"/>
          </a:solidFill>
          <a:ln w="16694">
            <a:solidFill>
              <a:srgbClr val="C55A11"/>
            </a:solidFill>
            <a:prstDash val="solid"/>
          </a:ln>
        </p:spPr>
      </p:sp>
      <p:sp>
        <p:nvSpPr>
          <p:cNvPr id="24" name="Elemento [s1]"/>
          <p:cNvSpPr txBox="1"/>
          <p:nvPr/>
        </p:nvSpPr>
        <p:spPr>
          <a:xfrm>
            <a:off x="5533564" y="2162436"/>
            <a:ext cx="2644300" cy="721173"/>
          </a:xfrm>
          <a:prstGeom prst="rect">
            <a:avLst/>
          </a:prstGeom>
          <a:noFill/>
          <a:ln/>
        </p:spPr>
        <p:txBody>
          <a:bodyPr wrap="square" lIns="0" tIns="0" rIns="0" bIns="0" rtlCol="0" anchor="ctr"/>
          <a:lstStyle/>
          <a:p>
            <a:pPr algn="ctr" indent="0" marL="0">
              <a:buNone/>
            </a:pPr>
            <a:r>
              <a:rPr lang="en-US" sz="3239" b="1" dirty="0">
                <a:solidFill>
                  <a:srgbClr val="C55A11"/>
                </a:solidFill>
                <a:latin typeface="Arial" pitchFamily="34" charset="0"/>
                <a:ea typeface="Arial" pitchFamily="34" charset="-122"/>
                <a:cs typeface="Arial" pitchFamily="34" charset="-120"/>
              </a:rPr>
              <a:t>≈ +40 dB</a:t>
            </a:r>
            <a:endParaRPr lang="en-US" sz="3239" dirty="0"/>
          </a:p>
        </p:txBody>
      </p:sp>
      <p:sp>
        <p:nvSpPr>
          <p:cNvPr id="25" name="Elemento [s1]"/>
          <p:cNvSpPr txBox="1"/>
          <p:nvPr/>
        </p:nvSpPr>
        <p:spPr>
          <a:xfrm>
            <a:off x="5653759" y="2883609"/>
            <a:ext cx="2403909" cy="560912"/>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respecto de la zona plana (modelo del SM-24, </a:t>
            </a:r>
            <mc:AlternateContent xmlns:mc="http://schemas.openxmlformats.org/markup-compatibility/2006">
              <mc:Choice xmlns:a14="http://schemas.microsoft.com/office/drawing/2010/main" Requires="a14">
                <a14:m>
                  <m:oMath xmlns:m="http://schemas.openxmlformats.org/officeDocument/2006/math">
                    <m:r>
                      <a:rPr lang="es-ES" sz="1080" i="1">
                        <a:solidFill>
                          <a:srgbClr val="6B6B6B"/>
                        </a:solidFill>
                        <a:latin typeface="Cambria Math" panose="02040503050406030204" pitchFamily="18" charset="0"/>
                      </a:rPr>
                      <m:t xml:space="preserve">ζ</m:t>
                    </m:r>
                    <m:r>
                      <m:rPr>
                        <m:sty m:val="p"/>
                      </m:rPr>
                      <a:rPr lang="es-ES" sz="1080">
                        <a:solidFill>
                          <a:srgbClr val="6B6B6B"/>
                        </a:solidFill>
                        <a:latin typeface="Cambria Math" panose="02040503050406030204" pitchFamily="18" charset="0"/>
                      </a:rPr>
                      <m:t xml:space="preserve">=</m:t>
                    </m:r>
                    <m:r>
                      <m:rPr>
                        <m:sty m:val="p"/>
                      </m:rPr>
                      <a:rPr lang="es-ES" sz="1080">
                        <a:solidFill>
                          <a:srgbClr val="6B6B6B"/>
                        </a:solidFill>
                        <a:latin typeface="Cambria Math" panose="02040503050406030204" pitchFamily="18" charset="0"/>
                      </a:rPr>
                      <m:t xml:space="preserve">0,25</m:t>
                    </m:r>
                  </m:oMath>
                </a14:m>
              </mc:Choice>
              <mc:Fallback>
                <a:r>
                  <a:rPr lang="en-US" sz="1080" dirty="0">
                    <a:solidFill>
                      <a:srgbClr val="6B6B6B"/>
                    </a:solidFill>
                    <a:latin typeface="Arial" pitchFamily="34" charset="0"/>
                    <a:ea typeface="Arial" pitchFamily="34" charset="-122"/>
                    <a:cs typeface="Arial" pitchFamily="34" charset="-120"/>
                  </a:rPr>
                  <a:t>ζ = 0,25</a:t>
                </a:r>
              </mc:Fallback>
            </mc:AlternateContent>
            <a:r>
              <a:rPr lang="en-US" sz="1080" dirty="0">
                <a:solidFill>
                  <a:srgbClr val="6B6B6B"/>
                </a:solidFill>
                <a:latin typeface="Arial" pitchFamily="34" charset="0"/>
                <a:ea typeface="Arial" pitchFamily="34" charset="-122"/>
                <a:cs typeface="Arial" pitchFamily="34" charset="-120"/>
              </a:rPr>
              <a:t>, referido a velocidad)</a:t>
            </a:r>
            <a:endParaRPr lang="en-US" sz="1080" dirty="0"/>
          </a:p>
        </p:txBody>
      </p:sp>
      <p:sp>
        <p:nvSpPr>
          <p:cNvPr id="26" name="Elemento [s1]"/>
          <p:cNvSpPr txBox="1"/>
          <p:nvPr/>
        </p:nvSpPr>
        <p:spPr>
          <a:xfrm>
            <a:off x="966136" y="4045498"/>
            <a:ext cx="7211728" cy="440717"/>
          </a:xfrm>
          <a:prstGeom prst="rect">
            <a:avLst/>
          </a:prstGeom>
          <a:noFill/>
          <a:ln/>
        </p:spPr>
        <p:txBody>
          <a:bodyPr wrap="square" lIns="0" tIns="0" rIns="0" bIns="0" rtlCol="0" anchor="t"/>
          <a:lstStyle/>
          <a:p>
            <a:pPr indent="0" marL="0">
              <a:buNone/>
            </a:pPr>
            <a:r>
              <a:rPr lang="en-US" sz="126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260" dirty="0"/>
          </a:p>
        </p:txBody>
      </p:sp>
      <p:sp>
        <p:nvSpPr>
          <p:cNvPr id="27" name="Fondo E_zeta2 [s2]"/>
          <p:cNvSpPr/>
          <p:nvPr/>
        </p:nvSpPr>
        <p:spPr>
          <a:xfrm>
            <a:off x="966136" y="1681654"/>
            <a:ext cx="7211728" cy="76123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28" name="Ecuación E_zeta2 [s2]"/>
              <p:cNvSpPr txBox="1"/>
              <p:nvPr/>
            </p:nvSpPr>
            <p:spPr>
              <a:xfrm>
                <a:off x="966136" y="1681654"/>
                <a:ext cx="7211728" cy="76123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ζ</m:t>
                          </m:r>
                        </m:e>
                        <m:sub>
                          <m:r>
                            <a:rPr lang="es-ES" sz="2200" i="1">
                              <a:solidFill>
                                <a:srgbClr val="1F4E79"/>
                              </a:solidFill>
                              <a:latin typeface="Cambria Math" panose="02040503050406030204" pitchFamily="18" charset="0"/>
                            </a:rPr>
                            <m:t xml:space="preserve">0</m:t>
                          </m:r>
                        </m:sub>
                      </m:sSub>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28" name="Ecuación E_zeta2 [s2]"/>
              <p:cNvSpPr txBox="1"/>
              <p:nvPr/>
            </p:nvSpPr>
            <p:spPr>
              <a:xfrm>
                <a:off x="966136" y="1681654"/>
                <a:ext cx="7211728" cy="76123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ζ = ζ0 + G0² / (2mωn(Ri + RL))</a:t>
                </a:r>
                <a:endParaRPr lang="en-US" sz="2159" dirty="0"/>
              </a:p>
            </p:txBody>
          </p:sp>
        </mc:Fallback>
      </mc:AlternateContent>
      <p:sp>
        <p:nvSpPr>
          <p:cNvPr id="29" name="Cuerpo [s2]"/>
          <p:cNvSpPr txBox="1"/>
          <p:nvPr/>
        </p:nvSpPr>
        <p:spPr>
          <a:xfrm>
            <a:off x="966136" y="2603152"/>
            <a:ext cx="7211728" cy="1201955"/>
          </a:xfrm>
          <a:prstGeom prst="rect">
            <a:avLst/>
          </a:prstGeom>
          <a:noFill/>
          <a:ln/>
        </p:spPr>
        <p:txBody>
          <a:bodyPr wrap="square" lIns="0" tIns="0" rIns="0" bIns="0" rtlCol="0" anchor="t"/>
          <a:lstStyle/>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El lazo activo interactúa directamente con el transductor</a:t>
            </a:r>
            <a:endParaRPr lang="en-US" sz="1440" dirty="0"/>
          </a:p>
          <a:p>
            <a:pPr marL="342900" indent="-342900">
              <a:spcAft>
                <a:spcPts val="720"/>
              </a:spcAft>
              <a:buSzPct val="100000"/>
              <a:buChar char="•"/>
            </a:pPr>
            <a:r>
              <a:rPr lang="en-US" sz="144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440" dirty="0"/>
          </a:p>
        </p:txBody>
      </p:sp>
      <p:sp>
        <p:nvSpPr>
          <p:cNvPr id="30" name="Elemento [s2]"/>
          <p:cNvSpPr txBox="1"/>
          <p:nvPr/>
        </p:nvSpPr>
        <p:spPr>
          <a:xfrm>
            <a:off x="966136" y="3885237"/>
            <a:ext cx="7211728" cy="480782"/>
          </a:xfrm>
          <a:prstGeom prst="rect">
            <a:avLst/>
          </a:prstGeom>
          <a:noFill/>
          <a:ln/>
        </p:spPr>
        <p:txBody>
          <a:bodyPr wrap="square" lIns="0" tIns="0" rIns="0" bIns="0" rtlCol="0" anchor="t"/>
          <a:lstStyle/>
          <a:p>
            <a:pPr indent="0" marL="0">
              <a:buNone/>
            </a:pPr>
            <a:r>
              <a:rPr lang="en-US" sz="144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440" dirty="0"/>
          </a:p>
        </p:txBody>
      </p:sp>
      <p:pic>
        <p:nvPicPr>
          <p:cNvPr id="31" name="Curvas del compensador [s3]" descr="Respuesta referida a aceleración: geófono, compensador ideal sin ganancia y compensador ideal con ganancia">    </p:cNvPr>
          <p:cNvPicPr>
            <a:picLocks noChangeAspect="1"/>
          </p:cNvPicPr>
          <p:nvPr/>
        </p:nvPicPr>
        <p:blipFill>
          <a:blip r:embed="rId1"/>
          <a:stretch>
            <a:fillRect/>
          </a:stretch>
        </p:blipFill>
        <p:spPr>
          <a:xfrm>
            <a:off x="886005" y="1601523"/>
            <a:ext cx="4487298" cy="2546845"/>
          </a:xfrm>
          <a:prstGeom prst="rect">
            <a:avLst/>
          </a:prstGeom>
        </p:spPr>
      </p:pic>
      <p:sp>
        <p:nvSpPr>
          <p:cNvPr id="32" name="Cuerpo [s3]"/>
          <p:cNvSpPr txBox="1"/>
          <p:nvPr/>
        </p:nvSpPr>
        <p:spPr>
          <a:xfrm>
            <a:off x="5533564" y="1681654"/>
            <a:ext cx="2644300" cy="2724431"/>
          </a:xfrm>
          <a:prstGeom prst="rect">
            <a:avLst/>
          </a:prstGeom>
          <a:noFill/>
          <a:ln/>
        </p:spPr>
        <p:txBody>
          <a:bodyPr wrap="square" lIns="0" tIns="0" rIns="0" bIns="0" rtlCol="0" anchor="t"/>
          <a:lstStyle/>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Se atenúa la zona de la resonancia</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Después se recupera el nivel con ganancia global</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El pasabanda se ensancha, pero sigue siendo un pasabanda</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170" dirty="0"/>
          </a:p>
        </p:txBody>
      </p:sp>
      <p:sp>
        <p:nvSpPr>
          <p:cNvPr id="33" name="Elemento [s3]"/>
          <p:cNvSpPr txBox="1"/>
          <p:nvPr/>
        </p:nvSpPr>
        <p:spPr>
          <a:xfrm>
            <a:off x="966136" y="4221785"/>
            <a:ext cx="4487298" cy="240391"/>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Compensador ideal</a:t>
            </a:r>
            <a:endParaRPr lang="en-US" sz="1080" dirty="0"/>
          </a:p>
        </p:txBody>
      </p:sp>
      <p:sp>
        <p:nvSpPr>
          <p:cNvPr id="34" name="Cabecera Estable [s4]"/>
          <p:cNvSpPr/>
          <p:nvPr/>
        </p:nvSpPr>
        <p:spPr>
          <a:xfrm>
            <a:off x="966136" y="1641589"/>
            <a:ext cx="2323779" cy="400652"/>
          </a:xfrm>
          <a:prstGeom prst="rect">
            <a:avLst/>
          </a:prstGeom>
          <a:solidFill>
            <a:srgbClr val="1F4E79"/>
          </a:solidFill>
          <a:ln w="6350">
            <a:solidFill>
              <a:srgbClr val="1F4E79"/>
            </a:solidFill>
            <a:prstDash val="solid"/>
          </a:ln>
        </p:spPr>
      </p:sp>
      <p:sp>
        <p:nvSpPr>
          <p:cNvPr id="35" name="Elemento [s4]"/>
          <p:cNvSpPr txBox="1"/>
          <p:nvPr/>
        </p:nvSpPr>
        <p:spPr>
          <a:xfrm>
            <a:off x="1006201" y="1641589"/>
            <a:ext cx="2243649" cy="400652"/>
          </a:xfrm>
          <a:prstGeom prst="rect">
            <a:avLst/>
          </a:prstGeom>
          <a:noFill/>
          <a:ln/>
        </p:spPr>
        <p:txBody>
          <a:bodyPr wrap="square" lIns="0" tIns="0" rIns="0" bIns="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Estable</a:t>
            </a:r>
            <a:endParaRPr lang="en-US" sz="1440" dirty="0"/>
          </a:p>
        </p:txBody>
      </p:sp>
      <p:sp>
        <p:nvSpPr>
          <p:cNvPr id="36" name="Tarjeta Estable [s4]"/>
          <p:cNvSpPr/>
          <p:nvPr/>
        </p:nvSpPr>
        <p:spPr>
          <a:xfrm>
            <a:off x="966136" y="2042240"/>
            <a:ext cx="2323779" cy="961564"/>
          </a:xfrm>
          <a:prstGeom prst="rect">
            <a:avLst/>
          </a:prstGeom>
          <a:solidFill>
            <a:srgbClr val="FFFFFF"/>
          </a:solidFill>
          <a:ln w="16694">
            <a:solidFill>
              <a:srgbClr val="1F4E79"/>
            </a:solidFill>
            <a:prstDash val="solid"/>
          </a:ln>
        </p:spPr>
      </p:sp>
      <p:sp>
        <p:nvSpPr>
          <p:cNvPr id="37" name="Elemento [s4]"/>
          <p:cNvSpPr txBox="1"/>
          <p:nvPr/>
        </p:nvSpPr>
        <p:spPr>
          <a:xfrm>
            <a:off x="1062292" y="2106344"/>
            <a:ext cx="2131466" cy="833355"/>
          </a:xfrm>
          <a:prstGeom prst="rect">
            <a:avLst/>
          </a:prstGeom>
          <a:noFill/>
          <a:ln/>
        </p:spPr>
        <p:txBody>
          <a:bodyPr wrap="square" lIns="0" tIns="0" rIns="0" bIns="0" rtlCol="0" anchor="ctr"/>
          <a:lstStyle/>
          <a:p>
            <a:pPr algn="l" indent="0" marL="0">
              <a:buNone/>
            </a:pPr>
            <a:r>
              <a:rPr lang="en-US" sz="1170"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170" dirty="0"/>
          </a:p>
        </p:txBody>
      </p:sp>
      <p:sp>
        <p:nvSpPr>
          <p:cNvPr id="38" name="Cabecera Simple [s4]"/>
          <p:cNvSpPr/>
          <p:nvPr/>
        </p:nvSpPr>
        <p:spPr>
          <a:xfrm>
            <a:off x="3410110" y="1641589"/>
            <a:ext cx="2323779" cy="400652"/>
          </a:xfrm>
          <a:prstGeom prst="rect">
            <a:avLst/>
          </a:prstGeom>
          <a:solidFill>
            <a:srgbClr val="1F4E79"/>
          </a:solidFill>
          <a:ln w="6350">
            <a:solidFill>
              <a:srgbClr val="1F4E79"/>
            </a:solidFill>
            <a:prstDash val="solid"/>
          </a:ln>
        </p:spPr>
      </p:sp>
      <p:sp>
        <p:nvSpPr>
          <p:cNvPr id="39" name="Elemento [s4]"/>
          <p:cNvSpPr txBox="1"/>
          <p:nvPr/>
        </p:nvSpPr>
        <p:spPr>
          <a:xfrm>
            <a:off x="3450176" y="1641589"/>
            <a:ext cx="2243649" cy="400652"/>
          </a:xfrm>
          <a:prstGeom prst="rect">
            <a:avLst/>
          </a:prstGeom>
          <a:noFill/>
          <a:ln/>
        </p:spPr>
        <p:txBody>
          <a:bodyPr wrap="square" lIns="0" tIns="0" rIns="0" bIns="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Simple</a:t>
            </a:r>
            <a:endParaRPr lang="en-US" sz="1440" dirty="0"/>
          </a:p>
        </p:txBody>
      </p:sp>
      <p:sp>
        <p:nvSpPr>
          <p:cNvPr id="40" name="Tarjeta Simple [s4]"/>
          <p:cNvSpPr/>
          <p:nvPr/>
        </p:nvSpPr>
        <p:spPr>
          <a:xfrm>
            <a:off x="3410110" y="2042240"/>
            <a:ext cx="2323779" cy="961564"/>
          </a:xfrm>
          <a:prstGeom prst="rect">
            <a:avLst/>
          </a:prstGeom>
          <a:solidFill>
            <a:srgbClr val="FFFFFF"/>
          </a:solidFill>
          <a:ln w="16694">
            <a:solidFill>
              <a:srgbClr val="1F4E79"/>
            </a:solidFill>
            <a:prstDash val="solid"/>
          </a:ln>
        </p:spPr>
      </p:sp>
      <p:sp>
        <p:nvSpPr>
          <p:cNvPr id="41" name="Elemento [s4]"/>
          <p:cNvSpPr txBox="1"/>
          <p:nvPr/>
        </p:nvSpPr>
        <p:spPr>
          <a:xfrm>
            <a:off x="3506267" y="2106344"/>
            <a:ext cx="2131466" cy="833355"/>
          </a:xfrm>
          <a:prstGeom prst="rect">
            <a:avLst/>
          </a:prstGeom>
          <a:noFill/>
          <a:ln/>
        </p:spPr>
        <p:txBody>
          <a:bodyPr wrap="square" lIns="0" tIns="0" rIns="0" bIns="0" rtlCol="0" anchor="ctr"/>
          <a:lstStyle/>
          <a:p>
            <a:pPr algn="l" indent="0" marL="0">
              <a:buNone/>
            </a:pPr>
            <a:r>
              <a:rPr lang="en-US" sz="1170" dirty="0">
                <a:solidFill>
                  <a:srgbClr val="2D2D2D"/>
                </a:solidFill>
                <a:latin typeface="Arial" pitchFamily="34" charset="0"/>
                <a:ea typeface="Arial" pitchFamily="34" charset="-122"/>
                <a:cs typeface="Arial" pitchFamily="34" charset="-120"/>
              </a:rPr>
              <a:t>Su implementación requiere pocos componentes.</a:t>
            </a:r>
            <a:endParaRPr lang="en-US" sz="1170" dirty="0"/>
          </a:p>
        </p:txBody>
      </p:sp>
      <p:sp>
        <p:nvSpPr>
          <p:cNvPr id="42" name="Cabecera No amplifica ruido [s4]"/>
          <p:cNvSpPr/>
          <p:nvPr/>
        </p:nvSpPr>
        <p:spPr>
          <a:xfrm>
            <a:off x="5854085" y="1641589"/>
            <a:ext cx="2323779" cy="400652"/>
          </a:xfrm>
          <a:prstGeom prst="rect">
            <a:avLst/>
          </a:prstGeom>
          <a:solidFill>
            <a:srgbClr val="1F4E79"/>
          </a:solidFill>
          <a:ln w="6350">
            <a:solidFill>
              <a:srgbClr val="1F4E79"/>
            </a:solidFill>
            <a:prstDash val="solid"/>
          </a:ln>
        </p:spPr>
      </p:sp>
      <p:sp>
        <p:nvSpPr>
          <p:cNvPr id="43" name="Elemento [s4]"/>
          <p:cNvSpPr txBox="1"/>
          <p:nvPr/>
        </p:nvSpPr>
        <p:spPr>
          <a:xfrm>
            <a:off x="5894150" y="1641589"/>
            <a:ext cx="2243649" cy="400652"/>
          </a:xfrm>
          <a:prstGeom prst="rect">
            <a:avLst/>
          </a:prstGeom>
          <a:noFill/>
          <a:ln/>
        </p:spPr>
        <p:txBody>
          <a:bodyPr wrap="square" lIns="0" tIns="0" rIns="0" bIns="0" rtlCol="0" anchor="ctr"/>
          <a:lstStyle/>
          <a:p>
            <a:pPr algn="ctr" indent="0" marL="0">
              <a:buNone/>
            </a:pPr>
            <a:r>
              <a:rPr lang="en-US" sz="1440" b="1" dirty="0">
                <a:solidFill>
                  <a:srgbClr val="FFFFFF"/>
                </a:solidFill>
                <a:latin typeface="Arial" pitchFamily="34" charset="0"/>
                <a:ea typeface="Arial" pitchFamily="34" charset="-122"/>
                <a:cs typeface="Arial" pitchFamily="34" charset="-120"/>
              </a:rPr>
              <a:t>No amplifica ruido</a:t>
            </a:r>
            <a:endParaRPr lang="en-US" sz="1440" dirty="0"/>
          </a:p>
        </p:txBody>
      </p:sp>
      <p:sp>
        <p:nvSpPr>
          <p:cNvPr id="44" name="Tarjeta No amplifica ruido [s4]"/>
          <p:cNvSpPr/>
          <p:nvPr/>
        </p:nvSpPr>
        <p:spPr>
          <a:xfrm>
            <a:off x="5854085" y="2042240"/>
            <a:ext cx="2323779" cy="961564"/>
          </a:xfrm>
          <a:prstGeom prst="rect">
            <a:avLst/>
          </a:prstGeom>
          <a:solidFill>
            <a:srgbClr val="FFFFFF"/>
          </a:solidFill>
          <a:ln w="16694">
            <a:solidFill>
              <a:srgbClr val="1F4E79"/>
            </a:solidFill>
            <a:prstDash val="solid"/>
          </a:ln>
        </p:spPr>
      </p:sp>
      <p:sp>
        <p:nvSpPr>
          <p:cNvPr id="45" name="Elemento [s4]"/>
          <p:cNvSpPr txBox="1"/>
          <p:nvPr/>
        </p:nvSpPr>
        <p:spPr>
          <a:xfrm>
            <a:off x="5950241" y="2106344"/>
            <a:ext cx="2131466" cy="833355"/>
          </a:xfrm>
          <a:prstGeom prst="rect">
            <a:avLst/>
          </a:prstGeom>
          <a:noFill/>
          <a:ln/>
        </p:spPr>
        <p:txBody>
          <a:bodyPr wrap="square" lIns="0" tIns="0" rIns="0" bIns="0" rtlCol="0" anchor="ctr"/>
          <a:lstStyle/>
          <a:p>
            <a:pPr algn="l" indent="0" marL="0">
              <a:buNone/>
            </a:pPr>
            <a:r>
              <a:rPr lang="en-US" sz="1170"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170" dirty="0"/>
          </a:p>
        </p:txBody>
      </p:sp>
      <p:sp>
        <p:nvSpPr>
          <p:cNvPr id="46" name="Fondo complejidad [s4]"/>
          <p:cNvSpPr/>
          <p:nvPr/>
        </p:nvSpPr>
        <p:spPr>
          <a:xfrm>
            <a:off x="966136" y="3043869"/>
            <a:ext cx="7211728" cy="681108"/>
          </a:xfrm>
          <a:prstGeom prst="rect">
            <a:avLst/>
          </a:prstGeom>
          <a:solidFill>
            <a:srgbClr val="EAF1F8"/>
          </a:solidFill>
          <a:ln w="6350">
            <a:solidFill>
              <a:srgbClr val="EAF1F8"/>
            </a:solidFill>
            <a:prstDash val="solid"/>
          </a:ln>
        </p:spPr>
      </p:sp>
      <p:sp>
        <p:nvSpPr>
          <p:cNvPr id="47" name="Elemento [s4]"/>
          <p:cNvSpPr txBox="1"/>
          <p:nvPr/>
        </p:nvSpPr>
        <p:spPr>
          <a:xfrm>
            <a:off x="1086331" y="3043869"/>
            <a:ext cx="6971337" cy="681108"/>
          </a:xfrm>
          <a:prstGeom prst="rect">
            <a:avLst/>
          </a:prstGeom>
          <a:noFill/>
          <a:ln/>
        </p:spPr>
        <p:txBody>
          <a:bodyPr wrap="square" lIns="0" tIns="0" rIns="0" bIns="0" rtlCol="0" anchor="ctr"/>
          <a:lstStyle/>
          <a:p>
            <a:pPr indent="0" marL="0">
              <a:buNone/>
            </a:pPr>
            <a:r>
              <a:rPr lang="en-US" sz="1260"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260" dirty="0"/>
          </a:p>
        </p:txBody>
      </p:sp>
      <p:sp>
        <p:nvSpPr>
          <p:cNvPr id="48" name="Fondo desventaja [s4]"/>
          <p:cNvSpPr/>
          <p:nvPr/>
        </p:nvSpPr>
        <p:spPr>
          <a:xfrm>
            <a:off x="966136" y="3805107"/>
            <a:ext cx="7211728" cy="560912"/>
          </a:xfrm>
          <a:prstGeom prst="rect">
            <a:avLst/>
          </a:prstGeom>
          <a:solidFill>
            <a:srgbClr val="FBE9DD"/>
          </a:solidFill>
          <a:ln w="6350">
            <a:solidFill>
              <a:srgbClr val="FBE9DD"/>
            </a:solidFill>
            <a:prstDash val="solid"/>
          </a:ln>
        </p:spPr>
      </p:sp>
      <p:sp>
        <p:nvSpPr>
          <p:cNvPr id="49" name="Elemento [s4]"/>
          <p:cNvSpPr txBox="1"/>
          <p:nvPr/>
        </p:nvSpPr>
        <p:spPr>
          <a:xfrm>
            <a:off x="1086331" y="3805107"/>
            <a:ext cx="6971337" cy="560912"/>
          </a:xfrm>
          <a:prstGeom prst="rect">
            <a:avLst/>
          </a:prstGeom>
          <a:noFill/>
          <a:ln/>
        </p:spPr>
        <p:txBody>
          <a:bodyPr wrap="square" lIns="0" tIns="0" rIns="0" bIns="0" rtlCol="0" anchor="ctr"/>
          <a:lstStyle/>
          <a:p>
            <a:pPr indent="0" marL="0">
              <a:buNone/>
            </a:pPr>
            <a:r>
              <a:rPr lang="en-US" sz="1350"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350" dirty="0"/>
          </a:p>
        </p:txBody>
      </p:sp>
      <p:sp>
        <p:nvSpPr>
          <p:cNvPr id="50" name="Elemento [s5]"/>
          <p:cNvSpPr txBox="1"/>
          <p:nvPr/>
        </p:nvSpPr>
        <p:spPr>
          <a:xfrm>
            <a:off x="966136" y="1601523"/>
            <a:ext cx="7211728" cy="240391"/>
          </a:xfrm>
          <a:prstGeom prst="rect">
            <a:avLst/>
          </a:prstGeom>
          <a:noFill/>
          <a:ln/>
        </p:spPr>
        <p:txBody>
          <a:bodyPr wrap="square" lIns="0" tIns="0" rIns="0" bIns="0" rtlCol="0" anchor="t"/>
          <a:lstStyle/>
          <a:p>
            <a:pPr indent="0" marL="0">
              <a:buNone/>
            </a:pPr>
            <a:r>
              <a:rPr lang="en-US" sz="1260" dirty="0">
                <a:solidFill>
                  <a:srgbClr val="2D2D2D"/>
                </a:solidFill>
                <a:latin typeface="Arial" pitchFamily="34" charset="0"/>
                <a:ea typeface="Arial" pitchFamily="34" charset="-122"/>
                <a:cs typeface="Arial" pitchFamily="34" charset="-120"/>
              </a:rPr>
              <a:t>Buscamos que el conjunto tenga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260" i="1">
                            <a:latin typeface="Cambria Math" panose="02040503050406030204" pitchFamily="18" charset="0"/>
                          </a:rPr>
                        </m:ctrlPr>
                      </m:sSubPr>
                      <m:e>
                        <m:r>
                          <a:rPr lang="es-ES" sz="1260" i="1">
                            <a:solidFill>
                              <a:srgbClr val="2D2D2D"/>
                            </a:solidFill>
                            <a:latin typeface="Cambria Math" panose="02040503050406030204" pitchFamily="18" charset="0"/>
                          </a:rPr>
                          <m:t xml:space="preserve">ζ</m:t>
                        </m:r>
                      </m:e>
                      <m:sub>
                        <m:r>
                          <m:rPr>
                            <m:sty m:val="p"/>
                          </m:rPr>
                          <a:rPr lang="es-ES" sz="1260">
                            <a:solidFill>
                              <a:srgbClr val="2D2D2D"/>
                            </a:solidFill>
                            <a:latin typeface="Cambria Math" panose="02040503050406030204" pitchFamily="18" charset="0"/>
                          </a:rPr>
                          <m:t xml:space="preserve">1</m:t>
                        </m:r>
                      </m:sub>
                    </m:sSub>
                    <m:r>
                      <m:rPr>
                        <m:sty m:val="p"/>
                      </m:rPr>
                      <a:rPr lang="es-ES" sz="1260">
                        <a:solidFill>
                          <a:srgbClr val="2D2D2D"/>
                        </a:solidFill>
                        <a:latin typeface="Cambria Math" panose="02040503050406030204" pitchFamily="18" charset="0"/>
                      </a:rPr>
                      <m:t xml:space="preserve">&gt;</m:t>
                    </m:r>
                    <m:sSub>
                      <m:sSubPr>
                        <m:ctrlPr>
                          <a:rPr lang="es-ES" sz="1260" i="1">
                            <a:latin typeface="Cambria Math" panose="02040503050406030204" pitchFamily="18" charset="0"/>
                          </a:rPr>
                        </m:ctrlPr>
                      </m:sSubPr>
                      <m:e>
                        <m:r>
                          <a:rPr lang="es-ES" sz="1260" i="1">
                            <a:solidFill>
                              <a:srgbClr val="2D2D2D"/>
                            </a:solidFill>
                            <a:latin typeface="Cambria Math" panose="02040503050406030204" pitchFamily="18" charset="0"/>
                          </a:rPr>
                          <m:t xml:space="preserve">ζ</m:t>
                        </m:r>
                      </m:e>
                      <m:sub>
                        <m:r>
                          <m:rPr>
                            <m:sty m:val="p"/>
                          </m:rPr>
                          <a:rPr lang="es-ES" sz="1260">
                            <a:solidFill>
                              <a:srgbClr val="2D2D2D"/>
                            </a:solidFill>
                            <a:latin typeface="Cambria Math" panose="02040503050406030204" pitchFamily="18" charset="0"/>
                          </a:rPr>
                          <m:t xml:space="preserve">0</m:t>
                        </m:r>
                      </m:sub>
                    </m:sSub>
                  </m:oMath>
                </a14:m>
              </mc:Choice>
              <mc:Fallback>
                <a:r>
                  <a:rPr lang="en-US" sz="1260" dirty="0">
                    <a:solidFill>
                      <a:srgbClr val="2D2D2D"/>
                    </a:solidFill>
                    <a:latin typeface="Arial" pitchFamily="34" charset="0"/>
                    <a:ea typeface="Arial" pitchFamily="34" charset="-122"/>
                    <a:cs typeface="Arial" pitchFamily="34" charset="-120"/>
                  </a:rPr>
                  <a:t>ζ1 &gt; ζ0</a:t>
                </a:r>
              </mc:Fallback>
            </mc:AlternateContent>
            <a:r>
              <a:rPr lang="en-US" sz="1260" dirty="0">
                <a:solidFill>
                  <a:srgbClr val="2D2D2D"/>
                </a:solidFill>
                <a:latin typeface="Arial" pitchFamily="34" charset="0"/>
                <a:ea typeface="Arial" pitchFamily="34" charset="-122"/>
                <a:cs typeface="Arial" pitchFamily="34" charset="-120"/>
              </a:rPr>
              <a:t>, con la misma frecuencia natural:</a:t>
            </a:r>
            <a:endParaRPr lang="en-US" sz="1260" dirty="0"/>
          </a:p>
        </p:txBody>
      </p:sp>
      <p:sp>
        <p:nvSpPr>
          <p:cNvPr id="51" name="Fondo E_hc1 [s5]"/>
          <p:cNvSpPr/>
          <p:nvPr/>
        </p:nvSpPr>
        <p:spPr>
          <a:xfrm>
            <a:off x="966136" y="1922045"/>
            <a:ext cx="7211728" cy="1001629"/>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2" name="Ecuación E_hc1 [s5]"/>
              <p:cNvSpPr txBox="1"/>
              <p:nvPr/>
            </p:nvSpPr>
            <p:spPr>
              <a:xfrm>
                <a:off x="966136" y="1922045"/>
                <a:ext cx="7211728" cy="1001629"/>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H</m:t>
                          </m:r>
                        </m:e>
                        <m:sub>
                          <m:r>
                            <m:rPr>
                              <m:sty m:val="p"/>
                            </m:rPr>
                            <a:rPr lang="es-ES" sz="2700">
                              <a:solidFill>
                                <a:srgbClr val="1F4E79"/>
                              </a:solidFill>
                              <a:latin typeface="Cambria Math" panose="02040503050406030204" pitchFamily="18" charset="0"/>
                            </a:rPr>
                            <m:t xml:space="preserve">comp</m:t>
                          </m:r>
                        </m:sub>
                      </m:sSub>
                      <m:r>
                        <a:rPr lang="es-ES" sz="2700" i="1">
                          <a:solidFill>
                            <a:srgbClr val="1F4E79"/>
                          </a:solidFill>
                          <a:latin typeface="Cambria Math" panose="02040503050406030204" pitchFamily="18" charset="0"/>
                        </a:rPr>
                        <m:t xml:space="preserve">(s)=</m:t>
                      </m:r>
                      <m:f>
                        <m:fPr>
                          <m:ctrlPr>
                            <a:rPr lang="es-ES" sz="2700" i="1">
                              <a:latin typeface="Cambria Math" panose="02040503050406030204" pitchFamily="18" charset="0"/>
                            </a:rPr>
                          </m:ctrlPr>
                        </m:fPr>
                        <m:num>
                          <m:sSup>
                            <m:sSupPr>
                              <m:ctrlPr>
                                <a:rPr lang="es-ES" sz="2700" i="1">
                                  <a:latin typeface="Cambria Math" panose="02040503050406030204" pitchFamily="18" charset="0"/>
                                </a:rPr>
                              </m:ctrlPr>
                            </m:sSupPr>
                            <m:e>
                              <m:r>
                                <a:rPr lang="es-ES" sz="2700" i="1">
                                  <a:solidFill>
                                    <a:srgbClr val="1F4E79"/>
                                  </a:solidFill>
                                  <a:latin typeface="Cambria Math" panose="02040503050406030204" pitchFamily="18" charset="0"/>
                                </a:rPr>
                                <m:t xml:space="preserve">s</m:t>
                              </m:r>
                            </m:e>
                            <m:sup>
                              <m:r>
                                <a:rPr lang="es-ES" sz="2700" i="1">
                                  <a:solidFill>
                                    <a:srgbClr val="1F4E79"/>
                                  </a:solidFill>
                                  <a:latin typeface="Cambria Math" panose="02040503050406030204" pitchFamily="18" charset="0"/>
                                </a:rPr>
                                <m:t xml:space="preserve">2</m:t>
                              </m:r>
                            </m:sup>
                          </m:sSup>
                          <m:r>
                            <a:rPr lang="es-ES" sz="2700" i="1">
                              <a:solidFill>
                                <a:srgbClr val="1F4E79"/>
                              </a:solidFill>
                              <a:latin typeface="Cambria Math" panose="02040503050406030204" pitchFamily="18" charset="0"/>
                            </a:rPr>
                            <m:t xml:space="preserve">+2</m:t>
                          </m:r>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ζ</m:t>
                              </m:r>
                            </m:e>
                            <m:sub>
                              <m:r>
                                <a:rPr lang="es-ES" sz="2700" i="1">
                                  <a:solidFill>
                                    <a:srgbClr val="1F4E79"/>
                                  </a:solidFill>
                                  <a:latin typeface="Cambria Math" panose="02040503050406030204" pitchFamily="18" charset="0"/>
                                </a:rPr>
                                <m:t xml:space="preserve">0</m:t>
                              </m:r>
                            </m:sub>
                          </m:sSub>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ω</m:t>
                              </m:r>
                            </m:e>
                            <m:sub>
                              <m:r>
                                <a:rPr lang="es-ES" sz="2700" i="1">
                                  <a:solidFill>
                                    <a:srgbClr val="1F4E79"/>
                                  </a:solidFill>
                                  <a:latin typeface="Cambria Math" panose="02040503050406030204" pitchFamily="18" charset="0"/>
                                </a:rPr>
                                <m:t xml:space="preserve">n</m:t>
                              </m:r>
                            </m:sub>
                          </m:sSub>
                          <m:r>
                            <a:rPr lang="es-ES" sz="2700" i="1">
                              <a:solidFill>
                                <a:srgbClr val="1F4E79"/>
                              </a:solidFill>
                              <a:latin typeface="Cambria Math" panose="02040503050406030204" pitchFamily="18" charset="0"/>
                            </a:rPr>
                            <m:t xml:space="preserve">s+</m:t>
                          </m:r>
                          <m:sSup>
                            <m:sSupPr>
                              <m:ctrlPr>
                                <a:rPr lang="es-ES" sz="2700" i="1">
                                  <a:latin typeface="Cambria Math" panose="02040503050406030204" pitchFamily="18" charset="0"/>
                                </a:rPr>
                              </m:ctrlPr>
                            </m:sSupPr>
                            <m:e>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ω</m:t>
                                  </m:r>
                                </m:e>
                                <m:sub>
                                  <m:r>
                                    <a:rPr lang="es-ES" sz="2700" i="1">
                                      <a:solidFill>
                                        <a:srgbClr val="1F4E79"/>
                                      </a:solidFill>
                                      <a:latin typeface="Cambria Math" panose="02040503050406030204" pitchFamily="18" charset="0"/>
                                    </a:rPr>
                                    <m:t xml:space="preserve">n</m:t>
                                  </m:r>
                                </m:sub>
                              </m:sSub>
                            </m:e>
                            <m:sup>
                              <m:r>
                                <a:rPr lang="es-ES" sz="2700" i="1">
                                  <a:solidFill>
                                    <a:srgbClr val="1F4E79"/>
                                  </a:solidFill>
                                  <a:latin typeface="Cambria Math" panose="02040503050406030204" pitchFamily="18" charset="0"/>
                                </a:rPr>
                                <m:t xml:space="preserve">2</m:t>
                              </m:r>
                            </m:sup>
                          </m:sSup>
                        </m:num>
                        <m:den>
                          <m:sSup>
                            <m:sSupPr>
                              <m:ctrlPr>
                                <a:rPr lang="es-ES" sz="2700" i="1">
                                  <a:latin typeface="Cambria Math" panose="02040503050406030204" pitchFamily="18" charset="0"/>
                                </a:rPr>
                              </m:ctrlPr>
                            </m:sSupPr>
                            <m:e>
                              <m:r>
                                <a:rPr lang="es-ES" sz="2700" i="1">
                                  <a:solidFill>
                                    <a:srgbClr val="1F4E79"/>
                                  </a:solidFill>
                                  <a:latin typeface="Cambria Math" panose="02040503050406030204" pitchFamily="18" charset="0"/>
                                </a:rPr>
                                <m:t xml:space="preserve">s</m:t>
                              </m:r>
                            </m:e>
                            <m:sup>
                              <m:r>
                                <a:rPr lang="es-ES" sz="2700" i="1">
                                  <a:solidFill>
                                    <a:srgbClr val="1F4E79"/>
                                  </a:solidFill>
                                  <a:latin typeface="Cambria Math" panose="02040503050406030204" pitchFamily="18" charset="0"/>
                                </a:rPr>
                                <m:t xml:space="preserve">2</m:t>
                              </m:r>
                            </m:sup>
                          </m:sSup>
                          <m:r>
                            <a:rPr lang="es-ES" sz="2700" i="1">
                              <a:solidFill>
                                <a:srgbClr val="1F4E79"/>
                              </a:solidFill>
                              <a:latin typeface="Cambria Math" panose="02040503050406030204" pitchFamily="18" charset="0"/>
                            </a:rPr>
                            <m:t xml:space="preserve">+2</m:t>
                          </m:r>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ζ</m:t>
                              </m:r>
                            </m:e>
                            <m:sub>
                              <m:r>
                                <a:rPr lang="es-ES" sz="2700" i="1">
                                  <a:solidFill>
                                    <a:srgbClr val="1F4E79"/>
                                  </a:solidFill>
                                  <a:latin typeface="Cambria Math" panose="02040503050406030204" pitchFamily="18" charset="0"/>
                                </a:rPr>
                                <m:t xml:space="preserve">1</m:t>
                              </m:r>
                            </m:sub>
                          </m:sSub>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ω</m:t>
                              </m:r>
                            </m:e>
                            <m:sub>
                              <m:r>
                                <a:rPr lang="es-ES" sz="2700" i="1">
                                  <a:solidFill>
                                    <a:srgbClr val="1F4E79"/>
                                  </a:solidFill>
                                  <a:latin typeface="Cambria Math" panose="02040503050406030204" pitchFamily="18" charset="0"/>
                                </a:rPr>
                                <m:t xml:space="preserve">n</m:t>
                              </m:r>
                            </m:sub>
                          </m:sSub>
                          <m:r>
                            <a:rPr lang="es-ES" sz="2700" i="1">
                              <a:solidFill>
                                <a:srgbClr val="1F4E79"/>
                              </a:solidFill>
                              <a:latin typeface="Cambria Math" panose="02040503050406030204" pitchFamily="18" charset="0"/>
                            </a:rPr>
                            <m:t xml:space="preserve">s+</m:t>
                          </m:r>
                          <m:sSup>
                            <m:sSupPr>
                              <m:ctrlPr>
                                <a:rPr lang="es-ES" sz="2700" i="1">
                                  <a:latin typeface="Cambria Math" panose="02040503050406030204" pitchFamily="18" charset="0"/>
                                </a:rPr>
                              </m:ctrlPr>
                            </m:sSupPr>
                            <m:e>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ω</m:t>
                                  </m:r>
                                </m:e>
                                <m:sub>
                                  <m:r>
                                    <a:rPr lang="es-ES" sz="2700" i="1">
                                      <a:solidFill>
                                        <a:srgbClr val="1F4E79"/>
                                      </a:solidFill>
                                      <a:latin typeface="Cambria Math" panose="02040503050406030204" pitchFamily="18" charset="0"/>
                                    </a:rPr>
                                    <m:t xml:space="preserve">n</m:t>
                                  </m:r>
                                </m:sub>
                              </m:sSub>
                            </m:e>
                            <m:sup>
                              <m:r>
                                <a:rPr lang="es-ES" sz="2700" i="1">
                                  <a:solidFill>
                                    <a:srgbClr val="1F4E79"/>
                                  </a:solidFill>
                                  <a:latin typeface="Cambria Math" panose="02040503050406030204" pitchFamily="18" charset="0"/>
                                </a:rPr>
                                <m:t xml:space="preserve">2</m:t>
                              </m:r>
                            </m:sup>
                          </m:sSup>
                        </m:den>
                      </m:f>
                    </m:oMath>
                  </m:oMathPara>
                </a14:m>
                <a:endParaRPr lang="es-ES"/>
              </a:p>
            </p:txBody>
          </p:sp>
        </mc:Choice>
        <mc:Fallback>
          <p:sp>
            <p:nvSpPr>
              <p:cNvPr id="52" name="Ecuación E_hc1 [s5]"/>
              <p:cNvSpPr txBox="1"/>
              <p:nvPr/>
            </p:nvSpPr>
            <p:spPr>
              <a:xfrm>
                <a:off x="966136" y="1922045"/>
                <a:ext cx="7211728" cy="1001629"/>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Hcomp(s) = (s² + 2ζ0ωn·s + ωn²) / (s² + 2ζ1ωn·s + ωn²)</a:t>
                </a:r>
                <a:endParaRPr lang="en-US" sz="2159" dirty="0"/>
              </a:p>
            </p:txBody>
          </p:sp>
        </mc:Fallback>
      </mc:AlternateContent>
      <p:sp>
        <p:nvSpPr>
          <p:cNvPr id="53" name="Elemento [s5]"/>
          <p:cNvSpPr txBox="1"/>
          <p:nvPr/>
        </p:nvSpPr>
        <p:spPr>
          <a:xfrm>
            <a:off x="966136" y="3043869"/>
            <a:ext cx="7211728" cy="240391"/>
          </a:xfrm>
          <a:prstGeom prst="rect">
            <a:avLst/>
          </a:prstGeom>
          <a:noFill/>
          <a:ln/>
        </p:spPr>
        <p:txBody>
          <a:bodyPr wrap="square" lIns="0" tIns="0" rIns="0" bIns="0" rtlCol="0" anchor="t"/>
          <a:lstStyle/>
          <a:p>
            <a:pPr indent="0" marL="0">
              <a:buNone/>
            </a:pPr>
            <a:r>
              <a:rPr lang="en-US" sz="1350" dirty="0">
                <a:solidFill>
                  <a:srgbClr val="2D2D2D"/>
                </a:solidFill>
                <a:latin typeface="Arial" pitchFamily="34" charset="0"/>
                <a:ea typeface="Arial" pitchFamily="34" charset="-122"/>
                <a:cs typeface="Arial" pitchFamily="34" charset="-120"/>
              </a:rPr>
              <a:t>Separando el término constante, el segundo término es un pasabanda, </a:t>
            </a:r>
            <mc:AlternateContent xmlns:mc="http://schemas.openxmlformats.org/markup-compatibility/2006">
              <mc:Choice xmlns:a14="http://schemas.microsoft.com/office/drawing/2010/main" Requires="a14">
                <a14:m>
                  <m:oMath xmlns:m="http://schemas.openxmlformats.org/officeDocument/2006/math">
                    <m:sSub>
                      <m:sSubPr>
                        <m:ctrlPr>
                          <a:rPr lang="es-ES" sz="1350" i="1">
                            <a:latin typeface="Cambria Math" panose="02040503050406030204" pitchFamily="18" charset="0"/>
                          </a:rPr>
                        </m:ctrlPr>
                      </m:sSubPr>
                      <m:e>
                        <m:r>
                          <a:rPr lang="es-ES" sz="1350" i="1">
                            <a:solidFill>
                              <a:srgbClr val="2D2D2D"/>
                            </a:solidFill>
                            <a:latin typeface="Cambria Math" panose="02040503050406030204" pitchFamily="18" charset="0"/>
                          </a:rPr>
                          <m:t xml:space="preserve">H</m:t>
                        </m:r>
                      </m:e>
                      <m:sub>
                        <m:r>
                          <m:rPr>
                            <m:sty m:val="p"/>
                          </m:rPr>
                          <a:rPr lang="es-ES" sz="1350">
                            <a:solidFill>
                              <a:srgbClr val="2D2D2D"/>
                            </a:solidFill>
                            <a:latin typeface="Cambria Math" panose="02040503050406030204" pitchFamily="18" charset="0"/>
                          </a:rPr>
                          <m:t xml:space="preserve">BP</m:t>
                        </m:r>
                      </m:sub>
                    </m:sSub>
                  </m:oMath>
                </a14:m>
              </mc:Choice>
              <mc:Fallback>
                <a:r>
                  <a:rPr lang="en-US" sz="1350" dirty="0">
                    <a:solidFill>
                      <a:srgbClr val="2D2D2D"/>
                    </a:solidFill>
                    <a:latin typeface="Arial" pitchFamily="34" charset="0"/>
                    <a:ea typeface="Arial" pitchFamily="34" charset="-122"/>
                    <a:cs typeface="Arial" pitchFamily="34" charset="-120"/>
                  </a:rPr>
                  <a:t>HBP</a:t>
                </a:r>
              </mc:Fallback>
            </mc:AlternateContent>
            <a:r>
              <a:rPr lang="en-US" sz="1350" dirty="0">
                <a:solidFill>
                  <a:srgbClr val="2D2D2D"/>
                </a:solidFill>
                <a:latin typeface="Arial" pitchFamily="34" charset="0"/>
                <a:ea typeface="Arial" pitchFamily="34" charset="-122"/>
                <a:cs typeface="Arial" pitchFamily="34" charset="-120"/>
              </a:rPr>
              <a:t>(s):</a:t>
            </a:r>
            <a:endParaRPr lang="en-US" sz="1350" dirty="0"/>
          </a:p>
        </p:txBody>
      </p:sp>
      <p:sp>
        <p:nvSpPr>
          <p:cNvPr id="54" name="Fondo E_hc2 [s5]"/>
          <p:cNvSpPr/>
          <p:nvPr/>
        </p:nvSpPr>
        <p:spPr>
          <a:xfrm>
            <a:off x="966136" y="3364390"/>
            <a:ext cx="7211728" cy="1041694"/>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55" name="Ecuación E_hc2 [s5]"/>
              <p:cNvSpPr txBox="1"/>
              <p:nvPr/>
            </p:nvSpPr>
            <p:spPr>
              <a:xfrm>
                <a:off x="966136" y="3364390"/>
                <a:ext cx="7211728" cy="1041694"/>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H</m:t>
                          </m:r>
                        </m:e>
                        <m:sub>
                          <m:r>
                            <m:rPr>
                              <m:sty m:val="p"/>
                            </m:rPr>
                            <a:rPr lang="es-ES" sz="2700">
                              <a:solidFill>
                                <a:srgbClr val="1F4E79"/>
                              </a:solidFill>
                              <a:latin typeface="Cambria Math" panose="02040503050406030204" pitchFamily="18" charset="0"/>
                            </a:rPr>
                            <m:t xml:space="preserve">comp</m:t>
                          </m:r>
                        </m:sub>
                      </m:sSub>
                      <m:r>
                        <a:rPr lang="es-ES" sz="2700" i="1">
                          <a:solidFill>
                            <a:srgbClr val="1F4E79"/>
                          </a:solidFill>
                          <a:latin typeface="Cambria Math" panose="02040503050406030204" pitchFamily="18" charset="0"/>
                        </a:rPr>
                        <m:t xml:space="preserve">(s)=1−</m:t>
                      </m:r>
                      <m:f>
                        <m:fPr>
                          <m:ctrlPr>
                            <a:rPr lang="es-ES" sz="2700" i="1">
                              <a:latin typeface="Cambria Math" panose="02040503050406030204" pitchFamily="18" charset="0"/>
                            </a:rPr>
                          </m:ctrlPr>
                        </m:fPr>
                        <m:num>
                          <m:r>
                            <a:rPr lang="es-ES" sz="2700" i="1">
                              <a:solidFill>
                                <a:srgbClr val="1F4E79"/>
                              </a:solidFill>
                              <a:latin typeface="Cambria Math" panose="02040503050406030204" pitchFamily="18" charset="0"/>
                            </a:rPr>
                            <m:t xml:space="preserve">2(</m:t>
                          </m:r>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ζ</m:t>
                              </m:r>
                            </m:e>
                            <m:sub>
                              <m:r>
                                <a:rPr lang="es-ES" sz="2700" i="1">
                                  <a:solidFill>
                                    <a:srgbClr val="1F4E79"/>
                                  </a:solidFill>
                                  <a:latin typeface="Cambria Math" panose="02040503050406030204" pitchFamily="18" charset="0"/>
                                </a:rPr>
                                <m:t xml:space="preserve">1</m:t>
                              </m:r>
                            </m:sub>
                          </m:sSub>
                          <m:r>
                            <a:rPr lang="es-ES" sz="2700" i="1">
                              <a:solidFill>
                                <a:srgbClr val="1F4E79"/>
                              </a:solidFill>
                              <a:latin typeface="Cambria Math" panose="02040503050406030204" pitchFamily="18" charset="0"/>
                            </a:rPr>
                            <m:t xml:space="preserve">−</m:t>
                          </m:r>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ζ</m:t>
                              </m:r>
                            </m:e>
                            <m:sub>
                              <m:r>
                                <a:rPr lang="es-ES" sz="2700" i="1">
                                  <a:solidFill>
                                    <a:srgbClr val="1F4E79"/>
                                  </a:solidFill>
                                  <a:latin typeface="Cambria Math" panose="02040503050406030204" pitchFamily="18" charset="0"/>
                                </a:rPr>
                                <m:t xml:space="preserve">0</m:t>
                              </m:r>
                            </m:sub>
                          </m:sSub>
                          <m:r>
                            <a:rPr lang="es-ES" sz="2700" i="1">
                              <a:solidFill>
                                <a:srgbClr val="1F4E79"/>
                              </a:solidFill>
                              <a:latin typeface="Cambria Math" panose="02040503050406030204" pitchFamily="18" charset="0"/>
                            </a:rPr>
                            <m:t xml:space="preserve">)</m:t>
                          </m:r>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ω</m:t>
                              </m:r>
                            </m:e>
                            <m:sub>
                              <m:r>
                                <a:rPr lang="es-ES" sz="2700" i="1">
                                  <a:solidFill>
                                    <a:srgbClr val="1F4E79"/>
                                  </a:solidFill>
                                  <a:latin typeface="Cambria Math" panose="02040503050406030204" pitchFamily="18" charset="0"/>
                                </a:rPr>
                                <m:t xml:space="preserve">n</m:t>
                              </m:r>
                            </m:sub>
                          </m:sSub>
                          <m:r>
                            <a:rPr lang="es-ES" sz="2700" i="1">
                              <a:solidFill>
                                <a:srgbClr val="1F4E79"/>
                              </a:solidFill>
                              <a:latin typeface="Cambria Math" panose="02040503050406030204" pitchFamily="18" charset="0"/>
                            </a:rPr>
                            <m:t xml:space="preserve">s</m:t>
                          </m:r>
                        </m:num>
                        <m:den>
                          <m:sSup>
                            <m:sSupPr>
                              <m:ctrlPr>
                                <a:rPr lang="es-ES" sz="2700" i="1">
                                  <a:latin typeface="Cambria Math" panose="02040503050406030204" pitchFamily="18" charset="0"/>
                                </a:rPr>
                              </m:ctrlPr>
                            </m:sSupPr>
                            <m:e>
                              <m:r>
                                <a:rPr lang="es-ES" sz="2700" i="1">
                                  <a:solidFill>
                                    <a:srgbClr val="1F4E79"/>
                                  </a:solidFill>
                                  <a:latin typeface="Cambria Math" panose="02040503050406030204" pitchFamily="18" charset="0"/>
                                </a:rPr>
                                <m:t xml:space="preserve">s</m:t>
                              </m:r>
                            </m:e>
                            <m:sup>
                              <m:r>
                                <a:rPr lang="es-ES" sz="2700" i="1">
                                  <a:solidFill>
                                    <a:srgbClr val="1F4E79"/>
                                  </a:solidFill>
                                  <a:latin typeface="Cambria Math" panose="02040503050406030204" pitchFamily="18" charset="0"/>
                                </a:rPr>
                                <m:t xml:space="preserve">2</m:t>
                              </m:r>
                            </m:sup>
                          </m:sSup>
                          <m:r>
                            <a:rPr lang="es-ES" sz="2700" i="1">
                              <a:solidFill>
                                <a:srgbClr val="1F4E79"/>
                              </a:solidFill>
                              <a:latin typeface="Cambria Math" panose="02040503050406030204" pitchFamily="18" charset="0"/>
                            </a:rPr>
                            <m:t xml:space="preserve">+2</m:t>
                          </m:r>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ζ</m:t>
                              </m:r>
                            </m:e>
                            <m:sub>
                              <m:r>
                                <a:rPr lang="es-ES" sz="2700" i="1">
                                  <a:solidFill>
                                    <a:srgbClr val="1F4E79"/>
                                  </a:solidFill>
                                  <a:latin typeface="Cambria Math" panose="02040503050406030204" pitchFamily="18" charset="0"/>
                                </a:rPr>
                                <m:t xml:space="preserve">1</m:t>
                              </m:r>
                            </m:sub>
                          </m:sSub>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ω</m:t>
                              </m:r>
                            </m:e>
                            <m:sub>
                              <m:r>
                                <a:rPr lang="es-ES" sz="2700" i="1">
                                  <a:solidFill>
                                    <a:srgbClr val="1F4E79"/>
                                  </a:solidFill>
                                  <a:latin typeface="Cambria Math" panose="02040503050406030204" pitchFamily="18" charset="0"/>
                                </a:rPr>
                                <m:t xml:space="preserve">n</m:t>
                              </m:r>
                            </m:sub>
                          </m:sSub>
                          <m:r>
                            <a:rPr lang="es-ES" sz="2700" i="1">
                              <a:solidFill>
                                <a:srgbClr val="1F4E79"/>
                              </a:solidFill>
                              <a:latin typeface="Cambria Math" panose="02040503050406030204" pitchFamily="18" charset="0"/>
                            </a:rPr>
                            <m:t xml:space="preserve">s+</m:t>
                          </m:r>
                          <m:sSup>
                            <m:sSupPr>
                              <m:ctrlPr>
                                <a:rPr lang="es-ES" sz="2700" i="1">
                                  <a:latin typeface="Cambria Math" panose="02040503050406030204" pitchFamily="18" charset="0"/>
                                </a:rPr>
                              </m:ctrlPr>
                            </m:sSupPr>
                            <m:e>
                              <m:sSub>
                                <m:sSubPr>
                                  <m:ctrlPr>
                                    <a:rPr lang="es-ES" sz="2700" i="1">
                                      <a:latin typeface="Cambria Math" panose="02040503050406030204" pitchFamily="18" charset="0"/>
                                    </a:rPr>
                                  </m:ctrlPr>
                                </m:sSubPr>
                                <m:e>
                                  <m:r>
                                    <a:rPr lang="es-ES" sz="2700" i="1">
                                      <a:solidFill>
                                        <a:srgbClr val="1F4E79"/>
                                      </a:solidFill>
                                      <a:latin typeface="Cambria Math" panose="02040503050406030204" pitchFamily="18" charset="0"/>
                                    </a:rPr>
                                    <m:t xml:space="preserve">ω</m:t>
                                  </m:r>
                                </m:e>
                                <m:sub>
                                  <m:r>
                                    <a:rPr lang="es-ES" sz="2700" i="1">
                                      <a:solidFill>
                                        <a:srgbClr val="1F4E79"/>
                                      </a:solidFill>
                                      <a:latin typeface="Cambria Math" panose="02040503050406030204" pitchFamily="18" charset="0"/>
                                    </a:rPr>
                                    <m:t xml:space="preserve">n</m:t>
                                  </m:r>
                                </m:sub>
                              </m:sSub>
                            </m:e>
                            <m:sup>
                              <m:r>
                                <a:rPr lang="es-ES" sz="2700" i="1">
                                  <a:solidFill>
                                    <a:srgbClr val="1F4E79"/>
                                  </a:solidFill>
                                  <a:latin typeface="Cambria Math" panose="02040503050406030204" pitchFamily="18" charset="0"/>
                                </a:rPr>
                                <m:t xml:space="preserve">2</m:t>
                              </m:r>
                            </m:sup>
                          </m:sSup>
                        </m:den>
                      </m:f>
                    </m:oMath>
                  </m:oMathPara>
                </a14:m>
                <a:endParaRPr lang="es-ES"/>
              </a:p>
            </p:txBody>
          </p:sp>
        </mc:Choice>
        <mc:Fallback>
          <p:sp>
            <p:nvSpPr>
              <p:cNvPr id="55" name="Ecuación E_hc2 [s5]"/>
              <p:cNvSpPr txBox="1"/>
              <p:nvPr/>
            </p:nvSpPr>
            <p:spPr>
              <a:xfrm>
                <a:off x="966136" y="3364390"/>
                <a:ext cx="7211728" cy="1041694"/>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Hcomp(s) = 1 − 2(ζ1 − ζ0)ωn·s / (s² + 2ζ1ωn·s + ωn²)</a:t>
                </a:r>
                <a:endParaRPr lang="en-US" sz="2159" dirty="0"/>
              </a:p>
            </p:txBody>
          </p:sp>
        </mc:Fallback>
      </mc:AlternateContent>
      <p:sp>
        <p:nvSpPr>
          <p:cNvPr id="56"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Existen cuatro familias de técnicas para mejorar la respuesta en baja frecuencia de un geófono</a:t>
            </a:r>
            <a:endParaRPr lang="en-US" sz="1400" dirty="0"/>
          </a:p>
        </p:txBody>
      </p:sp>
      <p:sp>
        <p:nvSpPr>
          <p:cNvPr id="57"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Pazos, Alguacil y Davila (2005), BSSA 95(5), 1940–1946, según Ma et al. (2023), Sensors 23(6), 3082; Hakimitoroghi et al. (2017) y Zhang (2025): por confirmar.</a:t>
            </a:r>
            <a:endParaRPr lang="en-US" sz="800" dirty="0"/>
          </a:p>
        </p:txBody>
      </p:sp>
      <p:sp>
        <p:nvSpPr>
          <p:cNvPr id="58"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Invertir la respuesta del sensor exige muchísima ganancia cerca de continua</a:t>
            </a:r>
            <a:endParaRPr lang="en-US" sz="1400" dirty="0"/>
          </a:p>
        </p:txBody>
      </p:sp>
      <p:sp>
        <p:nvSpPr>
          <p:cNvPr id="59"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Zhang (2025); Hakimitoroghi et al. (2017); modelo propio (slide 54). Por confirmar.</a:t>
            </a:r>
            <a:endParaRPr lang="en-US" sz="800" dirty="0"/>
          </a:p>
        </p:txBody>
      </p:sp>
      <p:sp>
        <p:nvSpPr>
          <p:cNvPr id="60"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1400" dirty="0"/>
          </a:p>
        </p:txBody>
      </p:sp>
      <p:sp>
        <p:nvSpPr>
          <p:cNvPr id="61"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Zhang (2025), circuito de resistencia negativa; resumen firmado, sec. 4.2, ec. (8). Por confirmar.</a:t>
            </a:r>
            <a:endParaRPr lang="en-US" sz="800" dirty="0"/>
          </a:p>
        </p:txBody>
      </p:sp>
      <p:sp>
        <p:nvSpPr>
          <p:cNvPr id="62"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idea de Ma et al.: no levantar el fondo, bajar el pico</a:t>
            </a:r>
            <a:endParaRPr lang="en-US" sz="1400" dirty="0"/>
          </a:p>
        </p:txBody>
      </p:sp>
      <p:sp>
        <p:nvSpPr>
          <p:cNvPr id="63"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Sensors 23(6), 3082; documento de tesis (03b_topologias.tex); curvas propias.</a:t>
            </a:r>
            <a:endParaRPr lang="en-US" sz="800" dirty="0"/>
          </a:p>
        </p:txBody>
      </p:sp>
      <p:sp>
        <p:nvSpPr>
          <p:cNvPr id="64"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Elegimos el método de Ma et al. porque es estable, simple y no amplifica ruido</a:t>
            </a:r>
            <a:endParaRPr lang="en-US" sz="1400" dirty="0"/>
          </a:p>
        </p:txBody>
      </p:sp>
      <p:sp>
        <p:nvSpPr>
          <p:cNvPr id="65"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Sensors 23(6), 3082; Pazos et al. (2005); estabilidad y ruido: inferencia propia, por confirmar.</a:t>
            </a:r>
            <a:endParaRPr lang="en-US" sz="800" dirty="0"/>
          </a:p>
        </p:txBody>
      </p:sp>
      <p:sp>
        <p:nvSpPr>
          <p:cNvPr id="66" name="Encabezado [s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compensador sube el amortiguamiento del conjunto: es un camino directo menos un pasabanda</a:t>
            </a:r>
            <a:endParaRPr lang="en-US" sz="1400" dirty="0"/>
          </a:p>
        </p:txBody>
      </p:sp>
      <p:sp>
        <p:nvSpPr>
          <p:cNvPr id="67" name="Cita [s5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ec. (comp-afe); se usan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ζ</m:t>
                        </m:r>
                      </m:e>
                      <m:sub>
                        <m:r>
                          <m:rPr>
                            <m:sty m:val="p"/>
                          </m:rPr>
                          <a:rPr lang="es-ES" sz="800">
                            <a:solidFill>
                              <a:srgbClr val="6B6B6B"/>
                            </a:solidFill>
                            <a:latin typeface="Cambria Math" panose="02040503050406030204" pitchFamily="18" charset="0"/>
                          </a:rPr>
                          <m:t xml:space="preserve">0</m:t>
                        </m:r>
                      </m:sub>
                    </m:sSub>
                  </m:oMath>
                </a14:m>
              </mc:Choice>
              <mc:Fallback>
                <a:r>
                  <a:rPr lang="en-US" sz="800" dirty="0">
                    <a:solidFill>
                      <a:srgbClr val="6B6B6B"/>
                    </a:solidFill>
                    <a:latin typeface="Arial" pitchFamily="34" charset="0"/>
                    <a:ea typeface="Arial" pitchFamily="34" charset="-122"/>
                    <a:cs typeface="Arial" pitchFamily="34" charset="-120"/>
                  </a:rPr>
                  <a:t>ζ0</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ζ</m:t>
                        </m:r>
                      </m:e>
                      <m:sub>
                        <m:r>
                          <m:rPr>
                            <m:sty m:val="p"/>
                          </m:rPr>
                          <a:rPr lang="es-ES" sz="800">
                            <a:solidFill>
                              <a:srgbClr val="6B6B6B"/>
                            </a:solidFill>
                            <a:latin typeface="Cambria Math" panose="02040503050406030204" pitchFamily="18" charset="0"/>
                          </a:rPr>
                          <m:t xml:space="preserve">1</m:t>
                        </m:r>
                      </m:sub>
                    </m:sSub>
                  </m:oMath>
                </a14:m>
              </mc:Choice>
              <mc:Fallback>
                <a:r>
                  <a:rPr lang="en-US" sz="800" dirty="0">
                    <a:solidFill>
                      <a:srgbClr val="6B6B6B"/>
                    </a:solidFill>
                    <a:latin typeface="Arial" pitchFamily="34" charset="0"/>
                    <a:ea typeface="Arial" pitchFamily="34" charset="-122"/>
                    <a:cs typeface="Arial" pitchFamily="34" charset="-120"/>
                  </a:rPr>
                  <a:t>ζ1</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ω</m:t>
                        </m:r>
                      </m:e>
                      <m:sub>
                        <m:r>
                          <a:rPr lang="es-ES" sz="800" i="1">
                            <a:solidFill>
                              <a:srgbClr val="6B6B6B"/>
                            </a:solidFill>
                            <a:latin typeface="Cambria Math" panose="02040503050406030204" pitchFamily="18" charset="0"/>
                          </a:rPr>
                          <m:t xml:space="preserve">n</m:t>
                        </m:r>
                      </m:sub>
                    </m:sSub>
                  </m:oMath>
                </a14:m>
              </mc:Choice>
              <mc:Fallback>
                <a:r>
                  <a:rPr lang="en-US" sz="800" dirty="0">
                    <a:solidFill>
                      <a:srgbClr val="6B6B6B"/>
                    </a:solidFill>
                    <a:latin typeface="Arial" pitchFamily="34" charset="0"/>
                    <a:ea typeface="Arial" pitchFamily="34" charset="-122"/>
                    <a:cs typeface="Arial" pitchFamily="34" charset="-120"/>
                  </a:rPr>
                  <a:t>ωn</a:t>
                </a:r>
              </mc:Fallback>
            </mc:AlternateContent>
            <a:r>
              <a:rPr lang="en-US" sz="800" dirty="0">
                <a:solidFill>
                  <a:srgbClr val="6B6B6B"/>
                </a:solidFill>
                <a:latin typeface="Arial" pitchFamily="34" charset="0"/>
                <a:ea typeface="Arial" pitchFamily="34" charset="-122"/>
                <a:cs typeface="Arial" pitchFamily="34" charset="-120"/>
              </a:rPr>
              <a:t> (en Ma: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γ</m:t>
                        </m:r>
                      </m:e>
                      <m:sub>
                        <m:r>
                          <m:rPr>
                            <m:sty m:val="p"/>
                          </m:rPr>
                          <a:rPr lang="es-ES" sz="800">
                            <a:solidFill>
                              <a:srgbClr val="6B6B6B"/>
                            </a:solidFill>
                            <a:latin typeface="Cambria Math" panose="02040503050406030204" pitchFamily="18" charset="0"/>
                          </a:rPr>
                          <m:t xml:space="preserve">0</m:t>
                        </m:r>
                      </m:sub>
                    </m:sSub>
                  </m:oMath>
                </a14:m>
              </mc:Choice>
              <mc:Fallback>
                <a:r>
                  <a:rPr lang="en-US" sz="800" dirty="0">
                    <a:solidFill>
                      <a:srgbClr val="6B6B6B"/>
                    </a:solidFill>
                    <a:latin typeface="Arial" pitchFamily="34" charset="0"/>
                    <a:ea typeface="Arial" pitchFamily="34" charset="-122"/>
                    <a:cs typeface="Arial" pitchFamily="34" charset="-120"/>
                  </a:rPr>
                  <a:t>γ0</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γ</m:t>
                        </m:r>
                      </m:e>
                      <m:sub>
                        <m:r>
                          <m:rPr>
                            <m:sty m:val="p"/>
                          </m:rPr>
                          <a:rPr lang="es-ES" sz="800">
                            <a:solidFill>
                              <a:srgbClr val="6B6B6B"/>
                            </a:solidFill>
                            <a:latin typeface="Cambria Math" panose="02040503050406030204" pitchFamily="18" charset="0"/>
                          </a:rPr>
                          <m:t xml:space="preserve">1</m:t>
                        </m:r>
                      </m:sub>
                    </m:sSub>
                  </m:oMath>
                </a14:m>
              </mc:Choice>
              <mc:Fallback>
                <a:r>
                  <a:rPr lang="en-US" sz="800" dirty="0">
                    <a:solidFill>
                      <a:srgbClr val="6B6B6B"/>
                    </a:solidFill>
                    <a:latin typeface="Arial" pitchFamily="34" charset="0"/>
                    <a:ea typeface="Arial" pitchFamily="34" charset="-122"/>
                    <a:cs typeface="Arial" pitchFamily="34" charset="-120"/>
                  </a:rPr>
                  <a:t>γ1</a:t>
                </a:r>
              </mc:Fallback>
            </mc:AlternateContent>
            <a:r>
              <a:rPr lang="en-US" sz="8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ω</m:t>
                        </m:r>
                      </m:e>
                      <m:sub>
                        <m:r>
                          <m:rPr>
                            <m:sty m:val="p"/>
                          </m:rPr>
                          <a:rPr lang="es-ES" sz="800">
                            <a:solidFill>
                              <a:srgbClr val="6B6B6B"/>
                            </a:solidFill>
                            <a:latin typeface="Cambria Math" panose="02040503050406030204" pitchFamily="18" charset="0"/>
                          </a:rPr>
                          <m:t xml:space="preserve">0</m:t>
                        </m:r>
                      </m:sub>
                    </m:sSub>
                  </m:oMath>
                </a14:m>
              </mc:Choice>
              <mc:Fallback>
                <a:r>
                  <a:rPr lang="en-US" sz="800" dirty="0">
                    <a:solidFill>
                      <a:srgbClr val="6B6B6B"/>
                    </a:solidFill>
                    <a:latin typeface="Arial" pitchFamily="34" charset="0"/>
                    <a:ea typeface="Arial" pitchFamily="34" charset="-122"/>
                    <a:cs typeface="Arial" pitchFamily="34" charset="-120"/>
                  </a:rPr>
                  <a:t>ω0</a:t>
                </a:r>
              </mc:Fallback>
            </mc:AlternateContent>
            <a:r>
              <a:rPr lang="en-US" sz="800" dirty="0">
                <a:solidFill>
                  <a:srgbClr val="6B6B6B"/>
                </a:solidFill>
                <a:latin typeface="Arial" pitchFamily="34" charset="0"/>
                <a:ea typeface="Arial" pitchFamily="34" charset="-122"/>
                <a:cs typeface="Arial" pitchFamily="34" charset="-120"/>
              </a:rPr>
              <a:t>).</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57" fill="hold">
                      <p:stCondLst>
                        <p:cond delay="indefinite"/>
                      </p:stCondLst>
                      <p:childTnLst>
                        <p:par>
                          <p:cTn id="3158" fill="hold">
                            <p:stCondLst>
                              <p:cond delay="0"/>
                            </p:stCondLst>
                            <p:childTnLst>
                              <p:par>
                                <p:cTn id="3073" presetID="10" presetClass="exit" presetSubtype="0" fill="hold" nodeType="clickEffect">
                                  <p:stCondLst>
                                    <p:cond delay="0"/>
                                  </p:stCondLst>
                                  <p:childTnLst>
                                    <p:animEffect transition="out" filter="fade">
                                      <p:cBhvr>
                                        <p:cTn id="3074" dur="400"/>
                                        <p:tgtEl>
                                          <p:spTgt spid="3"/>
                                        </p:tgtEl>
                                      </p:cBhvr>
                                    </p:animEffect>
                                    <p:set>
                                      <p:cBhvr>
                                        <p:cTn id="3075" dur="1" fill="hold">
                                          <p:stCondLst>
                                            <p:cond delay="399"/>
                                          </p:stCondLst>
                                        </p:cTn>
                                        <p:tgtEl>
                                          <p:spTgt spid="3"/>
                                        </p:tgtEl>
                                        <p:attrNameLst>
                                          <p:attrName>style.visibility</p:attrName>
                                        </p:attrNameLst>
                                      </p:cBhvr>
                                      <p:to>
                                        <p:strVal val="hidden"/>
                                      </p:to>
                                    </p:set>
                                  </p:childTnLst>
                                </p:cTn>
                              </p:par>
                              <p:par>
                                <p:cTn id="3076" presetID="10" presetClass="exit" presetSubtype="0" fill="hold" nodeType="withEffect">
                                  <p:stCondLst>
                                    <p:cond delay="0"/>
                                  </p:stCondLst>
                                  <p:childTnLst>
                                    <p:animEffect transition="out" filter="fade">
                                      <p:cBhvr>
                                        <p:cTn id="3077" dur="400"/>
                                        <p:tgtEl>
                                          <p:spTgt spid="4"/>
                                        </p:tgtEl>
                                      </p:cBhvr>
                                    </p:animEffect>
                                    <p:set>
                                      <p:cBhvr>
                                        <p:cTn id="3078" dur="1" fill="hold">
                                          <p:stCondLst>
                                            <p:cond delay="399"/>
                                          </p:stCondLst>
                                        </p:cTn>
                                        <p:tgtEl>
                                          <p:spTgt spid="4"/>
                                        </p:tgtEl>
                                        <p:attrNameLst>
                                          <p:attrName>style.visibility</p:attrName>
                                        </p:attrNameLst>
                                      </p:cBhvr>
                                      <p:to>
                                        <p:strVal val="hidden"/>
                                      </p:to>
                                    </p:set>
                                  </p:childTnLst>
                                </p:cTn>
                              </p:par>
                              <p:par>
                                <p:cTn id="3079" presetID="10" presetClass="exit" presetSubtype="0" fill="hold" nodeType="withEffect">
                                  <p:stCondLst>
                                    <p:cond delay="0"/>
                                  </p:stCondLst>
                                  <p:childTnLst>
                                    <p:animEffect transition="out" filter="fade">
                                      <p:cBhvr>
                                        <p:cTn id="3080" dur="400"/>
                                        <p:tgtEl>
                                          <p:spTgt spid="5"/>
                                        </p:tgtEl>
                                      </p:cBhvr>
                                    </p:animEffect>
                                    <p:set>
                                      <p:cBhvr>
                                        <p:cTn id="3081" dur="1" fill="hold">
                                          <p:stCondLst>
                                            <p:cond delay="399"/>
                                          </p:stCondLst>
                                        </p:cTn>
                                        <p:tgtEl>
                                          <p:spTgt spid="5"/>
                                        </p:tgtEl>
                                        <p:attrNameLst>
                                          <p:attrName>style.visibility</p:attrName>
                                        </p:attrNameLst>
                                      </p:cBhvr>
                                      <p:to>
                                        <p:strVal val="hidden"/>
                                      </p:to>
                                    </p:set>
                                  </p:childTnLst>
                                </p:cTn>
                              </p:par>
                              <p:par>
                                <p:cTn id="3082" presetID="10" presetClass="exit" presetSubtype="0" fill="hold" nodeType="withEffect">
                                  <p:stCondLst>
                                    <p:cond delay="0"/>
                                  </p:stCondLst>
                                  <p:childTnLst>
                                    <p:animEffect transition="out" filter="fade">
                                      <p:cBhvr>
                                        <p:cTn id="3083" dur="400"/>
                                        <p:tgtEl>
                                          <p:spTgt spid="6"/>
                                        </p:tgtEl>
                                      </p:cBhvr>
                                    </p:animEffect>
                                    <p:set>
                                      <p:cBhvr>
                                        <p:cTn id="3084" dur="1" fill="hold">
                                          <p:stCondLst>
                                            <p:cond delay="399"/>
                                          </p:stCondLst>
                                        </p:cTn>
                                        <p:tgtEl>
                                          <p:spTgt spid="6"/>
                                        </p:tgtEl>
                                        <p:attrNameLst>
                                          <p:attrName>style.visibility</p:attrName>
                                        </p:attrNameLst>
                                      </p:cBhvr>
                                      <p:to>
                                        <p:strVal val="hidden"/>
                                      </p:to>
                                    </p:set>
                                  </p:childTnLst>
                                </p:cTn>
                              </p:par>
                              <p:par>
                                <p:cTn id="3085" presetID="10" presetClass="exit" presetSubtype="0" fill="hold" nodeType="withEffect">
                                  <p:stCondLst>
                                    <p:cond delay="0"/>
                                  </p:stCondLst>
                                  <p:childTnLst>
                                    <p:animEffect transition="out" filter="fade">
                                      <p:cBhvr>
                                        <p:cTn id="3086" dur="400"/>
                                        <p:tgtEl>
                                          <p:spTgt spid="7"/>
                                        </p:tgtEl>
                                      </p:cBhvr>
                                    </p:animEffect>
                                    <p:set>
                                      <p:cBhvr>
                                        <p:cTn id="3087" dur="1" fill="hold">
                                          <p:stCondLst>
                                            <p:cond delay="399"/>
                                          </p:stCondLst>
                                        </p:cTn>
                                        <p:tgtEl>
                                          <p:spTgt spid="7"/>
                                        </p:tgtEl>
                                        <p:attrNameLst>
                                          <p:attrName>style.visibility</p:attrName>
                                        </p:attrNameLst>
                                      </p:cBhvr>
                                      <p:to>
                                        <p:strVal val="hidden"/>
                                      </p:to>
                                    </p:set>
                                  </p:childTnLst>
                                </p:cTn>
                              </p:par>
                              <p:par>
                                <p:cTn id="3088" presetID="10" presetClass="exit" presetSubtype="0" fill="hold" nodeType="withEffect">
                                  <p:stCondLst>
                                    <p:cond delay="0"/>
                                  </p:stCondLst>
                                  <p:childTnLst>
                                    <p:animEffect transition="out" filter="fade">
                                      <p:cBhvr>
                                        <p:cTn id="3089" dur="400"/>
                                        <p:tgtEl>
                                          <p:spTgt spid="8"/>
                                        </p:tgtEl>
                                      </p:cBhvr>
                                    </p:animEffect>
                                    <p:set>
                                      <p:cBhvr>
                                        <p:cTn id="3090" dur="1" fill="hold">
                                          <p:stCondLst>
                                            <p:cond delay="399"/>
                                          </p:stCondLst>
                                        </p:cTn>
                                        <p:tgtEl>
                                          <p:spTgt spid="8"/>
                                        </p:tgtEl>
                                        <p:attrNameLst>
                                          <p:attrName>style.visibility</p:attrName>
                                        </p:attrNameLst>
                                      </p:cBhvr>
                                      <p:to>
                                        <p:strVal val="hidden"/>
                                      </p:to>
                                    </p:set>
                                  </p:childTnLst>
                                </p:cTn>
                              </p:par>
                              <p:par>
                                <p:cTn id="3091" presetID="10" presetClass="exit" presetSubtype="0" fill="hold" nodeType="withEffect">
                                  <p:stCondLst>
                                    <p:cond delay="0"/>
                                  </p:stCondLst>
                                  <p:childTnLst>
                                    <p:animEffect transition="out" filter="fade">
                                      <p:cBhvr>
                                        <p:cTn id="3092" dur="400"/>
                                        <p:tgtEl>
                                          <p:spTgt spid="9"/>
                                        </p:tgtEl>
                                      </p:cBhvr>
                                    </p:animEffect>
                                    <p:set>
                                      <p:cBhvr>
                                        <p:cTn id="3093" dur="1" fill="hold">
                                          <p:stCondLst>
                                            <p:cond delay="399"/>
                                          </p:stCondLst>
                                        </p:cTn>
                                        <p:tgtEl>
                                          <p:spTgt spid="9"/>
                                        </p:tgtEl>
                                        <p:attrNameLst>
                                          <p:attrName>style.visibility</p:attrName>
                                        </p:attrNameLst>
                                      </p:cBhvr>
                                      <p:to>
                                        <p:strVal val="hidden"/>
                                      </p:to>
                                    </p:set>
                                  </p:childTnLst>
                                </p:cTn>
                              </p:par>
                              <p:par>
                                <p:cTn id="3094" presetID="10" presetClass="exit" presetSubtype="0" fill="hold" nodeType="withEffect">
                                  <p:stCondLst>
                                    <p:cond delay="0"/>
                                  </p:stCondLst>
                                  <p:childTnLst>
                                    <p:animEffect transition="out" filter="fade">
                                      <p:cBhvr>
                                        <p:cTn id="3095" dur="400"/>
                                        <p:tgtEl>
                                          <p:spTgt spid="10"/>
                                        </p:tgtEl>
                                      </p:cBhvr>
                                    </p:animEffect>
                                    <p:set>
                                      <p:cBhvr>
                                        <p:cTn id="3096" dur="1" fill="hold">
                                          <p:stCondLst>
                                            <p:cond delay="399"/>
                                          </p:stCondLst>
                                        </p:cTn>
                                        <p:tgtEl>
                                          <p:spTgt spid="10"/>
                                        </p:tgtEl>
                                        <p:attrNameLst>
                                          <p:attrName>style.visibility</p:attrName>
                                        </p:attrNameLst>
                                      </p:cBhvr>
                                      <p:to>
                                        <p:strVal val="hidden"/>
                                      </p:to>
                                    </p:set>
                                  </p:childTnLst>
                                </p:cTn>
                              </p:par>
                              <p:par>
                                <p:cTn id="3097" presetID="10" presetClass="exit" presetSubtype="0" fill="hold" nodeType="withEffect">
                                  <p:stCondLst>
                                    <p:cond delay="0"/>
                                  </p:stCondLst>
                                  <p:childTnLst>
                                    <p:animEffect transition="out" filter="fade">
                                      <p:cBhvr>
                                        <p:cTn id="3098" dur="400"/>
                                        <p:tgtEl>
                                          <p:spTgt spid="11"/>
                                        </p:tgtEl>
                                      </p:cBhvr>
                                    </p:animEffect>
                                    <p:set>
                                      <p:cBhvr>
                                        <p:cTn id="3099" dur="1" fill="hold">
                                          <p:stCondLst>
                                            <p:cond delay="399"/>
                                          </p:stCondLst>
                                        </p:cTn>
                                        <p:tgtEl>
                                          <p:spTgt spid="11"/>
                                        </p:tgtEl>
                                        <p:attrNameLst>
                                          <p:attrName>style.visibility</p:attrName>
                                        </p:attrNameLst>
                                      </p:cBhvr>
                                      <p:to>
                                        <p:strVal val="hidden"/>
                                      </p:to>
                                    </p:set>
                                  </p:childTnLst>
                                </p:cTn>
                              </p:par>
                              <p:par>
                                <p:cTn id="3100" presetID="10" presetClass="exit" presetSubtype="0" fill="hold" nodeType="withEffect">
                                  <p:stCondLst>
                                    <p:cond delay="0"/>
                                  </p:stCondLst>
                                  <p:childTnLst>
                                    <p:animEffect transition="out" filter="fade">
                                      <p:cBhvr>
                                        <p:cTn id="3101" dur="400"/>
                                        <p:tgtEl>
                                          <p:spTgt spid="12"/>
                                        </p:tgtEl>
                                      </p:cBhvr>
                                    </p:animEffect>
                                    <p:set>
                                      <p:cBhvr>
                                        <p:cTn id="3102" dur="1" fill="hold">
                                          <p:stCondLst>
                                            <p:cond delay="399"/>
                                          </p:stCondLst>
                                        </p:cTn>
                                        <p:tgtEl>
                                          <p:spTgt spid="12"/>
                                        </p:tgtEl>
                                        <p:attrNameLst>
                                          <p:attrName>style.visibility</p:attrName>
                                        </p:attrNameLst>
                                      </p:cBhvr>
                                      <p:to>
                                        <p:strVal val="hidden"/>
                                      </p:to>
                                    </p:set>
                                  </p:childTnLst>
                                </p:cTn>
                              </p:par>
                              <p:par>
                                <p:cTn id="3103" presetID="10" presetClass="exit" presetSubtype="0" fill="hold" nodeType="withEffect">
                                  <p:stCondLst>
                                    <p:cond delay="0"/>
                                  </p:stCondLst>
                                  <p:childTnLst>
                                    <p:animEffect transition="out" filter="fade">
                                      <p:cBhvr>
                                        <p:cTn id="3104" dur="400"/>
                                        <p:tgtEl>
                                          <p:spTgt spid="13"/>
                                        </p:tgtEl>
                                      </p:cBhvr>
                                    </p:animEffect>
                                    <p:set>
                                      <p:cBhvr>
                                        <p:cTn id="3105" dur="1" fill="hold">
                                          <p:stCondLst>
                                            <p:cond delay="399"/>
                                          </p:stCondLst>
                                        </p:cTn>
                                        <p:tgtEl>
                                          <p:spTgt spid="13"/>
                                        </p:tgtEl>
                                        <p:attrNameLst>
                                          <p:attrName>style.visibility</p:attrName>
                                        </p:attrNameLst>
                                      </p:cBhvr>
                                      <p:to>
                                        <p:strVal val="hidden"/>
                                      </p:to>
                                    </p:set>
                                  </p:childTnLst>
                                </p:cTn>
                              </p:par>
                              <p:par>
                                <p:cTn id="3106" presetID="10" presetClass="exit" presetSubtype="0" fill="hold" nodeType="withEffect">
                                  <p:stCondLst>
                                    <p:cond delay="0"/>
                                  </p:stCondLst>
                                  <p:childTnLst>
                                    <p:animEffect transition="out" filter="fade">
                                      <p:cBhvr>
                                        <p:cTn id="3107" dur="400"/>
                                        <p:tgtEl>
                                          <p:spTgt spid="14"/>
                                        </p:tgtEl>
                                      </p:cBhvr>
                                    </p:animEffect>
                                    <p:set>
                                      <p:cBhvr>
                                        <p:cTn id="3108" dur="1" fill="hold">
                                          <p:stCondLst>
                                            <p:cond delay="399"/>
                                          </p:stCondLst>
                                        </p:cTn>
                                        <p:tgtEl>
                                          <p:spTgt spid="14"/>
                                        </p:tgtEl>
                                        <p:attrNameLst>
                                          <p:attrName>style.visibility</p:attrName>
                                        </p:attrNameLst>
                                      </p:cBhvr>
                                      <p:to>
                                        <p:strVal val="hidden"/>
                                      </p:to>
                                    </p:set>
                                  </p:childTnLst>
                                </p:cTn>
                              </p:par>
                              <p:par>
                                <p:cTn id="3109" presetID="10" presetClass="exit" presetSubtype="0" fill="hold" nodeType="withEffect">
                                  <p:stCondLst>
                                    <p:cond delay="0"/>
                                  </p:stCondLst>
                                  <p:childTnLst>
                                    <p:animEffect transition="out" filter="fade">
                                      <p:cBhvr>
                                        <p:cTn id="3110" dur="400"/>
                                        <p:tgtEl>
                                          <p:spTgt spid="15"/>
                                        </p:tgtEl>
                                      </p:cBhvr>
                                    </p:animEffect>
                                    <p:set>
                                      <p:cBhvr>
                                        <p:cTn id="3111" dur="1" fill="hold">
                                          <p:stCondLst>
                                            <p:cond delay="399"/>
                                          </p:stCondLst>
                                        </p:cTn>
                                        <p:tgtEl>
                                          <p:spTgt spid="15"/>
                                        </p:tgtEl>
                                        <p:attrNameLst>
                                          <p:attrName>style.visibility</p:attrName>
                                        </p:attrNameLst>
                                      </p:cBhvr>
                                      <p:to>
                                        <p:strVal val="hidden"/>
                                      </p:to>
                                    </p:set>
                                  </p:childTnLst>
                                </p:cTn>
                              </p:par>
                              <p:par>
                                <p:cTn id="3112" presetID="10" presetClass="exit" presetSubtype="0" fill="hold" nodeType="withEffect">
                                  <p:stCondLst>
                                    <p:cond delay="0"/>
                                  </p:stCondLst>
                                  <p:childTnLst>
                                    <p:animEffect transition="out" filter="fade">
                                      <p:cBhvr>
                                        <p:cTn id="3113" dur="400"/>
                                        <p:tgtEl>
                                          <p:spTgt spid="16"/>
                                        </p:tgtEl>
                                      </p:cBhvr>
                                    </p:animEffect>
                                    <p:set>
                                      <p:cBhvr>
                                        <p:cTn id="3114" dur="1" fill="hold">
                                          <p:stCondLst>
                                            <p:cond delay="399"/>
                                          </p:stCondLst>
                                        </p:cTn>
                                        <p:tgtEl>
                                          <p:spTgt spid="16"/>
                                        </p:tgtEl>
                                        <p:attrNameLst>
                                          <p:attrName>style.visibility</p:attrName>
                                        </p:attrNameLst>
                                      </p:cBhvr>
                                      <p:to>
                                        <p:strVal val="hidden"/>
                                      </p:to>
                                    </p:set>
                                  </p:childTnLst>
                                </p:cTn>
                              </p:par>
                              <p:par>
                                <p:cTn id="3115" presetID="10" presetClass="exit" presetSubtype="0" fill="hold" nodeType="withEffect">
                                  <p:stCondLst>
                                    <p:cond delay="0"/>
                                  </p:stCondLst>
                                  <p:childTnLst>
                                    <p:animEffect transition="out" filter="fade">
                                      <p:cBhvr>
                                        <p:cTn id="3116" dur="400"/>
                                        <p:tgtEl>
                                          <p:spTgt spid="17"/>
                                        </p:tgtEl>
                                      </p:cBhvr>
                                    </p:animEffect>
                                    <p:set>
                                      <p:cBhvr>
                                        <p:cTn id="3117" dur="1" fill="hold">
                                          <p:stCondLst>
                                            <p:cond delay="399"/>
                                          </p:stCondLst>
                                        </p:cTn>
                                        <p:tgtEl>
                                          <p:spTgt spid="17"/>
                                        </p:tgtEl>
                                        <p:attrNameLst>
                                          <p:attrName>style.visibility</p:attrName>
                                        </p:attrNameLst>
                                      </p:cBhvr>
                                      <p:to>
                                        <p:strVal val="hidden"/>
                                      </p:to>
                                    </p:set>
                                  </p:childTnLst>
                                </p:cTn>
                              </p:par>
                              <p:par>
                                <p:cTn id="3118" presetID="10" presetClass="exit" presetSubtype="0" fill="hold" nodeType="withEffect">
                                  <p:stCondLst>
                                    <p:cond delay="0"/>
                                  </p:stCondLst>
                                  <p:childTnLst>
                                    <p:animEffect transition="out" filter="fade">
                                      <p:cBhvr>
                                        <p:cTn id="3119" dur="400"/>
                                        <p:tgtEl>
                                          <p:spTgt spid="18"/>
                                        </p:tgtEl>
                                      </p:cBhvr>
                                    </p:animEffect>
                                    <p:set>
                                      <p:cBhvr>
                                        <p:cTn id="3120" dur="1" fill="hold">
                                          <p:stCondLst>
                                            <p:cond delay="399"/>
                                          </p:stCondLst>
                                        </p:cTn>
                                        <p:tgtEl>
                                          <p:spTgt spid="18"/>
                                        </p:tgtEl>
                                        <p:attrNameLst>
                                          <p:attrName>style.visibility</p:attrName>
                                        </p:attrNameLst>
                                      </p:cBhvr>
                                      <p:to>
                                        <p:strVal val="hidden"/>
                                      </p:to>
                                    </p:set>
                                  </p:childTnLst>
                                </p:cTn>
                              </p:par>
                              <p:par>
                                <p:cTn id="3121" presetID="10" presetClass="exit" presetSubtype="0" fill="hold" nodeType="withEffect">
                                  <p:stCondLst>
                                    <p:cond delay="0"/>
                                  </p:stCondLst>
                                  <p:childTnLst>
                                    <p:animEffect transition="out" filter="fade">
                                      <p:cBhvr>
                                        <p:cTn id="3122" dur="400"/>
                                        <p:tgtEl>
                                          <p:spTgt spid="19"/>
                                        </p:tgtEl>
                                      </p:cBhvr>
                                    </p:animEffect>
                                    <p:set>
                                      <p:cBhvr>
                                        <p:cTn id="3123" dur="1" fill="hold">
                                          <p:stCondLst>
                                            <p:cond delay="399"/>
                                          </p:stCondLst>
                                        </p:cTn>
                                        <p:tgtEl>
                                          <p:spTgt spid="19"/>
                                        </p:tgtEl>
                                        <p:attrNameLst>
                                          <p:attrName>style.visibility</p:attrName>
                                        </p:attrNameLst>
                                      </p:cBhvr>
                                      <p:to>
                                        <p:strVal val="hidden"/>
                                      </p:to>
                                    </p:set>
                                  </p:childTnLst>
                                </p:cTn>
                              </p:par>
                              <p:par>
                                <p:cTn id="3124" presetID="10" presetClass="exit" presetSubtype="0" fill="hold" nodeType="withEffect">
                                  <p:stCondLst>
                                    <p:cond delay="0"/>
                                  </p:stCondLst>
                                  <p:childTnLst>
                                    <p:animEffect transition="out" filter="fade">
                                      <p:cBhvr>
                                        <p:cTn id="3125" dur="400"/>
                                        <p:tgtEl>
                                          <p:spTgt spid="56"/>
                                        </p:tgtEl>
                                      </p:cBhvr>
                                    </p:animEffect>
                                    <p:set>
                                      <p:cBhvr>
                                        <p:cTn id="3126" dur="1" fill="hold">
                                          <p:stCondLst>
                                            <p:cond delay="399"/>
                                          </p:stCondLst>
                                        </p:cTn>
                                        <p:tgtEl>
                                          <p:spTgt spid="56"/>
                                        </p:tgtEl>
                                        <p:attrNameLst>
                                          <p:attrName>style.visibility</p:attrName>
                                        </p:attrNameLst>
                                      </p:cBhvr>
                                      <p:to>
                                        <p:strVal val="hidden"/>
                                      </p:to>
                                    </p:set>
                                  </p:childTnLst>
                                </p:cTn>
                              </p:par>
                              <p:par>
                                <p:cTn id="3127" presetID="10" presetClass="exit" presetSubtype="0" fill="hold" nodeType="withEffect">
                                  <p:stCondLst>
                                    <p:cond delay="0"/>
                                  </p:stCondLst>
                                  <p:childTnLst>
                                    <p:animEffect transition="out" filter="fade">
                                      <p:cBhvr>
                                        <p:cTn id="3128" dur="400"/>
                                        <p:tgtEl>
                                          <p:spTgt spid="57"/>
                                        </p:tgtEl>
                                      </p:cBhvr>
                                    </p:animEffect>
                                    <p:set>
                                      <p:cBhvr>
                                        <p:cTn id="3129" dur="1" fill="hold">
                                          <p:stCondLst>
                                            <p:cond delay="399"/>
                                          </p:stCondLst>
                                        </p:cTn>
                                        <p:tgtEl>
                                          <p:spTgt spid="57"/>
                                        </p:tgtEl>
                                        <p:attrNameLst>
                                          <p:attrName>style.visibility</p:attrName>
                                        </p:attrNameLst>
                                      </p:cBhvr>
                                      <p:to>
                                        <p:strVal val="hidden"/>
                                      </p:to>
                                    </p:set>
                                  </p:childTnLst>
                                </p:cTn>
                              </p:par>
                              <p:par>
                                <p:cTn id="3130" presetID="10" presetClass="entr" presetSubtype="0" fill="hold" nodeType="withEffect">
                                  <p:stCondLst>
                                    <p:cond delay="200"/>
                                  </p:stCondLst>
                                  <p:childTnLst>
                                    <p:set>
                                      <p:cBhvr>
                                        <p:cTn id="3131" dur="1" fill="hold">
                                          <p:stCondLst>
                                            <p:cond delay="0"/>
                                          </p:stCondLst>
                                        </p:cTn>
                                        <p:tgtEl>
                                          <p:spTgt spid="20"/>
                                        </p:tgtEl>
                                        <p:attrNameLst>
                                          <p:attrName>style.visibility</p:attrName>
                                        </p:attrNameLst>
                                      </p:cBhvr>
                                      <p:to>
                                        <p:strVal val="visible"/>
                                      </p:to>
                                    </p:set>
                                    <p:animEffect transition="in" filter="fade">
                                      <p:cBhvr>
                                        <p:cTn id="3132" dur="500"/>
                                        <p:tgtEl>
                                          <p:spTgt spid="20"/>
                                        </p:tgtEl>
                                      </p:cBhvr>
                                    </p:animEffect>
                                  </p:childTnLst>
                                </p:cTn>
                              </p:par>
                              <p:par>
                                <p:cTn id="3133" presetID="10" presetClass="entr" presetSubtype="0" fill="hold" nodeType="withEffect">
                                  <p:stCondLst>
                                    <p:cond delay="270"/>
                                  </p:stCondLst>
                                  <p:childTnLst>
                                    <p:set>
                                      <p:cBhvr>
                                        <p:cTn id="3134" dur="1" fill="hold">
                                          <p:stCondLst>
                                            <p:cond delay="0"/>
                                          </p:stCondLst>
                                        </p:cTn>
                                        <p:tgtEl>
                                          <p:spTgt spid="21"/>
                                        </p:tgtEl>
                                        <p:attrNameLst>
                                          <p:attrName>style.visibility</p:attrName>
                                        </p:attrNameLst>
                                      </p:cBhvr>
                                      <p:to>
                                        <p:strVal val="visible"/>
                                      </p:to>
                                    </p:set>
                                    <p:animEffect transition="in" filter="fade">
                                      <p:cBhvr>
                                        <p:cTn id="3135" dur="500"/>
                                        <p:tgtEl>
                                          <p:spTgt spid="21"/>
                                        </p:tgtEl>
                                      </p:cBhvr>
                                    </p:animEffect>
                                  </p:childTnLst>
                                </p:cTn>
                              </p:par>
                              <p:par>
                                <p:cTn id="3136" presetID="10" presetClass="entr" presetSubtype="0" fill="hold" nodeType="withEffect">
                                  <p:stCondLst>
                                    <p:cond delay="340"/>
                                  </p:stCondLst>
                                  <p:childTnLst>
                                    <p:set>
                                      <p:cBhvr>
                                        <p:cTn id="3137" dur="1" fill="hold">
                                          <p:stCondLst>
                                            <p:cond delay="0"/>
                                          </p:stCondLst>
                                        </p:cTn>
                                        <p:tgtEl>
                                          <p:spTgt spid="22"/>
                                        </p:tgtEl>
                                        <p:attrNameLst>
                                          <p:attrName>style.visibility</p:attrName>
                                        </p:attrNameLst>
                                      </p:cBhvr>
                                      <p:to>
                                        <p:strVal val="visible"/>
                                      </p:to>
                                    </p:set>
                                    <p:animEffect transition="in" filter="fade">
                                      <p:cBhvr>
                                        <p:cTn id="3138" dur="500"/>
                                        <p:tgtEl>
                                          <p:spTgt spid="22"/>
                                        </p:tgtEl>
                                      </p:cBhvr>
                                    </p:animEffect>
                                  </p:childTnLst>
                                </p:cTn>
                              </p:par>
                              <p:par>
                                <p:cTn id="3139" presetID="10" presetClass="entr" presetSubtype="0" fill="hold" nodeType="withEffect">
                                  <p:stCondLst>
                                    <p:cond delay="410"/>
                                  </p:stCondLst>
                                  <p:childTnLst>
                                    <p:set>
                                      <p:cBhvr>
                                        <p:cTn id="3140" dur="1" fill="hold">
                                          <p:stCondLst>
                                            <p:cond delay="0"/>
                                          </p:stCondLst>
                                        </p:cTn>
                                        <p:tgtEl>
                                          <p:spTgt spid="23"/>
                                        </p:tgtEl>
                                        <p:attrNameLst>
                                          <p:attrName>style.visibility</p:attrName>
                                        </p:attrNameLst>
                                      </p:cBhvr>
                                      <p:to>
                                        <p:strVal val="visible"/>
                                      </p:to>
                                    </p:set>
                                    <p:animEffect transition="in" filter="fade">
                                      <p:cBhvr>
                                        <p:cTn id="3141" dur="500"/>
                                        <p:tgtEl>
                                          <p:spTgt spid="23"/>
                                        </p:tgtEl>
                                      </p:cBhvr>
                                    </p:animEffect>
                                  </p:childTnLst>
                                </p:cTn>
                              </p:par>
                              <p:par>
                                <p:cTn id="3142" presetID="10" presetClass="entr" presetSubtype="0" fill="hold" nodeType="withEffect">
                                  <p:stCondLst>
                                    <p:cond delay="480"/>
                                  </p:stCondLst>
                                  <p:childTnLst>
                                    <p:set>
                                      <p:cBhvr>
                                        <p:cTn id="3143" dur="1" fill="hold">
                                          <p:stCondLst>
                                            <p:cond delay="0"/>
                                          </p:stCondLst>
                                        </p:cTn>
                                        <p:tgtEl>
                                          <p:spTgt spid="24"/>
                                        </p:tgtEl>
                                        <p:attrNameLst>
                                          <p:attrName>style.visibility</p:attrName>
                                        </p:attrNameLst>
                                      </p:cBhvr>
                                      <p:to>
                                        <p:strVal val="visible"/>
                                      </p:to>
                                    </p:set>
                                    <p:animEffect transition="in" filter="fade">
                                      <p:cBhvr>
                                        <p:cTn id="3144" dur="500"/>
                                        <p:tgtEl>
                                          <p:spTgt spid="24"/>
                                        </p:tgtEl>
                                      </p:cBhvr>
                                    </p:animEffect>
                                  </p:childTnLst>
                                </p:cTn>
                              </p:par>
                              <p:par>
                                <p:cTn id="3145" presetID="10" presetClass="entr" presetSubtype="0" fill="hold" nodeType="withEffect">
                                  <p:stCondLst>
                                    <p:cond delay="550"/>
                                  </p:stCondLst>
                                  <p:childTnLst>
                                    <p:set>
                                      <p:cBhvr>
                                        <p:cTn id="3146" dur="1" fill="hold">
                                          <p:stCondLst>
                                            <p:cond delay="0"/>
                                          </p:stCondLst>
                                        </p:cTn>
                                        <p:tgtEl>
                                          <p:spTgt spid="25"/>
                                        </p:tgtEl>
                                        <p:attrNameLst>
                                          <p:attrName>style.visibility</p:attrName>
                                        </p:attrNameLst>
                                      </p:cBhvr>
                                      <p:to>
                                        <p:strVal val="visible"/>
                                      </p:to>
                                    </p:set>
                                    <p:animEffect transition="in" filter="fade">
                                      <p:cBhvr>
                                        <p:cTn id="3147" dur="500"/>
                                        <p:tgtEl>
                                          <p:spTgt spid="25"/>
                                        </p:tgtEl>
                                      </p:cBhvr>
                                    </p:animEffect>
                                  </p:childTnLst>
                                </p:cTn>
                              </p:par>
                              <p:par>
                                <p:cTn id="3148" presetID="10" presetClass="entr" presetSubtype="0" fill="hold" nodeType="withEffect">
                                  <p:stCondLst>
                                    <p:cond delay="620"/>
                                  </p:stCondLst>
                                  <p:childTnLst>
                                    <p:set>
                                      <p:cBhvr>
                                        <p:cTn id="3149" dur="1" fill="hold">
                                          <p:stCondLst>
                                            <p:cond delay="0"/>
                                          </p:stCondLst>
                                        </p:cTn>
                                        <p:tgtEl>
                                          <p:spTgt spid="26"/>
                                        </p:tgtEl>
                                        <p:attrNameLst>
                                          <p:attrName>style.visibility</p:attrName>
                                        </p:attrNameLst>
                                      </p:cBhvr>
                                      <p:to>
                                        <p:strVal val="visible"/>
                                      </p:to>
                                    </p:set>
                                    <p:animEffect transition="in" filter="fade">
                                      <p:cBhvr>
                                        <p:cTn id="3150" dur="500"/>
                                        <p:tgtEl>
                                          <p:spTgt spid="26"/>
                                        </p:tgtEl>
                                      </p:cBhvr>
                                    </p:animEffect>
                                  </p:childTnLst>
                                </p:cTn>
                              </p:par>
                              <p:par>
                                <p:cTn id="3151" presetID="10" presetClass="entr" presetSubtype="0" fill="hold" nodeType="withEffect">
                                  <p:stCondLst>
                                    <p:cond delay="690"/>
                                  </p:stCondLst>
                                  <p:childTnLst>
                                    <p:set>
                                      <p:cBhvr>
                                        <p:cTn id="3152" dur="1" fill="hold">
                                          <p:stCondLst>
                                            <p:cond delay="0"/>
                                          </p:stCondLst>
                                        </p:cTn>
                                        <p:tgtEl>
                                          <p:spTgt spid="58"/>
                                        </p:tgtEl>
                                        <p:attrNameLst>
                                          <p:attrName>style.visibility</p:attrName>
                                        </p:attrNameLst>
                                      </p:cBhvr>
                                      <p:to>
                                        <p:strVal val="visible"/>
                                      </p:to>
                                    </p:set>
                                    <p:animEffect transition="in" filter="fade">
                                      <p:cBhvr>
                                        <p:cTn id="3153" dur="500"/>
                                        <p:tgtEl>
                                          <p:spTgt spid="58"/>
                                        </p:tgtEl>
                                      </p:cBhvr>
                                    </p:animEffect>
                                  </p:childTnLst>
                                </p:cTn>
                              </p:par>
                              <p:par>
                                <p:cTn id="3154" presetID="10" presetClass="entr" presetSubtype="0" fill="hold" nodeType="withEffect">
                                  <p:stCondLst>
                                    <p:cond delay="760"/>
                                  </p:stCondLst>
                                  <p:childTnLst>
                                    <p:set>
                                      <p:cBhvr>
                                        <p:cTn id="3155" dur="1" fill="hold">
                                          <p:stCondLst>
                                            <p:cond delay="0"/>
                                          </p:stCondLst>
                                        </p:cTn>
                                        <p:tgtEl>
                                          <p:spTgt spid="59"/>
                                        </p:tgtEl>
                                        <p:attrNameLst>
                                          <p:attrName>style.visibility</p:attrName>
                                        </p:attrNameLst>
                                      </p:cBhvr>
                                      <p:to>
                                        <p:strVal val="visible"/>
                                      </p:to>
                                    </p:set>
                                    <p:animEffect transition="in" filter="fade">
                                      <p:cBhvr>
                                        <p:cTn id="3156" dur="500"/>
                                        <p:tgtEl>
                                          <p:spTgt spid="59"/>
                                        </p:tgtEl>
                                      </p:cBhvr>
                                    </p:animEffect>
                                  </p:childTnLst>
                                </p:cTn>
                              </p:par>
                            </p:childTnLst>
                          </p:cTn>
                        </p:par>
                      </p:childTnLst>
                    </p:cTn>
                  </p:par>
                  <p:par>
                    <p:cTn id="3204" fill="hold">
                      <p:stCondLst>
                        <p:cond delay="indefinite"/>
                      </p:stCondLst>
                      <p:childTnLst>
                        <p:par>
                          <p:cTn id="3205" fill="hold">
                            <p:stCondLst>
                              <p:cond delay="0"/>
                            </p:stCondLst>
                            <p:childTnLst>
                              <p:par>
                                <p:cTn id="3159" presetID="10" presetClass="exit" presetSubtype="0" fill="hold" nodeType="clickEffect">
                                  <p:stCondLst>
                                    <p:cond delay="0"/>
                                  </p:stCondLst>
                                  <p:childTnLst>
                                    <p:animEffect transition="out" filter="fade">
                                      <p:cBhvr>
                                        <p:cTn id="3160" dur="400"/>
                                        <p:tgtEl>
                                          <p:spTgt spid="20"/>
                                        </p:tgtEl>
                                      </p:cBhvr>
                                    </p:animEffect>
                                    <p:set>
                                      <p:cBhvr>
                                        <p:cTn id="3161" dur="1" fill="hold">
                                          <p:stCondLst>
                                            <p:cond delay="399"/>
                                          </p:stCondLst>
                                        </p:cTn>
                                        <p:tgtEl>
                                          <p:spTgt spid="20"/>
                                        </p:tgtEl>
                                        <p:attrNameLst>
                                          <p:attrName>style.visibility</p:attrName>
                                        </p:attrNameLst>
                                      </p:cBhvr>
                                      <p:to>
                                        <p:strVal val="hidden"/>
                                      </p:to>
                                    </p:set>
                                  </p:childTnLst>
                                </p:cTn>
                              </p:par>
                              <p:par>
                                <p:cTn id="3162" presetID="10" presetClass="exit" presetSubtype="0" fill="hold" nodeType="withEffect">
                                  <p:stCondLst>
                                    <p:cond delay="0"/>
                                  </p:stCondLst>
                                  <p:childTnLst>
                                    <p:animEffect transition="out" filter="fade">
                                      <p:cBhvr>
                                        <p:cTn id="3163" dur="400"/>
                                        <p:tgtEl>
                                          <p:spTgt spid="21"/>
                                        </p:tgtEl>
                                      </p:cBhvr>
                                    </p:animEffect>
                                    <p:set>
                                      <p:cBhvr>
                                        <p:cTn id="3164" dur="1" fill="hold">
                                          <p:stCondLst>
                                            <p:cond delay="399"/>
                                          </p:stCondLst>
                                        </p:cTn>
                                        <p:tgtEl>
                                          <p:spTgt spid="21"/>
                                        </p:tgtEl>
                                        <p:attrNameLst>
                                          <p:attrName>style.visibility</p:attrName>
                                        </p:attrNameLst>
                                      </p:cBhvr>
                                      <p:to>
                                        <p:strVal val="hidden"/>
                                      </p:to>
                                    </p:set>
                                  </p:childTnLst>
                                </p:cTn>
                              </p:par>
                              <p:par>
                                <p:cTn id="3165" presetID="10" presetClass="exit" presetSubtype="0" fill="hold" nodeType="withEffect">
                                  <p:stCondLst>
                                    <p:cond delay="0"/>
                                  </p:stCondLst>
                                  <p:childTnLst>
                                    <p:animEffect transition="out" filter="fade">
                                      <p:cBhvr>
                                        <p:cTn id="3166" dur="400"/>
                                        <p:tgtEl>
                                          <p:spTgt spid="22"/>
                                        </p:tgtEl>
                                      </p:cBhvr>
                                    </p:animEffect>
                                    <p:set>
                                      <p:cBhvr>
                                        <p:cTn id="3167" dur="1" fill="hold">
                                          <p:stCondLst>
                                            <p:cond delay="399"/>
                                          </p:stCondLst>
                                        </p:cTn>
                                        <p:tgtEl>
                                          <p:spTgt spid="22"/>
                                        </p:tgtEl>
                                        <p:attrNameLst>
                                          <p:attrName>style.visibility</p:attrName>
                                        </p:attrNameLst>
                                      </p:cBhvr>
                                      <p:to>
                                        <p:strVal val="hidden"/>
                                      </p:to>
                                    </p:set>
                                  </p:childTnLst>
                                </p:cTn>
                              </p:par>
                              <p:par>
                                <p:cTn id="3168" presetID="10" presetClass="exit" presetSubtype="0" fill="hold" nodeType="withEffect">
                                  <p:stCondLst>
                                    <p:cond delay="0"/>
                                  </p:stCondLst>
                                  <p:childTnLst>
                                    <p:animEffect transition="out" filter="fade">
                                      <p:cBhvr>
                                        <p:cTn id="3169" dur="400"/>
                                        <p:tgtEl>
                                          <p:spTgt spid="23"/>
                                        </p:tgtEl>
                                      </p:cBhvr>
                                    </p:animEffect>
                                    <p:set>
                                      <p:cBhvr>
                                        <p:cTn id="3170" dur="1" fill="hold">
                                          <p:stCondLst>
                                            <p:cond delay="399"/>
                                          </p:stCondLst>
                                        </p:cTn>
                                        <p:tgtEl>
                                          <p:spTgt spid="23"/>
                                        </p:tgtEl>
                                        <p:attrNameLst>
                                          <p:attrName>style.visibility</p:attrName>
                                        </p:attrNameLst>
                                      </p:cBhvr>
                                      <p:to>
                                        <p:strVal val="hidden"/>
                                      </p:to>
                                    </p:set>
                                  </p:childTnLst>
                                </p:cTn>
                              </p:par>
                              <p:par>
                                <p:cTn id="3171" presetID="10" presetClass="exit" presetSubtype="0" fill="hold" nodeType="withEffect">
                                  <p:stCondLst>
                                    <p:cond delay="0"/>
                                  </p:stCondLst>
                                  <p:childTnLst>
                                    <p:animEffect transition="out" filter="fade">
                                      <p:cBhvr>
                                        <p:cTn id="3172" dur="400"/>
                                        <p:tgtEl>
                                          <p:spTgt spid="24"/>
                                        </p:tgtEl>
                                      </p:cBhvr>
                                    </p:animEffect>
                                    <p:set>
                                      <p:cBhvr>
                                        <p:cTn id="3173" dur="1" fill="hold">
                                          <p:stCondLst>
                                            <p:cond delay="399"/>
                                          </p:stCondLst>
                                        </p:cTn>
                                        <p:tgtEl>
                                          <p:spTgt spid="24"/>
                                        </p:tgtEl>
                                        <p:attrNameLst>
                                          <p:attrName>style.visibility</p:attrName>
                                        </p:attrNameLst>
                                      </p:cBhvr>
                                      <p:to>
                                        <p:strVal val="hidden"/>
                                      </p:to>
                                    </p:set>
                                  </p:childTnLst>
                                </p:cTn>
                              </p:par>
                              <p:par>
                                <p:cTn id="3174" presetID="10" presetClass="exit" presetSubtype="0" fill="hold" nodeType="withEffect">
                                  <p:stCondLst>
                                    <p:cond delay="0"/>
                                  </p:stCondLst>
                                  <p:childTnLst>
                                    <p:animEffect transition="out" filter="fade">
                                      <p:cBhvr>
                                        <p:cTn id="3175" dur="400"/>
                                        <p:tgtEl>
                                          <p:spTgt spid="25"/>
                                        </p:tgtEl>
                                      </p:cBhvr>
                                    </p:animEffect>
                                    <p:set>
                                      <p:cBhvr>
                                        <p:cTn id="3176" dur="1" fill="hold">
                                          <p:stCondLst>
                                            <p:cond delay="399"/>
                                          </p:stCondLst>
                                        </p:cTn>
                                        <p:tgtEl>
                                          <p:spTgt spid="25"/>
                                        </p:tgtEl>
                                        <p:attrNameLst>
                                          <p:attrName>style.visibility</p:attrName>
                                        </p:attrNameLst>
                                      </p:cBhvr>
                                      <p:to>
                                        <p:strVal val="hidden"/>
                                      </p:to>
                                    </p:set>
                                  </p:childTnLst>
                                </p:cTn>
                              </p:par>
                              <p:par>
                                <p:cTn id="3177" presetID="10" presetClass="exit" presetSubtype="0" fill="hold" nodeType="withEffect">
                                  <p:stCondLst>
                                    <p:cond delay="0"/>
                                  </p:stCondLst>
                                  <p:childTnLst>
                                    <p:animEffect transition="out" filter="fade">
                                      <p:cBhvr>
                                        <p:cTn id="3178" dur="400"/>
                                        <p:tgtEl>
                                          <p:spTgt spid="26"/>
                                        </p:tgtEl>
                                      </p:cBhvr>
                                    </p:animEffect>
                                    <p:set>
                                      <p:cBhvr>
                                        <p:cTn id="3179" dur="1" fill="hold">
                                          <p:stCondLst>
                                            <p:cond delay="399"/>
                                          </p:stCondLst>
                                        </p:cTn>
                                        <p:tgtEl>
                                          <p:spTgt spid="26"/>
                                        </p:tgtEl>
                                        <p:attrNameLst>
                                          <p:attrName>style.visibility</p:attrName>
                                        </p:attrNameLst>
                                      </p:cBhvr>
                                      <p:to>
                                        <p:strVal val="hidden"/>
                                      </p:to>
                                    </p:set>
                                  </p:childTnLst>
                                </p:cTn>
                              </p:par>
                              <p:par>
                                <p:cTn id="3180" presetID="10" presetClass="exit" presetSubtype="0" fill="hold" nodeType="withEffect">
                                  <p:stCondLst>
                                    <p:cond delay="0"/>
                                  </p:stCondLst>
                                  <p:childTnLst>
                                    <p:animEffect transition="out" filter="fade">
                                      <p:cBhvr>
                                        <p:cTn id="3181" dur="400"/>
                                        <p:tgtEl>
                                          <p:spTgt spid="58"/>
                                        </p:tgtEl>
                                      </p:cBhvr>
                                    </p:animEffect>
                                    <p:set>
                                      <p:cBhvr>
                                        <p:cTn id="3182" dur="1" fill="hold">
                                          <p:stCondLst>
                                            <p:cond delay="399"/>
                                          </p:stCondLst>
                                        </p:cTn>
                                        <p:tgtEl>
                                          <p:spTgt spid="58"/>
                                        </p:tgtEl>
                                        <p:attrNameLst>
                                          <p:attrName>style.visibility</p:attrName>
                                        </p:attrNameLst>
                                      </p:cBhvr>
                                      <p:to>
                                        <p:strVal val="hidden"/>
                                      </p:to>
                                    </p:set>
                                  </p:childTnLst>
                                </p:cTn>
                              </p:par>
                              <p:par>
                                <p:cTn id="3183" presetID="10" presetClass="exit" presetSubtype="0" fill="hold" nodeType="withEffect">
                                  <p:stCondLst>
                                    <p:cond delay="0"/>
                                  </p:stCondLst>
                                  <p:childTnLst>
                                    <p:animEffect transition="out" filter="fade">
                                      <p:cBhvr>
                                        <p:cTn id="3184" dur="400"/>
                                        <p:tgtEl>
                                          <p:spTgt spid="59"/>
                                        </p:tgtEl>
                                      </p:cBhvr>
                                    </p:animEffect>
                                    <p:set>
                                      <p:cBhvr>
                                        <p:cTn id="3185" dur="1" fill="hold">
                                          <p:stCondLst>
                                            <p:cond delay="399"/>
                                          </p:stCondLst>
                                        </p:cTn>
                                        <p:tgtEl>
                                          <p:spTgt spid="59"/>
                                        </p:tgtEl>
                                        <p:attrNameLst>
                                          <p:attrName>style.visibility</p:attrName>
                                        </p:attrNameLst>
                                      </p:cBhvr>
                                      <p:to>
                                        <p:strVal val="hidden"/>
                                      </p:to>
                                    </p:set>
                                  </p:childTnLst>
                                </p:cTn>
                              </p:par>
                              <p:par>
                                <p:cTn id="3186" presetID="22" presetClass="entr" presetSubtype="8" fill="hold" nodeType="withEffect">
                                  <p:stCondLst>
                                    <p:cond delay="200"/>
                                  </p:stCondLst>
                                  <p:childTnLst>
                                    <p:set>
                                      <p:cBhvr>
                                        <p:cTn id="3187" dur="1" fill="hold">
                                          <p:stCondLst>
                                            <p:cond delay="0"/>
                                          </p:stCondLst>
                                        </p:cTn>
                                        <p:tgtEl>
                                          <p:spTgt spid="27"/>
                                        </p:tgtEl>
                                        <p:attrNameLst>
                                          <p:attrName>style.visibility</p:attrName>
                                        </p:attrNameLst>
                                      </p:cBhvr>
                                      <p:to>
                                        <p:strVal val="visible"/>
                                      </p:to>
                                    </p:set>
                                    <p:animEffect transition="in" filter="wipe(left)">
                                      <p:cBhvr>
                                        <p:cTn id="3188" dur="500"/>
                                        <p:tgtEl>
                                          <p:spTgt spid="27"/>
                                        </p:tgtEl>
                                      </p:cBhvr>
                                    </p:animEffect>
                                  </p:childTnLst>
                                </p:cTn>
                              </p:par>
                              <p:par>
                                <p:cTn id="3189" presetID="22" presetClass="entr" presetSubtype="8" fill="hold" nodeType="withEffect">
                                  <p:stCondLst>
                                    <p:cond delay="270"/>
                                  </p:stCondLst>
                                  <p:childTnLst>
                                    <p:set>
                                      <p:cBhvr>
                                        <p:cTn id="3190" dur="1" fill="hold">
                                          <p:stCondLst>
                                            <p:cond delay="0"/>
                                          </p:stCondLst>
                                        </p:cTn>
                                        <p:tgtEl>
                                          <p:spTgt spid="28"/>
                                        </p:tgtEl>
                                        <p:attrNameLst>
                                          <p:attrName>style.visibility</p:attrName>
                                        </p:attrNameLst>
                                      </p:cBhvr>
                                      <p:to>
                                        <p:strVal val="visible"/>
                                      </p:to>
                                    </p:set>
                                    <p:animEffect transition="in" filter="wipe(left)">
                                      <p:cBhvr>
                                        <p:cTn id="3191" dur="500"/>
                                        <p:tgtEl>
                                          <p:spTgt spid="28"/>
                                        </p:tgtEl>
                                      </p:cBhvr>
                                    </p:animEffect>
                                  </p:childTnLst>
                                </p:cTn>
                              </p:par>
                              <p:par>
                                <p:cTn id="3192" presetID="22" presetClass="entr" presetSubtype="8" fill="hold" nodeType="withEffect">
                                  <p:stCondLst>
                                    <p:cond delay="340"/>
                                  </p:stCondLst>
                                  <p:childTnLst>
                                    <p:set>
                                      <p:cBhvr>
                                        <p:cTn id="3193" dur="1" fill="hold">
                                          <p:stCondLst>
                                            <p:cond delay="0"/>
                                          </p:stCondLst>
                                        </p:cTn>
                                        <p:tgtEl>
                                          <p:spTgt spid="29"/>
                                        </p:tgtEl>
                                        <p:attrNameLst>
                                          <p:attrName>style.visibility</p:attrName>
                                        </p:attrNameLst>
                                      </p:cBhvr>
                                      <p:to>
                                        <p:strVal val="visible"/>
                                      </p:to>
                                    </p:set>
                                    <p:animEffect transition="in" filter="wipe(left)">
                                      <p:cBhvr>
                                        <p:cTn id="3194" dur="500"/>
                                        <p:tgtEl>
                                          <p:spTgt spid="29"/>
                                        </p:tgtEl>
                                      </p:cBhvr>
                                    </p:animEffect>
                                  </p:childTnLst>
                                </p:cTn>
                              </p:par>
                              <p:par>
                                <p:cTn id="3195" presetID="22" presetClass="entr" presetSubtype="8" fill="hold" nodeType="withEffect">
                                  <p:stCondLst>
                                    <p:cond delay="410"/>
                                  </p:stCondLst>
                                  <p:childTnLst>
                                    <p:set>
                                      <p:cBhvr>
                                        <p:cTn id="3196" dur="1" fill="hold">
                                          <p:stCondLst>
                                            <p:cond delay="0"/>
                                          </p:stCondLst>
                                        </p:cTn>
                                        <p:tgtEl>
                                          <p:spTgt spid="30"/>
                                        </p:tgtEl>
                                        <p:attrNameLst>
                                          <p:attrName>style.visibility</p:attrName>
                                        </p:attrNameLst>
                                      </p:cBhvr>
                                      <p:to>
                                        <p:strVal val="visible"/>
                                      </p:to>
                                    </p:set>
                                    <p:animEffect transition="in" filter="wipe(left)">
                                      <p:cBhvr>
                                        <p:cTn id="3197" dur="500"/>
                                        <p:tgtEl>
                                          <p:spTgt spid="30"/>
                                        </p:tgtEl>
                                      </p:cBhvr>
                                    </p:animEffect>
                                  </p:childTnLst>
                                </p:cTn>
                              </p:par>
                              <p:par>
                                <p:cTn id="3198" presetID="22" presetClass="entr" presetSubtype="8" fill="hold" nodeType="withEffect">
                                  <p:stCondLst>
                                    <p:cond delay="480"/>
                                  </p:stCondLst>
                                  <p:childTnLst>
                                    <p:set>
                                      <p:cBhvr>
                                        <p:cTn id="3199" dur="1" fill="hold">
                                          <p:stCondLst>
                                            <p:cond delay="0"/>
                                          </p:stCondLst>
                                        </p:cTn>
                                        <p:tgtEl>
                                          <p:spTgt spid="60"/>
                                        </p:tgtEl>
                                        <p:attrNameLst>
                                          <p:attrName>style.visibility</p:attrName>
                                        </p:attrNameLst>
                                      </p:cBhvr>
                                      <p:to>
                                        <p:strVal val="visible"/>
                                      </p:to>
                                    </p:set>
                                    <p:animEffect transition="in" filter="wipe(left)">
                                      <p:cBhvr>
                                        <p:cTn id="3200" dur="500"/>
                                        <p:tgtEl>
                                          <p:spTgt spid="60"/>
                                        </p:tgtEl>
                                      </p:cBhvr>
                                    </p:animEffect>
                                  </p:childTnLst>
                                </p:cTn>
                              </p:par>
                              <p:par>
                                <p:cTn id="3201" presetID="22" presetClass="entr" presetSubtype="8" fill="hold" nodeType="withEffect">
                                  <p:stCondLst>
                                    <p:cond delay="550"/>
                                  </p:stCondLst>
                                  <p:childTnLst>
                                    <p:set>
                                      <p:cBhvr>
                                        <p:cTn id="3202" dur="1" fill="hold">
                                          <p:stCondLst>
                                            <p:cond delay="0"/>
                                          </p:stCondLst>
                                        </p:cTn>
                                        <p:tgtEl>
                                          <p:spTgt spid="61"/>
                                        </p:tgtEl>
                                        <p:attrNameLst>
                                          <p:attrName>style.visibility</p:attrName>
                                        </p:attrNameLst>
                                      </p:cBhvr>
                                      <p:to>
                                        <p:strVal val="visible"/>
                                      </p:to>
                                    </p:set>
                                    <p:animEffect transition="in" filter="wipe(left)">
                                      <p:cBhvr>
                                        <p:cTn id="3203" dur="500"/>
                                        <p:tgtEl>
                                          <p:spTgt spid="61"/>
                                        </p:tgtEl>
                                      </p:cBhvr>
                                    </p:animEffect>
                                  </p:childTnLst>
                                </p:cTn>
                              </p:par>
                            </p:childTnLst>
                          </p:cTn>
                        </p:par>
                      </p:childTnLst>
                    </p:cTn>
                  </p:par>
                  <p:par>
                    <p:cTn id="3239" fill="hold">
                      <p:stCondLst>
                        <p:cond delay="indefinite"/>
                      </p:stCondLst>
                      <p:childTnLst>
                        <p:par>
                          <p:cTn id="3240" fill="hold">
                            <p:stCondLst>
                              <p:cond delay="0"/>
                            </p:stCondLst>
                            <p:childTnLst>
                              <p:par>
                                <p:cTn id="3206" presetID="10" presetClass="exit" presetSubtype="0" fill="hold" nodeType="clickEffect">
                                  <p:stCondLst>
                                    <p:cond delay="0"/>
                                  </p:stCondLst>
                                  <p:childTnLst>
                                    <p:animEffect transition="out" filter="fade">
                                      <p:cBhvr>
                                        <p:cTn id="3207" dur="400"/>
                                        <p:tgtEl>
                                          <p:spTgt spid="27"/>
                                        </p:tgtEl>
                                      </p:cBhvr>
                                    </p:animEffect>
                                    <p:set>
                                      <p:cBhvr>
                                        <p:cTn id="3208" dur="1" fill="hold">
                                          <p:stCondLst>
                                            <p:cond delay="399"/>
                                          </p:stCondLst>
                                        </p:cTn>
                                        <p:tgtEl>
                                          <p:spTgt spid="27"/>
                                        </p:tgtEl>
                                        <p:attrNameLst>
                                          <p:attrName>style.visibility</p:attrName>
                                        </p:attrNameLst>
                                      </p:cBhvr>
                                      <p:to>
                                        <p:strVal val="hidden"/>
                                      </p:to>
                                    </p:set>
                                  </p:childTnLst>
                                </p:cTn>
                              </p:par>
                              <p:par>
                                <p:cTn id="3209" presetID="10" presetClass="exit" presetSubtype="0" fill="hold" nodeType="withEffect">
                                  <p:stCondLst>
                                    <p:cond delay="0"/>
                                  </p:stCondLst>
                                  <p:childTnLst>
                                    <p:animEffect transition="out" filter="fade">
                                      <p:cBhvr>
                                        <p:cTn id="3210" dur="400"/>
                                        <p:tgtEl>
                                          <p:spTgt spid="28"/>
                                        </p:tgtEl>
                                      </p:cBhvr>
                                    </p:animEffect>
                                    <p:set>
                                      <p:cBhvr>
                                        <p:cTn id="3211" dur="1" fill="hold">
                                          <p:stCondLst>
                                            <p:cond delay="399"/>
                                          </p:stCondLst>
                                        </p:cTn>
                                        <p:tgtEl>
                                          <p:spTgt spid="28"/>
                                        </p:tgtEl>
                                        <p:attrNameLst>
                                          <p:attrName>style.visibility</p:attrName>
                                        </p:attrNameLst>
                                      </p:cBhvr>
                                      <p:to>
                                        <p:strVal val="hidden"/>
                                      </p:to>
                                    </p:set>
                                  </p:childTnLst>
                                </p:cTn>
                              </p:par>
                              <p:par>
                                <p:cTn id="3212" presetID="10" presetClass="exit" presetSubtype="0" fill="hold" nodeType="withEffect">
                                  <p:stCondLst>
                                    <p:cond delay="0"/>
                                  </p:stCondLst>
                                  <p:childTnLst>
                                    <p:animEffect transition="out" filter="fade">
                                      <p:cBhvr>
                                        <p:cTn id="3213" dur="400"/>
                                        <p:tgtEl>
                                          <p:spTgt spid="29"/>
                                        </p:tgtEl>
                                      </p:cBhvr>
                                    </p:animEffect>
                                    <p:set>
                                      <p:cBhvr>
                                        <p:cTn id="3214" dur="1" fill="hold">
                                          <p:stCondLst>
                                            <p:cond delay="399"/>
                                          </p:stCondLst>
                                        </p:cTn>
                                        <p:tgtEl>
                                          <p:spTgt spid="29"/>
                                        </p:tgtEl>
                                        <p:attrNameLst>
                                          <p:attrName>style.visibility</p:attrName>
                                        </p:attrNameLst>
                                      </p:cBhvr>
                                      <p:to>
                                        <p:strVal val="hidden"/>
                                      </p:to>
                                    </p:set>
                                  </p:childTnLst>
                                </p:cTn>
                              </p:par>
                              <p:par>
                                <p:cTn id="3215" presetID="10" presetClass="exit" presetSubtype="0" fill="hold" nodeType="withEffect">
                                  <p:stCondLst>
                                    <p:cond delay="0"/>
                                  </p:stCondLst>
                                  <p:childTnLst>
                                    <p:animEffect transition="out" filter="fade">
                                      <p:cBhvr>
                                        <p:cTn id="3216" dur="400"/>
                                        <p:tgtEl>
                                          <p:spTgt spid="30"/>
                                        </p:tgtEl>
                                      </p:cBhvr>
                                    </p:animEffect>
                                    <p:set>
                                      <p:cBhvr>
                                        <p:cTn id="3217" dur="1" fill="hold">
                                          <p:stCondLst>
                                            <p:cond delay="399"/>
                                          </p:stCondLst>
                                        </p:cTn>
                                        <p:tgtEl>
                                          <p:spTgt spid="30"/>
                                        </p:tgtEl>
                                        <p:attrNameLst>
                                          <p:attrName>style.visibility</p:attrName>
                                        </p:attrNameLst>
                                      </p:cBhvr>
                                      <p:to>
                                        <p:strVal val="hidden"/>
                                      </p:to>
                                    </p:set>
                                  </p:childTnLst>
                                </p:cTn>
                              </p:par>
                              <p:par>
                                <p:cTn id="3218" presetID="10" presetClass="exit" presetSubtype="0" fill="hold" nodeType="withEffect">
                                  <p:stCondLst>
                                    <p:cond delay="0"/>
                                  </p:stCondLst>
                                  <p:childTnLst>
                                    <p:animEffect transition="out" filter="fade">
                                      <p:cBhvr>
                                        <p:cTn id="3219" dur="400"/>
                                        <p:tgtEl>
                                          <p:spTgt spid="60"/>
                                        </p:tgtEl>
                                      </p:cBhvr>
                                    </p:animEffect>
                                    <p:set>
                                      <p:cBhvr>
                                        <p:cTn id="3220" dur="1" fill="hold">
                                          <p:stCondLst>
                                            <p:cond delay="399"/>
                                          </p:stCondLst>
                                        </p:cTn>
                                        <p:tgtEl>
                                          <p:spTgt spid="60"/>
                                        </p:tgtEl>
                                        <p:attrNameLst>
                                          <p:attrName>style.visibility</p:attrName>
                                        </p:attrNameLst>
                                      </p:cBhvr>
                                      <p:to>
                                        <p:strVal val="hidden"/>
                                      </p:to>
                                    </p:set>
                                  </p:childTnLst>
                                </p:cTn>
                              </p:par>
                              <p:par>
                                <p:cTn id="3221" presetID="10" presetClass="exit" presetSubtype="0" fill="hold" nodeType="withEffect">
                                  <p:stCondLst>
                                    <p:cond delay="0"/>
                                  </p:stCondLst>
                                  <p:childTnLst>
                                    <p:animEffect transition="out" filter="fade">
                                      <p:cBhvr>
                                        <p:cTn id="3222" dur="400"/>
                                        <p:tgtEl>
                                          <p:spTgt spid="61"/>
                                        </p:tgtEl>
                                      </p:cBhvr>
                                    </p:animEffect>
                                    <p:set>
                                      <p:cBhvr>
                                        <p:cTn id="3223" dur="1" fill="hold">
                                          <p:stCondLst>
                                            <p:cond delay="399"/>
                                          </p:stCondLst>
                                        </p:cTn>
                                        <p:tgtEl>
                                          <p:spTgt spid="61"/>
                                        </p:tgtEl>
                                        <p:attrNameLst>
                                          <p:attrName>style.visibility</p:attrName>
                                        </p:attrNameLst>
                                      </p:cBhvr>
                                      <p:to>
                                        <p:strVal val="hidden"/>
                                      </p:to>
                                    </p:set>
                                  </p:childTnLst>
                                </p:cTn>
                              </p:par>
                              <p:par>
                                <p:cTn id="3224" presetID="22" presetClass="entr" presetSubtype="4" fill="hold" nodeType="withEffect">
                                  <p:stCondLst>
                                    <p:cond delay="200"/>
                                  </p:stCondLst>
                                  <p:childTnLst>
                                    <p:set>
                                      <p:cBhvr>
                                        <p:cTn id="3225" dur="1" fill="hold">
                                          <p:stCondLst>
                                            <p:cond delay="0"/>
                                          </p:stCondLst>
                                        </p:cTn>
                                        <p:tgtEl>
                                          <p:spTgt spid="31"/>
                                        </p:tgtEl>
                                        <p:attrNameLst>
                                          <p:attrName>style.visibility</p:attrName>
                                        </p:attrNameLst>
                                      </p:cBhvr>
                                      <p:to>
                                        <p:strVal val="visible"/>
                                      </p:to>
                                    </p:set>
                                    <p:animEffect transition="in" filter="wipe(down)">
                                      <p:cBhvr>
                                        <p:cTn id="3226" dur="500"/>
                                        <p:tgtEl>
                                          <p:spTgt spid="31"/>
                                        </p:tgtEl>
                                      </p:cBhvr>
                                    </p:animEffect>
                                  </p:childTnLst>
                                </p:cTn>
                              </p:par>
                              <p:par>
                                <p:cTn id="3227" presetID="22" presetClass="entr" presetSubtype="4" fill="hold" nodeType="withEffect">
                                  <p:stCondLst>
                                    <p:cond delay="270"/>
                                  </p:stCondLst>
                                  <p:childTnLst>
                                    <p:set>
                                      <p:cBhvr>
                                        <p:cTn id="3228" dur="1" fill="hold">
                                          <p:stCondLst>
                                            <p:cond delay="0"/>
                                          </p:stCondLst>
                                        </p:cTn>
                                        <p:tgtEl>
                                          <p:spTgt spid="32"/>
                                        </p:tgtEl>
                                        <p:attrNameLst>
                                          <p:attrName>style.visibility</p:attrName>
                                        </p:attrNameLst>
                                      </p:cBhvr>
                                      <p:to>
                                        <p:strVal val="visible"/>
                                      </p:to>
                                    </p:set>
                                    <p:animEffect transition="in" filter="wipe(down)">
                                      <p:cBhvr>
                                        <p:cTn id="3229" dur="500"/>
                                        <p:tgtEl>
                                          <p:spTgt spid="32"/>
                                        </p:tgtEl>
                                      </p:cBhvr>
                                    </p:animEffect>
                                  </p:childTnLst>
                                </p:cTn>
                              </p:par>
                              <p:par>
                                <p:cTn id="3230" presetID="22" presetClass="entr" presetSubtype="4" fill="hold" nodeType="withEffect">
                                  <p:stCondLst>
                                    <p:cond delay="340"/>
                                  </p:stCondLst>
                                  <p:childTnLst>
                                    <p:set>
                                      <p:cBhvr>
                                        <p:cTn id="3231" dur="1" fill="hold">
                                          <p:stCondLst>
                                            <p:cond delay="0"/>
                                          </p:stCondLst>
                                        </p:cTn>
                                        <p:tgtEl>
                                          <p:spTgt spid="33"/>
                                        </p:tgtEl>
                                        <p:attrNameLst>
                                          <p:attrName>style.visibility</p:attrName>
                                        </p:attrNameLst>
                                      </p:cBhvr>
                                      <p:to>
                                        <p:strVal val="visible"/>
                                      </p:to>
                                    </p:set>
                                    <p:animEffect transition="in" filter="wipe(down)">
                                      <p:cBhvr>
                                        <p:cTn id="3232" dur="500"/>
                                        <p:tgtEl>
                                          <p:spTgt spid="33"/>
                                        </p:tgtEl>
                                      </p:cBhvr>
                                    </p:animEffect>
                                  </p:childTnLst>
                                </p:cTn>
                              </p:par>
                              <p:par>
                                <p:cTn id="3233" presetID="22" presetClass="entr" presetSubtype="4" fill="hold" nodeType="withEffect">
                                  <p:stCondLst>
                                    <p:cond delay="410"/>
                                  </p:stCondLst>
                                  <p:childTnLst>
                                    <p:set>
                                      <p:cBhvr>
                                        <p:cTn id="3234" dur="1" fill="hold">
                                          <p:stCondLst>
                                            <p:cond delay="0"/>
                                          </p:stCondLst>
                                        </p:cTn>
                                        <p:tgtEl>
                                          <p:spTgt spid="62"/>
                                        </p:tgtEl>
                                        <p:attrNameLst>
                                          <p:attrName>style.visibility</p:attrName>
                                        </p:attrNameLst>
                                      </p:cBhvr>
                                      <p:to>
                                        <p:strVal val="visible"/>
                                      </p:to>
                                    </p:set>
                                    <p:animEffect transition="in" filter="wipe(down)">
                                      <p:cBhvr>
                                        <p:cTn id="3235" dur="500"/>
                                        <p:tgtEl>
                                          <p:spTgt spid="62"/>
                                        </p:tgtEl>
                                      </p:cBhvr>
                                    </p:animEffect>
                                  </p:childTnLst>
                                </p:cTn>
                              </p:par>
                              <p:par>
                                <p:cTn id="3236" presetID="22" presetClass="entr" presetSubtype="4" fill="hold" nodeType="withEffect">
                                  <p:stCondLst>
                                    <p:cond delay="480"/>
                                  </p:stCondLst>
                                  <p:childTnLst>
                                    <p:set>
                                      <p:cBhvr>
                                        <p:cTn id="3237" dur="1" fill="hold">
                                          <p:stCondLst>
                                            <p:cond delay="0"/>
                                          </p:stCondLst>
                                        </p:cTn>
                                        <p:tgtEl>
                                          <p:spTgt spid="63"/>
                                        </p:tgtEl>
                                        <p:attrNameLst>
                                          <p:attrName>style.visibility</p:attrName>
                                        </p:attrNameLst>
                                      </p:cBhvr>
                                      <p:to>
                                        <p:strVal val="visible"/>
                                      </p:to>
                                    </p:set>
                                    <p:animEffect transition="in" filter="wipe(down)">
                                      <p:cBhvr>
                                        <p:cTn id="3238" dur="500"/>
                                        <p:tgtEl>
                                          <p:spTgt spid="63"/>
                                        </p:tgtEl>
                                      </p:cBhvr>
                                    </p:animEffect>
                                  </p:childTnLst>
                                </p:cTn>
                              </p:par>
                            </p:childTnLst>
                          </p:cTn>
                        </p:par>
                      </p:childTnLst>
                    </p:cTn>
                  </p:par>
                  <p:par>
                    <p:cTn id="3310" fill="hold">
                      <p:stCondLst>
                        <p:cond delay="indefinite"/>
                      </p:stCondLst>
                      <p:childTnLst>
                        <p:par>
                          <p:cTn id="3311" fill="hold">
                            <p:stCondLst>
                              <p:cond delay="0"/>
                            </p:stCondLst>
                            <p:childTnLst>
                              <p:par>
                                <p:cTn id="3241" presetID="10" presetClass="exit" presetSubtype="0" fill="hold" nodeType="clickEffect">
                                  <p:stCondLst>
                                    <p:cond delay="0"/>
                                  </p:stCondLst>
                                  <p:childTnLst>
                                    <p:animEffect transition="out" filter="fade">
                                      <p:cBhvr>
                                        <p:cTn id="3242" dur="400"/>
                                        <p:tgtEl>
                                          <p:spTgt spid="31"/>
                                        </p:tgtEl>
                                      </p:cBhvr>
                                    </p:animEffect>
                                    <p:set>
                                      <p:cBhvr>
                                        <p:cTn id="3243" dur="1" fill="hold">
                                          <p:stCondLst>
                                            <p:cond delay="399"/>
                                          </p:stCondLst>
                                        </p:cTn>
                                        <p:tgtEl>
                                          <p:spTgt spid="31"/>
                                        </p:tgtEl>
                                        <p:attrNameLst>
                                          <p:attrName>style.visibility</p:attrName>
                                        </p:attrNameLst>
                                      </p:cBhvr>
                                      <p:to>
                                        <p:strVal val="hidden"/>
                                      </p:to>
                                    </p:set>
                                  </p:childTnLst>
                                </p:cTn>
                              </p:par>
                              <p:par>
                                <p:cTn id="3244" presetID="10" presetClass="exit" presetSubtype="0" fill="hold" nodeType="withEffect">
                                  <p:stCondLst>
                                    <p:cond delay="0"/>
                                  </p:stCondLst>
                                  <p:childTnLst>
                                    <p:animEffect transition="out" filter="fade">
                                      <p:cBhvr>
                                        <p:cTn id="3245" dur="400"/>
                                        <p:tgtEl>
                                          <p:spTgt spid="32"/>
                                        </p:tgtEl>
                                      </p:cBhvr>
                                    </p:animEffect>
                                    <p:set>
                                      <p:cBhvr>
                                        <p:cTn id="3246" dur="1" fill="hold">
                                          <p:stCondLst>
                                            <p:cond delay="399"/>
                                          </p:stCondLst>
                                        </p:cTn>
                                        <p:tgtEl>
                                          <p:spTgt spid="32"/>
                                        </p:tgtEl>
                                        <p:attrNameLst>
                                          <p:attrName>style.visibility</p:attrName>
                                        </p:attrNameLst>
                                      </p:cBhvr>
                                      <p:to>
                                        <p:strVal val="hidden"/>
                                      </p:to>
                                    </p:set>
                                  </p:childTnLst>
                                </p:cTn>
                              </p:par>
                              <p:par>
                                <p:cTn id="3247" presetID="10" presetClass="exit" presetSubtype="0" fill="hold" nodeType="withEffect">
                                  <p:stCondLst>
                                    <p:cond delay="0"/>
                                  </p:stCondLst>
                                  <p:childTnLst>
                                    <p:animEffect transition="out" filter="fade">
                                      <p:cBhvr>
                                        <p:cTn id="3248" dur="400"/>
                                        <p:tgtEl>
                                          <p:spTgt spid="33"/>
                                        </p:tgtEl>
                                      </p:cBhvr>
                                    </p:animEffect>
                                    <p:set>
                                      <p:cBhvr>
                                        <p:cTn id="3249" dur="1" fill="hold">
                                          <p:stCondLst>
                                            <p:cond delay="399"/>
                                          </p:stCondLst>
                                        </p:cTn>
                                        <p:tgtEl>
                                          <p:spTgt spid="33"/>
                                        </p:tgtEl>
                                        <p:attrNameLst>
                                          <p:attrName>style.visibility</p:attrName>
                                        </p:attrNameLst>
                                      </p:cBhvr>
                                      <p:to>
                                        <p:strVal val="hidden"/>
                                      </p:to>
                                    </p:set>
                                  </p:childTnLst>
                                </p:cTn>
                              </p:par>
                              <p:par>
                                <p:cTn id="3250" presetID="10" presetClass="exit" presetSubtype="0" fill="hold" nodeType="withEffect">
                                  <p:stCondLst>
                                    <p:cond delay="0"/>
                                  </p:stCondLst>
                                  <p:childTnLst>
                                    <p:animEffect transition="out" filter="fade">
                                      <p:cBhvr>
                                        <p:cTn id="3251" dur="400"/>
                                        <p:tgtEl>
                                          <p:spTgt spid="62"/>
                                        </p:tgtEl>
                                      </p:cBhvr>
                                    </p:animEffect>
                                    <p:set>
                                      <p:cBhvr>
                                        <p:cTn id="3252" dur="1" fill="hold">
                                          <p:stCondLst>
                                            <p:cond delay="399"/>
                                          </p:stCondLst>
                                        </p:cTn>
                                        <p:tgtEl>
                                          <p:spTgt spid="62"/>
                                        </p:tgtEl>
                                        <p:attrNameLst>
                                          <p:attrName>style.visibility</p:attrName>
                                        </p:attrNameLst>
                                      </p:cBhvr>
                                      <p:to>
                                        <p:strVal val="hidden"/>
                                      </p:to>
                                    </p:set>
                                  </p:childTnLst>
                                </p:cTn>
                              </p:par>
                              <p:par>
                                <p:cTn id="3253" presetID="10" presetClass="exit" presetSubtype="0" fill="hold" nodeType="withEffect">
                                  <p:stCondLst>
                                    <p:cond delay="0"/>
                                  </p:stCondLst>
                                  <p:childTnLst>
                                    <p:animEffect transition="out" filter="fade">
                                      <p:cBhvr>
                                        <p:cTn id="3254" dur="400"/>
                                        <p:tgtEl>
                                          <p:spTgt spid="63"/>
                                        </p:tgtEl>
                                      </p:cBhvr>
                                    </p:animEffect>
                                    <p:set>
                                      <p:cBhvr>
                                        <p:cTn id="3255" dur="1" fill="hold">
                                          <p:stCondLst>
                                            <p:cond delay="399"/>
                                          </p:stCondLst>
                                        </p:cTn>
                                        <p:tgtEl>
                                          <p:spTgt spid="63"/>
                                        </p:tgtEl>
                                        <p:attrNameLst>
                                          <p:attrName>style.visibility</p:attrName>
                                        </p:attrNameLst>
                                      </p:cBhvr>
                                      <p:to>
                                        <p:strVal val="hidden"/>
                                      </p:to>
                                    </p:set>
                                  </p:childTnLst>
                                </p:cTn>
                              </p:par>
                              <p:par>
                                <p:cTn id="3256" presetID="10" presetClass="entr" presetSubtype="0" fill="hold" nodeType="withEffect">
                                  <p:stCondLst>
                                    <p:cond delay="200"/>
                                  </p:stCondLst>
                                  <p:childTnLst>
                                    <p:set>
                                      <p:cBhvr>
                                        <p:cTn id="3257" dur="1" fill="hold">
                                          <p:stCondLst>
                                            <p:cond delay="0"/>
                                          </p:stCondLst>
                                        </p:cTn>
                                        <p:tgtEl>
                                          <p:spTgt spid="34"/>
                                        </p:tgtEl>
                                        <p:attrNameLst>
                                          <p:attrName>style.visibility</p:attrName>
                                        </p:attrNameLst>
                                      </p:cBhvr>
                                      <p:to>
                                        <p:strVal val="visible"/>
                                      </p:to>
                                    </p:set>
                                    <p:animEffect transition="in" filter="fade">
                                      <p:cBhvr>
                                        <p:cTn id="3258" dur="500"/>
                                        <p:tgtEl>
                                          <p:spTgt spid="34"/>
                                        </p:tgtEl>
                                      </p:cBhvr>
                                    </p:animEffect>
                                  </p:childTnLst>
                                </p:cTn>
                              </p:par>
                              <p:par>
                                <p:cTn id="3259" presetID="10" presetClass="entr" presetSubtype="0" fill="hold" nodeType="withEffect">
                                  <p:stCondLst>
                                    <p:cond delay="270"/>
                                  </p:stCondLst>
                                  <p:childTnLst>
                                    <p:set>
                                      <p:cBhvr>
                                        <p:cTn id="3260" dur="1" fill="hold">
                                          <p:stCondLst>
                                            <p:cond delay="0"/>
                                          </p:stCondLst>
                                        </p:cTn>
                                        <p:tgtEl>
                                          <p:spTgt spid="35"/>
                                        </p:tgtEl>
                                        <p:attrNameLst>
                                          <p:attrName>style.visibility</p:attrName>
                                        </p:attrNameLst>
                                      </p:cBhvr>
                                      <p:to>
                                        <p:strVal val="visible"/>
                                      </p:to>
                                    </p:set>
                                    <p:animEffect transition="in" filter="fade">
                                      <p:cBhvr>
                                        <p:cTn id="3261" dur="500"/>
                                        <p:tgtEl>
                                          <p:spTgt spid="35"/>
                                        </p:tgtEl>
                                      </p:cBhvr>
                                    </p:animEffect>
                                  </p:childTnLst>
                                </p:cTn>
                              </p:par>
                              <p:par>
                                <p:cTn id="3262" presetID="10" presetClass="entr" presetSubtype="0" fill="hold" nodeType="withEffect">
                                  <p:stCondLst>
                                    <p:cond delay="340"/>
                                  </p:stCondLst>
                                  <p:childTnLst>
                                    <p:set>
                                      <p:cBhvr>
                                        <p:cTn id="3263" dur="1" fill="hold">
                                          <p:stCondLst>
                                            <p:cond delay="0"/>
                                          </p:stCondLst>
                                        </p:cTn>
                                        <p:tgtEl>
                                          <p:spTgt spid="36"/>
                                        </p:tgtEl>
                                        <p:attrNameLst>
                                          <p:attrName>style.visibility</p:attrName>
                                        </p:attrNameLst>
                                      </p:cBhvr>
                                      <p:to>
                                        <p:strVal val="visible"/>
                                      </p:to>
                                    </p:set>
                                    <p:animEffect transition="in" filter="fade">
                                      <p:cBhvr>
                                        <p:cTn id="3264" dur="500"/>
                                        <p:tgtEl>
                                          <p:spTgt spid="36"/>
                                        </p:tgtEl>
                                      </p:cBhvr>
                                    </p:animEffect>
                                  </p:childTnLst>
                                </p:cTn>
                              </p:par>
                              <p:par>
                                <p:cTn id="3265" presetID="10" presetClass="entr" presetSubtype="0" fill="hold" nodeType="withEffect">
                                  <p:stCondLst>
                                    <p:cond delay="410"/>
                                  </p:stCondLst>
                                  <p:childTnLst>
                                    <p:set>
                                      <p:cBhvr>
                                        <p:cTn id="3266" dur="1" fill="hold">
                                          <p:stCondLst>
                                            <p:cond delay="0"/>
                                          </p:stCondLst>
                                        </p:cTn>
                                        <p:tgtEl>
                                          <p:spTgt spid="37"/>
                                        </p:tgtEl>
                                        <p:attrNameLst>
                                          <p:attrName>style.visibility</p:attrName>
                                        </p:attrNameLst>
                                      </p:cBhvr>
                                      <p:to>
                                        <p:strVal val="visible"/>
                                      </p:to>
                                    </p:set>
                                    <p:animEffect transition="in" filter="fade">
                                      <p:cBhvr>
                                        <p:cTn id="3267" dur="500"/>
                                        <p:tgtEl>
                                          <p:spTgt spid="37"/>
                                        </p:tgtEl>
                                      </p:cBhvr>
                                    </p:animEffect>
                                  </p:childTnLst>
                                </p:cTn>
                              </p:par>
                              <p:par>
                                <p:cTn id="3268" presetID="10" presetClass="entr" presetSubtype="0" fill="hold" nodeType="withEffect">
                                  <p:stCondLst>
                                    <p:cond delay="480"/>
                                  </p:stCondLst>
                                  <p:childTnLst>
                                    <p:set>
                                      <p:cBhvr>
                                        <p:cTn id="3269" dur="1" fill="hold">
                                          <p:stCondLst>
                                            <p:cond delay="0"/>
                                          </p:stCondLst>
                                        </p:cTn>
                                        <p:tgtEl>
                                          <p:spTgt spid="38"/>
                                        </p:tgtEl>
                                        <p:attrNameLst>
                                          <p:attrName>style.visibility</p:attrName>
                                        </p:attrNameLst>
                                      </p:cBhvr>
                                      <p:to>
                                        <p:strVal val="visible"/>
                                      </p:to>
                                    </p:set>
                                    <p:animEffect transition="in" filter="fade">
                                      <p:cBhvr>
                                        <p:cTn id="3270" dur="500"/>
                                        <p:tgtEl>
                                          <p:spTgt spid="38"/>
                                        </p:tgtEl>
                                      </p:cBhvr>
                                    </p:animEffect>
                                  </p:childTnLst>
                                </p:cTn>
                              </p:par>
                              <p:par>
                                <p:cTn id="3271" presetID="10" presetClass="entr" presetSubtype="0" fill="hold" nodeType="withEffect">
                                  <p:stCondLst>
                                    <p:cond delay="550"/>
                                  </p:stCondLst>
                                  <p:childTnLst>
                                    <p:set>
                                      <p:cBhvr>
                                        <p:cTn id="3272" dur="1" fill="hold">
                                          <p:stCondLst>
                                            <p:cond delay="0"/>
                                          </p:stCondLst>
                                        </p:cTn>
                                        <p:tgtEl>
                                          <p:spTgt spid="39"/>
                                        </p:tgtEl>
                                        <p:attrNameLst>
                                          <p:attrName>style.visibility</p:attrName>
                                        </p:attrNameLst>
                                      </p:cBhvr>
                                      <p:to>
                                        <p:strVal val="visible"/>
                                      </p:to>
                                    </p:set>
                                    <p:animEffect transition="in" filter="fade">
                                      <p:cBhvr>
                                        <p:cTn id="3273" dur="500"/>
                                        <p:tgtEl>
                                          <p:spTgt spid="39"/>
                                        </p:tgtEl>
                                      </p:cBhvr>
                                    </p:animEffect>
                                  </p:childTnLst>
                                </p:cTn>
                              </p:par>
                              <p:par>
                                <p:cTn id="3274" presetID="10" presetClass="entr" presetSubtype="0" fill="hold" nodeType="withEffect">
                                  <p:stCondLst>
                                    <p:cond delay="620"/>
                                  </p:stCondLst>
                                  <p:childTnLst>
                                    <p:set>
                                      <p:cBhvr>
                                        <p:cTn id="3275" dur="1" fill="hold">
                                          <p:stCondLst>
                                            <p:cond delay="0"/>
                                          </p:stCondLst>
                                        </p:cTn>
                                        <p:tgtEl>
                                          <p:spTgt spid="40"/>
                                        </p:tgtEl>
                                        <p:attrNameLst>
                                          <p:attrName>style.visibility</p:attrName>
                                        </p:attrNameLst>
                                      </p:cBhvr>
                                      <p:to>
                                        <p:strVal val="visible"/>
                                      </p:to>
                                    </p:set>
                                    <p:animEffect transition="in" filter="fade">
                                      <p:cBhvr>
                                        <p:cTn id="3276" dur="500"/>
                                        <p:tgtEl>
                                          <p:spTgt spid="40"/>
                                        </p:tgtEl>
                                      </p:cBhvr>
                                    </p:animEffect>
                                  </p:childTnLst>
                                </p:cTn>
                              </p:par>
                              <p:par>
                                <p:cTn id="3277" presetID="10" presetClass="entr" presetSubtype="0" fill="hold" nodeType="withEffect">
                                  <p:stCondLst>
                                    <p:cond delay="690"/>
                                  </p:stCondLst>
                                  <p:childTnLst>
                                    <p:set>
                                      <p:cBhvr>
                                        <p:cTn id="3278" dur="1" fill="hold">
                                          <p:stCondLst>
                                            <p:cond delay="0"/>
                                          </p:stCondLst>
                                        </p:cTn>
                                        <p:tgtEl>
                                          <p:spTgt spid="41"/>
                                        </p:tgtEl>
                                        <p:attrNameLst>
                                          <p:attrName>style.visibility</p:attrName>
                                        </p:attrNameLst>
                                      </p:cBhvr>
                                      <p:to>
                                        <p:strVal val="visible"/>
                                      </p:to>
                                    </p:set>
                                    <p:animEffect transition="in" filter="fade">
                                      <p:cBhvr>
                                        <p:cTn id="3279" dur="500"/>
                                        <p:tgtEl>
                                          <p:spTgt spid="41"/>
                                        </p:tgtEl>
                                      </p:cBhvr>
                                    </p:animEffect>
                                  </p:childTnLst>
                                </p:cTn>
                              </p:par>
                              <p:par>
                                <p:cTn id="3280" presetID="10" presetClass="entr" presetSubtype="0" fill="hold" nodeType="withEffect">
                                  <p:stCondLst>
                                    <p:cond delay="760"/>
                                  </p:stCondLst>
                                  <p:childTnLst>
                                    <p:set>
                                      <p:cBhvr>
                                        <p:cTn id="3281" dur="1" fill="hold">
                                          <p:stCondLst>
                                            <p:cond delay="0"/>
                                          </p:stCondLst>
                                        </p:cTn>
                                        <p:tgtEl>
                                          <p:spTgt spid="42"/>
                                        </p:tgtEl>
                                        <p:attrNameLst>
                                          <p:attrName>style.visibility</p:attrName>
                                        </p:attrNameLst>
                                      </p:cBhvr>
                                      <p:to>
                                        <p:strVal val="visible"/>
                                      </p:to>
                                    </p:set>
                                    <p:animEffect transition="in" filter="fade">
                                      <p:cBhvr>
                                        <p:cTn id="3282" dur="500"/>
                                        <p:tgtEl>
                                          <p:spTgt spid="42"/>
                                        </p:tgtEl>
                                      </p:cBhvr>
                                    </p:animEffect>
                                  </p:childTnLst>
                                </p:cTn>
                              </p:par>
                              <p:par>
                                <p:cTn id="3283" presetID="10" presetClass="entr" presetSubtype="0" fill="hold" nodeType="withEffect">
                                  <p:stCondLst>
                                    <p:cond delay="830"/>
                                  </p:stCondLst>
                                  <p:childTnLst>
                                    <p:set>
                                      <p:cBhvr>
                                        <p:cTn id="3284" dur="1" fill="hold">
                                          <p:stCondLst>
                                            <p:cond delay="0"/>
                                          </p:stCondLst>
                                        </p:cTn>
                                        <p:tgtEl>
                                          <p:spTgt spid="43"/>
                                        </p:tgtEl>
                                        <p:attrNameLst>
                                          <p:attrName>style.visibility</p:attrName>
                                        </p:attrNameLst>
                                      </p:cBhvr>
                                      <p:to>
                                        <p:strVal val="visible"/>
                                      </p:to>
                                    </p:set>
                                    <p:animEffect transition="in" filter="fade">
                                      <p:cBhvr>
                                        <p:cTn id="3285" dur="500"/>
                                        <p:tgtEl>
                                          <p:spTgt spid="43"/>
                                        </p:tgtEl>
                                      </p:cBhvr>
                                    </p:animEffect>
                                  </p:childTnLst>
                                </p:cTn>
                              </p:par>
                              <p:par>
                                <p:cTn id="3286" presetID="10" presetClass="entr" presetSubtype="0" fill="hold" nodeType="withEffect">
                                  <p:stCondLst>
                                    <p:cond delay="900"/>
                                  </p:stCondLst>
                                  <p:childTnLst>
                                    <p:set>
                                      <p:cBhvr>
                                        <p:cTn id="3287" dur="1" fill="hold">
                                          <p:stCondLst>
                                            <p:cond delay="0"/>
                                          </p:stCondLst>
                                        </p:cTn>
                                        <p:tgtEl>
                                          <p:spTgt spid="44"/>
                                        </p:tgtEl>
                                        <p:attrNameLst>
                                          <p:attrName>style.visibility</p:attrName>
                                        </p:attrNameLst>
                                      </p:cBhvr>
                                      <p:to>
                                        <p:strVal val="visible"/>
                                      </p:to>
                                    </p:set>
                                    <p:animEffect transition="in" filter="fade">
                                      <p:cBhvr>
                                        <p:cTn id="3288" dur="500"/>
                                        <p:tgtEl>
                                          <p:spTgt spid="44"/>
                                        </p:tgtEl>
                                      </p:cBhvr>
                                    </p:animEffect>
                                  </p:childTnLst>
                                </p:cTn>
                              </p:par>
                              <p:par>
                                <p:cTn id="3289" presetID="10" presetClass="entr" presetSubtype="0" fill="hold" nodeType="withEffect">
                                  <p:stCondLst>
                                    <p:cond delay="900"/>
                                  </p:stCondLst>
                                  <p:childTnLst>
                                    <p:set>
                                      <p:cBhvr>
                                        <p:cTn id="3290" dur="1" fill="hold">
                                          <p:stCondLst>
                                            <p:cond delay="0"/>
                                          </p:stCondLst>
                                        </p:cTn>
                                        <p:tgtEl>
                                          <p:spTgt spid="45"/>
                                        </p:tgtEl>
                                        <p:attrNameLst>
                                          <p:attrName>style.visibility</p:attrName>
                                        </p:attrNameLst>
                                      </p:cBhvr>
                                      <p:to>
                                        <p:strVal val="visible"/>
                                      </p:to>
                                    </p:set>
                                    <p:animEffect transition="in" filter="fade">
                                      <p:cBhvr>
                                        <p:cTn id="3291" dur="500"/>
                                        <p:tgtEl>
                                          <p:spTgt spid="45"/>
                                        </p:tgtEl>
                                      </p:cBhvr>
                                    </p:animEffect>
                                  </p:childTnLst>
                                </p:cTn>
                              </p:par>
                              <p:par>
                                <p:cTn id="3292" presetID="10" presetClass="entr" presetSubtype="0" fill="hold" nodeType="withEffect">
                                  <p:stCondLst>
                                    <p:cond delay="900"/>
                                  </p:stCondLst>
                                  <p:childTnLst>
                                    <p:set>
                                      <p:cBhvr>
                                        <p:cTn id="3293" dur="1" fill="hold">
                                          <p:stCondLst>
                                            <p:cond delay="0"/>
                                          </p:stCondLst>
                                        </p:cTn>
                                        <p:tgtEl>
                                          <p:spTgt spid="46"/>
                                        </p:tgtEl>
                                        <p:attrNameLst>
                                          <p:attrName>style.visibility</p:attrName>
                                        </p:attrNameLst>
                                      </p:cBhvr>
                                      <p:to>
                                        <p:strVal val="visible"/>
                                      </p:to>
                                    </p:set>
                                    <p:animEffect transition="in" filter="fade">
                                      <p:cBhvr>
                                        <p:cTn id="3294" dur="500"/>
                                        <p:tgtEl>
                                          <p:spTgt spid="46"/>
                                        </p:tgtEl>
                                      </p:cBhvr>
                                    </p:animEffect>
                                  </p:childTnLst>
                                </p:cTn>
                              </p:par>
                              <p:par>
                                <p:cTn id="3295" presetID="10" presetClass="entr" presetSubtype="0" fill="hold" nodeType="withEffect">
                                  <p:stCondLst>
                                    <p:cond delay="900"/>
                                  </p:stCondLst>
                                  <p:childTnLst>
                                    <p:set>
                                      <p:cBhvr>
                                        <p:cTn id="3296" dur="1" fill="hold">
                                          <p:stCondLst>
                                            <p:cond delay="0"/>
                                          </p:stCondLst>
                                        </p:cTn>
                                        <p:tgtEl>
                                          <p:spTgt spid="47"/>
                                        </p:tgtEl>
                                        <p:attrNameLst>
                                          <p:attrName>style.visibility</p:attrName>
                                        </p:attrNameLst>
                                      </p:cBhvr>
                                      <p:to>
                                        <p:strVal val="visible"/>
                                      </p:to>
                                    </p:set>
                                    <p:animEffect transition="in" filter="fade">
                                      <p:cBhvr>
                                        <p:cTn id="3297" dur="500"/>
                                        <p:tgtEl>
                                          <p:spTgt spid="47"/>
                                        </p:tgtEl>
                                      </p:cBhvr>
                                    </p:animEffect>
                                  </p:childTnLst>
                                </p:cTn>
                              </p:par>
                              <p:par>
                                <p:cTn id="3298" presetID="10" presetClass="entr" presetSubtype="0" fill="hold" nodeType="withEffect">
                                  <p:stCondLst>
                                    <p:cond delay="900"/>
                                  </p:stCondLst>
                                  <p:childTnLst>
                                    <p:set>
                                      <p:cBhvr>
                                        <p:cTn id="3299" dur="1" fill="hold">
                                          <p:stCondLst>
                                            <p:cond delay="0"/>
                                          </p:stCondLst>
                                        </p:cTn>
                                        <p:tgtEl>
                                          <p:spTgt spid="48"/>
                                        </p:tgtEl>
                                        <p:attrNameLst>
                                          <p:attrName>style.visibility</p:attrName>
                                        </p:attrNameLst>
                                      </p:cBhvr>
                                      <p:to>
                                        <p:strVal val="visible"/>
                                      </p:to>
                                    </p:set>
                                    <p:animEffect transition="in" filter="fade">
                                      <p:cBhvr>
                                        <p:cTn id="3300" dur="500"/>
                                        <p:tgtEl>
                                          <p:spTgt spid="48"/>
                                        </p:tgtEl>
                                      </p:cBhvr>
                                    </p:animEffect>
                                  </p:childTnLst>
                                </p:cTn>
                              </p:par>
                              <p:par>
                                <p:cTn id="3301" presetID="10" presetClass="entr" presetSubtype="0" fill="hold" nodeType="withEffect">
                                  <p:stCondLst>
                                    <p:cond delay="900"/>
                                  </p:stCondLst>
                                  <p:childTnLst>
                                    <p:set>
                                      <p:cBhvr>
                                        <p:cTn id="3302" dur="1" fill="hold">
                                          <p:stCondLst>
                                            <p:cond delay="0"/>
                                          </p:stCondLst>
                                        </p:cTn>
                                        <p:tgtEl>
                                          <p:spTgt spid="49"/>
                                        </p:tgtEl>
                                        <p:attrNameLst>
                                          <p:attrName>style.visibility</p:attrName>
                                        </p:attrNameLst>
                                      </p:cBhvr>
                                      <p:to>
                                        <p:strVal val="visible"/>
                                      </p:to>
                                    </p:set>
                                    <p:animEffect transition="in" filter="fade">
                                      <p:cBhvr>
                                        <p:cTn id="3303" dur="500"/>
                                        <p:tgtEl>
                                          <p:spTgt spid="49"/>
                                        </p:tgtEl>
                                      </p:cBhvr>
                                    </p:animEffect>
                                  </p:childTnLst>
                                </p:cTn>
                              </p:par>
                              <p:par>
                                <p:cTn id="3304" presetID="10" presetClass="entr" presetSubtype="0" fill="hold" nodeType="withEffect">
                                  <p:stCondLst>
                                    <p:cond delay="900"/>
                                  </p:stCondLst>
                                  <p:childTnLst>
                                    <p:set>
                                      <p:cBhvr>
                                        <p:cTn id="3305" dur="1" fill="hold">
                                          <p:stCondLst>
                                            <p:cond delay="0"/>
                                          </p:stCondLst>
                                        </p:cTn>
                                        <p:tgtEl>
                                          <p:spTgt spid="64"/>
                                        </p:tgtEl>
                                        <p:attrNameLst>
                                          <p:attrName>style.visibility</p:attrName>
                                        </p:attrNameLst>
                                      </p:cBhvr>
                                      <p:to>
                                        <p:strVal val="visible"/>
                                      </p:to>
                                    </p:set>
                                    <p:animEffect transition="in" filter="fade">
                                      <p:cBhvr>
                                        <p:cTn id="3306" dur="500"/>
                                        <p:tgtEl>
                                          <p:spTgt spid="64"/>
                                        </p:tgtEl>
                                      </p:cBhvr>
                                    </p:animEffect>
                                  </p:childTnLst>
                                </p:cTn>
                              </p:par>
                              <p:par>
                                <p:cTn id="3307" presetID="10" presetClass="entr" presetSubtype="0" fill="hold" nodeType="withEffect">
                                  <p:stCondLst>
                                    <p:cond delay="900"/>
                                  </p:stCondLst>
                                  <p:childTnLst>
                                    <p:set>
                                      <p:cBhvr>
                                        <p:cTn id="3308" dur="1" fill="hold">
                                          <p:stCondLst>
                                            <p:cond delay="0"/>
                                          </p:stCondLst>
                                        </p:cTn>
                                        <p:tgtEl>
                                          <p:spTgt spid="65"/>
                                        </p:tgtEl>
                                        <p:attrNameLst>
                                          <p:attrName>style.visibility</p:attrName>
                                        </p:attrNameLst>
                                      </p:cBhvr>
                                      <p:to>
                                        <p:strVal val="visible"/>
                                      </p:to>
                                    </p:set>
                                    <p:animEffect transition="in" filter="fade">
                                      <p:cBhvr>
                                        <p:cTn id="3309" dur="500"/>
                                        <p:tgtEl>
                                          <p:spTgt spid="65"/>
                                        </p:tgtEl>
                                      </p:cBhvr>
                                    </p:animEffect>
                                  </p:childTnLst>
                                </p:cTn>
                              </p:par>
                            </p:childTnLst>
                          </p:cTn>
                        </p:par>
                      </p:childTnLst>
                    </p:cTn>
                  </p:par>
                  <p:par>
                    <p:cTn id="3390" fill="hold">
                      <p:stCondLst>
                        <p:cond delay="indefinite"/>
                      </p:stCondLst>
                      <p:childTnLst>
                        <p:par>
                          <p:cTn id="3391" fill="hold">
                            <p:stCondLst>
                              <p:cond delay="0"/>
                            </p:stCondLst>
                            <p:childTnLst>
                              <p:par>
                                <p:cTn id="3312" presetID="10" presetClass="exit" presetSubtype="0" fill="hold" nodeType="clickEffect">
                                  <p:stCondLst>
                                    <p:cond delay="0"/>
                                  </p:stCondLst>
                                  <p:childTnLst>
                                    <p:animEffect transition="out" filter="fade">
                                      <p:cBhvr>
                                        <p:cTn id="3313" dur="400"/>
                                        <p:tgtEl>
                                          <p:spTgt spid="34"/>
                                        </p:tgtEl>
                                      </p:cBhvr>
                                    </p:animEffect>
                                    <p:set>
                                      <p:cBhvr>
                                        <p:cTn id="3314" dur="1" fill="hold">
                                          <p:stCondLst>
                                            <p:cond delay="399"/>
                                          </p:stCondLst>
                                        </p:cTn>
                                        <p:tgtEl>
                                          <p:spTgt spid="34"/>
                                        </p:tgtEl>
                                        <p:attrNameLst>
                                          <p:attrName>style.visibility</p:attrName>
                                        </p:attrNameLst>
                                      </p:cBhvr>
                                      <p:to>
                                        <p:strVal val="hidden"/>
                                      </p:to>
                                    </p:set>
                                  </p:childTnLst>
                                </p:cTn>
                              </p:par>
                              <p:par>
                                <p:cTn id="3315" presetID="10" presetClass="exit" presetSubtype="0" fill="hold" nodeType="withEffect">
                                  <p:stCondLst>
                                    <p:cond delay="0"/>
                                  </p:stCondLst>
                                  <p:childTnLst>
                                    <p:animEffect transition="out" filter="fade">
                                      <p:cBhvr>
                                        <p:cTn id="3316" dur="400"/>
                                        <p:tgtEl>
                                          <p:spTgt spid="35"/>
                                        </p:tgtEl>
                                      </p:cBhvr>
                                    </p:animEffect>
                                    <p:set>
                                      <p:cBhvr>
                                        <p:cTn id="3317" dur="1" fill="hold">
                                          <p:stCondLst>
                                            <p:cond delay="399"/>
                                          </p:stCondLst>
                                        </p:cTn>
                                        <p:tgtEl>
                                          <p:spTgt spid="35"/>
                                        </p:tgtEl>
                                        <p:attrNameLst>
                                          <p:attrName>style.visibility</p:attrName>
                                        </p:attrNameLst>
                                      </p:cBhvr>
                                      <p:to>
                                        <p:strVal val="hidden"/>
                                      </p:to>
                                    </p:set>
                                  </p:childTnLst>
                                </p:cTn>
                              </p:par>
                              <p:par>
                                <p:cTn id="3318" presetID="10" presetClass="exit" presetSubtype="0" fill="hold" nodeType="withEffect">
                                  <p:stCondLst>
                                    <p:cond delay="0"/>
                                  </p:stCondLst>
                                  <p:childTnLst>
                                    <p:animEffect transition="out" filter="fade">
                                      <p:cBhvr>
                                        <p:cTn id="3319" dur="400"/>
                                        <p:tgtEl>
                                          <p:spTgt spid="36"/>
                                        </p:tgtEl>
                                      </p:cBhvr>
                                    </p:animEffect>
                                    <p:set>
                                      <p:cBhvr>
                                        <p:cTn id="3320" dur="1" fill="hold">
                                          <p:stCondLst>
                                            <p:cond delay="399"/>
                                          </p:stCondLst>
                                        </p:cTn>
                                        <p:tgtEl>
                                          <p:spTgt spid="36"/>
                                        </p:tgtEl>
                                        <p:attrNameLst>
                                          <p:attrName>style.visibility</p:attrName>
                                        </p:attrNameLst>
                                      </p:cBhvr>
                                      <p:to>
                                        <p:strVal val="hidden"/>
                                      </p:to>
                                    </p:set>
                                  </p:childTnLst>
                                </p:cTn>
                              </p:par>
                              <p:par>
                                <p:cTn id="3321" presetID="10" presetClass="exit" presetSubtype="0" fill="hold" nodeType="withEffect">
                                  <p:stCondLst>
                                    <p:cond delay="0"/>
                                  </p:stCondLst>
                                  <p:childTnLst>
                                    <p:animEffect transition="out" filter="fade">
                                      <p:cBhvr>
                                        <p:cTn id="3322" dur="400"/>
                                        <p:tgtEl>
                                          <p:spTgt spid="37"/>
                                        </p:tgtEl>
                                      </p:cBhvr>
                                    </p:animEffect>
                                    <p:set>
                                      <p:cBhvr>
                                        <p:cTn id="3323" dur="1" fill="hold">
                                          <p:stCondLst>
                                            <p:cond delay="399"/>
                                          </p:stCondLst>
                                        </p:cTn>
                                        <p:tgtEl>
                                          <p:spTgt spid="37"/>
                                        </p:tgtEl>
                                        <p:attrNameLst>
                                          <p:attrName>style.visibility</p:attrName>
                                        </p:attrNameLst>
                                      </p:cBhvr>
                                      <p:to>
                                        <p:strVal val="hidden"/>
                                      </p:to>
                                    </p:set>
                                  </p:childTnLst>
                                </p:cTn>
                              </p:par>
                              <p:par>
                                <p:cTn id="3324" presetID="10" presetClass="exit" presetSubtype="0" fill="hold" nodeType="withEffect">
                                  <p:stCondLst>
                                    <p:cond delay="0"/>
                                  </p:stCondLst>
                                  <p:childTnLst>
                                    <p:animEffect transition="out" filter="fade">
                                      <p:cBhvr>
                                        <p:cTn id="3325" dur="400"/>
                                        <p:tgtEl>
                                          <p:spTgt spid="38"/>
                                        </p:tgtEl>
                                      </p:cBhvr>
                                    </p:animEffect>
                                    <p:set>
                                      <p:cBhvr>
                                        <p:cTn id="3326" dur="1" fill="hold">
                                          <p:stCondLst>
                                            <p:cond delay="399"/>
                                          </p:stCondLst>
                                        </p:cTn>
                                        <p:tgtEl>
                                          <p:spTgt spid="38"/>
                                        </p:tgtEl>
                                        <p:attrNameLst>
                                          <p:attrName>style.visibility</p:attrName>
                                        </p:attrNameLst>
                                      </p:cBhvr>
                                      <p:to>
                                        <p:strVal val="hidden"/>
                                      </p:to>
                                    </p:set>
                                  </p:childTnLst>
                                </p:cTn>
                              </p:par>
                              <p:par>
                                <p:cTn id="3327" presetID="10" presetClass="exit" presetSubtype="0" fill="hold" nodeType="withEffect">
                                  <p:stCondLst>
                                    <p:cond delay="0"/>
                                  </p:stCondLst>
                                  <p:childTnLst>
                                    <p:animEffect transition="out" filter="fade">
                                      <p:cBhvr>
                                        <p:cTn id="3328" dur="400"/>
                                        <p:tgtEl>
                                          <p:spTgt spid="39"/>
                                        </p:tgtEl>
                                      </p:cBhvr>
                                    </p:animEffect>
                                    <p:set>
                                      <p:cBhvr>
                                        <p:cTn id="3329" dur="1" fill="hold">
                                          <p:stCondLst>
                                            <p:cond delay="399"/>
                                          </p:stCondLst>
                                        </p:cTn>
                                        <p:tgtEl>
                                          <p:spTgt spid="39"/>
                                        </p:tgtEl>
                                        <p:attrNameLst>
                                          <p:attrName>style.visibility</p:attrName>
                                        </p:attrNameLst>
                                      </p:cBhvr>
                                      <p:to>
                                        <p:strVal val="hidden"/>
                                      </p:to>
                                    </p:set>
                                  </p:childTnLst>
                                </p:cTn>
                              </p:par>
                              <p:par>
                                <p:cTn id="3330" presetID="10" presetClass="exit" presetSubtype="0" fill="hold" nodeType="withEffect">
                                  <p:stCondLst>
                                    <p:cond delay="0"/>
                                  </p:stCondLst>
                                  <p:childTnLst>
                                    <p:animEffect transition="out" filter="fade">
                                      <p:cBhvr>
                                        <p:cTn id="3331" dur="400"/>
                                        <p:tgtEl>
                                          <p:spTgt spid="40"/>
                                        </p:tgtEl>
                                      </p:cBhvr>
                                    </p:animEffect>
                                    <p:set>
                                      <p:cBhvr>
                                        <p:cTn id="3332" dur="1" fill="hold">
                                          <p:stCondLst>
                                            <p:cond delay="399"/>
                                          </p:stCondLst>
                                        </p:cTn>
                                        <p:tgtEl>
                                          <p:spTgt spid="40"/>
                                        </p:tgtEl>
                                        <p:attrNameLst>
                                          <p:attrName>style.visibility</p:attrName>
                                        </p:attrNameLst>
                                      </p:cBhvr>
                                      <p:to>
                                        <p:strVal val="hidden"/>
                                      </p:to>
                                    </p:set>
                                  </p:childTnLst>
                                </p:cTn>
                              </p:par>
                              <p:par>
                                <p:cTn id="3333" presetID="10" presetClass="exit" presetSubtype="0" fill="hold" nodeType="withEffect">
                                  <p:stCondLst>
                                    <p:cond delay="0"/>
                                  </p:stCondLst>
                                  <p:childTnLst>
                                    <p:animEffect transition="out" filter="fade">
                                      <p:cBhvr>
                                        <p:cTn id="3334" dur="400"/>
                                        <p:tgtEl>
                                          <p:spTgt spid="41"/>
                                        </p:tgtEl>
                                      </p:cBhvr>
                                    </p:animEffect>
                                    <p:set>
                                      <p:cBhvr>
                                        <p:cTn id="3335" dur="1" fill="hold">
                                          <p:stCondLst>
                                            <p:cond delay="399"/>
                                          </p:stCondLst>
                                        </p:cTn>
                                        <p:tgtEl>
                                          <p:spTgt spid="41"/>
                                        </p:tgtEl>
                                        <p:attrNameLst>
                                          <p:attrName>style.visibility</p:attrName>
                                        </p:attrNameLst>
                                      </p:cBhvr>
                                      <p:to>
                                        <p:strVal val="hidden"/>
                                      </p:to>
                                    </p:set>
                                  </p:childTnLst>
                                </p:cTn>
                              </p:par>
                              <p:par>
                                <p:cTn id="3336" presetID="10" presetClass="exit" presetSubtype="0" fill="hold" nodeType="withEffect">
                                  <p:stCondLst>
                                    <p:cond delay="0"/>
                                  </p:stCondLst>
                                  <p:childTnLst>
                                    <p:animEffect transition="out" filter="fade">
                                      <p:cBhvr>
                                        <p:cTn id="3337" dur="400"/>
                                        <p:tgtEl>
                                          <p:spTgt spid="42"/>
                                        </p:tgtEl>
                                      </p:cBhvr>
                                    </p:animEffect>
                                    <p:set>
                                      <p:cBhvr>
                                        <p:cTn id="3338" dur="1" fill="hold">
                                          <p:stCondLst>
                                            <p:cond delay="399"/>
                                          </p:stCondLst>
                                        </p:cTn>
                                        <p:tgtEl>
                                          <p:spTgt spid="42"/>
                                        </p:tgtEl>
                                        <p:attrNameLst>
                                          <p:attrName>style.visibility</p:attrName>
                                        </p:attrNameLst>
                                      </p:cBhvr>
                                      <p:to>
                                        <p:strVal val="hidden"/>
                                      </p:to>
                                    </p:set>
                                  </p:childTnLst>
                                </p:cTn>
                              </p:par>
                              <p:par>
                                <p:cTn id="3339" presetID="10" presetClass="exit" presetSubtype="0" fill="hold" nodeType="withEffect">
                                  <p:stCondLst>
                                    <p:cond delay="0"/>
                                  </p:stCondLst>
                                  <p:childTnLst>
                                    <p:animEffect transition="out" filter="fade">
                                      <p:cBhvr>
                                        <p:cTn id="3340" dur="400"/>
                                        <p:tgtEl>
                                          <p:spTgt spid="43"/>
                                        </p:tgtEl>
                                      </p:cBhvr>
                                    </p:animEffect>
                                    <p:set>
                                      <p:cBhvr>
                                        <p:cTn id="3341" dur="1" fill="hold">
                                          <p:stCondLst>
                                            <p:cond delay="399"/>
                                          </p:stCondLst>
                                        </p:cTn>
                                        <p:tgtEl>
                                          <p:spTgt spid="43"/>
                                        </p:tgtEl>
                                        <p:attrNameLst>
                                          <p:attrName>style.visibility</p:attrName>
                                        </p:attrNameLst>
                                      </p:cBhvr>
                                      <p:to>
                                        <p:strVal val="hidden"/>
                                      </p:to>
                                    </p:set>
                                  </p:childTnLst>
                                </p:cTn>
                              </p:par>
                              <p:par>
                                <p:cTn id="3342" presetID="10" presetClass="exit" presetSubtype="0" fill="hold" nodeType="withEffect">
                                  <p:stCondLst>
                                    <p:cond delay="0"/>
                                  </p:stCondLst>
                                  <p:childTnLst>
                                    <p:animEffect transition="out" filter="fade">
                                      <p:cBhvr>
                                        <p:cTn id="3343" dur="400"/>
                                        <p:tgtEl>
                                          <p:spTgt spid="44"/>
                                        </p:tgtEl>
                                      </p:cBhvr>
                                    </p:animEffect>
                                    <p:set>
                                      <p:cBhvr>
                                        <p:cTn id="3344" dur="1" fill="hold">
                                          <p:stCondLst>
                                            <p:cond delay="399"/>
                                          </p:stCondLst>
                                        </p:cTn>
                                        <p:tgtEl>
                                          <p:spTgt spid="44"/>
                                        </p:tgtEl>
                                        <p:attrNameLst>
                                          <p:attrName>style.visibility</p:attrName>
                                        </p:attrNameLst>
                                      </p:cBhvr>
                                      <p:to>
                                        <p:strVal val="hidden"/>
                                      </p:to>
                                    </p:set>
                                  </p:childTnLst>
                                </p:cTn>
                              </p:par>
                              <p:par>
                                <p:cTn id="3345" presetID="10" presetClass="exit" presetSubtype="0" fill="hold" nodeType="withEffect">
                                  <p:stCondLst>
                                    <p:cond delay="0"/>
                                  </p:stCondLst>
                                  <p:childTnLst>
                                    <p:animEffect transition="out" filter="fade">
                                      <p:cBhvr>
                                        <p:cTn id="3346" dur="400"/>
                                        <p:tgtEl>
                                          <p:spTgt spid="45"/>
                                        </p:tgtEl>
                                      </p:cBhvr>
                                    </p:animEffect>
                                    <p:set>
                                      <p:cBhvr>
                                        <p:cTn id="3347" dur="1" fill="hold">
                                          <p:stCondLst>
                                            <p:cond delay="399"/>
                                          </p:stCondLst>
                                        </p:cTn>
                                        <p:tgtEl>
                                          <p:spTgt spid="45"/>
                                        </p:tgtEl>
                                        <p:attrNameLst>
                                          <p:attrName>style.visibility</p:attrName>
                                        </p:attrNameLst>
                                      </p:cBhvr>
                                      <p:to>
                                        <p:strVal val="hidden"/>
                                      </p:to>
                                    </p:set>
                                  </p:childTnLst>
                                </p:cTn>
                              </p:par>
                              <p:par>
                                <p:cTn id="3348" presetID="10" presetClass="exit" presetSubtype="0" fill="hold" nodeType="withEffect">
                                  <p:stCondLst>
                                    <p:cond delay="0"/>
                                  </p:stCondLst>
                                  <p:childTnLst>
                                    <p:animEffect transition="out" filter="fade">
                                      <p:cBhvr>
                                        <p:cTn id="3349" dur="400"/>
                                        <p:tgtEl>
                                          <p:spTgt spid="46"/>
                                        </p:tgtEl>
                                      </p:cBhvr>
                                    </p:animEffect>
                                    <p:set>
                                      <p:cBhvr>
                                        <p:cTn id="3350" dur="1" fill="hold">
                                          <p:stCondLst>
                                            <p:cond delay="399"/>
                                          </p:stCondLst>
                                        </p:cTn>
                                        <p:tgtEl>
                                          <p:spTgt spid="46"/>
                                        </p:tgtEl>
                                        <p:attrNameLst>
                                          <p:attrName>style.visibility</p:attrName>
                                        </p:attrNameLst>
                                      </p:cBhvr>
                                      <p:to>
                                        <p:strVal val="hidden"/>
                                      </p:to>
                                    </p:set>
                                  </p:childTnLst>
                                </p:cTn>
                              </p:par>
                              <p:par>
                                <p:cTn id="3351" presetID="10" presetClass="exit" presetSubtype="0" fill="hold" nodeType="withEffect">
                                  <p:stCondLst>
                                    <p:cond delay="0"/>
                                  </p:stCondLst>
                                  <p:childTnLst>
                                    <p:animEffect transition="out" filter="fade">
                                      <p:cBhvr>
                                        <p:cTn id="3352" dur="400"/>
                                        <p:tgtEl>
                                          <p:spTgt spid="47"/>
                                        </p:tgtEl>
                                      </p:cBhvr>
                                    </p:animEffect>
                                    <p:set>
                                      <p:cBhvr>
                                        <p:cTn id="3353" dur="1" fill="hold">
                                          <p:stCondLst>
                                            <p:cond delay="399"/>
                                          </p:stCondLst>
                                        </p:cTn>
                                        <p:tgtEl>
                                          <p:spTgt spid="47"/>
                                        </p:tgtEl>
                                        <p:attrNameLst>
                                          <p:attrName>style.visibility</p:attrName>
                                        </p:attrNameLst>
                                      </p:cBhvr>
                                      <p:to>
                                        <p:strVal val="hidden"/>
                                      </p:to>
                                    </p:set>
                                  </p:childTnLst>
                                </p:cTn>
                              </p:par>
                              <p:par>
                                <p:cTn id="3354" presetID="10" presetClass="exit" presetSubtype="0" fill="hold" nodeType="withEffect">
                                  <p:stCondLst>
                                    <p:cond delay="0"/>
                                  </p:stCondLst>
                                  <p:childTnLst>
                                    <p:animEffect transition="out" filter="fade">
                                      <p:cBhvr>
                                        <p:cTn id="3355" dur="400"/>
                                        <p:tgtEl>
                                          <p:spTgt spid="48"/>
                                        </p:tgtEl>
                                      </p:cBhvr>
                                    </p:animEffect>
                                    <p:set>
                                      <p:cBhvr>
                                        <p:cTn id="3356" dur="1" fill="hold">
                                          <p:stCondLst>
                                            <p:cond delay="399"/>
                                          </p:stCondLst>
                                        </p:cTn>
                                        <p:tgtEl>
                                          <p:spTgt spid="48"/>
                                        </p:tgtEl>
                                        <p:attrNameLst>
                                          <p:attrName>style.visibility</p:attrName>
                                        </p:attrNameLst>
                                      </p:cBhvr>
                                      <p:to>
                                        <p:strVal val="hidden"/>
                                      </p:to>
                                    </p:set>
                                  </p:childTnLst>
                                </p:cTn>
                              </p:par>
                              <p:par>
                                <p:cTn id="3357" presetID="10" presetClass="exit" presetSubtype="0" fill="hold" nodeType="withEffect">
                                  <p:stCondLst>
                                    <p:cond delay="0"/>
                                  </p:stCondLst>
                                  <p:childTnLst>
                                    <p:animEffect transition="out" filter="fade">
                                      <p:cBhvr>
                                        <p:cTn id="3358" dur="400"/>
                                        <p:tgtEl>
                                          <p:spTgt spid="49"/>
                                        </p:tgtEl>
                                      </p:cBhvr>
                                    </p:animEffect>
                                    <p:set>
                                      <p:cBhvr>
                                        <p:cTn id="3359" dur="1" fill="hold">
                                          <p:stCondLst>
                                            <p:cond delay="399"/>
                                          </p:stCondLst>
                                        </p:cTn>
                                        <p:tgtEl>
                                          <p:spTgt spid="49"/>
                                        </p:tgtEl>
                                        <p:attrNameLst>
                                          <p:attrName>style.visibility</p:attrName>
                                        </p:attrNameLst>
                                      </p:cBhvr>
                                      <p:to>
                                        <p:strVal val="hidden"/>
                                      </p:to>
                                    </p:set>
                                  </p:childTnLst>
                                </p:cTn>
                              </p:par>
                              <p:par>
                                <p:cTn id="3360" presetID="10" presetClass="exit" presetSubtype="0" fill="hold" nodeType="withEffect">
                                  <p:stCondLst>
                                    <p:cond delay="0"/>
                                  </p:stCondLst>
                                  <p:childTnLst>
                                    <p:animEffect transition="out" filter="fade">
                                      <p:cBhvr>
                                        <p:cTn id="3361" dur="400"/>
                                        <p:tgtEl>
                                          <p:spTgt spid="64"/>
                                        </p:tgtEl>
                                      </p:cBhvr>
                                    </p:animEffect>
                                    <p:set>
                                      <p:cBhvr>
                                        <p:cTn id="3362" dur="1" fill="hold">
                                          <p:stCondLst>
                                            <p:cond delay="399"/>
                                          </p:stCondLst>
                                        </p:cTn>
                                        <p:tgtEl>
                                          <p:spTgt spid="64"/>
                                        </p:tgtEl>
                                        <p:attrNameLst>
                                          <p:attrName>style.visibility</p:attrName>
                                        </p:attrNameLst>
                                      </p:cBhvr>
                                      <p:to>
                                        <p:strVal val="hidden"/>
                                      </p:to>
                                    </p:set>
                                  </p:childTnLst>
                                </p:cTn>
                              </p:par>
                              <p:par>
                                <p:cTn id="3363" presetID="10" presetClass="exit" presetSubtype="0" fill="hold" nodeType="withEffect">
                                  <p:stCondLst>
                                    <p:cond delay="0"/>
                                  </p:stCondLst>
                                  <p:childTnLst>
                                    <p:animEffect transition="out" filter="fade">
                                      <p:cBhvr>
                                        <p:cTn id="3364" dur="400"/>
                                        <p:tgtEl>
                                          <p:spTgt spid="65"/>
                                        </p:tgtEl>
                                      </p:cBhvr>
                                    </p:animEffect>
                                    <p:set>
                                      <p:cBhvr>
                                        <p:cTn id="3365" dur="1" fill="hold">
                                          <p:stCondLst>
                                            <p:cond delay="399"/>
                                          </p:stCondLst>
                                        </p:cTn>
                                        <p:tgtEl>
                                          <p:spTgt spid="65"/>
                                        </p:tgtEl>
                                        <p:attrNameLst>
                                          <p:attrName>style.visibility</p:attrName>
                                        </p:attrNameLst>
                                      </p:cBhvr>
                                      <p:to>
                                        <p:strVal val="hidden"/>
                                      </p:to>
                                    </p:set>
                                  </p:childTnLst>
                                </p:cTn>
                              </p:par>
                              <p:par>
                                <p:cTn id="3366" presetID="22" presetClass="entr" presetSubtype="8" fill="hold" nodeType="withEffect">
                                  <p:stCondLst>
                                    <p:cond delay="200"/>
                                  </p:stCondLst>
                                  <p:childTnLst>
                                    <p:set>
                                      <p:cBhvr>
                                        <p:cTn id="3367" dur="1" fill="hold">
                                          <p:stCondLst>
                                            <p:cond delay="0"/>
                                          </p:stCondLst>
                                        </p:cTn>
                                        <p:tgtEl>
                                          <p:spTgt spid="50"/>
                                        </p:tgtEl>
                                        <p:attrNameLst>
                                          <p:attrName>style.visibility</p:attrName>
                                        </p:attrNameLst>
                                      </p:cBhvr>
                                      <p:to>
                                        <p:strVal val="visible"/>
                                      </p:to>
                                    </p:set>
                                    <p:animEffect transition="in" filter="wipe(left)">
                                      <p:cBhvr>
                                        <p:cTn id="3368" dur="500"/>
                                        <p:tgtEl>
                                          <p:spTgt spid="50"/>
                                        </p:tgtEl>
                                      </p:cBhvr>
                                    </p:animEffect>
                                  </p:childTnLst>
                                </p:cTn>
                              </p:par>
                              <p:par>
                                <p:cTn id="3369" presetID="22" presetClass="entr" presetSubtype="8" fill="hold" nodeType="withEffect">
                                  <p:stCondLst>
                                    <p:cond delay="270"/>
                                  </p:stCondLst>
                                  <p:childTnLst>
                                    <p:set>
                                      <p:cBhvr>
                                        <p:cTn id="3370" dur="1" fill="hold">
                                          <p:stCondLst>
                                            <p:cond delay="0"/>
                                          </p:stCondLst>
                                        </p:cTn>
                                        <p:tgtEl>
                                          <p:spTgt spid="51"/>
                                        </p:tgtEl>
                                        <p:attrNameLst>
                                          <p:attrName>style.visibility</p:attrName>
                                        </p:attrNameLst>
                                      </p:cBhvr>
                                      <p:to>
                                        <p:strVal val="visible"/>
                                      </p:to>
                                    </p:set>
                                    <p:animEffect transition="in" filter="wipe(left)">
                                      <p:cBhvr>
                                        <p:cTn id="3371" dur="500"/>
                                        <p:tgtEl>
                                          <p:spTgt spid="51"/>
                                        </p:tgtEl>
                                      </p:cBhvr>
                                    </p:animEffect>
                                  </p:childTnLst>
                                </p:cTn>
                              </p:par>
                              <p:par>
                                <p:cTn id="3372" presetID="22" presetClass="entr" presetSubtype="8" fill="hold" nodeType="withEffect">
                                  <p:stCondLst>
                                    <p:cond delay="340"/>
                                  </p:stCondLst>
                                  <p:childTnLst>
                                    <p:set>
                                      <p:cBhvr>
                                        <p:cTn id="3373" dur="1" fill="hold">
                                          <p:stCondLst>
                                            <p:cond delay="0"/>
                                          </p:stCondLst>
                                        </p:cTn>
                                        <p:tgtEl>
                                          <p:spTgt spid="52"/>
                                        </p:tgtEl>
                                        <p:attrNameLst>
                                          <p:attrName>style.visibility</p:attrName>
                                        </p:attrNameLst>
                                      </p:cBhvr>
                                      <p:to>
                                        <p:strVal val="visible"/>
                                      </p:to>
                                    </p:set>
                                    <p:animEffect transition="in" filter="wipe(left)">
                                      <p:cBhvr>
                                        <p:cTn id="3374" dur="500"/>
                                        <p:tgtEl>
                                          <p:spTgt spid="52"/>
                                        </p:tgtEl>
                                      </p:cBhvr>
                                    </p:animEffect>
                                  </p:childTnLst>
                                </p:cTn>
                              </p:par>
                              <p:par>
                                <p:cTn id="3375" presetID="22" presetClass="entr" presetSubtype="8" fill="hold" nodeType="withEffect">
                                  <p:stCondLst>
                                    <p:cond delay="410"/>
                                  </p:stCondLst>
                                  <p:childTnLst>
                                    <p:set>
                                      <p:cBhvr>
                                        <p:cTn id="3376" dur="1" fill="hold">
                                          <p:stCondLst>
                                            <p:cond delay="0"/>
                                          </p:stCondLst>
                                        </p:cTn>
                                        <p:tgtEl>
                                          <p:spTgt spid="53"/>
                                        </p:tgtEl>
                                        <p:attrNameLst>
                                          <p:attrName>style.visibility</p:attrName>
                                        </p:attrNameLst>
                                      </p:cBhvr>
                                      <p:to>
                                        <p:strVal val="visible"/>
                                      </p:to>
                                    </p:set>
                                    <p:animEffect transition="in" filter="wipe(left)">
                                      <p:cBhvr>
                                        <p:cTn id="3377" dur="500"/>
                                        <p:tgtEl>
                                          <p:spTgt spid="53"/>
                                        </p:tgtEl>
                                      </p:cBhvr>
                                    </p:animEffect>
                                  </p:childTnLst>
                                </p:cTn>
                              </p:par>
                              <p:par>
                                <p:cTn id="3378" presetID="22" presetClass="entr" presetSubtype="8" fill="hold" nodeType="withEffect">
                                  <p:stCondLst>
                                    <p:cond delay="480"/>
                                  </p:stCondLst>
                                  <p:childTnLst>
                                    <p:set>
                                      <p:cBhvr>
                                        <p:cTn id="3379" dur="1" fill="hold">
                                          <p:stCondLst>
                                            <p:cond delay="0"/>
                                          </p:stCondLst>
                                        </p:cTn>
                                        <p:tgtEl>
                                          <p:spTgt spid="54"/>
                                        </p:tgtEl>
                                        <p:attrNameLst>
                                          <p:attrName>style.visibility</p:attrName>
                                        </p:attrNameLst>
                                      </p:cBhvr>
                                      <p:to>
                                        <p:strVal val="visible"/>
                                      </p:to>
                                    </p:set>
                                    <p:animEffect transition="in" filter="wipe(left)">
                                      <p:cBhvr>
                                        <p:cTn id="3380" dur="500"/>
                                        <p:tgtEl>
                                          <p:spTgt spid="54"/>
                                        </p:tgtEl>
                                      </p:cBhvr>
                                    </p:animEffect>
                                  </p:childTnLst>
                                </p:cTn>
                              </p:par>
                              <p:par>
                                <p:cTn id="3381" presetID="22" presetClass="entr" presetSubtype="8" fill="hold" nodeType="withEffect">
                                  <p:stCondLst>
                                    <p:cond delay="550"/>
                                  </p:stCondLst>
                                  <p:childTnLst>
                                    <p:set>
                                      <p:cBhvr>
                                        <p:cTn id="3382" dur="1" fill="hold">
                                          <p:stCondLst>
                                            <p:cond delay="0"/>
                                          </p:stCondLst>
                                        </p:cTn>
                                        <p:tgtEl>
                                          <p:spTgt spid="55"/>
                                        </p:tgtEl>
                                        <p:attrNameLst>
                                          <p:attrName>style.visibility</p:attrName>
                                        </p:attrNameLst>
                                      </p:cBhvr>
                                      <p:to>
                                        <p:strVal val="visible"/>
                                      </p:to>
                                    </p:set>
                                    <p:animEffect transition="in" filter="wipe(left)">
                                      <p:cBhvr>
                                        <p:cTn id="3383" dur="500"/>
                                        <p:tgtEl>
                                          <p:spTgt spid="55"/>
                                        </p:tgtEl>
                                      </p:cBhvr>
                                    </p:animEffect>
                                  </p:childTnLst>
                                </p:cTn>
                              </p:par>
                              <p:par>
                                <p:cTn id="3384" presetID="22" presetClass="entr" presetSubtype="8" fill="hold" nodeType="withEffect">
                                  <p:stCondLst>
                                    <p:cond delay="620"/>
                                  </p:stCondLst>
                                  <p:childTnLst>
                                    <p:set>
                                      <p:cBhvr>
                                        <p:cTn id="3385" dur="1" fill="hold">
                                          <p:stCondLst>
                                            <p:cond delay="0"/>
                                          </p:stCondLst>
                                        </p:cTn>
                                        <p:tgtEl>
                                          <p:spTgt spid="66"/>
                                        </p:tgtEl>
                                        <p:attrNameLst>
                                          <p:attrName>style.visibility</p:attrName>
                                        </p:attrNameLst>
                                      </p:cBhvr>
                                      <p:to>
                                        <p:strVal val="visible"/>
                                      </p:to>
                                    </p:set>
                                    <p:animEffect transition="in" filter="wipe(left)">
                                      <p:cBhvr>
                                        <p:cTn id="3386" dur="500"/>
                                        <p:tgtEl>
                                          <p:spTgt spid="66"/>
                                        </p:tgtEl>
                                      </p:cBhvr>
                                    </p:animEffect>
                                  </p:childTnLst>
                                </p:cTn>
                              </p:par>
                              <p:par>
                                <p:cTn id="3387" presetID="22" presetClass="entr" presetSubtype="8" fill="hold" nodeType="withEffect">
                                  <p:stCondLst>
                                    <p:cond delay="690"/>
                                  </p:stCondLst>
                                  <p:childTnLst>
                                    <p:set>
                                      <p:cBhvr>
                                        <p:cTn id="3388" dur="1" fill="hold">
                                          <p:stCondLst>
                                            <p:cond delay="0"/>
                                          </p:stCondLst>
                                        </p:cTn>
                                        <p:tgtEl>
                                          <p:spTgt spid="67"/>
                                        </p:tgtEl>
                                        <p:attrNameLst>
                                          <p:attrName>style.visibility</p:attrName>
                                        </p:attrNameLst>
                                      </p:cBhvr>
                                      <p:to>
                                        <p:strVal val="visible"/>
                                      </p:to>
                                    </p:set>
                                    <p:animEffect transition="in" filter="wipe(left)">
                                      <p:cBhvr>
                                        <p:cTn id="338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AFE: entrada instrumental, pasabanda inversor, sumador y antialias Bessel</a:t>
            </a:r>
            <a:endParaRPr lang="en-US" sz="2200" dirty="0"/>
          </a:p>
        </p:txBody>
      </p:sp>
      <p:sp>
        <p:nvSpPr>
          <p:cNvPr id="3" name="Geófono [s0]"/>
          <p:cNvSpPr/>
          <p:nvPr/>
        </p:nvSpPr>
        <p:spPr>
          <a:xfrm>
            <a:off x="966136" y="1841914"/>
            <a:ext cx="1041694" cy="560912"/>
          </a:xfrm>
          <a:prstGeom prst="roundRect">
            <a:avLst>
              <a:gd name="adj" fmla="val 13042"/>
            </a:avLst>
          </a:prstGeom>
          <a:solidFill>
            <a:srgbClr val="2E75B6"/>
          </a:solidFill>
          <a:ln w="6350">
            <a:solidFill>
              <a:srgbClr val="2E75B6"/>
            </a:solidFill>
            <a:prstDash val="solid"/>
          </a:ln>
        </p:spPr>
      </p:sp>
      <p:sp>
        <p:nvSpPr>
          <p:cNvPr id="4" name="Elemento [s0]"/>
          <p:cNvSpPr txBox="1"/>
          <p:nvPr/>
        </p:nvSpPr>
        <p:spPr>
          <a:xfrm>
            <a:off x="966136" y="1841914"/>
            <a:ext cx="1041694"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Geófono</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SM-24</a:t>
            </a:r>
            <a:endParaRPr lang="en-US" sz="1170" dirty="0"/>
          </a:p>
        </p:txBody>
      </p:sp>
      <p:sp>
        <p:nvSpPr>
          <p:cNvPr id="5" name="PGA [s0]"/>
          <p:cNvSpPr/>
          <p:nvPr/>
        </p:nvSpPr>
        <p:spPr>
          <a:xfrm>
            <a:off x="2248221" y="1841914"/>
            <a:ext cx="1201955" cy="560912"/>
          </a:xfrm>
          <a:prstGeom prst="roundRect">
            <a:avLst>
              <a:gd name="adj" fmla="val 13042"/>
            </a:avLst>
          </a:prstGeom>
          <a:solidFill>
            <a:srgbClr val="2E75B6"/>
          </a:solidFill>
          <a:ln w="6350">
            <a:solidFill>
              <a:srgbClr val="2E75B6"/>
            </a:solidFill>
            <a:prstDash val="solid"/>
          </a:ln>
        </p:spPr>
      </p:sp>
      <p:sp>
        <p:nvSpPr>
          <p:cNvPr id="6" name="Elemento [s0]"/>
          <p:cNvSpPr txBox="1"/>
          <p:nvPr/>
        </p:nvSpPr>
        <p:spPr>
          <a:xfrm>
            <a:off x="2248221" y="1841914"/>
            <a:ext cx="1201955"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Entrada dif.</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 PGA</a:t>
            </a:r>
            <a:endParaRPr lang="en-US" sz="1170" dirty="0"/>
          </a:p>
        </p:txBody>
      </p:sp>
      <p:sp>
        <p:nvSpPr>
          <p:cNvPr id="7" name="Pasabanda [s0]"/>
          <p:cNvSpPr/>
          <p:nvPr/>
        </p:nvSpPr>
        <p:spPr>
          <a:xfrm>
            <a:off x="3850827" y="2442892"/>
            <a:ext cx="1282085" cy="560912"/>
          </a:xfrm>
          <a:prstGeom prst="roundRect">
            <a:avLst>
              <a:gd name="adj" fmla="val 13042"/>
            </a:avLst>
          </a:prstGeom>
          <a:solidFill>
            <a:srgbClr val="C55A11"/>
          </a:solidFill>
          <a:ln w="6350">
            <a:solidFill>
              <a:srgbClr val="C55A11"/>
            </a:solidFill>
            <a:prstDash val="solid"/>
          </a:ln>
        </p:spPr>
      </p:sp>
      <p:sp>
        <p:nvSpPr>
          <p:cNvPr id="8" name="Elemento [s0]"/>
          <p:cNvSpPr txBox="1"/>
          <p:nvPr/>
        </p:nvSpPr>
        <p:spPr>
          <a:xfrm>
            <a:off x="3850827" y="2442892"/>
            <a:ext cx="1282085"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Pasabanda</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inversor</a:t>
            </a:r>
            <a:endParaRPr lang="en-US" sz="1170" dirty="0"/>
          </a:p>
        </p:txBody>
      </p:sp>
      <p:sp>
        <p:nvSpPr>
          <p:cNvPr id="9" name="Sumador [s0]"/>
          <p:cNvSpPr/>
          <p:nvPr/>
        </p:nvSpPr>
        <p:spPr>
          <a:xfrm>
            <a:off x="5156951" y="1906019"/>
            <a:ext cx="432704" cy="432704"/>
          </a:xfrm>
          <a:prstGeom prst="ellipse">
            <a:avLst/>
          </a:prstGeom>
          <a:solidFill>
            <a:srgbClr val="1F4E79"/>
          </a:solidFill>
          <a:ln w="6350">
            <a:solidFill>
              <a:srgbClr val="1F4E79"/>
            </a:solidFill>
            <a:prstDash val="solid"/>
          </a:ln>
        </p:spPr>
      </p:sp>
      <p:sp>
        <p:nvSpPr>
          <p:cNvPr id="10" name="Elemento [s0]"/>
          <p:cNvSpPr txBox="1"/>
          <p:nvPr/>
        </p:nvSpPr>
        <p:spPr>
          <a:xfrm>
            <a:off x="5156951" y="1906019"/>
            <a:ext cx="432704" cy="432704"/>
          </a:xfrm>
          <a:prstGeom prst="rect">
            <a:avLst/>
          </a:prstGeom>
          <a:noFill/>
          <a:ln/>
        </p:spPr>
        <p:txBody>
          <a:bodyPr wrap="square" lIns="0" tIns="0" rIns="0" bIns="0" rtlCol="0" anchor="ctr"/>
          <a:lstStyle/>
          <a:p>
            <a:pPr algn="ctr" indent="0" marL="0">
              <a:buNone/>
            </a:pPr>
            <a:r>
              <a:rPr lang="en-US" sz="1620" b="1" dirty="0">
                <a:solidFill>
                  <a:srgbClr val="FFFFFF"/>
                </a:solidFill>
                <a:latin typeface="Arial" pitchFamily="34" charset="0"/>
                <a:ea typeface="Arial" pitchFamily="34" charset="-122"/>
                <a:cs typeface="Arial" pitchFamily="34" charset="-120"/>
              </a:rPr>
              <a:t>Σ</a:t>
            </a:r>
            <a:endParaRPr lang="en-US" sz="1620" dirty="0"/>
          </a:p>
        </p:txBody>
      </p:sp>
      <p:sp>
        <p:nvSpPr>
          <p:cNvPr id="11" name="Pasa-bajos [s0]"/>
          <p:cNvSpPr/>
          <p:nvPr/>
        </p:nvSpPr>
        <p:spPr>
          <a:xfrm>
            <a:off x="6054411" y="1841914"/>
            <a:ext cx="1001629" cy="560912"/>
          </a:xfrm>
          <a:prstGeom prst="roundRect">
            <a:avLst>
              <a:gd name="adj" fmla="val 13042"/>
            </a:avLst>
          </a:prstGeom>
          <a:solidFill>
            <a:srgbClr val="2E75B6"/>
          </a:solidFill>
          <a:ln w="6350">
            <a:solidFill>
              <a:srgbClr val="2E75B6"/>
            </a:solidFill>
            <a:prstDash val="solid"/>
          </a:ln>
        </p:spPr>
      </p:sp>
      <p:sp>
        <p:nvSpPr>
          <p:cNvPr id="12" name="Elemento [s0]"/>
          <p:cNvSpPr txBox="1"/>
          <p:nvPr/>
        </p:nvSpPr>
        <p:spPr>
          <a:xfrm>
            <a:off x="6054411" y="1841914"/>
            <a:ext cx="1001629"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Pasa-bajos</a:t>
            </a:r>
            <a:endParaRPr lang="en-US" sz="1170" dirty="0"/>
          </a:p>
          <a:p>
            <a:pPr algn="ctr" indent="0" marL="0">
              <a:buNone/>
            </a:pPr>
            <a:r>
              <a:rPr lang="en-US" sz="1170" b="1" dirty="0">
                <a:solidFill>
                  <a:srgbClr val="FFFFFF"/>
                </a:solidFill>
                <a:latin typeface="Arial" pitchFamily="34" charset="0"/>
                <a:ea typeface="Arial" pitchFamily="34" charset="-122"/>
                <a:cs typeface="Arial" pitchFamily="34" charset="-120"/>
              </a:rPr>
              <a:t>antialias</a:t>
            </a:r>
            <a:endParaRPr lang="en-US" sz="1170" dirty="0"/>
          </a:p>
        </p:txBody>
      </p:sp>
      <p:sp>
        <p:nvSpPr>
          <p:cNvPr id="13" name="ADC [s0]"/>
          <p:cNvSpPr/>
          <p:nvPr/>
        </p:nvSpPr>
        <p:spPr>
          <a:xfrm>
            <a:off x="7296431" y="1841914"/>
            <a:ext cx="881433" cy="560912"/>
          </a:xfrm>
          <a:prstGeom prst="roundRect">
            <a:avLst>
              <a:gd name="adj" fmla="val 13042"/>
            </a:avLst>
          </a:prstGeom>
          <a:solidFill>
            <a:srgbClr val="1F4E79"/>
          </a:solidFill>
          <a:ln w="6350">
            <a:solidFill>
              <a:srgbClr val="1F4E79"/>
            </a:solidFill>
            <a:prstDash val="solid"/>
          </a:ln>
        </p:spPr>
      </p:sp>
      <p:sp>
        <p:nvSpPr>
          <p:cNvPr id="14" name="Elemento [s0]"/>
          <p:cNvSpPr txBox="1"/>
          <p:nvPr/>
        </p:nvSpPr>
        <p:spPr>
          <a:xfrm>
            <a:off x="7296431" y="1841914"/>
            <a:ext cx="881433" cy="560912"/>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ADC</a:t>
            </a:r>
            <a:endParaRPr lang="en-US" sz="1170" dirty="0"/>
          </a:p>
        </p:txBody>
      </p:sp>
      <p:sp>
        <p:nvSpPr>
          <p:cNvPr id="15" name="Elemento [s0]"/>
          <p:cNvSpPr/>
          <p:nvPr/>
        </p:nvSpPr>
        <p:spPr>
          <a:xfrm>
            <a:off x="2007830" y="2122371"/>
            <a:ext cx="240391" cy="0"/>
          </a:xfrm>
          <a:prstGeom prst="line">
            <a:avLst/>
          </a:prstGeom>
          <a:noFill/>
          <a:ln w="27823">
            <a:solidFill>
              <a:srgbClr val="1F4E79"/>
            </a:solidFill>
            <a:prstDash val="solid"/>
            <a:tailEnd type="triangle"/>
          </a:ln>
        </p:spPr>
      </p:sp>
      <p:sp>
        <p:nvSpPr>
          <p:cNvPr id="16" name="Elemento [s0]"/>
          <p:cNvSpPr/>
          <p:nvPr/>
        </p:nvSpPr>
        <p:spPr>
          <a:xfrm>
            <a:off x="3450176" y="2122371"/>
            <a:ext cx="1706776" cy="0"/>
          </a:xfrm>
          <a:prstGeom prst="line">
            <a:avLst/>
          </a:prstGeom>
          <a:noFill/>
          <a:ln w="27823">
            <a:solidFill>
              <a:srgbClr val="1F4E79"/>
            </a:solidFill>
            <a:prstDash val="solid"/>
            <a:tailEnd type="triangle"/>
          </a:ln>
        </p:spPr>
      </p:sp>
      <p:sp>
        <p:nvSpPr>
          <p:cNvPr id="17" name="Nodo de derivación [s0]"/>
          <p:cNvSpPr/>
          <p:nvPr/>
        </p:nvSpPr>
        <p:spPr>
          <a:xfrm>
            <a:off x="3610436" y="2082305"/>
            <a:ext cx="80130" cy="80130"/>
          </a:xfrm>
          <a:prstGeom prst="ellipse">
            <a:avLst/>
          </a:prstGeom>
          <a:solidFill>
            <a:srgbClr val="1F4E79"/>
          </a:solidFill>
          <a:ln w="6350">
            <a:solidFill>
              <a:srgbClr val="1F4E79"/>
            </a:solidFill>
            <a:prstDash val="solid"/>
          </a:ln>
        </p:spPr>
      </p:sp>
      <p:sp>
        <p:nvSpPr>
          <p:cNvPr id="18" name="Elemento [s0]"/>
          <p:cNvSpPr/>
          <p:nvPr/>
        </p:nvSpPr>
        <p:spPr>
          <a:xfrm>
            <a:off x="3650501" y="2122371"/>
            <a:ext cx="0" cy="600977"/>
          </a:xfrm>
          <a:prstGeom prst="line">
            <a:avLst/>
          </a:prstGeom>
          <a:noFill/>
          <a:ln w="27823">
            <a:solidFill>
              <a:srgbClr val="C55A11"/>
            </a:solidFill>
            <a:prstDash val="solid"/>
          </a:ln>
        </p:spPr>
      </p:sp>
      <p:sp>
        <p:nvSpPr>
          <p:cNvPr id="19" name="Elemento [s0]"/>
          <p:cNvSpPr/>
          <p:nvPr/>
        </p:nvSpPr>
        <p:spPr>
          <a:xfrm>
            <a:off x="3650501" y="2723348"/>
            <a:ext cx="200326" cy="0"/>
          </a:xfrm>
          <a:prstGeom prst="line">
            <a:avLst/>
          </a:prstGeom>
          <a:noFill/>
          <a:ln w="27823">
            <a:solidFill>
              <a:srgbClr val="C55A11"/>
            </a:solidFill>
            <a:prstDash val="solid"/>
            <a:tailEnd type="triangle"/>
          </a:ln>
        </p:spPr>
      </p:sp>
      <p:sp>
        <p:nvSpPr>
          <p:cNvPr id="20" name="Elemento [s0]"/>
          <p:cNvSpPr/>
          <p:nvPr/>
        </p:nvSpPr>
        <p:spPr>
          <a:xfrm>
            <a:off x="5132912" y="2723348"/>
            <a:ext cx="240391" cy="0"/>
          </a:xfrm>
          <a:prstGeom prst="line">
            <a:avLst/>
          </a:prstGeom>
          <a:noFill/>
          <a:ln w="27823">
            <a:solidFill>
              <a:srgbClr val="C55A11"/>
            </a:solidFill>
            <a:prstDash val="solid"/>
          </a:ln>
        </p:spPr>
      </p:sp>
      <p:sp>
        <p:nvSpPr>
          <p:cNvPr id="21" name="Elemento [s0]"/>
          <p:cNvSpPr/>
          <p:nvPr/>
        </p:nvSpPr>
        <p:spPr>
          <a:xfrm flipV="1">
            <a:off x="5373303" y="2338722"/>
            <a:ext cx="0" cy="384626"/>
          </a:xfrm>
          <a:prstGeom prst="line">
            <a:avLst/>
          </a:prstGeom>
          <a:noFill/>
          <a:ln w="27823">
            <a:solidFill>
              <a:srgbClr val="C55A11"/>
            </a:solidFill>
            <a:prstDash val="solid"/>
            <a:tailEnd type="triangle"/>
          </a:ln>
        </p:spPr>
      </p:sp>
      <p:sp>
        <p:nvSpPr>
          <p:cNvPr id="22" name="Elemento [s0]"/>
          <p:cNvSpPr/>
          <p:nvPr/>
        </p:nvSpPr>
        <p:spPr>
          <a:xfrm>
            <a:off x="5589655" y="2122371"/>
            <a:ext cx="464756" cy="0"/>
          </a:xfrm>
          <a:prstGeom prst="line">
            <a:avLst/>
          </a:prstGeom>
          <a:noFill/>
          <a:ln w="27823">
            <a:solidFill>
              <a:srgbClr val="1F4E79"/>
            </a:solidFill>
            <a:prstDash val="solid"/>
            <a:tailEnd type="triangle"/>
          </a:ln>
        </p:spPr>
      </p:sp>
      <p:sp>
        <p:nvSpPr>
          <p:cNvPr id="23" name="Elemento [s0]"/>
          <p:cNvSpPr/>
          <p:nvPr/>
        </p:nvSpPr>
        <p:spPr>
          <a:xfrm>
            <a:off x="7056040" y="2122371"/>
            <a:ext cx="240391" cy="0"/>
          </a:xfrm>
          <a:prstGeom prst="line">
            <a:avLst/>
          </a:prstGeom>
          <a:noFill/>
          <a:ln w="27823">
            <a:solidFill>
              <a:srgbClr val="1F4E79"/>
            </a:solidFill>
            <a:prstDash val="solid"/>
            <a:tailEnd type="triangle"/>
          </a:ln>
        </p:spPr>
      </p:sp>
      <p:sp>
        <p:nvSpPr>
          <p:cNvPr id="24" name="Elemento [s0]"/>
          <p:cNvSpPr txBox="1"/>
          <p:nvPr/>
        </p:nvSpPr>
        <p:spPr>
          <a:xfrm>
            <a:off x="4852456" y="1785823"/>
            <a:ext cx="240391" cy="240391"/>
          </a:xfrm>
          <a:prstGeom prst="rect">
            <a:avLst/>
          </a:prstGeom>
          <a:noFill/>
          <a:ln/>
        </p:spPr>
        <p:txBody>
          <a:bodyPr wrap="square" lIns="0" tIns="0" rIns="0" bIns="0" rtlCol="0" anchor="t"/>
          <a:lstStyle/>
          <a:p>
            <a:pPr algn="ctr" indent="0" marL="0">
              <a:buNone/>
            </a:pPr>
            <a:r>
              <a:rPr lang="en-US" sz="1440" b="1" dirty="0">
                <a:solidFill>
                  <a:srgbClr val="1F4E79"/>
                </a:solidFill>
                <a:latin typeface="Arial" pitchFamily="34" charset="0"/>
                <a:ea typeface="Arial" pitchFamily="34" charset="-122"/>
                <a:cs typeface="Arial" pitchFamily="34" charset="-120"/>
              </a:rPr>
              <a:t>+</a:t>
            </a:r>
            <a:endParaRPr lang="en-US" sz="1440" dirty="0"/>
          </a:p>
        </p:txBody>
      </p:sp>
      <p:sp>
        <p:nvSpPr>
          <p:cNvPr id="25" name="Elemento [s0]"/>
          <p:cNvSpPr txBox="1"/>
          <p:nvPr/>
        </p:nvSpPr>
        <p:spPr>
          <a:xfrm>
            <a:off x="5453433" y="2386801"/>
            <a:ext cx="240391" cy="240391"/>
          </a:xfrm>
          <a:prstGeom prst="rect">
            <a:avLst/>
          </a:prstGeom>
          <a:noFill/>
          <a:ln/>
        </p:spPr>
        <p:txBody>
          <a:bodyPr wrap="square" lIns="0" tIns="0" rIns="0" bIns="0" rtlCol="0" anchor="t"/>
          <a:lstStyle/>
          <a:p>
            <a:pPr algn="ctr" indent="0" marL="0">
              <a:buNone/>
            </a:pPr>
            <a:r>
              <a:rPr lang="en-US" sz="1800" b="1" dirty="0">
                <a:solidFill>
                  <a:srgbClr val="C55A11"/>
                </a:solidFill>
                <a:latin typeface="Arial" pitchFamily="34" charset="0"/>
                <a:ea typeface="Arial" pitchFamily="34" charset="-122"/>
                <a:cs typeface="Arial" pitchFamily="34" charset="-120"/>
              </a:rPr>
              <a:t>+</a:t>
            </a:r>
            <a:endParaRPr lang="en-US" sz="1800" dirty="0"/>
          </a:p>
        </p:txBody>
      </p:sp>
      <p:sp>
        <p:nvSpPr>
          <p:cNvPr id="26" name="Cuerpo [s0]"/>
          <p:cNvSpPr txBox="1"/>
          <p:nvPr/>
        </p:nvSpPr>
        <p:spPr>
          <a:xfrm>
            <a:off x="966136" y="3364390"/>
            <a:ext cx="7211728" cy="1041694"/>
          </a:xfrm>
          <a:prstGeom prst="rect">
            <a:avLst/>
          </a:prstGeom>
          <a:noFill/>
          <a:ln/>
        </p:spPr>
        <p:txBody>
          <a:bodyPr wrap="square" lIns="0" tIns="0" rIns="0" bIns="0" rtlCol="0" anchor="t"/>
          <a:lstStyle/>
          <a:p>
            <a:pPr marL="342900" indent="-342900">
              <a:spcAft>
                <a:spcPts val="720"/>
              </a:spcAft>
              <a:buSzPct val="100000"/>
              <a:buChar char="•"/>
            </a:pPr>
            <a:r>
              <a:rPr lang="en-US" sz="135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350" dirty="0"/>
          </a:p>
          <a:p>
            <a:pPr marL="342900" indent="-342900">
              <a:spcAft>
                <a:spcPts val="720"/>
              </a:spcAft>
              <a:buSzPct val="100000"/>
              <a:buChar char="•"/>
            </a:pPr>
            <a:r>
              <a:rPr lang="en-US" sz="135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sSub>
                      <m:sSubPr>
                        <m:ctrlPr>
                          <a:rPr lang="es-ES" sz="1350" i="1">
                            <a:latin typeface="Cambria Math" panose="02040503050406030204" pitchFamily="18" charset="0"/>
                          </a:rPr>
                        </m:ctrlPr>
                      </m:sSubPr>
                      <m:e>
                        <m:r>
                          <a:rPr lang="es-ES" sz="1350" i="1">
                            <a:solidFill>
                              <a:srgbClr val="2D2D2D"/>
                            </a:solidFill>
                            <a:latin typeface="Cambria Math" panose="02040503050406030204" pitchFamily="18" charset="0"/>
                          </a:rPr>
                          <m:t xml:space="preserve">ζ</m:t>
                        </m:r>
                      </m:e>
                      <m:sub>
                        <m:r>
                          <m:rPr>
                            <m:sty m:val="p"/>
                          </m:rPr>
                          <a:rPr lang="es-ES" sz="1350">
                            <a:solidFill>
                              <a:srgbClr val="2D2D2D"/>
                            </a:solidFill>
                            <a:latin typeface="Cambria Math" panose="02040503050406030204" pitchFamily="18" charset="0"/>
                          </a:rPr>
                          <m:t xml:space="preserve">1</m:t>
                        </m:r>
                      </m:sub>
                    </m:sSub>
                    <m:r>
                      <m:rPr>
                        <m:sty m:val="p"/>
                      </m:rPr>
                      <a:rPr lang="es-ES" sz="1350">
                        <a:solidFill>
                          <a:srgbClr val="2D2D2D"/>
                        </a:solidFill>
                        <a:latin typeface="Cambria Math" panose="02040503050406030204" pitchFamily="18" charset="0"/>
                      </a:rPr>
                      <m:t xml:space="preserve">≈</m:t>
                    </m:r>
                    <m:r>
                      <m:rPr>
                        <m:sty m:val="p"/>
                      </m:rPr>
                      <a:rPr lang="es-ES" sz="1350">
                        <a:solidFill>
                          <a:srgbClr val="2D2D2D"/>
                        </a:solidFill>
                        <a:latin typeface="Cambria Math" panose="02040503050406030204" pitchFamily="18" charset="0"/>
                      </a:rPr>
                      <m:t xml:space="preserve">938</m:t>
                    </m:r>
                  </m:oMath>
                </a14:m>
              </mc:Choice>
              <mc:Fallback>
                <a:r>
                  <a:rPr lang="en-US" sz="1350" dirty="0">
                    <a:solidFill>
                      <a:srgbClr val="2D2D2D"/>
                    </a:solidFill>
                    <a:latin typeface="Arial" pitchFamily="34" charset="0"/>
                    <a:ea typeface="Arial" pitchFamily="34" charset="-122"/>
                    <a:cs typeface="Arial" pitchFamily="34" charset="-120"/>
                  </a:rPr>
                  <a:t>ζ1 ≈ 938</a:t>
                </a:r>
              </mc:Fallback>
            </mc:AlternateContent>
            <a:r>
              <a:rPr lang="en-US" sz="1350" dirty="0">
                <a:solidFill>
                  <a:srgbClr val="2D2D2D"/>
                </a:solidFill>
                <a:latin typeface="Arial" pitchFamily="34" charset="0"/>
                <a:ea typeface="Arial" pitchFamily="34" charset="-122"/>
                <a:cs typeface="Arial" pitchFamily="34" charset="-120"/>
              </a:rPr>
              <a:t>, el compensador atenúa 2ζ1 ≈ 1876 veces: la ganancia lo recupera</a:t>
            </a:r>
            <a:endParaRPr lang="en-US" sz="1350" dirty="0"/>
          </a:p>
        </p:txBody>
      </p:sp>
      <p:pic>
        <p:nvPicPr>
          <p:cNvPr id="27" name="Entrada diferencial [s1]" descr="Amplificador diferencial de dos operacionales con entradas V1 y V2">    </p:cNvPr>
          <p:cNvPicPr>
            <a:picLocks noChangeAspect="1"/>
          </p:cNvPicPr>
          <p:nvPr/>
        </p:nvPicPr>
        <p:blipFill>
          <a:blip r:embed="rId1"/>
          <a:stretch>
            <a:fillRect/>
          </a:stretch>
        </p:blipFill>
        <p:spPr>
          <a:xfrm>
            <a:off x="886005" y="1641589"/>
            <a:ext cx="4166776" cy="2083388"/>
          </a:xfrm>
          <a:prstGeom prst="rect">
            <a:avLst/>
          </a:prstGeom>
        </p:spPr>
      </p:pic>
      <p:sp>
        <p:nvSpPr>
          <p:cNvPr id="28" name="Cuerpo [s1]"/>
          <p:cNvSpPr txBox="1"/>
          <p:nvPr/>
        </p:nvSpPr>
        <p:spPr>
          <a:xfrm>
            <a:off x="5293173" y="1721719"/>
            <a:ext cx="2884691" cy="2403909"/>
          </a:xfrm>
          <a:prstGeom prst="rect">
            <a:avLst/>
          </a:prstGeom>
          <a:noFill/>
          <a:ln/>
        </p:spPr>
        <p:txBody>
          <a:bodyPr wrap="square" lIns="0" tIns="0" rIns="0" bIns="0" rtlCol="0" anchor="t"/>
          <a:lstStyle/>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El ruido de red está muy presente en el geófono</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La entrada diferencial lo rechaza como señal de modo común</a:t>
            </a:r>
            <a:endParaRPr lang="en-US" sz="1440" dirty="0"/>
          </a:p>
          <a:p>
            <a:pPr marL="342900" indent="-342900">
              <a:spcAft>
                <a:spcPts val="900"/>
              </a:spcAft>
              <a:buSzPct val="100000"/>
              <a:buChar char="•"/>
            </a:pPr>
            <a:r>
              <a:rPr lang="en-US" sz="1440" dirty="0">
                <a:solidFill>
                  <a:srgbClr val="2D2D2D"/>
                </a:solidFill>
                <a:latin typeface="Arial" pitchFamily="34" charset="0"/>
                <a:ea typeface="Arial" pitchFamily="34" charset="-122"/>
                <a:cs typeface="Arial" pitchFamily="34" charset="-120"/>
              </a:rPr>
              <a:t>Aporta una ganancia de ×2</a:t>
            </a:r>
            <a:endParaRPr lang="en-US" sz="1440" dirty="0"/>
          </a:p>
        </p:txBody>
      </p:sp>
      <p:pic>
        <p:nvPicPr>
          <p:cNvPr id="29" name="Sallen-Key [s2]" descr="Filtro pasabanda Sallen-Key con admitancias Y1 a Y5">    </p:cNvPr>
          <p:cNvPicPr>
            <a:picLocks noChangeAspect="1"/>
          </p:cNvPicPr>
          <p:nvPr/>
        </p:nvPicPr>
        <p:blipFill>
          <a:blip r:embed="rId2"/>
          <a:stretch>
            <a:fillRect/>
          </a:stretch>
        </p:blipFill>
        <p:spPr>
          <a:xfrm>
            <a:off x="1046266" y="1601523"/>
            <a:ext cx="2564170" cy="1923128"/>
          </a:xfrm>
          <a:prstGeom prst="rect">
            <a:avLst/>
          </a:prstGeom>
        </p:spPr>
      </p:pic>
      <p:pic>
        <p:nvPicPr>
          <p:cNvPr id="30" name="Pasabanda inversor [s2]" descr="Amplificador inversor con Cin y Rin en la entrada y Rf en paralelo con Cf en la realimentación">    </p:cNvPr>
          <p:cNvPicPr>
            <a:picLocks noChangeAspect="1"/>
          </p:cNvPicPr>
          <p:nvPr/>
        </p:nvPicPr>
        <p:blipFill>
          <a:blip r:embed="rId3"/>
          <a:stretch>
            <a:fillRect/>
          </a:stretch>
        </p:blipFill>
        <p:spPr>
          <a:xfrm>
            <a:off x="4491870" y="1601523"/>
            <a:ext cx="3365473" cy="1682737"/>
          </a:xfrm>
          <a:prstGeom prst="rect">
            <a:avLst/>
          </a:prstGeom>
        </p:spPr>
      </p:pic>
      <p:sp>
        <p:nvSpPr>
          <p:cNvPr id="31" name="Elemento [s2]"/>
          <p:cNvSpPr txBox="1"/>
          <p:nvPr/>
        </p:nvSpPr>
        <p:spPr>
          <a:xfrm>
            <a:off x="966136" y="3604781"/>
            <a:ext cx="2724431" cy="240391"/>
          </a:xfrm>
          <a:prstGeom prst="rect">
            <a:avLst/>
          </a:prstGeom>
          <a:noFill/>
          <a:ln/>
        </p:spPr>
        <p:txBody>
          <a:bodyPr wrap="square" lIns="0" tIns="0" rIns="0" bIns="0" rtlCol="0" anchor="t"/>
          <a:lstStyle/>
          <a:p>
            <a:pPr algn="ctr" indent="0" marL="0">
              <a:buNone/>
            </a:pPr>
            <a:r>
              <a:rPr lang="en-US" sz="1260" b="1" dirty="0">
                <a:solidFill>
                  <a:srgbClr val="6B6B6B"/>
                </a:solidFill>
                <a:latin typeface="Arial" pitchFamily="34" charset="0"/>
                <a:ea typeface="Arial" pitchFamily="34" charset="-122"/>
                <a:cs typeface="Arial" pitchFamily="34" charset="-120"/>
              </a:rPr>
              <a:t>Ma et al.: Sallen-Key</a:t>
            </a:r>
            <a:endParaRPr lang="en-US" sz="1260" dirty="0"/>
          </a:p>
        </p:txBody>
      </p:sp>
      <p:sp>
        <p:nvSpPr>
          <p:cNvPr id="32" name="Elemento [s2]"/>
          <p:cNvSpPr txBox="1"/>
          <p:nvPr/>
        </p:nvSpPr>
        <p:spPr>
          <a:xfrm>
            <a:off x="4331609" y="3324325"/>
            <a:ext cx="3846255" cy="240391"/>
          </a:xfrm>
          <a:prstGeom prst="rect">
            <a:avLst/>
          </a:prstGeom>
          <a:noFill/>
          <a:ln/>
        </p:spPr>
        <p:txBody>
          <a:bodyPr wrap="square" lIns="0" tIns="0" rIns="0" bIns="0" rtlCol="0" anchor="t"/>
          <a:lstStyle/>
          <a:p>
            <a:pPr algn="ctr" indent="0" marL="0">
              <a:buNone/>
            </a:pPr>
            <a:r>
              <a:rPr lang="en-US" sz="1260" b="1" dirty="0">
                <a:solidFill>
                  <a:srgbClr val="1F4E79"/>
                </a:solidFill>
                <a:latin typeface="Arial" pitchFamily="34" charset="0"/>
                <a:ea typeface="Arial" pitchFamily="34" charset="-122"/>
                <a:cs typeface="Arial" pitchFamily="34" charset="-120"/>
              </a:rPr>
              <a:t>Este trabajo: inversor, −Zf/Zin</a:t>
            </a:r>
            <a:endParaRPr lang="en-US" sz="1260" dirty="0"/>
          </a:p>
        </p:txBody>
      </p:sp>
      <p:sp>
        <p:nvSpPr>
          <p:cNvPr id="33" name="Elemento [s2]"/>
          <p:cNvSpPr txBox="1"/>
          <p:nvPr/>
        </p:nvSpPr>
        <p:spPr>
          <a:xfrm>
            <a:off x="966136" y="3885237"/>
            <a:ext cx="2724431" cy="400652"/>
          </a:xfrm>
          <a:prstGeom prst="rect">
            <a:avLst/>
          </a:prstGeom>
          <a:noFill/>
          <a:ln/>
        </p:spPr>
        <p:txBody>
          <a:bodyPr wrap="square" lIns="0" tIns="0" rIns="0" bIns="0" rtlCol="0" anchor="t"/>
          <a:lstStyle/>
          <a:p>
            <a:pPr algn="ctr" indent="0" marL="0">
              <a:buNone/>
            </a:pPr>
            <a:r>
              <a:rPr lang="en-US" sz="1170" dirty="0">
                <a:solidFill>
                  <a:srgbClr val="6B6B6B"/>
                </a:solidFill>
                <a:latin typeface="Arial" pitchFamily="34" charset="0"/>
                <a:ea typeface="Arial" pitchFamily="34" charset="-122"/>
                <a:cs typeface="Arial" pitchFamily="34" charset="-120"/>
              </a:rPr>
              <a:t>Cada polo se reparte entre varios componentes</a:t>
            </a:r>
            <a:endParaRPr lang="en-US" sz="1170" dirty="0"/>
          </a:p>
        </p:txBody>
      </p:sp>
      <p:sp>
        <p:nvSpPr>
          <p:cNvPr id="34" name="Fondo E_flow [s2]"/>
          <p:cNvSpPr/>
          <p:nvPr/>
        </p:nvSpPr>
        <p:spPr>
          <a:xfrm>
            <a:off x="4331609" y="3604781"/>
            <a:ext cx="3846255" cy="44071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5" name="Ecuación E_flow [s2]"/>
              <p:cNvSpPr txBox="1"/>
              <p:nvPr/>
            </p:nvSpPr>
            <p:spPr>
              <a:xfrm>
                <a:off x="4331609" y="3604781"/>
                <a:ext cx="3846255" cy="44071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f</m:t>
                          </m:r>
                        </m:e>
                        <m:sub>
                          <m:r>
                            <m:rPr>
                              <m:sty m:val="p"/>
                            </m:rPr>
                            <a:rPr lang="es-ES" sz="2200">
                              <a:solidFill>
                                <a:srgbClr val="1F4E79"/>
                              </a:solidFill>
                              <a:latin typeface="Cambria Math" panose="02040503050406030204" pitchFamily="18" charset="0"/>
                            </a:rPr>
                            <m:t xml:space="preserve">low</m:t>
                          </m:r>
                        </m:sub>
                      </m:sSub>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1</m:t>
                          </m:r>
                        </m:num>
                        <m:den>
                          <m:r>
                            <a:rPr lang="es-ES" sz="2200" i="1">
                              <a:solidFill>
                                <a:srgbClr val="1F4E79"/>
                              </a:solidFill>
                              <a:latin typeface="Cambria Math" panose="02040503050406030204" pitchFamily="18" charset="0"/>
                            </a:rPr>
                            <m:t xml:space="preserve">2π</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m:rPr>
                                  <m:sty m:val="p"/>
                                </m:rPr>
                                <a:rPr lang="es-ES" sz="2200">
                                  <a:solidFill>
                                    <a:srgbClr val="1F4E79"/>
                                  </a:solidFill>
                                  <a:latin typeface="Cambria Math" panose="02040503050406030204" pitchFamily="18" charset="0"/>
                                </a:rPr>
                                <m:t xml:space="preserve">in</m:t>
                              </m:r>
                            </m:sub>
                          </m:sSub>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C</m:t>
                              </m:r>
                            </m:e>
                            <m:sub>
                              <m:r>
                                <m:rPr>
                                  <m:sty m:val="p"/>
                                </m:rPr>
                                <a:rPr lang="es-ES" sz="2200">
                                  <a:solidFill>
                                    <a:srgbClr val="1F4E79"/>
                                  </a:solidFill>
                                  <a:latin typeface="Cambria Math" panose="02040503050406030204" pitchFamily="18" charset="0"/>
                                </a:rPr>
                                <m:t xml:space="preserve">in</m:t>
                              </m:r>
                            </m:sub>
                          </m:sSub>
                        </m:den>
                      </m:f>
                    </m:oMath>
                  </m:oMathPara>
                </a14:m>
                <a:endParaRPr lang="es-ES"/>
              </a:p>
            </p:txBody>
          </p:sp>
        </mc:Choice>
        <mc:Fallback>
          <p:sp>
            <p:nvSpPr>
              <p:cNvPr id="35" name="Ecuación E_flow [s2]"/>
              <p:cNvSpPr txBox="1"/>
              <p:nvPr/>
            </p:nvSpPr>
            <p:spPr>
              <a:xfrm>
                <a:off x="4331609" y="3604781"/>
                <a:ext cx="3846255" cy="440717"/>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f_low = 1 / (2π Rin Cin)</a:t>
                </a:r>
                <a:endParaRPr lang="en-US" sz="2159" dirty="0"/>
              </a:p>
            </p:txBody>
          </p:sp>
        </mc:Fallback>
      </mc:AlternateContent>
      <p:sp>
        <p:nvSpPr>
          <p:cNvPr id="36" name="Fondo E_fhigh [s2]"/>
          <p:cNvSpPr/>
          <p:nvPr/>
        </p:nvSpPr>
        <p:spPr>
          <a:xfrm>
            <a:off x="4331609" y="4085563"/>
            <a:ext cx="3846255" cy="44071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7" name="Ecuación E_fhigh [s2]"/>
              <p:cNvSpPr txBox="1"/>
              <p:nvPr/>
            </p:nvSpPr>
            <p:spPr>
              <a:xfrm>
                <a:off x="4331609" y="4085563"/>
                <a:ext cx="3846255" cy="44071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f</m:t>
                          </m:r>
                        </m:e>
                        <m:sub>
                          <m:r>
                            <m:rPr>
                              <m:sty m:val="p"/>
                            </m:rPr>
                            <a:rPr lang="es-ES" sz="2200">
                              <a:solidFill>
                                <a:srgbClr val="1F4E79"/>
                              </a:solidFill>
                              <a:latin typeface="Cambria Math" panose="02040503050406030204" pitchFamily="18" charset="0"/>
                            </a:rPr>
                            <m:t xml:space="preserve">high</m:t>
                          </m:r>
                        </m:sub>
                      </m:sSub>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1</m:t>
                          </m:r>
                        </m:num>
                        <m:den>
                          <m:r>
                            <a:rPr lang="es-ES" sz="2200" i="1">
                              <a:solidFill>
                                <a:srgbClr val="1F4E79"/>
                              </a:solidFill>
                              <a:latin typeface="Cambria Math" panose="02040503050406030204" pitchFamily="18" charset="0"/>
                            </a:rPr>
                            <m:t xml:space="preserve">2π</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m:rPr>
                                  <m:sty m:val="p"/>
                                </m:rPr>
                                <a:rPr lang="es-ES" sz="2200">
                                  <a:solidFill>
                                    <a:srgbClr val="1F4E79"/>
                                  </a:solidFill>
                                  <a:latin typeface="Cambria Math" panose="02040503050406030204" pitchFamily="18" charset="0"/>
                                </a:rPr>
                                <m:t xml:space="preserve">f</m:t>
                              </m:r>
                            </m:sub>
                          </m:sSub>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C</m:t>
                              </m:r>
                            </m:e>
                            <m:sub>
                              <m:r>
                                <m:rPr>
                                  <m:sty m:val="p"/>
                                </m:rPr>
                                <a:rPr lang="es-ES" sz="2200">
                                  <a:solidFill>
                                    <a:srgbClr val="1F4E79"/>
                                  </a:solidFill>
                                  <a:latin typeface="Cambria Math" panose="02040503050406030204" pitchFamily="18" charset="0"/>
                                </a:rPr>
                                <m:t xml:space="preserve">f</m:t>
                              </m:r>
                            </m:sub>
                          </m:sSub>
                        </m:den>
                      </m:f>
                    </m:oMath>
                  </m:oMathPara>
                </a14:m>
                <a:endParaRPr lang="es-ES"/>
              </a:p>
            </p:txBody>
          </p:sp>
        </mc:Choice>
        <mc:Fallback>
          <p:sp>
            <p:nvSpPr>
              <p:cNvPr id="37" name="Ecuación E_fhigh [s2]"/>
              <p:cNvSpPr txBox="1"/>
              <p:nvPr/>
            </p:nvSpPr>
            <p:spPr>
              <a:xfrm>
                <a:off x="4331609" y="4085563"/>
                <a:ext cx="3846255" cy="440717"/>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f_high = 1 / (2π Rf Cf)</a:t>
                </a:r>
                <a:endParaRPr lang="en-US" sz="2159" dirty="0"/>
              </a:p>
            </p:txBody>
          </p:sp>
        </mc:Fallback>
      </mc:AlternateContent>
      <p:pic>
        <p:nvPicPr>
          <p:cNvPr id="38" name="Diferencial de Ma [s3]" descr="Amplificador diferencial de un operacional con R1 a R4">    </p:cNvPr>
          <p:cNvPicPr>
            <a:picLocks noChangeAspect="1"/>
          </p:cNvPicPr>
          <p:nvPr/>
        </p:nvPicPr>
        <p:blipFill>
          <a:blip r:embed="rId4"/>
          <a:stretch>
            <a:fillRect/>
          </a:stretch>
        </p:blipFill>
        <p:spPr>
          <a:xfrm>
            <a:off x="966136" y="1561458"/>
            <a:ext cx="2484040" cy="1863030"/>
          </a:xfrm>
          <a:prstGeom prst="rect">
            <a:avLst/>
          </a:prstGeom>
        </p:spPr>
      </p:pic>
      <p:pic>
        <p:nvPicPr>
          <p:cNvPr id="39" name="Sumador inversor [s3]" descr="Sumador inversor con Rf en paralelo con Cf">    </p:cNvPr>
          <p:cNvPicPr>
            <a:picLocks noChangeAspect="1"/>
          </p:cNvPicPr>
          <p:nvPr/>
        </p:nvPicPr>
        <p:blipFill>
          <a:blip r:embed="rId5"/>
          <a:stretch>
            <a:fillRect/>
          </a:stretch>
        </p:blipFill>
        <p:spPr>
          <a:xfrm>
            <a:off x="4331609" y="1561458"/>
            <a:ext cx="2484040" cy="1863030"/>
          </a:xfrm>
          <a:prstGeom prst="rect">
            <a:avLst/>
          </a:prstGeom>
        </p:spPr>
      </p:pic>
      <p:sp>
        <p:nvSpPr>
          <p:cNvPr id="40" name="Elemento [s3]"/>
          <p:cNvSpPr txBox="1"/>
          <p:nvPr/>
        </p:nvSpPr>
        <p:spPr>
          <a:xfrm>
            <a:off x="966136" y="3484586"/>
            <a:ext cx="2724431" cy="240391"/>
          </a:xfrm>
          <a:prstGeom prst="rect">
            <a:avLst/>
          </a:prstGeom>
          <a:noFill/>
          <a:ln/>
        </p:spPr>
        <p:txBody>
          <a:bodyPr wrap="square" lIns="0" tIns="0" rIns="0" bIns="0" rtlCol="0" anchor="t"/>
          <a:lstStyle/>
          <a:p>
            <a:pPr indent="0" marL="0">
              <a:buNone/>
            </a:pPr>
            <a:r>
              <a:rPr lang="en-US" sz="1260" b="1" dirty="0">
                <a:solidFill>
                  <a:srgbClr val="6B6B6B"/>
                </a:solidFill>
                <a:latin typeface="Arial" pitchFamily="34" charset="0"/>
                <a:ea typeface="Arial" pitchFamily="34" charset="-122"/>
                <a:cs typeface="Arial" pitchFamily="34" charset="-120"/>
              </a:rPr>
              <a:t>Ma et al.: amplificador diferencial</a:t>
            </a:r>
            <a:endParaRPr lang="en-US" sz="1260" dirty="0"/>
          </a:p>
        </p:txBody>
      </p:sp>
      <p:sp>
        <p:nvSpPr>
          <p:cNvPr id="41" name="Elemento [s3]"/>
          <p:cNvSpPr txBox="1"/>
          <p:nvPr/>
        </p:nvSpPr>
        <p:spPr>
          <a:xfrm>
            <a:off x="4331609" y="3484586"/>
            <a:ext cx="3846255" cy="240391"/>
          </a:xfrm>
          <a:prstGeom prst="rect">
            <a:avLst/>
          </a:prstGeom>
          <a:noFill/>
          <a:ln/>
        </p:spPr>
        <p:txBody>
          <a:bodyPr wrap="square" lIns="0" tIns="0" rIns="0" bIns="0" rtlCol="0" anchor="t"/>
          <a:lstStyle/>
          <a:p>
            <a:pPr indent="0" marL="0">
              <a:buNone/>
            </a:pPr>
            <a:r>
              <a:rPr lang="en-US" sz="1260" b="1" dirty="0">
                <a:solidFill>
                  <a:srgbClr val="1F4E79"/>
                </a:solidFill>
                <a:latin typeface="Arial" pitchFamily="34" charset="0"/>
                <a:ea typeface="Arial" pitchFamily="34" charset="-122"/>
                <a:cs typeface="Arial" pitchFamily="34" charset="-120"/>
              </a:rPr>
              <a:t>Este trabajo: sumador inversor</a:t>
            </a:r>
            <a:endParaRPr lang="en-US" sz="1260" dirty="0"/>
          </a:p>
        </p:txBody>
      </p:sp>
      <p:sp>
        <p:nvSpPr>
          <p:cNvPr id="42" name="Elemento [s3]"/>
          <p:cNvSpPr txBox="1"/>
          <p:nvPr/>
        </p:nvSpPr>
        <p:spPr>
          <a:xfrm>
            <a:off x="966136" y="3765042"/>
            <a:ext cx="2724431" cy="400652"/>
          </a:xfrm>
          <a:prstGeom prst="rect">
            <a:avLst/>
          </a:prstGeom>
          <a:noFill/>
          <a:ln/>
        </p:spPr>
        <p:txBody>
          <a:bodyPr wrap="square" lIns="0" tIns="0" rIns="0" bIns="0" rtlCol="0" anchor="t"/>
          <a:lstStyle/>
          <a:p>
            <a:pPr indent="0" marL="0">
              <a:buNone/>
            </a:pPr>
            <a:r>
              <a:rPr lang="en-US" sz="1170" dirty="0">
                <a:solidFill>
                  <a:srgbClr val="6B6B6B"/>
                </a:solidFill>
                <a:latin typeface="Arial" pitchFamily="34" charset="0"/>
                <a:ea typeface="Arial" pitchFamily="34" charset="-122"/>
                <a:cs typeface="Arial" pitchFamily="34" charset="-120"/>
              </a:rPr>
              <a:t>Exige resistencias pareadas</a:t>
            </a:r>
            <a:endParaRPr lang="en-US" sz="1170" dirty="0"/>
          </a:p>
        </p:txBody>
      </p:sp>
      <p:sp>
        <p:nvSpPr>
          <p:cNvPr id="43" name="Cuerpo [s3]"/>
          <p:cNvSpPr txBox="1"/>
          <p:nvPr/>
        </p:nvSpPr>
        <p:spPr>
          <a:xfrm>
            <a:off x="4331609" y="3724977"/>
            <a:ext cx="3846255" cy="761238"/>
          </a:xfrm>
          <a:prstGeom prst="rect">
            <a:avLst/>
          </a:prstGeom>
          <a:noFill/>
          <a:ln/>
        </p:spPr>
        <p:txBody>
          <a:bodyPr wrap="square" lIns="0" tIns="0" rIns="0" bIns="0" rtlCol="0" anchor="t"/>
          <a:lstStyle/>
          <a:p>
            <a:pPr marL="342900" indent="-342900">
              <a:spcAft>
                <a:spcPts val="360"/>
              </a:spcAft>
              <a:buSzPct val="100000"/>
              <a:buChar char="•"/>
            </a:pPr>
            <a:r>
              <a:rPr lang="en-US" sz="1170" dirty="0">
                <a:solidFill>
                  <a:srgbClr val="2D2D2D"/>
                </a:solidFill>
                <a:latin typeface="Arial" pitchFamily="34" charset="0"/>
                <a:ea typeface="Arial" pitchFamily="34" charset="-122"/>
                <a:cs typeface="Arial" pitchFamily="34" charset="-120"/>
              </a:rPr>
              <a:t>Menos componentes y menos dependencia de tolerancias</a:t>
            </a:r>
            <a:endParaRPr lang="en-US" sz="1170" dirty="0"/>
          </a:p>
          <a:p>
            <a:pPr marL="342900" indent="-342900">
              <a:spcAft>
                <a:spcPts val="36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170" i="1">
                            <a:latin typeface="Cambria Math" panose="02040503050406030204" pitchFamily="18" charset="0"/>
                          </a:rPr>
                        </m:ctrlPr>
                      </m:sSubPr>
                      <m:e>
                        <m:r>
                          <a:rPr lang="es-ES" sz="1170" i="1">
                            <a:solidFill>
                              <a:srgbClr val="2D2D2D"/>
                            </a:solidFill>
                            <a:latin typeface="Cambria Math" panose="02040503050406030204" pitchFamily="18" charset="0"/>
                          </a:rPr>
                          <m:t xml:space="preserve">C</m:t>
                        </m:r>
                      </m:e>
                      <m:sub>
                        <m:r>
                          <a:rPr lang="es-ES" sz="1170" i="1">
                            <a:solidFill>
                              <a:srgbClr val="2D2D2D"/>
                            </a:solidFill>
                            <a:latin typeface="Cambria Math" panose="02040503050406030204" pitchFamily="18" charset="0"/>
                          </a:rPr>
                          <m:t xml:space="preserve">f</m:t>
                        </m:r>
                      </m:sub>
                    </m:sSub>
                  </m:oMath>
                </a14:m>
              </mc:Choice>
              <mc:Fallback>
                <a:r>
                  <a:rPr lang="en-US" sz="1170" dirty="0">
                    <a:solidFill>
                      <a:srgbClr val="2D2D2D"/>
                    </a:solidFill>
                    <a:latin typeface="Arial" pitchFamily="34" charset="0"/>
                    <a:ea typeface="Arial" pitchFamily="34" charset="-122"/>
                    <a:cs typeface="Arial" pitchFamily="34" charset="-120"/>
                  </a:rPr>
                  <a:t>Cf</a:t>
                </a:r>
              </mc:Fallback>
            </mc:AlternateContent>
            <a:r>
              <a:rPr lang="en-US" sz="1170" dirty="0">
                <a:solidFill>
                  <a:srgbClr val="2D2D2D"/>
                </a:solidFill>
                <a:latin typeface="Arial" pitchFamily="34" charset="0"/>
                <a:ea typeface="Arial" pitchFamily="34" charset="-122"/>
                <a:cs typeface="Arial" pitchFamily="34" charset="-120"/>
              </a:rPr>
              <a:t> en paralelo con </a:t>
            </a:r>
            <mc:AlternateContent xmlns:mc="http://schemas.openxmlformats.org/markup-compatibility/2006">
              <mc:Choice xmlns:a14="http://schemas.microsoft.com/office/drawing/2010/main" Requires="a14">
                <a14:m>
                  <m:oMath xmlns:m="http://schemas.openxmlformats.org/officeDocument/2006/math">
                    <m:sSub>
                      <m:sSubPr>
                        <m:ctrlPr>
                          <a:rPr lang="es-ES" sz="1170" i="1">
                            <a:latin typeface="Cambria Math" panose="02040503050406030204" pitchFamily="18" charset="0"/>
                          </a:rPr>
                        </m:ctrlPr>
                      </m:sSubPr>
                      <m:e>
                        <m:r>
                          <a:rPr lang="es-ES" sz="1170" i="1">
                            <a:solidFill>
                              <a:srgbClr val="2D2D2D"/>
                            </a:solidFill>
                            <a:latin typeface="Cambria Math" panose="02040503050406030204" pitchFamily="18" charset="0"/>
                          </a:rPr>
                          <m:t xml:space="preserve">R</m:t>
                        </m:r>
                      </m:e>
                      <m:sub>
                        <m:r>
                          <a:rPr lang="es-ES" sz="1170" i="1">
                            <a:solidFill>
                              <a:srgbClr val="2D2D2D"/>
                            </a:solidFill>
                            <a:latin typeface="Cambria Math" panose="02040503050406030204" pitchFamily="18" charset="0"/>
                          </a:rPr>
                          <m:t xml:space="preserve">f</m:t>
                        </m:r>
                      </m:sub>
                    </m:sSub>
                  </m:oMath>
                </a14:m>
              </mc:Choice>
              <mc:Fallback>
                <a:r>
                  <a:rPr lang="en-US" sz="1170" dirty="0">
                    <a:solidFill>
                      <a:srgbClr val="2D2D2D"/>
                    </a:solidFill>
                    <a:latin typeface="Arial" pitchFamily="34" charset="0"/>
                    <a:ea typeface="Arial" pitchFamily="34" charset="-122"/>
                    <a:cs typeface="Arial" pitchFamily="34" charset="-120"/>
                  </a:rPr>
                  <a:t>Rf</a:t>
                </a:r>
              </mc:Fallback>
            </mc:AlternateContent>
            <a:r>
              <a:rPr lang="en-US" sz="1170" dirty="0">
                <a:solidFill>
                  <a:srgbClr val="2D2D2D"/>
                </a:solidFill>
                <a:latin typeface="Arial" pitchFamily="34" charset="0"/>
                <a:ea typeface="Arial" pitchFamily="34" charset="-122"/>
                <a:cs typeface="Arial" pitchFamily="34" charset="-120"/>
              </a:rPr>
              <a:t> agrega un polo pasa-bajos</a:t>
            </a:r>
            <a:endParaRPr lang="en-US" sz="1170" dirty="0"/>
          </a:p>
        </p:txBody>
      </p:sp>
      <p:pic>
        <p:nvPicPr>
          <p:cNvPr id="44" name="MFB [s4]" descr="Filtro pasabajos de realimentación múltiple (MFB) con R1, R3, R4, C2 y C5">    </p:cNvPr>
          <p:cNvPicPr>
            <a:picLocks noChangeAspect="1"/>
          </p:cNvPicPr>
          <p:nvPr/>
        </p:nvPicPr>
        <p:blipFill>
          <a:blip r:embed="rId6"/>
          <a:stretch>
            <a:fillRect/>
          </a:stretch>
        </p:blipFill>
        <p:spPr>
          <a:xfrm>
            <a:off x="886005" y="1601523"/>
            <a:ext cx="3926385" cy="2944789"/>
          </a:xfrm>
          <a:prstGeom prst="rect">
            <a:avLst/>
          </a:prstGeom>
        </p:spPr>
      </p:pic>
      <p:sp>
        <p:nvSpPr>
          <p:cNvPr id="45" name="Cuerpo [s4]"/>
          <p:cNvSpPr txBox="1"/>
          <p:nvPr/>
        </p:nvSpPr>
        <p:spPr>
          <a:xfrm>
            <a:off x="4972652" y="1681654"/>
            <a:ext cx="3205213" cy="2724431"/>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2D2D2D"/>
                </a:solidFill>
                <a:latin typeface="Arial" pitchFamily="34" charset="0"/>
                <a:ea typeface="Arial" pitchFamily="34" charset="-122"/>
                <a:cs typeface="Arial" pitchFamily="34" charset="-120"/>
              </a:rPr>
              <a:t>Se decidió que sea Bessel, de fase casi lineal</a:t>
            </a:r>
            <a:endParaRPr lang="en-US" sz="1350" dirty="0"/>
          </a:p>
          <a:p>
            <a:pPr marL="342900" indent="-342900">
              <a:spcAft>
                <a:spcPts val="900"/>
              </a:spcAft>
              <a:buSzPct val="100000"/>
              <a:buChar char="•"/>
            </a:pPr>
            <a:r>
              <a:rPr lang="en-US" sz="1350"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350" dirty="0"/>
          </a:p>
          <a:p>
            <a:pPr marL="342900" indent="-342900">
              <a:spcAft>
                <a:spcPts val="900"/>
              </a:spcAft>
              <a:buSzPct val="100000"/>
              <a:buChar char="•"/>
            </a:pPr>
            <a:r>
              <a:rPr lang="en-US" sz="1350"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350" dirty="0"/>
          </a:p>
        </p:txBody>
      </p:sp>
      <p:pic>
        <p:nvPicPr>
          <p:cNvPr id="46" name="Esquema AFE [s5]" descr="Esquema del frente analógico en PSoC Creator: entrada diferencial, ganancia programable, rama pasabanda, sumador, pasa-bajos, referencias VDAC y ADC">    </p:cNvPr>
          <p:cNvPicPr>
            <a:picLocks noChangeAspect="1"/>
          </p:cNvPicPr>
          <p:nvPr/>
        </p:nvPicPr>
        <p:blipFill>
          <a:blip r:embed="rId7"/>
          <a:stretch>
            <a:fillRect/>
          </a:stretch>
        </p:blipFill>
        <p:spPr>
          <a:xfrm>
            <a:off x="1126396" y="1281002"/>
            <a:ext cx="6891207" cy="3106786"/>
          </a:xfrm>
          <a:prstGeom prst="rect">
            <a:avLst/>
          </a:prstGeom>
        </p:spPr>
      </p:pic>
      <p:sp>
        <p:nvSpPr>
          <p:cNvPr id="47"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Implementación: la ganancia se reparte entre las etapas para recuperar la atenuación del compensador</a:t>
            </a:r>
            <a:endParaRPr lang="en-US" sz="1400" dirty="0"/>
          </a:p>
        </p:txBody>
      </p:sp>
      <p:sp>
        <p:nvSpPr>
          <p:cNvPr id="48"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latex-15p-review, sec. 3 (acondicionamiento); esquema propio.</a:t>
            </a:r>
            <a:endParaRPr lang="en-US" sz="800" dirty="0"/>
          </a:p>
        </p:txBody>
      </p:sp>
      <p:sp>
        <p:nvSpPr>
          <p:cNvPr id="49"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entrada es instrumental, con dos operacionales, para rechazar el ruido de red</a:t>
            </a:r>
            <a:endParaRPr lang="en-US" sz="1400" dirty="0"/>
          </a:p>
        </p:txBody>
      </p:sp>
      <p:sp>
        <p:nvSpPr>
          <p:cNvPr id="50"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Esquema genérico aportado por el autor (fuente por confirmar); ganancia: documento de tesis, sec. 3.</a:t>
            </a:r>
            <a:endParaRPr lang="en-US" sz="800" dirty="0"/>
          </a:p>
        </p:txBody>
      </p:sp>
      <p:sp>
        <p:nvSpPr>
          <p:cNvPr id="51"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pasabanda es un inversor con dos quiebres desacoplados, en lugar de un Sallen-Key</a:t>
            </a:r>
            <a:endParaRPr lang="en-US" sz="1400" dirty="0"/>
          </a:p>
        </p:txBody>
      </p:sp>
      <p:sp>
        <p:nvSpPr>
          <p:cNvPr id="52"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latex-15p-review, sec. 3. Imágenes aportadas por el autor.</a:t>
            </a:r>
            <a:endParaRPr lang="en-US" sz="800" dirty="0"/>
          </a:p>
        </p:txBody>
      </p:sp>
      <p:sp>
        <p:nvSpPr>
          <p:cNvPr id="53"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Como el pasabanda ya invierte la fase, un sumador reemplaza al amplificador diferencial</a:t>
            </a:r>
            <a:endParaRPr lang="en-US" sz="1400" dirty="0"/>
          </a:p>
        </p:txBody>
      </p:sp>
      <p:sp>
        <p:nvSpPr>
          <p:cNvPr id="54"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Ma et al. (2023); documento de tesis, latex-15p-review, sec. 3. Imágenes aportadas por el autor.</a:t>
            </a:r>
            <a:endParaRPr lang="en-US" sz="800" dirty="0"/>
          </a:p>
        </p:txBody>
      </p:sp>
      <p:sp>
        <p:nvSpPr>
          <p:cNvPr id="55"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antialias es un Bessel de tercer orden que aprovecha el polo del sumador</a:t>
            </a:r>
            <a:endParaRPr lang="en-US" sz="1400" dirty="0"/>
          </a:p>
        </p:txBody>
      </p:sp>
      <p:sp>
        <p:nvSpPr>
          <p:cNvPr id="56"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latex-15p-review sec. 3 y latex/03b_topologias.tex. Imagen aportada por el autor.</a:t>
            </a:r>
            <a:endParaRPr lang="en-US" sz="800" dirty="0"/>
          </a:p>
        </p:txBody>
      </p:sp>
      <p:sp>
        <p:nvSpPr>
          <p:cNvPr id="57" name="Encabezado [s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AFE final</a:t>
            </a:r>
            <a:endParaRPr lang="en-US" sz="1400" dirty="0"/>
          </a:p>
        </p:txBody>
      </p:sp>
      <p:sp>
        <p:nvSpPr>
          <p:cNvPr id="58" name="Cita [s5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Elaboración propia en PSoC Creator (resumen firmado, fig. 5 y sec. 4.3).</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482" fill="hold">
                      <p:stCondLst>
                        <p:cond delay="indefinite"/>
                      </p:stCondLst>
                      <p:childTnLst>
                        <p:par>
                          <p:cTn id="3483" fill="hold">
                            <p:stCondLst>
                              <p:cond delay="0"/>
                            </p:stCondLst>
                            <p:childTnLst>
                              <p:par>
                                <p:cTn id="3392" presetID="10" presetClass="exit" presetSubtype="0" fill="hold" nodeType="clickEffect">
                                  <p:stCondLst>
                                    <p:cond delay="0"/>
                                  </p:stCondLst>
                                  <p:childTnLst>
                                    <p:animEffect transition="out" filter="fade">
                                      <p:cBhvr>
                                        <p:cTn id="3393" dur="400"/>
                                        <p:tgtEl>
                                          <p:spTgt spid="3"/>
                                        </p:tgtEl>
                                      </p:cBhvr>
                                    </p:animEffect>
                                    <p:set>
                                      <p:cBhvr>
                                        <p:cTn id="3394" dur="1" fill="hold">
                                          <p:stCondLst>
                                            <p:cond delay="399"/>
                                          </p:stCondLst>
                                        </p:cTn>
                                        <p:tgtEl>
                                          <p:spTgt spid="3"/>
                                        </p:tgtEl>
                                        <p:attrNameLst>
                                          <p:attrName>style.visibility</p:attrName>
                                        </p:attrNameLst>
                                      </p:cBhvr>
                                      <p:to>
                                        <p:strVal val="hidden"/>
                                      </p:to>
                                    </p:set>
                                  </p:childTnLst>
                                </p:cTn>
                              </p:par>
                              <p:par>
                                <p:cTn id="3395" presetID="10" presetClass="exit" presetSubtype="0" fill="hold" nodeType="withEffect">
                                  <p:stCondLst>
                                    <p:cond delay="0"/>
                                  </p:stCondLst>
                                  <p:childTnLst>
                                    <p:animEffect transition="out" filter="fade">
                                      <p:cBhvr>
                                        <p:cTn id="3396" dur="400"/>
                                        <p:tgtEl>
                                          <p:spTgt spid="4"/>
                                        </p:tgtEl>
                                      </p:cBhvr>
                                    </p:animEffect>
                                    <p:set>
                                      <p:cBhvr>
                                        <p:cTn id="3397" dur="1" fill="hold">
                                          <p:stCondLst>
                                            <p:cond delay="399"/>
                                          </p:stCondLst>
                                        </p:cTn>
                                        <p:tgtEl>
                                          <p:spTgt spid="4"/>
                                        </p:tgtEl>
                                        <p:attrNameLst>
                                          <p:attrName>style.visibility</p:attrName>
                                        </p:attrNameLst>
                                      </p:cBhvr>
                                      <p:to>
                                        <p:strVal val="hidden"/>
                                      </p:to>
                                    </p:set>
                                  </p:childTnLst>
                                </p:cTn>
                              </p:par>
                              <p:par>
                                <p:cTn id="3398" presetID="10" presetClass="exit" presetSubtype="0" fill="hold" nodeType="withEffect">
                                  <p:stCondLst>
                                    <p:cond delay="0"/>
                                  </p:stCondLst>
                                  <p:childTnLst>
                                    <p:animEffect transition="out" filter="fade">
                                      <p:cBhvr>
                                        <p:cTn id="3399" dur="400"/>
                                        <p:tgtEl>
                                          <p:spTgt spid="5"/>
                                        </p:tgtEl>
                                      </p:cBhvr>
                                    </p:animEffect>
                                    <p:set>
                                      <p:cBhvr>
                                        <p:cTn id="3400" dur="1" fill="hold">
                                          <p:stCondLst>
                                            <p:cond delay="399"/>
                                          </p:stCondLst>
                                        </p:cTn>
                                        <p:tgtEl>
                                          <p:spTgt spid="5"/>
                                        </p:tgtEl>
                                        <p:attrNameLst>
                                          <p:attrName>style.visibility</p:attrName>
                                        </p:attrNameLst>
                                      </p:cBhvr>
                                      <p:to>
                                        <p:strVal val="hidden"/>
                                      </p:to>
                                    </p:set>
                                  </p:childTnLst>
                                </p:cTn>
                              </p:par>
                              <p:par>
                                <p:cTn id="3401" presetID="10" presetClass="exit" presetSubtype="0" fill="hold" nodeType="withEffect">
                                  <p:stCondLst>
                                    <p:cond delay="0"/>
                                  </p:stCondLst>
                                  <p:childTnLst>
                                    <p:animEffect transition="out" filter="fade">
                                      <p:cBhvr>
                                        <p:cTn id="3402" dur="400"/>
                                        <p:tgtEl>
                                          <p:spTgt spid="6"/>
                                        </p:tgtEl>
                                      </p:cBhvr>
                                    </p:animEffect>
                                    <p:set>
                                      <p:cBhvr>
                                        <p:cTn id="3403" dur="1" fill="hold">
                                          <p:stCondLst>
                                            <p:cond delay="399"/>
                                          </p:stCondLst>
                                        </p:cTn>
                                        <p:tgtEl>
                                          <p:spTgt spid="6"/>
                                        </p:tgtEl>
                                        <p:attrNameLst>
                                          <p:attrName>style.visibility</p:attrName>
                                        </p:attrNameLst>
                                      </p:cBhvr>
                                      <p:to>
                                        <p:strVal val="hidden"/>
                                      </p:to>
                                    </p:set>
                                  </p:childTnLst>
                                </p:cTn>
                              </p:par>
                              <p:par>
                                <p:cTn id="3404" presetID="10" presetClass="exit" presetSubtype="0" fill="hold" nodeType="withEffect">
                                  <p:stCondLst>
                                    <p:cond delay="0"/>
                                  </p:stCondLst>
                                  <p:childTnLst>
                                    <p:animEffect transition="out" filter="fade">
                                      <p:cBhvr>
                                        <p:cTn id="3405" dur="400"/>
                                        <p:tgtEl>
                                          <p:spTgt spid="7"/>
                                        </p:tgtEl>
                                      </p:cBhvr>
                                    </p:animEffect>
                                    <p:set>
                                      <p:cBhvr>
                                        <p:cTn id="3406" dur="1" fill="hold">
                                          <p:stCondLst>
                                            <p:cond delay="399"/>
                                          </p:stCondLst>
                                        </p:cTn>
                                        <p:tgtEl>
                                          <p:spTgt spid="7"/>
                                        </p:tgtEl>
                                        <p:attrNameLst>
                                          <p:attrName>style.visibility</p:attrName>
                                        </p:attrNameLst>
                                      </p:cBhvr>
                                      <p:to>
                                        <p:strVal val="hidden"/>
                                      </p:to>
                                    </p:set>
                                  </p:childTnLst>
                                </p:cTn>
                              </p:par>
                              <p:par>
                                <p:cTn id="3407" presetID="10" presetClass="exit" presetSubtype="0" fill="hold" nodeType="withEffect">
                                  <p:stCondLst>
                                    <p:cond delay="0"/>
                                  </p:stCondLst>
                                  <p:childTnLst>
                                    <p:animEffect transition="out" filter="fade">
                                      <p:cBhvr>
                                        <p:cTn id="3408" dur="400"/>
                                        <p:tgtEl>
                                          <p:spTgt spid="8"/>
                                        </p:tgtEl>
                                      </p:cBhvr>
                                    </p:animEffect>
                                    <p:set>
                                      <p:cBhvr>
                                        <p:cTn id="3409" dur="1" fill="hold">
                                          <p:stCondLst>
                                            <p:cond delay="399"/>
                                          </p:stCondLst>
                                        </p:cTn>
                                        <p:tgtEl>
                                          <p:spTgt spid="8"/>
                                        </p:tgtEl>
                                        <p:attrNameLst>
                                          <p:attrName>style.visibility</p:attrName>
                                        </p:attrNameLst>
                                      </p:cBhvr>
                                      <p:to>
                                        <p:strVal val="hidden"/>
                                      </p:to>
                                    </p:set>
                                  </p:childTnLst>
                                </p:cTn>
                              </p:par>
                              <p:par>
                                <p:cTn id="3410" presetID="10" presetClass="exit" presetSubtype="0" fill="hold" nodeType="withEffect">
                                  <p:stCondLst>
                                    <p:cond delay="0"/>
                                  </p:stCondLst>
                                  <p:childTnLst>
                                    <p:animEffect transition="out" filter="fade">
                                      <p:cBhvr>
                                        <p:cTn id="3411" dur="400"/>
                                        <p:tgtEl>
                                          <p:spTgt spid="9"/>
                                        </p:tgtEl>
                                      </p:cBhvr>
                                    </p:animEffect>
                                    <p:set>
                                      <p:cBhvr>
                                        <p:cTn id="3412" dur="1" fill="hold">
                                          <p:stCondLst>
                                            <p:cond delay="399"/>
                                          </p:stCondLst>
                                        </p:cTn>
                                        <p:tgtEl>
                                          <p:spTgt spid="9"/>
                                        </p:tgtEl>
                                        <p:attrNameLst>
                                          <p:attrName>style.visibility</p:attrName>
                                        </p:attrNameLst>
                                      </p:cBhvr>
                                      <p:to>
                                        <p:strVal val="hidden"/>
                                      </p:to>
                                    </p:set>
                                  </p:childTnLst>
                                </p:cTn>
                              </p:par>
                              <p:par>
                                <p:cTn id="3413" presetID="10" presetClass="exit" presetSubtype="0" fill="hold" nodeType="withEffect">
                                  <p:stCondLst>
                                    <p:cond delay="0"/>
                                  </p:stCondLst>
                                  <p:childTnLst>
                                    <p:animEffect transition="out" filter="fade">
                                      <p:cBhvr>
                                        <p:cTn id="3414" dur="400"/>
                                        <p:tgtEl>
                                          <p:spTgt spid="10"/>
                                        </p:tgtEl>
                                      </p:cBhvr>
                                    </p:animEffect>
                                    <p:set>
                                      <p:cBhvr>
                                        <p:cTn id="3415" dur="1" fill="hold">
                                          <p:stCondLst>
                                            <p:cond delay="399"/>
                                          </p:stCondLst>
                                        </p:cTn>
                                        <p:tgtEl>
                                          <p:spTgt spid="10"/>
                                        </p:tgtEl>
                                        <p:attrNameLst>
                                          <p:attrName>style.visibility</p:attrName>
                                        </p:attrNameLst>
                                      </p:cBhvr>
                                      <p:to>
                                        <p:strVal val="hidden"/>
                                      </p:to>
                                    </p:set>
                                  </p:childTnLst>
                                </p:cTn>
                              </p:par>
                              <p:par>
                                <p:cTn id="3416" presetID="10" presetClass="exit" presetSubtype="0" fill="hold" nodeType="withEffect">
                                  <p:stCondLst>
                                    <p:cond delay="0"/>
                                  </p:stCondLst>
                                  <p:childTnLst>
                                    <p:animEffect transition="out" filter="fade">
                                      <p:cBhvr>
                                        <p:cTn id="3417" dur="400"/>
                                        <p:tgtEl>
                                          <p:spTgt spid="11"/>
                                        </p:tgtEl>
                                      </p:cBhvr>
                                    </p:animEffect>
                                    <p:set>
                                      <p:cBhvr>
                                        <p:cTn id="3418" dur="1" fill="hold">
                                          <p:stCondLst>
                                            <p:cond delay="399"/>
                                          </p:stCondLst>
                                        </p:cTn>
                                        <p:tgtEl>
                                          <p:spTgt spid="11"/>
                                        </p:tgtEl>
                                        <p:attrNameLst>
                                          <p:attrName>style.visibility</p:attrName>
                                        </p:attrNameLst>
                                      </p:cBhvr>
                                      <p:to>
                                        <p:strVal val="hidden"/>
                                      </p:to>
                                    </p:set>
                                  </p:childTnLst>
                                </p:cTn>
                              </p:par>
                              <p:par>
                                <p:cTn id="3419" presetID="10" presetClass="exit" presetSubtype="0" fill="hold" nodeType="withEffect">
                                  <p:stCondLst>
                                    <p:cond delay="0"/>
                                  </p:stCondLst>
                                  <p:childTnLst>
                                    <p:animEffect transition="out" filter="fade">
                                      <p:cBhvr>
                                        <p:cTn id="3420" dur="400"/>
                                        <p:tgtEl>
                                          <p:spTgt spid="12"/>
                                        </p:tgtEl>
                                      </p:cBhvr>
                                    </p:animEffect>
                                    <p:set>
                                      <p:cBhvr>
                                        <p:cTn id="3421" dur="1" fill="hold">
                                          <p:stCondLst>
                                            <p:cond delay="399"/>
                                          </p:stCondLst>
                                        </p:cTn>
                                        <p:tgtEl>
                                          <p:spTgt spid="12"/>
                                        </p:tgtEl>
                                        <p:attrNameLst>
                                          <p:attrName>style.visibility</p:attrName>
                                        </p:attrNameLst>
                                      </p:cBhvr>
                                      <p:to>
                                        <p:strVal val="hidden"/>
                                      </p:to>
                                    </p:set>
                                  </p:childTnLst>
                                </p:cTn>
                              </p:par>
                              <p:par>
                                <p:cTn id="3422" presetID="10" presetClass="exit" presetSubtype="0" fill="hold" nodeType="withEffect">
                                  <p:stCondLst>
                                    <p:cond delay="0"/>
                                  </p:stCondLst>
                                  <p:childTnLst>
                                    <p:animEffect transition="out" filter="fade">
                                      <p:cBhvr>
                                        <p:cTn id="3423" dur="400"/>
                                        <p:tgtEl>
                                          <p:spTgt spid="13"/>
                                        </p:tgtEl>
                                      </p:cBhvr>
                                    </p:animEffect>
                                    <p:set>
                                      <p:cBhvr>
                                        <p:cTn id="3424" dur="1" fill="hold">
                                          <p:stCondLst>
                                            <p:cond delay="399"/>
                                          </p:stCondLst>
                                        </p:cTn>
                                        <p:tgtEl>
                                          <p:spTgt spid="13"/>
                                        </p:tgtEl>
                                        <p:attrNameLst>
                                          <p:attrName>style.visibility</p:attrName>
                                        </p:attrNameLst>
                                      </p:cBhvr>
                                      <p:to>
                                        <p:strVal val="hidden"/>
                                      </p:to>
                                    </p:set>
                                  </p:childTnLst>
                                </p:cTn>
                              </p:par>
                              <p:par>
                                <p:cTn id="3425" presetID="10" presetClass="exit" presetSubtype="0" fill="hold" nodeType="withEffect">
                                  <p:stCondLst>
                                    <p:cond delay="0"/>
                                  </p:stCondLst>
                                  <p:childTnLst>
                                    <p:animEffect transition="out" filter="fade">
                                      <p:cBhvr>
                                        <p:cTn id="3426" dur="400"/>
                                        <p:tgtEl>
                                          <p:spTgt spid="14"/>
                                        </p:tgtEl>
                                      </p:cBhvr>
                                    </p:animEffect>
                                    <p:set>
                                      <p:cBhvr>
                                        <p:cTn id="3427" dur="1" fill="hold">
                                          <p:stCondLst>
                                            <p:cond delay="399"/>
                                          </p:stCondLst>
                                        </p:cTn>
                                        <p:tgtEl>
                                          <p:spTgt spid="14"/>
                                        </p:tgtEl>
                                        <p:attrNameLst>
                                          <p:attrName>style.visibility</p:attrName>
                                        </p:attrNameLst>
                                      </p:cBhvr>
                                      <p:to>
                                        <p:strVal val="hidden"/>
                                      </p:to>
                                    </p:set>
                                  </p:childTnLst>
                                </p:cTn>
                              </p:par>
                              <p:par>
                                <p:cTn id="3428" presetID="10" presetClass="exit" presetSubtype="0" fill="hold" nodeType="withEffect">
                                  <p:stCondLst>
                                    <p:cond delay="0"/>
                                  </p:stCondLst>
                                  <p:childTnLst>
                                    <p:animEffect transition="out" filter="fade">
                                      <p:cBhvr>
                                        <p:cTn id="3429" dur="400"/>
                                        <p:tgtEl>
                                          <p:spTgt spid="15"/>
                                        </p:tgtEl>
                                      </p:cBhvr>
                                    </p:animEffect>
                                    <p:set>
                                      <p:cBhvr>
                                        <p:cTn id="3430" dur="1" fill="hold">
                                          <p:stCondLst>
                                            <p:cond delay="399"/>
                                          </p:stCondLst>
                                        </p:cTn>
                                        <p:tgtEl>
                                          <p:spTgt spid="15"/>
                                        </p:tgtEl>
                                        <p:attrNameLst>
                                          <p:attrName>style.visibility</p:attrName>
                                        </p:attrNameLst>
                                      </p:cBhvr>
                                      <p:to>
                                        <p:strVal val="hidden"/>
                                      </p:to>
                                    </p:set>
                                  </p:childTnLst>
                                </p:cTn>
                              </p:par>
                              <p:par>
                                <p:cTn id="3431" presetID="10" presetClass="exit" presetSubtype="0" fill="hold" nodeType="withEffect">
                                  <p:stCondLst>
                                    <p:cond delay="0"/>
                                  </p:stCondLst>
                                  <p:childTnLst>
                                    <p:animEffect transition="out" filter="fade">
                                      <p:cBhvr>
                                        <p:cTn id="3432" dur="400"/>
                                        <p:tgtEl>
                                          <p:spTgt spid="16"/>
                                        </p:tgtEl>
                                      </p:cBhvr>
                                    </p:animEffect>
                                    <p:set>
                                      <p:cBhvr>
                                        <p:cTn id="3433" dur="1" fill="hold">
                                          <p:stCondLst>
                                            <p:cond delay="399"/>
                                          </p:stCondLst>
                                        </p:cTn>
                                        <p:tgtEl>
                                          <p:spTgt spid="16"/>
                                        </p:tgtEl>
                                        <p:attrNameLst>
                                          <p:attrName>style.visibility</p:attrName>
                                        </p:attrNameLst>
                                      </p:cBhvr>
                                      <p:to>
                                        <p:strVal val="hidden"/>
                                      </p:to>
                                    </p:set>
                                  </p:childTnLst>
                                </p:cTn>
                              </p:par>
                              <p:par>
                                <p:cTn id="3434" presetID="10" presetClass="exit" presetSubtype="0" fill="hold" nodeType="withEffect">
                                  <p:stCondLst>
                                    <p:cond delay="0"/>
                                  </p:stCondLst>
                                  <p:childTnLst>
                                    <p:animEffect transition="out" filter="fade">
                                      <p:cBhvr>
                                        <p:cTn id="3435" dur="400"/>
                                        <p:tgtEl>
                                          <p:spTgt spid="17"/>
                                        </p:tgtEl>
                                      </p:cBhvr>
                                    </p:animEffect>
                                    <p:set>
                                      <p:cBhvr>
                                        <p:cTn id="3436" dur="1" fill="hold">
                                          <p:stCondLst>
                                            <p:cond delay="399"/>
                                          </p:stCondLst>
                                        </p:cTn>
                                        <p:tgtEl>
                                          <p:spTgt spid="17"/>
                                        </p:tgtEl>
                                        <p:attrNameLst>
                                          <p:attrName>style.visibility</p:attrName>
                                        </p:attrNameLst>
                                      </p:cBhvr>
                                      <p:to>
                                        <p:strVal val="hidden"/>
                                      </p:to>
                                    </p:set>
                                  </p:childTnLst>
                                </p:cTn>
                              </p:par>
                              <p:par>
                                <p:cTn id="3437" presetID="10" presetClass="exit" presetSubtype="0" fill="hold" nodeType="withEffect">
                                  <p:stCondLst>
                                    <p:cond delay="0"/>
                                  </p:stCondLst>
                                  <p:childTnLst>
                                    <p:animEffect transition="out" filter="fade">
                                      <p:cBhvr>
                                        <p:cTn id="3438" dur="400"/>
                                        <p:tgtEl>
                                          <p:spTgt spid="18"/>
                                        </p:tgtEl>
                                      </p:cBhvr>
                                    </p:animEffect>
                                    <p:set>
                                      <p:cBhvr>
                                        <p:cTn id="3439" dur="1" fill="hold">
                                          <p:stCondLst>
                                            <p:cond delay="399"/>
                                          </p:stCondLst>
                                        </p:cTn>
                                        <p:tgtEl>
                                          <p:spTgt spid="18"/>
                                        </p:tgtEl>
                                        <p:attrNameLst>
                                          <p:attrName>style.visibility</p:attrName>
                                        </p:attrNameLst>
                                      </p:cBhvr>
                                      <p:to>
                                        <p:strVal val="hidden"/>
                                      </p:to>
                                    </p:set>
                                  </p:childTnLst>
                                </p:cTn>
                              </p:par>
                              <p:par>
                                <p:cTn id="3440" presetID="10" presetClass="exit" presetSubtype="0" fill="hold" nodeType="withEffect">
                                  <p:stCondLst>
                                    <p:cond delay="0"/>
                                  </p:stCondLst>
                                  <p:childTnLst>
                                    <p:animEffect transition="out" filter="fade">
                                      <p:cBhvr>
                                        <p:cTn id="3441" dur="400"/>
                                        <p:tgtEl>
                                          <p:spTgt spid="19"/>
                                        </p:tgtEl>
                                      </p:cBhvr>
                                    </p:animEffect>
                                    <p:set>
                                      <p:cBhvr>
                                        <p:cTn id="3442" dur="1" fill="hold">
                                          <p:stCondLst>
                                            <p:cond delay="399"/>
                                          </p:stCondLst>
                                        </p:cTn>
                                        <p:tgtEl>
                                          <p:spTgt spid="19"/>
                                        </p:tgtEl>
                                        <p:attrNameLst>
                                          <p:attrName>style.visibility</p:attrName>
                                        </p:attrNameLst>
                                      </p:cBhvr>
                                      <p:to>
                                        <p:strVal val="hidden"/>
                                      </p:to>
                                    </p:set>
                                  </p:childTnLst>
                                </p:cTn>
                              </p:par>
                              <p:par>
                                <p:cTn id="3443" presetID="10" presetClass="exit" presetSubtype="0" fill="hold" nodeType="withEffect">
                                  <p:stCondLst>
                                    <p:cond delay="0"/>
                                  </p:stCondLst>
                                  <p:childTnLst>
                                    <p:animEffect transition="out" filter="fade">
                                      <p:cBhvr>
                                        <p:cTn id="3444" dur="400"/>
                                        <p:tgtEl>
                                          <p:spTgt spid="20"/>
                                        </p:tgtEl>
                                      </p:cBhvr>
                                    </p:animEffect>
                                    <p:set>
                                      <p:cBhvr>
                                        <p:cTn id="3445" dur="1" fill="hold">
                                          <p:stCondLst>
                                            <p:cond delay="399"/>
                                          </p:stCondLst>
                                        </p:cTn>
                                        <p:tgtEl>
                                          <p:spTgt spid="20"/>
                                        </p:tgtEl>
                                        <p:attrNameLst>
                                          <p:attrName>style.visibility</p:attrName>
                                        </p:attrNameLst>
                                      </p:cBhvr>
                                      <p:to>
                                        <p:strVal val="hidden"/>
                                      </p:to>
                                    </p:set>
                                  </p:childTnLst>
                                </p:cTn>
                              </p:par>
                              <p:par>
                                <p:cTn id="3446" presetID="10" presetClass="exit" presetSubtype="0" fill="hold" nodeType="withEffect">
                                  <p:stCondLst>
                                    <p:cond delay="0"/>
                                  </p:stCondLst>
                                  <p:childTnLst>
                                    <p:animEffect transition="out" filter="fade">
                                      <p:cBhvr>
                                        <p:cTn id="3447" dur="400"/>
                                        <p:tgtEl>
                                          <p:spTgt spid="21"/>
                                        </p:tgtEl>
                                      </p:cBhvr>
                                    </p:animEffect>
                                    <p:set>
                                      <p:cBhvr>
                                        <p:cTn id="3448" dur="1" fill="hold">
                                          <p:stCondLst>
                                            <p:cond delay="399"/>
                                          </p:stCondLst>
                                        </p:cTn>
                                        <p:tgtEl>
                                          <p:spTgt spid="21"/>
                                        </p:tgtEl>
                                        <p:attrNameLst>
                                          <p:attrName>style.visibility</p:attrName>
                                        </p:attrNameLst>
                                      </p:cBhvr>
                                      <p:to>
                                        <p:strVal val="hidden"/>
                                      </p:to>
                                    </p:set>
                                  </p:childTnLst>
                                </p:cTn>
                              </p:par>
                              <p:par>
                                <p:cTn id="3449" presetID="10" presetClass="exit" presetSubtype="0" fill="hold" nodeType="withEffect">
                                  <p:stCondLst>
                                    <p:cond delay="0"/>
                                  </p:stCondLst>
                                  <p:childTnLst>
                                    <p:animEffect transition="out" filter="fade">
                                      <p:cBhvr>
                                        <p:cTn id="3450" dur="400"/>
                                        <p:tgtEl>
                                          <p:spTgt spid="22"/>
                                        </p:tgtEl>
                                      </p:cBhvr>
                                    </p:animEffect>
                                    <p:set>
                                      <p:cBhvr>
                                        <p:cTn id="3451" dur="1" fill="hold">
                                          <p:stCondLst>
                                            <p:cond delay="399"/>
                                          </p:stCondLst>
                                        </p:cTn>
                                        <p:tgtEl>
                                          <p:spTgt spid="22"/>
                                        </p:tgtEl>
                                        <p:attrNameLst>
                                          <p:attrName>style.visibility</p:attrName>
                                        </p:attrNameLst>
                                      </p:cBhvr>
                                      <p:to>
                                        <p:strVal val="hidden"/>
                                      </p:to>
                                    </p:set>
                                  </p:childTnLst>
                                </p:cTn>
                              </p:par>
                              <p:par>
                                <p:cTn id="3452" presetID="10" presetClass="exit" presetSubtype="0" fill="hold" nodeType="withEffect">
                                  <p:stCondLst>
                                    <p:cond delay="0"/>
                                  </p:stCondLst>
                                  <p:childTnLst>
                                    <p:animEffect transition="out" filter="fade">
                                      <p:cBhvr>
                                        <p:cTn id="3453" dur="400"/>
                                        <p:tgtEl>
                                          <p:spTgt spid="23"/>
                                        </p:tgtEl>
                                      </p:cBhvr>
                                    </p:animEffect>
                                    <p:set>
                                      <p:cBhvr>
                                        <p:cTn id="3454" dur="1" fill="hold">
                                          <p:stCondLst>
                                            <p:cond delay="399"/>
                                          </p:stCondLst>
                                        </p:cTn>
                                        <p:tgtEl>
                                          <p:spTgt spid="23"/>
                                        </p:tgtEl>
                                        <p:attrNameLst>
                                          <p:attrName>style.visibility</p:attrName>
                                        </p:attrNameLst>
                                      </p:cBhvr>
                                      <p:to>
                                        <p:strVal val="hidden"/>
                                      </p:to>
                                    </p:set>
                                  </p:childTnLst>
                                </p:cTn>
                              </p:par>
                              <p:par>
                                <p:cTn id="3455" presetID="10" presetClass="exit" presetSubtype="0" fill="hold" nodeType="withEffect">
                                  <p:stCondLst>
                                    <p:cond delay="0"/>
                                  </p:stCondLst>
                                  <p:childTnLst>
                                    <p:animEffect transition="out" filter="fade">
                                      <p:cBhvr>
                                        <p:cTn id="3456" dur="400"/>
                                        <p:tgtEl>
                                          <p:spTgt spid="24"/>
                                        </p:tgtEl>
                                      </p:cBhvr>
                                    </p:animEffect>
                                    <p:set>
                                      <p:cBhvr>
                                        <p:cTn id="3457" dur="1" fill="hold">
                                          <p:stCondLst>
                                            <p:cond delay="399"/>
                                          </p:stCondLst>
                                        </p:cTn>
                                        <p:tgtEl>
                                          <p:spTgt spid="24"/>
                                        </p:tgtEl>
                                        <p:attrNameLst>
                                          <p:attrName>style.visibility</p:attrName>
                                        </p:attrNameLst>
                                      </p:cBhvr>
                                      <p:to>
                                        <p:strVal val="hidden"/>
                                      </p:to>
                                    </p:set>
                                  </p:childTnLst>
                                </p:cTn>
                              </p:par>
                              <p:par>
                                <p:cTn id="3458" presetID="10" presetClass="exit" presetSubtype="0" fill="hold" nodeType="withEffect">
                                  <p:stCondLst>
                                    <p:cond delay="0"/>
                                  </p:stCondLst>
                                  <p:childTnLst>
                                    <p:animEffect transition="out" filter="fade">
                                      <p:cBhvr>
                                        <p:cTn id="3459" dur="400"/>
                                        <p:tgtEl>
                                          <p:spTgt spid="25"/>
                                        </p:tgtEl>
                                      </p:cBhvr>
                                    </p:animEffect>
                                    <p:set>
                                      <p:cBhvr>
                                        <p:cTn id="3460" dur="1" fill="hold">
                                          <p:stCondLst>
                                            <p:cond delay="399"/>
                                          </p:stCondLst>
                                        </p:cTn>
                                        <p:tgtEl>
                                          <p:spTgt spid="25"/>
                                        </p:tgtEl>
                                        <p:attrNameLst>
                                          <p:attrName>style.visibility</p:attrName>
                                        </p:attrNameLst>
                                      </p:cBhvr>
                                      <p:to>
                                        <p:strVal val="hidden"/>
                                      </p:to>
                                    </p:set>
                                  </p:childTnLst>
                                </p:cTn>
                              </p:par>
                              <p:par>
                                <p:cTn id="3461" presetID="10" presetClass="exit" presetSubtype="0" fill="hold" nodeType="withEffect">
                                  <p:stCondLst>
                                    <p:cond delay="0"/>
                                  </p:stCondLst>
                                  <p:childTnLst>
                                    <p:animEffect transition="out" filter="fade">
                                      <p:cBhvr>
                                        <p:cTn id="3462" dur="400"/>
                                        <p:tgtEl>
                                          <p:spTgt spid="26"/>
                                        </p:tgtEl>
                                      </p:cBhvr>
                                    </p:animEffect>
                                    <p:set>
                                      <p:cBhvr>
                                        <p:cTn id="3463" dur="1" fill="hold">
                                          <p:stCondLst>
                                            <p:cond delay="399"/>
                                          </p:stCondLst>
                                        </p:cTn>
                                        <p:tgtEl>
                                          <p:spTgt spid="26"/>
                                        </p:tgtEl>
                                        <p:attrNameLst>
                                          <p:attrName>style.visibility</p:attrName>
                                        </p:attrNameLst>
                                      </p:cBhvr>
                                      <p:to>
                                        <p:strVal val="hidden"/>
                                      </p:to>
                                    </p:set>
                                  </p:childTnLst>
                                </p:cTn>
                              </p:par>
                              <p:par>
                                <p:cTn id="3464" presetID="10" presetClass="exit" presetSubtype="0" fill="hold" nodeType="withEffect">
                                  <p:stCondLst>
                                    <p:cond delay="0"/>
                                  </p:stCondLst>
                                  <p:childTnLst>
                                    <p:animEffect transition="out" filter="fade">
                                      <p:cBhvr>
                                        <p:cTn id="3465" dur="400"/>
                                        <p:tgtEl>
                                          <p:spTgt spid="47"/>
                                        </p:tgtEl>
                                      </p:cBhvr>
                                    </p:animEffect>
                                    <p:set>
                                      <p:cBhvr>
                                        <p:cTn id="3466" dur="1" fill="hold">
                                          <p:stCondLst>
                                            <p:cond delay="399"/>
                                          </p:stCondLst>
                                        </p:cTn>
                                        <p:tgtEl>
                                          <p:spTgt spid="47"/>
                                        </p:tgtEl>
                                        <p:attrNameLst>
                                          <p:attrName>style.visibility</p:attrName>
                                        </p:attrNameLst>
                                      </p:cBhvr>
                                      <p:to>
                                        <p:strVal val="hidden"/>
                                      </p:to>
                                    </p:set>
                                  </p:childTnLst>
                                </p:cTn>
                              </p:par>
                              <p:par>
                                <p:cTn id="3467" presetID="10" presetClass="exit" presetSubtype="0" fill="hold" nodeType="withEffect">
                                  <p:stCondLst>
                                    <p:cond delay="0"/>
                                  </p:stCondLst>
                                  <p:childTnLst>
                                    <p:animEffect transition="out" filter="fade">
                                      <p:cBhvr>
                                        <p:cTn id="3468" dur="400"/>
                                        <p:tgtEl>
                                          <p:spTgt spid="48"/>
                                        </p:tgtEl>
                                      </p:cBhvr>
                                    </p:animEffect>
                                    <p:set>
                                      <p:cBhvr>
                                        <p:cTn id="3469" dur="1" fill="hold">
                                          <p:stCondLst>
                                            <p:cond delay="399"/>
                                          </p:stCondLst>
                                        </p:cTn>
                                        <p:tgtEl>
                                          <p:spTgt spid="48"/>
                                        </p:tgtEl>
                                        <p:attrNameLst>
                                          <p:attrName>style.visibility</p:attrName>
                                        </p:attrNameLst>
                                      </p:cBhvr>
                                      <p:to>
                                        <p:strVal val="hidden"/>
                                      </p:to>
                                    </p:set>
                                  </p:childTnLst>
                                </p:cTn>
                              </p:par>
                              <p:par>
                                <p:cTn id="3470" presetID="10" presetClass="entr" presetSubtype="0" fill="hold" nodeType="withEffect">
                                  <p:stCondLst>
                                    <p:cond delay="200"/>
                                  </p:stCondLst>
                                  <p:childTnLst>
                                    <p:set>
                                      <p:cBhvr>
                                        <p:cTn id="3471" dur="1" fill="hold">
                                          <p:stCondLst>
                                            <p:cond delay="0"/>
                                          </p:stCondLst>
                                        </p:cTn>
                                        <p:tgtEl>
                                          <p:spTgt spid="27"/>
                                        </p:tgtEl>
                                        <p:attrNameLst>
                                          <p:attrName>style.visibility</p:attrName>
                                        </p:attrNameLst>
                                      </p:cBhvr>
                                      <p:to>
                                        <p:strVal val="visible"/>
                                      </p:to>
                                    </p:set>
                                    <p:animEffect transition="in" filter="fade">
                                      <p:cBhvr>
                                        <p:cTn id="3472" dur="500"/>
                                        <p:tgtEl>
                                          <p:spTgt spid="27"/>
                                        </p:tgtEl>
                                      </p:cBhvr>
                                    </p:animEffect>
                                  </p:childTnLst>
                                </p:cTn>
                              </p:par>
                              <p:par>
                                <p:cTn id="3473" presetID="10" presetClass="entr" presetSubtype="0" fill="hold" nodeType="withEffect">
                                  <p:stCondLst>
                                    <p:cond delay="270"/>
                                  </p:stCondLst>
                                  <p:childTnLst>
                                    <p:set>
                                      <p:cBhvr>
                                        <p:cTn id="3474" dur="1" fill="hold">
                                          <p:stCondLst>
                                            <p:cond delay="0"/>
                                          </p:stCondLst>
                                        </p:cTn>
                                        <p:tgtEl>
                                          <p:spTgt spid="28"/>
                                        </p:tgtEl>
                                        <p:attrNameLst>
                                          <p:attrName>style.visibility</p:attrName>
                                        </p:attrNameLst>
                                      </p:cBhvr>
                                      <p:to>
                                        <p:strVal val="visible"/>
                                      </p:to>
                                    </p:set>
                                    <p:animEffect transition="in" filter="fade">
                                      <p:cBhvr>
                                        <p:cTn id="3475" dur="500"/>
                                        <p:tgtEl>
                                          <p:spTgt spid="28"/>
                                        </p:tgtEl>
                                      </p:cBhvr>
                                    </p:animEffect>
                                  </p:childTnLst>
                                </p:cTn>
                              </p:par>
                              <p:par>
                                <p:cTn id="3476" presetID="10" presetClass="entr" presetSubtype="0" fill="hold" nodeType="withEffect">
                                  <p:stCondLst>
                                    <p:cond delay="340"/>
                                  </p:stCondLst>
                                  <p:childTnLst>
                                    <p:set>
                                      <p:cBhvr>
                                        <p:cTn id="3477" dur="1" fill="hold">
                                          <p:stCondLst>
                                            <p:cond delay="0"/>
                                          </p:stCondLst>
                                        </p:cTn>
                                        <p:tgtEl>
                                          <p:spTgt spid="49"/>
                                        </p:tgtEl>
                                        <p:attrNameLst>
                                          <p:attrName>style.visibility</p:attrName>
                                        </p:attrNameLst>
                                      </p:cBhvr>
                                      <p:to>
                                        <p:strVal val="visible"/>
                                      </p:to>
                                    </p:set>
                                    <p:animEffect transition="in" filter="fade">
                                      <p:cBhvr>
                                        <p:cTn id="3478" dur="500"/>
                                        <p:tgtEl>
                                          <p:spTgt spid="49"/>
                                        </p:tgtEl>
                                      </p:cBhvr>
                                    </p:animEffect>
                                  </p:childTnLst>
                                </p:cTn>
                              </p:par>
                              <p:par>
                                <p:cTn id="3479" presetID="10" presetClass="entr" presetSubtype="0" fill="hold" nodeType="withEffect">
                                  <p:stCondLst>
                                    <p:cond delay="410"/>
                                  </p:stCondLst>
                                  <p:childTnLst>
                                    <p:set>
                                      <p:cBhvr>
                                        <p:cTn id="3480" dur="1" fill="hold">
                                          <p:stCondLst>
                                            <p:cond delay="0"/>
                                          </p:stCondLst>
                                        </p:cTn>
                                        <p:tgtEl>
                                          <p:spTgt spid="50"/>
                                        </p:tgtEl>
                                        <p:attrNameLst>
                                          <p:attrName>style.visibility</p:attrName>
                                        </p:attrNameLst>
                                      </p:cBhvr>
                                      <p:to>
                                        <p:strVal val="visible"/>
                                      </p:to>
                                    </p:set>
                                    <p:animEffect transition="in" filter="fade">
                                      <p:cBhvr>
                                        <p:cTn id="3481" dur="500"/>
                                        <p:tgtEl>
                                          <p:spTgt spid="50"/>
                                        </p:tgtEl>
                                      </p:cBhvr>
                                    </p:animEffect>
                                  </p:childTnLst>
                                </p:cTn>
                              </p:par>
                            </p:childTnLst>
                          </p:cTn>
                        </p:par>
                      </p:childTnLst>
                    </p:cTn>
                  </p:par>
                  <p:par>
                    <p:cTn id="3529" fill="hold">
                      <p:stCondLst>
                        <p:cond delay="indefinite"/>
                      </p:stCondLst>
                      <p:childTnLst>
                        <p:par>
                          <p:cTn id="3530" fill="hold">
                            <p:stCondLst>
                              <p:cond delay="0"/>
                            </p:stCondLst>
                            <p:childTnLst>
                              <p:par>
                                <p:cTn id="3484" presetID="10" presetClass="exit" presetSubtype="0" fill="hold" nodeType="clickEffect">
                                  <p:stCondLst>
                                    <p:cond delay="0"/>
                                  </p:stCondLst>
                                  <p:childTnLst>
                                    <p:animEffect transition="out" filter="fade">
                                      <p:cBhvr>
                                        <p:cTn id="3485" dur="400"/>
                                        <p:tgtEl>
                                          <p:spTgt spid="27"/>
                                        </p:tgtEl>
                                      </p:cBhvr>
                                    </p:animEffect>
                                    <p:set>
                                      <p:cBhvr>
                                        <p:cTn id="3486" dur="1" fill="hold">
                                          <p:stCondLst>
                                            <p:cond delay="399"/>
                                          </p:stCondLst>
                                        </p:cTn>
                                        <p:tgtEl>
                                          <p:spTgt spid="27"/>
                                        </p:tgtEl>
                                        <p:attrNameLst>
                                          <p:attrName>style.visibility</p:attrName>
                                        </p:attrNameLst>
                                      </p:cBhvr>
                                      <p:to>
                                        <p:strVal val="hidden"/>
                                      </p:to>
                                    </p:set>
                                  </p:childTnLst>
                                </p:cTn>
                              </p:par>
                              <p:par>
                                <p:cTn id="3487" presetID="10" presetClass="exit" presetSubtype="0" fill="hold" nodeType="withEffect">
                                  <p:stCondLst>
                                    <p:cond delay="0"/>
                                  </p:stCondLst>
                                  <p:childTnLst>
                                    <p:animEffect transition="out" filter="fade">
                                      <p:cBhvr>
                                        <p:cTn id="3488" dur="400"/>
                                        <p:tgtEl>
                                          <p:spTgt spid="28"/>
                                        </p:tgtEl>
                                      </p:cBhvr>
                                    </p:animEffect>
                                    <p:set>
                                      <p:cBhvr>
                                        <p:cTn id="3489" dur="1" fill="hold">
                                          <p:stCondLst>
                                            <p:cond delay="399"/>
                                          </p:stCondLst>
                                        </p:cTn>
                                        <p:tgtEl>
                                          <p:spTgt spid="28"/>
                                        </p:tgtEl>
                                        <p:attrNameLst>
                                          <p:attrName>style.visibility</p:attrName>
                                        </p:attrNameLst>
                                      </p:cBhvr>
                                      <p:to>
                                        <p:strVal val="hidden"/>
                                      </p:to>
                                    </p:set>
                                  </p:childTnLst>
                                </p:cTn>
                              </p:par>
                              <p:par>
                                <p:cTn id="3490" presetID="10" presetClass="exit" presetSubtype="0" fill="hold" nodeType="withEffect">
                                  <p:stCondLst>
                                    <p:cond delay="0"/>
                                  </p:stCondLst>
                                  <p:childTnLst>
                                    <p:animEffect transition="out" filter="fade">
                                      <p:cBhvr>
                                        <p:cTn id="3491" dur="400"/>
                                        <p:tgtEl>
                                          <p:spTgt spid="49"/>
                                        </p:tgtEl>
                                      </p:cBhvr>
                                    </p:animEffect>
                                    <p:set>
                                      <p:cBhvr>
                                        <p:cTn id="3492" dur="1" fill="hold">
                                          <p:stCondLst>
                                            <p:cond delay="399"/>
                                          </p:stCondLst>
                                        </p:cTn>
                                        <p:tgtEl>
                                          <p:spTgt spid="49"/>
                                        </p:tgtEl>
                                        <p:attrNameLst>
                                          <p:attrName>style.visibility</p:attrName>
                                        </p:attrNameLst>
                                      </p:cBhvr>
                                      <p:to>
                                        <p:strVal val="hidden"/>
                                      </p:to>
                                    </p:set>
                                  </p:childTnLst>
                                </p:cTn>
                              </p:par>
                              <p:par>
                                <p:cTn id="3493" presetID="10" presetClass="exit" presetSubtype="0" fill="hold" nodeType="withEffect">
                                  <p:stCondLst>
                                    <p:cond delay="0"/>
                                  </p:stCondLst>
                                  <p:childTnLst>
                                    <p:animEffect transition="out" filter="fade">
                                      <p:cBhvr>
                                        <p:cTn id="3494" dur="400"/>
                                        <p:tgtEl>
                                          <p:spTgt spid="50"/>
                                        </p:tgtEl>
                                      </p:cBhvr>
                                    </p:animEffect>
                                    <p:set>
                                      <p:cBhvr>
                                        <p:cTn id="3495" dur="1" fill="hold">
                                          <p:stCondLst>
                                            <p:cond delay="399"/>
                                          </p:stCondLst>
                                        </p:cTn>
                                        <p:tgtEl>
                                          <p:spTgt spid="50"/>
                                        </p:tgtEl>
                                        <p:attrNameLst>
                                          <p:attrName>style.visibility</p:attrName>
                                        </p:attrNameLst>
                                      </p:cBhvr>
                                      <p:to>
                                        <p:strVal val="hidden"/>
                                      </p:to>
                                    </p:set>
                                  </p:childTnLst>
                                </p:cTn>
                              </p:par>
                              <p:par>
                                <p:cTn id="3496" presetID="22" presetClass="entr" presetSubtype="8" fill="hold" nodeType="withEffect">
                                  <p:stCondLst>
                                    <p:cond delay="200"/>
                                  </p:stCondLst>
                                  <p:childTnLst>
                                    <p:set>
                                      <p:cBhvr>
                                        <p:cTn id="3497" dur="1" fill="hold">
                                          <p:stCondLst>
                                            <p:cond delay="0"/>
                                          </p:stCondLst>
                                        </p:cTn>
                                        <p:tgtEl>
                                          <p:spTgt spid="29"/>
                                        </p:tgtEl>
                                        <p:attrNameLst>
                                          <p:attrName>style.visibility</p:attrName>
                                        </p:attrNameLst>
                                      </p:cBhvr>
                                      <p:to>
                                        <p:strVal val="visible"/>
                                      </p:to>
                                    </p:set>
                                    <p:animEffect transition="in" filter="wipe(left)">
                                      <p:cBhvr>
                                        <p:cTn id="3498" dur="500"/>
                                        <p:tgtEl>
                                          <p:spTgt spid="29"/>
                                        </p:tgtEl>
                                      </p:cBhvr>
                                    </p:animEffect>
                                  </p:childTnLst>
                                </p:cTn>
                              </p:par>
                              <p:par>
                                <p:cTn id="3499" presetID="22" presetClass="entr" presetSubtype="8" fill="hold" nodeType="withEffect">
                                  <p:stCondLst>
                                    <p:cond delay="270"/>
                                  </p:stCondLst>
                                  <p:childTnLst>
                                    <p:set>
                                      <p:cBhvr>
                                        <p:cTn id="3500" dur="1" fill="hold">
                                          <p:stCondLst>
                                            <p:cond delay="0"/>
                                          </p:stCondLst>
                                        </p:cTn>
                                        <p:tgtEl>
                                          <p:spTgt spid="30"/>
                                        </p:tgtEl>
                                        <p:attrNameLst>
                                          <p:attrName>style.visibility</p:attrName>
                                        </p:attrNameLst>
                                      </p:cBhvr>
                                      <p:to>
                                        <p:strVal val="visible"/>
                                      </p:to>
                                    </p:set>
                                    <p:animEffect transition="in" filter="wipe(left)">
                                      <p:cBhvr>
                                        <p:cTn id="3501" dur="500"/>
                                        <p:tgtEl>
                                          <p:spTgt spid="30"/>
                                        </p:tgtEl>
                                      </p:cBhvr>
                                    </p:animEffect>
                                  </p:childTnLst>
                                </p:cTn>
                              </p:par>
                              <p:par>
                                <p:cTn id="3502" presetID="22" presetClass="entr" presetSubtype="8" fill="hold" nodeType="withEffect">
                                  <p:stCondLst>
                                    <p:cond delay="340"/>
                                  </p:stCondLst>
                                  <p:childTnLst>
                                    <p:set>
                                      <p:cBhvr>
                                        <p:cTn id="3503" dur="1" fill="hold">
                                          <p:stCondLst>
                                            <p:cond delay="0"/>
                                          </p:stCondLst>
                                        </p:cTn>
                                        <p:tgtEl>
                                          <p:spTgt spid="31"/>
                                        </p:tgtEl>
                                        <p:attrNameLst>
                                          <p:attrName>style.visibility</p:attrName>
                                        </p:attrNameLst>
                                      </p:cBhvr>
                                      <p:to>
                                        <p:strVal val="visible"/>
                                      </p:to>
                                    </p:set>
                                    <p:animEffect transition="in" filter="wipe(left)">
                                      <p:cBhvr>
                                        <p:cTn id="3504" dur="500"/>
                                        <p:tgtEl>
                                          <p:spTgt spid="31"/>
                                        </p:tgtEl>
                                      </p:cBhvr>
                                    </p:animEffect>
                                  </p:childTnLst>
                                </p:cTn>
                              </p:par>
                              <p:par>
                                <p:cTn id="3505" presetID="22" presetClass="entr" presetSubtype="8" fill="hold" nodeType="withEffect">
                                  <p:stCondLst>
                                    <p:cond delay="410"/>
                                  </p:stCondLst>
                                  <p:childTnLst>
                                    <p:set>
                                      <p:cBhvr>
                                        <p:cTn id="3506" dur="1" fill="hold">
                                          <p:stCondLst>
                                            <p:cond delay="0"/>
                                          </p:stCondLst>
                                        </p:cTn>
                                        <p:tgtEl>
                                          <p:spTgt spid="32"/>
                                        </p:tgtEl>
                                        <p:attrNameLst>
                                          <p:attrName>style.visibility</p:attrName>
                                        </p:attrNameLst>
                                      </p:cBhvr>
                                      <p:to>
                                        <p:strVal val="visible"/>
                                      </p:to>
                                    </p:set>
                                    <p:animEffect transition="in" filter="wipe(left)">
                                      <p:cBhvr>
                                        <p:cTn id="3507" dur="500"/>
                                        <p:tgtEl>
                                          <p:spTgt spid="32"/>
                                        </p:tgtEl>
                                      </p:cBhvr>
                                    </p:animEffect>
                                  </p:childTnLst>
                                </p:cTn>
                              </p:par>
                              <p:par>
                                <p:cTn id="3508" presetID="22" presetClass="entr" presetSubtype="8" fill="hold" nodeType="withEffect">
                                  <p:stCondLst>
                                    <p:cond delay="480"/>
                                  </p:stCondLst>
                                  <p:childTnLst>
                                    <p:set>
                                      <p:cBhvr>
                                        <p:cTn id="3509" dur="1" fill="hold">
                                          <p:stCondLst>
                                            <p:cond delay="0"/>
                                          </p:stCondLst>
                                        </p:cTn>
                                        <p:tgtEl>
                                          <p:spTgt spid="33"/>
                                        </p:tgtEl>
                                        <p:attrNameLst>
                                          <p:attrName>style.visibility</p:attrName>
                                        </p:attrNameLst>
                                      </p:cBhvr>
                                      <p:to>
                                        <p:strVal val="visible"/>
                                      </p:to>
                                    </p:set>
                                    <p:animEffect transition="in" filter="wipe(left)">
                                      <p:cBhvr>
                                        <p:cTn id="3510" dur="500"/>
                                        <p:tgtEl>
                                          <p:spTgt spid="33"/>
                                        </p:tgtEl>
                                      </p:cBhvr>
                                    </p:animEffect>
                                  </p:childTnLst>
                                </p:cTn>
                              </p:par>
                              <p:par>
                                <p:cTn id="3511" presetID="22" presetClass="entr" presetSubtype="8" fill="hold" nodeType="withEffect">
                                  <p:stCondLst>
                                    <p:cond delay="550"/>
                                  </p:stCondLst>
                                  <p:childTnLst>
                                    <p:set>
                                      <p:cBhvr>
                                        <p:cTn id="3512" dur="1" fill="hold">
                                          <p:stCondLst>
                                            <p:cond delay="0"/>
                                          </p:stCondLst>
                                        </p:cTn>
                                        <p:tgtEl>
                                          <p:spTgt spid="34"/>
                                        </p:tgtEl>
                                        <p:attrNameLst>
                                          <p:attrName>style.visibility</p:attrName>
                                        </p:attrNameLst>
                                      </p:cBhvr>
                                      <p:to>
                                        <p:strVal val="visible"/>
                                      </p:to>
                                    </p:set>
                                    <p:animEffect transition="in" filter="wipe(left)">
                                      <p:cBhvr>
                                        <p:cTn id="3513" dur="500"/>
                                        <p:tgtEl>
                                          <p:spTgt spid="34"/>
                                        </p:tgtEl>
                                      </p:cBhvr>
                                    </p:animEffect>
                                  </p:childTnLst>
                                </p:cTn>
                              </p:par>
                              <p:par>
                                <p:cTn id="3514" presetID="22" presetClass="entr" presetSubtype="8" fill="hold" nodeType="withEffect">
                                  <p:stCondLst>
                                    <p:cond delay="620"/>
                                  </p:stCondLst>
                                  <p:childTnLst>
                                    <p:set>
                                      <p:cBhvr>
                                        <p:cTn id="3515" dur="1" fill="hold">
                                          <p:stCondLst>
                                            <p:cond delay="0"/>
                                          </p:stCondLst>
                                        </p:cTn>
                                        <p:tgtEl>
                                          <p:spTgt spid="35"/>
                                        </p:tgtEl>
                                        <p:attrNameLst>
                                          <p:attrName>style.visibility</p:attrName>
                                        </p:attrNameLst>
                                      </p:cBhvr>
                                      <p:to>
                                        <p:strVal val="visible"/>
                                      </p:to>
                                    </p:set>
                                    <p:animEffect transition="in" filter="wipe(left)">
                                      <p:cBhvr>
                                        <p:cTn id="3516" dur="500"/>
                                        <p:tgtEl>
                                          <p:spTgt spid="35"/>
                                        </p:tgtEl>
                                      </p:cBhvr>
                                    </p:animEffect>
                                  </p:childTnLst>
                                </p:cTn>
                              </p:par>
                              <p:par>
                                <p:cTn id="3517" presetID="22" presetClass="entr" presetSubtype="8" fill="hold" nodeType="withEffect">
                                  <p:stCondLst>
                                    <p:cond delay="690"/>
                                  </p:stCondLst>
                                  <p:childTnLst>
                                    <p:set>
                                      <p:cBhvr>
                                        <p:cTn id="3518" dur="1" fill="hold">
                                          <p:stCondLst>
                                            <p:cond delay="0"/>
                                          </p:stCondLst>
                                        </p:cTn>
                                        <p:tgtEl>
                                          <p:spTgt spid="36"/>
                                        </p:tgtEl>
                                        <p:attrNameLst>
                                          <p:attrName>style.visibility</p:attrName>
                                        </p:attrNameLst>
                                      </p:cBhvr>
                                      <p:to>
                                        <p:strVal val="visible"/>
                                      </p:to>
                                    </p:set>
                                    <p:animEffect transition="in" filter="wipe(left)">
                                      <p:cBhvr>
                                        <p:cTn id="3519" dur="500"/>
                                        <p:tgtEl>
                                          <p:spTgt spid="36"/>
                                        </p:tgtEl>
                                      </p:cBhvr>
                                    </p:animEffect>
                                  </p:childTnLst>
                                </p:cTn>
                              </p:par>
                              <p:par>
                                <p:cTn id="3520" presetID="22" presetClass="entr" presetSubtype="8" fill="hold" nodeType="withEffect">
                                  <p:stCondLst>
                                    <p:cond delay="760"/>
                                  </p:stCondLst>
                                  <p:childTnLst>
                                    <p:set>
                                      <p:cBhvr>
                                        <p:cTn id="3521" dur="1" fill="hold">
                                          <p:stCondLst>
                                            <p:cond delay="0"/>
                                          </p:stCondLst>
                                        </p:cTn>
                                        <p:tgtEl>
                                          <p:spTgt spid="37"/>
                                        </p:tgtEl>
                                        <p:attrNameLst>
                                          <p:attrName>style.visibility</p:attrName>
                                        </p:attrNameLst>
                                      </p:cBhvr>
                                      <p:to>
                                        <p:strVal val="visible"/>
                                      </p:to>
                                    </p:set>
                                    <p:animEffect transition="in" filter="wipe(left)">
                                      <p:cBhvr>
                                        <p:cTn id="3522" dur="500"/>
                                        <p:tgtEl>
                                          <p:spTgt spid="37"/>
                                        </p:tgtEl>
                                      </p:cBhvr>
                                    </p:animEffect>
                                  </p:childTnLst>
                                </p:cTn>
                              </p:par>
                              <p:par>
                                <p:cTn id="3523" presetID="22" presetClass="entr" presetSubtype="8" fill="hold" nodeType="withEffect">
                                  <p:stCondLst>
                                    <p:cond delay="830"/>
                                  </p:stCondLst>
                                  <p:childTnLst>
                                    <p:set>
                                      <p:cBhvr>
                                        <p:cTn id="3524" dur="1" fill="hold">
                                          <p:stCondLst>
                                            <p:cond delay="0"/>
                                          </p:stCondLst>
                                        </p:cTn>
                                        <p:tgtEl>
                                          <p:spTgt spid="51"/>
                                        </p:tgtEl>
                                        <p:attrNameLst>
                                          <p:attrName>style.visibility</p:attrName>
                                        </p:attrNameLst>
                                      </p:cBhvr>
                                      <p:to>
                                        <p:strVal val="visible"/>
                                      </p:to>
                                    </p:set>
                                    <p:animEffect transition="in" filter="wipe(left)">
                                      <p:cBhvr>
                                        <p:cTn id="3525" dur="500"/>
                                        <p:tgtEl>
                                          <p:spTgt spid="51"/>
                                        </p:tgtEl>
                                      </p:cBhvr>
                                    </p:animEffect>
                                  </p:childTnLst>
                                </p:cTn>
                              </p:par>
                              <p:par>
                                <p:cTn id="3526" presetID="22" presetClass="entr" presetSubtype="8" fill="hold" nodeType="withEffect">
                                  <p:stCondLst>
                                    <p:cond delay="900"/>
                                  </p:stCondLst>
                                  <p:childTnLst>
                                    <p:set>
                                      <p:cBhvr>
                                        <p:cTn id="3527" dur="1" fill="hold">
                                          <p:stCondLst>
                                            <p:cond delay="0"/>
                                          </p:stCondLst>
                                        </p:cTn>
                                        <p:tgtEl>
                                          <p:spTgt spid="52"/>
                                        </p:tgtEl>
                                        <p:attrNameLst>
                                          <p:attrName>style.visibility</p:attrName>
                                        </p:attrNameLst>
                                      </p:cBhvr>
                                      <p:to>
                                        <p:strVal val="visible"/>
                                      </p:to>
                                    </p:set>
                                    <p:animEffect transition="in" filter="wipe(left)">
                                      <p:cBhvr>
                                        <p:cTn id="3528" dur="500"/>
                                        <p:tgtEl>
                                          <p:spTgt spid="52"/>
                                        </p:tgtEl>
                                      </p:cBhvr>
                                    </p:animEffect>
                                  </p:childTnLst>
                                </p:cTn>
                              </p:par>
                            </p:childTnLst>
                          </p:cTn>
                        </p:par>
                      </p:childTnLst>
                    </p:cTn>
                  </p:par>
                  <p:par>
                    <p:cTn id="3588" fill="hold">
                      <p:stCondLst>
                        <p:cond delay="indefinite"/>
                      </p:stCondLst>
                      <p:childTnLst>
                        <p:par>
                          <p:cTn id="3589" fill="hold">
                            <p:stCondLst>
                              <p:cond delay="0"/>
                            </p:stCondLst>
                            <p:childTnLst>
                              <p:par>
                                <p:cTn id="3531" presetID="10" presetClass="exit" presetSubtype="0" fill="hold" nodeType="clickEffect">
                                  <p:stCondLst>
                                    <p:cond delay="0"/>
                                  </p:stCondLst>
                                  <p:childTnLst>
                                    <p:animEffect transition="out" filter="fade">
                                      <p:cBhvr>
                                        <p:cTn id="3532" dur="400"/>
                                        <p:tgtEl>
                                          <p:spTgt spid="29"/>
                                        </p:tgtEl>
                                      </p:cBhvr>
                                    </p:animEffect>
                                    <p:set>
                                      <p:cBhvr>
                                        <p:cTn id="3533" dur="1" fill="hold">
                                          <p:stCondLst>
                                            <p:cond delay="399"/>
                                          </p:stCondLst>
                                        </p:cTn>
                                        <p:tgtEl>
                                          <p:spTgt spid="29"/>
                                        </p:tgtEl>
                                        <p:attrNameLst>
                                          <p:attrName>style.visibility</p:attrName>
                                        </p:attrNameLst>
                                      </p:cBhvr>
                                      <p:to>
                                        <p:strVal val="hidden"/>
                                      </p:to>
                                    </p:set>
                                  </p:childTnLst>
                                </p:cTn>
                              </p:par>
                              <p:par>
                                <p:cTn id="3534" presetID="10" presetClass="exit" presetSubtype="0" fill="hold" nodeType="withEffect">
                                  <p:stCondLst>
                                    <p:cond delay="0"/>
                                  </p:stCondLst>
                                  <p:childTnLst>
                                    <p:animEffect transition="out" filter="fade">
                                      <p:cBhvr>
                                        <p:cTn id="3535" dur="400"/>
                                        <p:tgtEl>
                                          <p:spTgt spid="30"/>
                                        </p:tgtEl>
                                      </p:cBhvr>
                                    </p:animEffect>
                                    <p:set>
                                      <p:cBhvr>
                                        <p:cTn id="3536" dur="1" fill="hold">
                                          <p:stCondLst>
                                            <p:cond delay="399"/>
                                          </p:stCondLst>
                                        </p:cTn>
                                        <p:tgtEl>
                                          <p:spTgt spid="30"/>
                                        </p:tgtEl>
                                        <p:attrNameLst>
                                          <p:attrName>style.visibility</p:attrName>
                                        </p:attrNameLst>
                                      </p:cBhvr>
                                      <p:to>
                                        <p:strVal val="hidden"/>
                                      </p:to>
                                    </p:set>
                                  </p:childTnLst>
                                </p:cTn>
                              </p:par>
                              <p:par>
                                <p:cTn id="3537" presetID="10" presetClass="exit" presetSubtype="0" fill="hold" nodeType="withEffect">
                                  <p:stCondLst>
                                    <p:cond delay="0"/>
                                  </p:stCondLst>
                                  <p:childTnLst>
                                    <p:animEffect transition="out" filter="fade">
                                      <p:cBhvr>
                                        <p:cTn id="3538" dur="400"/>
                                        <p:tgtEl>
                                          <p:spTgt spid="31"/>
                                        </p:tgtEl>
                                      </p:cBhvr>
                                    </p:animEffect>
                                    <p:set>
                                      <p:cBhvr>
                                        <p:cTn id="3539" dur="1" fill="hold">
                                          <p:stCondLst>
                                            <p:cond delay="399"/>
                                          </p:stCondLst>
                                        </p:cTn>
                                        <p:tgtEl>
                                          <p:spTgt spid="31"/>
                                        </p:tgtEl>
                                        <p:attrNameLst>
                                          <p:attrName>style.visibility</p:attrName>
                                        </p:attrNameLst>
                                      </p:cBhvr>
                                      <p:to>
                                        <p:strVal val="hidden"/>
                                      </p:to>
                                    </p:set>
                                  </p:childTnLst>
                                </p:cTn>
                              </p:par>
                              <p:par>
                                <p:cTn id="3540" presetID="10" presetClass="exit" presetSubtype="0" fill="hold" nodeType="withEffect">
                                  <p:stCondLst>
                                    <p:cond delay="0"/>
                                  </p:stCondLst>
                                  <p:childTnLst>
                                    <p:animEffect transition="out" filter="fade">
                                      <p:cBhvr>
                                        <p:cTn id="3541" dur="400"/>
                                        <p:tgtEl>
                                          <p:spTgt spid="32"/>
                                        </p:tgtEl>
                                      </p:cBhvr>
                                    </p:animEffect>
                                    <p:set>
                                      <p:cBhvr>
                                        <p:cTn id="3542" dur="1" fill="hold">
                                          <p:stCondLst>
                                            <p:cond delay="399"/>
                                          </p:stCondLst>
                                        </p:cTn>
                                        <p:tgtEl>
                                          <p:spTgt spid="32"/>
                                        </p:tgtEl>
                                        <p:attrNameLst>
                                          <p:attrName>style.visibility</p:attrName>
                                        </p:attrNameLst>
                                      </p:cBhvr>
                                      <p:to>
                                        <p:strVal val="hidden"/>
                                      </p:to>
                                    </p:set>
                                  </p:childTnLst>
                                </p:cTn>
                              </p:par>
                              <p:par>
                                <p:cTn id="3543" presetID="10" presetClass="exit" presetSubtype="0" fill="hold" nodeType="withEffect">
                                  <p:stCondLst>
                                    <p:cond delay="0"/>
                                  </p:stCondLst>
                                  <p:childTnLst>
                                    <p:animEffect transition="out" filter="fade">
                                      <p:cBhvr>
                                        <p:cTn id="3544" dur="400"/>
                                        <p:tgtEl>
                                          <p:spTgt spid="33"/>
                                        </p:tgtEl>
                                      </p:cBhvr>
                                    </p:animEffect>
                                    <p:set>
                                      <p:cBhvr>
                                        <p:cTn id="3545" dur="1" fill="hold">
                                          <p:stCondLst>
                                            <p:cond delay="399"/>
                                          </p:stCondLst>
                                        </p:cTn>
                                        <p:tgtEl>
                                          <p:spTgt spid="33"/>
                                        </p:tgtEl>
                                        <p:attrNameLst>
                                          <p:attrName>style.visibility</p:attrName>
                                        </p:attrNameLst>
                                      </p:cBhvr>
                                      <p:to>
                                        <p:strVal val="hidden"/>
                                      </p:to>
                                    </p:set>
                                  </p:childTnLst>
                                </p:cTn>
                              </p:par>
                              <p:par>
                                <p:cTn id="3546" presetID="10" presetClass="exit" presetSubtype="0" fill="hold" nodeType="withEffect">
                                  <p:stCondLst>
                                    <p:cond delay="0"/>
                                  </p:stCondLst>
                                  <p:childTnLst>
                                    <p:animEffect transition="out" filter="fade">
                                      <p:cBhvr>
                                        <p:cTn id="3547" dur="400"/>
                                        <p:tgtEl>
                                          <p:spTgt spid="34"/>
                                        </p:tgtEl>
                                      </p:cBhvr>
                                    </p:animEffect>
                                    <p:set>
                                      <p:cBhvr>
                                        <p:cTn id="3548" dur="1" fill="hold">
                                          <p:stCondLst>
                                            <p:cond delay="399"/>
                                          </p:stCondLst>
                                        </p:cTn>
                                        <p:tgtEl>
                                          <p:spTgt spid="34"/>
                                        </p:tgtEl>
                                        <p:attrNameLst>
                                          <p:attrName>style.visibility</p:attrName>
                                        </p:attrNameLst>
                                      </p:cBhvr>
                                      <p:to>
                                        <p:strVal val="hidden"/>
                                      </p:to>
                                    </p:set>
                                  </p:childTnLst>
                                </p:cTn>
                              </p:par>
                              <p:par>
                                <p:cTn id="3549" presetID="10" presetClass="exit" presetSubtype="0" fill="hold" nodeType="withEffect">
                                  <p:stCondLst>
                                    <p:cond delay="0"/>
                                  </p:stCondLst>
                                  <p:childTnLst>
                                    <p:animEffect transition="out" filter="fade">
                                      <p:cBhvr>
                                        <p:cTn id="3550" dur="400"/>
                                        <p:tgtEl>
                                          <p:spTgt spid="35"/>
                                        </p:tgtEl>
                                      </p:cBhvr>
                                    </p:animEffect>
                                    <p:set>
                                      <p:cBhvr>
                                        <p:cTn id="3551" dur="1" fill="hold">
                                          <p:stCondLst>
                                            <p:cond delay="399"/>
                                          </p:stCondLst>
                                        </p:cTn>
                                        <p:tgtEl>
                                          <p:spTgt spid="35"/>
                                        </p:tgtEl>
                                        <p:attrNameLst>
                                          <p:attrName>style.visibility</p:attrName>
                                        </p:attrNameLst>
                                      </p:cBhvr>
                                      <p:to>
                                        <p:strVal val="hidden"/>
                                      </p:to>
                                    </p:set>
                                  </p:childTnLst>
                                </p:cTn>
                              </p:par>
                              <p:par>
                                <p:cTn id="3552" presetID="10" presetClass="exit" presetSubtype="0" fill="hold" nodeType="withEffect">
                                  <p:stCondLst>
                                    <p:cond delay="0"/>
                                  </p:stCondLst>
                                  <p:childTnLst>
                                    <p:animEffect transition="out" filter="fade">
                                      <p:cBhvr>
                                        <p:cTn id="3553" dur="400"/>
                                        <p:tgtEl>
                                          <p:spTgt spid="36"/>
                                        </p:tgtEl>
                                      </p:cBhvr>
                                    </p:animEffect>
                                    <p:set>
                                      <p:cBhvr>
                                        <p:cTn id="3554" dur="1" fill="hold">
                                          <p:stCondLst>
                                            <p:cond delay="399"/>
                                          </p:stCondLst>
                                        </p:cTn>
                                        <p:tgtEl>
                                          <p:spTgt spid="36"/>
                                        </p:tgtEl>
                                        <p:attrNameLst>
                                          <p:attrName>style.visibility</p:attrName>
                                        </p:attrNameLst>
                                      </p:cBhvr>
                                      <p:to>
                                        <p:strVal val="hidden"/>
                                      </p:to>
                                    </p:set>
                                  </p:childTnLst>
                                </p:cTn>
                              </p:par>
                              <p:par>
                                <p:cTn id="3555" presetID="10" presetClass="exit" presetSubtype="0" fill="hold" nodeType="withEffect">
                                  <p:stCondLst>
                                    <p:cond delay="0"/>
                                  </p:stCondLst>
                                  <p:childTnLst>
                                    <p:animEffect transition="out" filter="fade">
                                      <p:cBhvr>
                                        <p:cTn id="3556" dur="400"/>
                                        <p:tgtEl>
                                          <p:spTgt spid="37"/>
                                        </p:tgtEl>
                                      </p:cBhvr>
                                    </p:animEffect>
                                    <p:set>
                                      <p:cBhvr>
                                        <p:cTn id="3557" dur="1" fill="hold">
                                          <p:stCondLst>
                                            <p:cond delay="399"/>
                                          </p:stCondLst>
                                        </p:cTn>
                                        <p:tgtEl>
                                          <p:spTgt spid="37"/>
                                        </p:tgtEl>
                                        <p:attrNameLst>
                                          <p:attrName>style.visibility</p:attrName>
                                        </p:attrNameLst>
                                      </p:cBhvr>
                                      <p:to>
                                        <p:strVal val="hidden"/>
                                      </p:to>
                                    </p:set>
                                  </p:childTnLst>
                                </p:cTn>
                              </p:par>
                              <p:par>
                                <p:cTn id="3558" presetID="10" presetClass="exit" presetSubtype="0" fill="hold" nodeType="withEffect">
                                  <p:stCondLst>
                                    <p:cond delay="0"/>
                                  </p:stCondLst>
                                  <p:childTnLst>
                                    <p:animEffect transition="out" filter="fade">
                                      <p:cBhvr>
                                        <p:cTn id="3559" dur="400"/>
                                        <p:tgtEl>
                                          <p:spTgt spid="51"/>
                                        </p:tgtEl>
                                      </p:cBhvr>
                                    </p:animEffect>
                                    <p:set>
                                      <p:cBhvr>
                                        <p:cTn id="3560" dur="1" fill="hold">
                                          <p:stCondLst>
                                            <p:cond delay="399"/>
                                          </p:stCondLst>
                                        </p:cTn>
                                        <p:tgtEl>
                                          <p:spTgt spid="51"/>
                                        </p:tgtEl>
                                        <p:attrNameLst>
                                          <p:attrName>style.visibility</p:attrName>
                                        </p:attrNameLst>
                                      </p:cBhvr>
                                      <p:to>
                                        <p:strVal val="hidden"/>
                                      </p:to>
                                    </p:set>
                                  </p:childTnLst>
                                </p:cTn>
                              </p:par>
                              <p:par>
                                <p:cTn id="3561" presetID="10" presetClass="exit" presetSubtype="0" fill="hold" nodeType="withEffect">
                                  <p:stCondLst>
                                    <p:cond delay="0"/>
                                  </p:stCondLst>
                                  <p:childTnLst>
                                    <p:animEffect transition="out" filter="fade">
                                      <p:cBhvr>
                                        <p:cTn id="3562" dur="400"/>
                                        <p:tgtEl>
                                          <p:spTgt spid="52"/>
                                        </p:tgtEl>
                                      </p:cBhvr>
                                    </p:animEffect>
                                    <p:set>
                                      <p:cBhvr>
                                        <p:cTn id="3563" dur="1" fill="hold">
                                          <p:stCondLst>
                                            <p:cond delay="399"/>
                                          </p:stCondLst>
                                        </p:cTn>
                                        <p:tgtEl>
                                          <p:spTgt spid="52"/>
                                        </p:tgtEl>
                                        <p:attrNameLst>
                                          <p:attrName>style.visibility</p:attrName>
                                        </p:attrNameLst>
                                      </p:cBhvr>
                                      <p:to>
                                        <p:strVal val="hidden"/>
                                      </p:to>
                                    </p:set>
                                  </p:childTnLst>
                                </p:cTn>
                              </p:par>
                              <p:par>
                                <p:cTn id="3564" presetID="22" presetClass="entr" presetSubtype="4" fill="hold" nodeType="withEffect">
                                  <p:stCondLst>
                                    <p:cond delay="200"/>
                                  </p:stCondLst>
                                  <p:childTnLst>
                                    <p:set>
                                      <p:cBhvr>
                                        <p:cTn id="3565" dur="1" fill="hold">
                                          <p:stCondLst>
                                            <p:cond delay="0"/>
                                          </p:stCondLst>
                                        </p:cTn>
                                        <p:tgtEl>
                                          <p:spTgt spid="38"/>
                                        </p:tgtEl>
                                        <p:attrNameLst>
                                          <p:attrName>style.visibility</p:attrName>
                                        </p:attrNameLst>
                                      </p:cBhvr>
                                      <p:to>
                                        <p:strVal val="visible"/>
                                      </p:to>
                                    </p:set>
                                    <p:animEffect transition="in" filter="wipe(down)">
                                      <p:cBhvr>
                                        <p:cTn id="3566" dur="500"/>
                                        <p:tgtEl>
                                          <p:spTgt spid="38"/>
                                        </p:tgtEl>
                                      </p:cBhvr>
                                    </p:animEffect>
                                  </p:childTnLst>
                                </p:cTn>
                              </p:par>
                              <p:par>
                                <p:cTn id="3567" presetID="22" presetClass="entr" presetSubtype="4" fill="hold" nodeType="withEffect">
                                  <p:stCondLst>
                                    <p:cond delay="270"/>
                                  </p:stCondLst>
                                  <p:childTnLst>
                                    <p:set>
                                      <p:cBhvr>
                                        <p:cTn id="3568" dur="1" fill="hold">
                                          <p:stCondLst>
                                            <p:cond delay="0"/>
                                          </p:stCondLst>
                                        </p:cTn>
                                        <p:tgtEl>
                                          <p:spTgt spid="39"/>
                                        </p:tgtEl>
                                        <p:attrNameLst>
                                          <p:attrName>style.visibility</p:attrName>
                                        </p:attrNameLst>
                                      </p:cBhvr>
                                      <p:to>
                                        <p:strVal val="visible"/>
                                      </p:to>
                                    </p:set>
                                    <p:animEffect transition="in" filter="wipe(down)">
                                      <p:cBhvr>
                                        <p:cTn id="3569" dur="500"/>
                                        <p:tgtEl>
                                          <p:spTgt spid="39"/>
                                        </p:tgtEl>
                                      </p:cBhvr>
                                    </p:animEffect>
                                  </p:childTnLst>
                                </p:cTn>
                              </p:par>
                              <p:par>
                                <p:cTn id="3570" presetID="22" presetClass="entr" presetSubtype="4" fill="hold" nodeType="withEffect">
                                  <p:stCondLst>
                                    <p:cond delay="340"/>
                                  </p:stCondLst>
                                  <p:childTnLst>
                                    <p:set>
                                      <p:cBhvr>
                                        <p:cTn id="3571" dur="1" fill="hold">
                                          <p:stCondLst>
                                            <p:cond delay="0"/>
                                          </p:stCondLst>
                                        </p:cTn>
                                        <p:tgtEl>
                                          <p:spTgt spid="40"/>
                                        </p:tgtEl>
                                        <p:attrNameLst>
                                          <p:attrName>style.visibility</p:attrName>
                                        </p:attrNameLst>
                                      </p:cBhvr>
                                      <p:to>
                                        <p:strVal val="visible"/>
                                      </p:to>
                                    </p:set>
                                    <p:animEffect transition="in" filter="wipe(down)">
                                      <p:cBhvr>
                                        <p:cTn id="3572" dur="500"/>
                                        <p:tgtEl>
                                          <p:spTgt spid="40"/>
                                        </p:tgtEl>
                                      </p:cBhvr>
                                    </p:animEffect>
                                  </p:childTnLst>
                                </p:cTn>
                              </p:par>
                              <p:par>
                                <p:cTn id="3573" presetID="22" presetClass="entr" presetSubtype="4" fill="hold" nodeType="withEffect">
                                  <p:stCondLst>
                                    <p:cond delay="410"/>
                                  </p:stCondLst>
                                  <p:childTnLst>
                                    <p:set>
                                      <p:cBhvr>
                                        <p:cTn id="3574" dur="1" fill="hold">
                                          <p:stCondLst>
                                            <p:cond delay="0"/>
                                          </p:stCondLst>
                                        </p:cTn>
                                        <p:tgtEl>
                                          <p:spTgt spid="41"/>
                                        </p:tgtEl>
                                        <p:attrNameLst>
                                          <p:attrName>style.visibility</p:attrName>
                                        </p:attrNameLst>
                                      </p:cBhvr>
                                      <p:to>
                                        <p:strVal val="visible"/>
                                      </p:to>
                                    </p:set>
                                    <p:animEffect transition="in" filter="wipe(down)">
                                      <p:cBhvr>
                                        <p:cTn id="3575" dur="500"/>
                                        <p:tgtEl>
                                          <p:spTgt spid="41"/>
                                        </p:tgtEl>
                                      </p:cBhvr>
                                    </p:animEffect>
                                  </p:childTnLst>
                                </p:cTn>
                              </p:par>
                              <p:par>
                                <p:cTn id="3576" presetID="22" presetClass="entr" presetSubtype="4" fill="hold" nodeType="withEffect">
                                  <p:stCondLst>
                                    <p:cond delay="480"/>
                                  </p:stCondLst>
                                  <p:childTnLst>
                                    <p:set>
                                      <p:cBhvr>
                                        <p:cTn id="3577" dur="1" fill="hold">
                                          <p:stCondLst>
                                            <p:cond delay="0"/>
                                          </p:stCondLst>
                                        </p:cTn>
                                        <p:tgtEl>
                                          <p:spTgt spid="42"/>
                                        </p:tgtEl>
                                        <p:attrNameLst>
                                          <p:attrName>style.visibility</p:attrName>
                                        </p:attrNameLst>
                                      </p:cBhvr>
                                      <p:to>
                                        <p:strVal val="visible"/>
                                      </p:to>
                                    </p:set>
                                    <p:animEffect transition="in" filter="wipe(down)">
                                      <p:cBhvr>
                                        <p:cTn id="3578" dur="500"/>
                                        <p:tgtEl>
                                          <p:spTgt spid="42"/>
                                        </p:tgtEl>
                                      </p:cBhvr>
                                    </p:animEffect>
                                  </p:childTnLst>
                                </p:cTn>
                              </p:par>
                              <p:par>
                                <p:cTn id="3579" presetID="22" presetClass="entr" presetSubtype="4" fill="hold" nodeType="withEffect">
                                  <p:stCondLst>
                                    <p:cond delay="550"/>
                                  </p:stCondLst>
                                  <p:childTnLst>
                                    <p:set>
                                      <p:cBhvr>
                                        <p:cTn id="3580" dur="1" fill="hold">
                                          <p:stCondLst>
                                            <p:cond delay="0"/>
                                          </p:stCondLst>
                                        </p:cTn>
                                        <p:tgtEl>
                                          <p:spTgt spid="43"/>
                                        </p:tgtEl>
                                        <p:attrNameLst>
                                          <p:attrName>style.visibility</p:attrName>
                                        </p:attrNameLst>
                                      </p:cBhvr>
                                      <p:to>
                                        <p:strVal val="visible"/>
                                      </p:to>
                                    </p:set>
                                    <p:animEffect transition="in" filter="wipe(down)">
                                      <p:cBhvr>
                                        <p:cTn id="3581" dur="500"/>
                                        <p:tgtEl>
                                          <p:spTgt spid="43"/>
                                        </p:tgtEl>
                                      </p:cBhvr>
                                    </p:animEffect>
                                  </p:childTnLst>
                                </p:cTn>
                              </p:par>
                              <p:par>
                                <p:cTn id="3582" presetID="22" presetClass="entr" presetSubtype="4" fill="hold" nodeType="withEffect">
                                  <p:stCondLst>
                                    <p:cond delay="620"/>
                                  </p:stCondLst>
                                  <p:childTnLst>
                                    <p:set>
                                      <p:cBhvr>
                                        <p:cTn id="3583" dur="1" fill="hold">
                                          <p:stCondLst>
                                            <p:cond delay="0"/>
                                          </p:stCondLst>
                                        </p:cTn>
                                        <p:tgtEl>
                                          <p:spTgt spid="53"/>
                                        </p:tgtEl>
                                        <p:attrNameLst>
                                          <p:attrName>style.visibility</p:attrName>
                                        </p:attrNameLst>
                                      </p:cBhvr>
                                      <p:to>
                                        <p:strVal val="visible"/>
                                      </p:to>
                                    </p:set>
                                    <p:animEffect transition="in" filter="wipe(down)">
                                      <p:cBhvr>
                                        <p:cTn id="3584" dur="500"/>
                                        <p:tgtEl>
                                          <p:spTgt spid="53"/>
                                        </p:tgtEl>
                                      </p:cBhvr>
                                    </p:animEffect>
                                  </p:childTnLst>
                                </p:cTn>
                              </p:par>
                              <p:par>
                                <p:cTn id="3585" presetID="22" presetClass="entr" presetSubtype="4" fill="hold" nodeType="withEffect">
                                  <p:stCondLst>
                                    <p:cond delay="690"/>
                                  </p:stCondLst>
                                  <p:childTnLst>
                                    <p:set>
                                      <p:cBhvr>
                                        <p:cTn id="3586" dur="1" fill="hold">
                                          <p:stCondLst>
                                            <p:cond delay="0"/>
                                          </p:stCondLst>
                                        </p:cTn>
                                        <p:tgtEl>
                                          <p:spTgt spid="54"/>
                                        </p:tgtEl>
                                        <p:attrNameLst>
                                          <p:attrName>style.visibility</p:attrName>
                                        </p:attrNameLst>
                                      </p:cBhvr>
                                      <p:to>
                                        <p:strVal val="visible"/>
                                      </p:to>
                                    </p:set>
                                    <p:animEffect transition="in" filter="wipe(down)">
                                      <p:cBhvr>
                                        <p:cTn id="3587" dur="500"/>
                                        <p:tgtEl>
                                          <p:spTgt spid="54"/>
                                        </p:tgtEl>
                                      </p:cBhvr>
                                    </p:animEffect>
                                  </p:childTnLst>
                                </p:cTn>
                              </p:par>
                            </p:childTnLst>
                          </p:cTn>
                        </p:par>
                      </p:childTnLst>
                    </p:cTn>
                  </p:par>
                  <p:par>
                    <p:cTn id="3626" fill="hold">
                      <p:stCondLst>
                        <p:cond delay="indefinite"/>
                      </p:stCondLst>
                      <p:childTnLst>
                        <p:par>
                          <p:cTn id="3627" fill="hold">
                            <p:stCondLst>
                              <p:cond delay="0"/>
                            </p:stCondLst>
                            <p:childTnLst>
                              <p:par>
                                <p:cTn id="3590" presetID="10" presetClass="exit" presetSubtype="0" fill="hold" nodeType="clickEffect">
                                  <p:stCondLst>
                                    <p:cond delay="0"/>
                                  </p:stCondLst>
                                  <p:childTnLst>
                                    <p:animEffect transition="out" filter="fade">
                                      <p:cBhvr>
                                        <p:cTn id="3591" dur="400"/>
                                        <p:tgtEl>
                                          <p:spTgt spid="38"/>
                                        </p:tgtEl>
                                      </p:cBhvr>
                                    </p:animEffect>
                                    <p:set>
                                      <p:cBhvr>
                                        <p:cTn id="3592" dur="1" fill="hold">
                                          <p:stCondLst>
                                            <p:cond delay="399"/>
                                          </p:stCondLst>
                                        </p:cTn>
                                        <p:tgtEl>
                                          <p:spTgt spid="38"/>
                                        </p:tgtEl>
                                        <p:attrNameLst>
                                          <p:attrName>style.visibility</p:attrName>
                                        </p:attrNameLst>
                                      </p:cBhvr>
                                      <p:to>
                                        <p:strVal val="hidden"/>
                                      </p:to>
                                    </p:set>
                                  </p:childTnLst>
                                </p:cTn>
                              </p:par>
                              <p:par>
                                <p:cTn id="3593" presetID="10" presetClass="exit" presetSubtype="0" fill="hold" nodeType="withEffect">
                                  <p:stCondLst>
                                    <p:cond delay="0"/>
                                  </p:stCondLst>
                                  <p:childTnLst>
                                    <p:animEffect transition="out" filter="fade">
                                      <p:cBhvr>
                                        <p:cTn id="3594" dur="400"/>
                                        <p:tgtEl>
                                          <p:spTgt spid="39"/>
                                        </p:tgtEl>
                                      </p:cBhvr>
                                    </p:animEffect>
                                    <p:set>
                                      <p:cBhvr>
                                        <p:cTn id="3595" dur="1" fill="hold">
                                          <p:stCondLst>
                                            <p:cond delay="399"/>
                                          </p:stCondLst>
                                        </p:cTn>
                                        <p:tgtEl>
                                          <p:spTgt spid="39"/>
                                        </p:tgtEl>
                                        <p:attrNameLst>
                                          <p:attrName>style.visibility</p:attrName>
                                        </p:attrNameLst>
                                      </p:cBhvr>
                                      <p:to>
                                        <p:strVal val="hidden"/>
                                      </p:to>
                                    </p:set>
                                  </p:childTnLst>
                                </p:cTn>
                              </p:par>
                              <p:par>
                                <p:cTn id="3596" presetID="10" presetClass="exit" presetSubtype="0" fill="hold" nodeType="withEffect">
                                  <p:stCondLst>
                                    <p:cond delay="0"/>
                                  </p:stCondLst>
                                  <p:childTnLst>
                                    <p:animEffect transition="out" filter="fade">
                                      <p:cBhvr>
                                        <p:cTn id="3597" dur="400"/>
                                        <p:tgtEl>
                                          <p:spTgt spid="40"/>
                                        </p:tgtEl>
                                      </p:cBhvr>
                                    </p:animEffect>
                                    <p:set>
                                      <p:cBhvr>
                                        <p:cTn id="3598" dur="1" fill="hold">
                                          <p:stCondLst>
                                            <p:cond delay="399"/>
                                          </p:stCondLst>
                                        </p:cTn>
                                        <p:tgtEl>
                                          <p:spTgt spid="40"/>
                                        </p:tgtEl>
                                        <p:attrNameLst>
                                          <p:attrName>style.visibility</p:attrName>
                                        </p:attrNameLst>
                                      </p:cBhvr>
                                      <p:to>
                                        <p:strVal val="hidden"/>
                                      </p:to>
                                    </p:set>
                                  </p:childTnLst>
                                </p:cTn>
                              </p:par>
                              <p:par>
                                <p:cTn id="3599" presetID="10" presetClass="exit" presetSubtype="0" fill="hold" nodeType="withEffect">
                                  <p:stCondLst>
                                    <p:cond delay="0"/>
                                  </p:stCondLst>
                                  <p:childTnLst>
                                    <p:animEffect transition="out" filter="fade">
                                      <p:cBhvr>
                                        <p:cTn id="3600" dur="400"/>
                                        <p:tgtEl>
                                          <p:spTgt spid="41"/>
                                        </p:tgtEl>
                                      </p:cBhvr>
                                    </p:animEffect>
                                    <p:set>
                                      <p:cBhvr>
                                        <p:cTn id="3601" dur="1" fill="hold">
                                          <p:stCondLst>
                                            <p:cond delay="399"/>
                                          </p:stCondLst>
                                        </p:cTn>
                                        <p:tgtEl>
                                          <p:spTgt spid="41"/>
                                        </p:tgtEl>
                                        <p:attrNameLst>
                                          <p:attrName>style.visibility</p:attrName>
                                        </p:attrNameLst>
                                      </p:cBhvr>
                                      <p:to>
                                        <p:strVal val="hidden"/>
                                      </p:to>
                                    </p:set>
                                  </p:childTnLst>
                                </p:cTn>
                              </p:par>
                              <p:par>
                                <p:cTn id="3602" presetID="10" presetClass="exit" presetSubtype="0" fill="hold" nodeType="withEffect">
                                  <p:stCondLst>
                                    <p:cond delay="0"/>
                                  </p:stCondLst>
                                  <p:childTnLst>
                                    <p:animEffect transition="out" filter="fade">
                                      <p:cBhvr>
                                        <p:cTn id="3603" dur="400"/>
                                        <p:tgtEl>
                                          <p:spTgt spid="42"/>
                                        </p:tgtEl>
                                      </p:cBhvr>
                                    </p:animEffect>
                                    <p:set>
                                      <p:cBhvr>
                                        <p:cTn id="3604" dur="1" fill="hold">
                                          <p:stCondLst>
                                            <p:cond delay="399"/>
                                          </p:stCondLst>
                                        </p:cTn>
                                        <p:tgtEl>
                                          <p:spTgt spid="42"/>
                                        </p:tgtEl>
                                        <p:attrNameLst>
                                          <p:attrName>style.visibility</p:attrName>
                                        </p:attrNameLst>
                                      </p:cBhvr>
                                      <p:to>
                                        <p:strVal val="hidden"/>
                                      </p:to>
                                    </p:set>
                                  </p:childTnLst>
                                </p:cTn>
                              </p:par>
                              <p:par>
                                <p:cTn id="3605" presetID="10" presetClass="exit" presetSubtype="0" fill="hold" nodeType="withEffect">
                                  <p:stCondLst>
                                    <p:cond delay="0"/>
                                  </p:stCondLst>
                                  <p:childTnLst>
                                    <p:animEffect transition="out" filter="fade">
                                      <p:cBhvr>
                                        <p:cTn id="3606" dur="400"/>
                                        <p:tgtEl>
                                          <p:spTgt spid="43"/>
                                        </p:tgtEl>
                                      </p:cBhvr>
                                    </p:animEffect>
                                    <p:set>
                                      <p:cBhvr>
                                        <p:cTn id="3607" dur="1" fill="hold">
                                          <p:stCondLst>
                                            <p:cond delay="399"/>
                                          </p:stCondLst>
                                        </p:cTn>
                                        <p:tgtEl>
                                          <p:spTgt spid="43"/>
                                        </p:tgtEl>
                                        <p:attrNameLst>
                                          <p:attrName>style.visibility</p:attrName>
                                        </p:attrNameLst>
                                      </p:cBhvr>
                                      <p:to>
                                        <p:strVal val="hidden"/>
                                      </p:to>
                                    </p:set>
                                  </p:childTnLst>
                                </p:cTn>
                              </p:par>
                              <p:par>
                                <p:cTn id="3608" presetID="10" presetClass="exit" presetSubtype="0" fill="hold" nodeType="withEffect">
                                  <p:stCondLst>
                                    <p:cond delay="0"/>
                                  </p:stCondLst>
                                  <p:childTnLst>
                                    <p:animEffect transition="out" filter="fade">
                                      <p:cBhvr>
                                        <p:cTn id="3609" dur="400"/>
                                        <p:tgtEl>
                                          <p:spTgt spid="53"/>
                                        </p:tgtEl>
                                      </p:cBhvr>
                                    </p:animEffect>
                                    <p:set>
                                      <p:cBhvr>
                                        <p:cTn id="3610" dur="1" fill="hold">
                                          <p:stCondLst>
                                            <p:cond delay="399"/>
                                          </p:stCondLst>
                                        </p:cTn>
                                        <p:tgtEl>
                                          <p:spTgt spid="53"/>
                                        </p:tgtEl>
                                        <p:attrNameLst>
                                          <p:attrName>style.visibility</p:attrName>
                                        </p:attrNameLst>
                                      </p:cBhvr>
                                      <p:to>
                                        <p:strVal val="hidden"/>
                                      </p:to>
                                    </p:set>
                                  </p:childTnLst>
                                </p:cTn>
                              </p:par>
                              <p:par>
                                <p:cTn id="3611" presetID="10" presetClass="exit" presetSubtype="0" fill="hold" nodeType="withEffect">
                                  <p:stCondLst>
                                    <p:cond delay="0"/>
                                  </p:stCondLst>
                                  <p:childTnLst>
                                    <p:animEffect transition="out" filter="fade">
                                      <p:cBhvr>
                                        <p:cTn id="3612" dur="400"/>
                                        <p:tgtEl>
                                          <p:spTgt spid="54"/>
                                        </p:tgtEl>
                                      </p:cBhvr>
                                    </p:animEffect>
                                    <p:set>
                                      <p:cBhvr>
                                        <p:cTn id="3613" dur="1" fill="hold">
                                          <p:stCondLst>
                                            <p:cond delay="399"/>
                                          </p:stCondLst>
                                        </p:cTn>
                                        <p:tgtEl>
                                          <p:spTgt spid="54"/>
                                        </p:tgtEl>
                                        <p:attrNameLst>
                                          <p:attrName>style.visibility</p:attrName>
                                        </p:attrNameLst>
                                      </p:cBhvr>
                                      <p:to>
                                        <p:strVal val="hidden"/>
                                      </p:to>
                                    </p:set>
                                  </p:childTnLst>
                                </p:cTn>
                              </p:par>
                              <p:par>
                                <p:cTn id="3614" presetID="10" presetClass="entr" presetSubtype="0" fill="hold" nodeType="withEffect">
                                  <p:stCondLst>
                                    <p:cond delay="200"/>
                                  </p:stCondLst>
                                  <p:childTnLst>
                                    <p:set>
                                      <p:cBhvr>
                                        <p:cTn id="3615" dur="1" fill="hold">
                                          <p:stCondLst>
                                            <p:cond delay="0"/>
                                          </p:stCondLst>
                                        </p:cTn>
                                        <p:tgtEl>
                                          <p:spTgt spid="44"/>
                                        </p:tgtEl>
                                        <p:attrNameLst>
                                          <p:attrName>style.visibility</p:attrName>
                                        </p:attrNameLst>
                                      </p:cBhvr>
                                      <p:to>
                                        <p:strVal val="visible"/>
                                      </p:to>
                                    </p:set>
                                    <p:animEffect transition="in" filter="fade">
                                      <p:cBhvr>
                                        <p:cTn id="3616" dur="500"/>
                                        <p:tgtEl>
                                          <p:spTgt spid="44"/>
                                        </p:tgtEl>
                                      </p:cBhvr>
                                    </p:animEffect>
                                  </p:childTnLst>
                                </p:cTn>
                              </p:par>
                              <p:par>
                                <p:cTn id="3617" presetID="10" presetClass="entr" presetSubtype="0" fill="hold" nodeType="withEffect">
                                  <p:stCondLst>
                                    <p:cond delay="270"/>
                                  </p:stCondLst>
                                  <p:childTnLst>
                                    <p:set>
                                      <p:cBhvr>
                                        <p:cTn id="3618" dur="1" fill="hold">
                                          <p:stCondLst>
                                            <p:cond delay="0"/>
                                          </p:stCondLst>
                                        </p:cTn>
                                        <p:tgtEl>
                                          <p:spTgt spid="45"/>
                                        </p:tgtEl>
                                        <p:attrNameLst>
                                          <p:attrName>style.visibility</p:attrName>
                                        </p:attrNameLst>
                                      </p:cBhvr>
                                      <p:to>
                                        <p:strVal val="visible"/>
                                      </p:to>
                                    </p:set>
                                    <p:animEffect transition="in" filter="fade">
                                      <p:cBhvr>
                                        <p:cTn id="3619" dur="500"/>
                                        <p:tgtEl>
                                          <p:spTgt spid="45"/>
                                        </p:tgtEl>
                                      </p:cBhvr>
                                    </p:animEffect>
                                  </p:childTnLst>
                                </p:cTn>
                              </p:par>
                              <p:par>
                                <p:cTn id="3620" presetID="10" presetClass="entr" presetSubtype="0" fill="hold" nodeType="withEffect">
                                  <p:stCondLst>
                                    <p:cond delay="340"/>
                                  </p:stCondLst>
                                  <p:childTnLst>
                                    <p:set>
                                      <p:cBhvr>
                                        <p:cTn id="3621" dur="1" fill="hold">
                                          <p:stCondLst>
                                            <p:cond delay="0"/>
                                          </p:stCondLst>
                                        </p:cTn>
                                        <p:tgtEl>
                                          <p:spTgt spid="55"/>
                                        </p:tgtEl>
                                        <p:attrNameLst>
                                          <p:attrName>style.visibility</p:attrName>
                                        </p:attrNameLst>
                                      </p:cBhvr>
                                      <p:to>
                                        <p:strVal val="visible"/>
                                      </p:to>
                                    </p:set>
                                    <p:animEffect transition="in" filter="fade">
                                      <p:cBhvr>
                                        <p:cTn id="3622" dur="500"/>
                                        <p:tgtEl>
                                          <p:spTgt spid="55"/>
                                        </p:tgtEl>
                                      </p:cBhvr>
                                    </p:animEffect>
                                  </p:childTnLst>
                                </p:cTn>
                              </p:par>
                              <p:par>
                                <p:cTn id="3623" presetID="10" presetClass="entr" presetSubtype="0" fill="hold" nodeType="withEffect">
                                  <p:stCondLst>
                                    <p:cond delay="410"/>
                                  </p:stCondLst>
                                  <p:childTnLst>
                                    <p:set>
                                      <p:cBhvr>
                                        <p:cTn id="3624" dur="1" fill="hold">
                                          <p:stCondLst>
                                            <p:cond delay="0"/>
                                          </p:stCondLst>
                                        </p:cTn>
                                        <p:tgtEl>
                                          <p:spTgt spid="56"/>
                                        </p:tgtEl>
                                        <p:attrNameLst>
                                          <p:attrName>style.visibility</p:attrName>
                                        </p:attrNameLst>
                                      </p:cBhvr>
                                      <p:to>
                                        <p:strVal val="visible"/>
                                      </p:to>
                                    </p:set>
                                    <p:animEffect transition="in" filter="fade">
                                      <p:cBhvr>
                                        <p:cTn id="3625" dur="500"/>
                                        <p:tgtEl>
                                          <p:spTgt spid="56"/>
                                        </p:tgtEl>
                                      </p:cBhvr>
                                    </p:animEffect>
                                  </p:childTnLst>
                                </p:cTn>
                              </p:par>
                            </p:childTnLst>
                          </p:cTn>
                        </p:par>
                      </p:childTnLst>
                    </p:cTn>
                  </p:par>
                  <p:par>
                    <p:cTn id="3649" fill="hold">
                      <p:stCondLst>
                        <p:cond delay="indefinite"/>
                      </p:stCondLst>
                      <p:childTnLst>
                        <p:par>
                          <p:cTn id="3650" fill="hold">
                            <p:stCondLst>
                              <p:cond delay="0"/>
                            </p:stCondLst>
                            <p:childTnLst>
                              <p:par>
                                <p:cTn id="3628" presetID="10" presetClass="exit" presetSubtype="0" fill="hold" nodeType="clickEffect">
                                  <p:stCondLst>
                                    <p:cond delay="0"/>
                                  </p:stCondLst>
                                  <p:childTnLst>
                                    <p:animEffect transition="out" filter="fade">
                                      <p:cBhvr>
                                        <p:cTn id="3629" dur="400"/>
                                        <p:tgtEl>
                                          <p:spTgt spid="44"/>
                                        </p:tgtEl>
                                      </p:cBhvr>
                                    </p:animEffect>
                                    <p:set>
                                      <p:cBhvr>
                                        <p:cTn id="3630" dur="1" fill="hold">
                                          <p:stCondLst>
                                            <p:cond delay="399"/>
                                          </p:stCondLst>
                                        </p:cTn>
                                        <p:tgtEl>
                                          <p:spTgt spid="44"/>
                                        </p:tgtEl>
                                        <p:attrNameLst>
                                          <p:attrName>style.visibility</p:attrName>
                                        </p:attrNameLst>
                                      </p:cBhvr>
                                      <p:to>
                                        <p:strVal val="hidden"/>
                                      </p:to>
                                    </p:set>
                                  </p:childTnLst>
                                </p:cTn>
                              </p:par>
                              <p:par>
                                <p:cTn id="3631" presetID="10" presetClass="exit" presetSubtype="0" fill="hold" nodeType="withEffect">
                                  <p:stCondLst>
                                    <p:cond delay="0"/>
                                  </p:stCondLst>
                                  <p:childTnLst>
                                    <p:animEffect transition="out" filter="fade">
                                      <p:cBhvr>
                                        <p:cTn id="3632" dur="400"/>
                                        <p:tgtEl>
                                          <p:spTgt spid="45"/>
                                        </p:tgtEl>
                                      </p:cBhvr>
                                    </p:animEffect>
                                    <p:set>
                                      <p:cBhvr>
                                        <p:cTn id="3633" dur="1" fill="hold">
                                          <p:stCondLst>
                                            <p:cond delay="399"/>
                                          </p:stCondLst>
                                        </p:cTn>
                                        <p:tgtEl>
                                          <p:spTgt spid="45"/>
                                        </p:tgtEl>
                                        <p:attrNameLst>
                                          <p:attrName>style.visibility</p:attrName>
                                        </p:attrNameLst>
                                      </p:cBhvr>
                                      <p:to>
                                        <p:strVal val="hidden"/>
                                      </p:to>
                                    </p:set>
                                  </p:childTnLst>
                                </p:cTn>
                              </p:par>
                              <p:par>
                                <p:cTn id="3634" presetID="10" presetClass="exit" presetSubtype="0" fill="hold" nodeType="withEffect">
                                  <p:stCondLst>
                                    <p:cond delay="0"/>
                                  </p:stCondLst>
                                  <p:childTnLst>
                                    <p:animEffect transition="out" filter="fade">
                                      <p:cBhvr>
                                        <p:cTn id="3635" dur="400"/>
                                        <p:tgtEl>
                                          <p:spTgt spid="55"/>
                                        </p:tgtEl>
                                      </p:cBhvr>
                                    </p:animEffect>
                                    <p:set>
                                      <p:cBhvr>
                                        <p:cTn id="3636" dur="1" fill="hold">
                                          <p:stCondLst>
                                            <p:cond delay="399"/>
                                          </p:stCondLst>
                                        </p:cTn>
                                        <p:tgtEl>
                                          <p:spTgt spid="55"/>
                                        </p:tgtEl>
                                        <p:attrNameLst>
                                          <p:attrName>style.visibility</p:attrName>
                                        </p:attrNameLst>
                                      </p:cBhvr>
                                      <p:to>
                                        <p:strVal val="hidden"/>
                                      </p:to>
                                    </p:set>
                                  </p:childTnLst>
                                </p:cTn>
                              </p:par>
                              <p:par>
                                <p:cTn id="3637" presetID="10" presetClass="exit" presetSubtype="0" fill="hold" nodeType="withEffect">
                                  <p:stCondLst>
                                    <p:cond delay="0"/>
                                  </p:stCondLst>
                                  <p:childTnLst>
                                    <p:animEffect transition="out" filter="fade">
                                      <p:cBhvr>
                                        <p:cTn id="3638" dur="400"/>
                                        <p:tgtEl>
                                          <p:spTgt spid="56"/>
                                        </p:tgtEl>
                                      </p:cBhvr>
                                    </p:animEffect>
                                    <p:set>
                                      <p:cBhvr>
                                        <p:cTn id="3639" dur="1" fill="hold">
                                          <p:stCondLst>
                                            <p:cond delay="399"/>
                                          </p:stCondLst>
                                        </p:cTn>
                                        <p:tgtEl>
                                          <p:spTgt spid="56"/>
                                        </p:tgtEl>
                                        <p:attrNameLst>
                                          <p:attrName>style.visibility</p:attrName>
                                        </p:attrNameLst>
                                      </p:cBhvr>
                                      <p:to>
                                        <p:strVal val="hidden"/>
                                      </p:to>
                                    </p:set>
                                  </p:childTnLst>
                                </p:cTn>
                              </p:par>
                              <p:par>
                                <p:cTn id="3640" presetID="22" presetClass="entr" presetSubtype="8" fill="hold" nodeType="withEffect">
                                  <p:stCondLst>
                                    <p:cond delay="200"/>
                                  </p:stCondLst>
                                  <p:childTnLst>
                                    <p:set>
                                      <p:cBhvr>
                                        <p:cTn id="3641" dur="1" fill="hold">
                                          <p:stCondLst>
                                            <p:cond delay="0"/>
                                          </p:stCondLst>
                                        </p:cTn>
                                        <p:tgtEl>
                                          <p:spTgt spid="46"/>
                                        </p:tgtEl>
                                        <p:attrNameLst>
                                          <p:attrName>style.visibility</p:attrName>
                                        </p:attrNameLst>
                                      </p:cBhvr>
                                      <p:to>
                                        <p:strVal val="visible"/>
                                      </p:to>
                                    </p:set>
                                    <p:animEffect transition="in" filter="wipe(left)">
                                      <p:cBhvr>
                                        <p:cTn id="3642" dur="500"/>
                                        <p:tgtEl>
                                          <p:spTgt spid="46"/>
                                        </p:tgtEl>
                                      </p:cBhvr>
                                    </p:animEffect>
                                  </p:childTnLst>
                                </p:cTn>
                              </p:par>
                              <p:par>
                                <p:cTn id="3643" presetID="22" presetClass="entr" presetSubtype="8" fill="hold" nodeType="withEffect">
                                  <p:stCondLst>
                                    <p:cond delay="270"/>
                                  </p:stCondLst>
                                  <p:childTnLst>
                                    <p:set>
                                      <p:cBhvr>
                                        <p:cTn id="3644" dur="1" fill="hold">
                                          <p:stCondLst>
                                            <p:cond delay="0"/>
                                          </p:stCondLst>
                                        </p:cTn>
                                        <p:tgtEl>
                                          <p:spTgt spid="57"/>
                                        </p:tgtEl>
                                        <p:attrNameLst>
                                          <p:attrName>style.visibility</p:attrName>
                                        </p:attrNameLst>
                                      </p:cBhvr>
                                      <p:to>
                                        <p:strVal val="visible"/>
                                      </p:to>
                                    </p:set>
                                    <p:animEffect transition="in" filter="wipe(left)">
                                      <p:cBhvr>
                                        <p:cTn id="3645" dur="500"/>
                                        <p:tgtEl>
                                          <p:spTgt spid="57"/>
                                        </p:tgtEl>
                                      </p:cBhvr>
                                    </p:animEffect>
                                  </p:childTnLst>
                                </p:cTn>
                              </p:par>
                              <p:par>
                                <p:cTn id="3646" presetID="22" presetClass="entr" presetSubtype="8" fill="hold" nodeType="withEffect">
                                  <p:stCondLst>
                                    <p:cond delay="340"/>
                                  </p:stCondLst>
                                  <p:childTnLst>
                                    <p:set>
                                      <p:cBhvr>
                                        <p:cTn id="3647" dur="1" fill="hold">
                                          <p:stCondLst>
                                            <p:cond delay="0"/>
                                          </p:stCondLst>
                                        </p:cTn>
                                        <p:tgtEl>
                                          <p:spTgt spid="58"/>
                                        </p:tgtEl>
                                        <p:attrNameLst>
                                          <p:attrName>style.visibility</p:attrName>
                                        </p:attrNameLst>
                                      </p:cBhvr>
                                      <p:to>
                                        <p:strVal val="visible"/>
                                      </p:to>
                                    </p:set>
                                    <p:animEffect transition="in" filter="wipe(left)">
                                      <p:cBhvr>
                                        <p:cTn id="3648"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ruta PGA–ADC se midió y la calibración baja el offset residual</a:t>
            </a:r>
            <a:endParaRPr lang="en-US" sz="2200" dirty="0"/>
          </a:p>
        </p:txBody>
      </p:sp>
      <p:pic>
        <p:nvPicPr>
          <p:cNvPr id="3" name="Respuesta PGA-ADC [s0]" descr="Respuesta PGA–ADC medida: magnitud, fase y coherencia, junto al modelo, sus tolerancias y el rango del potenciómetro">    </p:cNvPr>
          <p:cNvPicPr>
            <a:picLocks noChangeAspect="1"/>
          </p:cNvPicPr>
          <p:nvPr/>
        </p:nvPicPr>
        <p:blipFill>
          <a:blip r:embed="rId1"/>
          <a:stretch>
            <a:fillRect/>
          </a:stretch>
        </p:blipFill>
        <p:spPr>
          <a:xfrm>
            <a:off x="886005" y="1601523"/>
            <a:ext cx="3525734" cy="2765925"/>
          </a:xfrm>
          <a:prstGeom prst="rect">
            <a:avLst/>
          </a:prstGeom>
        </p:spPr>
      </p:pic>
      <p:sp>
        <p:nvSpPr>
          <p:cNvPr id="4" name="Cuerpo [s0]"/>
          <p:cNvSpPr txBox="1"/>
          <p:nvPr/>
        </p:nvSpPr>
        <p:spPr>
          <a:xfrm>
            <a:off x="4572000" y="1641589"/>
            <a:ext cx="3605864" cy="2804561"/>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260" dirty="0"/>
          </a:p>
        </p:txBody>
      </p:sp>
      <p:pic>
        <p:nvPicPr>
          <p:cNvPr id="5" name="Ilustración de recorte [s1]" descr="Ilustración: salida de una etapa con offset, recortada en el límite de alimentación, y la misma salida con ajuste previo">    </p:cNvPr>
          <p:cNvPicPr>
            <a:picLocks noChangeAspect="1"/>
          </p:cNvPicPr>
          <p:nvPr/>
        </p:nvPicPr>
        <p:blipFill>
          <a:blip r:embed="rId2"/>
          <a:stretch>
            <a:fillRect/>
          </a:stretch>
        </p:blipFill>
        <p:spPr>
          <a:xfrm>
            <a:off x="1527048" y="1521393"/>
            <a:ext cx="5769383" cy="1923128"/>
          </a:xfrm>
          <a:prstGeom prst="rect">
            <a:avLst/>
          </a:prstGeom>
        </p:spPr>
      </p:pic>
      <p:sp>
        <p:nvSpPr>
          <p:cNvPr id="6" name="Cuerpo [s1]"/>
          <p:cNvSpPr txBox="1"/>
          <p:nvPr/>
        </p:nvSpPr>
        <p:spPr>
          <a:xfrm>
            <a:off x="966136" y="3484586"/>
            <a:ext cx="7211728" cy="1041694"/>
          </a:xfrm>
          <a:prstGeom prst="rect">
            <a:avLst/>
          </a:prstGeom>
          <a:noFill/>
          <a:ln/>
        </p:spPr>
        <p:txBody>
          <a:bodyPr wrap="square" lIns="0" tIns="0" rIns="0" bIns="0" rtlCol="0" anchor="t"/>
          <a:lstStyle/>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080" dirty="0"/>
          </a:p>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080" dirty="0"/>
          </a:p>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080" dirty="0"/>
          </a:p>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080" dirty="0"/>
          </a:p>
        </p:txBody>
      </p:sp>
      <p:sp>
        <p:nvSpPr>
          <p:cNvPr id="7" name="Fondo E_off [s2]"/>
          <p:cNvSpPr/>
          <p:nvPr/>
        </p:nvSpPr>
        <p:spPr>
          <a:xfrm>
            <a:off x="966136" y="1681654"/>
            <a:ext cx="7211728" cy="88143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8" name="Ecuación E_off [s2]"/>
              <p:cNvSpPr txBox="1"/>
              <p:nvPr/>
            </p:nvSpPr>
            <p:spPr>
              <a:xfrm>
                <a:off x="966136" y="1681654"/>
                <a:ext cx="7211728" cy="88143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200" i="1">
                              <a:latin typeface="Cambria Math" panose="02040503050406030204" pitchFamily="18" charset="0"/>
                            </a:rPr>
                          </m:ctrlPr>
                        </m:sSubSupPr>
                        <m:e>
                          <m:r>
                            <a:rPr lang="es-ES" sz="2200" i="1">
                              <a:solidFill>
                                <a:srgbClr val="1F4E79"/>
                              </a:solidFill>
                              <a:latin typeface="Cambria Math" panose="02040503050406030204" pitchFamily="18" charset="0"/>
                            </a:rPr>
                            <m:t xml:space="preserve">y</m:t>
                          </m:r>
                        </m:e>
                        <m:sub>
                          <m:r>
                            <a:rPr lang="es-ES" sz="2200" i="1">
                              <a:solidFill>
                                <a:srgbClr val="1F4E79"/>
                              </a:solidFill>
                              <a:latin typeface="Cambria Math" panose="02040503050406030204" pitchFamily="18" charset="0"/>
                            </a:rPr>
                            <m:t xml:space="preserve">i</m:t>
                          </m:r>
                        </m:sub>
                        <m:sup>
                          <m:r>
                            <m:rPr>
                              <m:sty m:val="p"/>
                            </m:rPr>
                            <a:rPr lang="es-ES" sz="2200">
                              <a:solidFill>
                                <a:srgbClr val="1F4E79"/>
                              </a:solidFill>
                              <a:latin typeface="Cambria Math" panose="02040503050406030204" pitchFamily="18" charset="0"/>
                            </a:rPr>
                            <m:t xml:space="preserve">DC</m:t>
                          </m:r>
                        </m:sup>
                      </m:sSubSup>
                      <m:r>
                        <a:rPr lang="es-ES" sz="2200" i="1">
                          <a:solidFill>
                            <a:srgbClr val="1F4E79"/>
                          </a:solidFill>
                          <a:latin typeface="Cambria Math" panose="02040503050406030204" pitchFamily="18" charset="0"/>
                        </a:rPr>
                        <m:t xml:space="preserve">=</m:t>
                      </m:r>
                      <m:nary>
                        <m:naryPr>
                          <m:chr m:val="∑"/>
                          <m:limLoc m:val="undOvr"/>
                          <m:supHide m:val="1"/>
                          <m:ctrlPr>
                            <a:rPr lang="es-ES" sz="2200" i="1">
                              <a:latin typeface="Cambria Math" panose="02040503050406030204" pitchFamily="18" charset="0"/>
                            </a:rPr>
                          </m:ctrlPr>
                        </m:naryPr>
                        <m:sub>
                          <m:r>
                            <a:rPr lang="es-ES" sz="2200" i="1">
                              <a:solidFill>
                                <a:srgbClr val="1F4E79"/>
                              </a:solidFill>
                              <a:latin typeface="Cambria Math" panose="02040503050406030204" pitchFamily="18" charset="0"/>
                            </a:rPr>
                            <m:t xml:space="preserve">j&lt;i</m:t>
                          </m:r>
                        </m:sub>
                        <m:sup/>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A</m:t>
                              </m:r>
                            </m:e>
                            <m:sub>
                              <m:r>
                                <a:rPr lang="es-ES" sz="2200" i="1">
                                  <a:solidFill>
                                    <a:srgbClr val="1F4E79"/>
                                  </a:solidFill>
                                  <a:latin typeface="Cambria Math" panose="02040503050406030204" pitchFamily="18" charset="0"/>
                                </a:rPr>
                                <m:t xml:space="preserve">ij</m:t>
                              </m:r>
                            </m:sub>
                          </m:sSub>
                          <m:sSubSup>
                            <m:sSubSupPr>
                              <m:ctrlPr>
                                <a:rPr lang="es-ES" sz="2200" i="1">
                                  <a:latin typeface="Cambria Math" panose="02040503050406030204" pitchFamily="18" charset="0"/>
                                </a:rPr>
                              </m:ctrlPr>
                            </m:sSubSupPr>
                            <m:e>
                              <m:r>
                                <a:rPr lang="es-ES" sz="2200" i="1">
                                  <a:solidFill>
                                    <a:srgbClr val="1F4E79"/>
                                  </a:solidFill>
                                  <a:latin typeface="Cambria Math" panose="02040503050406030204" pitchFamily="18" charset="0"/>
                                </a:rPr>
                                <m:t xml:space="preserve">y</m:t>
                              </m:r>
                            </m:e>
                            <m:sub>
                              <m:r>
                                <a:rPr lang="es-ES" sz="2200" i="1">
                                  <a:solidFill>
                                    <a:srgbClr val="1F4E79"/>
                                  </a:solidFill>
                                  <a:latin typeface="Cambria Math" panose="02040503050406030204" pitchFamily="18" charset="0"/>
                                </a:rPr>
                                <m:t xml:space="preserve">j</m:t>
                              </m:r>
                            </m:sub>
                            <m:sup>
                              <m:r>
                                <m:rPr>
                                  <m:sty m:val="p"/>
                                </m:rPr>
                                <a:rPr lang="es-ES" sz="2200">
                                  <a:solidFill>
                                    <a:srgbClr val="1F4E79"/>
                                  </a:solidFill>
                                  <a:latin typeface="Cambria Math" panose="02040503050406030204" pitchFamily="18" charset="0"/>
                                </a:rPr>
                                <m:t xml:space="preserve">DC</m:t>
                              </m:r>
                            </m:sup>
                          </m:sSubSup>
                        </m:e>
                      </m:nary>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b</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K</m:t>
                          </m:r>
                        </m:e>
                        <m:sub>
                          <m:r>
                            <a:rPr lang="es-ES" sz="2200" i="1">
                              <a:solidFill>
                                <a:srgbClr val="1F4E79"/>
                              </a:solidFill>
                              <a:latin typeface="Cambria Math" panose="02040503050406030204" pitchFamily="18" charset="0"/>
                            </a:rPr>
                            <m:t xml:space="preserve">i</m:t>
                          </m:r>
                        </m:sub>
                      </m:sSub>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u</m:t>
                          </m:r>
                        </m:e>
                        <m:sub>
                          <m:r>
                            <a:rPr lang="es-ES" sz="2200" i="1">
                              <a:solidFill>
                                <a:srgbClr val="1F4E79"/>
                              </a:solidFill>
                              <a:latin typeface="Cambria Math" panose="02040503050406030204" pitchFamily="18" charset="0"/>
                            </a:rPr>
                            <m:t xml:space="preserve">i</m:t>
                          </m:r>
                        </m:sub>
                      </m:sSub>
                    </m:oMath>
                  </m:oMathPara>
                </a14:m>
                <a:endParaRPr lang="es-ES"/>
              </a:p>
            </p:txBody>
          </p:sp>
        </mc:Choice>
        <mc:Fallback>
          <p:sp>
            <p:nvSpPr>
              <p:cNvPr id="8" name="Ecuación E_off [s2]"/>
              <p:cNvSpPr txBox="1"/>
              <p:nvPr/>
            </p:nvSpPr>
            <p:spPr>
              <a:xfrm>
                <a:off x="966136" y="1681654"/>
                <a:ext cx="7211728" cy="88143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yi(DC) = Σ(j&lt;i) Aij · yj(DC) + bi + Ki · ui</a:t>
                </a:r>
                <a:endParaRPr lang="en-US" sz="2159" dirty="0"/>
              </a:p>
            </p:txBody>
          </p:sp>
        </mc:Fallback>
      </mc:AlternateContent>
      <p:sp>
        <p:nvSpPr>
          <p:cNvPr id="9" name="Fondo E_Aij [s2]"/>
          <p:cNvSpPr/>
          <p:nvPr/>
        </p:nvSpPr>
        <p:spPr>
          <a:xfrm>
            <a:off x="966136" y="2763413"/>
            <a:ext cx="1201955" cy="40065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0" name="Ecuación E_Aij [s2]"/>
              <p:cNvSpPr txBox="1"/>
              <p:nvPr/>
            </p:nvSpPr>
            <p:spPr>
              <a:xfrm>
                <a:off x="966136" y="2763413"/>
                <a:ext cx="1201955" cy="40065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A</m:t>
                          </m:r>
                        </m:e>
                        <m:sub>
                          <m:r>
                            <a:rPr lang="es-ES" sz="2200" i="1">
                              <a:solidFill>
                                <a:srgbClr val="1F4E79"/>
                              </a:solidFill>
                              <a:latin typeface="Cambria Math" panose="02040503050406030204" pitchFamily="18" charset="0"/>
                            </a:rPr>
                            <m:t xml:space="preserve">ij</m:t>
                          </m:r>
                        </m:sub>
                      </m:sSub>
                    </m:oMath>
                  </m:oMathPara>
                </a14:m>
                <a:endParaRPr lang="es-ES"/>
              </a:p>
            </p:txBody>
          </p:sp>
        </mc:Choice>
        <mc:Fallback>
          <p:sp>
            <p:nvSpPr>
              <p:cNvPr id="10" name="Ecuación E_Aij [s2]"/>
              <p:cNvSpPr txBox="1"/>
              <p:nvPr/>
            </p:nvSpPr>
            <p:spPr>
              <a:xfrm>
                <a:off x="966136" y="2763413"/>
                <a:ext cx="1201955" cy="40065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Aij</a:t>
                </a:r>
                <a:endParaRPr lang="en-US" sz="2159" dirty="0"/>
              </a:p>
            </p:txBody>
          </p:sp>
        </mc:Fallback>
      </mc:AlternateContent>
      <p:sp>
        <p:nvSpPr>
          <p:cNvPr id="11" name="Elemento [s2]"/>
          <p:cNvSpPr txBox="1"/>
          <p:nvPr/>
        </p:nvSpPr>
        <p:spPr>
          <a:xfrm>
            <a:off x="2328351" y="2763413"/>
            <a:ext cx="5849513" cy="400652"/>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transferencia de continua de la etapa j a la etapa i</a:t>
            </a:r>
            <a:endParaRPr lang="en-US" sz="1440" dirty="0"/>
          </a:p>
        </p:txBody>
      </p:sp>
      <p:sp>
        <p:nvSpPr>
          <p:cNvPr id="12" name="Fondo E_bi [s2]"/>
          <p:cNvSpPr/>
          <p:nvPr/>
        </p:nvSpPr>
        <p:spPr>
          <a:xfrm>
            <a:off x="966136" y="3244195"/>
            <a:ext cx="1201955" cy="40065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Ecuación E_bi [s2]"/>
              <p:cNvSpPr txBox="1"/>
              <p:nvPr/>
            </p:nvSpPr>
            <p:spPr>
              <a:xfrm>
                <a:off x="966136" y="3244195"/>
                <a:ext cx="1201955" cy="40065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b</m:t>
                          </m:r>
                        </m:e>
                        <m:sub>
                          <m:r>
                            <a:rPr lang="es-ES" sz="2200" i="1">
                              <a:solidFill>
                                <a:srgbClr val="1F4E79"/>
                              </a:solidFill>
                              <a:latin typeface="Cambria Math" panose="02040503050406030204" pitchFamily="18" charset="0"/>
                            </a:rPr>
                            <m:t xml:space="preserve">i</m:t>
                          </m:r>
                        </m:sub>
                      </m:sSub>
                    </m:oMath>
                  </m:oMathPara>
                </a14:m>
                <a:endParaRPr lang="es-ES"/>
              </a:p>
            </p:txBody>
          </p:sp>
        </mc:Choice>
        <mc:Fallback>
          <p:sp>
            <p:nvSpPr>
              <p:cNvPr id="13" name="Ecuación E_bi [s2]"/>
              <p:cNvSpPr txBox="1"/>
              <p:nvPr/>
            </p:nvSpPr>
            <p:spPr>
              <a:xfrm>
                <a:off x="966136" y="3244195"/>
                <a:ext cx="1201955" cy="40065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bi</a:t>
                </a:r>
                <a:endParaRPr lang="en-US" sz="2159" dirty="0"/>
              </a:p>
            </p:txBody>
          </p:sp>
        </mc:Fallback>
      </mc:AlternateContent>
      <p:sp>
        <p:nvSpPr>
          <p:cNvPr id="14" name="Elemento [s2]"/>
          <p:cNvSpPr txBox="1"/>
          <p:nvPr/>
        </p:nvSpPr>
        <p:spPr>
          <a:xfrm>
            <a:off x="2328351" y="3244195"/>
            <a:ext cx="5849513" cy="400652"/>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offset propio de la etapa i</a:t>
            </a:r>
            <a:endParaRPr lang="en-US" sz="1440" dirty="0"/>
          </a:p>
        </p:txBody>
      </p:sp>
      <p:sp>
        <p:nvSpPr>
          <p:cNvPr id="15" name="Fondo E_Kiui [s2]"/>
          <p:cNvSpPr/>
          <p:nvPr/>
        </p:nvSpPr>
        <p:spPr>
          <a:xfrm>
            <a:off x="966136" y="3724977"/>
            <a:ext cx="1201955" cy="40065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6" name="Ecuación E_Kiui [s2]"/>
              <p:cNvSpPr txBox="1"/>
              <p:nvPr/>
            </p:nvSpPr>
            <p:spPr>
              <a:xfrm>
                <a:off x="966136" y="3724977"/>
                <a:ext cx="1201955" cy="40065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K</m:t>
                          </m:r>
                        </m:e>
                        <m:sub>
                          <m:r>
                            <a:rPr lang="es-ES" sz="2200" i="1">
                              <a:solidFill>
                                <a:srgbClr val="1F4E79"/>
                              </a:solidFill>
                              <a:latin typeface="Cambria Math" panose="02040503050406030204" pitchFamily="18" charset="0"/>
                            </a:rPr>
                            <m:t xml:space="preserve">i</m:t>
                          </m:r>
                        </m:sub>
                      </m:sSub>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u</m:t>
                          </m:r>
                        </m:e>
                        <m:sub>
                          <m:r>
                            <a:rPr lang="es-ES" sz="2200" i="1">
                              <a:solidFill>
                                <a:srgbClr val="1F4E79"/>
                              </a:solidFill>
                              <a:latin typeface="Cambria Math" panose="02040503050406030204" pitchFamily="18" charset="0"/>
                            </a:rPr>
                            <m:t xml:space="preserve">i</m:t>
                          </m:r>
                        </m:sub>
                      </m:sSub>
                    </m:oMath>
                  </m:oMathPara>
                </a14:m>
                <a:endParaRPr lang="es-ES"/>
              </a:p>
            </p:txBody>
          </p:sp>
        </mc:Choice>
        <mc:Fallback>
          <p:sp>
            <p:nvSpPr>
              <p:cNvPr id="16" name="Ecuación E_Kiui [s2]"/>
              <p:cNvSpPr txBox="1"/>
              <p:nvPr/>
            </p:nvSpPr>
            <p:spPr>
              <a:xfrm>
                <a:off x="966136" y="3724977"/>
                <a:ext cx="1201955" cy="40065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Ki·ui</a:t>
                </a:r>
                <a:endParaRPr lang="en-US" sz="2159" dirty="0"/>
              </a:p>
            </p:txBody>
          </p:sp>
        </mc:Fallback>
      </mc:AlternateContent>
      <p:sp>
        <p:nvSpPr>
          <p:cNvPr id="17" name="Elemento [s2]"/>
          <p:cNvSpPr txBox="1"/>
          <p:nvPr/>
        </p:nvSpPr>
        <p:spPr>
          <a:xfrm>
            <a:off x="2328351" y="3724977"/>
            <a:ext cx="5849513" cy="400652"/>
          </a:xfrm>
          <a:prstGeom prst="rect">
            <a:avLst/>
          </a:prstGeom>
          <a:noFill/>
          <a:ln/>
        </p:spPr>
        <p:txBody>
          <a:bodyPr wrap="square" lIns="0" tIns="0" rIns="0" bIns="0" rtlCol="0" anchor="ctr"/>
          <a:lstStyle/>
          <a:p>
            <a:pPr indent="0" marL="0">
              <a:buNone/>
            </a:pPr>
            <a:r>
              <a:rPr lang="en-US" sz="1440" dirty="0">
                <a:solidFill>
                  <a:srgbClr val="2D2D2D"/>
                </a:solidFill>
                <a:latin typeface="Arial" pitchFamily="34" charset="0"/>
                <a:ea typeface="Arial" pitchFamily="34" charset="-122"/>
                <a:cs typeface="Arial" pitchFamily="34" charset="-120"/>
              </a:rPr>
              <a:t>corrección aplicada con el VDAC de la etapa i</a:t>
            </a:r>
            <a:endParaRPr lang="en-US" sz="1440" dirty="0"/>
          </a:p>
        </p:txBody>
      </p:sp>
      <p:sp>
        <p:nvSpPr>
          <p:cNvPr id="18" name="Elemento [s2]"/>
          <p:cNvSpPr txBox="1"/>
          <p:nvPr/>
        </p:nvSpPr>
        <p:spPr>
          <a:xfrm>
            <a:off x="966136" y="4205759"/>
            <a:ext cx="7211728" cy="320521"/>
          </a:xfrm>
          <a:prstGeom prst="rect">
            <a:avLst/>
          </a:prstGeom>
          <a:noFill/>
          <a:ln/>
        </p:spPr>
        <p:txBody>
          <a:bodyPr wrap="square" lIns="0" tIns="0" rIns="0" bIns="0" rtlCol="0" anchor="t"/>
          <a:lstStyle/>
          <a:p>
            <a:pPr indent="0" marL="0">
              <a:buNone/>
            </a:pPr>
            <a:r>
              <a:rPr lang="en-US" sz="1350"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350" dirty="0"/>
          </a:p>
        </p:txBody>
      </p:sp>
      <p:pic>
        <p:nvPicPr>
          <p:cNvPr id="19" name="Flujo de calibración [s3]" descr="Diagrama de flujo de la calibración en primer plano: verificación de códigos guardados, ajuste secuencial y adquisición">    </p:cNvPr>
          <p:cNvPicPr>
            <a:picLocks noChangeAspect="1"/>
          </p:cNvPicPr>
          <p:nvPr/>
        </p:nvPicPr>
        <p:blipFill>
          <a:blip r:embed="rId3"/>
          <a:stretch>
            <a:fillRect/>
          </a:stretch>
        </p:blipFill>
        <p:spPr>
          <a:xfrm>
            <a:off x="2328351" y="1561458"/>
            <a:ext cx="4487298" cy="2870985"/>
          </a:xfrm>
          <a:prstGeom prst="rect">
            <a:avLst/>
          </a:prstGeom>
        </p:spPr>
      </p:pic>
      <p:sp>
        <p:nvSpPr>
          <p:cNvPr id="20" name="Elemento [s3]"/>
          <p:cNvSpPr txBox="1"/>
          <p:nvPr/>
        </p:nvSpPr>
        <p:spPr>
          <a:xfrm>
            <a:off x="3610436" y="4446150"/>
            <a:ext cx="3205213"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FIGURA EN INGLÉS: traducir desde el repo</a:t>
            </a:r>
            <a:endParaRPr lang="en-US" sz="900" dirty="0"/>
          </a:p>
        </p:txBody>
      </p:sp>
      <p:pic>
        <p:nvPicPr>
          <p:cNvPr id="21" name="Ejemplo de calibración [s4]" descr="Trayectorias de calibración de las etapas PGA, BP, SUM y LP en función del tiempo">    </p:cNvPr>
          <p:cNvPicPr>
            <a:picLocks noChangeAspect="1"/>
          </p:cNvPicPr>
          <p:nvPr/>
        </p:nvPicPr>
        <p:blipFill>
          <a:blip r:embed="rId4"/>
          <a:stretch>
            <a:fillRect/>
          </a:stretch>
        </p:blipFill>
        <p:spPr>
          <a:xfrm>
            <a:off x="886005" y="1561458"/>
            <a:ext cx="2283714" cy="2691703"/>
          </a:xfrm>
          <a:prstGeom prst="rect">
            <a:avLst/>
          </a:prstGeom>
        </p:spPr>
      </p:pic>
      <p:graphicFrame>
        <p:nvGraphicFramePr>
          <p:cNvPr id="22" name="Elemento [s4]" descr=""/>
          <p:cNvGraphicFramePr/>
          <p:nvPr/>
        </p:nvGraphicFramePr>
        <p:xfrm>
          <a:off x="3450176" y="1561458"/>
          <a:ext cx="4727689" cy="2123453"/>
        </p:xfrm>
        <a:graphic xmlns:a="http://schemas.openxmlformats.org/drawingml/2006/main">
          <a:graphicData uri="http://schemas.openxmlformats.org/drawingml/2006/chart">
            <c:chart xmlns:c="http://schemas.openxmlformats.org/drawingml/2006/chart" r:id="rId5"/>
          </a:graphicData>
        </a:graphic>
      </p:graphicFrame>
      <p:sp>
        <p:nvSpPr>
          <p:cNvPr id="23" name="Cuerpo [s4]"/>
          <p:cNvSpPr txBox="1"/>
          <p:nvPr/>
        </p:nvSpPr>
        <p:spPr>
          <a:xfrm>
            <a:off x="3450176" y="3724977"/>
            <a:ext cx="4727689" cy="761238"/>
          </a:xfrm>
          <a:prstGeom prst="rect">
            <a:avLst/>
          </a:prstGeom>
          <a:noFill/>
          <a:ln/>
        </p:spPr>
        <p:txBody>
          <a:bodyPr wrap="square" lIns="0" tIns="0" rIns="0" bIns="0" rtlCol="0" anchor="t"/>
          <a:lstStyle/>
          <a:p>
            <a:pPr marL="342900" indent="-342900">
              <a:spcAft>
                <a:spcPts val="270"/>
              </a:spcAft>
              <a:buSzPct val="100000"/>
              <a:buChar char="•"/>
            </a:pPr>
            <a:r>
              <a:rPr lang="en-US" sz="990"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990" dirty="0"/>
          </a:p>
          <a:p>
            <a:pPr marL="342900" indent="-342900">
              <a:spcAft>
                <a:spcPts val="270"/>
              </a:spcAft>
              <a:buSzPct val="100000"/>
              <a:buChar char="•"/>
            </a:pPr>
            <a:r>
              <a:rPr lang="en-US" sz="990"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990" dirty="0"/>
          </a:p>
          <a:p>
            <a:pPr marL="342900" indent="-342900">
              <a:spcAft>
                <a:spcPts val="270"/>
              </a:spcAft>
              <a:buSzPct val="100000"/>
              <a:buChar char="•"/>
            </a:pPr>
            <a:r>
              <a:rPr lang="en-US" sz="990" dirty="0">
                <a:solidFill>
                  <a:srgbClr val="2D2D2D"/>
                </a:solidFill>
                <a:latin typeface="Arial" pitchFamily="34" charset="0"/>
                <a:ea typeface="Arial" pitchFamily="34" charset="-122"/>
                <a:cs typeface="Arial" pitchFamily="34" charset="-120"/>
              </a:rPr>
              <a:t>Derecha: 2 placas y 8 configuraciones placa–ganancia</a:t>
            </a:r>
            <a:endParaRPr lang="en-US" sz="990" dirty="0"/>
          </a:p>
        </p:txBody>
      </p:sp>
      <p:sp>
        <p:nvSpPr>
          <p:cNvPr id="24" name="Elemento [s4]"/>
          <p:cNvSpPr txBox="1"/>
          <p:nvPr/>
        </p:nvSpPr>
        <p:spPr>
          <a:xfrm>
            <a:off x="725745" y="4285889"/>
            <a:ext cx="2443975"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EJE EN INGLÉS: traducir desde el repo</a:t>
            </a:r>
            <a:endParaRPr lang="en-US" sz="900" dirty="0"/>
          </a:p>
        </p:txBody>
      </p:sp>
      <p:sp>
        <p:nvSpPr>
          <p:cNvPr id="25"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ruta PGA–ADC se midió con barridos y el geófono se tomó con su modelo nominal</a:t>
            </a:r>
            <a:endParaRPr lang="en-US" sz="1400" dirty="0"/>
          </a:p>
        </p:txBody>
      </p:sp>
      <p:sp>
        <p:nvSpPr>
          <p:cNvPr id="26"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4.5, fig. 9; figura propia; Sensor Nederland B.V. (2006).</a:t>
            </a:r>
            <a:endParaRPr lang="en-US" sz="800" dirty="0"/>
          </a:p>
        </p:txBody>
      </p:sp>
      <p:sp>
        <p:nvSpPr>
          <p:cNvPr id="27"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offset se acumula en la cadena y recorta la señal; no se puede filtrar en continua</a:t>
            </a:r>
            <a:endParaRPr lang="en-US" sz="1400" dirty="0"/>
          </a:p>
        </p:txBody>
      </p:sp>
      <p:sp>
        <p:nvSpPr>
          <p:cNvPr id="28"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Ilustración propia (esquemática); 21,8 %: Álvarez, González y Vargas, DA-AFE (URUCON); resumen firmado, sec. 4.4.</a:t>
            </a:r>
            <a:endParaRPr lang="en-US" sz="800" dirty="0"/>
          </a:p>
        </p:txBody>
      </p:sp>
      <p:sp>
        <p:nvSpPr>
          <p:cNvPr id="29"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continua de cada etapa depende de las anteriores, por eso el ajuste se hace en orden</a:t>
            </a:r>
            <a:endParaRPr lang="en-US" sz="1400" dirty="0"/>
          </a:p>
        </p:txBody>
      </p:sp>
      <p:sp>
        <p:nvSpPr>
          <p:cNvPr id="30"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documento de tesis, sec. 3. Notación por confirmar.</a:t>
            </a:r>
            <a:endParaRPr lang="en-US" sz="800" dirty="0"/>
          </a:p>
        </p:txBody>
      </p:sp>
      <p:sp>
        <p:nvSpPr>
          <p:cNvPr id="31"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1400" dirty="0"/>
          </a:p>
        </p:txBody>
      </p:sp>
      <p:sp>
        <p:nvSpPr>
          <p:cNvPr id="32"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fig. 2; resumen firmado, sec. 4.4.</a:t>
            </a:r>
            <a:endParaRPr lang="en-US" sz="800" dirty="0"/>
          </a:p>
        </p:txBody>
      </p:sp>
      <p:sp>
        <p:nvSpPr>
          <p:cNvPr id="33"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calibración converge y baja el offset residual en el ADC de 2,9–45,8 % a 0,4–3,9 % del fondo de escala</a:t>
            </a:r>
            <a:endParaRPr lang="en-US" sz="1400" dirty="0"/>
          </a:p>
        </p:txBody>
      </p:sp>
      <p:sp>
        <p:nvSpPr>
          <p:cNvPr id="34"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Álvarez, González y Vargas, DA-AFE (URUCON), fig. 4; documento de tesis (00_resumen.tex).</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675" fill="hold">
                      <p:stCondLst>
                        <p:cond delay="indefinite"/>
                      </p:stCondLst>
                      <p:childTnLst>
                        <p:par>
                          <p:cTn id="3676" fill="hold">
                            <p:stCondLst>
                              <p:cond delay="0"/>
                            </p:stCondLst>
                            <p:childTnLst>
                              <p:par>
                                <p:cTn id="3651" presetID="10" presetClass="exit" presetSubtype="0" fill="hold" nodeType="clickEffect">
                                  <p:stCondLst>
                                    <p:cond delay="0"/>
                                  </p:stCondLst>
                                  <p:childTnLst>
                                    <p:animEffect transition="out" filter="fade">
                                      <p:cBhvr>
                                        <p:cTn id="3652" dur="400"/>
                                        <p:tgtEl>
                                          <p:spTgt spid="3"/>
                                        </p:tgtEl>
                                      </p:cBhvr>
                                    </p:animEffect>
                                    <p:set>
                                      <p:cBhvr>
                                        <p:cTn id="3653" dur="1" fill="hold">
                                          <p:stCondLst>
                                            <p:cond delay="399"/>
                                          </p:stCondLst>
                                        </p:cTn>
                                        <p:tgtEl>
                                          <p:spTgt spid="3"/>
                                        </p:tgtEl>
                                        <p:attrNameLst>
                                          <p:attrName>style.visibility</p:attrName>
                                        </p:attrNameLst>
                                      </p:cBhvr>
                                      <p:to>
                                        <p:strVal val="hidden"/>
                                      </p:to>
                                    </p:set>
                                  </p:childTnLst>
                                </p:cTn>
                              </p:par>
                              <p:par>
                                <p:cTn id="3654" presetID="10" presetClass="exit" presetSubtype="0" fill="hold" nodeType="withEffect">
                                  <p:stCondLst>
                                    <p:cond delay="0"/>
                                  </p:stCondLst>
                                  <p:childTnLst>
                                    <p:animEffect transition="out" filter="fade">
                                      <p:cBhvr>
                                        <p:cTn id="3655" dur="400"/>
                                        <p:tgtEl>
                                          <p:spTgt spid="4"/>
                                        </p:tgtEl>
                                      </p:cBhvr>
                                    </p:animEffect>
                                    <p:set>
                                      <p:cBhvr>
                                        <p:cTn id="3656" dur="1" fill="hold">
                                          <p:stCondLst>
                                            <p:cond delay="399"/>
                                          </p:stCondLst>
                                        </p:cTn>
                                        <p:tgtEl>
                                          <p:spTgt spid="4"/>
                                        </p:tgtEl>
                                        <p:attrNameLst>
                                          <p:attrName>style.visibility</p:attrName>
                                        </p:attrNameLst>
                                      </p:cBhvr>
                                      <p:to>
                                        <p:strVal val="hidden"/>
                                      </p:to>
                                    </p:set>
                                  </p:childTnLst>
                                </p:cTn>
                              </p:par>
                              <p:par>
                                <p:cTn id="3657" presetID="10" presetClass="exit" presetSubtype="0" fill="hold" nodeType="withEffect">
                                  <p:stCondLst>
                                    <p:cond delay="0"/>
                                  </p:stCondLst>
                                  <p:childTnLst>
                                    <p:animEffect transition="out" filter="fade">
                                      <p:cBhvr>
                                        <p:cTn id="3658" dur="400"/>
                                        <p:tgtEl>
                                          <p:spTgt spid="25"/>
                                        </p:tgtEl>
                                      </p:cBhvr>
                                    </p:animEffect>
                                    <p:set>
                                      <p:cBhvr>
                                        <p:cTn id="3659" dur="1" fill="hold">
                                          <p:stCondLst>
                                            <p:cond delay="399"/>
                                          </p:stCondLst>
                                        </p:cTn>
                                        <p:tgtEl>
                                          <p:spTgt spid="25"/>
                                        </p:tgtEl>
                                        <p:attrNameLst>
                                          <p:attrName>style.visibility</p:attrName>
                                        </p:attrNameLst>
                                      </p:cBhvr>
                                      <p:to>
                                        <p:strVal val="hidden"/>
                                      </p:to>
                                    </p:set>
                                  </p:childTnLst>
                                </p:cTn>
                              </p:par>
                              <p:par>
                                <p:cTn id="3660" presetID="10" presetClass="exit" presetSubtype="0" fill="hold" nodeType="withEffect">
                                  <p:stCondLst>
                                    <p:cond delay="0"/>
                                  </p:stCondLst>
                                  <p:childTnLst>
                                    <p:animEffect transition="out" filter="fade">
                                      <p:cBhvr>
                                        <p:cTn id="3661" dur="400"/>
                                        <p:tgtEl>
                                          <p:spTgt spid="26"/>
                                        </p:tgtEl>
                                      </p:cBhvr>
                                    </p:animEffect>
                                    <p:set>
                                      <p:cBhvr>
                                        <p:cTn id="3662" dur="1" fill="hold">
                                          <p:stCondLst>
                                            <p:cond delay="399"/>
                                          </p:stCondLst>
                                        </p:cTn>
                                        <p:tgtEl>
                                          <p:spTgt spid="26"/>
                                        </p:tgtEl>
                                        <p:attrNameLst>
                                          <p:attrName>style.visibility</p:attrName>
                                        </p:attrNameLst>
                                      </p:cBhvr>
                                      <p:to>
                                        <p:strVal val="hidden"/>
                                      </p:to>
                                    </p:set>
                                  </p:childTnLst>
                                </p:cTn>
                              </p:par>
                              <p:par>
                                <p:cTn id="3663" presetID="10" presetClass="entr" presetSubtype="0" fill="hold" nodeType="withEffect">
                                  <p:stCondLst>
                                    <p:cond delay="200"/>
                                  </p:stCondLst>
                                  <p:childTnLst>
                                    <p:set>
                                      <p:cBhvr>
                                        <p:cTn id="3664" dur="1" fill="hold">
                                          <p:stCondLst>
                                            <p:cond delay="0"/>
                                          </p:stCondLst>
                                        </p:cTn>
                                        <p:tgtEl>
                                          <p:spTgt spid="5"/>
                                        </p:tgtEl>
                                        <p:attrNameLst>
                                          <p:attrName>style.visibility</p:attrName>
                                        </p:attrNameLst>
                                      </p:cBhvr>
                                      <p:to>
                                        <p:strVal val="visible"/>
                                      </p:to>
                                    </p:set>
                                    <p:animEffect transition="in" filter="fade">
                                      <p:cBhvr>
                                        <p:cTn id="3665" dur="500"/>
                                        <p:tgtEl>
                                          <p:spTgt spid="5"/>
                                        </p:tgtEl>
                                      </p:cBhvr>
                                    </p:animEffect>
                                  </p:childTnLst>
                                </p:cTn>
                              </p:par>
                              <p:par>
                                <p:cTn id="3666" presetID="10" presetClass="entr" presetSubtype="0" fill="hold" nodeType="withEffect">
                                  <p:stCondLst>
                                    <p:cond delay="270"/>
                                  </p:stCondLst>
                                  <p:childTnLst>
                                    <p:set>
                                      <p:cBhvr>
                                        <p:cTn id="3667" dur="1" fill="hold">
                                          <p:stCondLst>
                                            <p:cond delay="0"/>
                                          </p:stCondLst>
                                        </p:cTn>
                                        <p:tgtEl>
                                          <p:spTgt spid="6"/>
                                        </p:tgtEl>
                                        <p:attrNameLst>
                                          <p:attrName>style.visibility</p:attrName>
                                        </p:attrNameLst>
                                      </p:cBhvr>
                                      <p:to>
                                        <p:strVal val="visible"/>
                                      </p:to>
                                    </p:set>
                                    <p:animEffect transition="in" filter="fade">
                                      <p:cBhvr>
                                        <p:cTn id="3668" dur="500"/>
                                        <p:tgtEl>
                                          <p:spTgt spid="6"/>
                                        </p:tgtEl>
                                      </p:cBhvr>
                                    </p:animEffect>
                                  </p:childTnLst>
                                </p:cTn>
                              </p:par>
                              <p:par>
                                <p:cTn id="3669" presetID="10" presetClass="entr" presetSubtype="0" fill="hold" nodeType="withEffect">
                                  <p:stCondLst>
                                    <p:cond delay="340"/>
                                  </p:stCondLst>
                                  <p:childTnLst>
                                    <p:set>
                                      <p:cBhvr>
                                        <p:cTn id="3670" dur="1" fill="hold">
                                          <p:stCondLst>
                                            <p:cond delay="0"/>
                                          </p:stCondLst>
                                        </p:cTn>
                                        <p:tgtEl>
                                          <p:spTgt spid="27"/>
                                        </p:tgtEl>
                                        <p:attrNameLst>
                                          <p:attrName>style.visibility</p:attrName>
                                        </p:attrNameLst>
                                      </p:cBhvr>
                                      <p:to>
                                        <p:strVal val="visible"/>
                                      </p:to>
                                    </p:set>
                                    <p:animEffect transition="in" filter="fade">
                                      <p:cBhvr>
                                        <p:cTn id="3671" dur="500"/>
                                        <p:tgtEl>
                                          <p:spTgt spid="27"/>
                                        </p:tgtEl>
                                      </p:cBhvr>
                                    </p:animEffect>
                                  </p:childTnLst>
                                </p:cTn>
                              </p:par>
                              <p:par>
                                <p:cTn id="3672" presetID="10" presetClass="entr" presetSubtype="0" fill="hold" nodeType="withEffect">
                                  <p:stCondLst>
                                    <p:cond delay="410"/>
                                  </p:stCondLst>
                                  <p:childTnLst>
                                    <p:set>
                                      <p:cBhvr>
                                        <p:cTn id="3673" dur="1" fill="hold">
                                          <p:stCondLst>
                                            <p:cond delay="0"/>
                                          </p:stCondLst>
                                        </p:cTn>
                                        <p:tgtEl>
                                          <p:spTgt spid="28"/>
                                        </p:tgtEl>
                                        <p:attrNameLst>
                                          <p:attrName>style.visibility</p:attrName>
                                        </p:attrNameLst>
                                      </p:cBhvr>
                                      <p:to>
                                        <p:strVal val="visible"/>
                                      </p:to>
                                    </p:set>
                                    <p:animEffect transition="in" filter="fade">
                                      <p:cBhvr>
                                        <p:cTn id="3674" dur="500"/>
                                        <p:tgtEl>
                                          <p:spTgt spid="28"/>
                                        </p:tgtEl>
                                      </p:cBhvr>
                                    </p:animEffect>
                                  </p:childTnLst>
                                </p:cTn>
                              </p:par>
                            </p:childTnLst>
                          </p:cTn>
                        </p:par>
                      </p:childTnLst>
                    </p:cTn>
                  </p:par>
                  <p:par>
                    <p:cTn id="3731" fill="hold">
                      <p:stCondLst>
                        <p:cond delay="indefinite"/>
                      </p:stCondLst>
                      <p:childTnLst>
                        <p:par>
                          <p:cTn id="3732" fill="hold">
                            <p:stCondLst>
                              <p:cond delay="0"/>
                            </p:stCondLst>
                            <p:childTnLst>
                              <p:par>
                                <p:cTn id="3677" presetID="10" presetClass="exit" presetSubtype="0" fill="hold" nodeType="clickEffect">
                                  <p:stCondLst>
                                    <p:cond delay="0"/>
                                  </p:stCondLst>
                                  <p:childTnLst>
                                    <p:animEffect transition="out" filter="fade">
                                      <p:cBhvr>
                                        <p:cTn id="3678" dur="400"/>
                                        <p:tgtEl>
                                          <p:spTgt spid="5"/>
                                        </p:tgtEl>
                                      </p:cBhvr>
                                    </p:animEffect>
                                    <p:set>
                                      <p:cBhvr>
                                        <p:cTn id="3679" dur="1" fill="hold">
                                          <p:stCondLst>
                                            <p:cond delay="399"/>
                                          </p:stCondLst>
                                        </p:cTn>
                                        <p:tgtEl>
                                          <p:spTgt spid="5"/>
                                        </p:tgtEl>
                                        <p:attrNameLst>
                                          <p:attrName>style.visibility</p:attrName>
                                        </p:attrNameLst>
                                      </p:cBhvr>
                                      <p:to>
                                        <p:strVal val="hidden"/>
                                      </p:to>
                                    </p:set>
                                  </p:childTnLst>
                                </p:cTn>
                              </p:par>
                              <p:par>
                                <p:cTn id="3680" presetID="10" presetClass="exit" presetSubtype="0" fill="hold" nodeType="withEffect">
                                  <p:stCondLst>
                                    <p:cond delay="0"/>
                                  </p:stCondLst>
                                  <p:childTnLst>
                                    <p:animEffect transition="out" filter="fade">
                                      <p:cBhvr>
                                        <p:cTn id="3681" dur="400"/>
                                        <p:tgtEl>
                                          <p:spTgt spid="6"/>
                                        </p:tgtEl>
                                      </p:cBhvr>
                                    </p:animEffect>
                                    <p:set>
                                      <p:cBhvr>
                                        <p:cTn id="3682" dur="1" fill="hold">
                                          <p:stCondLst>
                                            <p:cond delay="399"/>
                                          </p:stCondLst>
                                        </p:cTn>
                                        <p:tgtEl>
                                          <p:spTgt spid="6"/>
                                        </p:tgtEl>
                                        <p:attrNameLst>
                                          <p:attrName>style.visibility</p:attrName>
                                        </p:attrNameLst>
                                      </p:cBhvr>
                                      <p:to>
                                        <p:strVal val="hidden"/>
                                      </p:to>
                                    </p:set>
                                  </p:childTnLst>
                                </p:cTn>
                              </p:par>
                              <p:par>
                                <p:cTn id="3683" presetID="10" presetClass="exit" presetSubtype="0" fill="hold" nodeType="withEffect">
                                  <p:stCondLst>
                                    <p:cond delay="0"/>
                                  </p:stCondLst>
                                  <p:childTnLst>
                                    <p:animEffect transition="out" filter="fade">
                                      <p:cBhvr>
                                        <p:cTn id="3684" dur="400"/>
                                        <p:tgtEl>
                                          <p:spTgt spid="27"/>
                                        </p:tgtEl>
                                      </p:cBhvr>
                                    </p:animEffect>
                                    <p:set>
                                      <p:cBhvr>
                                        <p:cTn id="3685" dur="1" fill="hold">
                                          <p:stCondLst>
                                            <p:cond delay="399"/>
                                          </p:stCondLst>
                                        </p:cTn>
                                        <p:tgtEl>
                                          <p:spTgt spid="27"/>
                                        </p:tgtEl>
                                        <p:attrNameLst>
                                          <p:attrName>style.visibility</p:attrName>
                                        </p:attrNameLst>
                                      </p:cBhvr>
                                      <p:to>
                                        <p:strVal val="hidden"/>
                                      </p:to>
                                    </p:set>
                                  </p:childTnLst>
                                </p:cTn>
                              </p:par>
                              <p:par>
                                <p:cTn id="3686" presetID="10" presetClass="exit" presetSubtype="0" fill="hold" nodeType="withEffect">
                                  <p:stCondLst>
                                    <p:cond delay="0"/>
                                  </p:stCondLst>
                                  <p:childTnLst>
                                    <p:animEffect transition="out" filter="fade">
                                      <p:cBhvr>
                                        <p:cTn id="3687" dur="400"/>
                                        <p:tgtEl>
                                          <p:spTgt spid="28"/>
                                        </p:tgtEl>
                                      </p:cBhvr>
                                    </p:animEffect>
                                    <p:set>
                                      <p:cBhvr>
                                        <p:cTn id="3688" dur="1" fill="hold">
                                          <p:stCondLst>
                                            <p:cond delay="399"/>
                                          </p:stCondLst>
                                        </p:cTn>
                                        <p:tgtEl>
                                          <p:spTgt spid="28"/>
                                        </p:tgtEl>
                                        <p:attrNameLst>
                                          <p:attrName>style.visibility</p:attrName>
                                        </p:attrNameLst>
                                      </p:cBhvr>
                                      <p:to>
                                        <p:strVal val="hidden"/>
                                      </p:to>
                                    </p:set>
                                  </p:childTnLst>
                                </p:cTn>
                              </p:par>
                              <p:par>
                                <p:cTn id="3689" presetID="22" presetClass="entr" presetSubtype="8" fill="hold" nodeType="withEffect">
                                  <p:stCondLst>
                                    <p:cond delay="200"/>
                                  </p:stCondLst>
                                  <p:childTnLst>
                                    <p:set>
                                      <p:cBhvr>
                                        <p:cTn id="3690" dur="1" fill="hold">
                                          <p:stCondLst>
                                            <p:cond delay="0"/>
                                          </p:stCondLst>
                                        </p:cTn>
                                        <p:tgtEl>
                                          <p:spTgt spid="7"/>
                                        </p:tgtEl>
                                        <p:attrNameLst>
                                          <p:attrName>style.visibility</p:attrName>
                                        </p:attrNameLst>
                                      </p:cBhvr>
                                      <p:to>
                                        <p:strVal val="visible"/>
                                      </p:to>
                                    </p:set>
                                    <p:animEffect transition="in" filter="wipe(left)">
                                      <p:cBhvr>
                                        <p:cTn id="3691" dur="500"/>
                                        <p:tgtEl>
                                          <p:spTgt spid="7"/>
                                        </p:tgtEl>
                                      </p:cBhvr>
                                    </p:animEffect>
                                  </p:childTnLst>
                                </p:cTn>
                              </p:par>
                              <p:par>
                                <p:cTn id="3692" presetID="22" presetClass="entr" presetSubtype="8" fill="hold" nodeType="withEffect">
                                  <p:stCondLst>
                                    <p:cond delay="270"/>
                                  </p:stCondLst>
                                  <p:childTnLst>
                                    <p:set>
                                      <p:cBhvr>
                                        <p:cTn id="3693" dur="1" fill="hold">
                                          <p:stCondLst>
                                            <p:cond delay="0"/>
                                          </p:stCondLst>
                                        </p:cTn>
                                        <p:tgtEl>
                                          <p:spTgt spid="8"/>
                                        </p:tgtEl>
                                        <p:attrNameLst>
                                          <p:attrName>style.visibility</p:attrName>
                                        </p:attrNameLst>
                                      </p:cBhvr>
                                      <p:to>
                                        <p:strVal val="visible"/>
                                      </p:to>
                                    </p:set>
                                    <p:animEffect transition="in" filter="wipe(left)">
                                      <p:cBhvr>
                                        <p:cTn id="3694" dur="500"/>
                                        <p:tgtEl>
                                          <p:spTgt spid="8"/>
                                        </p:tgtEl>
                                      </p:cBhvr>
                                    </p:animEffect>
                                  </p:childTnLst>
                                </p:cTn>
                              </p:par>
                              <p:par>
                                <p:cTn id="3695" presetID="22" presetClass="entr" presetSubtype="8" fill="hold" nodeType="withEffect">
                                  <p:stCondLst>
                                    <p:cond delay="340"/>
                                  </p:stCondLst>
                                  <p:childTnLst>
                                    <p:set>
                                      <p:cBhvr>
                                        <p:cTn id="3696" dur="1" fill="hold">
                                          <p:stCondLst>
                                            <p:cond delay="0"/>
                                          </p:stCondLst>
                                        </p:cTn>
                                        <p:tgtEl>
                                          <p:spTgt spid="9"/>
                                        </p:tgtEl>
                                        <p:attrNameLst>
                                          <p:attrName>style.visibility</p:attrName>
                                        </p:attrNameLst>
                                      </p:cBhvr>
                                      <p:to>
                                        <p:strVal val="visible"/>
                                      </p:to>
                                    </p:set>
                                    <p:animEffect transition="in" filter="wipe(left)">
                                      <p:cBhvr>
                                        <p:cTn id="3697" dur="500"/>
                                        <p:tgtEl>
                                          <p:spTgt spid="9"/>
                                        </p:tgtEl>
                                      </p:cBhvr>
                                    </p:animEffect>
                                  </p:childTnLst>
                                </p:cTn>
                              </p:par>
                              <p:par>
                                <p:cTn id="3698" presetID="22" presetClass="entr" presetSubtype="8" fill="hold" nodeType="withEffect">
                                  <p:stCondLst>
                                    <p:cond delay="410"/>
                                  </p:stCondLst>
                                  <p:childTnLst>
                                    <p:set>
                                      <p:cBhvr>
                                        <p:cTn id="3699" dur="1" fill="hold">
                                          <p:stCondLst>
                                            <p:cond delay="0"/>
                                          </p:stCondLst>
                                        </p:cTn>
                                        <p:tgtEl>
                                          <p:spTgt spid="10"/>
                                        </p:tgtEl>
                                        <p:attrNameLst>
                                          <p:attrName>style.visibility</p:attrName>
                                        </p:attrNameLst>
                                      </p:cBhvr>
                                      <p:to>
                                        <p:strVal val="visible"/>
                                      </p:to>
                                    </p:set>
                                    <p:animEffect transition="in" filter="wipe(left)">
                                      <p:cBhvr>
                                        <p:cTn id="3700" dur="500"/>
                                        <p:tgtEl>
                                          <p:spTgt spid="10"/>
                                        </p:tgtEl>
                                      </p:cBhvr>
                                    </p:animEffect>
                                  </p:childTnLst>
                                </p:cTn>
                              </p:par>
                              <p:par>
                                <p:cTn id="3701" presetID="22" presetClass="entr" presetSubtype="8" fill="hold" nodeType="withEffect">
                                  <p:stCondLst>
                                    <p:cond delay="480"/>
                                  </p:stCondLst>
                                  <p:childTnLst>
                                    <p:set>
                                      <p:cBhvr>
                                        <p:cTn id="3702" dur="1" fill="hold">
                                          <p:stCondLst>
                                            <p:cond delay="0"/>
                                          </p:stCondLst>
                                        </p:cTn>
                                        <p:tgtEl>
                                          <p:spTgt spid="11"/>
                                        </p:tgtEl>
                                        <p:attrNameLst>
                                          <p:attrName>style.visibility</p:attrName>
                                        </p:attrNameLst>
                                      </p:cBhvr>
                                      <p:to>
                                        <p:strVal val="visible"/>
                                      </p:to>
                                    </p:set>
                                    <p:animEffect transition="in" filter="wipe(left)">
                                      <p:cBhvr>
                                        <p:cTn id="3703" dur="500"/>
                                        <p:tgtEl>
                                          <p:spTgt spid="11"/>
                                        </p:tgtEl>
                                      </p:cBhvr>
                                    </p:animEffect>
                                  </p:childTnLst>
                                </p:cTn>
                              </p:par>
                              <p:par>
                                <p:cTn id="3704" presetID="22" presetClass="entr" presetSubtype="8" fill="hold" nodeType="withEffect">
                                  <p:stCondLst>
                                    <p:cond delay="550"/>
                                  </p:stCondLst>
                                  <p:childTnLst>
                                    <p:set>
                                      <p:cBhvr>
                                        <p:cTn id="3705" dur="1" fill="hold">
                                          <p:stCondLst>
                                            <p:cond delay="0"/>
                                          </p:stCondLst>
                                        </p:cTn>
                                        <p:tgtEl>
                                          <p:spTgt spid="12"/>
                                        </p:tgtEl>
                                        <p:attrNameLst>
                                          <p:attrName>style.visibility</p:attrName>
                                        </p:attrNameLst>
                                      </p:cBhvr>
                                      <p:to>
                                        <p:strVal val="visible"/>
                                      </p:to>
                                    </p:set>
                                    <p:animEffect transition="in" filter="wipe(left)">
                                      <p:cBhvr>
                                        <p:cTn id="3706" dur="500"/>
                                        <p:tgtEl>
                                          <p:spTgt spid="12"/>
                                        </p:tgtEl>
                                      </p:cBhvr>
                                    </p:animEffect>
                                  </p:childTnLst>
                                </p:cTn>
                              </p:par>
                              <p:par>
                                <p:cTn id="3707" presetID="22" presetClass="entr" presetSubtype="8" fill="hold" nodeType="withEffect">
                                  <p:stCondLst>
                                    <p:cond delay="620"/>
                                  </p:stCondLst>
                                  <p:childTnLst>
                                    <p:set>
                                      <p:cBhvr>
                                        <p:cTn id="3708" dur="1" fill="hold">
                                          <p:stCondLst>
                                            <p:cond delay="0"/>
                                          </p:stCondLst>
                                        </p:cTn>
                                        <p:tgtEl>
                                          <p:spTgt spid="13"/>
                                        </p:tgtEl>
                                        <p:attrNameLst>
                                          <p:attrName>style.visibility</p:attrName>
                                        </p:attrNameLst>
                                      </p:cBhvr>
                                      <p:to>
                                        <p:strVal val="visible"/>
                                      </p:to>
                                    </p:set>
                                    <p:animEffect transition="in" filter="wipe(left)">
                                      <p:cBhvr>
                                        <p:cTn id="3709" dur="500"/>
                                        <p:tgtEl>
                                          <p:spTgt spid="13"/>
                                        </p:tgtEl>
                                      </p:cBhvr>
                                    </p:animEffect>
                                  </p:childTnLst>
                                </p:cTn>
                              </p:par>
                              <p:par>
                                <p:cTn id="3710" presetID="22" presetClass="entr" presetSubtype="8" fill="hold" nodeType="withEffect">
                                  <p:stCondLst>
                                    <p:cond delay="690"/>
                                  </p:stCondLst>
                                  <p:childTnLst>
                                    <p:set>
                                      <p:cBhvr>
                                        <p:cTn id="3711" dur="1" fill="hold">
                                          <p:stCondLst>
                                            <p:cond delay="0"/>
                                          </p:stCondLst>
                                        </p:cTn>
                                        <p:tgtEl>
                                          <p:spTgt spid="14"/>
                                        </p:tgtEl>
                                        <p:attrNameLst>
                                          <p:attrName>style.visibility</p:attrName>
                                        </p:attrNameLst>
                                      </p:cBhvr>
                                      <p:to>
                                        <p:strVal val="visible"/>
                                      </p:to>
                                    </p:set>
                                    <p:animEffect transition="in" filter="wipe(left)">
                                      <p:cBhvr>
                                        <p:cTn id="3712" dur="500"/>
                                        <p:tgtEl>
                                          <p:spTgt spid="14"/>
                                        </p:tgtEl>
                                      </p:cBhvr>
                                    </p:animEffect>
                                  </p:childTnLst>
                                </p:cTn>
                              </p:par>
                              <p:par>
                                <p:cTn id="3713" presetID="22" presetClass="entr" presetSubtype="8" fill="hold" nodeType="withEffect">
                                  <p:stCondLst>
                                    <p:cond delay="760"/>
                                  </p:stCondLst>
                                  <p:childTnLst>
                                    <p:set>
                                      <p:cBhvr>
                                        <p:cTn id="3714" dur="1" fill="hold">
                                          <p:stCondLst>
                                            <p:cond delay="0"/>
                                          </p:stCondLst>
                                        </p:cTn>
                                        <p:tgtEl>
                                          <p:spTgt spid="15"/>
                                        </p:tgtEl>
                                        <p:attrNameLst>
                                          <p:attrName>style.visibility</p:attrName>
                                        </p:attrNameLst>
                                      </p:cBhvr>
                                      <p:to>
                                        <p:strVal val="visible"/>
                                      </p:to>
                                    </p:set>
                                    <p:animEffect transition="in" filter="wipe(left)">
                                      <p:cBhvr>
                                        <p:cTn id="3715" dur="500"/>
                                        <p:tgtEl>
                                          <p:spTgt spid="15"/>
                                        </p:tgtEl>
                                      </p:cBhvr>
                                    </p:animEffect>
                                  </p:childTnLst>
                                </p:cTn>
                              </p:par>
                              <p:par>
                                <p:cTn id="3716" presetID="22" presetClass="entr" presetSubtype="8" fill="hold" nodeType="withEffect">
                                  <p:stCondLst>
                                    <p:cond delay="830"/>
                                  </p:stCondLst>
                                  <p:childTnLst>
                                    <p:set>
                                      <p:cBhvr>
                                        <p:cTn id="3717" dur="1" fill="hold">
                                          <p:stCondLst>
                                            <p:cond delay="0"/>
                                          </p:stCondLst>
                                        </p:cTn>
                                        <p:tgtEl>
                                          <p:spTgt spid="16"/>
                                        </p:tgtEl>
                                        <p:attrNameLst>
                                          <p:attrName>style.visibility</p:attrName>
                                        </p:attrNameLst>
                                      </p:cBhvr>
                                      <p:to>
                                        <p:strVal val="visible"/>
                                      </p:to>
                                    </p:set>
                                    <p:animEffect transition="in" filter="wipe(left)">
                                      <p:cBhvr>
                                        <p:cTn id="3718" dur="500"/>
                                        <p:tgtEl>
                                          <p:spTgt spid="16"/>
                                        </p:tgtEl>
                                      </p:cBhvr>
                                    </p:animEffect>
                                  </p:childTnLst>
                                </p:cTn>
                              </p:par>
                              <p:par>
                                <p:cTn id="3719" presetID="22" presetClass="entr" presetSubtype="8" fill="hold" nodeType="withEffect">
                                  <p:stCondLst>
                                    <p:cond delay="900"/>
                                  </p:stCondLst>
                                  <p:childTnLst>
                                    <p:set>
                                      <p:cBhvr>
                                        <p:cTn id="3720" dur="1" fill="hold">
                                          <p:stCondLst>
                                            <p:cond delay="0"/>
                                          </p:stCondLst>
                                        </p:cTn>
                                        <p:tgtEl>
                                          <p:spTgt spid="17"/>
                                        </p:tgtEl>
                                        <p:attrNameLst>
                                          <p:attrName>style.visibility</p:attrName>
                                        </p:attrNameLst>
                                      </p:cBhvr>
                                      <p:to>
                                        <p:strVal val="visible"/>
                                      </p:to>
                                    </p:set>
                                    <p:animEffect transition="in" filter="wipe(left)">
                                      <p:cBhvr>
                                        <p:cTn id="3721" dur="500"/>
                                        <p:tgtEl>
                                          <p:spTgt spid="17"/>
                                        </p:tgtEl>
                                      </p:cBhvr>
                                    </p:animEffect>
                                  </p:childTnLst>
                                </p:cTn>
                              </p:par>
                              <p:par>
                                <p:cTn id="3722" presetID="22" presetClass="entr" presetSubtype="8" fill="hold" nodeType="withEffect">
                                  <p:stCondLst>
                                    <p:cond delay="900"/>
                                  </p:stCondLst>
                                  <p:childTnLst>
                                    <p:set>
                                      <p:cBhvr>
                                        <p:cTn id="3723" dur="1" fill="hold">
                                          <p:stCondLst>
                                            <p:cond delay="0"/>
                                          </p:stCondLst>
                                        </p:cTn>
                                        <p:tgtEl>
                                          <p:spTgt spid="18"/>
                                        </p:tgtEl>
                                        <p:attrNameLst>
                                          <p:attrName>style.visibility</p:attrName>
                                        </p:attrNameLst>
                                      </p:cBhvr>
                                      <p:to>
                                        <p:strVal val="visible"/>
                                      </p:to>
                                    </p:set>
                                    <p:animEffect transition="in" filter="wipe(left)">
                                      <p:cBhvr>
                                        <p:cTn id="3724" dur="500"/>
                                        <p:tgtEl>
                                          <p:spTgt spid="18"/>
                                        </p:tgtEl>
                                      </p:cBhvr>
                                    </p:animEffect>
                                  </p:childTnLst>
                                </p:cTn>
                              </p:par>
                              <p:par>
                                <p:cTn id="3725" presetID="22" presetClass="entr" presetSubtype="8" fill="hold" nodeType="withEffect">
                                  <p:stCondLst>
                                    <p:cond delay="900"/>
                                  </p:stCondLst>
                                  <p:childTnLst>
                                    <p:set>
                                      <p:cBhvr>
                                        <p:cTn id="3726" dur="1" fill="hold">
                                          <p:stCondLst>
                                            <p:cond delay="0"/>
                                          </p:stCondLst>
                                        </p:cTn>
                                        <p:tgtEl>
                                          <p:spTgt spid="29"/>
                                        </p:tgtEl>
                                        <p:attrNameLst>
                                          <p:attrName>style.visibility</p:attrName>
                                        </p:attrNameLst>
                                      </p:cBhvr>
                                      <p:to>
                                        <p:strVal val="visible"/>
                                      </p:to>
                                    </p:set>
                                    <p:animEffect transition="in" filter="wipe(left)">
                                      <p:cBhvr>
                                        <p:cTn id="3727" dur="500"/>
                                        <p:tgtEl>
                                          <p:spTgt spid="29"/>
                                        </p:tgtEl>
                                      </p:cBhvr>
                                    </p:animEffect>
                                  </p:childTnLst>
                                </p:cTn>
                              </p:par>
                              <p:par>
                                <p:cTn id="3728" presetID="22" presetClass="entr" presetSubtype="8" fill="hold" nodeType="withEffect">
                                  <p:stCondLst>
                                    <p:cond delay="900"/>
                                  </p:stCondLst>
                                  <p:childTnLst>
                                    <p:set>
                                      <p:cBhvr>
                                        <p:cTn id="3729" dur="1" fill="hold">
                                          <p:stCondLst>
                                            <p:cond delay="0"/>
                                          </p:stCondLst>
                                        </p:cTn>
                                        <p:tgtEl>
                                          <p:spTgt spid="30"/>
                                        </p:tgtEl>
                                        <p:attrNameLst>
                                          <p:attrName>style.visibility</p:attrName>
                                        </p:attrNameLst>
                                      </p:cBhvr>
                                      <p:to>
                                        <p:strVal val="visible"/>
                                      </p:to>
                                    </p:set>
                                    <p:animEffect transition="in" filter="wipe(left)">
                                      <p:cBhvr>
                                        <p:cTn id="3730" dur="500"/>
                                        <p:tgtEl>
                                          <p:spTgt spid="30"/>
                                        </p:tgtEl>
                                      </p:cBhvr>
                                    </p:animEffect>
                                  </p:childTnLst>
                                </p:cTn>
                              </p:par>
                            </p:childTnLst>
                          </p:cTn>
                        </p:par>
                      </p:childTnLst>
                    </p:cTn>
                  </p:par>
                  <p:par>
                    <p:cTn id="3787" fill="hold">
                      <p:stCondLst>
                        <p:cond delay="indefinite"/>
                      </p:stCondLst>
                      <p:childTnLst>
                        <p:par>
                          <p:cTn id="3788" fill="hold">
                            <p:stCondLst>
                              <p:cond delay="0"/>
                            </p:stCondLst>
                            <p:childTnLst>
                              <p:par>
                                <p:cTn id="3733" presetID="10" presetClass="exit" presetSubtype="0" fill="hold" nodeType="clickEffect">
                                  <p:stCondLst>
                                    <p:cond delay="0"/>
                                  </p:stCondLst>
                                  <p:childTnLst>
                                    <p:animEffect transition="out" filter="fade">
                                      <p:cBhvr>
                                        <p:cTn id="3734" dur="400"/>
                                        <p:tgtEl>
                                          <p:spTgt spid="7"/>
                                        </p:tgtEl>
                                      </p:cBhvr>
                                    </p:animEffect>
                                    <p:set>
                                      <p:cBhvr>
                                        <p:cTn id="3735" dur="1" fill="hold">
                                          <p:stCondLst>
                                            <p:cond delay="399"/>
                                          </p:stCondLst>
                                        </p:cTn>
                                        <p:tgtEl>
                                          <p:spTgt spid="7"/>
                                        </p:tgtEl>
                                        <p:attrNameLst>
                                          <p:attrName>style.visibility</p:attrName>
                                        </p:attrNameLst>
                                      </p:cBhvr>
                                      <p:to>
                                        <p:strVal val="hidden"/>
                                      </p:to>
                                    </p:set>
                                  </p:childTnLst>
                                </p:cTn>
                              </p:par>
                              <p:par>
                                <p:cTn id="3736" presetID="10" presetClass="exit" presetSubtype="0" fill="hold" nodeType="withEffect">
                                  <p:stCondLst>
                                    <p:cond delay="0"/>
                                  </p:stCondLst>
                                  <p:childTnLst>
                                    <p:animEffect transition="out" filter="fade">
                                      <p:cBhvr>
                                        <p:cTn id="3737" dur="400"/>
                                        <p:tgtEl>
                                          <p:spTgt spid="8"/>
                                        </p:tgtEl>
                                      </p:cBhvr>
                                    </p:animEffect>
                                    <p:set>
                                      <p:cBhvr>
                                        <p:cTn id="3738" dur="1" fill="hold">
                                          <p:stCondLst>
                                            <p:cond delay="399"/>
                                          </p:stCondLst>
                                        </p:cTn>
                                        <p:tgtEl>
                                          <p:spTgt spid="8"/>
                                        </p:tgtEl>
                                        <p:attrNameLst>
                                          <p:attrName>style.visibility</p:attrName>
                                        </p:attrNameLst>
                                      </p:cBhvr>
                                      <p:to>
                                        <p:strVal val="hidden"/>
                                      </p:to>
                                    </p:set>
                                  </p:childTnLst>
                                </p:cTn>
                              </p:par>
                              <p:par>
                                <p:cTn id="3739" presetID="10" presetClass="exit" presetSubtype="0" fill="hold" nodeType="withEffect">
                                  <p:stCondLst>
                                    <p:cond delay="0"/>
                                  </p:stCondLst>
                                  <p:childTnLst>
                                    <p:animEffect transition="out" filter="fade">
                                      <p:cBhvr>
                                        <p:cTn id="3740" dur="400"/>
                                        <p:tgtEl>
                                          <p:spTgt spid="9"/>
                                        </p:tgtEl>
                                      </p:cBhvr>
                                    </p:animEffect>
                                    <p:set>
                                      <p:cBhvr>
                                        <p:cTn id="3741" dur="1" fill="hold">
                                          <p:stCondLst>
                                            <p:cond delay="399"/>
                                          </p:stCondLst>
                                        </p:cTn>
                                        <p:tgtEl>
                                          <p:spTgt spid="9"/>
                                        </p:tgtEl>
                                        <p:attrNameLst>
                                          <p:attrName>style.visibility</p:attrName>
                                        </p:attrNameLst>
                                      </p:cBhvr>
                                      <p:to>
                                        <p:strVal val="hidden"/>
                                      </p:to>
                                    </p:set>
                                  </p:childTnLst>
                                </p:cTn>
                              </p:par>
                              <p:par>
                                <p:cTn id="3742" presetID="10" presetClass="exit" presetSubtype="0" fill="hold" nodeType="withEffect">
                                  <p:stCondLst>
                                    <p:cond delay="0"/>
                                  </p:stCondLst>
                                  <p:childTnLst>
                                    <p:animEffect transition="out" filter="fade">
                                      <p:cBhvr>
                                        <p:cTn id="3743" dur="400"/>
                                        <p:tgtEl>
                                          <p:spTgt spid="10"/>
                                        </p:tgtEl>
                                      </p:cBhvr>
                                    </p:animEffect>
                                    <p:set>
                                      <p:cBhvr>
                                        <p:cTn id="3744" dur="1" fill="hold">
                                          <p:stCondLst>
                                            <p:cond delay="399"/>
                                          </p:stCondLst>
                                        </p:cTn>
                                        <p:tgtEl>
                                          <p:spTgt spid="10"/>
                                        </p:tgtEl>
                                        <p:attrNameLst>
                                          <p:attrName>style.visibility</p:attrName>
                                        </p:attrNameLst>
                                      </p:cBhvr>
                                      <p:to>
                                        <p:strVal val="hidden"/>
                                      </p:to>
                                    </p:set>
                                  </p:childTnLst>
                                </p:cTn>
                              </p:par>
                              <p:par>
                                <p:cTn id="3745" presetID="10" presetClass="exit" presetSubtype="0" fill="hold" nodeType="withEffect">
                                  <p:stCondLst>
                                    <p:cond delay="0"/>
                                  </p:stCondLst>
                                  <p:childTnLst>
                                    <p:animEffect transition="out" filter="fade">
                                      <p:cBhvr>
                                        <p:cTn id="3746" dur="400"/>
                                        <p:tgtEl>
                                          <p:spTgt spid="11"/>
                                        </p:tgtEl>
                                      </p:cBhvr>
                                    </p:animEffect>
                                    <p:set>
                                      <p:cBhvr>
                                        <p:cTn id="3747" dur="1" fill="hold">
                                          <p:stCondLst>
                                            <p:cond delay="399"/>
                                          </p:stCondLst>
                                        </p:cTn>
                                        <p:tgtEl>
                                          <p:spTgt spid="11"/>
                                        </p:tgtEl>
                                        <p:attrNameLst>
                                          <p:attrName>style.visibility</p:attrName>
                                        </p:attrNameLst>
                                      </p:cBhvr>
                                      <p:to>
                                        <p:strVal val="hidden"/>
                                      </p:to>
                                    </p:set>
                                  </p:childTnLst>
                                </p:cTn>
                              </p:par>
                              <p:par>
                                <p:cTn id="3748" presetID="10" presetClass="exit" presetSubtype="0" fill="hold" nodeType="withEffect">
                                  <p:stCondLst>
                                    <p:cond delay="0"/>
                                  </p:stCondLst>
                                  <p:childTnLst>
                                    <p:animEffect transition="out" filter="fade">
                                      <p:cBhvr>
                                        <p:cTn id="3749" dur="400"/>
                                        <p:tgtEl>
                                          <p:spTgt spid="12"/>
                                        </p:tgtEl>
                                      </p:cBhvr>
                                    </p:animEffect>
                                    <p:set>
                                      <p:cBhvr>
                                        <p:cTn id="3750" dur="1" fill="hold">
                                          <p:stCondLst>
                                            <p:cond delay="399"/>
                                          </p:stCondLst>
                                        </p:cTn>
                                        <p:tgtEl>
                                          <p:spTgt spid="12"/>
                                        </p:tgtEl>
                                        <p:attrNameLst>
                                          <p:attrName>style.visibility</p:attrName>
                                        </p:attrNameLst>
                                      </p:cBhvr>
                                      <p:to>
                                        <p:strVal val="hidden"/>
                                      </p:to>
                                    </p:set>
                                  </p:childTnLst>
                                </p:cTn>
                              </p:par>
                              <p:par>
                                <p:cTn id="3751" presetID="10" presetClass="exit" presetSubtype="0" fill="hold" nodeType="withEffect">
                                  <p:stCondLst>
                                    <p:cond delay="0"/>
                                  </p:stCondLst>
                                  <p:childTnLst>
                                    <p:animEffect transition="out" filter="fade">
                                      <p:cBhvr>
                                        <p:cTn id="3752" dur="400"/>
                                        <p:tgtEl>
                                          <p:spTgt spid="13"/>
                                        </p:tgtEl>
                                      </p:cBhvr>
                                    </p:animEffect>
                                    <p:set>
                                      <p:cBhvr>
                                        <p:cTn id="3753" dur="1" fill="hold">
                                          <p:stCondLst>
                                            <p:cond delay="399"/>
                                          </p:stCondLst>
                                        </p:cTn>
                                        <p:tgtEl>
                                          <p:spTgt spid="13"/>
                                        </p:tgtEl>
                                        <p:attrNameLst>
                                          <p:attrName>style.visibility</p:attrName>
                                        </p:attrNameLst>
                                      </p:cBhvr>
                                      <p:to>
                                        <p:strVal val="hidden"/>
                                      </p:to>
                                    </p:set>
                                  </p:childTnLst>
                                </p:cTn>
                              </p:par>
                              <p:par>
                                <p:cTn id="3754" presetID="10" presetClass="exit" presetSubtype="0" fill="hold" nodeType="withEffect">
                                  <p:stCondLst>
                                    <p:cond delay="0"/>
                                  </p:stCondLst>
                                  <p:childTnLst>
                                    <p:animEffect transition="out" filter="fade">
                                      <p:cBhvr>
                                        <p:cTn id="3755" dur="400"/>
                                        <p:tgtEl>
                                          <p:spTgt spid="14"/>
                                        </p:tgtEl>
                                      </p:cBhvr>
                                    </p:animEffect>
                                    <p:set>
                                      <p:cBhvr>
                                        <p:cTn id="3756" dur="1" fill="hold">
                                          <p:stCondLst>
                                            <p:cond delay="399"/>
                                          </p:stCondLst>
                                        </p:cTn>
                                        <p:tgtEl>
                                          <p:spTgt spid="14"/>
                                        </p:tgtEl>
                                        <p:attrNameLst>
                                          <p:attrName>style.visibility</p:attrName>
                                        </p:attrNameLst>
                                      </p:cBhvr>
                                      <p:to>
                                        <p:strVal val="hidden"/>
                                      </p:to>
                                    </p:set>
                                  </p:childTnLst>
                                </p:cTn>
                              </p:par>
                              <p:par>
                                <p:cTn id="3757" presetID="10" presetClass="exit" presetSubtype="0" fill="hold" nodeType="withEffect">
                                  <p:stCondLst>
                                    <p:cond delay="0"/>
                                  </p:stCondLst>
                                  <p:childTnLst>
                                    <p:animEffect transition="out" filter="fade">
                                      <p:cBhvr>
                                        <p:cTn id="3758" dur="400"/>
                                        <p:tgtEl>
                                          <p:spTgt spid="15"/>
                                        </p:tgtEl>
                                      </p:cBhvr>
                                    </p:animEffect>
                                    <p:set>
                                      <p:cBhvr>
                                        <p:cTn id="3759" dur="1" fill="hold">
                                          <p:stCondLst>
                                            <p:cond delay="399"/>
                                          </p:stCondLst>
                                        </p:cTn>
                                        <p:tgtEl>
                                          <p:spTgt spid="15"/>
                                        </p:tgtEl>
                                        <p:attrNameLst>
                                          <p:attrName>style.visibility</p:attrName>
                                        </p:attrNameLst>
                                      </p:cBhvr>
                                      <p:to>
                                        <p:strVal val="hidden"/>
                                      </p:to>
                                    </p:set>
                                  </p:childTnLst>
                                </p:cTn>
                              </p:par>
                              <p:par>
                                <p:cTn id="3760" presetID="10" presetClass="exit" presetSubtype="0" fill="hold" nodeType="withEffect">
                                  <p:stCondLst>
                                    <p:cond delay="0"/>
                                  </p:stCondLst>
                                  <p:childTnLst>
                                    <p:animEffect transition="out" filter="fade">
                                      <p:cBhvr>
                                        <p:cTn id="3761" dur="400"/>
                                        <p:tgtEl>
                                          <p:spTgt spid="16"/>
                                        </p:tgtEl>
                                      </p:cBhvr>
                                    </p:animEffect>
                                    <p:set>
                                      <p:cBhvr>
                                        <p:cTn id="3762" dur="1" fill="hold">
                                          <p:stCondLst>
                                            <p:cond delay="399"/>
                                          </p:stCondLst>
                                        </p:cTn>
                                        <p:tgtEl>
                                          <p:spTgt spid="16"/>
                                        </p:tgtEl>
                                        <p:attrNameLst>
                                          <p:attrName>style.visibility</p:attrName>
                                        </p:attrNameLst>
                                      </p:cBhvr>
                                      <p:to>
                                        <p:strVal val="hidden"/>
                                      </p:to>
                                    </p:set>
                                  </p:childTnLst>
                                </p:cTn>
                              </p:par>
                              <p:par>
                                <p:cTn id="3763" presetID="10" presetClass="exit" presetSubtype="0" fill="hold" nodeType="withEffect">
                                  <p:stCondLst>
                                    <p:cond delay="0"/>
                                  </p:stCondLst>
                                  <p:childTnLst>
                                    <p:animEffect transition="out" filter="fade">
                                      <p:cBhvr>
                                        <p:cTn id="3764" dur="400"/>
                                        <p:tgtEl>
                                          <p:spTgt spid="17"/>
                                        </p:tgtEl>
                                      </p:cBhvr>
                                    </p:animEffect>
                                    <p:set>
                                      <p:cBhvr>
                                        <p:cTn id="3765" dur="1" fill="hold">
                                          <p:stCondLst>
                                            <p:cond delay="399"/>
                                          </p:stCondLst>
                                        </p:cTn>
                                        <p:tgtEl>
                                          <p:spTgt spid="17"/>
                                        </p:tgtEl>
                                        <p:attrNameLst>
                                          <p:attrName>style.visibility</p:attrName>
                                        </p:attrNameLst>
                                      </p:cBhvr>
                                      <p:to>
                                        <p:strVal val="hidden"/>
                                      </p:to>
                                    </p:set>
                                  </p:childTnLst>
                                </p:cTn>
                              </p:par>
                              <p:par>
                                <p:cTn id="3766" presetID="10" presetClass="exit" presetSubtype="0" fill="hold" nodeType="withEffect">
                                  <p:stCondLst>
                                    <p:cond delay="0"/>
                                  </p:stCondLst>
                                  <p:childTnLst>
                                    <p:animEffect transition="out" filter="fade">
                                      <p:cBhvr>
                                        <p:cTn id="3767" dur="400"/>
                                        <p:tgtEl>
                                          <p:spTgt spid="18"/>
                                        </p:tgtEl>
                                      </p:cBhvr>
                                    </p:animEffect>
                                    <p:set>
                                      <p:cBhvr>
                                        <p:cTn id="3768" dur="1" fill="hold">
                                          <p:stCondLst>
                                            <p:cond delay="399"/>
                                          </p:stCondLst>
                                        </p:cTn>
                                        <p:tgtEl>
                                          <p:spTgt spid="18"/>
                                        </p:tgtEl>
                                        <p:attrNameLst>
                                          <p:attrName>style.visibility</p:attrName>
                                        </p:attrNameLst>
                                      </p:cBhvr>
                                      <p:to>
                                        <p:strVal val="hidden"/>
                                      </p:to>
                                    </p:set>
                                  </p:childTnLst>
                                </p:cTn>
                              </p:par>
                              <p:par>
                                <p:cTn id="3769" presetID="10" presetClass="exit" presetSubtype="0" fill="hold" nodeType="withEffect">
                                  <p:stCondLst>
                                    <p:cond delay="0"/>
                                  </p:stCondLst>
                                  <p:childTnLst>
                                    <p:animEffect transition="out" filter="fade">
                                      <p:cBhvr>
                                        <p:cTn id="3770" dur="400"/>
                                        <p:tgtEl>
                                          <p:spTgt spid="29"/>
                                        </p:tgtEl>
                                      </p:cBhvr>
                                    </p:animEffect>
                                    <p:set>
                                      <p:cBhvr>
                                        <p:cTn id="3771" dur="1" fill="hold">
                                          <p:stCondLst>
                                            <p:cond delay="399"/>
                                          </p:stCondLst>
                                        </p:cTn>
                                        <p:tgtEl>
                                          <p:spTgt spid="29"/>
                                        </p:tgtEl>
                                        <p:attrNameLst>
                                          <p:attrName>style.visibility</p:attrName>
                                        </p:attrNameLst>
                                      </p:cBhvr>
                                      <p:to>
                                        <p:strVal val="hidden"/>
                                      </p:to>
                                    </p:set>
                                  </p:childTnLst>
                                </p:cTn>
                              </p:par>
                              <p:par>
                                <p:cTn id="3772" presetID="10" presetClass="exit" presetSubtype="0" fill="hold" nodeType="withEffect">
                                  <p:stCondLst>
                                    <p:cond delay="0"/>
                                  </p:stCondLst>
                                  <p:childTnLst>
                                    <p:animEffect transition="out" filter="fade">
                                      <p:cBhvr>
                                        <p:cTn id="3773" dur="400"/>
                                        <p:tgtEl>
                                          <p:spTgt spid="30"/>
                                        </p:tgtEl>
                                      </p:cBhvr>
                                    </p:animEffect>
                                    <p:set>
                                      <p:cBhvr>
                                        <p:cTn id="3774" dur="1" fill="hold">
                                          <p:stCondLst>
                                            <p:cond delay="399"/>
                                          </p:stCondLst>
                                        </p:cTn>
                                        <p:tgtEl>
                                          <p:spTgt spid="30"/>
                                        </p:tgtEl>
                                        <p:attrNameLst>
                                          <p:attrName>style.visibility</p:attrName>
                                        </p:attrNameLst>
                                      </p:cBhvr>
                                      <p:to>
                                        <p:strVal val="hidden"/>
                                      </p:to>
                                    </p:set>
                                  </p:childTnLst>
                                </p:cTn>
                              </p:par>
                              <p:par>
                                <p:cTn id="3775" presetID="22" presetClass="entr" presetSubtype="4" fill="hold" nodeType="withEffect">
                                  <p:stCondLst>
                                    <p:cond delay="200"/>
                                  </p:stCondLst>
                                  <p:childTnLst>
                                    <p:set>
                                      <p:cBhvr>
                                        <p:cTn id="3776" dur="1" fill="hold">
                                          <p:stCondLst>
                                            <p:cond delay="0"/>
                                          </p:stCondLst>
                                        </p:cTn>
                                        <p:tgtEl>
                                          <p:spTgt spid="19"/>
                                        </p:tgtEl>
                                        <p:attrNameLst>
                                          <p:attrName>style.visibility</p:attrName>
                                        </p:attrNameLst>
                                      </p:cBhvr>
                                      <p:to>
                                        <p:strVal val="visible"/>
                                      </p:to>
                                    </p:set>
                                    <p:animEffect transition="in" filter="wipe(down)">
                                      <p:cBhvr>
                                        <p:cTn id="3777" dur="500"/>
                                        <p:tgtEl>
                                          <p:spTgt spid="19"/>
                                        </p:tgtEl>
                                      </p:cBhvr>
                                    </p:animEffect>
                                  </p:childTnLst>
                                </p:cTn>
                              </p:par>
                              <p:par>
                                <p:cTn id="3778" presetID="22" presetClass="entr" presetSubtype="4" fill="hold" nodeType="withEffect">
                                  <p:stCondLst>
                                    <p:cond delay="270"/>
                                  </p:stCondLst>
                                  <p:childTnLst>
                                    <p:set>
                                      <p:cBhvr>
                                        <p:cTn id="3779" dur="1" fill="hold">
                                          <p:stCondLst>
                                            <p:cond delay="0"/>
                                          </p:stCondLst>
                                        </p:cTn>
                                        <p:tgtEl>
                                          <p:spTgt spid="20"/>
                                        </p:tgtEl>
                                        <p:attrNameLst>
                                          <p:attrName>style.visibility</p:attrName>
                                        </p:attrNameLst>
                                      </p:cBhvr>
                                      <p:to>
                                        <p:strVal val="visible"/>
                                      </p:to>
                                    </p:set>
                                    <p:animEffect transition="in" filter="wipe(down)">
                                      <p:cBhvr>
                                        <p:cTn id="3780" dur="500"/>
                                        <p:tgtEl>
                                          <p:spTgt spid="20"/>
                                        </p:tgtEl>
                                      </p:cBhvr>
                                    </p:animEffect>
                                  </p:childTnLst>
                                </p:cTn>
                              </p:par>
                              <p:par>
                                <p:cTn id="3781" presetID="22" presetClass="entr" presetSubtype="4" fill="hold" nodeType="withEffect">
                                  <p:stCondLst>
                                    <p:cond delay="340"/>
                                  </p:stCondLst>
                                  <p:childTnLst>
                                    <p:set>
                                      <p:cBhvr>
                                        <p:cTn id="3782" dur="1" fill="hold">
                                          <p:stCondLst>
                                            <p:cond delay="0"/>
                                          </p:stCondLst>
                                        </p:cTn>
                                        <p:tgtEl>
                                          <p:spTgt spid="31"/>
                                        </p:tgtEl>
                                        <p:attrNameLst>
                                          <p:attrName>style.visibility</p:attrName>
                                        </p:attrNameLst>
                                      </p:cBhvr>
                                      <p:to>
                                        <p:strVal val="visible"/>
                                      </p:to>
                                    </p:set>
                                    <p:animEffect transition="in" filter="wipe(down)">
                                      <p:cBhvr>
                                        <p:cTn id="3783" dur="500"/>
                                        <p:tgtEl>
                                          <p:spTgt spid="31"/>
                                        </p:tgtEl>
                                      </p:cBhvr>
                                    </p:animEffect>
                                  </p:childTnLst>
                                </p:cTn>
                              </p:par>
                              <p:par>
                                <p:cTn id="3784" presetID="22" presetClass="entr" presetSubtype="4" fill="hold" nodeType="withEffect">
                                  <p:stCondLst>
                                    <p:cond delay="410"/>
                                  </p:stCondLst>
                                  <p:childTnLst>
                                    <p:set>
                                      <p:cBhvr>
                                        <p:cTn id="3785" dur="1" fill="hold">
                                          <p:stCondLst>
                                            <p:cond delay="0"/>
                                          </p:stCondLst>
                                        </p:cTn>
                                        <p:tgtEl>
                                          <p:spTgt spid="32"/>
                                        </p:tgtEl>
                                        <p:attrNameLst>
                                          <p:attrName>style.visibility</p:attrName>
                                        </p:attrNameLst>
                                      </p:cBhvr>
                                      <p:to>
                                        <p:strVal val="visible"/>
                                      </p:to>
                                    </p:set>
                                    <p:animEffect transition="in" filter="wipe(down)">
                                      <p:cBhvr>
                                        <p:cTn id="3786" dur="500"/>
                                        <p:tgtEl>
                                          <p:spTgt spid="32"/>
                                        </p:tgtEl>
                                      </p:cBhvr>
                                    </p:animEffect>
                                  </p:childTnLst>
                                </p:cTn>
                              </p:par>
                            </p:childTnLst>
                          </p:cTn>
                        </p:par>
                      </p:childTnLst>
                    </p:cTn>
                  </p:par>
                  <p:par>
                    <p:cTn id="3819" fill="hold">
                      <p:stCondLst>
                        <p:cond delay="indefinite"/>
                      </p:stCondLst>
                      <p:childTnLst>
                        <p:par>
                          <p:cTn id="3820" fill="hold">
                            <p:stCondLst>
                              <p:cond delay="0"/>
                            </p:stCondLst>
                            <p:childTnLst>
                              <p:par>
                                <p:cTn id="3789" presetID="10" presetClass="exit" presetSubtype="0" fill="hold" nodeType="clickEffect">
                                  <p:stCondLst>
                                    <p:cond delay="0"/>
                                  </p:stCondLst>
                                  <p:childTnLst>
                                    <p:animEffect transition="out" filter="fade">
                                      <p:cBhvr>
                                        <p:cTn id="3790" dur="400"/>
                                        <p:tgtEl>
                                          <p:spTgt spid="19"/>
                                        </p:tgtEl>
                                      </p:cBhvr>
                                    </p:animEffect>
                                    <p:set>
                                      <p:cBhvr>
                                        <p:cTn id="3791" dur="1" fill="hold">
                                          <p:stCondLst>
                                            <p:cond delay="399"/>
                                          </p:stCondLst>
                                        </p:cTn>
                                        <p:tgtEl>
                                          <p:spTgt spid="19"/>
                                        </p:tgtEl>
                                        <p:attrNameLst>
                                          <p:attrName>style.visibility</p:attrName>
                                        </p:attrNameLst>
                                      </p:cBhvr>
                                      <p:to>
                                        <p:strVal val="hidden"/>
                                      </p:to>
                                    </p:set>
                                  </p:childTnLst>
                                </p:cTn>
                              </p:par>
                              <p:par>
                                <p:cTn id="3792" presetID="10" presetClass="exit" presetSubtype="0" fill="hold" nodeType="withEffect">
                                  <p:stCondLst>
                                    <p:cond delay="0"/>
                                  </p:stCondLst>
                                  <p:childTnLst>
                                    <p:animEffect transition="out" filter="fade">
                                      <p:cBhvr>
                                        <p:cTn id="3793" dur="400"/>
                                        <p:tgtEl>
                                          <p:spTgt spid="20"/>
                                        </p:tgtEl>
                                      </p:cBhvr>
                                    </p:animEffect>
                                    <p:set>
                                      <p:cBhvr>
                                        <p:cTn id="3794" dur="1" fill="hold">
                                          <p:stCondLst>
                                            <p:cond delay="399"/>
                                          </p:stCondLst>
                                        </p:cTn>
                                        <p:tgtEl>
                                          <p:spTgt spid="20"/>
                                        </p:tgtEl>
                                        <p:attrNameLst>
                                          <p:attrName>style.visibility</p:attrName>
                                        </p:attrNameLst>
                                      </p:cBhvr>
                                      <p:to>
                                        <p:strVal val="hidden"/>
                                      </p:to>
                                    </p:set>
                                  </p:childTnLst>
                                </p:cTn>
                              </p:par>
                              <p:par>
                                <p:cTn id="3795" presetID="10" presetClass="exit" presetSubtype="0" fill="hold" nodeType="withEffect">
                                  <p:stCondLst>
                                    <p:cond delay="0"/>
                                  </p:stCondLst>
                                  <p:childTnLst>
                                    <p:animEffect transition="out" filter="fade">
                                      <p:cBhvr>
                                        <p:cTn id="3796" dur="400"/>
                                        <p:tgtEl>
                                          <p:spTgt spid="31"/>
                                        </p:tgtEl>
                                      </p:cBhvr>
                                    </p:animEffect>
                                    <p:set>
                                      <p:cBhvr>
                                        <p:cTn id="3797" dur="1" fill="hold">
                                          <p:stCondLst>
                                            <p:cond delay="399"/>
                                          </p:stCondLst>
                                        </p:cTn>
                                        <p:tgtEl>
                                          <p:spTgt spid="31"/>
                                        </p:tgtEl>
                                        <p:attrNameLst>
                                          <p:attrName>style.visibility</p:attrName>
                                        </p:attrNameLst>
                                      </p:cBhvr>
                                      <p:to>
                                        <p:strVal val="hidden"/>
                                      </p:to>
                                    </p:set>
                                  </p:childTnLst>
                                </p:cTn>
                              </p:par>
                              <p:par>
                                <p:cTn id="3798" presetID="10" presetClass="exit" presetSubtype="0" fill="hold" nodeType="withEffect">
                                  <p:stCondLst>
                                    <p:cond delay="0"/>
                                  </p:stCondLst>
                                  <p:childTnLst>
                                    <p:animEffect transition="out" filter="fade">
                                      <p:cBhvr>
                                        <p:cTn id="3799" dur="400"/>
                                        <p:tgtEl>
                                          <p:spTgt spid="32"/>
                                        </p:tgtEl>
                                      </p:cBhvr>
                                    </p:animEffect>
                                    <p:set>
                                      <p:cBhvr>
                                        <p:cTn id="3800" dur="1" fill="hold">
                                          <p:stCondLst>
                                            <p:cond delay="399"/>
                                          </p:stCondLst>
                                        </p:cTn>
                                        <p:tgtEl>
                                          <p:spTgt spid="32"/>
                                        </p:tgtEl>
                                        <p:attrNameLst>
                                          <p:attrName>style.visibility</p:attrName>
                                        </p:attrNameLst>
                                      </p:cBhvr>
                                      <p:to>
                                        <p:strVal val="hidden"/>
                                      </p:to>
                                    </p:set>
                                  </p:childTnLst>
                                </p:cTn>
                              </p:par>
                              <p:par>
                                <p:cTn id="3801" presetID="10" presetClass="entr" presetSubtype="0" fill="hold" nodeType="withEffect">
                                  <p:stCondLst>
                                    <p:cond delay="200"/>
                                  </p:stCondLst>
                                  <p:childTnLst>
                                    <p:set>
                                      <p:cBhvr>
                                        <p:cTn id="3802" dur="1" fill="hold">
                                          <p:stCondLst>
                                            <p:cond delay="0"/>
                                          </p:stCondLst>
                                        </p:cTn>
                                        <p:tgtEl>
                                          <p:spTgt spid="21"/>
                                        </p:tgtEl>
                                        <p:attrNameLst>
                                          <p:attrName>style.visibility</p:attrName>
                                        </p:attrNameLst>
                                      </p:cBhvr>
                                      <p:to>
                                        <p:strVal val="visible"/>
                                      </p:to>
                                    </p:set>
                                    <p:animEffect transition="in" filter="fade">
                                      <p:cBhvr>
                                        <p:cTn id="3803" dur="500"/>
                                        <p:tgtEl>
                                          <p:spTgt spid="21"/>
                                        </p:tgtEl>
                                      </p:cBhvr>
                                    </p:animEffect>
                                  </p:childTnLst>
                                </p:cTn>
                              </p:par>
                              <p:par>
                                <p:cTn id="3804" presetID="10" presetClass="entr" presetSubtype="0" fill="hold" nodeType="withEffect">
                                  <p:stCondLst>
                                    <p:cond delay="270"/>
                                  </p:stCondLst>
                                  <p:childTnLst>
                                    <p:set>
                                      <p:cBhvr>
                                        <p:cTn id="3805" dur="1" fill="hold">
                                          <p:stCondLst>
                                            <p:cond delay="0"/>
                                          </p:stCondLst>
                                        </p:cTn>
                                        <p:tgtEl>
                                          <p:spTgt spid="22"/>
                                        </p:tgtEl>
                                        <p:attrNameLst>
                                          <p:attrName>style.visibility</p:attrName>
                                        </p:attrNameLst>
                                      </p:cBhvr>
                                      <p:to>
                                        <p:strVal val="visible"/>
                                      </p:to>
                                    </p:set>
                                    <p:animEffect transition="in" filter="fade">
                                      <p:cBhvr>
                                        <p:cTn id="3806" dur="500"/>
                                        <p:tgtEl>
                                          <p:spTgt spid="22"/>
                                        </p:tgtEl>
                                      </p:cBhvr>
                                    </p:animEffect>
                                  </p:childTnLst>
                                </p:cTn>
                              </p:par>
                              <p:par>
                                <p:cTn id="3807" presetID="10" presetClass="entr" presetSubtype="0" fill="hold" nodeType="withEffect">
                                  <p:stCondLst>
                                    <p:cond delay="340"/>
                                  </p:stCondLst>
                                  <p:childTnLst>
                                    <p:set>
                                      <p:cBhvr>
                                        <p:cTn id="3808" dur="1" fill="hold">
                                          <p:stCondLst>
                                            <p:cond delay="0"/>
                                          </p:stCondLst>
                                        </p:cTn>
                                        <p:tgtEl>
                                          <p:spTgt spid="23"/>
                                        </p:tgtEl>
                                        <p:attrNameLst>
                                          <p:attrName>style.visibility</p:attrName>
                                        </p:attrNameLst>
                                      </p:cBhvr>
                                      <p:to>
                                        <p:strVal val="visible"/>
                                      </p:to>
                                    </p:set>
                                    <p:animEffect transition="in" filter="fade">
                                      <p:cBhvr>
                                        <p:cTn id="3809" dur="500"/>
                                        <p:tgtEl>
                                          <p:spTgt spid="23"/>
                                        </p:tgtEl>
                                      </p:cBhvr>
                                    </p:animEffect>
                                  </p:childTnLst>
                                </p:cTn>
                              </p:par>
                              <p:par>
                                <p:cTn id="3810" presetID="10" presetClass="entr" presetSubtype="0" fill="hold" nodeType="withEffect">
                                  <p:stCondLst>
                                    <p:cond delay="410"/>
                                  </p:stCondLst>
                                  <p:childTnLst>
                                    <p:set>
                                      <p:cBhvr>
                                        <p:cTn id="3811" dur="1" fill="hold">
                                          <p:stCondLst>
                                            <p:cond delay="0"/>
                                          </p:stCondLst>
                                        </p:cTn>
                                        <p:tgtEl>
                                          <p:spTgt spid="24"/>
                                        </p:tgtEl>
                                        <p:attrNameLst>
                                          <p:attrName>style.visibility</p:attrName>
                                        </p:attrNameLst>
                                      </p:cBhvr>
                                      <p:to>
                                        <p:strVal val="visible"/>
                                      </p:to>
                                    </p:set>
                                    <p:animEffect transition="in" filter="fade">
                                      <p:cBhvr>
                                        <p:cTn id="3812" dur="500"/>
                                        <p:tgtEl>
                                          <p:spTgt spid="24"/>
                                        </p:tgtEl>
                                      </p:cBhvr>
                                    </p:animEffect>
                                  </p:childTnLst>
                                </p:cTn>
                              </p:par>
                              <p:par>
                                <p:cTn id="3813" presetID="10" presetClass="entr" presetSubtype="0" fill="hold" nodeType="withEffect">
                                  <p:stCondLst>
                                    <p:cond delay="480"/>
                                  </p:stCondLst>
                                  <p:childTnLst>
                                    <p:set>
                                      <p:cBhvr>
                                        <p:cTn id="3814" dur="1" fill="hold">
                                          <p:stCondLst>
                                            <p:cond delay="0"/>
                                          </p:stCondLst>
                                        </p:cTn>
                                        <p:tgtEl>
                                          <p:spTgt spid="33"/>
                                        </p:tgtEl>
                                        <p:attrNameLst>
                                          <p:attrName>style.visibility</p:attrName>
                                        </p:attrNameLst>
                                      </p:cBhvr>
                                      <p:to>
                                        <p:strVal val="visible"/>
                                      </p:to>
                                    </p:set>
                                    <p:animEffect transition="in" filter="fade">
                                      <p:cBhvr>
                                        <p:cTn id="3815" dur="500"/>
                                        <p:tgtEl>
                                          <p:spTgt spid="33"/>
                                        </p:tgtEl>
                                      </p:cBhvr>
                                    </p:animEffect>
                                  </p:childTnLst>
                                </p:cTn>
                              </p:par>
                              <p:par>
                                <p:cTn id="3816" presetID="10" presetClass="entr" presetSubtype="0" fill="hold" nodeType="withEffect">
                                  <p:stCondLst>
                                    <p:cond delay="550"/>
                                  </p:stCondLst>
                                  <p:childTnLst>
                                    <p:set>
                                      <p:cBhvr>
                                        <p:cTn id="3817" dur="1" fill="hold">
                                          <p:stCondLst>
                                            <p:cond delay="0"/>
                                          </p:stCondLst>
                                        </p:cTn>
                                        <p:tgtEl>
                                          <p:spTgt spid="34"/>
                                        </p:tgtEl>
                                        <p:attrNameLst>
                                          <p:attrName>style.visibility</p:attrName>
                                        </p:attrNameLst>
                                      </p:cBhvr>
                                      <p:to>
                                        <p:strVal val="visible"/>
                                      </p:to>
                                    </p:set>
                                    <p:animEffect transition="in" filter="fade">
                                      <p:cBhvr>
                                        <p:cTn id="381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hardware decide cuándo y el software qué valores</a:t>
            </a:r>
            <a:endParaRPr lang="en-US" sz="2200" dirty="0"/>
          </a:p>
        </p:txBody>
      </p:sp>
      <p:sp>
        <p:nvSpPr>
          <p:cNvPr id="3" name="Cabecera Qué se espera del sistema digital [s0]"/>
          <p:cNvSpPr/>
          <p:nvPr/>
        </p:nvSpPr>
        <p:spPr>
          <a:xfrm>
            <a:off x="966136" y="1561458"/>
            <a:ext cx="3525734" cy="320521"/>
          </a:xfrm>
          <a:prstGeom prst="rect">
            <a:avLst/>
          </a:prstGeom>
          <a:solidFill>
            <a:srgbClr val="1F4E79"/>
          </a:solidFill>
          <a:ln w="6350">
            <a:solidFill>
              <a:srgbClr val="1F4E79"/>
            </a:solidFill>
            <a:prstDash val="solid"/>
          </a:ln>
        </p:spPr>
      </p:sp>
      <p:sp>
        <p:nvSpPr>
          <p:cNvPr id="4" name="Elemento [s0]"/>
          <p:cNvSpPr txBox="1"/>
          <p:nvPr/>
        </p:nvSpPr>
        <p:spPr>
          <a:xfrm>
            <a:off x="1006201" y="1561458"/>
            <a:ext cx="344560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Qué se espera del sistema digital</a:t>
            </a:r>
            <a:endParaRPr lang="en-US" sz="1260" dirty="0"/>
          </a:p>
        </p:txBody>
      </p:sp>
      <p:sp>
        <p:nvSpPr>
          <p:cNvPr id="5" name="Tarjeta Qué se espera del sistema digital [s0]"/>
          <p:cNvSpPr/>
          <p:nvPr/>
        </p:nvSpPr>
        <p:spPr>
          <a:xfrm>
            <a:off x="966136" y="1881980"/>
            <a:ext cx="3525734" cy="1242020"/>
          </a:xfrm>
          <a:prstGeom prst="rect">
            <a:avLst/>
          </a:prstGeom>
          <a:solidFill>
            <a:srgbClr val="FFFFFF"/>
          </a:solidFill>
          <a:ln w="16694">
            <a:solidFill>
              <a:srgbClr val="1F4E79"/>
            </a:solidFill>
            <a:prstDash val="solid"/>
          </a:ln>
        </p:spPr>
      </p:sp>
      <p:sp>
        <p:nvSpPr>
          <p:cNvPr id="6" name="Elemento [s0]"/>
          <p:cNvSpPr txBox="1"/>
          <p:nvPr/>
        </p:nvSpPr>
        <p:spPr>
          <a:xfrm>
            <a:off x="1062292" y="1946084"/>
            <a:ext cx="3333421" cy="1113811"/>
          </a:xfrm>
          <a:prstGeom prst="rect">
            <a:avLst/>
          </a:prstGeom>
          <a:noFill/>
          <a:ln/>
        </p:spPr>
        <p:txBody>
          <a:bodyPr wrap="square" lIns="0" tIns="0" rIns="0" bIns="0" rtlCol="0" anchor="t"/>
          <a:lstStyle/>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Arrancar la captura al mismo tiempo en todos los nodos</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Muestrear a un ritmo fijo</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Llevar cada muestra a memoria sin perder ninguna</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Guardar el registro y entregarlo después</a:t>
            </a:r>
            <a:endParaRPr lang="en-US" sz="1170" dirty="0"/>
          </a:p>
        </p:txBody>
      </p:sp>
      <p:sp>
        <p:nvSpPr>
          <p:cNvPr id="7" name="Cabecera Por qué no lo decide el procesador [s0]"/>
          <p:cNvSpPr/>
          <p:nvPr/>
        </p:nvSpPr>
        <p:spPr>
          <a:xfrm>
            <a:off x="4652130" y="1561458"/>
            <a:ext cx="3525734" cy="320521"/>
          </a:xfrm>
          <a:prstGeom prst="rect">
            <a:avLst/>
          </a:prstGeom>
          <a:solidFill>
            <a:srgbClr val="C55A11"/>
          </a:solidFill>
          <a:ln w="6350">
            <a:solidFill>
              <a:srgbClr val="C55A11"/>
            </a:solidFill>
            <a:prstDash val="solid"/>
          </a:ln>
        </p:spPr>
      </p:sp>
      <p:sp>
        <p:nvSpPr>
          <p:cNvPr id="8" name="Elemento [s0]"/>
          <p:cNvSpPr txBox="1"/>
          <p:nvPr/>
        </p:nvSpPr>
        <p:spPr>
          <a:xfrm>
            <a:off x="4692195" y="1561458"/>
            <a:ext cx="344560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Por qué no lo decide el procesador</a:t>
            </a:r>
            <a:endParaRPr lang="en-US" sz="1260" dirty="0"/>
          </a:p>
        </p:txBody>
      </p:sp>
      <p:sp>
        <p:nvSpPr>
          <p:cNvPr id="9" name="Tarjeta Por qué no lo decide el procesador [s0]"/>
          <p:cNvSpPr/>
          <p:nvPr/>
        </p:nvSpPr>
        <p:spPr>
          <a:xfrm>
            <a:off x="4652130" y="1881980"/>
            <a:ext cx="3525734" cy="1242020"/>
          </a:xfrm>
          <a:prstGeom prst="rect">
            <a:avLst/>
          </a:prstGeom>
          <a:solidFill>
            <a:srgbClr val="FFFFFF"/>
          </a:solidFill>
          <a:ln w="16694">
            <a:solidFill>
              <a:srgbClr val="C55A11"/>
            </a:solidFill>
            <a:prstDash val="solid"/>
          </a:ln>
        </p:spPr>
      </p:sp>
      <p:sp>
        <p:nvSpPr>
          <p:cNvPr id="10" name="Elemento [s0]"/>
          <p:cNvSpPr txBox="1"/>
          <p:nvPr/>
        </p:nvSpPr>
        <p:spPr>
          <a:xfrm>
            <a:off x="4748287" y="1946084"/>
            <a:ext cx="3333421" cy="1113811"/>
          </a:xfrm>
          <a:prstGeom prst="rect">
            <a:avLst/>
          </a:prstGeom>
          <a:noFill/>
          <a:ln/>
        </p:spPr>
        <p:txBody>
          <a:bodyPr wrap="square" lIns="0" tIns="0" rIns="0" bIns="0" rtlCol="0" anchor="t"/>
          <a:lstStyle/>
          <a:p>
            <a:pPr algn="l" indent="0" marL="0">
              <a:buNone/>
            </a:pPr>
            <a:endParaRPr lang="en-US" sz="1170" dirty="0"/>
          </a:p>
        </p:txBody>
      </p:sp>
      <p:sp>
        <p:nvSpPr>
          <p:cNvPr id="11" name="Elemento [s0]"/>
          <p:cNvSpPr txBox="1"/>
          <p:nvPr/>
        </p:nvSpPr>
        <p:spPr>
          <a:xfrm>
            <a:off x="4748287" y="1946084"/>
            <a:ext cx="3333421" cy="440717"/>
          </a:xfrm>
          <a:prstGeom prst="rect">
            <a:avLst/>
          </a:prstGeom>
          <a:noFill/>
          <a:ln/>
        </p:spPr>
        <p:txBody>
          <a:bodyPr wrap="square" lIns="0" tIns="0" rIns="0" bIns="0" rtlCol="0" anchor="t"/>
          <a:lstStyle/>
          <a:p>
            <a:pPr indent="0" marL="0">
              <a:buNone/>
            </a:pPr>
            <a:r>
              <a:rPr lang="en-US" sz="108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080" dirty="0"/>
          </a:p>
        </p:txBody>
      </p:sp>
      <p:sp>
        <p:nvSpPr>
          <p:cNvPr id="12" name="Fondo E_dphi [s0]"/>
          <p:cNvSpPr/>
          <p:nvPr/>
        </p:nvSpPr>
        <p:spPr>
          <a:xfrm>
            <a:off x="4892521" y="2426866"/>
            <a:ext cx="2884691" cy="40065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3" name="Ecuación E_dphi [s0]"/>
              <p:cNvSpPr txBox="1"/>
              <p:nvPr/>
            </p:nvSpPr>
            <p:spPr>
              <a:xfrm>
                <a:off x="4892521" y="2426866"/>
                <a:ext cx="2884691" cy="40065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Δφ=360°·f·Δt</m:t>
                      </m:r>
                    </m:oMath>
                  </m:oMathPara>
                </a14:m>
                <a:endParaRPr lang="es-ES"/>
              </a:p>
            </p:txBody>
          </p:sp>
        </mc:Choice>
        <mc:Fallback>
          <p:sp>
            <p:nvSpPr>
              <p:cNvPr id="13" name="Ecuación E_dphi [s0]"/>
              <p:cNvSpPr txBox="1"/>
              <p:nvPr/>
            </p:nvSpPr>
            <p:spPr>
              <a:xfrm>
                <a:off x="4892521" y="2426866"/>
                <a:ext cx="2884691" cy="40065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Δφ = 360° · f · Δt</a:t>
                </a:r>
                <a:endParaRPr lang="en-US" sz="2159" dirty="0"/>
              </a:p>
            </p:txBody>
          </p:sp>
        </mc:Fallback>
      </mc:AlternateContent>
      <p:sp>
        <p:nvSpPr>
          <p:cNvPr id="14" name="Elemento [s0]"/>
          <p:cNvSpPr txBox="1"/>
          <p:nvPr/>
        </p:nvSpPr>
        <p:spPr>
          <a:xfrm>
            <a:off x="4748287" y="2867582"/>
            <a:ext cx="3333421" cy="200326"/>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y, con ella, error en la velocidad de fase</a:t>
            </a:r>
            <a:endParaRPr lang="en-US" sz="1080" dirty="0"/>
          </a:p>
        </p:txBody>
      </p:sp>
      <p:sp>
        <p:nvSpPr>
          <p:cNvPr id="15" name="Cabecera Hardware: decide cuándo [s0]"/>
          <p:cNvSpPr/>
          <p:nvPr/>
        </p:nvSpPr>
        <p:spPr>
          <a:xfrm>
            <a:off x="966136" y="3244195"/>
            <a:ext cx="3525734" cy="280456"/>
          </a:xfrm>
          <a:prstGeom prst="rect">
            <a:avLst/>
          </a:prstGeom>
          <a:solidFill>
            <a:srgbClr val="1F4E79"/>
          </a:solidFill>
          <a:ln w="6350">
            <a:solidFill>
              <a:srgbClr val="1F4E79"/>
            </a:solidFill>
            <a:prstDash val="solid"/>
          </a:ln>
        </p:spPr>
      </p:sp>
      <p:sp>
        <p:nvSpPr>
          <p:cNvPr id="16" name="Elemento [s0]"/>
          <p:cNvSpPr txBox="1"/>
          <p:nvPr/>
        </p:nvSpPr>
        <p:spPr>
          <a:xfrm>
            <a:off x="1006201" y="3244195"/>
            <a:ext cx="3445604" cy="280456"/>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Hardware: decide cuándo</a:t>
            </a:r>
            <a:endParaRPr lang="en-US" sz="1170" dirty="0"/>
          </a:p>
        </p:txBody>
      </p:sp>
      <p:sp>
        <p:nvSpPr>
          <p:cNvPr id="17" name="Tarjeta Hardware: decide cuándo [s0]"/>
          <p:cNvSpPr/>
          <p:nvPr/>
        </p:nvSpPr>
        <p:spPr>
          <a:xfrm>
            <a:off x="966136" y="3524651"/>
            <a:ext cx="3525734" cy="921499"/>
          </a:xfrm>
          <a:prstGeom prst="rect">
            <a:avLst/>
          </a:prstGeom>
          <a:solidFill>
            <a:srgbClr val="FFFFFF"/>
          </a:solidFill>
          <a:ln w="16694">
            <a:solidFill>
              <a:srgbClr val="1F4E79"/>
            </a:solidFill>
            <a:prstDash val="solid"/>
          </a:ln>
        </p:spPr>
      </p:sp>
      <p:sp>
        <p:nvSpPr>
          <p:cNvPr id="18" name="Elemento [s0]"/>
          <p:cNvSpPr txBox="1"/>
          <p:nvPr/>
        </p:nvSpPr>
        <p:spPr>
          <a:xfrm>
            <a:off x="1062292" y="3588755"/>
            <a:ext cx="3333421" cy="793290"/>
          </a:xfrm>
          <a:prstGeom prst="rect">
            <a:avLst/>
          </a:prstGeom>
          <a:noFill/>
          <a:ln/>
        </p:spPr>
        <p:txBody>
          <a:bodyPr wrap="square" lIns="0" tIns="0" rIns="0" bIns="0" rtlCol="0" anchor="t"/>
          <a:lstStyle/>
          <a:p>
            <a:pPr algn="l" indent="0" marL="0">
              <a:buNone/>
            </a:pPr>
            <a:r>
              <a:rPr lang="en-US" sz="1125"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125" dirty="0"/>
          </a:p>
        </p:txBody>
      </p:sp>
      <p:sp>
        <p:nvSpPr>
          <p:cNvPr id="19" name="Cabecera Software: decide qué valores [s0]"/>
          <p:cNvSpPr/>
          <p:nvPr/>
        </p:nvSpPr>
        <p:spPr>
          <a:xfrm>
            <a:off x="4652130" y="3244195"/>
            <a:ext cx="3525734" cy="280456"/>
          </a:xfrm>
          <a:prstGeom prst="rect">
            <a:avLst/>
          </a:prstGeom>
          <a:solidFill>
            <a:srgbClr val="2E75B6"/>
          </a:solidFill>
          <a:ln w="6350">
            <a:solidFill>
              <a:srgbClr val="2E75B6"/>
            </a:solidFill>
            <a:prstDash val="solid"/>
          </a:ln>
        </p:spPr>
      </p:sp>
      <p:sp>
        <p:nvSpPr>
          <p:cNvPr id="20" name="Elemento [s0]"/>
          <p:cNvSpPr txBox="1"/>
          <p:nvPr/>
        </p:nvSpPr>
        <p:spPr>
          <a:xfrm>
            <a:off x="4692195" y="3244195"/>
            <a:ext cx="3445604" cy="280456"/>
          </a:xfrm>
          <a:prstGeom prst="rect">
            <a:avLst/>
          </a:prstGeom>
          <a:noFill/>
          <a:ln/>
        </p:spPr>
        <p:txBody>
          <a:bodyPr wrap="square" lIns="0" tIns="0" rIns="0" bIns="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Software: decide qué valores</a:t>
            </a:r>
            <a:endParaRPr lang="en-US" sz="1170" dirty="0"/>
          </a:p>
        </p:txBody>
      </p:sp>
      <p:sp>
        <p:nvSpPr>
          <p:cNvPr id="21" name="Tarjeta Software: decide qué valores [s0]"/>
          <p:cNvSpPr/>
          <p:nvPr/>
        </p:nvSpPr>
        <p:spPr>
          <a:xfrm>
            <a:off x="4652130" y="3524651"/>
            <a:ext cx="3525734" cy="921499"/>
          </a:xfrm>
          <a:prstGeom prst="rect">
            <a:avLst/>
          </a:prstGeom>
          <a:solidFill>
            <a:srgbClr val="FFFFFF"/>
          </a:solidFill>
          <a:ln w="16694">
            <a:solidFill>
              <a:srgbClr val="2E75B6"/>
            </a:solidFill>
            <a:prstDash val="solid"/>
          </a:ln>
        </p:spPr>
      </p:sp>
      <p:sp>
        <p:nvSpPr>
          <p:cNvPr id="22" name="Elemento [s0]"/>
          <p:cNvSpPr txBox="1"/>
          <p:nvPr/>
        </p:nvSpPr>
        <p:spPr>
          <a:xfrm>
            <a:off x="4748287" y="3588755"/>
            <a:ext cx="3333421" cy="793290"/>
          </a:xfrm>
          <a:prstGeom prst="rect">
            <a:avLst/>
          </a:prstGeom>
          <a:noFill/>
          <a:ln/>
        </p:spPr>
        <p:txBody>
          <a:bodyPr wrap="square" lIns="0" tIns="0" rIns="0" bIns="0" rtlCol="0" anchor="t"/>
          <a:lstStyle/>
          <a:p>
            <a:pPr algn="l" indent="0" marL="0">
              <a:buNone/>
            </a:pPr>
            <a:r>
              <a:rPr lang="en-US" sz="1125"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125" dirty="0"/>
          </a:p>
        </p:txBody>
      </p:sp>
      <p:pic>
        <p:nvPicPr>
          <p:cNvPr id="23" name="Camino digital en PSoC Creator [s1]"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1126396" y="1481328"/>
            <a:ext cx="6891207" cy="2997675"/>
          </a:xfrm>
          <a:prstGeom prst="rect">
            <a:avLst/>
          </a:prstGeom>
        </p:spPr>
      </p:pic>
      <p:sp>
        <p:nvSpPr>
          <p:cNvPr id="24" name="Elemento [s1]"/>
          <p:cNvSpPr txBox="1"/>
          <p:nvPr/>
        </p:nvSpPr>
        <p:spPr>
          <a:xfrm>
            <a:off x="4972652" y="4406085"/>
            <a:ext cx="3205213"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CAPTURA CON ETIQUETAS EN INGLÉS (PSoC Creator)</a:t>
            </a:r>
            <a:endParaRPr lang="en-US" sz="900" dirty="0"/>
          </a:p>
        </p:txBody>
      </p:sp>
      <p:pic>
        <p:nvPicPr>
          <p:cNvPr id="25" name="Vista del PSoC [s2]" descr="Vista del PSoC 5LP: acondicionamiento y conversión, camino digital de muestras por DMA con ruta cruda y ruta FIR, control con superMaquina y enlace con el ESP32 esclavo">    </p:cNvPr>
          <p:cNvPicPr>
            <a:picLocks noChangeAspect="1"/>
          </p:cNvPicPr>
          <p:nvPr/>
        </p:nvPicPr>
        <p:blipFill>
          <a:blip r:embed="rId2"/>
          <a:stretch>
            <a:fillRect/>
          </a:stretch>
        </p:blipFill>
        <p:spPr>
          <a:xfrm>
            <a:off x="1450040" y="1200872"/>
            <a:ext cx="6243921" cy="3205213"/>
          </a:xfrm>
          <a:prstGeom prst="rect">
            <a:avLst/>
          </a:prstGeom>
        </p:spPr>
      </p:pic>
      <p:pic>
        <p:nvPicPr>
          <p:cNvPr id="26" name="Conformación del ruido [s3]" descr="Sobremuestreo y conformación del ruido delta-sigma: el ruido de cuantización sube con la frecuencia y el filtro digital rechaza la mayor parte">    </p:cNvPr>
          <p:cNvPicPr>
            <a:picLocks noChangeAspect="1"/>
          </p:cNvPicPr>
          <p:nvPr/>
        </p:nvPicPr>
        <p:blipFill>
          <a:blip r:embed="rId3"/>
          <a:stretch>
            <a:fillRect/>
          </a:stretch>
        </p:blipFill>
        <p:spPr>
          <a:xfrm>
            <a:off x="886005" y="1601523"/>
            <a:ext cx="4487298" cy="1886992"/>
          </a:xfrm>
          <a:prstGeom prst="rect">
            <a:avLst/>
          </a:prstGeom>
        </p:spPr>
      </p:pic>
      <p:sp>
        <p:nvSpPr>
          <p:cNvPr id="27" name="Elemento [s3]"/>
          <p:cNvSpPr txBox="1"/>
          <p:nvPr/>
        </p:nvSpPr>
        <p:spPr>
          <a:xfrm>
            <a:off x="886005" y="3524651"/>
            <a:ext cx="4487298"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FIGURA TRADUCIDA: fuente TI por confirmar</a:t>
            </a:r>
            <a:endParaRPr lang="en-US" sz="900" dirty="0"/>
          </a:p>
        </p:txBody>
      </p:sp>
      <p:sp>
        <p:nvSpPr>
          <p:cNvPr id="28" name="Cuerpo [s3]"/>
          <p:cNvSpPr txBox="1"/>
          <p:nvPr/>
        </p:nvSpPr>
        <p:spPr>
          <a:xfrm>
            <a:off x="5533564" y="1641589"/>
            <a:ext cx="2644300" cy="2083388"/>
          </a:xfrm>
          <a:prstGeom prst="rect">
            <a:avLst/>
          </a:prstGeom>
          <a:noFill/>
          <a:ln/>
        </p:spPr>
        <p:txBody>
          <a:bodyPr wrap="square" lIns="0" tIns="0" rIns="0" bIns="0" rtlCol="0" anchor="t"/>
          <a:lstStyle/>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170" dirty="0"/>
          </a:p>
        </p:txBody>
      </p:sp>
      <p:sp>
        <p:nvSpPr>
          <p:cNvPr id="29" name="Fondo mensaje [s3]"/>
          <p:cNvSpPr/>
          <p:nvPr/>
        </p:nvSpPr>
        <p:spPr>
          <a:xfrm>
            <a:off x="966136" y="3885237"/>
            <a:ext cx="7211728" cy="480782"/>
          </a:xfrm>
          <a:prstGeom prst="rect">
            <a:avLst/>
          </a:prstGeom>
          <a:solidFill>
            <a:srgbClr val="EAF1F8"/>
          </a:solidFill>
          <a:ln w="6350">
            <a:solidFill>
              <a:srgbClr val="EAF1F8"/>
            </a:solidFill>
            <a:prstDash val="solid"/>
          </a:ln>
        </p:spPr>
      </p:sp>
      <p:sp>
        <p:nvSpPr>
          <p:cNvPr id="30" name="Elemento [s3]"/>
          <p:cNvSpPr txBox="1"/>
          <p:nvPr/>
        </p:nvSpPr>
        <p:spPr>
          <a:xfrm>
            <a:off x="1086331" y="3885237"/>
            <a:ext cx="6971337" cy="480782"/>
          </a:xfrm>
          <a:prstGeom prst="rect">
            <a:avLst/>
          </a:prstGeom>
          <a:noFill/>
          <a:ln/>
        </p:spPr>
        <p:txBody>
          <a:bodyPr wrap="square" lIns="0" tIns="0" rIns="0" bIns="0" rtlCol="0" anchor="ctr"/>
          <a:lstStyle/>
          <a:p>
            <a:pPr indent="0" marL="0">
              <a:buNone/>
            </a:pPr>
            <a:r>
              <a:rPr lang="en-US" sz="144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440" dirty="0"/>
          </a:p>
        </p:txBody>
      </p:sp>
      <p:sp>
        <p:nvSpPr>
          <p:cNvPr id="31"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Reparto de tareas digitales entre la máquina de estados y el procesador</a:t>
            </a:r>
            <a:endParaRPr lang="en-US" sz="1400" dirty="0"/>
          </a:p>
        </p:txBody>
      </p:sp>
      <p:sp>
        <p:nvSpPr>
          <p:cNvPr id="32"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(criterio de reparto); resumen firmado, sec. 4.6.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φ</m:t>
                    </m:r>
                    <m:r>
                      <m:rPr>
                        <m:sty m:val="p"/>
                      </m:rPr>
                      <a:rPr lang="es-ES" sz="800">
                        <a:solidFill>
                          <a:srgbClr val="6B6B6B"/>
                        </a:solidFill>
                        <a:latin typeface="Cambria Math" panose="02040503050406030204" pitchFamily="18" charset="0"/>
                      </a:rPr>
                      <m:t xml:space="preserve">=</m:t>
                    </m:r>
                    <m:r>
                      <m:rPr>
                        <m:sty m:val="p"/>
                      </m:rPr>
                      <a:rPr lang="es-ES" sz="800">
                        <a:solidFill>
                          <a:srgbClr val="6B6B6B"/>
                        </a:solidFill>
                        <a:latin typeface="Cambria Math" panose="02040503050406030204" pitchFamily="18" charset="0"/>
                      </a:rPr>
                      <m:t xml:space="preserve">360</m:t>
                    </m:r>
                  </m:oMath>
                </a14:m>
              </mc:Choice>
              <mc:Fallback>
                <a:r>
                  <a:rPr lang="en-US" sz="800" dirty="0">
                    <a:solidFill>
                      <a:srgbClr val="6B6B6B"/>
                    </a:solidFill>
                    <a:latin typeface="Arial" pitchFamily="34" charset="0"/>
                    <a:ea typeface="Arial" pitchFamily="34" charset="-122"/>
                    <a:cs typeface="Arial" pitchFamily="34" charset="-120"/>
                  </a:rPr>
                  <a:t>Δφ = 360</a:t>
                </a:r>
              </mc:Fallback>
            </mc:AlternateContent>
            <a:r>
              <a:rPr lang="en-US" sz="800" dirty="0">
                <a:solidFill>
                  <a:srgbClr val="6B6B6B"/>
                </a:solidFill>
                <a:latin typeface="Arial" pitchFamily="34" charset="0"/>
                <a:ea typeface="Arial" pitchFamily="34" charset="-122"/>
                <a:cs typeface="Arial" pitchFamily="34" charset="-120"/>
              </a:rPr>
              <a:t>°·f·</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t</m:t>
                    </m:r>
                  </m:oMath>
                </a14:m>
              </mc:Choice>
              <mc:Fallback>
                <a:r>
                  <a:rPr lang="en-US" sz="800" dirty="0">
                    <a:solidFill>
                      <a:srgbClr val="6B6B6B"/>
                    </a:solidFill>
                    <a:latin typeface="Arial" pitchFamily="34" charset="0"/>
                    <a:ea typeface="Arial" pitchFamily="34" charset="-122"/>
                    <a:cs typeface="Arial" pitchFamily="34" charset="-120"/>
                  </a:rPr>
                  <a:t>Δt</a:t>
                </a:r>
              </mc:Fallback>
            </mc:AlternateContent>
            <a:r>
              <a:rPr lang="en-US" sz="800" dirty="0">
                <a:solidFill>
                  <a:srgbClr val="6B6B6B"/>
                </a:solidFill>
                <a:latin typeface="Arial" pitchFamily="34" charset="0"/>
                <a:ea typeface="Arial" pitchFamily="34" charset="-122"/>
                <a:cs typeface="Arial" pitchFamily="34" charset="-120"/>
              </a:rPr>
              <a:t>: relación estándar entre retardo y fase.</a:t>
            </a:r>
            <a:endParaRPr lang="en-US" sz="800" dirty="0"/>
          </a:p>
        </p:txBody>
      </p:sp>
      <p:sp>
        <p:nvSpPr>
          <p:cNvPr id="33"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Camino digital en PSoC Creator</a:t>
            </a:r>
            <a:endParaRPr lang="en-US" sz="1400" dirty="0"/>
          </a:p>
        </p:txBody>
      </p:sp>
      <p:sp>
        <p:nvSpPr>
          <p:cNvPr id="34"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Elaboración propia en PSoC Creator (resumen firmado, fig. 10 y sec. 4.6).</a:t>
            </a:r>
            <a:endParaRPr lang="en-US" sz="800" dirty="0"/>
          </a:p>
        </p:txBody>
      </p:sp>
      <p:sp>
        <p:nvSpPr>
          <p:cNvPr id="35"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Camino lógico de los datos y del control en el PSoC</a:t>
            </a:r>
            <a:endParaRPr lang="en-US" sz="1400" dirty="0"/>
          </a:p>
        </p:txBody>
      </p:sp>
      <p:sp>
        <p:nvSpPr>
          <p:cNvPr id="36"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18); resumen firmado, sec. 4.6 y fig. 10.</a:t>
            </a:r>
            <a:endParaRPr lang="en-US" sz="800" dirty="0"/>
          </a:p>
        </p:txBody>
      </p:sp>
      <p:sp>
        <p:nvSpPr>
          <p:cNvPr id="37"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Selección del tipo de ADC: por qué delta-sigma</a:t>
            </a:r>
            <a:endParaRPr lang="en-US" sz="1400" dirty="0"/>
          </a:p>
        </p:txBody>
      </p:sp>
      <p:sp>
        <p:nvSpPr>
          <p:cNvPr id="38"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Texas Instruments, material sobre sobremuestreo y conformación del ruido ΔΣ (documento exacto por confirmar); traducción al español; resumen firmado, sec. 4.6.</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99" fill="hold">
                      <p:stCondLst>
                        <p:cond delay="indefinite"/>
                      </p:stCondLst>
                      <p:childTnLst>
                        <p:par>
                          <p:cTn id="3900" fill="hold">
                            <p:stCondLst>
                              <p:cond delay="0"/>
                            </p:stCondLst>
                            <p:childTnLst>
                              <p:par>
                                <p:cTn id="3821" presetID="10" presetClass="exit" presetSubtype="0" fill="hold" nodeType="clickEffect">
                                  <p:stCondLst>
                                    <p:cond delay="0"/>
                                  </p:stCondLst>
                                  <p:childTnLst>
                                    <p:animEffect transition="out" filter="fade">
                                      <p:cBhvr>
                                        <p:cTn id="3822" dur="400"/>
                                        <p:tgtEl>
                                          <p:spTgt spid="3"/>
                                        </p:tgtEl>
                                      </p:cBhvr>
                                    </p:animEffect>
                                    <p:set>
                                      <p:cBhvr>
                                        <p:cTn id="3823" dur="1" fill="hold">
                                          <p:stCondLst>
                                            <p:cond delay="399"/>
                                          </p:stCondLst>
                                        </p:cTn>
                                        <p:tgtEl>
                                          <p:spTgt spid="3"/>
                                        </p:tgtEl>
                                        <p:attrNameLst>
                                          <p:attrName>style.visibility</p:attrName>
                                        </p:attrNameLst>
                                      </p:cBhvr>
                                      <p:to>
                                        <p:strVal val="hidden"/>
                                      </p:to>
                                    </p:set>
                                  </p:childTnLst>
                                </p:cTn>
                              </p:par>
                              <p:par>
                                <p:cTn id="3824" presetID="10" presetClass="exit" presetSubtype="0" fill="hold" nodeType="withEffect">
                                  <p:stCondLst>
                                    <p:cond delay="0"/>
                                  </p:stCondLst>
                                  <p:childTnLst>
                                    <p:animEffect transition="out" filter="fade">
                                      <p:cBhvr>
                                        <p:cTn id="3825" dur="400"/>
                                        <p:tgtEl>
                                          <p:spTgt spid="4"/>
                                        </p:tgtEl>
                                      </p:cBhvr>
                                    </p:animEffect>
                                    <p:set>
                                      <p:cBhvr>
                                        <p:cTn id="3826" dur="1" fill="hold">
                                          <p:stCondLst>
                                            <p:cond delay="399"/>
                                          </p:stCondLst>
                                        </p:cTn>
                                        <p:tgtEl>
                                          <p:spTgt spid="4"/>
                                        </p:tgtEl>
                                        <p:attrNameLst>
                                          <p:attrName>style.visibility</p:attrName>
                                        </p:attrNameLst>
                                      </p:cBhvr>
                                      <p:to>
                                        <p:strVal val="hidden"/>
                                      </p:to>
                                    </p:set>
                                  </p:childTnLst>
                                </p:cTn>
                              </p:par>
                              <p:par>
                                <p:cTn id="3827" presetID="10" presetClass="exit" presetSubtype="0" fill="hold" nodeType="withEffect">
                                  <p:stCondLst>
                                    <p:cond delay="0"/>
                                  </p:stCondLst>
                                  <p:childTnLst>
                                    <p:animEffect transition="out" filter="fade">
                                      <p:cBhvr>
                                        <p:cTn id="3828" dur="400"/>
                                        <p:tgtEl>
                                          <p:spTgt spid="5"/>
                                        </p:tgtEl>
                                      </p:cBhvr>
                                    </p:animEffect>
                                    <p:set>
                                      <p:cBhvr>
                                        <p:cTn id="3829" dur="1" fill="hold">
                                          <p:stCondLst>
                                            <p:cond delay="399"/>
                                          </p:stCondLst>
                                        </p:cTn>
                                        <p:tgtEl>
                                          <p:spTgt spid="5"/>
                                        </p:tgtEl>
                                        <p:attrNameLst>
                                          <p:attrName>style.visibility</p:attrName>
                                        </p:attrNameLst>
                                      </p:cBhvr>
                                      <p:to>
                                        <p:strVal val="hidden"/>
                                      </p:to>
                                    </p:set>
                                  </p:childTnLst>
                                </p:cTn>
                              </p:par>
                              <p:par>
                                <p:cTn id="3830" presetID="10" presetClass="exit" presetSubtype="0" fill="hold" nodeType="withEffect">
                                  <p:stCondLst>
                                    <p:cond delay="0"/>
                                  </p:stCondLst>
                                  <p:childTnLst>
                                    <p:animEffect transition="out" filter="fade">
                                      <p:cBhvr>
                                        <p:cTn id="3831" dur="400"/>
                                        <p:tgtEl>
                                          <p:spTgt spid="6"/>
                                        </p:tgtEl>
                                      </p:cBhvr>
                                    </p:animEffect>
                                    <p:set>
                                      <p:cBhvr>
                                        <p:cTn id="3832" dur="1" fill="hold">
                                          <p:stCondLst>
                                            <p:cond delay="399"/>
                                          </p:stCondLst>
                                        </p:cTn>
                                        <p:tgtEl>
                                          <p:spTgt spid="6"/>
                                        </p:tgtEl>
                                        <p:attrNameLst>
                                          <p:attrName>style.visibility</p:attrName>
                                        </p:attrNameLst>
                                      </p:cBhvr>
                                      <p:to>
                                        <p:strVal val="hidden"/>
                                      </p:to>
                                    </p:set>
                                  </p:childTnLst>
                                </p:cTn>
                              </p:par>
                              <p:par>
                                <p:cTn id="3833" presetID="10" presetClass="exit" presetSubtype="0" fill="hold" nodeType="withEffect">
                                  <p:stCondLst>
                                    <p:cond delay="0"/>
                                  </p:stCondLst>
                                  <p:childTnLst>
                                    <p:animEffect transition="out" filter="fade">
                                      <p:cBhvr>
                                        <p:cTn id="3834" dur="400"/>
                                        <p:tgtEl>
                                          <p:spTgt spid="7"/>
                                        </p:tgtEl>
                                      </p:cBhvr>
                                    </p:animEffect>
                                    <p:set>
                                      <p:cBhvr>
                                        <p:cTn id="3835" dur="1" fill="hold">
                                          <p:stCondLst>
                                            <p:cond delay="399"/>
                                          </p:stCondLst>
                                        </p:cTn>
                                        <p:tgtEl>
                                          <p:spTgt spid="7"/>
                                        </p:tgtEl>
                                        <p:attrNameLst>
                                          <p:attrName>style.visibility</p:attrName>
                                        </p:attrNameLst>
                                      </p:cBhvr>
                                      <p:to>
                                        <p:strVal val="hidden"/>
                                      </p:to>
                                    </p:set>
                                  </p:childTnLst>
                                </p:cTn>
                              </p:par>
                              <p:par>
                                <p:cTn id="3836" presetID="10" presetClass="exit" presetSubtype="0" fill="hold" nodeType="withEffect">
                                  <p:stCondLst>
                                    <p:cond delay="0"/>
                                  </p:stCondLst>
                                  <p:childTnLst>
                                    <p:animEffect transition="out" filter="fade">
                                      <p:cBhvr>
                                        <p:cTn id="3837" dur="400"/>
                                        <p:tgtEl>
                                          <p:spTgt spid="8"/>
                                        </p:tgtEl>
                                      </p:cBhvr>
                                    </p:animEffect>
                                    <p:set>
                                      <p:cBhvr>
                                        <p:cTn id="3838" dur="1" fill="hold">
                                          <p:stCondLst>
                                            <p:cond delay="399"/>
                                          </p:stCondLst>
                                        </p:cTn>
                                        <p:tgtEl>
                                          <p:spTgt spid="8"/>
                                        </p:tgtEl>
                                        <p:attrNameLst>
                                          <p:attrName>style.visibility</p:attrName>
                                        </p:attrNameLst>
                                      </p:cBhvr>
                                      <p:to>
                                        <p:strVal val="hidden"/>
                                      </p:to>
                                    </p:set>
                                  </p:childTnLst>
                                </p:cTn>
                              </p:par>
                              <p:par>
                                <p:cTn id="3839" presetID="10" presetClass="exit" presetSubtype="0" fill="hold" nodeType="withEffect">
                                  <p:stCondLst>
                                    <p:cond delay="0"/>
                                  </p:stCondLst>
                                  <p:childTnLst>
                                    <p:animEffect transition="out" filter="fade">
                                      <p:cBhvr>
                                        <p:cTn id="3840" dur="400"/>
                                        <p:tgtEl>
                                          <p:spTgt spid="9"/>
                                        </p:tgtEl>
                                      </p:cBhvr>
                                    </p:animEffect>
                                    <p:set>
                                      <p:cBhvr>
                                        <p:cTn id="3841" dur="1" fill="hold">
                                          <p:stCondLst>
                                            <p:cond delay="399"/>
                                          </p:stCondLst>
                                        </p:cTn>
                                        <p:tgtEl>
                                          <p:spTgt spid="9"/>
                                        </p:tgtEl>
                                        <p:attrNameLst>
                                          <p:attrName>style.visibility</p:attrName>
                                        </p:attrNameLst>
                                      </p:cBhvr>
                                      <p:to>
                                        <p:strVal val="hidden"/>
                                      </p:to>
                                    </p:set>
                                  </p:childTnLst>
                                </p:cTn>
                              </p:par>
                              <p:par>
                                <p:cTn id="3842" presetID="10" presetClass="exit" presetSubtype="0" fill="hold" nodeType="withEffect">
                                  <p:stCondLst>
                                    <p:cond delay="0"/>
                                  </p:stCondLst>
                                  <p:childTnLst>
                                    <p:animEffect transition="out" filter="fade">
                                      <p:cBhvr>
                                        <p:cTn id="3843" dur="400"/>
                                        <p:tgtEl>
                                          <p:spTgt spid="10"/>
                                        </p:tgtEl>
                                      </p:cBhvr>
                                    </p:animEffect>
                                    <p:set>
                                      <p:cBhvr>
                                        <p:cTn id="3844" dur="1" fill="hold">
                                          <p:stCondLst>
                                            <p:cond delay="399"/>
                                          </p:stCondLst>
                                        </p:cTn>
                                        <p:tgtEl>
                                          <p:spTgt spid="10"/>
                                        </p:tgtEl>
                                        <p:attrNameLst>
                                          <p:attrName>style.visibility</p:attrName>
                                        </p:attrNameLst>
                                      </p:cBhvr>
                                      <p:to>
                                        <p:strVal val="hidden"/>
                                      </p:to>
                                    </p:set>
                                  </p:childTnLst>
                                </p:cTn>
                              </p:par>
                              <p:par>
                                <p:cTn id="3845" presetID="10" presetClass="exit" presetSubtype="0" fill="hold" nodeType="withEffect">
                                  <p:stCondLst>
                                    <p:cond delay="0"/>
                                  </p:stCondLst>
                                  <p:childTnLst>
                                    <p:animEffect transition="out" filter="fade">
                                      <p:cBhvr>
                                        <p:cTn id="3846" dur="400"/>
                                        <p:tgtEl>
                                          <p:spTgt spid="11"/>
                                        </p:tgtEl>
                                      </p:cBhvr>
                                    </p:animEffect>
                                    <p:set>
                                      <p:cBhvr>
                                        <p:cTn id="3847" dur="1" fill="hold">
                                          <p:stCondLst>
                                            <p:cond delay="399"/>
                                          </p:stCondLst>
                                        </p:cTn>
                                        <p:tgtEl>
                                          <p:spTgt spid="11"/>
                                        </p:tgtEl>
                                        <p:attrNameLst>
                                          <p:attrName>style.visibility</p:attrName>
                                        </p:attrNameLst>
                                      </p:cBhvr>
                                      <p:to>
                                        <p:strVal val="hidden"/>
                                      </p:to>
                                    </p:set>
                                  </p:childTnLst>
                                </p:cTn>
                              </p:par>
                              <p:par>
                                <p:cTn id="3848" presetID="10" presetClass="exit" presetSubtype="0" fill="hold" nodeType="withEffect">
                                  <p:stCondLst>
                                    <p:cond delay="0"/>
                                  </p:stCondLst>
                                  <p:childTnLst>
                                    <p:animEffect transition="out" filter="fade">
                                      <p:cBhvr>
                                        <p:cTn id="3849" dur="400"/>
                                        <p:tgtEl>
                                          <p:spTgt spid="12"/>
                                        </p:tgtEl>
                                      </p:cBhvr>
                                    </p:animEffect>
                                    <p:set>
                                      <p:cBhvr>
                                        <p:cTn id="3850" dur="1" fill="hold">
                                          <p:stCondLst>
                                            <p:cond delay="399"/>
                                          </p:stCondLst>
                                        </p:cTn>
                                        <p:tgtEl>
                                          <p:spTgt spid="12"/>
                                        </p:tgtEl>
                                        <p:attrNameLst>
                                          <p:attrName>style.visibility</p:attrName>
                                        </p:attrNameLst>
                                      </p:cBhvr>
                                      <p:to>
                                        <p:strVal val="hidden"/>
                                      </p:to>
                                    </p:set>
                                  </p:childTnLst>
                                </p:cTn>
                              </p:par>
                              <p:par>
                                <p:cTn id="3851" presetID="10" presetClass="exit" presetSubtype="0" fill="hold" nodeType="withEffect">
                                  <p:stCondLst>
                                    <p:cond delay="0"/>
                                  </p:stCondLst>
                                  <p:childTnLst>
                                    <p:animEffect transition="out" filter="fade">
                                      <p:cBhvr>
                                        <p:cTn id="3852" dur="400"/>
                                        <p:tgtEl>
                                          <p:spTgt spid="13"/>
                                        </p:tgtEl>
                                      </p:cBhvr>
                                    </p:animEffect>
                                    <p:set>
                                      <p:cBhvr>
                                        <p:cTn id="3853" dur="1" fill="hold">
                                          <p:stCondLst>
                                            <p:cond delay="399"/>
                                          </p:stCondLst>
                                        </p:cTn>
                                        <p:tgtEl>
                                          <p:spTgt spid="13"/>
                                        </p:tgtEl>
                                        <p:attrNameLst>
                                          <p:attrName>style.visibility</p:attrName>
                                        </p:attrNameLst>
                                      </p:cBhvr>
                                      <p:to>
                                        <p:strVal val="hidden"/>
                                      </p:to>
                                    </p:set>
                                  </p:childTnLst>
                                </p:cTn>
                              </p:par>
                              <p:par>
                                <p:cTn id="3854" presetID="10" presetClass="exit" presetSubtype="0" fill="hold" nodeType="withEffect">
                                  <p:stCondLst>
                                    <p:cond delay="0"/>
                                  </p:stCondLst>
                                  <p:childTnLst>
                                    <p:animEffect transition="out" filter="fade">
                                      <p:cBhvr>
                                        <p:cTn id="3855" dur="400"/>
                                        <p:tgtEl>
                                          <p:spTgt spid="14"/>
                                        </p:tgtEl>
                                      </p:cBhvr>
                                    </p:animEffect>
                                    <p:set>
                                      <p:cBhvr>
                                        <p:cTn id="3856" dur="1" fill="hold">
                                          <p:stCondLst>
                                            <p:cond delay="399"/>
                                          </p:stCondLst>
                                        </p:cTn>
                                        <p:tgtEl>
                                          <p:spTgt spid="14"/>
                                        </p:tgtEl>
                                        <p:attrNameLst>
                                          <p:attrName>style.visibility</p:attrName>
                                        </p:attrNameLst>
                                      </p:cBhvr>
                                      <p:to>
                                        <p:strVal val="hidden"/>
                                      </p:to>
                                    </p:set>
                                  </p:childTnLst>
                                </p:cTn>
                              </p:par>
                              <p:par>
                                <p:cTn id="3857" presetID="10" presetClass="exit" presetSubtype="0" fill="hold" nodeType="withEffect">
                                  <p:stCondLst>
                                    <p:cond delay="0"/>
                                  </p:stCondLst>
                                  <p:childTnLst>
                                    <p:animEffect transition="out" filter="fade">
                                      <p:cBhvr>
                                        <p:cTn id="3858" dur="400"/>
                                        <p:tgtEl>
                                          <p:spTgt spid="15"/>
                                        </p:tgtEl>
                                      </p:cBhvr>
                                    </p:animEffect>
                                    <p:set>
                                      <p:cBhvr>
                                        <p:cTn id="3859" dur="1" fill="hold">
                                          <p:stCondLst>
                                            <p:cond delay="399"/>
                                          </p:stCondLst>
                                        </p:cTn>
                                        <p:tgtEl>
                                          <p:spTgt spid="15"/>
                                        </p:tgtEl>
                                        <p:attrNameLst>
                                          <p:attrName>style.visibility</p:attrName>
                                        </p:attrNameLst>
                                      </p:cBhvr>
                                      <p:to>
                                        <p:strVal val="hidden"/>
                                      </p:to>
                                    </p:set>
                                  </p:childTnLst>
                                </p:cTn>
                              </p:par>
                              <p:par>
                                <p:cTn id="3860" presetID="10" presetClass="exit" presetSubtype="0" fill="hold" nodeType="withEffect">
                                  <p:stCondLst>
                                    <p:cond delay="0"/>
                                  </p:stCondLst>
                                  <p:childTnLst>
                                    <p:animEffect transition="out" filter="fade">
                                      <p:cBhvr>
                                        <p:cTn id="3861" dur="400"/>
                                        <p:tgtEl>
                                          <p:spTgt spid="16"/>
                                        </p:tgtEl>
                                      </p:cBhvr>
                                    </p:animEffect>
                                    <p:set>
                                      <p:cBhvr>
                                        <p:cTn id="3862" dur="1" fill="hold">
                                          <p:stCondLst>
                                            <p:cond delay="399"/>
                                          </p:stCondLst>
                                        </p:cTn>
                                        <p:tgtEl>
                                          <p:spTgt spid="16"/>
                                        </p:tgtEl>
                                        <p:attrNameLst>
                                          <p:attrName>style.visibility</p:attrName>
                                        </p:attrNameLst>
                                      </p:cBhvr>
                                      <p:to>
                                        <p:strVal val="hidden"/>
                                      </p:to>
                                    </p:set>
                                  </p:childTnLst>
                                </p:cTn>
                              </p:par>
                              <p:par>
                                <p:cTn id="3863" presetID="10" presetClass="exit" presetSubtype="0" fill="hold" nodeType="withEffect">
                                  <p:stCondLst>
                                    <p:cond delay="0"/>
                                  </p:stCondLst>
                                  <p:childTnLst>
                                    <p:animEffect transition="out" filter="fade">
                                      <p:cBhvr>
                                        <p:cTn id="3864" dur="400"/>
                                        <p:tgtEl>
                                          <p:spTgt spid="17"/>
                                        </p:tgtEl>
                                      </p:cBhvr>
                                    </p:animEffect>
                                    <p:set>
                                      <p:cBhvr>
                                        <p:cTn id="3865" dur="1" fill="hold">
                                          <p:stCondLst>
                                            <p:cond delay="399"/>
                                          </p:stCondLst>
                                        </p:cTn>
                                        <p:tgtEl>
                                          <p:spTgt spid="17"/>
                                        </p:tgtEl>
                                        <p:attrNameLst>
                                          <p:attrName>style.visibility</p:attrName>
                                        </p:attrNameLst>
                                      </p:cBhvr>
                                      <p:to>
                                        <p:strVal val="hidden"/>
                                      </p:to>
                                    </p:set>
                                  </p:childTnLst>
                                </p:cTn>
                              </p:par>
                              <p:par>
                                <p:cTn id="3866" presetID="10" presetClass="exit" presetSubtype="0" fill="hold" nodeType="withEffect">
                                  <p:stCondLst>
                                    <p:cond delay="0"/>
                                  </p:stCondLst>
                                  <p:childTnLst>
                                    <p:animEffect transition="out" filter="fade">
                                      <p:cBhvr>
                                        <p:cTn id="3867" dur="400"/>
                                        <p:tgtEl>
                                          <p:spTgt spid="18"/>
                                        </p:tgtEl>
                                      </p:cBhvr>
                                    </p:animEffect>
                                    <p:set>
                                      <p:cBhvr>
                                        <p:cTn id="3868" dur="1" fill="hold">
                                          <p:stCondLst>
                                            <p:cond delay="399"/>
                                          </p:stCondLst>
                                        </p:cTn>
                                        <p:tgtEl>
                                          <p:spTgt spid="18"/>
                                        </p:tgtEl>
                                        <p:attrNameLst>
                                          <p:attrName>style.visibility</p:attrName>
                                        </p:attrNameLst>
                                      </p:cBhvr>
                                      <p:to>
                                        <p:strVal val="hidden"/>
                                      </p:to>
                                    </p:set>
                                  </p:childTnLst>
                                </p:cTn>
                              </p:par>
                              <p:par>
                                <p:cTn id="3869" presetID="10" presetClass="exit" presetSubtype="0" fill="hold" nodeType="withEffect">
                                  <p:stCondLst>
                                    <p:cond delay="0"/>
                                  </p:stCondLst>
                                  <p:childTnLst>
                                    <p:animEffect transition="out" filter="fade">
                                      <p:cBhvr>
                                        <p:cTn id="3870" dur="400"/>
                                        <p:tgtEl>
                                          <p:spTgt spid="19"/>
                                        </p:tgtEl>
                                      </p:cBhvr>
                                    </p:animEffect>
                                    <p:set>
                                      <p:cBhvr>
                                        <p:cTn id="3871" dur="1" fill="hold">
                                          <p:stCondLst>
                                            <p:cond delay="399"/>
                                          </p:stCondLst>
                                        </p:cTn>
                                        <p:tgtEl>
                                          <p:spTgt spid="19"/>
                                        </p:tgtEl>
                                        <p:attrNameLst>
                                          <p:attrName>style.visibility</p:attrName>
                                        </p:attrNameLst>
                                      </p:cBhvr>
                                      <p:to>
                                        <p:strVal val="hidden"/>
                                      </p:to>
                                    </p:set>
                                  </p:childTnLst>
                                </p:cTn>
                              </p:par>
                              <p:par>
                                <p:cTn id="3872" presetID="10" presetClass="exit" presetSubtype="0" fill="hold" nodeType="withEffect">
                                  <p:stCondLst>
                                    <p:cond delay="0"/>
                                  </p:stCondLst>
                                  <p:childTnLst>
                                    <p:animEffect transition="out" filter="fade">
                                      <p:cBhvr>
                                        <p:cTn id="3873" dur="400"/>
                                        <p:tgtEl>
                                          <p:spTgt spid="20"/>
                                        </p:tgtEl>
                                      </p:cBhvr>
                                    </p:animEffect>
                                    <p:set>
                                      <p:cBhvr>
                                        <p:cTn id="3874" dur="1" fill="hold">
                                          <p:stCondLst>
                                            <p:cond delay="399"/>
                                          </p:stCondLst>
                                        </p:cTn>
                                        <p:tgtEl>
                                          <p:spTgt spid="20"/>
                                        </p:tgtEl>
                                        <p:attrNameLst>
                                          <p:attrName>style.visibility</p:attrName>
                                        </p:attrNameLst>
                                      </p:cBhvr>
                                      <p:to>
                                        <p:strVal val="hidden"/>
                                      </p:to>
                                    </p:set>
                                  </p:childTnLst>
                                </p:cTn>
                              </p:par>
                              <p:par>
                                <p:cTn id="3875" presetID="10" presetClass="exit" presetSubtype="0" fill="hold" nodeType="withEffect">
                                  <p:stCondLst>
                                    <p:cond delay="0"/>
                                  </p:stCondLst>
                                  <p:childTnLst>
                                    <p:animEffect transition="out" filter="fade">
                                      <p:cBhvr>
                                        <p:cTn id="3876" dur="400"/>
                                        <p:tgtEl>
                                          <p:spTgt spid="21"/>
                                        </p:tgtEl>
                                      </p:cBhvr>
                                    </p:animEffect>
                                    <p:set>
                                      <p:cBhvr>
                                        <p:cTn id="3877" dur="1" fill="hold">
                                          <p:stCondLst>
                                            <p:cond delay="399"/>
                                          </p:stCondLst>
                                        </p:cTn>
                                        <p:tgtEl>
                                          <p:spTgt spid="21"/>
                                        </p:tgtEl>
                                        <p:attrNameLst>
                                          <p:attrName>style.visibility</p:attrName>
                                        </p:attrNameLst>
                                      </p:cBhvr>
                                      <p:to>
                                        <p:strVal val="hidden"/>
                                      </p:to>
                                    </p:set>
                                  </p:childTnLst>
                                </p:cTn>
                              </p:par>
                              <p:par>
                                <p:cTn id="3878" presetID="10" presetClass="exit" presetSubtype="0" fill="hold" nodeType="withEffect">
                                  <p:stCondLst>
                                    <p:cond delay="0"/>
                                  </p:stCondLst>
                                  <p:childTnLst>
                                    <p:animEffect transition="out" filter="fade">
                                      <p:cBhvr>
                                        <p:cTn id="3879" dur="400"/>
                                        <p:tgtEl>
                                          <p:spTgt spid="22"/>
                                        </p:tgtEl>
                                      </p:cBhvr>
                                    </p:animEffect>
                                    <p:set>
                                      <p:cBhvr>
                                        <p:cTn id="3880" dur="1" fill="hold">
                                          <p:stCondLst>
                                            <p:cond delay="399"/>
                                          </p:stCondLst>
                                        </p:cTn>
                                        <p:tgtEl>
                                          <p:spTgt spid="22"/>
                                        </p:tgtEl>
                                        <p:attrNameLst>
                                          <p:attrName>style.visibility</p:attrName>
                                        </p:attrNameLst>
                                      </p:cBhvr>
                                      <p:to>
                                        <p:strVal val="hidden"/>
                                      </p:to>
                                    </p:set>
                                  </p:childTnLst>
                                </p:cTn>
                              </p:par>
                              <p:par>
                                <p:cTn id="3881" presetID="10" presetClass="exit" presetSubtype="0" fill="hold" nodeType="withEffect">
                                  <p:stCondLst>
                                    <p:cond delay="0"/>
                                  </p:stCondLst>
                                  <p:childTnLst>
                                    <p:animEffect transition="out" filter="fade">
                                      <p:cBhvr>
                                        <p:cTn id="3882" dur="400"/>
                                        <p:tgtEl>
                                          <p:spTgt spid="31"/>
                                        </p:tgtEl>
                                      </p:cBhvr>
                                    </p:animEffect>
                                    <p:set>
                                      <p:cBhvr>
                                        <p:cTn id="3883" dur="1" fill="hold">
                                          <p:stCondLst>
                                            <p:cond delay="399"/>
                                          </p:stCondLst>
                                        </p:cTn>
                                        <p:tgtEl>
                                          <p:spTgt spid="31"/>
                                        </p:tgtEl>
                                        <p:attrNameLst>
                                          <p:attrName>style.visibility</p:attrName>
                                        </p:attrNameLst>
                                      </p:cBhvr>
                                      <p:to>
                                        <p:strVal val="hidden"/>
                                      </p:to>
                                    </p:set>
                                  </p:childTnLst>
                                </p:cTn>
                              </p:par>
                              <p:par>
                                <p:cTn id="3884" presetID="10" presetClass="exit" presetSubtype="0" fill="hold" nodeType="withEffect">
                                  <p:stCondLst>
                                    <p:cond delay="0"/>
                                  </p:stCondLst>
                                  <p:childTnLst>
                                    <p:animEffect transition="out" filter="fade">
                                      <p:cBhvr>
                                        <p:cTn id="3885" dur="400"/>
                                        <p:tgtEl>
                                          <p:spTgt spid="32"/>
                                        </p:tgtEl>
                                      </p:cBhvr>
                                    </p:animEffect>
                                    <p:set>
                                      <p:cBhvr>
                                        <p:cTn id="3886" dur="1" fill="hold">
                                          <p:stCondLst>
                                            <p:cond delay="399"/>
                                          </p:stCondLst>
                                        </p:cTn>
                                        <p:tgtEl>
                                          <p:spTgt spid="32"/>
                                        </p:tgtEl>
                                        <p:attrNameLst>
                                          <p:attrName>style.visibility</p:attrName>
                                        </p:attrNameLst>
                                      </p:cBhvr>
                                      <p:to>
                                        <p:strVal val="hidden"/>
                                      </p:to>
                                    </p:set>
                                  </p:childTnLst>
                                </p:cTn>
                              </p:par>
                              <p:par>
                                <p:cTn id="3887" presetID="10" presetClass="entr" presetSubtype="0" fill="hold" nodeType="withEffect">
                                  <p:stCondLst>
                                    <p:cond delay="200"/>
                                  </p:stCondLst>
                                  <p:childTnLst>
                                    <p:set>
                                      <p:cBhvr>
                                        <p:cTn id="3888" dur="1" fill="hold">
                                          <p:stCondLst>
                                            <p:cond delay="0"/>
                                          </p:stCondLst>
                                        </p:cTn>
                                        <p:tgtEl>
                                          <p:spTgt spid="23"/>
                                        </p:tgtEl>
                                        <p:attrNameLst>
                                          <p:attrName>style.visibility</p:attrName>
                                        </p:attrNameLst>
                                      </p:cBhvr>
                                      <p:to>
                                        <p:strVal val="visible"/>
                                      </p:to>
                                    </p:set>
                                    <p:animEffect transition="in" filter="fade">
                                      <p:cBhvr>
                                        <p:cTn id="3889" dur="500"/>
                                        <p:tgtEl>
                                          <p:spTgt spid="23"/>
                                        </p:tgtEl>
                                      </p:cBhvr>
                                    </p:animEffect>
                                  </p:childTnLst>
                                </p:cTn>
                              </p:par>
                              <p:par>
                                <p:cTn id="3890" presetID="10" presetClass="entr" presetSubtype="0" fill="hold" nodeType="withEffect">
                                  <p:stCondLst>
                                    <p:cond delay="270"/>
                                  </p:stCondLst>
                                  <p:childTnLst>
                                    <p:set>
                                      <p:cBhvr>
                                        <p:cTn id="3891" dur="1" fill="hold">
                                          <p:stCondLst>
                                            <p:cond delay="0"/>
                                          </p:stCondLst>
                                        </p:cTn>
                                        <p:tgtEl>
                                          <p:spTgt spid="24"/>
                                        </p:tgtEl>
                                        <p:attrNameLst>
                                          <p:attrName>style.visibility</p:attrName>
                                        </p:attrNameLst>
                                      </p:cBhvr>
                                      <p:to>
                                        <p:strVal val="visible"/>
                                      </p:to>
                                    </p:set>
                                    <p:animEffect transition="in" filter="fade">
                                      <p:cBhvr>
                                        <p:cTn id="3892" dur="500"/>
                                        <p:tgtEl>
                                          <p:spTgt spid="24"/>
                                        </p:tgtEl>
                                      </p:cBhvr>
                                    </p:animEffect>
                                  </p:childTnLst>
                                </p:cTn>
                              </p:par>
                              <p:par>
                                <p:cTn id="3893" presetID="10" presetClass="entr" presetSubtype="0" fill="hold" nodeType="withEffect">
                                  <p:stCondLst>
                                    <p:cond delay="340"/>
                                  </p:stCondLst>
                                  <p:childTnLst>
                                    <p:set>
                                      <p:cBhvr>
                                        <p:cTn id="3894" dur="1" fill="hold">
                                          <p:stCondLst>
                                            <p:cond delay="0"/>
                                          </p:stCondLst>
                                        </p:cTn>
                                        <p:tgtEl>
                                          <p:spTgt spid="33"/>
                                        </p:tgtEl>
                                        <p:attrNameLst>
                                          <p:attrName>style.visibility</p:attrName>
                                        </p:attrNameLst>
                                      </p:cBhvr>
                                      <p:to>
                                        <p:strVal val="visible"/>
                                      </p:to>
                                    </p:set>
                                    <p:animEffect transition="in" filter="fade">
                                      <p:cBhvr>
                                        <p:cTn id="3895" dur="500"/>
                                        <p:tgtEl>
                                          <p:spTgt spid="33"/>
                                        </p:tgtEl>
                                      </p:cBhvr>
                                    </p:animEffect>
                                  </p:childTnLst>
                                </p:cTn>
                              </p:par>
                              <p:par>
                                <p:cTn id="3896" presetID="10" presetClass="entr" presetSubtype="0" fill="hold" nodeType="withEffect">
                                  <p:stCondLst>
                                    <p:cond delay="410"/>
                                  </p:stCondLst>
                                  <p:childTnLst>
                                    <p:set>
                                      <p:cBhvr>
                                        <p:cTn id="3897" dur="1" fill="hold">
                                          <p:stCondLst>
                                            <p:cond delay="0"/>
                                          </p:stCondLst>
                                        </p:cTn>
                                        <p:tgtEl>
                                          <p:spTgt spid="34"/>
                                        </p:tgtEl>
                                        <p:attrNameLst>
                                          <p:attrName>style.visibility</p:attrName>
                                        </p:attrNameLst>
                                      </p:cBhvr>
                                      <p:to>
                                        <p:strVal val="visible"/>
                                      </p:to>
                                    </p:set>
                                    <p:animEffect transition="in" filter="fade">
                                      <p:cBhvr>
                                        <p:cTn id="3898" dur="500"/>
                                        <p:tgtEl>
                                          <p:spTgt spid="34"/>
                                        </p:tgtEl>
                                      </p:cBhvr>
                                    </p:animEffect>
                                  </p:childTnLst>
                                </p:cTn>
                              </p:par>
                            </p:childTnLst>
                          </p:cTn>
                        </p:par>
                      </p:childTnLst>
                    </p:cTn>
                  </p:par>
                  <p:par>
                    <p:cTn id="3922" fill="hold">
                      <p:stCondLst>
                        <p:cond delay="indefinite"/>
                      </p:stCondLst>
                      <p:childTnLst>
                        <p:par>
                          <p:cTn id="3923" fill="hold">
                            <p:stCondLst>
                              <p:cond delay="0"/>
                            </p:stCondLst>
                            <p:childTnLst>
                              <p:par>
                                <p:cTn id="3901" presetID="10" presetClass="exit" presetSubtype="0" fill="hold" nodeType="clickEffect">
                                  <p:stCondLst>
                                    <p:cond delay="0"/>
                                  </p:stCondLst>
                                  <p:childTnLst>
                                    <p:animEffect transition="out" filter="fade">
                                      <p:cBhvr>
                                        <p:cTn id="3902" dur="400"/>
                                        <p:tgtEl>
                                          <p:spTgt spid="23"/>
                                        </p:tgtEl>
                                      </p:cBhvr>
                                    </p:animEffect>
                                    <p:set>
                                      <p:cBhvr>
                                        <p:cTn id="3903" dur="1" fill="hold">
                                          <p:stCondLst>
                                            <p:cond delay="399"/>
                                          </p:stCondLst>
                                        </p:cTn>
                                        <p:tgtEl>
                                          <p:spTgt spid="23"/>
                                        </p:tgtEl>
                                        <p:attrNameLst>
                                          <p:attrName>style.visibility</p:attrName>
                                        </p:attrNameLst>
                                      </p:cBhvr>
                                      <p:to>
                                        <p:strVal val="hidden"/>
                                      </p:to>
                                    </p:set>
                                  </p:childTnLst>
                                </p:cTn>
                              </p:par>
                              <p:par>
                                <p:cTn id="3904" presetID="10" presetClass="exit" presetSubtype="0" fill="hold" nodeType="withEffect">
                                  <p:stCondLst>
                                    <p:cond delay="0"/>
                                  </p:stCondLst>
                                  <p:childTnLst>
                                    <p:animEffect transition="out" filter="fade">
                                      <p:cBhvr>
                                        <p:cTn id="3905" dur="400"/>
                                        <p:tgtEl>
                                          <p:spTgt spid="24"/>
                                        </p:tgtEl>
                                      </p:cBhvr>
                                    </p:animEffect>
                                    <p:set>
                                      <p:cBhvr>
                                        <p:cTn id="3906" dur="1" fill="hold">
                                          <p:stCondLst>
                                            <p:cond delay="399"/>
                                          </p:stCondLst>
                                        </p:cTn>
                                        <p:tgtEl>
                                          <p:spTgt spid="24"/>
                                        </p:tgtEl>
                                        <p:attrNameLst>
                                          <p:attrName>style.visibility</p:attrName>
                                        </p:attrNameLst>
                                      </p:cBhvr>
                                      <p:to>
                                        <p:strVal val="hidden"/>
                                      </p:to>
                                    </p:set>
                                  </p:childTnLst>
                                </p:cTn>
                              </p:par>
                              <p:par>
                                <p:cTn id="3907" presetID="10" presetClass="exit" presetSubtype="0" fill="hold" nodeType="withEffect">
                                  <p:stCondLst>
                                    <p:cond delay="0"/>
                                  </p:stCondLst>
                                  <p:childTnLst>
                                    <p:animEffect transition="out" filter="fade">
                                      <p:cBhvr>
                                        <p:cTn id="3908" dur="400"/>
                                        <p:tgtEl>
                                          <p:spTgt spid="33"/>
                                        </p:tgtEl>
                                      </p:cBhvr>
                                    </p:animEffect>
                                    <p:set>
                                      <p:cBhvr>
                                        <p:cTn id="3909" dur="1" fill="hold">
                                          <p:stCondLst>
                                            <p:cond delay="399"/>
                                          </p:stCondLst>
                                        </p:cTn>
                                        <p:tgtEl>
                                          <p:spTgt spid="33"/>
                                        </p:tgtEl>
                                        <p:attrNameLst>
                                          <p:attrName>style.visibility</p:attrName>
                                        </p:attrNameLst>
                                      </p:cBhvr>
                                      <p:to>
                                        <p:strVal val="hidden"/>
                                      </p:to>
                                    </p:set>
                                  </p:childTnLst>
                                </p:cTn>
                              </p:par>
                              <p:par>
                                <p:cTn id="3910" presetID="10" presetClass="exit" presetSubtype="0" fill="hold" nodeType="withEffect">
                                  <p:stCondLst>
                                    <p:cond delay="0"/>
                                  </p:stCondLst>
                                  <p:childTnLst>
                                    <p:animEffect transition="out" filter="fade">
                                      <p:cBhvr>
                                        <p:cTn id="3911" dur="400"/>
                                        <p:tgtEl>
                                          <p:spTgt spid="34"/>
                                        </p:tgtEl>
                                      </p:cBhvr>
                                    </p:animEffect>
                                    <p:set>
                                      <p:cBhvr>
                                        <p:cTn id="3912" dur="1" fill="hold">
                                          <p:stCondLst>
                                            <p:cond delay="399"/>
                                          </p:stCondLst>
                                        </p:cTn>
                                        <p:tgtEl>
                                          <p:spTgt spid="34"/>
                                        </p:tgtEl>
                                        <p:attrNameLst>
                                          <p:attrName>style.visibility</p:attrName>
                                        </p:attrNameLst>
                                      </p:cBhvr>
                                      <p:to>
                                        <p:strVal val="hidden"/>
                                      </p:to>
                                    </p:set>
                                  </p:childTnLst>
                                </p:cTn>
                              </p:par>
                              <p:par>
                                <p:cTn id="3913" presetID="22" presetClass="entr" presetSubtype="8" fill="hold" nodeType="withEffect">
                                  <p:stCondLst>
                                    <p:cond delay="200"/>
                                  </p:stCondLst>
                                  <p:childTnLst>
                                    <p:set>
                                      <p:cBhvr>
                                        <p:cTn id="3914" dur="1" fill="hold">
                                          <p:stCondLst>
                                            <p:cond delay="0"/>
                                          </p:stCondLst>
                                        </p:cTn>
                                        <p:tgtEl>
                                          <p:spTgt spid="25"/>
                                        </p:tgtEl>
                                        <p:attrNameLst>
                                          <p:attrName>style.visibility</p:attrName>
                                        </p:attrNameLst>
                                      </p:cBhvr>
                                      <p:to>
                                        <p:strVal val="visible"/>
                                      </p:to>
                                    </p:set>
                                    <p:animEffect transition="in" filter="wipe(left)">
                                      <p:cBhvr>
                                        <p:cTn id="3915" dur="500"/>
                                        <p:tgtEl>
                                          <p:spTgt spid="25"/>
                                        </p:tgtEl>
                                      </p:cBhvr>
                                    </p:animEffect>
                                  </p:childTnLst>
                                </p:cTn>
                              </p:par>
                              <p:par>
                                <p:cTn id="3916" presetID="22" presetClass="entr" presetSubtype="8" fill="hold" nodeType="withEffect">
                                  <p:stCondLst>
                                    <p:cond delay="270"/>
                                  </p:stCondLst>
                                  <p:childTnLst>
                                    <p:set>
                                      <p:cBhvr>
                                        <p:cTn id="3917" dur="1" fill="hold">
                                          <p:stCondLst>
                                            <p:cond delay="0"/>
                                          </p:stCondLst>
                                        </p:cTn>
                                        <p:tgtEl>
                                          <p:spTgt spid="35"/>
                                        </p:tgtEl>
                                        <p:attrNameLst>
                                          <p:attrName>style.visibility</p:attrName>
                                        </p:attrNameLst>
                                      </p:cBhvr>
                                      <p:to>
                                        <p:strVal val="visible"/>
                                      </p:to>
                                    </p:set>
                                    <p:animEffect transition="in" filter="wipe(left)">
                                      <p:cBhvr>
                                        <p:cTn id="3918" dur="500"/>
                                        <p:tgtEl>
                                          <p:spTgt spid="35"/>
                                        </p:tgtEl>
                                      </p:cBhvr>
                                    </p:animEffect>
                                  </p:childTnLst>
                                </p:cTn>
                              </p:par>
                              <p:par>
                                <p:cTn id="3919" presetID="22" presetClass="entr" presetSubtype="8" fill="hold" nodeType="withEffect">
                                  <p:stCondLst>
                                    <p:cond delay="340"/>
                                  </p:stCondLst>
                                  <p:childTnLst>
                                    <p:set>
                                      <p:cBhvr>
                                        <p:cTn id="3920" dur="1" fill="hold">
                                          <p:stCondLst>
                                            <p:cond delay="0"/>
                                          </p:stCondLst>
                                        </p:cTn>
                                        <p:tgtEl>
                                          <p:spTgt spid="36"/>
                                        </p:tgtEl>
                                        <p:attrNameLst>
                                          <p:attrName>style.visibility</p:attrName>
                                        </p:attrNameLst>
                                      </p:cBhvr>
                                      <p:to>
                                        <p:strVal val="visible"/>
                                      </p:to>
                                    </p:set>
                                    <p:animEffect transition="in" filter="wipe(left)">
                                      <p:cBhvr>
                                        <p:cTn id="3921" dur="500"/>
                                        <p:tgtEl>
                                          <p:spTgt spid="36"/>
                                        </p:tgtEl>
                                      </p:cBhvr>
                                    </p:animEffect>
                                  </p:childTnLst>
                                </p:cTn>
                              </p:par>
                            </p:childTnLst>
                          </p:cTn>
                        </p:par>
                      </p:childTnLst>
                    </p:cTn>
                  </p:par>
                  <p:par>
                    <p:cTn id="3954" fill="hold">
                      <p:stCondLst>
                        <p:cond delay="indefinite"/>
                      </p:stCondLst>
                      <p:childTnLst>
                        <p:par>
                          <p:cTn id="3955" fill="hold">
                            <p:stCondLst>
                              <p:cond delay="0"/>
                            </p:stCondLst>
                            <p:childTnLst>
                              <p:par>
                                <p:cTn id="3924" presetID="10" presetClass="exit" presetSubtype="0" fill="hold" nodeType="clickEffect">
                                  <p:stCondLst>
                                    <p:cond delay="0"/>
                                  </p:stCondLst>
                                  <p:childTnLst>
                                    <p:animEffect transition="out" filter="fade">
                                      <p:cBhvr>
                                        <p:cTn id="3925" dur="400"/>
                                        <p:tgtEl>
                                          <p:spTgt spid="25"/>
                                        </p:tgtEl>
                                      </p:cBhvr>
                                    </p:animEffect>
                                    <p:set>
                                      <p:cBhvr>
                                        <p:cTn id="3926" dur="1" fill="hold">
                                          <p:stCondLst>
                                            <p:cond delay="399"/>
                                          </p:stCondLst>
                                        </p:cTn>
                                        <p:tgtEl>
                                          <p:spTgt spid="25"/>
                                        </p:tgtEl>
                                        <p:attrNameLst>
                                          <p:attrName>style.visibility</p:attrName>
                                        </p:attrNameLst>
                                      </p:cBhvr>
                                      <p:to>
                                        <p:strVal val="hidden"/>
                                      </p:to>
                                    </p:set>
                                  </p:childTnLst>
                                </p:cTn>
                              </p:par>
                              <p:par>
                                <p:cTn id="3927" presetID="10" presetClass="exit" presetSubtype="0" fill="hold" nodeType="withEffect">
                                  <p:stCondLst>
                                    <p:cond delay="0"/>
                                  </p:stCondLst>
                                  <p:childTnLst>
                                    <p:animEffect transition="out" filter="fade">
                                      <p:cBhvr>
                                        <p:cTn id="3928" dur="400"/>
                                        <p:tgtEl>
                                          <p:spTgt spid="35"/>
                                        </p:tgtEl>
                                      </p:cBhvr>
                                    </p:animEffect>
                                    <p:set>
                                      <p:cBhvr>
                                        <p:cTn id="3929" dur="1" fill="hold">
                                          <p:stCondLst>
                                            <p:cond delay="399"/>
                                          </p:stCondLst>
                                        </p:cTn>
                                        <p:tgtEl>
                                          <p:spTgt spid="35"/>
                                        </p:tgtEl>
                                        <p:attrNameLst>
                                          <p:attrName>style.visibility</p:attrName>
                                        </p:attrNameLst>
                                      </p:cBhvr>
                                      <p:to>
                                        <p:strVal val="hidden"/>
                                      </p:to>
                                    </p:set>
                                  </p:childTnLst>
                                </p:cTn>
                              </p:par>
                              <p:par>
                                <p:cTn id="3930" presetID="10" presetClass="exit" presetSubtype="0" fill="hold" nodeType="withEffect">
                                  <p:stCondLst>
                                    <p:cond delay="0"/>
                                  </p:stCondLst>
                                  <p:childTnLst>
                                    <p:animEffect transition="out" filter="fade">
                                      <p:cBhvr>
                                        <p:cTn id="3931" dur="400"/>
                                        <p:tgtEl>
                                          <p:spTgt spid="36"/>
                                        </p:tgtEl>
                                      </p:cBhvr>
                                    </p:animEffect>
                                    <p:set>
                                      <p:cBhvr>
                                        <p:cTn id="3932" dur="1" fill="hold">
                                          <p:stCondLst>
                                            <p:cond delay="399"/>
                                          </p:stCondLst>
                                        </p:cTn>
                                        <p:tgtEl>
                                          <p:spTgt spid="36"/>
                                        </p:tgtEl>
                                        <p:attrNameLst>
                                          <p:attrName>style.visibility</p:attrName>
                                        </p:attrNameLst>
                                      </p:cBhvr>
                                      <p:to>
                                        <p:strVal val="hidden"/>
                                      </p:to>
                                    </p:set>
                                  </p:childTnLst>
                                </p:cTn>
                              </p:par>
                              <p:par>
                                <p:cTn id="3933" presetID="22" presetClass="entr" presetSubtype="4" fill="hold" nodeType="withEffect">
                                  <p:stCondLst>
                                    <p:cond delay="200"/>
                                  </p:stCondLst>
                                  <p:childTnLst>
                                    <p:set>
                                      <p:cBhvr>
                                        <p:cTn id="3934" dur="1" fill="hold">
                                          <p:stCondLst>
                                            <p:cond delay="0"/>
                                          </p:stCondLst>
                                        </p:cTn>
                                        <p:tgtEl>
                                          <p:spTgt spid="26"/>
                                        </p:tgtEl>
                                        <p:attrNameLst>
                                          <p:attrName>style.visibility</p:attrName>
                                        </p:attrNameLst>
                                      </p:cBhvr>
                                      <p:to>
                                        <p:strVal val="visible"/>
                                      </p:to>
                                    </p:set>
                                    <p:animEffect transition="in" filter="wipe(down)">
                                      <p:cBhvr>
                                        <p:cTn id="3935" dur="500"/>
                                        <p:tgtEl>
                                          <p:spTgt spid="26"/>
                                        </p:tgtEl>
                                      </p:cBhvr>
                                    </p:animEffect>
                                  </p:childTnLst>
                                </p:cTn>
                              </p:par>
                              <p:par>
                                <p:cTn id="3936" presetID="22" presetClass="entr" presetSubtype="4" fill="hold" nodeType="withEffect">
                                  <p:stCondLst>
                                    <p:cond delay="270"/>
                                  </p:stCondLst>
                                  <p:childTnLst>
                                    <p:set>
                                      <p:cBhvr>
                                        <p:cTn id="3937" dur="1" fill="hold">
                                          <p:stCondLst>
                                            <p:cond delay="0"/>
                                          </p:stCondLst>
                                        </p:cTn>
                                        <p:tgtEl>
                                          <p:spTgt spid="27"/>
                                        </p:tgtEl>
                                        <p:attrNameLst>
                                          <p:attrName>style.visibility</p:attrName>
                                        </p:attrNameLst>
                                      </p:cBhvr>
                                      <p:to>
                                        <p:strVal val="visible"/>
                                      </p:to>
                                    </p:set>
                                    <p:animEffect transition="in" filter="wipe(down)">
                                      <p:cBhvr>
                                        <p:cTn id="3938" dur="500"/>
                                        <p:tgtEl>
                                          <p:spTgt spid="27"/>
                                        </p:tgtEl>
                                      </p:cBhvr>
                                    </p:animEffect>
                                  </p:childTnLst>
                                </p:cTn>
                              </p:par>
                              <p:par>
                                <p:cTn id="3939" presetID="22" presetClass="entr" presetSubtype="4" fill="hold" nodeType="withEffect">
                                  <p:stCondLst>
                                    <p:cond delay="340"/>
                                  </p:stCondLst>
                                  <p:childTnLst>
                                    <p:set>
                                      <p:cBhvr>
                                        <p:cTn id="3940" dur="1" fill="hold">
                                          <p:stCondLst>
                                            <p:cond delay="0"/>
                                          </p:stCondLst>
                                        </p:cTn>
                                        <p:tgtEl>
                                          <p:spTgt spid="28"/>
                                        </p:tgtEl>
                                        <p:attrNameLst>
                                          <p:attrName>style.visibility</p:attrName>
                                        </p:attrNameLst>
                                      </p:cBhvr>
                                      <p:to>
                                        <p:strVal val="visible"/>
                                      </p:to>
                                    </p:set>
                                    <p:animEffect transition="in" filter="wipe(down)">
                                      <p:cBhvr>
                                        <p:cTn id="3941" dur="500"/>
                                        <p:tgtEl>
                                          <p:spTgt spid="28"/>
                                        </p:tgtEl>
                                      </p:cBhvr>
                                    </p:animEffect>
                                  </p:childTnLst>
                                </p:cTn>
                              </p:par>
                              <p:par>
                                <p:cTn id="3942" presetID="22" presetClass="entr" presetSubtype="4" fill="hold" nodeType="withEffect">
                                  <p:stCondLst>
                                    <p:cond delay="410"/>
                                  </p:stCondLst>
                                  <p:childTnLst>
                                    <p:set>
                                      <p:cBhvr>
                                        <p:cTn id="3943" dur="1" fill="hold">
                                          <p:stCondLst>
                                            <p:cond delay="0"/>
                                          </p:stCondLst>
                                        </p:cTn>
                                        <p:tgtEl>
                                          <p:spTgt spid="29"/>
                                        </p:tgtEl>
                                        <p:attrNameLst>
                                          <p:attrName>style.visibility</p:attrName>
                                        </p:attrNameLst>
                                      </p:cBhvr>
                                      <p:to>
                                        <p:strVal val="visible"/>
                                      </p:to>
                                    </p:set>
                                    <p:animEffect transition="in" filter="wipe(down)">
                                      <p:cBhvr>
                                        <p:cTn id="3944" dur="500"/>
                                        <p:tgtEl>
                                          <p:spTgt spid="29"/>
                                        </p:tgtEl>
                                      </p:cBhvr>
                                    </p:animEffect>
                                  </p:childTnLst>
                                </p:cTn>
                              </p:par>
                              <p:par>
                                <p:cTn id="3945" presetID="22" presetClass="entr" presetSubtype="4" fill="hold" nodeType="withEffect">
                                  <p:stCondLst>
                                    <p:cond delay="480"/>
                                  </p:stCondLst>
                                  <p:childTnLst>
                                    <p:set>
                                      <p:cBhvr>
                                        <p:cTn id="3946" dur="1" fill="hold">
                                          <p:stCondLst>
                                            <p:cond delay="0"/>
                                          </p:stCondLst>
                                        </p:cTn>
                                        <p:tgtEl>
                                          <p:spTgt spid="30"/>
                                        </p:tgtEl>
                                        <p:attrNameLst>
                                          <p:attrName>style.visibility</p:attrName>
                                        </p:attrNameLst>
                                      </p:cBhvr>
                                      <p:to>
                                        <p:strVal val="visible"/>
                                      </p:to>
                                    </p:set>
                                    <p:animEffect transition="in" filter="wipe(down)">
                                      <p:cBhvr>
                                        <p:cTn id="3947" dur="500"/>
                                        <p:tgtEl>
                                          <p:spTgt spid="30"/>
                                        </p:tgtEl>
                                      </p:cBhvr>
                                    </p:animEffect>
                                  </p:childTnLst>
                                </p:cTn>
                              </p:par>
                              <p:par>
                                <p:cTn id="3948" presetID="22" presetClass="entr" presetSubtype="4" fill="hold" nodeType="withEffect">
                                  <p:stCondLst>
                                    <p:cond delay="550"/>
                                  </p:stCondLst>
                                  <p:childTnLst>
                                    <p:set>
                                      <p:cBhvr>
                                        <p:cTn id="3949" dur="1" fill="hold">
                                          <p:stCondLst>
                                            <p:cond delay="0"/>
                                          </p:stCondLst>
                                        </p:cTn>
                                        <p:tgtEl>
                                          <p:spTgt spid="37"/>
                                        </p:tgtEl>
                                        <p:attrNameLst>
                                          <p:attrName>style.visibility</p:attrName>
                                        </p:attrNameLst>
                                      </p:cBhvr>
                                      <p:to>
                                        <p:strVal val="visible"/>
                                      </p:to>
                                    </p:set>
                                    <p:animEffect transition="in" filter="wipe(down)">
                                      <p:cBhvr>
                                        <p:cTn id="3950" dur="500"/>
                                        <p:tgtEl>
                                          <p:spTgt spid="37"/>
                                        </p:tgtEl>
                                      </p:cBhvr>
                                    </p:animEffect>
                                  </p:childTnLst>
                                </p:cTn>
                              </p:par>
                              <p:par>
                                <p:cTn id="3951" presetID="22" presetClass="entr" presetSubtype="4" fill="hold" nodeType="withEffect">
                                  <p:stCondLst>
                                    <p:cond delay="620"/>
                                  </p:stCondLst>
                                  <p:childTnLst>
                                    <p:set>
                                      <p:cBhvr>
                                        <p:cTn id="3952" dur="1" fill="hold">
                                          <p:stCondLst>
                                            <p:cond delay="0"/>
                                          </p:stCondLst>
                                        </p:cTn>
                                        <p:tgtEl>
                                          <p:spTgt spid="38"/>
                                        </p:tgtEl>
                                        <p:attrNameLst>
                                          <p:attrName>style.visibility</p:attrName>
                                        </p:attrNameLst>
                                      </p:cBhvr>
                                      <p:to>
                                        <p:strVal val="visible"/>
                                      </p:to>
                                    </p:set>
                                    <p:animEffect transition="in" filter="wipe(down)">
                                      <p:cBhvr>
                                        <p:cTn id="395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ADC, diezmado, máquina de estados y memoria definen cómo se captura</a:t>
            </a:r>
            <a:endParaRPr lang="en-US" sz="2200" dirty="0"/>
          </a:p>
        </p:txBody>
      </p:sp>
      <p:sp>
        <p:nvSpPr>
          <p:cNvPr id="3" name="Fondo E_lsb [s0]"/>
          <p:cNvSpPr/>
          <p:nvPr/>
        </p:nvSpPr>
        <p:spPr>
          <a:xfrm>
            <a:off x="966136" y="1561458"/>
            <a:ext cx="7211728" cy="68110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 name="Ecuación E_lsb [s0]"/>
              <p:cNvSpPr txBox="1"/>
              <p:nvPr/>
            </p:nvSpPr>
            <p:spPr>
              <a:xfrm>
                <a:off x="966136" y="1561458"/>
                <a:ext cx="7211728" cy="68110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q</m:t>
                          </m:r>
                        </m:e>
                        <m:sub>
                          <m:r>
                            <m:rPr>
                              <m:sty m:val="p"/>
                            </m:rPr>
                            <a:rPr lang="es-ES" sz="2500">
                              <a:solidFill>
                                <a:srgbClr val="1F4E79"/>
                              </a:solidFill>
                              <a:latin typeface="Cambria Math" panose="02040503050406030204" pitchFamily="18" charset="0"/>
                            </a:rPr>
                            <m:t xml:space="preserve">ADC</m:t>
                          </m:r>
                        </m:sub>
                      </m:sSub>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V</m:t>
                              </m:r>
                            </m:e>
                            <m:sub>
                              <m:r>
                                <m:rPr>
                                  <m:sty m:val="p"/>
                                </m:rPr>
                                <a:rPr lang="es-ES" sz="2500">
                                  <a:solidFill>
                                    <a:srgbClr val="1F4E79"/>
                                  </a:solidFill>
                                  <a:latin typeface="Cambria Math" panose="02040503050406030204" pitchFamily="18" charset="0"/>
                                </a:rPr>
                                <m:t xml:space="preserve">span</m:t>
                              </m:r>
                            </m:sub>
                          </m:sSub>
                        </m:num>
                        <m:den>
                          <m:sSup>
                            <m:sSupPr>
                              <m:ctrlPr>
                                <a:rPr lang="es-ES" sz="2500" i="1">
                                  <a:latin typeface="Cambria Math" panose="02040503050406030204" pitchFamily="18" charset="0"/>
                                </a:rPr>
                              </m:ctrlPr>
                            </m:sSupPr>
                            <m:e>
                              <m:r>
                                <a:rPr lang="es-ES" sz="2500" i="1">
                                  <a:solidFill>
                                    <a:srgbClr val="1F4E79"/>
                                  </a:solidFill>
                                  <a:latin typeface="Cambria Math" panose="02040503050406030204" pitchFamily="18" charset="0"/>
                                </a:rPr>
                                <m:t xml:space="preserve">2</m:t>
                              </m:r>
                            </m:e>
                            <m:sup>
                              <m:r>
                                <a:rPr lang="es-ES" sz="2500" i="1">
                                  <a:solidFill>
                                    <a:srgbClr val="1F4E79"/>
                                  </a:solidFill>
                                  <a:latin typeface="Cambria Math" panose="02040503050406030204" pitchFamily="18" charset="0"/>
                                </a:rPr>
                                <m:t xml:space="preserve">18</m:t>
                              </m:r>
                            </m:sup>
                          </m:sSup>
                        </m:den>
                      </m:f>
                      <m:r>
                        <a:rPr lang="es-ES" sz="2500" i="1">
                          <a:solidFill>
                            <a:srgbClr val="1F4E79"/>
                          </a:solidFill>
                          <a:latin typeface="Cambria Math" panose="02040503050406030204" pitchFamily="18" charset="0"/>
                        </a:rPr>
                        <m:t xml:space="preserve">≈19,1 </m:t>
                      </m:r>
                      <m:r>
                        <m:rPr>
                          <m:sty m:val="p"/>
                        </m:rPr>
                        <a:rPr lang="es-ES" sz="2500">
                          <a:solidFill>
                            <a:srgbClr val="1F4E79"/>
                          </a:solidFill>
                          <a:latin typeface="Cambria Math" panose="02040503050406030204" pitchFamily="18" charset="0"/>
                        </a:rPr>
                        <m:t xml:space="preserve">µV</m:t>
                      </m:r>
                    </m:oMath>
                  </m:oMathPara>
                </a14:m>
                <a:endParaRPr lang="es-ES"/>
              </a:p>
            </p:txBody>
          </p:sp>
        </mc:Choice>
        <mc:Fallback>
          <p:sp>
            <p:nvSpPr>
              <p:cNvPr id="4" name="Ecuación E_lsb [s0]"/>
              <p:cNvSpPr txBox="1"/>
              <p:nvPr/>
            </p:nvSpPr>
            <p:spPr>
              <a:xfrm>
                <a:off x="966136" y="1561458"/>
                <a:ext cx="7211728" cy="68110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q_ADC = V_span / 2¹⁸ ≈ 19,1 µV</a:t>
                </a:r>
                <a:endParaRPr lang="en-US" sz="2159" dirty="0"/>
              </a:p>
            </p:txBody>
          </p:sp>
        </mc:Fallback>
      </mc:AlternateContent>
      <p:graphicFrame>
        <p:nvGraphicFramePr>
          <p:cNvPr id="19" name="Tabla de rangos [s0]"/>
          <p:cNvGraphicFramePr>
            <a:graphicFrameLocks noGrp="1"/>
          </p:cNvGraphicFramePr>
          <p:nvPr>
            <p:extLst>
              <p:ext uri="{D42A27DB-BD31-4B8C-83A1-F6EECF244321}">
                <p14:modId xmlns:p14="http://schemas.microsoft.com/office/powerpoint/2010/main" val="1579011935"/>
              </p:ext>
            </p:extLst>
          </p:nvPr>
        </p:nvGraphicFramePr>
        <p:xfrm>
          <a:off x="966136" y="2442892"/>
          <a:ext cx="3525734" cy="914400"/>
        </p:xfrm>
        <a:graphic>
          <a:graphicData uri="http://schemas.openxmlformats.org/drawingml/2006/table">
            <a:tbl>
              <a:tblPr/>
              <a:tblGrid>
                <a:gridCol w="1121824"/>
                <a:gridCol w="1282085"/>
                <a:gridCol w="1121824"/>
              </a:tblGrid>
              <a:tr h="304495">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Rango</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Fondo de escala</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LSB nominal</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±2,5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5,000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19,1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±1,024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2,048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7,81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±0,625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1,250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4,77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04495">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±0,512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1,024 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080" dirty="0">
                          <a:solidFill>
                            <a:srgbClr val="2D2D2D"/>
                          </a:solidFill>
                          <a:latin typeface="Arial" pitchFamily="34" charset="0"/>
                          <a:ea typeface="Arial" pitchFamily="34" charset="-122"/>
                          <a:cs typeface="Arial" pitchFamily="34" charset="-120"/>
                        </a:rPr>
                        <a:t>3,91 µV</a:t>
                      </a:r>
                      <a:endParaRPr lang="en-US" sz="108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Elemento [s0]"/>
          <p:cNvSpPr txBox="1"/>
          <p:nvPr/>
        </p:nvSpPr>
        <p:spPr>
          <a:xfrm>
            <a:off x="966136" y="4045498"/>
            <a:ext cx="3525734" cy="240391"/>
          </a:xfrm>
          <a:prstGeom prst="rect">
            <a:avLst/>
          </a:prstGeom>
          <a:noFill/>
          <a:ln/>
        </p:spPr>
        <p:txBody>
          <a:bodyPr wrap="square" lIns="0" tIns="0" rIns="0" bIns="0" rtlCol="0" anchor="t"/>
          <a:lstStyle/>
          <a:p>
            <a:pPr indent="0" marL="0">
              <a:buNone/>
            </a:pPr>
            <a:r>
              <a:rPr lang="en-US" sz="1080" dirty="0">
                <a:solidFill>
                  <a:srgbClr val="6B6B6B"/>
                </a:solidFill>
                <a:latin typeface="Arial" pitchFamily="34" charset="0"/>
                <a:ea typeface="Arial" pitchFamily="34" charset="-122"/>
                <a:cs typeface="Arial" pitchFamily="34" charset="-120"/>
              </a:rPr>
              <a:t>Todos a 2604 muestras/s y 18 bits nominales.</a:t>
            </a:r>
            <a:endParaRPr lang="en-US" sz="1080" dirty="0"/>
          </a:p>
        </p:txBody>
      </p:sp>
      <p:sp>
        <p:nvSpPr>
          <p:cNvPr id="7" name="Cuerpo [s0]"/>
          <p:cNvSpPr txBox="1"/>
          <p:nvPr/>
        </p:nvSpPr>
        <p:spPr>
          <a:xfrm>
            <a:off x="4732261" y="2442892"/>
            <a:ext cx="3445604" cy="1923128"/>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Por eso el rango se elige junto con la ganancia del PGA</a:t>
            </a:r>
            <a:endParaRPr lang="en-US" sz="1260" dirty="0"/>
          </a:p>
        </p:txBody>
      </p:sp>
      <p:pic>
        <p:nvPicPr>
          <p:cNvPr id="8" name="Respuesta de la media móvil [s1]"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886005" y="1641589"/>
            <a:ext cx="4166776" cy="2361173"/>
          </a:xfrm>
          <a:prstGeom prst="rect">
            <a:avLst/>
          </a:prstGeom>
        </p:spPr>
      </p:pic>
      <p:sp>
        <p:nvSpPr>
          <p:cNvPr id="9" name="Fondo E_fsp [s1]"/>
          <p:cNvSpPr/>
          <p:nvPr/>
        </p:nvSpPr>
        <p:spPr>
          <a:xfrm>
            <a:off x="5293173" y="1641589"/>
            <a:ext cx="2884691"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0" name="Ecuación E_fsp [s1]"/>
              <p:cNvSpPr txBox="1"/>
              <p:nvPr/>
            </p:nvSpPr>
            <p:spPr>
              <a:xfrm>
                <a:off x="5293173" y="1641589"/>
                <a:ext cx="2884691"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500" i="1">
                              <a:latin typeface="Cambria Math" panose="02040503050406030204" pitchFamily="18" charset="0"/>
                            </a:rPr>
                          </m:ctrlPr>
                        </m:sSubSupPr>
                        <m:e>
                          <m:r>
                            <a:rPr lang="es-ES" sz="2500" i="1">
                              <a:solidFill>
                                <a:srgbClr val="1F4E79"/>
                              </a:solidFill>
                              <a:latin typeface="Cambria Math" panose="02040503050406030204" pitchFamily="18" charset="0"/>
                            </a:rPr>
                            <m:t xml:space="preserve">f</m:t>
                          </m:r>
                        </m:e>
                        <m:sub>
                          <m:r>
                            <a:rPr lang="es-ES" sz="2500" i="1">
                              <a:solidFill>
                                <a:srgbClr val="1F4E79"/>
                              </a:solidFill>
                              <a:latin typeface="Cambria Math" panose="02040503050406030204" pitchFamily="18" charset="0"/>
                            </a:rPr>
                            <m:t xml:space="preserve">s</m:t>
                          </m:r>
                        </m:sub>
                        <m:sup>
                          <m:r>
                            <a:rPr lang="es-ES" sz="2500" i="1">
                              <a:solidFill>
                                <a:srgbClr val="1F4E79"/>
                              </a:solidFill>
                              <a:latin typeface="Cambria Math" panose="02040503050406030204" pitchFamily="18" charset="0"/>
                            </a:rPr>
                            <m:t xml:space="preserve">′</m:t>
                          </m:r>
                        </m:sup>
                      </m:sSubSup>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2604 </m:t>
                          </m:r>
                          <m:r>
                            <m:rPr>
                              <m:sty m:val="p"/>
                            </m:rPr>
                            <a:rPr lang="es-ES" sz="2500">
                              <a:solidFill>
                                <a:srgbClr val="1F4E79"/>
                              </a:solidFill>
                              <a:latin typeface="Cambria Math" panose="02040503050406030204" pitchFamily="18" charset="0"/>
                            </a:rPr>
                            <m:t xml:space="preserve">Hz</m:t>
                          </m:r>
                        </m:num>
                        <m:den>
                          <m:r>
                            <a:rPr lang="es-ES" sz="2500" i="1">
                              <a:solidFill>
                                <a:srgbClr val="1F4E79"/>
                              </a:solidFill>
                              <a:latin typeface="Cambria Math" panose="02040503050406030204" pitchFamily="18" charset="0"/>
                            </a:rPr>
                            <m:t xml:space="preserve">D</m:t>
                          </m:r>
                        </m:den>
                      </m:f>
                    </m:oMath>
                  </m:oMathPara>
                </a14:m>
                <a:endParaRPr lang="es-ES"/>
              </a:p>
            </p:txBody>
          </p:sp>
        </mc:Choice>
        <mc:Fallback>
          <p:sp>
            <p:nvSpPr>
              <p:cNvPr id="10" name="Ecuación E_fsp [s1]"/>
              <p:cNvSpPr txBox="1"/>
              <p:nvPr/>
            </p:nvSpPr>
            <p:spPr>
              <a:xfrm>
                <a:off x="5293173" y="1641589"/>
                <a:ext cx="2884691"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fs′ = 2604 Hz / D</a:t>
                </a:r>
                <a:endParaRPr lang="en-US" sz="2159" dirty="0"/>
              </a:p>
            </p:txBody>
          </p:sp>
        </mc:Fallback>
      </mc:AlternateContent>
      <p:sp>
        <p:nvSpPr>
          <p:cNvPr id="11" name="Cuerpo [s1]"/>
          <p:cNvSpPr txBox="1"/>
          <p:nvPr/>
        </p:nvSpPr>
        <p:spPr>
          <a:xfrm>
            <a:off x="5293173" y="2442892"/>
            <a:ext cx="2884691" cy="1602606"/>
          </a:xfrm>
          <a:prstGeom prst="rect">
            <a:avLst/>
          </a:prstGeom>
          <a:noFill/>
          <a:ln/>
        </p:spPr>
        <p:txBody>
          <a:bodyPr wrap="square" lIns="0" tIns="0" rIns="0" bIns="0" rtlCol="0" anchor="t"/>
          <a:lstStyle/>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170" dirty="0"/>
          </a:p>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 ven mejor las señales de baja frecuencia</a:t>
            </a:r>
            <a:endParaRPr lang="en-US" sz="1170" dirty="0"/>
          </a:p>
          <a:p>
            <a:pPr marL="342900" indent="-342900">
              <a:spcAft>
                <a:spcPts val="630"/>
              </a:spcAft>
              <a:buSzPct val="100000"/>
              <a:buChar char="•"/>
            </a:pPr>
            <a:r>
              <a:rPr lang="en-US" sz="117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170" dirty="0"/>
          </a:p>
        </p:txBody>
      </p:sp>
      <p:sp>
        <p:nvSpPr>
          <p:cNvPr id="12" name="Elemento [s1]"/>
          <p:cNvSpPr txBox="1"/>
          <p:nvPr/>
        </p:nvSpPr>
        <p:spPr>
          <a:xfrm>
            <a:off x="966136" y="4125628"/>
            <a:ext cx="7211728" cy="240391"/>
          </a:xfrm>
          <a:prstGeom prst="rect">
            <a:avLst/>
          </a:prstGeom>
          <a:noFill/>
          <a:ln/>
        </p:spPr>
        <p:txBody>
          <a:bodyPr wrap="square" lIns="0" tIns="0" rIns="0" bIns="0" rtlCol="0" anchor="t"/>
          <a:lstStyle/>
          <a:p>
            <a:pPr indent="0" marL="0">
              <a:buNone/>
            </a:pPr>
            <a:r>
              <a:rPr lang="en-US" sz="1170" dirty="0">
                <a:solidFill>
                  <a:srgbClr val="6B6B6B"/>
                </a:solidFill>
                <a:latin typeface="Arial" pitchFamily="34" charset="0"/>
                <a:ea typeface="Arial" pitchFamily="34" charset="-122"/>
                <a:cs typeface="Arial" pitchFamily="34" charset="-120"/>
              </a:rPr>
              <a:t>No reemplaza un antialias: se verifica para cada D elegido.</a:t>
            </a:r>
            <a:endParaRPr lang="en-US" sz="1170" dirty="0"/>
          </a:p>
        </p:txBody>
      </p:sp>
      <p:pic>
        <p:nvPicPr>
          <p:cNvPr id="13" name="Máquina de estados [s2]" descr="Máquina de estados superMaquina: IDLE, ARMED, SAMPLING, DONE y ERROR, con las órdenes del firmware, los disparos de DMA y la interrupción única">    </p:cNvPr>
          <p:cNvPicPr>
            <a:picLocks noChangeAspect="1"/>
          </p:cNvPicPr>
          <p:nvPr/>
        </p:nvPicPr>
        <p:blipFill>
          <a:blip r:embed="rId2"/>
          <a:stretch>
            <a:fillRect/>
          </a:stretch>
        </p:blipFill>
        <p:spPr>
          <a:xfrm>
            <a:off x="1046266" y="1481328"/>
            <a:ext cx="7051468" cy="2987500"/>
          </a:xfrm>
          <a:prstGeom prst="rect">
            <a:avLst/>
          </a:prstGeom>
        </p:spPr>
      </p:pic>
      <p:pic>
        <p:nvPicPr>
          <p:cNvPr id="14" name="Secuencia de almacenamiento [s3]" descr="Secuencia PRESTART: con microSD activa el PSoC escribe secuencialmente en la tarjeta; sin microSD el ESP32 esclavo reserva páginas en la arena de RAM">    </p:cNvPr>
          <p:cNvPicPr>
            <a:picLocks noChangeAspect="1"/>
          </p:cNvPicPr>
          <p:nvPr/>
        </p:nvPicPr>
        <p:blipFill>
          <a:blip r:embed="rId3"/>
          <a:stretch>
            <a:fillRect/>
          </a:stretch>
        </p:blipFill>
        <p:spPr>
          <a:xfrm>
            <a:off x="1126396" y="1561458"/>
            <a:ext cx="6891207" cy="2389693"/>
          </a:xfrm>
          <a:prstGeom prst="rect">
            <a:avLst/>
          </a:prstGeom>
        </p:spPr>
      </p:pic>
      <p:sp>
        <p:nvSpPr>
          <p:cNvPr id="15" name="Elemento [s3]"/>
          <p:cNvSpPr txBox="1"/>
          <p:nvPr/>
        </p:nvSpPr>
        <p:spPr>
          <a:xfrm>
            <a:off x="966136" y="4085563"/>
            <a:ext cx="7211728" cy="280456"/>
          </a:xfrm>
          <a:prstGeom prst="rect">
            <a:avLst/>
          </a:prstGeom>
          <a:noFill/>
          <a:ln/>
        </p:spPr>
        <p:txBody>
          <a:bodyPr wrap="square" lIns="0" tIns="0" rIns="0" bIns="0" rtlCol="0" anchor="t"/>
          <a:lstStyle/>
          <a:p>
            <a:pPr indent="0" marL="0">
              <a:buNone/>
            </a:pPr>
            <a:r>
              <a:rPr lang="en-US" sz="1350"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350" dirty="0"/>
          </a:p>
        </p:txBody>
      </p:sp>
      <p:graphicFrame>
        <p:nvGraphicFramePr>
          <p:cNvPr id="16" name="Elemento [s4]" descr=""/>
          <p:cNvGraphicFramePr/>
          <p:nvPr/>
        </p:nvGraphicFramePr>
        <p:xfrm>
          <a:off x="886005" y="1601523"/>
          <a:ext cx="4487298" cy="2484040"/>
        </p:xfrm>
        <a:graphic xmlns:a="http://schemas.openxmlformats.org/drawingml/2006/main">
          <a:graphicData uri="http://schemas.openxmlformats.org/drawingml/2006/chart">
            <c:chart xmlns:c="http://schemas.openxmlformats.org/drawingml/2006/chart" r:id="rId4"/>
          </a:graphicData>
        </a:graphic>
      </p:graphicFrame>
      <p:sp>
        <p:nvSpPr>
          <p:cNvPr id="17" name="Fondo E_tmax [s4]"/>
          <p:cNvSpPr/>
          <p:nvPr/>
        </p:nvSpPr>
        <p:spPr>
          <a:xfrm>
            <a:off x="5533564" y="1601523"/>
            <a:ext cx="2644300" cy="72117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8" name="Ecuación E_tmax [s4]"/>
              <p:cNvSpPr txBox="1"/>
              <p:nvPr/>
            </p:nvSpPr>
            <p:spPr>
              <a:xfrm>
                <a:off x="5533564" y="1601523"/>
                <a:ext cx="2644300" cy="72117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t</m:t>
                          </m:r>
                        </m:e>
                        <m:sub>
                          <m:r>
                            <m:rPr>
                              <m:sty m:val="p"/>
                            </m:rPr>
                            <a:rPr lang="es-ES" sz="2200">
                              <a:solidFill>
                                <a:srgbClr val="1F4E79"/>
                              </a:solidFill>
                              <a:latin typeface="Cambria Math" panose="02040503050406030204" pitchFamily="18" charset="0"/>
                            </a:rPr>
                            <m:t xml:space="preserve">max</m:t>
                          </m:r>
                        </m:sub>
                      </m:sSub>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512·30·D</m:t>
                          </m:r>
                        </m:num>
                        <m:den>
                          <m:r>
                            <a:rPr lang="es-ES" sz="2200" i="1">
                              <a:solidFill>
                                <a:srgbClr val="1F4E79"/>
                              </a:solidFill>
                              <a:latin typeface="Cambria Math" panose="02040503050406030204" pitchFamily="18" charset="0"/>
                            </a:rPr>
                            <m:t xml:space="preserve">2604 </m:t>
                          </m:r>
                          <m:r>
                            <m:rPr>
                              <m:sty m:val="p"/>
                            </m:rPr>
                            <a:rPr lang="es-ES" sz="2200">
                              <a:solidFill>
                                <a:srgbClr val="1F4E79"/>
                              </a:solidFill>
                              <a:latin typeface="Cambria Math" panose="02040503050406030204" pitchFamily="18" charset="0"/>
                            </a:rPr>
                            <m:t xml:space="preserve">Hz</m:t>
                          </m:r>
                        </m:den>
                      </m:f>
                      <m:r>
                        <a:rPr lang="es-ES" sz="2200" i="1">
                          <a:solidFill>
                            <a:srgbClr val="1F4E79"/>
                          </a:solidFill>
                          <a:latin typeface="Cambria Math" panose="02040503050406030204" pitchFamily="18" charset="0"/>
                        </a:rPr>
                        <m:t xml:space="preserve">≈5,9 </m:t>
                      </m:r>
                      <m:r>
                        <m:rPr>
                          <m:sty m:val="p"/>
                        </m:rPr>
                        <a:rPr lang="es-ES" sz="2200">
                          <a:solidFill>
                            <a:srgbClr val="1F4E79"/>
                          </a:solidFill>
                          <a:latin typeface="Cambria Math" panose="02040503050406030204" pitchFamily="18" charset="0"/>
                        </a:rPr>
                        <m:t xml:space="preserve">s</m:t>
                      </m:r>
                      <m:r>
                        <a:rPr lang="es-ES" sz="2200" i="1">
                          <a:solidFill>
                            <a:srgbClr val="1F4E79"/>
                          </a:solidFill>
                          <a:latin typeface="Cambria Math" panose="02040503050406030204" pitchFamily="18" charset="0"/>
                        </a:rPr>
                        <m:t xml:space="preserve">·D</m:t>
                      </m:r>
                    </m:oMath>
                  </m:oMathPara>
                </a14:m>
                <a:endParaRPr lang="es-ES"/>
              </a:p>
            </p:txBody>
          </p:sp>
        </mc:Choice>
        <mc:Fallback>
          <p:sp>
            <p:nvSpPr>
              <p:cNvPr id="18" name="Ecuación E_tmax [s4]"/>
              <p:cNvSpPr txBox="1"/>
              <p:nvPr/>
            </p:nvSpPr>
            <p:spPr>
              <a:xfrm>
                <a:off x="5533564" y="1601523"/>
                <a:ext cx="2644300" cy="72117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t_max = 512·30·D / 2604 Hz ≈ 5,9 s · D</a:t>
                </a:r>
                <a:endParaRPr lang="en-US" sz="2159" dirty="0"/>
              </a:p>
            </p:txBody>
          </p:sp>
        </mc:Fallback>
      </mc:AlternateContent>
      <p:sp>
        <p:nvSpPr>
          <p:cNvPr id="19" name="Cuerpo [s4]"/>
          <p:cNvSpPr txBox="1"/>
          <p:nvPr/>
        </p:nvSpPr>
        <p:spPr>
          <a:xfrm>
            <a:off x="5533564" y="2442892"/>
            <a:ext cx="2644300" cy="1362215"/>
          </a:xfrm>
          <a:prstGeom prst="rect">
            <a:avLst/>
          </a:prstGeom>
          <a:noFill/>
          <a:ln/>
        </p:spPr>
        <p:txBody>
          <a:bodyPr wrap="square" lIns="0" tIns="0" rIns="0" bIns="0" rtlCol="0" anchor="t"/>
          <a:lstStyle/>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Las mismas 15 360 muestras cubren D veces más tiempo</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Pero el Nyquist baja a 1302/D Hz: duración y banda compiten</a:t>
            </a:r>
            <a:endParaRPr lang="en-US" sz="1170" dirty="0"/>
          </a:p>
        </p:txBody>
      </p:sp>
      <p:sp>
        <p:nvSpPr>
          <p:cNvPr id="20" name="Elemento [s4]"/>
          <p:cNvSpPr txBox="1"/>
          <p:nvPr/>
        </p:nvSpPr>
        <p:spPr>
          <a:xfrm>
            <a:off x="966136" y="4165694"/>
            <a:ext cx="7211728" cy="240391"/>
          </a:xfrm>
          <a:prstGeom prst="rect">
            <a:avLst/>
          </a:prstGeom>
          <a:noFill/>
          <a:ln/>
        </p:spPr>
        <p:txBody>
          <a:bodyPr wrap="square" lIns="0" tIns="0" rIns="0" bIns="0" rtlCol="0" anchor="t"/>
          <a:lstStyle/>
          <a:p>
            <a:pPr indent="0" marL="0">
              <a:buNone/>
            </a:pPr>
            <a:r>
              <a:rPr lang="en-US" sz="990"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990" dirty="0"/>
          </a:p>
        </p:txBody>
      </p:sp>
      <p:sp>
        <p:nvSpPr>
          <p:cNvPr id="21" name="Cabecera Metadatos del registro [s5]"/>
          <p:cNvSpPr/>
          <p:nvPr/>
        </p:nvSpPr>
        <p:spPr>
          <a:xfrm>
            <a:off x="966136" y="1561458"/>
            <a:ext cx="3525734" cy="360586"/>
          </a:xfrm>
          <a:prstGeom prst="rect">
            <a:avLst/>
          </a:prstGeom>
          <a:solidFill>
            <a:srgbClr val="1F4E79"/>
          </a:solidFill>
          <a:ln w="6350">
            <a:solidFill>
              <a:srgbClr val="1F4E79"/>
            </a:solidFill>
            <a:prstDash val="solid"/>
          </a:ln>
        </p:spPr>
      </p:sp>
      <p:sp>
        <p:nvSpPr>
          <p:cNvPr id="22" name="Elemento [s5]"/>
          <p:cNvSpPr txBox="1"/>
          <p:nvPr/>
        </p:nvSpPr>
        <p:spPr>
          <a:xfrm>
            <a:off x="1006201" y="1561458"/>
            <a:ext cx="3445604"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Metadatos del registro</a:t>
            </a:r>
            <a:endParaRPr lang="en-US" sz="1260" dirty="0"/>
          </a:p>
        </p:txBody>
      </p:sp>
      <p:sp>
        <p:nvSpPr>
          <p:cNvPr id="23" name="Tarjeta Metadatos del registro [s5]"/>
          <p:cNvSpPr/>
          <p:nvPr/>
        </p:nvSpPr>
        <p:spPr>
          <a:xfrm>
            <a:off x="966136" y="1922045"/>
            <a:ext cx="3525734" cy="1842997"/>
          </a:xfrm>
          <a:prstGeom prst="rect">
            <a:avLst/>
          </a:prstGeom>
          <a:solidFill>
            <a:srgbClr val="FFFFFF"/>
          </a:solidFill>
          <a:ln w="16694">
            <a:solidFill>
              <a:srgbClr val="1F4E79"/>
            </a:solidFill>
            <a:prstDash val="solid"/>
          </a:ln>
        </p:spPr>
      </p:sp>
      <p:sp>
        <p:nvSpPr>
          <p:cNvPr id="24" name="Elemento [s5]"/>
          <p:cNvSpPr txBox="1"/>
          <p:nvPr/>
        </p:nvSpPr>
        <p:spPr>
          <a:xfrm>
            <a:off x="1062292" y="1986149"/>
            <a:ext cx="3333421" cy="1714789"/>
          </a:xfrm>
          <a:prstGeom prst="rect">
            <a:avLst/>
          </a:prstGeom>
          <a:noFill/>
          <a:ln/>
        </p:spPr>
        <p:txBody>
          <a:bodyPr wrap="square" lIns="0" tIns="0" rIns="0" bIns="0" rtlCol="0" anchor="t"/>
          <a:lstStyle/>
          <a:p>
            <a:pPr algn="l" marL="342900" indent="-342900">
              <a:buSzPct val="100000"/>
              <a:buChar char="•"/>
            </a:pPr>
            <a:r>
              <a:rPr lang="en-US" sz="1350" dirty="0">
                <a:solidFill>
                  <a:srgbClr val="2D2D2D"/>
                </a:solidFill>
                <a:latin typeface="Arial" pitchFamily="34" charset="0"/>
                <a:ea typeface="Arial" pitchFamily="34" charset="-122"/>
                <a:cs typeface="Arial" pitchFamily="34" charset="-120"/>
              </a:rPr>
              <a:t>Identificador y posición del nodo</a:t>
            </a:r>
            <a:endParaRPr lang="en-US" sz="1350" dirty="0"/>
          </a:p>
          <a:p>
            <a:pPr algn="l" marL="342900" indent="-342900">
              <a:buSzPct val="100000"/>
              <a:buChar char="•"/>
            </a:pPr>
            <a:r>
              <a:rPr lang="en-US" sz="1350" dirty="0">
                <a:solidFill>
                  <a:srgbClr val="2D2D2D"/>
                </a:solidFill>
                <a:latin typeface="Arial" pitchFamily="34" charset="0"/>
                <a:ea typeface="Arial" pitchFamily="34" charset="-122"/>
                <a:cs typeface="Arial" pitchFamily="34" charset="-120"/>
              </a:rPr>
              <a:t>Frecuencia de muestreo y factor D</a:t>
            </a:r>
            <a:endParaRPr lang="en-US" sz="1350" dirty="0"/>
          </a:p>
          <a:p>
            <a:pPr algn="l" marL="342900" indent="-342900">
              <a:buSzPct val="100000"/>
              <a:buChar char="•"/>
            </a:pPr>
            <a:r>
              <a:rPr lang="en-US" sz="1350" dirty="0">
                <a:solidFill>
                  <a:srgbClr val="2D2D2D"/>
                </a:solidFill>
                <a:latin typeface="Arial" pitchFamily="34" charset="0"/>
                <a:ea typeface="Arial" pitchFamily="34" charset="-122"/>
                <a:cs typeface="Arial" pitchFamily="34" charset="-120"/>
              </a:rPr>
              <a:t>Rango del ADC, ganancia y ruta de señal</a:t>
            </a:r>
            <a:endParaRPr lang="en-US" sz="1350" dirty="0"/>
          </a:p>
          <a:p>
            <a:pPr algn="l" marL="342900" indent="-342900">
              <a:buSzPct val="100000"/>
              <a:buChar char="•"/>
            </a:pPr>
            <a:r>
              <a:rPr lang="en-US" sz="1350" dirty="0">
                <a:solidFill>
                  <a:srgbClr val="2D2D2D"/>
                </a:solidFill>
                <a:latin typeface="Arial" pitchFamily="34" charset="0"/>
                <a:ea typeface="Arial" pitchFamily="34" charset="-122"/>
                <a:cs typeface="Arial" pitchFamily="34" charset="-120"/>
              </a:rPr>
              <a:t>Número de muestras</a:t>
            </a:r>
            <a:endParaRPr lang="en-US" sz="1350" dirty="0"/>
          </a:p>
          <a:p>
            <a:pPr algn="l" marL="342900" indent="-342900">
              <a:buSzPct val="100000"/>
              <a:buChar char="•"/>
            </a:pPr>
            <a:r>
              <a:rPr lang="en-US" sz="1350" dirty="0">
                <a:solidFill>
                  <a:srgbClr val="2D2D2D"/>
                </a:solidFill>
                <a:latin typeface="Arial" pitchFamily="34" charset="0"/>
                <a:ea typeface="Arial" pitchFamily="34" charset="-122"/>
                <a:cs typeface="Arial" pitchFamily="34" charset="-120"/>
              </a:rPr>
              <a:t>Estado del ajuste de offset</a:t>
            </a:r>
            <a:endParaRPr lang="en-US" sz="1350" dirty="0"/>
          </a:p>
        </p:txBody>
      </p:sp>
      <p:sp>
        <p:nvSpPr>
          <p:cNvPr id="25" name="Cabecera Integridad [s5]"/>
          <p:cNvSpPr/>
          <p:nvPr/>
        </p:nvSpPr>
        <p:spPr>
          <a:xfrm>
            <a:off x="4652130" y="1561458"/>
            <a:ext cx="3525734" cy="360586"/>
          </a:xfrm>
          <a:prstGeom prst="rect">
            <a:avLst/>
          </a:prstGeom>
          <a:solidFill>
            <a:srgbClr val="2E75B6"/>
          </a:solidFill>
          <a:ln w="6350">
            <a:solidFill>
              <a:srgbClr val="2E75B6"/>
            </a:solidFill>
            <a:prstDash val="solid"/>
          </a:ln>
        </p:spPr>
      </p:sp>
      <p:sp>
        <p:nvSpPr>
          <p:cNvPr id="26" name="Elemento [s5]"/>
          <p:cNvSpPr txBox="1"/>
          <p:nvPr/>
        </p:nvSpPr>
        <p:spPr>
          <a:xfrm>
            <a:off x="4692195" y="1561458"/>
            <a:ext cx="3445604"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Integridad</a:t>
            </a:r>
            <a:endParaRPr lang="en-US" sz="1260" dirty="0"/>
          </a:p>
        </p:txBody>
      </p:sp>
      <p:sp>
        <p:nvSpPr>
          <p:cNvPr id="27" name="Tarjeta Integridad [s5]"/>
          <p:cNvSpPr/>
          <p:nvPr/>
        </p:nvSpPr>
        <p:spPr>
          <a:xfrm>
            <a:off x="4652130" y="1922045"/>
            <a:ext cx="3525734" cy="1842997"/>
          </a:xfrm>
          <a:prstGeom prst="rect">
            <a:avLst/>
          </a:prstGeom>
          <a:solidFill>
            <a:srgbClr val="FFFFFF"/>
          </a:solidFill>
          <a:ln w="16694">
            <a:solidFill>
              <a:srgbClr val="2E75B6"/>
            </a:solidFill>
            <a:prstDash val="solid"/>
          </a:ln>
        </p:spPr>
      </p:sp>
      <p:sp>
        <p:nvSpPr>
          <p:cNvPr id="28" name="Elemento [s5]"/>
          <p:cNvSpPr txBox="1"/>
          <p:nvPr/>
        </p:nvSpPr>
        <p:spPr>
          <a:xfrm>
            <a:off x="4748287" y="1986149"/>
            <a:ext cx="3333421" cy="1714789"/>
          </a:xfrm>
          <a:prstGeom prst="rect">
            <a:avLst/>
          </a:prstGeom>
          <a:noFill/>
          <a:ln/>
        </p:spPr>
        <p:txBody>
          <a:bodyPr wrap="square" lIns="0" tIns="0" rIns="0" bIns="0" rtlCol="0" anchor="t"/>
          <a:lstStyle/>
          <a:p>
            <a:pPr algn="l" marL="342900" indent="-342900">
              <a:buSzPct val="100000"/>
              <a:buChar char="•"/>
            </a:pPr>
            <a:r>
              <a:rPr lang="en-US" sz="1350" dirty="0">
                <a:solidFill>
                  <a:srgbClr val="2D2D2D"/>
                </a:solidFill>
                <a:latin typeface="Arial" pitchFamily="34" charset="0"/>
                <a:ea typeface="Arial" pitchFamily="34" charset="-122"/>
                <a:cs typeface="Arial" pitchFamily="34" charset="-120"/>
              </a:rPr>
              <a:t>Versión y CRC</a:t>
            </a:r>
            <a:endParaRPr lang="en-US" sz="1350" dirty="0"/>
          </a:p>
          <a:p>
            <a:pPr algn="l" marL="342900" indent="-342900">
              <a:buSzPct val="100000"/>
              <a:buChar char="•"/>
            </a:pPr>
            <a:r>
              <a:rPr lang="en-US" sz="1350" dirty="0">
                <a:solidFill>
                  <a:srgbClr val="2D2D2D"/>
                </a:solidFill>
                <a:latin typeface="Arial" pitchFamily="34" charset="0"/>
                <a:ea typeface="Arial" pitchFamily="34" charset="-122"/>
                <a:cs typeface="Arial" pitchFamily="34" charset="-120"/>
              </a:rPr>
              <a:t>Número de muestras</a:t>
            </a:r>
            <a:endParaRPr lang="en-US" sz="1350" dirty="0"/>
          </a:p>
          <a:p>
            <a:pPr algn="l" marL="342900" indent="-342900">
              <a:buSzPct val="100000"/>
              <a:buChar char="•"/>
            </a:pPr>
            <a:r>
              <a:rPr lang="en-US" sz="1350" dirty="0">
                <a:solidFill>
                  <a:srgbClr val="2D2D2D"/>
                </a:solidFill>
                <a:latin typeface="Arial" pitchFamily="34" charset="0"/>
                <a:ea typeface="Arial" pitchFamily="34" charset="-122"/>
                <a:cs typeface="Arial" pitchFamily="34" charset="-120"/>
              </a:rPr>
              <a:t>Indicadores de desbordamiento o de cierre incompleto</a:t>
            </a:r>
            <a:endParaRPr lang="en-US" sz="1350" dirty="0"/>
          </a:p>
          <a:p>
            <a:pPr algn="l" marL="342900" indent="-342900">
              <a:buSzPct val="100000"/>
              <a:buChar char="•"/>
            </a:pPr>
            <a:r>
              <a:rPr lang="en-US" sz="1350" dirty="0">
                <a:solidFill>
                  <a:srgbClr val="2D2D2D"/>
                </a:solidFill>
                <a:latin typeface="Arial" pitchFamily="34" charset="0"/>
                <a:ea typeface="Arial" pitchFamily="34" charset="-122"/>
                <a:cs typeface="Arial" pitchFamily="34" charset="-120"/>
              </a:rPr>
              <a:t>Verificación en el servidor sin modificar el original</a:t>
            </a:r>
            <a:endParaRPr lang="en-US" sz="1350" dirty="0"/>
          </a:p>
        </p:txBody>
      </p:sp>
      <p:sp>
        <p:nvSpPr>
          <p:cNvPr id="29" name="Paso guardar [s5]"/>
          <p:cNvSpPr/>
          <p:nvPr/>
        </p:nvSpPr>
        <p:spPr>
          <a:xfrm>
            <a:off x="966136" y="3965368"/>
            <a:ext cx="2083388" cy="440717"/>
          </a:xfrm>
          <a:prstGeom prst="roundRect">
            <a:avLst>
              <a:gd name="adj" fmla="val 16598"/>
            </a:avLst>
          </a:prstGeom>
          <a:solidFill>
            <a:srgbClr val="1F4E79"/>
          </a:solidFill>
          <a:ln w="6350">
            <a:solidFill>
              <a:srgbClr val="1F4E79"/>
            </a:solidFill>
            <a:prstDash val="solid"/>
          </a:ln>
        </p:spPr>
      </p:sp>
      <p:sp>
        <p:nvSpPr>
          <p:cNvPr id="30" name="Elemento [s5]"/>
          <p:cNvSpPr txBox="1"/>
          <p:nvPr/>
        </p:nvSpPr>
        <p:spPr>
          <a:xfrm>
            <a:off x="966136" y="3965368"/>
            <a:ext cx="2083388" cy="440717"/>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Se guarda en el nodo</a:t>
            </a:r>
            <a:endParaRPr lang="en-US" sz="1170" dirty="0"/>
          </a:p>
        </p:txBody>
      </p:sp>
      <p:sp>
        <p:nvSpPr>
          <p:cNvPr id="31" name="Paso transmitir [s5]"/>
          <p:cNvSpPr/>
          <p:nvPr/>
        </p:nvSpPr>
        <p:spPr>
          <a:xfrm>
            <a:off x="3530306" y="3965368"/>
            <a:ext cx="2083388" cy="440717"/>
          </a:xfrm>
          <a:prstGeom prst="roundRect">
            <a:avLst>
              <a:gd name="adj" fmla="val 16598"/>
            </a:avLst>
          </a:prstGeom>
          <a:solidFill>
            <a:srgbClr val="2E75B6"/>
          </a:solidFill>
          <a:ln w="6350">
            <a:solidFill>
              <a:srgbClr val="2E75B6"/>
            </a:solidFill>
            <a:prstDash val="solid"/>
          </a:ln>
        </p:spPr>
      </p:sp>
      <p:sp>
        <p:nvSpPr>
          <p:cNvPr id="32" name="Elemento [s5]"/>
          <p:cNvSpPr txBox="1"/>
          <p:nvPr/>
        </p:nvSpPr>
        <p:spPr>
          <a:xfrm>
            <a:off x="3530306" y="3965368"/>
            <a:ext cx="2083388" cy="440717"/>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Lotes numerados</a:t>
            </a:r>
            <a:endParaRPr lang="en-US" sz="1170" dirty="0"/>
          </a:p>
        </p:txBody>
      </p:sp>
      <p:sp>
        <p:nvSpPr>
          <p:cNvPr id="33" name="Paso reintento [s5]"/>
          <p:cNvSpPr/>
          <p:nvPr/>
        </p:nvSpPr>
        <p:spPr>
          <a:xfrm>
            <a:off x="6094476" y="3965368"/>
            <a:ext cx="2083388" cy="440717"/>
          </a:xfrm>
          <a:prstGeom prst="roundRect">
            <a:avLst>
              <a:gd name="adj" fmla="val 16598"/>
            </a:avLst>
          </a:prstGeom>
          <a:solidFill>
            <a:srgbClr val="C55A11"/>
          </a:solidFill>
          <a:ln w="6350">
            <a:solidFill>
              <a:srgbClr val="C55A11"/>
            </a:solidFill>
            <a:prstDash val="solid"/>
          </a:ln>
        </p:spPr>
      </p:sp>
      <p:sp>
        <p:nvSpPr>
          <p:cNvPr id="34" name="Elemento [s5]"/>
          <p:cNvSpPr txBox="1"/>
          <p:nvPr/>
        </p:nvSpPr>
        <p:spPr>
          <a:xfrm>
            <a:off x="6094476" y="3965368"/>
            <a:ext cx="2083388" cy="440717"/>
          </a:xfrm>
          <a:prstGeom prst="rect">
            <a:avLst/>
          </a:prstGeom>
          <a:noFill/>
          <a:ln/>
        </p:spPr>
        <p:txBody>
          <a:bodyPr wrap="square" lIns="50800" tIns="50800" rIns="50800" bIns="50800" rtlCol="0" anchor="ctr"/>
          <a:lstStyle/>
          <a:p>
            <a:pPr algn="ctr" indent="0" marL="0">
              <a:buNone/>
            </a:pPr>
            <a:r>
              <a:rPr lang="en-US" sz="1170" b="1" dirty="0">
                <a:solidFill>
                  <a:srgbClr val="FFFFFF"/>
                </a:solidFill>
                <a:latin typeface="Arial" pitchFamily="34" charset="0"/>
                <a:ea typeface="Arial" pitchFamily="34" charset="-122"/>
                <a:cs typeface="Arial" pitchFamily="34" charset="-120"/>
              </a:rPr>
              <a:t>Reintento si hay pérdida</a:t>
            </a:r>
            <a:endParaRPr lang="en-US" sz="1170" dirty="0"/>
          </a:p>
        </p:txBody>
      </p:sp>
      <p:sp>
        <p:nvSpPr>
          <p:cNvPr id="35" name="Elemento [s5]"/>
          <p:cNvSpPr/>
          <p:nvPr/>
        </p:nvSpPr>
        <p:spPr>
          <a:xfrm>
            <a:off x="3065550" y="4189733"/>
            <a:ext cx="448730" cy="0"/>
          </a:xfrm>
          <a:prstGeom prst="line">
            <a:avLst/>
          </a:prstGeom>
          <a:noFill/>
          <a:ln w="27823">
            <a:solidFill>
              <a:srgbClr val="1F4E79"/>
            </a:solidFill>
            <a:prstDash val="solid"/>
            <a:tailEnd type="triangle"/>
          </a:ln>
        </p:spPr>
      </p:sp>
      <p:sp>
        <p:nvSpPr>
          <p:cNvPr id="36" name="Elemento [s5]"/>
          <p:cNvSpPr/>
          <p:nvPr/>
        </p:nvSpPr>
        <p:spPr>
          <a:xfrm>
            <a:off x="5629720" y="4189733"/>
            <a:ext cx="448730" cy="0"/>
          </a:xfrm>
          <a:prstGeom prst="line">
            <a:avLst/>
          </a:prstGeom>
          <a:noFill/>
          <a:ln w="27823">
            <a:solidFill>
              <a:srgbClr val="1F4E79"/>
            </a:solidFill>
            <a:prstDash val="solid"/>
            <a:tailEnd type="triangle"/>
          </a:ln>
        </p:spPr>
      </p:sp>
      <p:sp>
        <p:nvSpPr>
          <p:cNvPr id="37"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ADC tiene cuatro rangos de entrada, y el rango y la ganancia se eligen juntos</a:t>
            </a:r>
            <a:endParaRPr lang="en-US" sz="1400" dirty="0"/>
          </a:p>
        </p:txBody>
      </p:sp>
      <p:sp>
        <p:nvSpPr>
          <p:cNvPr id="38"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documento de tesis, 04_arquitectura.tex (rangos del ADC). Los 13,8 dB son 20·log10(5/1,024), cálculo propio.</a:t>
            </a:r>
            <a:endParaRPr lang="en-US" sz="800" dirty="0"/>
          </a:p>
        </p:txBody>
      </p:sp>
      <p:sp>
        <p:nvSpPr>
          <p:cNvPr id="39"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Diezmamos con una media móvil: registros más chicos y mejor vista de las señales lentas</a:t>
            </a:r>
            <a:endParaRPr lang="en-US" sz="1400" dirty="0"/>
          </a:p>
        </p:txBody>
      </p:sp>
      <p:sp>
        <p:nvSpPr>
          <p:cNvPr id="40"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ec. 15; documento de tesis, 04_arquitectura.tex. Curva ilustrativa: cálculo propio de la respuesta de una media móvil.</a:t>
            </a:r>
            <a:endParaRPr lang="en-US" sz="800" dirty="0"/>
          </a:p>
        </p:txBody>
      </p:sp>
      <p:sp>
        <p:nvSpPr>
          <p:cNvPr id="41"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máquina de estados en hardware dispara, cuenta y cierra la captura</a:t>
            </a:r>
            <a:endParaRPr lang="en-US" sz="1400" dirty="0"/>
          </a:p>
        </p:txBody>
      </p:sp>
      <p:sp>
        <p:nvSpPr>
          <p:cNvPr id="42"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17); resumen firmado, fig. 10; documento de tesis, 04_arquitectura.tex.</a:t>
            </a:r>
            <a:endParaRPr lang="en-US" sz="800" dirty="0"/>
          </a:p>
        </p:txBody>
      </p:sp>
      <p:sp>
        <p:nvSpPr>
          <p:cNvPr id="43"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nodo guarda sus muestras en la RAM del ESP32 o, si hay tarjeta, en la SD del PSoC</a:t>
            </a:r>
            <a:endParaRPr lang="en-US" sz="1400" dirty="0"/>
          </a:p>
        </p:txBody>
      </p:sp>
      <p:sp>
        <p:nvSpPr>
          <p:cNvPr id="44"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11); documento de tesis, 04_arquitectura.tex (jerarquía de memoria).</a:t>
            </a:r>
            <a:endParaRPr lang="en-US" sz="800" dirty="0"/>
          </a:p>
        </p:txBody>
      </p:sp>
      <p:sp>
        <p:nvSpPr>
          <p:cNvPr id="45"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Sin SD, el diezmado define cuánto dura el registro, a costa de ancho de banda</a:t>
            </a:r>
            <a:endParaRPr lang="en-US" sz="1400" dirty="0"/>
          </a:p>
        </p:txBody>
      </p:sp>
      <p:sp>
        <p:nvSpPr>
          <p:cNvPr id="46"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Cálculo propio con 512 lotes de 30 muestras y </a:t>
            </a:r>
            <mc:AlternateContent xmlns:mc="http://schemas.openxmlformats.org/markup-compatibility/2006">
              <mc:Choice xmlns:a14="http://schemas.microsoft.com/office/drawing/2010/main" Requires="a14">
                <a14:m>
                  <m:oMath xmlns:m="http://schemas.openxmlformats.org/officeDocument/2006/math">
                    <m:sSub>
                      <m:sSubPr>
                        <m:ctrlPr>
                          <a:rPr lang="es-ES" sz="800" i="1">
                            <a:latin typeface="Cambria Math" panose="02040503050406030204" pitchFamily="18" charset="0"/>
                          </a:rPr>
                        </m:ctrlPr>
                      </m:sSubPr>
                      <m:e>
                        <m:r>
                          <a:rPr lang="es-ES" sz="800" i="1">
                            <a:solidFill>
                              <a:srgbClr val="6B6B6B"/>
                            </a:solidFill>
                            <a:latin typeface="Cambria Math" panose="02040503050406030204" pitchFamily="18" charset="0"/>
                          </a:rPr>
                          <m:t xml:space="preserve">f</m:t>
                        </m:r>
                      </m:e>
                      <m:sub>
                        <m:r>
                          <a:rPr lang="es-ES" sz="800" i="1">
                            <a:solidFill>
                              <a:srgbClr val="6B6B6B"/>
                            </a:solidFill>
                            <a:latin typeface="Cambria Math" panose="02040503050406030204" pitchFamily="18" charset="0"/>
                          </a:rPr>
                          <m:t xml:space="preserve">s</m:t>
                        </m:r>
                      </m:sub>
                    </m:sSub>
                    <m:r>
                      <m:rPr>
                        <m:sty m:val="p"/>
                      </m:rPr>
                      <a:rPr lang="es-ES" sz="800">
                        <a:solidFill>
                          <a:srgbClr val="6B6B6B"/>
                        </a:solidFill>
                        <a:latin typeface="Cambria Math" panose="02040503050406030204" pitchFamily="18" charset="0"/>
                      </a:rPr>
                      <m:t xml:space="preserve">=</m:t>
                    </m:r>
                    <m:r>
                      <m:rPr>
                        <m:sty m:val="p"/>
                      </m:rPr>
                      <a:rPr lang="es-ES" sz="800">
                        <a:solidFill>
                          <a:srgbClr val="6B6B6B"/>
                        </a:solidFill>
                        <a:latin typeface="Cambria Math" panose="02040503050406030204" pitchFamily="18" charset="0"/>
                      </a:rPr>
                      <m:t xml:space="preserve">2604</m:t>
                    </m:r>
                  </m:oMath>
                </a14:m>
              </mc:Choice>
              <mc:Fallback>
                <a:r>
                  <a:rPr lang="en-US" sz="800" dirty="0">
                    <a:solidFill>
                      <a:srgbClr val="6B6B6B"/>
                    </a:solidFill>
                    <a:latin typeface="Arial" pitchFamily="34" charset="0"/>
                    <a:ea typeface="Arial" pitchFamily="34" charset="-122"/>
                    <a:cs typeface="Arial" pitchFamily="34" charset="-120"/>
                  </a:rPr>
                  <a:t>fs = 2604</a:t>
                </a:r>
              </mc:Fallback>
            </mc:AlternateContent>
            <a:r>
              <a:rPr lang="en-US" sz="800" dirty="0">
                <a:solidFill>
                  <a:srgbClr val="6B6B6B"/>
                </a:solidFill>
                <a:latin typeface="Arial" pitchFamily="34" charset="0"/>
                <a:ea typeface="Arial" pitchFamily="34" charset="-122"/>
                <a:cs typeface="Arial" pitchFamily="34" charset="-120"/>
              </a:rPr>
              <a:t> Hz; documento de tesis, 04_arquitectura.tex.</a:t>
            </a:r>
            <a:endParaRPr lang="en-US" sz="800" dirty="0"/>
          </a:p>
        </p:txBody>
      </p:sp>
      <p:sp>
        <p:nvSpPr>
          <p:cNvPr id="47" name="Encabezado [s5]"/>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registro guarda sus metadatos y su integridad, y el original permanece en el nodo</a:t>
            </a:r>
            <a:endParaRPr lang="en-US" sz="1400" dirty="0"/>
          </a:p>
        </p:txBody>
      </p:sp>
      <p:sp>
        <p:nvSpPr>
          <p:cNvPr id="48" name="Cita [s5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4.6 a 4.8 (metadatos, lotes, integridad); documento de tesis, 04_arquitectura.tex.</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98" fill="hold">
                      <p:stCondLst>
                        <p:cond delay="indefinite"/>
                      </p:stCondLst>
                      <p:childTnLst>
                        <p:par>
                          <p:cTn id="3999" fill="hold">
                            <p:stCondLst>
                              <p:cond delay="0"/>
                            </p:stCondLst>
                            <p:childTnLst>
                              <p:par>
                                <p:cTn id="3956" presetID="10" presetClass="exit" presetSubtype="0" fill="hold" nodeType="clickEffect">
                                  <p:stCondLst>
                                    <p:cond delay="0"/>
                                  </p:stCondLst>
                                  <p:childTnLst>
                                    <p:animEffect transition="out" filter="fade">
                                      <p:cBhvr>
                                        <p:cTn id="3957" dur="400"/>
                                        <p:tgtEl>
                                          <p:spTgt spid="3"/>
                                        </p:tgtEl>
                                      </p:cBhvr>
                                    </p:animEffect>
                                    <p:set>
                                      <p:cBhvr>
                                        <p:cTn id="3958" dur="1" fill="hold">
                                          <p:stCondLst>
                                            <p:cond delay="399"/>
                                          </p:stCondLst>
                                        </p:cTn>
                                        <p:tgtEl>
                                          <p:spTgt spid="3"/>
                                        </p:tgtEl>
                                        <p:attrNameLst>
                                          <p:attrName>style.visibility</p:attrName>
                                        </p:attrNameLst>
                                      </p:cBhvr>
                                      <p:to>
                                        <p:strVal val="hidden"/>
                                      </p:to>
                                    </p:set>
                                  </p:childTnLst>
                                </p:cTn>
                              </p:par>
                              <p:par>
                                <p:cTn id="3959" presetID="10" presetClass="exit" presetSubtype="0" fill="hold" nodeType="withEffect">
                                  <p:stCondLst>
                                    <p:cond delay="0"/>
                                  </p:stCondLst>
                                  <p:childTnLst>
                                    <p:animEffect transition="out" filter="fade">
                                      <p:cBhvr>
                                        <p:cTn id="3960" dur="400"/>
                                        <p:tgtEl>
                                          <p:spTgt spid="4"/>
                                        </p:tgtEl>
                                      </p:cBhvr>
                                    </p:animEffect>
                                    <p:set>
                                      <p:cBhvr>
                                        <p:cTn id="3961" dur="1" fill="hold">
                                          <p:stCondLst>
                                            <p:cond delay="399"/>
                                          </p:stCondLst>
                                        </p:cTn>
                                        <p:tgtEl>
                                          <p:spTgt spid="4"/>
                                        </p:tgtEl>
                                        <p:attrNameLst>
                                          <p:attrName>style.visibility</p:attrName>
                                        </p:attrNameLst>
                                      </p:cBhvr>
                                      <p:to>
                                        <p:strVal val="hidden"/>
                                      </p:to>
                                    </p:set>
                                  </p:childTnLst>
                                </p:cTn>
                              </p:par>
                              <p:par>
                                <p:cTn id="3962" presetID="10" presetClass="exit" presetSubtype="0" fill="hold" nodeType="withEffect">
                                  <p:stCondLst>
                                    <p:cond delay="0"/>
                                  </p:stCondLst>
                                  <p:childTnLst>
                                    <p:animEffect transition="out" filter="fade">
                                      <p:cBhvr>
                                        <p:cTn id="3963" dur="400"/>
                                        <p:tgtEl>
                                          <p:spTgt spid="19"/>
                                        </p:tgtEl>
                                      </p:cBhvr>
                                    </p:animEffect>
                                    <p:set>
                                      <p:cBhvr>
                                        <p:cTn id="3964" dur="1" fill="hold">
                                          <p:stCondLst>
                                            <p:cond delay="399"/>
                                          </p:stCondLst>
                                        </p:cTn>
                                        <p:tgtEl>
                                          <p:spTgt spid="19"/>
                                        </p:tgtEl>
                                        <p:attrNameLst>
                                          <p:attrName>style.visibility</p:attrName>
                                        </p:attrNameLst>
                                      </p:cBhvr>
                                      <p:to>
                                        <p:strVal val="hidden"/>
                                      </p:to>
                                    </p:set>
                                  </p:childTnLst>
                                </p:cTn>
                              </p:par>
                              <p:par>
                                <p:cTn id="3965" presetID="10" presetClass="exit" presetSubtype="0" fill="hold" nodeType="withEffect">
                                  <p:stCondLst>
                                    <p:cond delay="0"/>
                                  </p:stCondLst>
                                  <p:childTnLst>
                                    <p:animEffect transition="out" filter="fade">
                                      <p:cBhvr>
                                        <p:cTn id="3966" dur="400"/>
                                        <p:tgtEl>
                                          <p:spTgt spid="6"/>
                                        </p:tgtEl>
                                      </p:cBhvr>
                                    </p:animEffect>
                                    <p:set>
                                      <p:cBhvr>
                                        <p:cTn id="3967" dur="1" fill="hold">
                                          <p:stCondLst>
                                            <p:cond delay="399"/>
                                          </p:stCondLst>
                                        </p:cTn>
                                        <p:tgtEl>
                                          <p:spTgt spid="6"/>
                                        </p:tgtEl>
                                        <p:attrNameLst>
                                          <p:attrName>style.visibility</p:attrName>
                                        </p:attrNameLst>
                                      </p:cBhvr>
                                      <p:to>
                                        <p:strVal val="hidden"/>
                                      </p:to>
                                    </p:set>
                                  </p:childTnLst>
                                </p:cTn>
                              </p:par>
                              <p:par>
                                <p:cTn id="3968" presetID="10" presetClass="exit" presetSubtype="0" fill="hold" nodeType="withEffect">
                                  <p:stCondLst>
                                    <p:cond delay="0"/>
                                  </p:stCondLst>
                                  <p:childTnLst>
                                    <p:animEffect transition="out" filter="fade">
                                      <p:cBhvr>
                                        <p:cTn id="3969" dur="400"/>
                                        <p:tgtEl>
                                          <p:spTgt spid="7"/>
                                        </p:tgtEl>
                                      </p:cBhvr>
                                    </p:animEffect>
                                    <p:set>
                                      <p:cBhvr>
                                        <p:cTn id="3970" dur="1" fill="hold">
                                          <p:stCondLst>
                                            <p:cond delay="399"/>
                                          </p:stCondLst>
                                        </p:cTn>
                                        <p:tgtEl>
                                          <p:spTgt spid="7"/>
                                        </p:tgtEl>
                                        <p:attrNameLst>
                                          <p:attrName>style.visibility</p:attrName>
                                        </p:attrNameLst>
                                      </p:cBhvr>
                                      <p:to>
                                        <p:strVal val="hidden"/>
                                      </p:to>
                                    </p:set>
                                  </p:childTnLst>
                                </p:cTn>
                              </p:par>
                              <p:par>
                                <p:cTn id="3971" presetID="10" presetClass="exit" presetSubtype="0" fill="hold" nodeType="withEffect">
                                  <p:stCondLst>
                                    <p:cond delay="0"/>
                                  </p:stCondLst>
                                  <p:childTnLst>
                                    <p:animEffect transition="out" filter="fade">
                                      <p:cBhvr>
                                        <p:cTn id="3972" dur="400"/>
                                        <p:tgtEl>
                                          <p:spTgt spid="37"/>
                                        </p:tgtEl>
                                      </p:cBhvr>
                                    </p:animEffect>
                                    <p:set>
                                      <p:cBhvr>
                                        <p:cTn id="3973" dur="1" fill="hold">
                                          <p:stCondLst>
                                            <p:cond delay="399"/>
                                          </p:stCondLst>
                                        </p:cTn>
                                        <p:tgtEl>
                                          <p:spTgt spid="37"/>
                                        </p:tgtEl>
                                        <p:attrNameLst>
                                          <p:attrName>style.visibility</p:attrName>
                                        </p:attrNameLst>
                                      </p:cBhvr>
                                      <p:to>
                                        <p:strVal val="hidden"/>
                                      </p:to>
                                    </p:set>
                                  </p:childTnLst>
                                </p:cTn>
                              </p:par>
                              <p:par>
                                <p:cTn id="3974" presetID="10" presetClass="exit" presetSubtype="0" fill="hold" nodeType="withEffect">
                                  <p:stCondLst>
                                    <p:cond delay="0"/>
                                  </p:stCondLst>
                                  <p:childTnLst>
                                    <p:animEffect transition="out" filter="fade">
                                      <p:cBhvr>
                                        <p:cTn id="3975" dur="400"/>
                                        <p:tgtEl>
                                          <p:spTgt spid="38"/>
                                        </p:tgtEl>
                                      </p:cBhvr>
                                    </p:animEffect>
                                    <p:set>
                                      <p:cBhvr>
                                        <p:cTn id="3976" dur="1" fill="hold">
                                          <p:stCondLst>
                                            <p:cond delay="399"/>
                                          </p:stCondLst>
                                        </p:cTn>
                                        <p:tgtEl>
                                          <p:spTgt spid="38"/>
                                        </p:tgtEl>
                                        <p:attrNameLst>
                                          <p:attrName>style.visibility</p:attrName>
                                        </p:attrNameLst>
                                      </p:cBhvr>
                                      <p:to>
                                        <p:strVal val="hidden"/>
                                      </p:to>
                                    </p:set>
                                  </p:childTnLst>
                                </p:cTn>
                              </p:par>
                              <p:par>
                                <p:cTn id="3977" presetID="10" presetClass="entr" presetSubtype="0" fill="hold" nodeType="withEffect">
                                  <p:stCondLst>
                                    <p:cond delay="200"/>
                                  </p:stCondLst>
                                  <p:childTnLst>
                                    <p:set>
                                      <p:cBhvr>
                                        <p:cTn id="3978" dur="1" fill="hold">
                                          <p:stCondLst>
                                            <p:cond delay="0"/>
                                          </p:stCondLst>
                                        </p:cTn>
                                        <p:tgtEl>
                                          <p:spTgt spid="8"/>
                                        </p:tgtEl>
                                        <p:attrNameLst>
                                          <p:attrName>style.visibility</p:attrName>
                                        </p:attrNameLst>
                                      </p:cBhvr>
                                      <p:to>
                                        <p:strVal val="visible"/>
                                      </p:to>
                                    </p:set>
                                    <p:animEffect transition="in" filter="fade">
                                      <p:cBhvr>
                                        <p:cTn id="3979" dur="500"/>
                                        <p:tgtEl>
                                          <p:spTgt spid="8"/>
                                        </p:tgtEl>
                                      </p:cBhvr>
                                    </p:animEffect>
                                  </p:childTnLst>
                                </p:cTn>
                              </p:par>
                              <p:par>
                                <p:cTn id="3980" presetID="10" presetClass="entr" presetSubtype="0" fill="hold" nodeType="withEffect">
                                  <p:stCondLst>
                                    <p:cond delay="270"/>
                                  </p:stCondLst>
                                  <p:childTnLst>
                                    <p:set>
                                      <p:cBhvr>
                                        <p:cTn id="3981" dur="1" fill="hold">
                                          <p:stCondLst>
                                            <p:cond delay="0"/>
                                          </p:stCondLst>
                                        </p:cTn>
                                        <p:tgtEl>
                                          <p:spTgt spid="9"/>
                                        </p:tgtEl>
                                        <p:attrNameLst>
                                          <p:attrName>style.visibility</p:attrName>
                                        </p:attrNameLst>
                                      </p:cBhvr>
                                      <p:to>
                                        <p:strVal val="visible"/>
                                      </p:to>
                                    </p:set>
                                    <p:animEffect transition="in" filter="fade">
                                      <p:cBhvr>
                                        <p:cTn id="3982" dur="500"/>
                                        <p:tgtEl>
                                          <p:spTgt spid="9"/>
                                        </p:tgtEl>
                                      </p:cBhvr>
                                    </p:animEffect>
                                  </p:childTnLst>
                                </p:cTn>
                              </p:par>
                              <p:par>
                                <p:cTn id="3983" presetID="10" presetClass="entr" presetSubtype="0" fill="hold" nodeType="withEffect">
                                  <p:stCondLst>
                                    <p:cond delay="340"/>
                                  </p:stCondLst>
                                  <p:childTnLst>
                                    <p:set>
                                      <p:cBhvr>
                                        <p:cTn id="3984" dur="1" fill="hold">
                                          <p:stCondLst>
                                            <p:cond delay="0"/>
                                          </p:stCondLst>
                                        </p:cTn>
                                        <p:tgtEl>
                                          <p:spTgt spid="10"/>
                                        </p:tgtEl>
                                        <p:attrNameLst>
                                          <p:attrName>style.visibility</p:attrName>
                                        </p:attrNameLst>
                                      </p:cBhvr>
                                      <p:to>
                                        <p:strVal val="visible"/>
                                      </p:to>
                                    </p:set>
                                    <p:animEffect transition="in" filter="fade">
                                      <p:cBhvr>
                                        <p:cTn id="3985" dur="500"/>
                                        <p:tgtEl>
                                          <p:spTgt spid="10"/>
                                        </p:tgtEl>
                                      </p:cBhvr>
                                    </p:animEffect>
                                  </p:childTnLst>
                                </p:cTn>
                              </p:par>
                              <p:par>
                                <p:cTn id="3986" presetID="10" presetClass="entr" presetSubtype="0" fill="hold" nodeType="withEffect">
                                  <p:stCondLst>
                                    <p:cond delay="410"/>
                                  </p:stCondLst>
                                  <p:childTnLst>
                                    <p:set>
                                      <p:cBhvr>
                                        <p:cTn id="3987" dur="1" fill="hold">
                                          <p:stCondLst>
                                            <p:cond delay="0"/>
                                          </p:stCondLst>
                                        </p:cTn>
                                        <p:tgtEl>
                                          <p:spTgt spid="11"/>
                                        </p:tgtEl>
                                        <p:attrNameLst>
                                          <p:attrName>style.visibility</p:attrName>
                                        </p:attrNameLst>
                                      </p:cBhvr>
                                      <p:to>
                                        <p:strVal val="visible"/>
                                      </p:to>
                                    </p:set>
                                    <p:animEffect transition="in" filter="fade">
                                      <p:cBhvr>
                                        <p:cTn id="3988" dur="500"/>
                                        <p:tgtEl>
                                          <p:spTgt spid="11"/>
                                        </p:tgtEl>
                                      </p:cBhvr>
                                    </p:animEffect>
                                  </p:childTnLst>
                                </p:cTn>
                              </p:par>
                              <p:par>
                                <p:cTn id="3989" presetID="10" presetClass="entr" presetSubtype="0" fill="hold" nodeType="withEffect">
                                  <p:stCondLst>
                                    <p:cond delay="480"/>
                                  </p:stCondLst>
                                  <p:childTnLst>
                                    <p:set>
                                      <p:cBhvr>
                                        <p:cTn id="3990" dur="1" fill="hold">
                                          <p:stCondLst>
                                            <p:cond delay="0"/>
                                          </p:stCondLst>
                                        </p:cTn>
                                        <p:tgtEl>
                                          <p:spTgt spid="12"/>
                                        </p:tgtEl>
                                        <p:attrNameLst>
                                          <p:attrName>style.visibility</p:attrName>
                                        </p:attrNameLst>
                                      </p:cBhvr>
                                      <p:to>
                                        <p:strVal val="visible"/>
                                      </p:to>
                                    </p:set>
                                    <p:animEffect transition="in" filter="fade">
                                      <p:cBhvr>
                                        <p:cTn id="3991" dur="500"/>
                                        <p:tgtEl>
                                          <p:spTgt spid="12"/>
                                        </p:tgtEl>
                                      </p:cBhvr>
                                    </p:animEffect>
                                  </p:childTnLst>
                                </p:cTn>
                              </p:par>
                              <p:par>
                                <p:cTn id="3992" presetID="10" presetClass="entr" presetSubtype="0" fill="hold" nodeType="withEffect">
                                  <p:stCondLst>
                                    <p:cond delay="550"/>
                                  </p:stCondLst>
                                  <p:childTnLst>
                                    <p:set>
                                      <p:cBhvr>
                                        <p:cTn id="3993" dur="1" fill="hold">
                                          <p:stCondLst>
                                            <p:cond delay="0"/>
                                          </p:stCondLst>
                                        </p:cTn>
                                        <p:tgtEl>
                                          <p:spTgt spid="39"/>
                                        </p:tgtEl>
                                        <p:attrNameLst>
                                          <p:attrName>style.visibility</p:attrName>
                                        </p:attrNameLst>
                                      </p:cBhvr>
                                      <p:to>
                                        <p:strVal val="visible"/>
                                      </p:to>
                                    </p:set>
                                    <p:animEffect transition="in" filter="fade">
                                      <p:cBhvr>
                                        <p:cTn id="3994" dur="500"/>
                                        <p:tgtEl>
                                          <p:spTgt spid="39"/>
                                        </p:tgtEl>
                                      </p:cBhvr>
                                    </p:animEffect>
                                  </p:childTnLst>
                                </p:cTn>
                              </p:par>
                              <p:par>
                                <p:cTn id="3995" presetID="10" presetClass="entr" presetSubtype="0" fill="hold" nodeType="withEffect">
                                  <p:stCondLst>
                                    <p:cond delay="620"/>
                                  </p:stCondLst>
                                  <p:childTnLst>
                                    <p:set>
                                      <p:cBhvr>
                                        <p:cTn id="3996" dur="1" fill="hold">
                                          <p:stCondLst>
                                            <p:cond delay="0"/>
                                          </p:stCondLst>
                                        </p:cTn>
                                        <p:tgtEl>
                                          <p:spTgt spid="40"/>
                                        </p:tgtEl>
                                        <p:attrNameLst>
                                          <p:attrName>style.visibility</p:attrName>
                                        </p:attrNameLst>
                                      </p:cBhvr>
                                      <p:to>
                                        <p:strVal val="visible"/>
                                      </p:to>
                                    </p:set>
                                    <p:animEffect transition="in" filter="fade">
                                      <p:cBhvr>
                                        <p:cTn id="3997" dur="500"/>
                                        <p:tgtEl>
                                          <p:spTgt spid="40"/>
                                        </p:tgtEl>
                                      </p:cBhvr>
                                    </p:animEffect>
                                  </p:childTnLst>
                                </p:cTn>
                              </p:par>
                            </p:childTnLst>
                          </p:cTn>
                        </p:par>
                      </p:childTnLst>
                    </p:cTn>
                  </p:par>
                  <p:par>
                    <p:cTn id="4030" fill="hold">
                      <p:stCondLst>
                        <p:cond delay="indefinite"/>
                      </p:stCondLst>
                      <p:childTnLst>
                        <p:par>
                          <p:cTn id="4031" fill="hold">
                            <p:stCondLst>
                              <p:cond delay="0"/>
                            </p:stCondLst>
                            <p:childTnLst>
                              <p:par>
                                <p:cTn id="4000" presetID="10" presetClass="exit" presetSubtype="0" fill="hold" nodeType="clickEffect">
                                  <p:stCondLst>
                                    <p:cond delay="0"/>
                                  </p:stCondLst>
                                  <p:childTnLst>
                                    <p:animEffect transition="out" filter="fade">
                                      <p:cBhvr>
                                        <p:cTn id="4001" dur="400"/>
                                        <p:tgtEl>
                                          <p:spTgt spid="8"/>
                                        </p:tgtEl>
                                      </p:cBhvr>
                                    </p:animEffect>
                                    <p:set>
                                      <p:cBhvr>
                                        <p:cTn id="4002" dur="1" fill="hold">
                                          <p:stCondLst>
                                            <p:cond delay="399"/>
                                          </p:stCondLst>
                                        </p:cTn>
                                        <p:tgtEl>
                                          <p:spTgt spid="8"/>
                                        </p:tgtEl>
                                        <p:attrNameLst>
                                          <p:attrName>style.visibility</p:attrName>
                                        </p:attrNameLst>
                                      </p:cBhvr>
                                      <p:to>
                                        <p:strVal val="hidden"/>
                                      </p:to>
                                    </p:set>
                                  </p:childTnLst>
                                </p:cTn>
                              </p:par>
                              <p:par>
                                <p:cTn id="4003" presetID="10" presetClass="exit" presetSubtype="0" fill="hold" nodeType="withEffect">
                                  <p:stCondLst>
                                    <p:cond delay="0"/>
                                  </p:stCondLst>
                                  <p:childTnLst>
                                    <p:animEffect transition="out" filter="fade">
                                      <p:cBhvr>
                                        <p:cTn id="4004" dur="400"/>
                                        <p:tgtEl>
                                          <p:spTgt spid="9"/>
                                        </p:tgtEl>
                                      </p:cBhvr>
                                    </p:animEffect>
                                    <p:set>
                                      <p:cBhvr>
                                        <p:cTn id="4005" dur="1" fill="hold">
                                          <p:stCondLst>
                                            <p:cond delay="399"/>
                                          </p:stCondLst>
                                        </p:cTn>
                                        <p:tgtEl>
                                          <p:spTgt spid="9"/>
                                        </p:tgtEl>
                                        <p:attrNameLst>
                                          <p:attrName>style.visibility</p:attrName>
                                        </p:attrNameLst>
                                      </p:cBhvr>
                                      <p:to>
                                        <p:strVal val="hidden"/>
                                      </p:to>
                                    </p:set>
                                  </p:childTnLst>
                                </p:cTn>
                              </p:par>
                              <p:par>
                                <p:cTn id="4006" presetID="10" presetClass="exit" presetSubtype="0" fill="hold" nodeType="withEffect">
                                  <p:stCondLst>
                                    <p:cond delay="0"/>
                                  </p:stCondLst>
                                  <p:childTnLst>
                                    <p:animEffect transition="out" filter="fade">
                                      <p:cBhvr>
                                        <p:cTn id="4007" dur="400"/>
                                        <p:tgtEl>
                                          <p:spTgt spid="10"/>
                                        </p:tgtEl>
                                      </p:cBhvr>
                                    </p:animEffect>
                                    <p:set>
                                      <p:cBhvr>
                                        <p:cTn id="4008" dur="1" fill="hold">
                                          <p:stCondLst>
                                            <p:cond delay="399"/>
                                          </p:stCondLst>
                                        </p:cTn>
                                        <p:tgtEl>
                                          <p:spTgt spid="10"/>
                                        </p:tgtEl>
                                        <p:attrNameLst>
                                          <p:attrName>style.visibility</p:attrName>
                                        </p:attrNameLst>
                                      </p:cBhvr>
                                      <p:to>
                                        <p:strVal val="hidden"/>
                                      </p:to>
                                    </p:set>
                                  </p:childTnLst>
                                </p:cTn>
                              </p:par>
                              <p:par>
                                <p:cTn id="4009" presetID="10" presetClass="exit" presetSubtype="0" fill="hold" nodeType="withEffect">
                                  <p:stCondLst>
                                    <p:cond delay="0"/>
                                  </p:stCondLst>
                                  <p:childTnLst>
                                    <p:animEffect transition="out" filter="fade">
                                      <p:cBhvr>
                                        <p:cTn id="4010" dur="400"/>
                                        <p:tgtEl>
                                          <p:spTgt spid="11"/>
                                        </p:tgtEl>
                                      </p:cBhvr>
                                    </p:animEffect>
                                    <p:set>
                                      <p:cBhvr>
                                        <p:cTn id="4011" dur="1" fill="hold">
                                          <p:stCondLst>
                                            <p:cond delay="399"/>
                                          </p:stCondLst>
                                        </p:cTn>
                                        <p:tgtEl>
                                          <p:spTgt spid="11"/>
                                        </p:tgtEl>
                                        <p:attrNameLst>
                                          <p:attrName>style.visibility</p:attrName>
                                        </p:attrNameLst>
                                      </p:cBhvr>
                                      <p:to>
                                        <p:strVal val="hidden"/>
                                      </p:to>
                                    </p:set>
                                  </p:childTnLst>
                                </p:cTn>
                              </p:par>
                              <p:par>
                                <p:cTn id="4012" presetID="10" presetClass="exit" presetSubtype="0" fill="hold" nodeType="withEffect">
                                  <p:stCondLst>
                                    <p:cond delay="0"/>
                                  </p:stCondLst>
                                  <p:childTnLst>
                                    <p:animEffect transition="out" filter="fade">
                                      <p:cBhvr>
                                        <p:cTn id="4013" dur="400"/>
                                        <p:tgtEl>
                                          <p:spTgt spid="12"/>
                                        </p:tgtEl>
                                      </p:cBhvr>
                                    </p:animEffect>
                                    <p:set>
                                      <p:cBhvr>
                                        <p:cTn id="4014" dur="1" fill="hold">
                                          <p:stCondLst>
                                            <p:cond delay="399"/>
                                          </p:stCondLst>
                                        </p:cTn>
                                        <p:tgtEl>
                                          <p:spTgt spid="12"/>
                                        </p:tgtEl>
                                        <p:attrNameLst>
                                          <p:attrName>style.visibility</p:attrName>
                                        </p:attrNameLst>
                                      </p:cBhvr>
                                      <p:to>
                                        <p:strVal val="hidden"/>
                                      </p:to>
                                    </p:set>
                                  </p:childTnLst>
                                </p:cTn>
                              </p:par>
                              <p:par>
                                <p:cTn id="4015" presetID="10" presetClass="exit" presetSubtype="0" fill="hold" nodeType="withEffect">
                                  <p:stCondLst>
                                    <p:cond delay="0"/>
                                  </p:stCondLst>
                                  <p:childTnLst>
                                    <p:animEffect transition="out" filter="fade">
                                      <p:cBhvr>
                                        <p:cTn id="4016" dur="400"/>
                                        <p:tgtEl>
                                          <p:spTgt spid="39"/>
                                        </p:tgtEl>
                                      </p:cBhvr>
                                    </p:animEffect>
                                    <p:set>
                                      <p:cBhvr>
                                        <p:cTn id="4017" dur="1" fill="hold">
                                          <p:stCondLst>
                                            <p:cond delay="399"/>
                                          </p:stCondLst>
                                        </p:cTn>
                                        <p:tgtEl>
                                          <p:spTgt spid="39"/>
                                        </p:tgtEl>
                                        <p:attrNameLst>
                                          <p:attrName>style.visibility</p:attrName>
                                        </p:attrNameLst>
                                      </p:cBhvr>
                                      <p:to>
                                        <p:strVal val="hidden"/>
                                      </p:to>
                                    </p:set>
                                  </p:childTnLst>
                                </p:cTn>
                              </p:par>
                              <p:par>
                                <p:cTn id="4018" presetID="10" presetClass="exit" presetSubtype="0" fill="hold" nodeType="withEffect">
                                  <p:stCondLst>
                                    <p:cond delay="0"/>
                                  </p:stCondLst>
                                  <p:childTnLst>
                                    <p:animEffect transition="out" filter="fade">
                                      <p:cBhvr>
                                        <p:cTn id="4019" dur="400"/>
                                        <p:tgtEl>
                                          <p:spTgt spid="40"/>
                                        </p:tgtEl>
                                      </p:cBhvr>
                                    </p:animEffect>
                                    <p:set>
                                      <p:cBhvr>
                                        <p:cTn id="4020" dur="1" fill="hold">
                                          <p:stCondLst>
                                            <p:cond delay="399"/>
                                          </p:stCondLst>
                                        </p:cTn>
                                        <p:tgtEl>
                                          <p:spTgt spid="40"/>
                                        </p:tgtEl>
                                        <p:attrNameLst>
                                          <p:attrName>style.visibility</p:attrName>
                                        </p:attrNameLst>
                                      </p:cBhvr>
                                      <p:to>
                                        <p:strVal val="hidden"/>
                                      </p:to>
                                    </p:set>
                                  </p:childTnLst>
                                </p:cTn>
                              </p:par>
                              <p:par>
                                <p:cTn id="4021" presetID="22" presetClass="entr" presetSubtype="8" fill="hold" nodeType="withEffect">
                                  <p:stCondLst>
                                    <p:cond delay="200"/>
                                  </p:stCondLst>
                                  <p:childTnLst>
                                    <p:set>
                                      <p:cBhvr>
                                        <p:cTn id="4022" dur="1" fill="hold">
                                          <p:stCondLst>
                                            <p:cond delay="0"/>
                                          </p:stCondLst>
                                        </p:cTn>
                                        <p:tgtEl>
                                          <p:spTgt spid="13"/>
                                        </p:tgtEl>
                                        <p:attrNameLst>
                                          <p:attrName>style.visibility</p:attrName>
                                        </p:attrNameLst>
                                      </p:cBhvr>
                                      <p:to>
                                        <p:strVal val="visible"/>
                                      </p:to>
                                    </p:set>
                                    <p:animEffect transition="in" filter="wipe(left)">
                                      <p:cBhvr>
                                        <p:cTn id="4023" dur="500"/>
                                        <p:tgtEl>
                                          <p:spTgt spid="13"/>
                                        </p:tgtEl>
                                      </p:cBhvr>
                                    </p:animEffect>
                                  </p:childTnLst>
                                </p:cTn>
                              </p:par>
                              <p:par>
                                <p:cTn id="4024" presetID="22" presetClass="entr" presetSubtype="8" fill="hold" nodeType="withEffect">
                                  <p:stCondLst>
                                    <p:cond delay="270"/>
                                  </p:stCondLst>
                                  <p:childTnLst>
                                    <p:set>
                                      <p:cBhvr>
                                        <p:cTn id="4025" dur="1" fill="hold">
                                          <p:stCondLst>
                                            <p:cond delay="0"/>
                                          </p:stCondLst>
                                        </p:cTn>
                                        <p:tgtEl>
                                          <p:spTgt spid="41"/>
                                        </p:tgtEl>
                                        <p:attrNameLst>
                                          <p:attrName>style.visibility</p:attrName>
                                        </p:attrNameLst>
                                      </p:cBhvr>
                                      <p:to>
                                        <p:strVal val="visible"/>
                                      </p:to>
                                    </p:set>
                                    <p:animEffect transition="in" filter="wipe(left)">
                                      <p:cBhvr>
                                        <p:cTn id="4026" dur="500"/>
                                        <p:tgtEl>
                                          <p:spTgt spid="41"/>
                                        </p:tgtEl>
                                      </p:cBhvr>
                                    </p:animEffect>
                                  </p:childTnLst>
                                </p:cTn>
                              </p:par>
                              <p:par>
                                <p:cTn id="4027" presetID="22" presetClass="entr" presetSubtype="8" fill="hold" nodeType="withEffect">
                                  <p:stCondLst>
                                    <p:cond delay="340"/>
                                  </p:stCondLst>
                                  <p:childTnLst>
                                    <p:set>
                                      <p:cBhvr>
                                        <p:cTn id="4028" dur="1" fill="hold">
                                          <p:stCondLst>
                                            <p:cond delay="0"/>
                                          </p:stCondLst>
                                        </p:cTn>
                                        <p:tgtEl>
                                          <p:spTgt spid="42"/>
                                        </p:tgtEl>
                                        <p:attrNameLst>
                                          <p:attrName>style.visibility</p:attrName>
                                        </p:attrNameLst>
                                      </p:cBhvr>
                                      <p:to>
                                        <p:strVal val="visible"/>
                                      </p:to>
                                    </p:set>
                                    <p:animEffect transition="in" filter="wipe(left)">
                                      <p:cBhvr>
                                        <p:cTn id="4029" dur="500"/>
                                        <p:tgtEl>
                                          <p:spTgt spid="42"/>
                                        </p:tgtEl>
                                      </p:cBhvr>
                                    </p:animEffect>
                                  </p:childTnLst>
                                </p:cTn>
                              </p:par>
                            </p:childTnLst>
                          </p:cTn>
                        </p:par>
                      </p:childTnLst>
                    </p:cTn>
                  </p:par>
                  <p:par>
                    <p:cTn id="4053" fill="hold">
                      <p:stCondLst>
                        <p:cond delay="indefinite"/>
                      </p:stCondLst>
                      <p:childTnLst>
                        <p:par>
                          <p:cTn id="4054" fill="hold">
                            <p:stCondLst>
                              <p:cond delay="0"/>
                            </p:stCondLst>
                            <p:childTnLst>
                              <p:par>
                                <p:cTn id="4032" presetID="10" presetClass="exit" presetSubtype="0" fill="hold" nodeType="clickEffect">
                                  <p:stCondLst>
                                    <p:cond delay="0"/>
                                  </p:stCondLst>
                                  <p:childTnLst>
                                    <p:animEffect transition="out" filter="fade">
                                      <p:cBhvr>
                                        <p:cTn id="4033" dur="400"/>
                                        <p:tgtEl>
                                          <p:spTgt spid="13"/>
                                        </p:tgtEl>
                                      </p:cBhvr>
                                    </p:animEffect>
                                    <p:set>
                                      <p:cBhvr>
                                        <p:cTn id="4034" dur="1" fill="hold">
                                          <p:stCondLst>
                                            <p:cond delay="399"/>
                                          </p:stCondLst>
                                        </p:cTn>
                                        <p:tgtEl>
                                          <p:spTgt spid="13"/>
                                        </p:tgtEl>
                                        <p:attrNameLst>
                                          <p:attrName>style.visibility</p:attrName>
                                        </p:attrNameLst>
                                      </p:cBhvr>
                                      <p:to>
                                        <p:strVal val="hidden"/>
                                      </p:to>
                                    </p:set>
                                  </p:childTnLst>
                                </p:cTn>
                              </p:par>
                              <p:par>
                                <p:cTn id="4035" presetID="10" presetClass="exit" presetSubtype="0" fill="hold" nodeType="withEffect">
                                  <p:stCondLst>
                                    <p:cond delay="0"/>
                                  </p:stCondLst>
                                  <p:childTnLst>
                                    <p:animEffect transition="out" filter="fade">
                                      <p:cBhvr>
                                        <p:cTn id="4036" dur="400"/>
                                        <p:tgtEl>
                                          <p:spTgt spid="41"/>
                                        </p:tgtEl>
                                      </p:cBhvr>
                                    </p:animEffect>
                                    <p:set>
                                      <p:cBhvr>
                                        <p:cTn id="4037" dur="1" fill="hold">
                                          <p:stCondLst>
                                            <p:cond delay="399"/>
                                          </p:stCondLst>
                                        </p:cTn>
                                        <p:tgtEl>
                                          <p:spTgt spid="41"/>
                                        </p:tgtEl>
                                        <p:attrNameLst>
                                          <p:attrName>style.visibility</p:attrName>
                                        </p:attrNameLst>
                                      </p:cBhvr>
                                      <p:to>
                                        <p:strVal val="hidden"/>
                                      </p:to>
                                    </p:set>
                                  </p:childTnLst>
                                </p:cTn>
                              </p:par>
                              <p:par>
                                <p:cTn id="4038" presetID="10" presetClass="exit" presetSubtype="0" fill="hold" nodeType="withEffect">
                                  <p:stCondLst>
                                    <p:cond delay="0"/>
                                  </p:stCondLst>
                                  <p:childTnLst>
                                    <p:animEffect transition="out" filter="fade">
                                      <p:cBhvr>
                                        <p:cTn id="4039" dur="400"/>
                                        <p:tgtEl>
                                          <p:spTgt spid="42"/>
                                        </p:tgtEl>
                                      </p:cBhvr>
                                    </p:animEffect>
                                    <p:set>
                                      <p:cBhvr>
                                        <p:cTn id="4040" dur="1" fill="hold">
                                          <p:stCondLst>
                                            <p:cond delay="399"/>
                                          </p:stCondLst>
                                        </p:cTn>
                                        <p:tgtEl>
                                          <p:spTgt spid="42"/>
                                        </p:tgtEl>
                                        <p:attrNameLst>
                                          <p:attrName>style.visibility</p:attrName>
                                        </p:attrNameLst>
                                      </p:cBhvr>
                                      <p:to>
                                        <p:strVal val="hidden"/>
                                      </p:to>
                                    </p:set>
                                  </p:childTnLst>
                                </p:cTn>
                              </p:par>
                              <p:par>
                                <p:cTn id="4041" presetID="22" presetClass="entr" presetSubtype="4" fill="hold" nodeType="withEffect">
                                  <p:stCondLst>
                                    <p:cond delay="200"/>
                                  </p:stCondLst>
                                  <p:childTnLst>
                                    <p:set>
                                      <p:cBhvr>
                                        <p:cTn id="4042" dur="1" fill="hold">
                                          <p:stCondLst>
                                            <p:cond delay="0"/>
                                          </p:stCondLst>
                                        </p:cTn>
                                        <p:tgtEl>
                                          <p:spTgt spid="14"/>
                                        </p:tgtEl>
                                        <p:attrNameLst>
                                          <p:attrName>style.visibility</p:attrName>
                                        </p:attrNameLst>
                                      </p:cBhvr>
                                      <p:to>
                                        <p:strVal val="visible"/>
                                      </p:to>
                                    </p:set>
                                    <p:animEffect transition="in" filter="wipe(down)">
                                      <p:cBhvr>
                                        <p:cTn id="4043" dur="500"/>
                                        <p:tgtEl>
                                          <p:spTgt spid="14"/>
                                        </p:tgtEl>
                                      </p:cBhvr>
                                    </p:animEffect>
                                  </p:childTnLst>
                                </p:cTn>
                              </p:par>
                              <p:par>
                                <p:cTn id="4044" presetID="22" presetClass="entr" presetSubtype="4" fill="hold" nodeType="withEffect">
                                  <p:stCondLst>
                                    <p:cond delay="270"/>
                                  </p:stCondLst>
                                  <p:childTnLst>
                                    <p:set>
                                      <p:cBhvr>
                                        <p:cTn id="4045" dur="1" fill="hold">
                                          <p:stCondLst>
                                            <p:cond delay="0"/>
                                          </p:stCondLst>
                                        </p:cTn>
                                        <p:tgtEl>
                                          <p:spTgt spid="15"/>
                                        </p:tgtEl>
                                        <p:attrNameLst>
                                          <p:attrName>style.visibility</p:attrName>
                                        </p:attrNameLst>
                                      </p:cBhvr>
                                      <p:to>
                                        <p:strVal val="visible"/>
                                      </p:to>
                                    </p:set>
                                    <p:animEffect transition="in" filter="wipe(down)">
                                      <p:cBhvr>
                                        <p:cTn id="4046" dur="500"/>
                                        <p:tgtEl>
                                          <p:spTgt spid="15"/>
                                        </p:tgtEl>
                                      </p:cBhvr>
                                    </p:animEffect>
                                  </p:childTnLst>
                                </p:cTn>
                              </p:par>
                              <p:par>
                                <p:cTn id="4047" presetID="22" presetClass="entr" presetSubtype="4" fill="hold" nodeType="withEffect">
                                  <p:stCondLst>
                                    <p:cond delay="340"/>
                                  </p:stCondLst>
                                  <p:childTnLst>
                                    <p:set>
                                      <p:cBhvr>
                                        <p:cTn id="4048" dur="1" fill="hold">
                                          <p:stCondLst>
                                            <p:cond delay="0"/>
                                          </p:stCondLst>
                                        </p:cTn>
                                        <p:tgtEl>
                                          <p:spTgt spid="43"/>
                                        </p:tgtEl>
                                        <p:attrNameLst>
                                          <p:attrName>style.visibility</p:attrName>
                                        </p:attrNameLst>
                                      </p:cBhvr>
                                      <p:to>
                                        <p:strVal val="visible"/>
                                      </p:to>
                                    </p:set>
                                    <p:animEffect transition="in" filter="wipe(down)">
                                      <p:cBhvr>
                                        <p:cTn id="4049" dur="500"/>
                                        <p:tgtEl>
                                          <p:spTgt spid="43"/>
                                        </p:tgtEl>
                                      </p:cBhvr>
                                    </p:animEffect>
                                  </p:childTnLst>
                                </p:cTn>
                              </p:par>
                              <p:par>
                                <p:cTn id="4050" presetID="22" presetClass="entr" presetSubtype="4" fill="hold" nodeType="withEffect">
                                  <p:stCondLst>
                                    <p:cond delay="410"/>
                                  </p:stCondLst>
                                  <p:childTnLst>
                                    <p:set>
                                      <p:cBhvr>
                                        <p:cTn id="4051" dur="1" fill="hold">
                                          <p:stCondLst>
                                            <p:cond delay="0"/>
                                          </p:stCondLst>
                                        </p:cTn>
                                        <p:tgtEl>
                                          <p:spTgt spid="44"/>
                                        </p:tgtEl>
                                        <p:attrNameLst>
                                          <p:attrName>style.visibility</p:attrName>
                                        </p:attrNameLst>
                                      </p:cBhvr>
                                      <p:to>
                                        <p:strVal val="visible"/>
                                      </p:to>
                                    </p:set>
                                    <p:animEffect transition="in" filter="wipe(down)">
                                      <p:cBhvr>
                                        <p:cTn id="4052" dur="500"/>
                                        <p:tgtEl>
                                          <p:spTgt spid="44"/>
                                        </p:tgtEl>
                                      </p:cBhvr>
                                    </p:animEffect>
                                  </p:childTnLst>
                                </p:cTn>
                              </p:par>
                            </p:childTnLst>
                          </p:cTn>
                        </p:par>
                      </p:childTnLst>
                    </p:cTn>
                  </p:par>
                  <p:par>
                    <p:cTn id="4085" fill="hold">
                      <p:stCondLst>
                        <p:cond delay="indefinite"/>
                      </p:stCondLst>
                      <p:childTnLst>
                        <p:par>
                          <p:cTn id="4086" fill="hold">
                            <p:stCondLst>
                              <p:cond delay="0"/>
                            </p:stCondLst>
                            <p:childTnLst>
                              <p:par>
                                <p:cTn id="4055" presetID="10" presetClass="exit" presetSubtype="0" fill="hold" nodeType="clickEffect">
                                  <p:stCondLst>
                                    <p:cond delay="0"/>
                                  </p:stCondLst>
                                  <p:childTnLst>
                                    <p:animEffect transition="out" filter="fade">
                                      <p:cBhvr>
                                        <p:cTn id="4056" dur="400"/>
                                        <p:tgtEl>
                                          <p:spTgt spid="14"/>
                                        </p:tgtEl>
                                      </p:cBhvr>
                                    </p:animEffect>
                                    <p:set>
                                      <p:cBhvr>
                                        <p:cTn id="4057" dur="1" fill="hold">
                                          <p:stCondLst>
                                            <p:cond delay="399"/>
                                          </p:stCondLst>
                                        </p:cTn>
                                        <p:tgtEl>
                                          <p:spTgt spid="14"/>
                                        </p:tgtEl>
                                        <p:attrNameLst>
                                          <p:attrName>style.visibility</p:attrName>
                                        </p:attrNameLst>
                                      </p:cBhvr>
                                      <p:to>
                                        <p:strVal val="hidden"/>
                                      </p:to>
                                    </p:set>
                                  </p:childTnLst>
                                </p:cTn>
                              </p:par>
                              <p:par>
                                <p:cTn id="4058" presetID="10" presetClass="exit" presetSubtype="0" fill="hold" nodeType="withEffect">
                                  <p:stCondLst>
                                    <p:cond delay="0"/>
                                  </p:stCondLst>
                                  <p:childTnLst>
                                    <p:animEffect transition="out" filter="fade">
                                      <p:cBhvr>
                                        <p:cTn id="4059" dur="400"/>
                                        <p:tgtEl>
                                          <p:spTgt spid="15"/>
                                        </p:tgtEl>
                                      </p:cBhvr>
                                    </p:animEffect>
                                    <p:set>
                                      <p:cBhvr>
                                        <p:cTn id="4060" dur="1" fill="hold">
                                          <p:stCondLst>
                                            <p:cond delay="399"/>
                                          </p:stCondLst>
                                        </p:cTn>
                                        <p:tgtEl>
                                          <p:spTgt spid="15"/>
                                        </p:tgtEl>
                                        <p:attrNameLst>
                                          <p:attrName>style.visibility</p:attrName>
                                        </p:attrNameLst>
                                      </p:cBhvr>
                                      <p:to>
                                        <p:strVal val="hidden"/>
                                      </p:to>
                                    </p:set>
                                  </p:childTnLst>
                                </p:cTn>
                              </p:par>
                              <p:par>
                                <p:cTn id="4061" presetID="10" presetClass="exit" presetSubtype="0" fill="hold" nodeType="withEffect">
                                  <p:stCondLst>
                                    <p:cond delay="0"/>
                                  </p:stCondLst>
                                  <p:childTnLst>
                                    <p:animEffect transition="out" filter="fade">
                                      <p:cBhvr>
                                        <p:cTn id="4062" dur="400"/>
                                        <p:tgtEl>
                                          <p:spTgt spid="43"/>
                                        </p:tgtEl>
                                      </p:cBhvr>
                                    </p:animEffect>
                                    <p:set>
                                      <p:cBhvr>
                                        <p:cTn id="4063" dur="1" fill="hold">
                                          <p:stCondLst>
                                            <p:cond delay="399"/>
                                          </p:stCondLst>
                                        </p:cTn>
                                        <p:tgtEl>
                                          <p:spTgt spid="43"/>
                                        </p:tgtEl>
                                        <p:attrNameLst>
                                          <p:attrName>style.visibility</p:attrName>
                                        </p:attrNameLst>
                                      </p:cBhvr>
                                      <p:to>
                                        <p:strVal val="hidden"/>
                                      </p:to>
                                    </p:set>
                                  </p:childTnLst>
                                </p:cTn>
                              </p:par>
                              <p:par>
                                <p:cTn id="4064" presetID="10" presetClass="exit" presetSubtype="0" fill="hold" nodeType="withEffect">
                                  <p:stCondLst>
                                    <p:cond delay="0"/>
                                  </p:stCondLst>
                                  <p:childTnLst>
                                    <p:animEffect transition="out" filter="fade">
                                      <p:cBhvr>
                                        <p:cTn id="4065" dur="400"/>
                                        <p:tgtEl>
                                          <p:spTgt spid="44"/>
                                        </p:tgtEl>
                                      </p:cBhvr>
                                    </p:animEffect>
                                    <p:set>
                                      <p:cBhvr>
                                        <p:cTn id="4066" dur="1" fill="hold">
                                          <p:stCondLst>
                                            <p:cond delay="399"/>
                                          </p:stCondLst>
                                        </p:cTn>
                                        <p:tgtEl>
                                          <p:spTgt spid="44"/>
                                        </p:tgtEl>
                                        <p:attrNameLst>
                                          <p:attrName>style.visibility</p:attrName>
                                        </p:attrNameLst>
                                      </p:cBhvr>
                                      <p:to>
                                        <p:strVal val="hidden"/>
                                      </p:to>
                                    </p:set>
                                  </p:childTnLst>
                                </p:cTn>
                              </p:par>
                              <p:par>
                                <p:cTn id="4067" presetID="10" presetClass="entr" presetSubtype="0" fill="hold" nodeType="withEffect">
                                  <p:stCondLst>
                                    <p:cond delay="200"/>
                                  </p:stCondLst>
                                  <p:childTnLst>
                                    <p:set>
                                      <p:cBhvr>
                                        <p:cTn id="4068" dur="1" fill="hold">
                                          <p:stCondLst>
                                            <p:cond delay="0"/>
                                          </p:stCondLst>
                                        </p:cTn>
                                        <p:tgtEl>
                                          <p:spTgt spid="16"/>
                                        </p:tgtEl>
                                        <p:attrNameLst>
                                          <p:attrName>style.visibility</p:attrName>
                                        </p:attrNameLst>
                                      </p:cBhvr>
                                      <p:to>
                                        <p:strVal val="visible"/>
                                      </p:to>
                                    </p:set>
                                    <p:animEffect transition="in" filter="fade">
                                      <p:cBhvr>
                                        <p:cTn id="4069" dur="500"/>
                                        <p:tgtEl>
                                          <p:spTgt spid="16"/>
                                        </p:tgtEl>
                                      </p:cBhvr>
                                    </p:animEffect>
                                  </p:childTnLst>
                                </p:cTn>
                              </p:par>
                              <p:par>
                                <p:cTn id="4070" presetID="10" presetClass="entr" presetSubtype="0" fill="hold" nodeType="withEffect">
                                  <p:stCondLst>
                                    <p:cond delay="270"/>
                                  </p:stCondLst>
                                  <p:childTnLst>
                                    <p:set>
                                      <p:cBhvr>
                                        <p:cTn id="4071" dur="1" fill="hold">
                                          <p:stCondLst>
                                            <p:cond delay="0"/>
                                          </p:stCondLst>
                                        </p:cTn>
                                        <p:tgtEl>
                                          <p:spTgt spid="17"/>
                                        </p:tgtEl>
                                        <p:attrNameLst>
                                          <p:attrName>style.visibility</p:attrName>
                                        </p:attrNameLst>
                                      </p:cBhvr>
                                      <p:to>
                                        <p:strVal val="visible"/>
                                      </p:to>
                                    </p:set>
                                    <p:animEffect transition="in" filter="fade">
                                      <p:cBhvr>
                                        <p:cTn id="4072" dur="500"/>
                                        <p:tgtEl>
                                          <p:spTgt spid="17"/>
                                        </p:tgtEl>
                                      </p:cBhvr>
                                    </p:animEffect>
                                  </p:childTnLst>
                                </p:cTn>
                              </p:par>
                              <p:par>
                                <p:cTn id="4073" presetID="10" presetClass="entr" presetSubtype="0" fill="hold" nodeType="withEffect">
                                  <p:stCondLst>
                                    <p:cond delay="340"/>
                                  </p:stCondLst>
                                  <p:childTnLst>
                                    <p:set>
                                      <p:cBhvr>
                                        <p:cTn id="4074" dur="1" fill="hold">
                                          <p:stCondLst>
                                            <p:cond delay="0"/>
                                          </p:stCondLst>
                                        </p:cTn>
                                        <p:tgtEl>
                                          <p:spTgt spid="18"/>
                                        </p:tgtEl>
                                        <p:attrNameLst>
                                          <p:attrName>style.visibility</p:attrName>
                                        </p:attrNameLst>
                                      </p:cBhvr>
                                      <p:to>
                                        <p:strVal val="visible"/>
                                      </p:to>
                                    </p:set>
                                    <p:animEffect transition="in" filter="fade">
                                      <p:cBhvr>
                                        <p:cTn id="4075" dur="500"/>
                                        <p:tgtEl>
                                          <p:spTgt spid="18"/>
                                        </p:tgtEl>
                                      </p:cBhvr>
                                    </p:animEffect>
                                  </p:childTnLst>
                                </p:cTn>
                              </p:par>
                              <p:par>
                                <p:cTn id="4076" presetID="10" presetClass="entr" presetSubtype="0" fill="hold" nodeType="withEffect">
                                  <p:stCondLst>
                                    <p:cond delay="410"/>
                                  </p:stCondLst>
                                  <p:childTnLst>
                                    <p:set>
                                      <p:cBhvr>
                                        <p:cTn id="4077" dur="1" fill="hold">
                                          <p:stCondLst>
                                            <p:cond delay="0"/>
                                          </p:stCondLst>
                                        </p:cTn>
                                        <p:tgtEl>
                                          <p:spTgt spid="20"/>
                                        </p:tgtEl>
                                        <p:attrNameLst>
                                          <p:attrName>style.visibility</p:attrName>
                                        </p:attrNameLst>
                                      </p:cBhvr>
                                      <p:to>
                                        <p:strVal val="visible"/>
                                      </p:to>
                                    </p:set>
                                    <p:animEffect transition="in" filter="fade">
                                      <p:cBhvr>
                                        <p:cTn id="4078" dur="500"/>
                                        <p:tgtEl>
                                          <p:spTgt spid="20"/>
                                        </p:tgtEl>
                                      </p:cBhvr>
                                    </p:animEffect>
                                  </p:childTnLst>
                                </p:cTn>
                              </p:par>
                              <p:par>
                                <p:cTn id="4079" presetID="10" presetClass="entr" presetSubtype="0" fill="hold" nodeType="withEffect">
                                  <p:stCondLst>
                                    <p:cond delay="480"/>
                                  </p:stCondLst>
                                  <p:childTnLst>
                                    <p:set>
                                      <p:cBhvr>
                                        <p:cTn id="4080" dur="1" fill="hold">
                                          <p:stCondLst>
                                            <p:cond delay="0"/>
                                          </p:stCondLst>
                                        </p:cTn>
                                        <p:tgtEl>
                                          <p:spTgt spid="45"/>
                                        </p:tgtEl>
                                        <p:attrNameLst>
                                          <p:attrName>style.visibility</p:attrName>
                                        </p:attrNameLst>
                                      </p:cBhvr>
                                      <p:to>
                                        <p:strVal val="visible"/>
                                      </p:to>
                                    </p:set>
                                    <p:animEffect transition="in" filter="fade">
                                      <p:cBhvr>
                                        <p:cTn id="4081" dur="500"/>
                                        <p:tgtEl>
                                          <p:spTgt spid="45"/>
                                        </p:tgtEl>
                                      </p:cBhvr>
                                    </p:animEffect>
                                  </p:childTnLst>
                                </p:cTn>
                              </p:par>
                              <p:par>
                                <p:cTn id="4082" presetID="10" presetClass="entr" presetSubtype="0" fill="hold" nodeType="withEffect">
                                  <p:stCondLst>
                                    <p:cond delay="550"/>
                                  </p:stCondLst>
                                  <p:childTnLst>
                                    <p:set>
                                      <p:cBhvr>
                                        <p:cTn id="4083" dur="1" fill="hold">
                                          <p:stCondLst>
                                            <p:cond delay="0"/>
                                          </p:stCondLst>
                                        </p:cTn>
                                        <p:tgtEl>
                                          <p:spTgt spid="46"/>
                                        </p:tgtEl>
                                        <p:attrNameLst>
                                          <p:attrName>style.visibility</p:attrName>
                                        </p:attrNameLst>
                                      </p:cBhvr>
                                      <p:to>
                                        <p:strVal val="visible"/>
                                      </p:to>
                                    </p:set>
                                    <p:animEffect transition="in" filter="fade">
                                      <p:cBhvr>
                                        <p:cTn id="4084" dur="500"/>
                                        <p:tgtEl>
                                          <p:spTgt spid="46"/>
                                        </p:tgtEl>
                                      </p:cBhvr>
                                    </p:animEffect>
                                  </p:childTnLst>
                                </p:cTn>
                              </p:par>
                            </p:childTnLst>
                          </p:cTn>
                        </p:par>
                      </p:childTnLst>
                    </p:cTn>
                  </p:par>
                  <p:par>
                    <p:cTn id="4159" fill="hold">
                      <p:stCondLst>
                        <p:cond delay="indefinite"/>
                      </p:stCondLst>
                      <p:childTnLst>
                        <p:par>
                          <p:cTn id="4160" fill="hold">
                            <p:stCondLst>
                              <p:cond delay="0"/>
                            </p:stCondLst>
                            <p:childTnLst>
                              <p:par>
                                <p:cTn id="4087" presetID="10" presetClass="exit" presetSubtype="0" fill="hold" nodeType="clickEffect">
                                  <p:stCondLst>
                                    <p:cond delay="0"/>
                                  </p:stCondLst>
                                  <p:childTnLst>
                                    <p:animEffect transition="out" filter="fade">
                                      <p:cBhvr>
                                        <p:cTn id="4088" dur="400"/>
                                        <p:tgtEl>
                                          <p:spTgt spid="16"/>
                                        </p:tgtEl>
                                      </p:cBhvr>
                                    </p:animEffect>
                                    <p:set>
                                      <p:cBhvr>
                                        <p:cTn id="4089" dur="1" fill="hold">
                                          <p:stCondLst>
                                            <p:cond delay="399"/>
                                          </p:stCondLst>
                                        </p:cTn>
                                        <p:tgtEl>
                                          <p:spTgt spid="16"/>
                                        </p:tgtEl>
                                        <p:attrNameLst>
                                          <p:attrName>style.visibility</p:attrName>
                                        </p:attrNameLst>
                                      </p:cBhvr>
                                      <p:to>
                                        <p:strVal val="hidden"/>
                                      </p:to>
                                    </p:set>
                                  </p:childTnLst>
                                </p:cTn>
                              </p:par>
                              <p:par>
                                <p:cTn id="4090" presetID="10" presetClass="exit" presetSubtype="0" fill="hold" nodeType="withEffect">
                                  <p:stCondLst>
                                    <p:cond delay="0"/>
                                  </p:stCondLst>
                                  <p:childTnLst>
                                    <p:animEffect transition="out" filter="fade">
                                      <p:cBhvr>
                                        <p:cTn id="4091" dur="400"/>
                                        <p:tgtEl>
                                          <p:spTgt spid="17"/>
                                        </p:tgtEl>
                                      </p:cBhvr>
                                    </p:animEffect>
                                    <p:set>
                                      <p:cBhvr>
                                        <p:cTn id="4092" dur="1" fill="hold">
                                          <p:stCondLst>
                                            <p:cond delay="399"/>
                                          </p:stCondLst>
                                        </p:cTn>
                                        <p:tgtEl>
                                          <p:spTgt spid="17"/>
                                        </p:tgtEl>
                                        <p:attrNameLst>
                                          <p:attrName>style.visibility</p:attrName>
                                        </p:attrNameLst>
                                      </p:cBhvr>
                                      <p:to>
                                        <p:strVal val="hidden"/>
                                      </p:to>
                                    </p:set>
                                  </p:childTnLst>
                                </p:cTn>
                              </p:par>
                              <p:par>
                                <p:cTn id="4093" presetID="10" presetClass="exit" presetSubtype="0" fill="hold" nodeType="withEffect">
                                  <p:stCondLst>
                                    <p:cond delay="0"/>
                                  </p:stCondLst>
                                  <p:childTnLst>
                                    <p:animEffect transition="out" filter="fade">
                                      <p:cBhvr>
                                        <p:cTn id="4094" dur="400"/>
                                        <p:tgtEl>
                                          <p:spTgt spid="18"/>
                                        </p:tgtEl>
                                      </p:cBhvr>
                                    </p:animEffect>
                                    <p:set>
                                      <p:cBhvr>
                                        <p:cTn id="4095" dur="1" fill="hold">
                                          <p:stCondLst>
                                            <p:cond delay="399"/>
                                          </p:stCondLst>
                                        </p:cTn>
                                        <p:tgtEl>
                                          <p:spTgt spid="18"/>
                                        </p:tgtEl>
                                        <p:attrNameLst>
                                          <p:attrName>style.visibility</p:attrName>
                                        </p:attrNameLst>
                                      </p:cBhvr>
                                      <p:to>
                                        <p:strVal val="hidden"/>
                                      </p:to>
                                    </p:set>
                                  </p:childTnLst>
                                </p:cTn>
                              </p:par>
                              <p:par>
                                <p:cTn id="4096" presetID="10" presetClass="exit" presetSubtype="0" fill="hold" nodeType="withEffect">
                                  <p:stCondLst>
                                    <p:cond delay="0"/>
                                  </p:stCondLst>
                                  <p:childTnLst>
                                    <p:animEffect transition="out" filter="fade">
                                      <p:cBhvr>
                                        <p:cTn id="4097" dur="400"/>
                                        <p:tgtEl>
                                          <p:spTgt spid="20"/>
                                        </p:tgtEl>
                                      </p:cBhvr>
                                    </p:animEffect>
                                    <p:set>
                                      <p:cBhvr>
                                        <p:cTn id="4098" dur="1" fill="hold">
                                          <p:stCondLst>
                                            <p:cond delay="399"/>
                                          </p:stCondLst>
                                        </p:cTn>
                                        <p:tgtEl>
                                          <p:spTgt spid="20"/>
                                        </p:tgtEl>
                                        <p:attrNameLst>
                                          <p:attrName>style.visibility</p:attrName>
                                        </p:attrNameLst>
                                      </p:cBhvr>
                                      <p:to>
                                        <p:strVal val="hidden"/>
                                      </p:to>
                                    </p:set>
                                  </p:childTnLst>
                                </p:cTn>
                              </p:par>
                              <p:par>
                                <p:cTn id="4099" presetID="10" presetClass="exit" presetSubtype="0" fill="hold" nodeType="withEffect">
                                  <p:stCondLst>
                                    <p:cond delay="0"/>
                                  </p:stCondLst>
                                  <p:childTnLst>
                                    <p:animEffect transition="out" filter="fade">
                                      <p:cBhvr>
                                        <p:cTn id="4100" dur="400"/>
                                        <p:tgtEl>
                                          <p:spTgt spid="45"/>
                                        </p:tgtEl>
                                      </p:cBhvr>
                                    </p:animEffect>
                                    <p:set>
                                      <p:cBhvr>
                                        <p:cTn id="4101" dur="1" fill="hold">
                                          <p:stCondLst>
                                            <p:cond delay="399"/>
                                          </p:stCondLst>
                                        </p:cTn>
                                        <p:tgtEl>
                                          <p:spTgt spid="45"/>
                                        </p:tgtEl>
                                        <p:attrNameLst>
                                          <p:attrName>style.visibility</p:attrName>
                                        </p:attrNameLst>
                                      </p:cBhvr>
                                      <p:to>
                                        <p:strVal val="hidden"/>
                                      </p:to>
                                    </p:set>
                                  </p:childTnLst>
                                </p:cTn>
                              </p:par>
                              <p:par>
                                <p:cTn id="4102" presetID="10" presetClass="exit" presetSubtype="0" fill="hold" nodeType="withEffect">
                                  <p:stCondLst>
                                    <p:cond delay="0"/>
                                  </p:stCondLst>
                                  <p:childTnLst>
                                    <p:animEffect transition="out" filter="fade">
                                      <p:cBhvr>
                                        <p:cTn id="4103" dur="400"/>
                                        <p:tgtEl>
                                          <p:spTgt spid="46"/>
                                        </p:tgtEl>
                                      </p:cBhvr>
                                    </p:animEffect>
                                    <p:set>
                                      <p:cBhvr>
                                        <p:cTn id="4104" dur="1" fill="hold">
                                          <p:stCondLst>
                                            <p:cond delay="399"/>
                                          </p:stCondLst>
                                        </p:cTn>
                                        <p:tgtEl>
                                          <p:spTgt spid="46"/>
                                        </p:tgtEl>
                                        <p:attrNameLst>
                                          <p:attrName>style.visibility</p:attrName>
                                        </p:attrNameLst>
                                      </p:cBhvr>
                                      <p:to>
                                        <p:strVal val="hidden"/>
                                      </p:to>
                                    </p:set>
                                  </p:childTnLst>
                                </p:cTn>
                              </p:par>
                              <p:par>
                                <p:cTn id="4105" presetID="22" presetClass="entr" presetSubtype="8" fill="hold" nodeType="withEffect">
                                  <p:stCondLst>
                                    <p:cond delay="200"/>
                                  </p:stCondLst>
                                  <p:childTnLst>
                                    <p:set>
                                      <p:cBhvr>
                                        <p:cTn id="4106" dur="1" fill="hold">
                                          <p:stCondLst>
                                            <p:cond delay="0"/>
                                          </p:stCondLst>
                                        </p:cTn>
                                        <p:tgtEl>
                                          <p:spTgt spid="21"/>
                                        </p:tgtEl>
                                        <p:attrNameLst>
                                          <p:attrName>style.visibility</p:attrName>
                                        </p:attrNameLst>
                                      </p:cBhvr>
                                      <p:to>
                                        <p:strVal val="visible"/>
                                      </p:to>
                                    </p:set>
                                    <p:animEffect transition="in" filter="wipe(left)">
                                      <p:cBhvr>
                                        <p:cTn id="4107" dur="500"/>
                                        <p:tgtEl>
                                          <p:spTgt spid="21"/>
                                        </p:tgtEl>
                                      </p:cBhvr>
                                    </p:animEffect>
                                  </p:childTnLst>
                                </p:cTn>
                              </p:par>
                              <p:par>
                                <p:cTn id="4108" presetID="22" presetClass="entr" presetSubtype="8" fill="hold" nodeType="withEffect">
                                  <p:stCondLst>
                                    <p:cond delay="270"/>
                                  </p:stCondLst>
                                  <p:childTnLst>
                                    <p:set>
                                      <p:cBhvr>
                                        <p:cTn id="4109" dur="1" fill="hold">
                                          <p:stCondLst>
                                            <p:cond delay="0"/>
                                          </p:stCondLst>
                                        </p:cTn>
                                        <p:tgtEl>
                                          <p:spTgt spid="22"/>
                                        </p:tgtEl>
                                        <p:attrNameLst>
                                          <p:attrName>style.visibility</p:attrName>
                                        </p:attrNameLst>
                                      </p:cBhvr>
                                      <p:to>
                                        <p:strVal val="visible"/>
                                      </p:to>
                                    </p:set>
                                    <p:animEffect transition="in" filter="wipe(left)">
                                      <p:cBhvr>
                                        <p:cTn id="4110" dur="500"/>
                                        <p:tgtEl>
                                          <p:spTgt spid="22"/>
                                        </p:tgtEl>
                                      </p:cBhvr>
                                    </p:animEffect>
                                  </p:childTnLst>
                                </p:cTn>
                              </p:par>
                              <p:par>
                                <p:cTn id="4111" presetID="22" presetClass="entr" presetSubtype="8" fill="hold" nodeType="withEffect">
                                  <p:stCondLst>
                                    <p:cond delay="340"/>
                                  </p:stCondLst>
                                  <p:childTnLst>
                                    <p:set>
                                      <p:cBhvr>
                                        <p:cTn id="4112" dur="1" fill="hold">
                                          <p:stCondLst>
                                            <p:cond delay="0"/>
                                          </p:stCondLst>
                                        </p:cTn>
                                        <p:tgtEl>
                                          <p:spTgt spid="23"/>
                                        </p:tgtEl>
                                        <p:attrNameLst>
                                          <p:attrName>style.visibility</p:attrName>
                                        </p:attrNameLst>
                                      </p:cBhvr>
                                      <p:to>
                                        <p:strVal val="visible"/>
                                      </p:to>
                                    </p:set>
                                    <p:animEffect transition="in" filter="wipe(left)">
                                      <p:cBhvr>
                                        <p:cTn id="4113" dur="500"/>
                                        <p:tgtEl>
                                          <p:spTgt spid="23"/>
                                        </p:tgtEl>
                                      </p:cBhvr>
                                    </p:animEffect>
                                  </p:childTnLst>
                                </p:cTn>
                              </p:par>
                              <p:par>
                                <p:cTn id="4114" presetID="22" presetClass="entr" presetSubtype="8" fill="hold" nodeType="withEffect">
                                  <p:stCondLst>
                                    <p:cond delay="410"/>
                                  </p:stCondLst>
                                  <p:childTnLst>
                                    <p:set>
                                      <p:cBhvr>
                                        <p:cTn id="4115" dur="1" fill="hold">
                                          <p:stCondLst>
                                            <p:cond delay="0"/>
                                          </p:stCondLst>
                                        </p:cTn>
                                        <p:tgtEl>
                                          <p:spTgt spid="24"/>
                                        </p:tgtEl>
                                        <p:attrNameLst>
                                          <p:attrName>style.visibility</p:attrName>
                                        </p:attrNameLst>
                                      </p:cBhvr>
                                      <p:to>
                                        <p:strVal val="visible"/>
                                      </p:to>
                                    </p:set>
                                    <p:animEffect transition="in" filter="wipe(left)">
                                      <p:cBhvr>
                                        <p:cTn id="4116" dur="500"/>
                                        <p:tgtEl>
                                          <p:spTgt spid="24"/>
                                        </p:tgtEl>
                                      </p:cBhvr>
                                    </p:animEffect>
                                  </p:childTnLst>
                                </p:cTn>
                              </p:par>
                              <p:par>
                                <p:cTn id="4117" presetID="22" presetClass="entr" presetSubtype="8" fill="hold" nodeType="withEffect">
                                  <p:stCondLst>
                                    <p:cond delay="480"/>
                                  </p:stCondLst>
                                  <p:childTnLst>
                                    <p:set>
                                      <p:cBhvr>
                                        <p:cTn id="4118" dur="1" fill="hold">
                                          <p:stCondLst>
                                            <p:cond delay="0"/>
                                          </p:stCondLst>
                                        </p:cTn>
                                        <p:tgtEl>
                                          <p:spTgt spid="25"/>
                                        </p:tgtEl>
                                        <p:attrNameLst>
                                          <p:attrName>style.visibility</p:attrName>
                                        </p:attrNameLst>
                                      </p:cBhvr>
                                      <p:to>
                                        <p:strVal val="visible"/>
                                      </p:to>
                                    </p:set>
                                    <p:animEffect transition="in" filter="wipe(left)">
                                      <p:cBhvr>
                                        <p:cTn id="4119" dur="500"/>
                                        <p:tgtEl>
                                          <p:spTgt spid="25"/>
                                        </p:tgtEl>
                                      </p:cBhvr>
                                    </p:animEffect>
                                  </p:childTnLst>
                                </p:cTn>
                              </p:par>
                              <p:par>
                                <p:cTn id="4120" presetID="22" presetClass="entr" presetSubtype="8" fill="hold" nodeType="withEffect">
                                  <p:stCondLst>
                                    <p:cond delay="550"/>
                                  </p:stCondLst>
                                  <p:childTnLst>
                                    <p:set>
                                      <p:cBhvr>
                                        <p:cTn id="4121" dur="1" fill="hold">
                                          <p:stCondLst>
                                            <p:cond delay="0"/>
                                          </p:stCondLst>
                                        </p:cTn>
                                        <p:tgtEl>
                                          <p:spTgt spid="26"/>
                                        </p:tgtEl>
                                        <p:attrNameLst>
                                          <p:attrName>style.visibility</p:attrName>
                                        </p:attrNameLst>
                                      </p:cBhvr>
                                      <p:to>
                                        <p:strVal val="visible"/>
                                      </p:to>
                                    </p:set>
                                    <p:animEffect transition="in" filter="wipe(left)">
                                      <p:cBhvr>
                                        <p:cTn id="4122" dur="500"/>
                                        <p:tgtEl>
                                          <p:spTgt spid="26"/>
                                        </p:tgtEl>
                                      </p:cBhvr>
                                    </p:animEffect>
                                  </p:childTnLst>
                                </p:cTn>
                              </p:par>
                              <p:par>
                                <p:cTn id="4123" presetID="22" presetClass="entr" presetSubtype="8" fill="hold" nodeType="withEffect">
                                  <p:stCondLst>
                                    <p:cond delay="620"/>
                                  </p:stCondLst>
                                  <p:childTnLst>
                                    <p:set>
                                      <p:cBhvr>
                                        <p:cTn id="4124" dur="1" fill="hold">
                                          <p:stCondLst>
                                            <p:cond delay="0"/>
                                          </p:stCondLst>
                                        </p:cTn>
                                        <p:tgtEl>
                                          <p:spTgt spid="27"/>
                                        </p:tgtEl>
                                        <p:attrNameLst>
                                          <p:attrName>style.visibility</p:attrName>
                                        </p:attrNameLst>
                                      </p:cBhvr>
                                      <p:to>
                                        <p:strVal val="visible"/>
                                      </p:to>
                                    </p:set>
                                    <p:animEffect transition="in" filter="wipe(left)">
                                      <p:cBhvr>
                                        <p:cTn id="4125" dur="500"/>
                                        <p:tgtEl>
                                          <p:spTgt spid="27"/>
                                        </p:tgtEl>
                                      </p:cBhvr>
                                    </p:animEffect>
                                  </p:childTnLst>
                                </p:cTn>
                              </p:par>
                              <p:par>
                                <p:cTn id="4126" presetID="22" presetClass="entr" presetSubtype="8" fill="hold" nodeType="withEffect">
                                  <p:stCondLst>
                                    <p:cond delay="690"/>
                                  </p:stCondLst>
                                  <p:childTnLst>
                                    <p:set>
                                      <p:cBhvr>
                                        <p:cTn id="4127" dur="1" fill="hold">
                                          <p:stCondLst>
                                            <p:cond delay="0"/>
                                          </p:stCondLst>
                                        </p:cTn>
                                        <p:tgtEl>
                                          <p:spTgt spid="28"/>
                                        </p:tgtEl>
                                        <p:attrNameLst>
                                          <p:attrName>style.visibility</p:attrName>
                                        </p:attrNameLst>
                                      </p:cBhvr>
                                      <p:to>
                                        <p:strVal val="visible"/>
                                      </p:to>
                                    </p:set>
                                    <p:animEffect transition="in" filter="wipe(left)">
                                      <p:cBhvr>
                                        <p:cTn id="4128" dur="500"/>
                                        <p:tgtEl>
                                          <p:spTgt spid="28"/>
                                        </p:tgtEl>
                                      </p:cBhvr>
                                    </p:animEffect>
                                  </p:childTnLst>
                                </p:cTn>
                              </p:par>
                              <p:par>
                                <p:cTn id="4129" presetID="22" presetClass="entr" presetSubtype="8" fill="hold" nodeType="withEffect">
                                  <p:stCondLst>
                                    <p:cond delay="760"/>
                                  </p:stCondLst>
                                  <p:childTnLst>
                                    <p:set>
                                      <p:cBhvr>
                                        <p:cTn id="4130" dur="1" fill="hold">
                                          <p:stCondLst>
                                            <p:cond delay="0"/>
                                          </p:stCondLst>
                                        </p:cTn>
                                        <p:tgtEl>
                                          <p:spTgt spid="29"/>
                                        </p:tgtEl>
                                        <p:attrNameLst>
                                          <p:attrName>style.visibility</p:attrName>
                                        </p:attrNameLst>
                                      </p:cBhvr>
                                      <p:to>
                                        <p:strVal val="visible"/>
                                      </p:to>
                                    </p:set>
                                    <p:animEffect transition="in" filter="wipe(left)">
                                      <p:cBhvr>
                                        <p:cTn id="4131" dur="500"/>
                                        <p:tgtEl>
                                          <p:spTgt spid="29"/>
                                        </p:tgtEl>
                                      </p:cBhvr>
                                    </p:animEffect>
                                  </p:childTnLst>
                                </p:cTn>
                              </p:par>
                              <p:par>
                                <p:cTn id="4132" presetID="22" presetClass="entr" presetSubtype="8" fill="hold" nodeType="withEffect">
                                  <p:stCondLst>
                                    <p:cond delay="830"/>
                                  </p:stCondLst>
                                  <p:childTnLst>
                                    <p:set>
                                      <p:cBhvr>
                                        <p:cTn id="4133" dur="1" fill="hold">
                                          <p:stCondLst>
                                            <p:cond delay="0"/>
                                          </p:stCondLst>
                                        </p:cTn>
                                        <p:tgtEl>
                                          <p:spTgt spid="30"/>
                                        </p:tgtEl>
                                        <p:attrNameLst>
                                          <p:attrName>style.visibility</p:attrName>
                                        </p:attrNameLst>
                                      </p:cBhvr>
                                      <p:to>
                                        <p:strVal val="visible"/>
                                      </p:to>
                                    </p:set>
                                    <p:animEffect transition="in" filter="wipe(left)">
                                      <p:cBhvr>
                                        <p:cTn id="4134" dur="500"/>
                                        <p:tgtEl>
                                          <p:spTgt spid="30"/>
                                        </p:tgtEl>
                                      </p:cBhvr>
                                    </p:animEffect>
                                  </p:childTnLst>
                                </p:cTn>
                              </p:par>
                              <p:par>
                                <p:cTn id="4135" presetID="22" presetClass="entr" presetSubtype="8" fill="hold" nodeType="withEffect">
                                  <p:stCondLst>
                                    <p:cond delay="900"/>
                                  </p:stCondLst>
                                  <p:childTnLst>
                                    <p:set>
                                      <p:cBhvr>
                                        <p:cTn id="4136" dur="1" fill="hold">
                                          <p:stCondLst>
                                            <p:cond delay="0"/>
                                          </p:stCondLst>
                                        </p:cTn>
                                        <p:tgtEl>
                                          <p:spTgt spid="31"/>
                                        </p:tgtEl>
                                        <p:attrNameLst>
                                          <p:attrName>style.visibility</p:attrName>
                                        </p:attrNameLst>
                                      </p:cBhvr>
                                      <p:to>
                                        <p:strVal val="visible"/>
                                      </p:to>
                                    </p:set>
                                    <p:animEffect transition="in" filter="wipe(left)">
                                      <p:cBhvr>
                                        <p:cTn id="4137" dur="500"/>
                                        <p:tgtEl>
                                          <p:spTgt spid="31"/>
                                        </p:tgtEl>
                                      </p:cBhvr>
                                    </p:animEffect>
                                  </p:childTnLst>
                                </p:cTn>
                              </p:par>
                              <p:par>
                                <p:cTn id="4138" presetID="22" presetClass="entr" presetSubtype="8" fill="hold" nodeType="withEffect">
                                  <p:stCondLst>
                                    <p:cond delay="900"/>
                                  </p:stCondLst>
                                  <p:childTnLst>
                                    <p:set>
                                      <p:cBhvr>
                                        <p:cTn id="4139" dur="1" fill="hold">
                                          <p:stCondLst>
                                            <p:cond delay="0"/>
                                          </p:stCondLst>
                                        </p:cTn>
                                        <p:tgtEl>
                                          <p:spTgt spid="32"/>
                                        </p:tgtEl>
                                        <p:attrNameLst>
                                          <p:attrName>style.visibility</p:attrName>
                                        </p:attrNameLst>
                                      </p:cBhvr>
                                      <p:to>
                                        <p:strVal val="visible"/>
                                      </p:to>
                                    </p:set>
                                    <p:animEffect transition="in" filter="wipe(left)">
                                      <p:cBhvr>
                                        <p:cTn id="4140" dur="500"/>
                                        <p:tgtEl>
                                          <p:spTgt spid="32"/>
                                        </p:tgtEl>
                                      </p:cBhvr>
                                    </p:animEffect>
                                  </p:childTnLst>
                                </p:cTn>
                              </p:par>
                              <p:par>
                                <p:cTn id="4141" presetID="22" presetClass="entr" presetSubtype="8" fill="hold" nodeType="withEffect">
                                  <p:stCondLst>
                                    <p:cond delay="900"/>
                                  </p:stCondLst>
                                  <p:childTnLst>
                                    <p:set>
                                      <p:cBhvr>
                                        <p:cTn id="4142" dur="1" fill="hold">
                                          <p:stCondLst>
                                            <p:cond delay="0"/>
                                          </p:stCondLst>
                                        </p:cTn>
                                        <p:tgtEl>
                                          <p:spTgt spid="33"/>
                                        </p:tgtEl>
                                        <p:attrNameLst>
                                          <p:attrName>style.visibility</p:attrName>
                                        </p:attrNameLst>
                                      </p:cBhvr>
                                      <p:to>
                                        <p:strVal val="visible"/>
                                      </p:to>
                                    </p:set>
                                    <p:animEffect transition="in" filter="wipe(left)">
                                      <p:cBhvr>
                                        <p:cTn id="4143" dur="500"/>
                                        <p:tgtEl>
                                          <p:spTgt spid="33"/>
                                        </p:tgtEl>
                                      </p:cBhvr>
                                    </p:animEffect>
                                  </p:childTnLst>
                                </p:cTn>
                              </p:par>
                              <p:par>
                                <p:cTn id="4144" presetID="22" presetClass="entr" presetSubtype="8" fill="hold" nodeType="withEffect">
                                  <p:stCondLst>
                                    <p:cond delay="900"/>
                                  </p:stCondLst>
                                  <p:childTnLst>
                                    <p:set>
                                      <p:cBhvr>
                                        <p:cTn id="4145" dur="1" fill="hold">
                                          <p:stCondLst>
                                            <p:cond delay="0"/>
                                          </p:stCondLst>
                                        </p:cTn>
                                        <p:tgtEl>
                                          <p:spTgt spid="34"/>
                                        </p:tgtEl>
                                        <p:attrNameLst>
                                          <p:attrName>style.visibility</p:attrName>
                                        </p:attrNameLst>
                                      </p:cBhvr>
                                      <p:to>
                                        <p:strVal val="visible"/>
                                      </p:to>
                                    </p:set>
                                    <p:animEffect transition="in" filter="wipe(left)">
                                      <p:cBhvr>
                                        <p:cTn id="4146" dur="500"/>
                                        <p:tgtEl>
                                          <p:spTgt spid="34"/>
                                        </p:tgtEl>
                                      </p:cBhvr>
                                    </p:animEffect>
                                  </p:childTnLst>
                                </p:cTn>
                              </p:par>
                              <p:par>
                                <p:cTn id="4147" presetID="22" presetClass="entr" presetSubtype="8" fill="hold" nodeType="withEffect">
                                  <p:stCondLst>
                                    <p:cond delay="900"/>
                                  </p:stCondLst>
                                  <p:childTnLst>
                                    <p:set>
                                      <p:cBhvr>
                                        <p:cTn id="4148" dur="1" fill="hold">
                                          <p:stCondLst>
                                            <p:cond delay="0"/>
                                          </p:stCondLst>
                                        </p:cTn>
                                        <p:tgtEl>
                                          <p:spTgt spid="35"/>
                                        </p:tgtEl>
                                        <p:attrNameLst>
                                          <p:attrName>style.visibility</p:attrName>
                                        </p:attrNameLst>
                                      </p:cBhvr>
                                      <p:to>
                                        <p:strVal val="visible"/>
                                      </p:to>
                                    </p:set>
                                    <p:animEffect transition="in" filter="wipe(left)">
                                      <p:cBhvr>
                                        <p:cTn id="4149" dur="500"/>
                                        <p:tgtEl>
                                          <p:spTgt spid="35"/>
                                        </p:tgtEl>
                                      </p:cBhvr>
                                    </p:animEffect>
                                  </p:childTnLst>
                                </p:cTn>
                              </p:par>
                              <p:par>
                                <p:cTn id="4150" presetID="22" presetClass="entr" presetSubtype="8" fill="hold" nodeType="withEffect">
                                  <p:stCondLst>
                                    <p:cond delay="900"/>
                                  </p:stCondLst>
                                  <p:childTnLst>
                                    <p:set>
                                      <p:cBhvr>
                                        <p:cTn id="4151" dur="1" fill="hold">
                                          <p:stCondLst>
                                            <p:cond delay="0"/>
                                          </p:stCondLst>
                                        </p:cTn>
                                        <p:tgtEl>
                                          <p:spTgt spid="36"/>
                                        </p:tgtEl>
                                        <p:attrNameLst>
                                          <p:attrName>style.visibility</p:attrName>
                                        </p:attrNameLst>
                                      </p:cBhvr>
                                      <p:to>
                                        <p:strVal val="visible"/>
                                      </p:to>
                                    </p:set>
                                    <p:animEffect transition="in" filter="wipe(left)">
                                      <p:cBhvr>
                                        <p:cTn id="4152" dur="500"/>
                                        <p:tgtEl>
                                          <p:spTgt spid="36"/>
                                        </p:tgtEl>
                                      </p:cBhvr>
                                    </p:animEffect>
                                  </p:childTnLst>
                                </p:cTn>
                              </p:par>
                              <p:par>
                                <p:cTn id="4153" presetID="22" presetClass="entr" presetSubtype="8" fill="hold" nodeType="withEffect">
                                  <p:stCondLst>
                                    <p:cond delay="900"/>
                                  </p:stCondLst>
                                  <p:childTnLst>
                                    <p:set>
                                      <p:cBhvr>
                                        <p:cTn id="4154" dur="1" fill="hold">
                                          <p:stCondLst>
                                            <p:cond delay="0"/>
                                          </p:stCondLst>
                                        </p:cTn>
                                        <p:tgtEl>
                                          <p:spTgt spid="47"/>
                                        </p:tgtEl>
                                        <p:attrNameLst>
                                          <p:attrName>style.visibility</p:attrName>
                                        </p:attrNameLst>
                                      </p:cBhvr>
                                      <p:to>
                                        <p:strVal val="visible"/>
                                      </p:to>
                                    </p:set>
                                    <p:animEffect transition="in" filter="wipe(left)">
                                      <p:cBhvr>
                                        <p:cTn id="4155" dur="500"/>
                                        <p:tgtEl>
                                          <p:spTgt spid="47"/>
                                        </p:tgtEl>
                                      </p:cBhvr>
                                    </p:animEffect>
                                  </p:childTnLst>
                                </p:cTn>
                              </p:par>
                              <p:par>
                                <p:cTn id="4156" presetID="22" presetClass="entr" presetSubtype="8" fill="hold" nodeType="withEffect">
                                  <p:stCondLst>
                                    <p:cond delay="900"/>
                                  </p:stCondLst>
                                  <p:childTnLst>
                                    <p:set>
                                      <p:cBhvr>
                                        <p:cTn id="4157" dur="1" fill="hold">
                                          <p:stCondLst>
                                            <p:cond delay="0"/>
                                          </p:stCondLst>
                                        </p:cTn>
                                        <p:tgtEl>
                                          <p:spTgt spid="48"/>
                                        </p:tgtEl>
                                        <p:attrNameLst>
                                          <p:attrName>style.visibility</p:attrName>
                                        </p:attrNameLst>
                                      </p:cBhvr>
                                      <p:to>
                                        <p:strVal val="visible"/>
                                      </p:to>
                                    </p:set>
                                    <p:animEffect transition="in" filter="wipe(left)">
                                      <p:cBhvr>
                                        <p:cTn id="415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Elegimos ESP-NOW por costo y simplicidad; el error de fase fija el presupuesto</a:t>
            </a:r>
            <a:endParaRPr lang="en-US" sz="2200" dirty="0"/>
          </a:p>
        </p:txBody>
      </p:sp>
      <p:pic>
        <p:nvPicPr>
          <p:cNvPr id="3" name="Topología de red [s0]" descr="Esquema del maestro ESP32 con su página web, coordinador y transporte ESP-NOW, y de los nodos GEO y HAMMER, cada uno con ESP32 esclavo, PSoC, arena de RAM y microSD">    </p:cNvPr>
          <p:cNvPicPr>
            <a:picLocks noChangeAspect="1"/>
          </p:cNvPicPr>
          <p:nvPr/>
        </p:nvPicPr>
        <p:blipFill>
          <a:blip r:embed="rId1"/>
          <a:stretch>
            <a:fillRect/>
          </a:stretch>
        </p:blipFill>
        <p:spPr>
          <a:xfrm>
            <a:off x="1663651" y="1481328"/>
            <a:ext cx="5816698" cy="2964822"/>
          </a:xfrm>
          <a:prstGeom prst="rect">
            <a:avLst/>
          </a:prstGeom>
        </p:spPr>
      </p:pic>
      <p:graphicFrame>
        <p:nvGraphicFramePr>
          <p:cNvPr id="20" name="Tabla de alternativas [s1]"/>
          <p:cNvGraphicFramePr>
            <a:graphicFrameLocks noGrp="1"/>
          </p:cNvGraphicFramePr>
          <p:nvPr>
            <p:extLst>
              <p:ext uri="{D42A27DB-BD31-4B8C-83A1-F6EECF244321}">
                <p14:modId xmlns:p14="http://schemas.microsoft.com/office/powerpoint/2010/main" val="1579011935"/>
              </p:ext>
            </p:extLst>
          </p:nvPr>
        </p:nvGraphicFramePr>
        <p:xfrm>
          <a:off x="966136" y="1561458"/>
          <a:ext cx="7211728" cy="914400"/>
        </p:xfrm>
        <a:graphic>
          <a:graphicData uri="http://schemas.openxmlformats.org/drawingml/2006/table">
            <a:tbl>
              <a:tblPr/>
              <a:tblGrid>
                <a:gridCol w="1522476"/>
                <a:gridCol w="1602606"/>
                <a:gridCol w="2003258"/>
                <a:gridCol w="2083388"/>
              </a:tblGrid>
              <a:tr h="360586">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Opción</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Infraestructura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Inicio coordinado</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Observación</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60586">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Cable de sincronismo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Tendido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Determinista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Se usó y se retiró: es el cableado que se quiere evitar</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0586">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Wi-Fi con punto de acceso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Punto de acceso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Variable (ACK, reintentos, CSMA/CA)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Latencia distinta en cada nodo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0586">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LoRa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Ninguna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Tiempo en el aire de decenas de ms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Tasa de datos muy baja para descargar registros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0586">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GPS / PPS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Receptor y cielo abierto por nodo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Referencia absoluta, muy buena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Lo usan equipos comerciales; costo y cobertura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0586">
                <a:tc>
                  <a:txBody>
                    <a:bodyPr/>
                    <a:lstStyle/>
                    <a:p>
                      <a:pPr algn="l" indent="0" marL="0">
                        <a:buNone/>
                      </a:pPr>
                      <a:r>
                        <a:rPr lang="en-US" sz="990" b="1" dirty="0">
                          <a:solidFill>
                            <a:srgbClr val="1F4E79"/>
                          </a:solidFill>
                          <a:latin typeface="Arial" pitchFamily="34" charset="0"/>
                          <a:ea typeface="Arial" pitchFamily="34" charset="-122"/>
                          <a:cs typeface="Arial" pitchFamily="34" charset="-120"/>
                        </a:rPr>
                        <a:t>ESP-NOW (broadcast)</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1F4E79"/>
                          </a:solidFill>
                          <a:latin typeface="Arial" pitchFamily="34" charset="0"/>
                          <a:ea typeface="Arial" pitchFamily="34" charset="-122"/>
                          <a:cs typeface="Arial" pitchFamily="34" charset="-120"/>
                        </a:rPr>
                        <a:t>Ninguna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b="1" dirty="0">
                          <a:solidFill>
                            <a:srgbClr val="1F4E79"/>
                          </a:solidFill>
                          <a:latin typeface="Arial" pitchFamily="34" charset="0"/>
                          <a:ea typeface="Arial" pitchFamily="34" charset="-122"/>
                          <a:cs typeface="Arial" pitchFamily="34" charset="-120"/>
                        </a:rPr>
                        <a:t>≈ 200–400 µs medido con 3 nodos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1F4E79"/>
                          </a:solidFill>
                          <a:latin typeface="Arial" pitchFamily="34" charset="0"/>
                          <a:ea typeface="Arial" pitchFamily="34" charset="-122"/>
                          <a:cs typeface="Arial" pitchFamily="34" charset="-120"/>
                        </a:rPr>
                        <a:t>Sin ACK; barato y ya integrado en el ESP32</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60586">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UWB (DWM1000)</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Ninguna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±4 ns reportado (Korsimaa, 2025)</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Trabajo futuro, sin implementar</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5" name="Elemento [s1]"/>
          <p:cNvSpPr txBox="1"/>
          <p:nvPr/>
        </p:nvSpPr>
        <p:spPr>
          <a:xfrm>
            <a:off x="966136" y="4165694"/>
            <a:ext cx="7211728" cy="280456"/>
          </a:xfrm>
          <a:prstGeom prst="rect">
            <a:avLst/>
          </a:prstGeom>
          <a:noFill/>
          <a:ln/>
        </p:spPr>
        <p:txBody>
          <a:bodyPr wrap="square" lIns="0" tIns="0" rIns="0" bIns="0" rtlCol="0" anchor="t"/>
          <a:lstStyle/>
          <a:p>
            <a:pPr indent="0" marL="0">
              <a:buNone/>
            </a:pPr>
            <a:r>
              <a:rPr lang="en-US" sz="1170" b="1" dirty="0">
                <a:solidFill>
                  <a:srgbClr val="C55A11"/>
                </a:solidFill>
                <a:latin typeface="Arial" pitchFamily="34" charset="0"/>
                <a:ea typeface="Arial" pitchFamily="34" charset="-122"/>
                <a:cs typeface="Arial" pitchFamily="34" charset="-120"/>
              </a:rPr>
              <a:t>Con 400 µs el presupuesto de 5° a 50 Hz (278 µs) no se cumple: es la razón del trabajo futuro con UWB.</a:t>
            </a:r>
            <a:endParaRPr lang="en-US" sz="1170" dirty="0"/>
          </a:p>
        </p:txBody>
      </p:sp>
      <p:pic>
        <p:nvPicPr>
          <p:cNvPr id="6" name="Error de fase vs desfasaje [s2]" descr="Error de fase en función del desfasaje temporal entre nodos para 20, 50 y 100 Hz, con el presupuesto de 5 grados y la observación preliminar de 400 microsegundos">    </p:cNvPr>
          <p:cNvPicPr>
            <a:picLocks noChangeAspect="1"/>
          </p:cNvPicPr>
          <p:nvPr/>
        </p:nvPicPr>
        <p:blipFill>
          <a:blip r:embed="rId2"/>
          <a:stretch>
            <a:fillRect/>
          </a:stretch>
        </p:blipFill>
        <p:spPr>
          <a:xfrm>
            <a:off x="886005" y="1561458"/>
            <a:ext cx="3861484" cy="2844626"/>
          </a:xfrm>
          <a:prstGeom prst="rect">
            <a:avLst/>
          </a:prstGeom>
        </p:spPr>
      </p:pic>
      <p:sp>
        <p:nvSpPr>
          <p:cNvPr id="7" name="Fondo E_dphi [s2]"/>
          <p:cNvSpPr/>
          <p:nvPr/>
        </p:nvSpPr>
        <p:spPr>
          <a:xfrm>
            <a:off x="4972652" y="1561458"/>
            <a:ext cx="3205213"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8" name="Ecuación E_dphi [s2]"/>
              <p:cNvSpPr txBox="1"/>
              <p:nvPr/>
            </p:nvSpPr>
            <p:spPr>
              <a:xfrm>
                <a:off x="4972652" y="1561458"/>
                <a:ext cx="3205213"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Δφ=360°·f·Δt</m:t>
                      </m:r>
                    </m:oMath>
                  </m:oMathPara>
                </a14:m>
                <a:endParaRPr lang="es-ES"/>
              </a:p>
            </p:txBody>
          </p:sp>
        </mc:Choice>
        <mc:Fallback>
          <p:sp>
            <p:nvSpPr>
              <p:cNvPr id="8" name="Ecuación E_dphi [s2]"/>
              <p:cNvSpPr txBox="1"/>
              <p:nvPr/>
            </p:nvSpPr>
            <p:spPr>
              <a:xfrm>
                <a:off x="4972652" y="1561458"/>
                <a:ext cx="3205213"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Δφ = 360° · f · Δt</a:t>
                </a:r>
                <a:endParaRPr lang="en-US" sz="2159" dirty="0"/>
              </a:p>
            </p:txBody>
          </p:sp>
        </mc:Fallback>
      </mc:AlternateContent>
      <p:sp>
        <p:nvSpPr>
          <p:cNvPr id="9" name="Cuerpo [s2]"/>
          <p:cNvSpPr txBox="1"/>
          <p:nvPr/>
        </p:nvSpPr>
        <p:spPr>
          <a:xfrm>
            <a:off x="4972652" y="2362761"/>
            <a:ext cx="3205213" cy="1923128"/>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Para limitar el error a 5°: 278 µs a 50 Hz y 139 µs a 100 Hz</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Con 400 µs: 7,2° a 50 Hz y 14,4° a 100 Hz</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Con 400 µs, los 5° se cumplen hasta unos 35 Hz (cálculo propio)</a:t>
            </a:r>
            <a:endParaRPr lang="en-US" sz="1260" dirty="0"/>
          </a:p>
        </p:txBody>
      </p:sp>
      <p:pic>
        <p:nvPicPr>
          <p:cNvPr id="10" name="Error de velocidad vs desalineamiento [s3]" descr="Error de velocidad de fase en porcentaje en función del desalineamiento temporal entre nodos, para velocidades de Rayleigh de 120, 150 y 200 m/s con receptores separados 2 m">    </p:cNvPr>
          <p:cNvPicPr>
            <a:picLocks noChangeAspect="1"/>
          </p:cNvPicPr>
          <p:nvPr/>
        </p:nvPicPr>
        <p:blipFill>
          <a:blip r:embed="rId3"/>
          <a:stretch>
            <a:fillRect/>
          </a:stretch>
        </p:blipFill>
        <p:spPr>
          <a:xfrm>
            <a:off x="886005" y="1601523"/>
            <a:ext cx="4166776" cy="2394508"/>
          </a:xfrm>
          <a:prstGeom prst="rect">
            <a:avLst/>
          </a:prstGeom>
        </p:spPr>
      </p:pic>
      <p:sp>
        <p:nvSpPr>
          <p:cNvPr id="11" name="Fondo E_dcc [s3]"/>
          <p:cNvSpPr/>
          <p:nvPr/>
        </p:nvSpPr>
        <p:spPr>
          <a:xfrm>
            <a:off x="5213043" y="1601523"/>
            <a:ext cx="2964822" cy="80130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2" name="Ecuación E_dcc [s3]"/>
              <p:cNvSpPr txBox="1"/>
              <p:nvPr/>
            </p:nvSpPr>
            <p:spPr>
              <a:xfrm>
                <a:off x="5213043" y="1601523"/>
                <a:ext cx="2964822" cy="80130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Δc</m:t>
                          </m:r>
                        </m:num>
                        <m:den>
                          <m:r>
                            <a:rPr lang="es-ES" sz="2500" i="1">
                              <a:solidFill>
                                <a:srgbClr val="1F4E79"/>
                              </a:solidFill>
                              <a:latin typeface="Cambria Math" panose="02040503050406030204" pitchFamily="18" charset="0"/>
                            </a:rPr>
                            <m:t xml:space="preserve">c</m:t>
                          </m:r>
                        </m:den>
                      </m:f>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c·Δt</m:t>
                          </m:r>
                        </m:num>
                        <m:den>
                          <m:r>
                            <a:rPr lang="es-ES" sz="2500" i="1">
                              <a:solidFill>
                                <a:srgbClr val="1F4E79"/>
                              </a:solidFill>
                              <a:latin typeface="Cambria Math" panose="02040503050406030204" pitchFamily="18" charset="0"/>
                            </a:rPr>
                            <m:t xml:space="preserve">Δx</m:t>
                          </m:r>
                        </m:den>
                      </m:f>
                    </m:oMath>
                  </m:oMathPara>
                </a14:m>
                <a:endParaRPr lang="es-ES"/>
              </a:p>
            </p:txBody>
          </p:sp>
        </mc:Choice>
        <mc:Fallback>
          <p:sp>
            <p:nvSpPr>
              <p:cNvPr id="12" name="Ecuación E_dcc [s3]"/>
              <p:cNvSpPr txBox="1"/>
              <p:nvPr/>
            </p:nvSpPr>
            <p:spPr>
              <a:xfrm>
                <a:off x="5213043" y="1601523"/>
                <a:ext cx="2964822" cy="80130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Δc/c = c·Δt / Δx</a:t>
                </a:r>
                <a:endParaRPr lang="en-US" sz="2159" dirty="0"/>
              </a:p>
            </p:txBody>
          </p:sp>
        </mc:Fallback>
      </mc:AlternateContent>
      <p:sp>
        <p:nvSpPr>
          <p:cNvPr id="13" name="Cuerpo [s3]"/>
          <p:cNvSpPr txBox="1"/>
          <p:nvPr/>
        </p:nvSpPr>
        <p:spPr>
          <a:xfrm>
            <a:off x="5213043" y="2523022"/>
            <a:ext cx="2964822" cy="1842997"/>
          </a:xfrm>
          <a:prstGeom prst="rect">
            <a:avLst/>
          </a:prstGeom>
          <a:noFill/>
          <a:ln/>
        </p:spPr>
        <p:txBody>
          <a:bodyPr wrap="square" lIns="0" tIns="0" rIns="0" bIns="0" rtlCol="0" anchor="t"/>
          <a:lstStyle/>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170" i="1">
                        <a:solidFill>
                          <a:srgbClr val="2D2D2D"/>
                        </a:solidFill>
                        <a:latin typeface="Cambria Math" panose="02040503050406030204" pitchFamily="18" charset="0"/>
                      </a:rPr>
                      <m:t xml:space="preserve">Δ</m:t>
                    </m:r>
                    <m:r>
                      <a:rPr lang="es-ES" sz="1170" i="1">
                        <a:solidFill>
                          <a:srgbClr val="2D2D2D"/>
                        </a:solidFill>
                        <a:latin typeface="Cambria Math" panose="02040503050406030204" pitchFamily="18" charset="0"/>
                      </a:rPr>
                      <m:t xml:space="preserve">x</m:t>
                    </m:r>
                    <m:r>
                      <m:rPr>
                        <m:sty m:val="p"/>
                      </m:rPr>
                      <a:rPr lang="es-ES" sz="1170">
                        <a:solidFill>
                          <a:srgbClr val="2D2D2D"/>
                        </a:solidFill>
                        <a:latin typeface="Cambria Math" panose="02040503050406030204" pitchFamily="18" charset="0"/>
                      </a:rPr>
                      <m:t xml:space="preserve">=</m:t>
                    </m:r>
                    <m:r>
                      <m:rPr>
                        <m:sty m:val="p"/>
                      </m:rPr>
                      <a:rPr lang="es-ES" sz="1170">
                        <a:solidFill>
                          <a:srgbClr val="2D2D2D"/>
                        </a:solidFill>
                        <a:latin typeface="Cambria Math" panose="02040503050406030204" pitchFamily="18" charset="0"/>
                      </a:rPr>
                      <m:t xml:space="preserve">2</m:t>
                    </m:r>
                  </m:oMath>
                </a14:m>
              </mc:Choice>
              <mc:Fallback>
                <a:r>
                  <a:rPr lang="en-US" sz="1170" dirty="0">
                    <a:solidFill>
                      <a:srgbClr val="2D2D2D"/>
                    </a:solidFill>
                    <a:latin typeface="Arial" pitchFamily="34" charset="0"/>
                    <a:ea typeface="Arial" pitchFamily="34" charset="-122"/>
                    <a:cs typeface="Arial" pitchFamily="34" charset="-120"/>
                  </a:rPr>
                  <a:t>Δx = 2</a:t>
                </a:r>
              </mc:Fallback>
            </mc:AlternateContent>
            <a:r>
              <a:rPr lang="en-US" sz="1170" dirty="0">
                <a:solidFill>
                  <a:srgbClr val="2D2D2D"/>
                </a:solidFill>
                <a:latin typeface="Arial" pitchFamily="34" charset="0"/>
                <a:ea typeface="Arial" pitchFamily="34" charset="-122"/>
                <a:cs typeface="Arial" pitchFamily="34" charset="-120"/>
              </a:rPr>
              <a:t> m y c = 150 m/s, 5 % de error llega a 667 µs</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Con 400 µs el error sería de 3 %</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Un </a:t>
            </a:r>
            <mc:AlternateContent xmlns:mc="http://schemas.openxmlformats.org/markup-compatibility/2006">
              <mc:Choice xmlns:a14="http://schemas.microsoft.com/office/drawing/2010/main" Requires="a14">
                <a14:m>
                  <m:oMath xmlns:m="http://schemas.openxmlformats.org/officeDocument/2006/math">
                    <m:r>
                      <a:rPr lang="es-ES" sz="1170" i="1">
                        <a:solidFill>
                          <a:srgbClr val="2D2D2D"/>
                        </a:solidFill>
                        <a:latin typeface="Cambria Math" panose="02040503050406030204" pitchFamily="18" charset="0"/>
                      </a:rPr>
                      <m:t xml:space="preserve">Δ</m:t>
                    </m:r>
                    <m:r>
                      <a:rPr lang="es-ES" sz="1170" i="1">
                        <a:solidFill>
                          <a:srgbClr val="2D2D2D"/>
                        </a:solidFill>
                        <a:latin typeface="Cambria Math" panose="02040503050406030204" pitchFamily="18" charset="0"/>
                      </a:rPr>
                      <m:t xml:space="preserve">x</m:t>
                    </m:r>
                  </m:oMath>
                </a14:m>
              </mc:Choice>
              <mc:Fallback>
                <a:r>
                  <a:rPr lang="en-US" sz="1170" dirty="0">
                    <a:solidFill>
                      <a:srgbClr val="2D2D2D"/>
                    </a:solidFill>
                    <a:latin typeface="Arial" pitchFamily="34" charset="0"/>
                    <a:ea typeface="Arial" pitchFamily="34" charset="-122"/>
                    <a:cs typeface="Arial" pitchFamily="34" charset="-120"/>
                  </a:rPr>
                  <a:t>Δx</a:t>
                </a:r>
              </mc:Fallback>
            </mc:AlternateContent>
            <a:r>
              <a:rPr lang="en-US" sz="1170" dirty="0">
                <a:solidFill>
                  <a:srgbClr val="2D2D2D"/>
                </a:solidFill>
                <a:latin typeface="Arial" pitchFamily="34" charset="0"/>
                <a:ea typeface="Arial" pitchFamily="34" charset="-122"/>
                <a:cs typeface="Arial" pitchFamily="34" charset="-120"/>
              </a:rPr>
              <a:t> menor hace que el mismo </a:t>
            </a:r>
            <mc:AlternateContent xmlns:mc="http://schemas.openxmlformats.org/markup-compatibility/2006">
              <mc:Choice xmlns:a14="http://schemas.microsoft.com/office/drawing/2010/main" Requires="a14">
                <a14:m>
                  <m:oMath xmlns:m="http://schemas.openxmlformats.org/officeDocument/2006/math">
                    <m:r>
                      <a:rPr lang="es-ES" sz="1170" i="1">
                        <a:solidFill>
                          <a:srgbClr val="2D2D2D"/>
                        </a:solidFill>
                        <a:latin typeface="Cambria Math" panose="02040503050406030204" pitchFamily="18" charset="0"/>
                      </a:rPr>
                      <m:t xml:space="preserve">Δ</m:t>
                    </m:r>
                    <m:r>
                      <a:rPr lang="es-ES" sz="1170" i="1">
                        <a:solidFill>
                          <a:srgbClr val="2D2D2D"/>
                        </a:solidFill>
                        <a:latin typeface="Cambria Math" panose="02040503050406030204" pitchFamily="18" charset="0"/>
                      </a:rPr>
                      <m:t xml:space="preserve">t</m:t>
                    </m:r>
                  </m:oMath>
                </a14:m>
              </mc:Choice>
              <mc:Fallback>
                <a:r>
                  <a:rPr lang="en-US" sz="1170" dirty="0">
                    <a:solidFill>
                      <a:srgbClr val="2D2D2D"/>
                    </a:solidFill>
                    <a:latin typeface="Arial" pitchFamily="34" charset="0"/>
                    <a:ea typeface="Arial" pitchFamily="34" charset="-122"/>
                    <a:cs typeface="Arial" pitchFamily="34" charset="-120"/>
                  </a:rPr>
                  <a:t>Δt</a:t>
                </a:r>
              </mc:Fallback>
            </mc:AlternateContent>
            <a:r>
              <a:rPr lang="en-US" sz="1170" dirty="0">
                <a:solidFill>
                  <a:srgbClr val="2D2D2D"/>
                </a:solidFill>
                <a:latin typeface="Arial" pitchFamily="34" charset="0"/>
                <a:ea typeface="Arial" pitchFamily="34" charset="-122"/>
                <a:cs typeface="Arial" pitchFamily="34" charset="-120"/>
              </a:rPr>
              <a:t> pese más</a:t>
            </a:r>
            <a:endParaRPr lang="en-US" sz="1170" dirty="0"/>
          </a:p>
        </p:txBody>
      </p:sp>
      <p:sp>
        <p:nvSpPr>
          <p:cNvPr id="14"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maestro coordina por ESP-NOW y cada nodo une su ESP32 con su PSoC</a:t>
            </a:r>
            <a:endParaRPr lang="en-US" sz="1400" dirty="0"/>
          </a:p>
        </p:txBody>
      </p:sp>
      <p:sp>
        <p:nvSpPr>
          <p:cNvPr id="15"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5); resumen firmado, sec. 4.8.</a:t>
            </a:r>
            <a:endParaRPr lang="en-US" sz="800" dirty="0"/>
          </a:p>
        </p:txBody>
      </p:sp>
      <p:sp>
        <p:nvSpPr>
          <p:cNvPr id="16"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Elegimos ESP-NOW por costo y simplicidad, no por ser la opción más precisa</a:t>
            </a:r>
            <a:endParaRPr lang="en-US" sz="1400" dirty="0"/>
          </a:p>
        </p:txBody>
      </p:sp>
      <p:sp>
        <p:nvSpPr>
          <p:cNvPr id="17"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08_trabajos_futuros.tex (UWB, Korsimaa 2025), 01_problema_modelado.tex (GPS). Wi-Fi, LoRa y GPS: propiedades generales, no medidas propias.</a:t>
            </a:r>
            <a:endParaRPr lang="en-US" sz="800" dirty="0"/>
          </a:p>
        </p:txBody>
      </p:sp>
      <p:sp>
        <p:nvSpPr>
          <p:cNvPr id="18"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desfase de tiempo entre nodos se convierte en un error de fase que crece con la frecuencia</a:t>
            </a:r>
            <a:endParaRPr lang="en-US" sz="1400" dirty="0"/>
          </a:p>
        </p:txBody>
      </p:sp>
      <p:sp>
        <p:nvSpPr>
          <p:cNvPr id="19"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ec. 18; documento de tesis, 04_arquitectura.tex y fig. sincronizacion_fase. Los 35 Hz: 5°/(360°·400 µs).</a:t>
            </a:r>
            <a:endParaRPr lang="en-US" sz="800" dirty="0"/>
          </a:p>
        </p:txBody>
      </p:sp>
      <p:sp>
        <p:nvSpPr>
          <p:cNvPr id="20"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En velocidad de fase, el error depende del espaciamiento entre receptores y no de la frecuencia</a:t>
            </a:r>
            <a:endParaRPr lang="en-US" sz="1400" dirty="0"/>
          </a:p>
        </p:txBody>
      </p:sp>
      <p:sp>
        <p:nvSpPr>
          <p:cNvPr id="21"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Figura propia (f_presupuesto_sincronizacion). Relación derivada de c = 2πf·</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x</m:t>
                    </m:r>
                    <m:r>
                      <m:rPr>
                        <m:sty m:val="p"/>
                      </m:rPr>
                      <a:rPr lang="es-ES" sz="800">
                        <a:solidFill>
                          <a:srgbClr val="6B6B6B"/>
                        </a:solidFill>
                        <a:latin typeface="Cambria Math" panose="02040503050406030204" pitchFamily="18" charset="0"/>
                      </a:rPr>
                      <m:t xml:space="preserve">/</m:t>
                    </m:r>
                    <m:r>
                      <a:rPr lang="es-ES" sz="800" i="1">
                        <a:solidFill>
                          <a:srgbClr val="6B6B6B"/>
                        </a:solidFill>
                        <a:latin typeface="Cambria Math" panose="02040503050406030204" pitchFamily="18" charset="0"/>
                      </a:rPr>
                      <m:t xml:space="preserve">Δ</m:t>
                    </m:r>
                    <m:r>
                      <a:rPr lang="es-ES" sz="800" i="1">
                        <a:solidFill>
                          <a:srgbClr val="6B6B6B"/>
                        </a:solidFill>
                        <a:latin typeface="Cambria Math" panose="02040503050406030204" pitchFamily="18" charset="0"/>
                      </a:rPr>
                      <m:t xml:space="preserve">φ</m:t>
                    </m:r>
                  </m:oMath>
                </a14:m>
              </mc:Choice>
              <mc:Fallback>
                <a:r>
                  <a:rPr lang="en-US" sz="800" dirty="0">
                    <a:solidFill>
                      <a:srgbClr val="6B6B6B"/>
                    </a:solidFill>
                    <a:latin typeface="Arial" pitchFamily="34" charset="0"/>
                    <a:ea typeface="Arial" pitchFamily="34" charset="-122"/>
                    <a:cs typeface="Arial" pitchFamily="34" charset="-120"/>
                  </a:rPr>
                  <a:t>Δx/Δφ</a:t>
                </a:r>
              </mc:Fallback>
            </mc:AlternateContent>
            <a:r>
              <a:rPr lang="en-US" sz="800" dirty="0">
                <a:solidFill>
                  <a:srgbClr val="6B6B6B"/>
                </a:solidFill>
                <a:latin typeface="Arial" pitchFamily="34" charset="0"/>
                <a:ea typeface="Arial" pitchFamily="34" charset="-122"/>
                <a:cs typeface="Arial" pitchFamily="34" charset="-120"/>
              </a:rPr>
              <a:t>: inferencia propia, no tomada de una fuente.</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182" fill="hold">
                      <p:stCondLst>
                        <p:cond delay="indefinite"/>
                      </p:stCondLst>
                      <p:childTnLst>
                        <p:par>
                          <p:cTn id="4183" fill="hold">
                            <p:stCondLst>
                              <p:cond delay="0"/>
                            </p:stCondLst>
                            <p:childTnLst>
                              <p:par>
                                <p:cTn id="4161" presetID="10" presetClass="exit" presetSubtype="0" fill="hold" nodeType="clickEffect">
                                  <p:stCondLst>
                                    <p:cond delay="0"/>
                                  </p:stCondLst>
                                  <p:childTnLst>
                                    <p:animEffect transition="out" filter="fade">
                                      <p:cBhvr>
                                        <p:cTn id="4162" dur="400"/>
                                        <p:tgtEl>
                                          <p:spTgt spid="3"/>
                                        </p:tgtEl>
                                      </p:cBhvr>
                                    </p:animEffect>
                                    <p:set>
                                      <p:cBhvr>
                                        <p:cTn id="4163" dur="1" fill="hold">
                                          <p:stCondLst>
                                            <p:cond delay="399"/>
                                          </p:stCondLst>
                                        </p:cTn>
                                        <p:tgtEl>
                                          <p:spTgt spid="3"/>
                                        </p:tgtEl>
                                        <p:attrNameLst>
                                          <p:attrName>style.visibility</p:attrName>
                                        </p:attrNameLst>
                                      </p:cBhvr>
                                      <p:to>
                                        <p:strVal val="hidden"/>
                                      </p:to>
                                    </p:set>
                                  </p:childTnLst>
                                </p:cTn>
                              </p:par>
                              <p:par>
                                <p:cTn id="4164" presetID="10" presetClass="exit" presetSubtype="0" fill="hold" nodeType="withEffect">
                                  <p:stCondLst>
                                    <p:cond delay="0"/>
                                  </p:stCondLst>
                                  <p:childTnLst>
                                    <p:animEffect transition="out" filter="fade">
                                      <p:cBhvr>
                                        <p:cTn id="4165" dur="400"/>
                                        <p:tgtEl>
                                          <p:spTgt spid="14"/>
                                        </p:tgtEl>
                                      </p:cBhvr>
                                    </p:animEffect>
                                    <p:set>
                                      <p:cBhvr>
                                        <p:cTn id="4166" dur="1" fill="hold">
                                          <p:stCondLst>
                                            <p:cond delay="399"/>
                                          </p:stCondLst>
                                        </p:cTn>
                                        <p:tgtEl>
                                          <p:spTgt spid="14"/>
                                        </p:tgtEl>
                                        <p:attrNameLst>
                                          <p:attrName>style.visibility</p:attrName>
                                        </p:attrNameLst>
                                      </p:cBhvr>
                                      <p:to>
                                        <p:strVal val="hidden"/>
                                      </p:to>
                                    </p:set>
                                  </p:childTnLst>
                                </p:cTn>
                              </p:par>
                              <p:par>
                                <p:cTn id="4167" presetID="10" presetClass="exit" presetSubtype="0" fill="hold" nodeType="withEffect">
                                  <p:stCondLst>
                                    <p:cond delay="0"/>
                                  </p:stCondLst>
                                  <p:childTnLst>
                                    <p:animEffect transition="out" filter="fade">
                                      <p:cBhvr>
                                        <p:cTn id="4168" dur="400"/>
                                        <p:tgtEl>
                                          <p:spTgt spid="15"/>
                                        </p:tgtEl>
                                      </p:cBhvr>
                                    </p:animEffect>
                                    <p:set>
                                      <p:cBhvr>
                                        <p:cTn id="4169" dur="1" fill="hold">
                                          <p:stCondLst>
                                            <p:cond delay="399"/>
                                          </p:stCondLst>
                                        </p:cTn>
                                        <p:tgtEl>
                                          <p:spTgt spid="15"/>
                                        </p:tgtEl>
                                        <p:attrNameLst>
                                          <p:attrName>style.visibility</p:attrName>
                                        </p:attrNameLst>
                                      </p:cBhvr>
                                      <p:to>
                                        <p:strVal val="hidden"/>
                                      </p:to>
                                    </p:set>
                                  </p:childTnLst>
                                </p:cTn>
                              </p:par>
                              <p:par>
                                <p:cTn id="4170" presetID="10" presetClass="entr" presetSubtype="0" fill="hold" nodeType="withEffect">
                                  <p:stCondLst>
                                    <p:cond delay="200"/>
                                  </p:stCondLst>
                                  <p:childTnLst>
                                    <p:set>
                                      <p:cBhvr>
                                        <p:cTn id="4171" dur="1" fill="hold">
                                          <p:stCondLst>
                                            <p:cond delay="0"/>
                                          </p:stCondLst>
                                        </p:cTn>
                                        <p:tgtEl>
                                          <p:spTgt spid="20"/>
                                        </p:tgtEl>
                                        <p:attrNameLst>
                                          <p:attrName>style.visibility</p:attrName>
                                        </p:attrNameLst>
                                      </p:cBhvr>
                                      <p:to>
                                        <p:strVal val="visible"/>
                                      </p:to>
                                    </p:set>
                                    <p:animEffect transition="in" filter="fade">
                                      <p:cBhvr>
                                        <p:cTn id="4172" dur="500"/>
                                        <p:tgtEl>
                                          <p:spTgt spid="20"/>
                                        </p:tgtEl>
                                      </p:cBhvr>
                                    </p:animEffect>
                                  </p:childTnLst>
                                </p:cTn>
                              </p:par>
                              <p:par>
                                <p:cTn id="4173" presetID="10" presetClass="entr" presetSubtype="0" fill="hold" nodeType="withEffect">
                                  <p:stCondLst>
                                    <p:cond delay="270"/>
                                  </p:stCondLst>
                                  <p:childTnLst>
                                    <p:set>
                                      <p:cBhvr>
                                        <p:cTn id="4174" dur="1" fill="hold">
                                          <p:stCondLst>
                                            <p:cond delay="0"/>
                                          </p:stCondLst>
                                        </p:cTn>
                                        <p:tgtEl>
                                          <p:spTgt spid="5"/>
                                        </p:tgtEl>
                                        <p:attrNameLst>
                                          <p:attrName>style.visibility</p:attrName>
                                        </p:attrNameLst>
                                      </p:cBhvr>
                                      <p:to>
                                        <p:strVal val="visible"/>
                                      </p:to>
                                    </p:set>
                                    <p:animEffect transition="in" filter="fade">
                                      <p:cBhvr>
                                        <p:cTn id="4175" dur="500"/>
                                        <p:tgtEl>
                                          <p:spTgt spid="5"/>
                                        </p:tgtEl>
                                      </p:cBhvr>
                                    </p:animEffect>
                                  </p:childTnLst>
                                </p:cTn>
                              </p:par>
                              <p:par>
                                <p:cTn id="4176" presetID="10" presetClass="entr" presetSubtype="0" fill="hold" nodeType="withEffect">
                                  <p:stCondLst>
                                    <p:cond delay="340"/>
                                  </p:stCondLst>
                                  <p:childTnLst>
                                    <p:set>
                                      <p:cBhvr>
                                        <p:cTn id="4177" dur="1" fill="hold">
                                          <p:stCondLst>
                                            <p:cond delay="0"/>
                                          </p:stCondLst>
                                        </p:cTn>
                                        <p:tgtEl>
                                          <p:spTgt spid="16"/>
                                        </p:tgtEl>
                                        <p:attrNameLst>
                                          <p:attrName>style.visibility</p:attrName>
                                        </p:attrNameLst>
                                      </p:cBhvr>
                                      <p:to>
                                        <p:strVal val="visible"/>
                                      </p:to>
                                    </p:set>
                                    <p:animEffect transition="in" filter="fade">
                                      <p:cBhvr>
                                        <p:cTn id="4178" dur="500"/>
                                        <p:tgtEl>
                                          <p:spTgt spid="16"/>
                                        </p:tgtEl>
                                      </p:cBhvr>
                                    </p:animEffect>
                                  </p:childTnLst>
                                </p:cTn>
                              </p:par>
                              <p:par>
                                <p:cTn id="4179" presetID="10" presetClass="entr" presetSubtype="0" fill="hold" nodeType="withEffect">
                                  <p:stCondLst>
                                    <p:cond delay="410"/>
                                  </p:stCondLst>
                                  <p:childTnLst>
                                    <p:set>
                                      <p:cBhvr>
                                        <p:cTn id="4180" dur="1" fill="hold">
                                          <p:stCondLst>
                                            <p:cond delay="0"/>
                                          </p:stCondLst>
                                        </p:cTn>
                                        <p:tgtEl>
                                          <p:spTgt spid="17"/>
                                        </p:tgtEl>
                                        <p:attrNameLst>
                                          <p:attrName>style.visibility</p:attrName>
                                        </p:attrNameLst>
                                      </p:cBhvr>
                                      <p:to>
                                        <p:strVal val="visible"/>
                                      </p:to>
                                    </p:set>
                                    <p:animEffect transition="in" filter="fade">
                                      <p:cBhvr>
                                        <p:cTn id="4181" dur="500"/>
                                        <p:tgtEl>
                                          <p:spTgt spid="17"/>
                                        </p:tgtEl>
                                      </p:cBhvr>
                                    </p:animEffect>
                                  </p:childTnLst>
                                </p:cTn>
                              </p:par>
                            </p:childTnLst>
                          </p:cTn>
                        </p:par>
                      </p:childTnLst>
                    </p:cTn>
                  </p:par>
                  <p:par>
                    <p:cTn id="4214" fill="hold">
                      <p:stCondLst>
                        <p:cond delay="indefinite"/>
                      </p:stCondLst>
                      <p:childTnLst>
                        <p:par>
                          <p:cTn id="4215" fill="hold">
                            <p:stCondLst>
                              <p:cond delay="0"/>
                            </p:stCondLst>
                            <p:childTnLst>
                              <p:par>
                                <p:cTn id="4184" presetID="10" presetClass="exit" presetSubtype="0" fill="hold" nodeType="clickEffect">
                                  <p:stCondLst>
                                    <p:cond delay="0"/>
                                  </p:stCondLst>
                                  <p:childTnLst>
                                    <p:animEffect transition="out" filter="fade">
                                      <p:cBhvr>
                                        <p:cTn id="4185" dur="400"/>
                                        <p:tgtEl>
                                          <p:spTgt spid="20"/>
                                        </p:tgtEl>
                                      </p:cBhvr>
                                    </p:animEffect>
                                    <p:set>
                                      <p:cBhvr>
                                        <p:cTn id="4186" dur="1" fill="hold">
                                          <p:stCondLst>
                                            <p:cond delay="399"/>
                                          </p:stCondLst>
                                        </p:cTn>
                                        <p:tgtEl>
                                          <p:spTgt spid="20"/>
                                        </p:tgtEl>
                                        <p:attrNameLst>
                                          <p:attrName>style.visibility</p:attrName>
                                        </p:attrNameLst>
                                      </p:cBhvr>
                                      <p:to>
                                        <p:strVal val="hidden"/>
                                      </p:to>
                                    </p:set>
                                  </p:childTnLst>
                                </p:cTn>
                              </p:par>
                              <p:par>
                                <p:cTn id="4187" presetID="10" presetClass="exit" presetSubtype="0" fill="hold" nodeType="withEffect">
                                  <p:stCondLst>
                                    <p:cond delay="0"/>
                                  </p:stCondLst>
                                  <p:childTnLst>
                                    <p:animEffect transition="out" filter="fade">
                                      <p:cBhvr>
                                        <p:cTn id="4188" dur="400"/>
                                        <p:tgtEl>
                                          <p:spTgt spid="5"/>
                                        </p:tgtEl>
                                      </p:cBhvr>
                                    </p:animEffect>
                                    <p:set>
                                      <p:cBhvr>
                                        <p:cTn id="4189" dur="1" fill="hold">
                                          <p:stCondLst>
                                            <p:cond delay="399"/>
                                          </p:stCondLst>
                                        </p:cTn>
                                        <p:tgtEl>
                                          <p:spTgt spid="5"/>
                                        </p:tgtEl>
                                        <p:attrNameLst>
                                          <p:attrName>style.visibility</p:attrName>
                                        </p:attrNameLst>
                                      </p:cBhvr>
                                      <p:to>
                                        <p:strVal val="hidden"/>
                                      </p:to>
                                    </p:set>
                                  </p:childTnLst>
                                </p:cTn>
                              </p:par>
                              <p:par>
                                <p:cTn id="4190" presetID="10" presetClass="exit" presetSubtype="0" fill="hold" nodeType="withEffect">
                                  <p:stCondLst>
                                    <p:cond delay="0"/>
                                  </p:stCondLst>
                                  <p:childTnLst>
                                    <p:animEffect transition="out" filter="fade">
                                      <p:cBhvr>
                                        <p:cTn id="4191" dur="400"/>
                                        <p:tgtEl>
                                          <p:spTgt spid="16"/>
                                        </p:tgtEl>
                                      </p:cBhvr>
                                    </p:animEffect>
                                    <p:set>
                                      <p:cBhvr>
                                        <p:cTn id="4192" dur="1" fill="hold">
                                          <p:stCondLst>
                                            <p:cond delay="399"/>
                                          </p:stCondLst>
                                        </p:cTn>
                                        <p:tgtEl>
                                          <p:spTgt spid="16"/>
                                        </p:tgtEl>
                                        <p:attrNameLst>
                                          <p:attrName>style.visibility</p:attrName>
                                        </p:attrNameLst>
                                      </p:cBhvr>
                                      <p:to>
                                        <p:strVal val="hidden"/>
                                      </p:to>
                                    </p:set>
                                  </p:childTnLst>
                                </p:cTn>
                              </p:par>
                              <p:par>
                                <p:cTn id="4193" presetID="10" presetClass="exit" presetSubtype="0" fill="hold" nodeType="withEffect">
                                  <p:stCondLst>
                                    <p:cond delay="0"/>
                                  </p:stCondLst>
                                  <p:childTnLst>
                                    <p:animEffect transition="out" filter="fade">
                                      <p:cBhvr>
                                        <p:cTn id="4194" dur="400"/>
                                        <p:tgtEl>
                                          <p:spTgt spid="17"/>
                                        </p:tgtEl>
                                      </p:cBhvr>
                                    </p:animEffect>
                                    <p:set>
                                      <p:cBhvr>
                                        <p:cTn id="4195" dur="1" fill="hold">
                                          <p:stCondLst>
                                            <p:cond delay="399"/>
                                          </p:stCondLst>
                                        </p:cTn>
                                        <p:tgtEl>
                                          <p:spTgt spid="17"/>
                                        </p:tgtEl>
                                        <p:attrNameLst>
                                          <p:attrName>style.visibility</p:attrName>
                                        </p:attrNameLst>
                                      </p:cBhvr>
                                      <p:to>
                                        <p:strVal val="hidden"/>
                                      </p:to>
                                    </p:set>
                                  </p:childTnLst>
                                </p:cTn>
                              </p:par>
                              <p:par>
                                <p:cTn id="4196" presetID="22" presetClass="entr" presetSubtype="8" fill="hold" nodeType="withEffect">
                                  <p:stCondLst>
                                    <p:cond delay="200"/>
                                  </p:stCondLst>
                                  <p:childTnLst>
                                    <p:set>
                                      <p:cBhvr>
                                        <p:cTn id="4197" dur="1" fill="hold">
                                          <p:stCondLst>
                                            <p:cond delay="0"/>
                                          </p:stCondLst>
                                        </p:cTn>
                                        <p:tgtEl>
                                          <p:spTgt spid="6"/>
                                        </p:tgtEl>
                                        <p:attrNameLst>
                                          <p:attrName>style.visibility</p:attrName>
                                        </p:attrNameLst>
                                      </p:cBhvr>
                                      <p:to>
                                        <p:strVal val="visible"/>
                                      </p:to>
                                    </p:set>
                                    <p:animEffect transition="in" filter="wipe(left)">
                                      <p:cBhvr>
                                        <p:cTn id="4198" dur="500"/>
                                        <p:tgtEl>
                                          <p:spTgt spid="6"/>
                                        </p:tgtEl>
                                      </p:cBhvr>
                                    </p:animEffect>
                                  </p:childTnLst>
                                </p:cTn>
                              </p:par>
                              <p:par>
                                <p:cTn id="4199" presetID="22" presetClass="entr" presetSubtype="8" fill="hold" nodeType="withEffect">
                                  <p:stCondLst>
                                    <p:cond delay="270"/>
                                  </p:stCondLst>
                                  <p:childTnLst>
                                    <p:set>
                                      <p:cBhvr>
                                        <p:cTn id="4200" dur="1" fill="hold">
                                          <p:stCondLst>
                                            <p:cond delay="0"/>
                                          </p:stCondLst>
                                        </p:cTn>
                                        <p:tgtEl>
                                          <p:spTgt spid="7"/>
                                        </p:tgtEl>
                                        <p:attrNameLst>
                                          <p:attrName>style.visibility</p:attrName>
                                        </p:attrNameLst>
                                      </p:cBhvr>
                                      <p:to>
                                        <p:strVal val="visible"/>
                                      </p:to>
                                    </p:set>
                                    <p:animEffect transition="in" filter="wipe(left)">
                                      <p:cBhvr>
                                        <p:cTn id="4201" dur="500"/>
                                        <p:tgtEl>
                                          <p:spTgt spid="7"/>
                                        </p:tgtEl>
                                      </p:cBhvr>
                                    </p:animEffect>
                                  </p:childTnLst>
                                </p:cTn>
                              </p:par>
                              <p:par>
                                <p:cTn id="4202" presetID="22" presetClass="entr" presetSubtype="8" fill="hold" nodeType="withEffect">
                                  <p:stCondLst>
                                    <p:cond delay="340"/>
                                  </p:stCondLst>
                                  <p:childTnLst>
                                    <p:set>
                                      <p:cBhvr>
                                        <p:cTn id="4203" dur="1" fill="hold">
                                          <p:stCondLst>
                                            <p:cond delay="0"/>
                                          </p:stCondLst>
                                        </p:cTn>
                                        <p:tgtEl>
                                          <p:spTgt spid="8"/>
                                        </p:tgtEl>
                                        <p:attrNameLst>
                                          <p:attrName>style.visibility</p:attrName>
                                        </p:attrNameLst>
                                      </p:cBhvr>
                                      <p:to>
                                        <p:strVal val="visible"/>
                                      </p:to>
                                    </p:set>
                                    <p:animEffect transition="in" filter="wipe(left)">
                                      <p:cBhvr>
                                        <p:cTn id="4204" dur="500"/>
                                        <p:tgtEl>
                                          <p:spTgt spid="8"/>
                                        </p:tgtEl>
                                      </p:cBhvr>
                                    </p:animEffect>
                                  </p:childTnLst>
                                </p:cTn>
                              </p:par>
                              <p:par>
                                <p:cTn id="4205" presetID="22" presetClass="entr" presetSubtype="8" fill="hold" nodeType="withEffect">
                                  <p:stCondLst>
                                    <p:cond delay="410"/>
                                  </p:stCondLst>
                                  <p:childTnLst>
                                    <p:set>
                                      <p:cBhvr>
                                        <p:cTn id="4206" dur="1" fill="hold">
                                          <p:stCondLst>
                                            <p:cond delay="0"/>
                                          </p:stCondLst>
                                        </p:cTn>
                                        <p:tgtEl>
                                          <p:spTgt spid="9"/>
                                        </p:tgtEl>
                                        <p:attrNameLst>
                                          <p:attrName>style.visibility</p:attrName>
                                        </p:attrNameLst>
                                      </p:cBhvr>
                                      <p:to>
                                        <p:strVal val="visible"/>
                                      </p:to>
                                    </p:set>
                                    <p:animEffect transition="in" filter="wipe(left)">
                                      <p:cBhvr>
                                        <p:cTn id="4207" dur="500"/>
                                        <p:tgtEl>
                                          <p:spTgt spid="9"/>
                                        </p:tgtEl>
                                      </p:cBhvr>
                                    </p:animEffect>
                                  </p:childTnLst>
                                </p:cTn>
                              </p:par>
                              <p:par>
                                <p:cTn id="4208" presetID="22" presetClass="entr" presetSubtype="8" fill="hold" nodeType="withEffect">
                                  <p:stCondLst>
                                    <p:cond delay="480"/>
                                  </p:stCondLst>
                                  <p:childTnLst>
                                    <p:set>
                                      <p:cBhvr>
                                        <p:cTn id="4209" dur="1" fill="hold">
                                          <p:stCondLst>
                                            <p:cond delay="0"/>
                                          </p:stCondLst>
                                        </p:cTn>
                                        <p:tgtEl>
                                          <p:spTgt spid="18"/>
                                        </p:tgtEl>
                                        <p:attrNameLst>
                                          <p:attrName>style.visibility</p:attrName>
                                        </p:attrNameLst>
                                      </p:cBhvr>
                                      <p:to>
                                        <p:strVal val="visible"/>
                                      </p:to>
                                    </p:set>
                                    <p:animEffect transition="in" filter="wipe(left)">
                                      <p:cBhvr>
                                        <p:cTn id="4210" dur="500"/>
                                        <p:tgtEl>
                                          <p:spTgt spid="18"/>
                                        </p:tgtEl>
                                      </p:cBhvr>
                                    </p:animEffect>
                                  </p:childTnLst>
                                </p:cTn>
                              </p:par>
                              <p:par>
                                <p:cTn id="4211" presetID="22" presetClass="entr" presetSubtype="8" fill="hold" nodeType="withEffect">
                                  <p:stCondLst>
                                    <p:cond delay="550"/>
                                  </p:stCondLst>
                                  <p:childTnLst>
                                    <p:set>
                                      <p:cBhvr>
                                        <p:cTn id="4212" dur="1" fill="hold">
                                          <p:stCondLst>
                                            <p:cond delay="0"/>
                                          </p:stCondLst>
                                        </p:cTn>
                                        <p:tgtEl>
                                          <p:spTgt spid="19"/>
                                        </p:tgtEl>
                                        <p:attrNameLst>
                                          <p:attrName>style.visibility</p:attrName>
                                        </p:attrNameLst>
                                      </p:cBhvr>
                                      <p:to>
                                        <p:strVal val="visible"/>
                                      </p:to>
                                    </p:set>
                                    <p:animEffect transition="in" filter="wipe(left)">
                                      <p:cBhvr>
                                        <p:cTn id="4213" dur="500"/>
                                        <p:tgtEl>
                                          <p:spTgt spid="19"/>
                                        </p:tgtEl>
                                      </p:cBhvr>
                                    </p:animEffect>
                                  </p:childTnLst>
                                </p:cTn>
                              </p:par>
                            </p:childTnLst>
                          </p:cTn>
                        </p:par>
                      </p:childTnLst>
                    </p:cTn>
                  </p:par>
                  <p:par>
                    <p:cTn id="4249" fill="hold">
                      <p:stCondLst>
                        <p:cond delay="indefinite"/>
                      </p:stCondLst>
                      <p:childTnLst>
                        <p:par>
                          <p:cTn id="4250" fill="hold">
                            <p:stCondLst>
                              <p:cond delay="0"/>
                            </p:stCondLst>
                            <p:childTnLst>
                              <p:par>
                                <p:cTn id="4216" presetID="10" presetClass="exit" presetSubtype="0" fill="hold" nodeType="clickEffect">
                                  <p:stCondLst>
                                    <p:cond delay="0"/>
                                  </p:stCondLst>
                                  <p:childTnLst>
                                    <p:animEffect transition="out" filter="fade">
                                      <p:cBhvr>
                                        <p:cTn id="4217" dur="400"/>
                                        <p:tgtEl>
                                          <p:spTgt spid="6"/>
                                        </p:tgtEl>
                                      </p:cBhvr>
                                    </p:animEffect>
                                    <p:set>
                                      <p:cBhvr>
                                        <p:cTn id="4218" dur="1" fill="hold">
                                          <p:stCondLst>
                                            <p:cond delay="399"/>
                                          </p:stCondLst>
                                        </p:cTn>
                                        <p:tgtEl>
                                          <p:spTgt spid="6"/>
                                        </p:tgtEl>
                                        <p:attrNameLst>
                                          <p:attrName>style.visibility</p:attrName>
                                        </p:attrNameLst>
                                      </p:cBhvr>
                                      <p:to>
                                        <p:strVal val="hidden"/>
                                      </p:to>
                                    </p:set>
                                  </p:childTnLst>
                                </p:cTn>
                              </p:par>
                              <p:par>
                                <p:cTn id="4219" presetID="10" presetClass="exit" presetSubtype="0" fill="hold" nodeType="withEffect">
                                  <p:stCondLst>
                                    <p:cond delay="0"/>
                                  </p:stCondLst>
                                  <p:childTnLst>
                                    <p:animEffect transition="out" filter="fade">
                                      <p:cBhvr>
                                        <p:cTn id="4220" dur="400"/>
                                        <p:tgtEl>
                                          <p:spTgt spid="7"/>
                                        </p:tgtEl>
                                      </p:cBhvr>
                                    </p:animEffect>
                                    <p:set>
                                      <p:cBhvr>
                                        <p:cTn id="4221" dur="1" fill="hold">
                                          <p:stCondLst>
                                            <p:cond delay="399"/>
                                          </p:stCondLst>
                                        </p:cTn>
                                        <p:tgtEl>
                                          <p:spTgt spid="7"/>
                                        </p:tgtEl>
                                        <p:attrNameLst>
                                          <p:attrName>style.visibility</p:attrName>
                                        </p:attrNameLst>
                                      </p:cBhvr>
                                      <p:to>
                                        <p:strVal val="hidden"/>
                                      </p:to>
                                    </p:set>
                                  </p:childTnLst>
                                </p:cTn>
                              </p:par>
                              <p:par>
                                <p:cTn id="4222" presetID="10" presetClass="exit" presetSubtype="0" fill="hold" nodeType="withEffect">
                                  <p:stCondLst>
                                    <p:cond delay="0"/>
                                  </p:stCondLst>
                                  <p:childTnLst>
                                    <p:animEffect transition="out" filter="fade">
                                      <p:cBhvr>
                                        <p:cTn id="4223" dur="400"/>
                                        <p:tgtEl>
                                          <p:spTgt spid="8"/>
                                        </p:tgtEl>
                                      </p:cBhvr>
                                    </p:animEffect>
                                    <p:set>
                                      <p:cBhvr>
                                        <p:cTn id="4224" dur="1" fill="hold">
                                          <p:stCondLst>
                                            <p:cond delay="399"/>
                                          </p:stCondLst>
                                        </p:cTn>
                                        <p:tgtEl>
                                          <p:spTgt spid="8"/>
                                        </p:tgtEl>
                                        <p:attrNameLst>
                                          <p:attrName>style.visibility</p:attrName>
                                        </p:attrNameLst>
                                      </p:cBhvr>
                                      <p:to>
                                        <p:strVal val="hidden"/>
                                      </p:to>
                                    </p:set>
                                  </p:childTnLst>
                                </p:cTn>
                              </p:par>
                              <p:par>
                                <p:cTn id="4225" presetID="10" presetClass="exit" presetSubtype="0" fill="hold" nodeType="withEffect">
                                  <p:stCondLst>
                                    <p:cond delay="0"/>
                                  </p:stCondLst>
                                  <p:childTnLst>
                                    <p:animEffect transition="out" filter="fade">
                                      <p:cBhvr>
                                        <p:cTn id="4226" dur="400"/>
                                        <p:tgtEl>
                                          <p:spTgt spid="9"/>
                                        </p:tgtEl>
                                      </p:cBhvr>
                                    </p:animEffect>
                                    <p:set>
                                      <p:cBhvr>
                                        <p:cTn id="4227" dur="1" fill="hold">
                                          <p:stCondLst>
                                            <p:cond delay="399"/>
                                          </p:stCondLst>
                                        </p:cTn>
                                        <p:tgtEl>
                                          <p:spTgt spid="9"/>
                                        </p:tgtEl>
                                        <p:attrNameLst>
                                          <p:attrName>style.visibility</p:attrName>
                                        </p:attrNameLst>
                                      </p:cBhvr>
                                      <p:to>
                                        <p:strVal val="hidden"/>
                                      </p:to>
                                    </p:set>
                                  </p:childTnLst>
                                </p:cTn>
                              </p:par>
                              <p:par>
                                <p:cTn id="4228" presetID="10" presetClass="exit" presetSubtype="0" fill="hold" nodeType="withEffect">
                                  <p:stCondLst>
                                    <p:cond delay="0"/>
                                  </p:stCondLst>
                                  <p:childTnLst>
                                    <p:animEffect transition="out" filter="fade">
                                      <p:cBhvr>
                                        <p:cTn id="4229" dur="400"/>
                                        <p:tgtEl>
                                          <p:spTgt spid="18"/>
                                        </p:tgtEl>
                                      </p:cBhvr>
                                    </p:animEffect>
                                    <p:set>
                                      <p:cBhvr>
                                        <p:cTn id="4230" dur="1" fill="hold">
                                          <p:stCondLst>
                                            <p:cond delay="399"/>
                                          </p:stCondLst>
                                        </p:cTn>
                                        <p:tgtEl>
                                          <p:spTgt spid="18"/>
                                        </p:tgtEl>
                                        <p:attrNameLst>
                                          <p:attrName>style.visibility</p:attrName>
                                        </p:attrNameLst>
                                      </p:cBhvr>
                                      <p:to>
                                        <p:strVal val="hidden"/>
                                      </p:to>
                                    </p:set>
                                  </p:childTnLst>
                                </p:cTn>
                              </p:par>
                              <p:par>
                                <p:cTn id="4231" presetID="10" presetClass="exit" presetSubtype="0" fill="hold" nodeType="withEffect">
                                  <p:stCondLst>
                                    <p:cond delay="0"/>
                                  </p:stCondLst>
                                  <p:childTnLst>
                                    <p:animEffect transition="out" filter="fade">
                                      <p:cBhvr>
                                        <p:cTn id="4232" dur="400"/>
                                        <p:tgtEl>
                                          <p:spTgt spid="19"/>
                                        </p:tgtEl>
                                      </p:cBhvr>
                                    </p:animEffect>
                                    <p:set>
                                      <p:cBhvr>
                                        <p:cTn id="4233" dur="1" fill="hold">
                                          <p:stCondLst>
                                            <p:cond delay="399"/>
                                          </p:stCondLst>
                                        </p:cTn>
                                        <p:tgtEl>
                                          <p:spTgt spid="19"/>
                                        </p:tgtEl>
                                        <p:attrNameLst>
                                          <p:attrName>style.visibility</p:attrName>
                                        </p:attrNameLst>
                                      </p:cBhvr>
                                      <p:to>
                                        <p:strVal val="hidden"/>
                                      </p:to>
                                    </p:set>
                                  </p:childTnLst>
                                </p:cTn>
                              </p:par>
                              <p:par>
                                <p:cTn id="4234" presetID="22" presetClass="entr" presetSubtype="4" fill="hold" nodeType="withEffect">
                                  <p:stCondLst>
                                    <p:cond delay="200"/>
                                  </p:stCondLst>
                                  <p:childTnLst>
                                    <p:set>
                                      <p:cBhvr>
                                        <p:cTn id="4235" dur="1" fill="hold">
                                          <p:stCondLst>
                                            <p:cond delay="0"/>
                                          </p:stCondLst>
                                        </p:cTn>
                                        <p:tgtEl>
                                          <p:spTgt spid="10"/>
                                        </p:tgtEl>
                                        <p:attrNameLst>
                                          <p:attrName>style.visibility</p:attrName>
                                        </p:attrNameLst>
                                      </p:cBhvr>
                                      <p:to>
                                        <p:strVal val="visible"/>
                                      </p:to>
                                    </p:set>
                                    <p:animEffect transition="in" filter="wipe(down)">
                                      <p:cBhvr>
                                        <p:cTn id="4236" dur="500"/>
                                        <p:tgtEl>
                                          <p:spTgt spid="10"/>
                                        </p:tgtEl>
                                      </p:cBhvr>
                                    </p:animEffect>
                                  </p:childTnLst>
                                </p:cTn>
                              </p:par>
                              <p:par>
                                <p:cTn id="4237" presetID="22" presetClass="entr" presetSubtype="4" fill="hold" nodeType="withEffect">
                                  <p:stCondLst>
                                    <p:cond delay="270"/>
                                  </p:stCondLst>
                                  <p:childTnLst>
                                    <p:set>
                                      <p:cBhvr>
                                        <p:cTn id="4238" dur="1" fill="hold">
                                          <p:stCondLst>
                                            <p:cond delay="0"/>
                                          </p:stCondLst>
                                        </p:cTn>
                                        <p:tgtEl>
                                          <p:spTgt spid="11"/>
                                        </p:tgtEl>
                                        <p:attrNameLst>
                                          <p:attrName>style.visibility</p:attrName>
                                        </p:attrNameLst>
                                      </p:cBhvr>
                                      <p:to>
                                        <p:strVal val="visible"/>
                                      </p:to>
                                    </p:set>
                                    <p:animEffect transition="in" filter="wipe(down)">
                                      <p:cBhvr>
                                        <p:cTn id="4239" dur="500"/>
                                        <p:tgtEl>
                                          <p:spTgt spid="11"/>
                                        </p:tgtEl>
                                      </p:cBhvr>
                                    </p:animEffect>
                                  </p:childTnLst>
                                </p:cTn>
                              </p:par>
                              <p:par>
                                <p:cTn id="4240" presetID="22" presetClass="entr" presetSubtype="4" fill="hold" nodeType="withEffect">
                                  <p:stCondLst>
                                    <p:cond delay="340"/>
                                  </p:stCondLst>
                                  <p:childTnLst>
                                    <p:set>
                                      <p:cBhvr>
                                        <p:cTn id="4241" dur="1" fill="hold">
                                          <p:stCondLst>
                                            <p:cond delay="0"/>
                                          </p:stCondLst>
                                        </p:cTn>
                                        <p:tgtEl>
                                          <p:spTgt spid="12"/>
                                        </p:tgtEl>
                                        <p:attrNameLst>
                                          <p:attrName>style.visibility</p:attrName>
                                        </p:attrNameLst>
                                      </p:cBhvr>
                                      <p:to>
                                        <p:strVal val="visible"/>
                                      </p:to>
                                    </p:set>
                                    <p:animEffect transition="in" filter="wipe(down)">
                                      <p:cBhvr>
                                        <p:cTn id="4242" dur="500"/>
                                        <p:tgtEl>
                                          <p:spTgt spid="12"/>
                                        </p:tgtEl>
                                      </p:cBhvr>
                                    </p:animEffect>
                                  </p:childTnLst>
                                </p:cTn>
                              </p:par>
                              <p:par>
                                <p:cTn id="4243" presetID="22" presetClass="entr" presetSubtype="4" fill="hold" nodeType="withEffect">
                                  <p:stCondLst>
                                    <p:cond delay="410"/>
                                  </p:stCondLst>
                                  <p:childTnLst>
                                    <p:set>
                                      <p:cBhvr>
                                        <p:cTn id="4244" dur="1" fill="hold">
                                          <p:stCondLst>
                                            <p:cond delay="0"/>
                                          </p:stCondLst>
                                        </p:cTn>
                                        <p:tgtEl>
                                          <p:spTgt spid="13"/>
                                        </p:tgtEl>
                                        <p:attrNameLst>
                                          <p:attrName>style.visibility</p:attrName>
                                        </p:attrNameLst>
                                      </p:cBhvr>
                                      <p:to>
                                        <p:strVal val="visible"/>
                                      </p:to>
                                    </p:set>
                                    <p:animEffect transition="in" filter="wipe(down)">
                                      <p:cBhvr>
                                        <p:cTn id="4245" dur="500"/>
                                        <p:tgtEl>
                                          <p:spTgt spid="13"/>
                                        </p:tgtEl>
                                      </p:cBhvr>
                                    </p:animEffect>
                                  </p:childTnLst>
                                </p:cTn>
                              </p:par>
                              <p:par>
                                <p:cTn id="4246" presetID="22" presetClass="entr" presetSubtype="4" fill="hold" nodeType="withEffect">
                                  <p:stCondLst>
                                    <p:cond delay="480"/>
                                  </p:stCondLst>
                                  <p:childTnLst>
                                    <p:set>
                                      <p:cBhvr>
                                        <p:cTn id="4247" dur="1" fill="hold">
                                          <p:stCondLst>
                                            <p:cond delay="0"/>
                                          </p:stCondLst>
                                        </p:cTn>
                                        <p:tgtEl>
                                          <p:spTgt spid="21"/>
                                        </p:tgtEl>
                                        <p:attrNameLst>
                                          <p:attrName>style.visibility</p:attrName>
                                        </p:attrNameLst>
                                      </p:cBhvr>
                                      <p:to>
                                        <p:strVal val="visible"/>
                                      </p:to>
                                    </p:set>
                                    <p:animEffect transition="in" filter="wipe(down)">
                                      <p:cBhvr>
                                        <p:cTn id="42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El disparo va por broadcast; se midió su jitter y se declaran sus límites</a:t>
            </a:r>
            <a:endParaRPr lang="en-US" sz="2200" dirty="0"/>
          </a:p>
        </p:txBody>
      </p:sp>
      <p:pic>
        <p:nvPicPr>
          <p:cNvPr id="3" name="Secuencia de disparo [s0]" descr="Secuencia de adquisición: ARM, PRESTART, espera de confirmaciones y CMD_START por broadcast que eleva el flanco SYNC_TO_PSOC, con retorno store-and-forward">    </p:cNvPr>
          <p:cNvPicPr>
            <a:picLocks noChangeAspect="1"/>
          </p:cNvPicPr>
          <p:nvPr/>
        </p:nvPicPr>
        <p:blipFill>
          <a:blip r:embed="rId1"/>
          <a:stretch>
            <a:fillRect/>
          </a:stretch>
        </p:blipFill>
        <p:spPr>
          <a:xfrm>
            <a:off x="1046266" y="1561458"/>
            <a:ext cx="7051468" cy="2856118"/>
          </a:xfrm>
          <a:prstGeom prst="rect">
            <a:avLst/>
          </a:prstGeom>
        </p:spPr>
      </p:pic>
      <p:sp>
        <p:nvSpPr>
          <p:cNvPr id="4" name="Cabecera Sin ACK ni reintentos [s1]"/>
          <p:cNvSpPr/>
          <p:nvPr/>
        </p:nvSpPr>
        <p:spPr>
          <a:xfrm>
            <a:off x="966136" y="1561458"/>
            <a:ext cx="2243649" cy="400652"/>
          </a:xfrm>
          <a:prstGeom prst="rect">
            <a:avLst/>
          </a:prstGeom>
          <a:solidFill>
            <a:srgbClr val="1F4E79"/>
          </a:solidFill>
          <a:ln w="6350">
            <a:solidFill>
              <a:srgbClr val="1F4E79"/>
            </a:solidFill>
            <a:prstDash val="solid"/>
          </a:ln>
        </p:spPr>
      </p:sp>
      <p:sp>
        <p:nvSpPr>
          <p:cNvPr id="5" name="Elemento [s1]"/>
          <p:cNvSpPr txBox="1"/>
          <p:nvPr/>
        </p:nvSpPr>
        <p:spPr>
          <a:xfrm>
            <a:off x="1006201" y="1561458"/>
            <a:ext cx="2163519" cy="400652"/>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Sin ACK ni reintentos</a:t>
            </a:r>
            <a:endParaRPr lang="en-US" sz="1350" dirty="0"/>
          </a:p>
        </p:txBody>
      </p:sp>
      <p:sp>
        <p:nvSpPr>
          <p:cNvPr id="6" name="Tarjeta Sin ACK ni reintentos [s1]"/>
          <p:cNvSpPr/>
          <p:nvPr/>
        </p:nvSpPr>
        <p:spPr>
          <a:xfrm>
            <a:off x="966136" y="1962110"/>
            <a:ext cx="2243649" cy="1682737"/>
          </a:xfrm>
          <a:prstGeom prst="rect">
            <a:avLst/>
          </a:prstGeom>
          <a:solidFill>
            <a:srgbClr val="FFFFFF"/>
          </a:solidFill>
          <a:ln w="16694">
            <a:solidFill>
              <a:srgbClr val="1F4E79"/>
            </a:solidFill>
            <a:prstDash val="solid"/>
          </a:ln>
        </p:spPr>
      </p:sp>
      <p:sp>
        <p:nvSpPr>
          <p:cNvPr id="7" name="Elemento [s1]"/>
          <p:cNvSpPr txBox="1"/>
          <p:nvPr/>
        </p:nvSpPr>
        <p:spPr>
          <a:xfrm>
            <a:off x="1062292" y="2026214"/>
            <a:ext cx="2051336" cy="155452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El unicast espera confirmación y reintenta, y el reintento es distinto en cada nodo. El broadcast se emite una vez, o no llega.</a:t>
            </a:r>
            <a:endParaRPr lang="en-US" sz="1170" dirty="0"/>
          </a:p>
        </p:txBody>
      </p:sp>
      <p:sp>
        <p:nvSpPr>
          <p:cNvPr id="8" name="Cabecera Una emisión, no N [s1]"/>
          <p:cNvSpPr/>
          <p:nvPr/>
        </p:nvSpPr>
        <p:spPr>
          <a:xfrm>
            <a:off x="3450176" y="1561458"/>
            <a:ext cx="2243649" cy="400652"/>
          </a:xfrm>
          <a:prstGeom prst="rect">
            <a:avLst/>
          </a:prstGeom>
          <a:solidFill>
            <a:srgbClr val="2E75B6"/>
          </a:solidFill>
          <a:ln w="6350">
            <a:solidFill>
              <a:srgbClr val="2E75B6"/>
            </a:solidFill>
            <a:prstDash val="solid"/>
          </a:ln>
        </p:spPr>
      </p:sp>
      <p:sp>
        <p:nvSpPr>
          <p:cNvPr id="9" name="Elemento [s1]"/>
          <p:cNvSpPr txBox="1"/>
          <p:nvPr/>
        </p:nvSpPr>
        <p:spPr>
          <a:xfrm>
            <a:off x="3490241" y="1561458"/>
            <a:ext cx="2163519" cy="400652"/>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Una emisión, no N</a:t>
            </a:r>
            <a:endParaRPr lang="en-US" sz="1350" dirty="0"/>
          </a:p>
        </p:txBody>
      </p:sp>
      <p:sp>
        <p:nvSpPr>
          <p:cNvPr id="10" name="Tarjeta Una emisión, no N [s1]"/>
          <p:cNvSpPr/>
          <p:nvPr/>
        </p:nvSpPr>
        <p:spPr>
          <a:xfrm>
            <a:off x="3450176" y="1962110"/>
            <a:ext cx="2243649" cy="1682737"/>
          </a:xfrm>
          <a:prstGeom prst="rect">
            <a:avLst/>
          </a:prstGeom>
          <a:solidFill>
            <a:srgbClr val="FFFFFF"/>
          </a:solidFill>
          <a:ln w="16694">
            <a:solidFill>
              <a:srgbClr val="2E75B6"/>
            </a:solidFill>
            <a:prstDash val="solid"/>
          </a:ln>
        </p:spPr>
      </p:sp>
      <p:sp>
        <p:nvSpPr>
          <p:cNvPr id="11" name="Elemento [s1]"/>
          <p:cNvSpPr txBox="1"/>
          <p:nvPr/>
        </p:nvSpPr>
        <p:spPr>
          <a:xfrm>
            <a:off x="3546332" y="2026214"/>
            <a:ext cx="2051336" cy="155452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Con unicast el último nodo recibe después del primero. El broadcast es un solo evento en el aire para todos los receptores.</a:t>
            </a:r>
            <a:endParaRPr lang="en-US" sz="1170" dirty="0"/>
          </a:p>
        </p:txBody>
      </p:sp>
      <p:sp>
        <p:nvSpPr>
          <p:cNvPr id="12" name="Cabecera Retardo común [s1]"/>
          <p:cNvSpPr/>
          <p:nvPr/>
        </p:nvSpPr>
        <p:spPr>
          <a:xfrm>
            <a:off x="5934215" y="1561458"/>
            <a:ext cx="2243649" cy="400652"/>
          </a:xfrm>
          <a:prstGeom prst="rect">
            <a:avLst/>
          </a:prstGeom>
          <a:solidFill>
            <a:srgbClr val="C55A11"/>
          </a:solidFill>
          <a:ln w="6350">
            <a:solidFill>
              <a:srgbClr val="C55A11"/>
            </a:solidFill>
            <a:prstDash val="solid"/>
          </a:ln>
        </p:spPr>
      </p:sp>
      <p:sp>
        <p:nvSpPr>
          <p:cNvPr id="13" name="Elemento [s1]"/>
          <p:cNvSpPr txBox="1"/>
          <p:nvPr/>
        </p:nvSpPr>
        <p:spPr>
          <a:xfrm>
            <a:off x="5974281" y="1561458"/>
            <a:ext cx="2163519" cy="400652"/>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Retardo común</a:t>
            </a:r>
            <a:endParaRPr lang="en-US" sz="1350" dirty="0"/>
          </a:p>
        </p:txBody>
      </p:sp>
      <p:sp>
        <p:nvSpPr>
          <p:cNvPr id="14" name="Tarjeta Retardo común [s1]"/>
          <p:cNvSpPr/>
          <p:nvPr/>
        </p:nvSpPr>
        <p:spPr>
          <a:xfrm>
            <a:off x="5934215" y="1962110"/>
            <a:ext cx="2243649" cy="1682737"/>
          </a:xfrm>
          <a:prstGeom prst="rect">
            <a:avLst/>
          </a:prstGeom>
          <a:solidFill>
            <a:srgbClr val="FFFFFF"/>
          </a:solidFill>
          <a:ln w="16694">
            <a:solidFill>
              <a:srgbClr val="C55A11"/>
            </a:solidFill>
            <a:prstDash val="solid"/>
          </a:ln>
        </p:spPr>
      </p:sp>
      <p:sp>
        <p:nvSpPr>
          <p:cNvPr id="15" name="Elemento [s1]"/>
          <p:cNvSpPr txBox="1"/>
          <p:nvPr/>
        </p:nvSpPr>
        <p:spPr>
          <a:xfrm>
            <a:off x="6030372" y="2026214"/>
            <a:ext cx="2051336" cy="155452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La latencia entre el código y la antena varía, pero ocurre una vez en el emisor y es igual para todos: se cancela entre canales.</a:t>
            </a:r>
            <a:endParaRPr lang="en-US" sz="1170" dirty="0"/>
          </a:p>
        </p:txBody>
      </p:sp>
      <p:sp>
        <p:nvSpPr>
          <p:cNvPr id="16" name="Elemento [s1]"/>
          <p:cNvSpPr txBox="1"/>
          <p:nvPr/>
        </p:nvSpPr>
        <p:spPr>
          <a:xfrm>
            <a:off x="966136" y="3765042"/>
            <a:ext cx="7211728" cy="440717"/>
          </a:xfrm>
          <a:prstGeom prst="rect">
            <a:avLst/>
          </a:prstGeom>
          <a:noFill/>
          <a:ln/>
        </p:spPr>
        <p:txBody>
          <a:bodyPr wrap="square" lIns="0" tIns="0" rIns="0" bIns="0" rtlCol="0" anchor="t"/>
          <a:lstStyle/>
          <a:p>
            <a:pPr indent="0" marL="0">
              <a:buNone/>
            </a:pPr>
            <a:r>
              <a:rPr lang="en-US" sz="1260" b="1" dirty="0">
                <a:solidFill>
                  <a:srgbClr val="1F4E79"/>
                </a:solidFill>
                <a:latin typeface="Arial" pitchFamily="34" charset="0"/>
                <a:ea typeface="Arial" pitchFamily="34" charset="-122"/>
                <a:cs typeface="Arial" pitchFamily="34" charset="-120"/>
              </a:rPr>
              <a:t>Se cambia fiabilidad por determinismo: una captura que no dispara se repite; una desalineada da un perfil erróneo sin avisar.</a:t>
            </a:r>
            <a:endParaRPr lang="en-US" sz="1260" dirty="0"/>
          </a:p>
        </p:txBody>
      </p:sp>
      <p:sp>
        <p:nvSpPr>
          <p:cNvPr id="17" name="Elemento [s1]"/>
          <p:cNvSpPr txBox="1"/>
          <p:nvPr/>
        </p:nvSpPr>
        <p:spPr>
          <a:xfrm>
            <a:off x="966136" y="4245824"/>
            <a:ext cx="7211728"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Evidencia: pruebas de banco, sin medición comparativa publicada</a:t>
            </a:r>
            <a:endParaRPr lang="en-US" sz="900" dirty="0"/>
          </a:p>
        </p:txBody>
      </p:sp>
      <p:sp>
        <p:nvSpPr>
          <p:cNvPr id="18" name="Cabecera Método [s2]"/>
          <p:cNvSpPr/>
          <p:nvPr/>
        </p:nvSpPr>
        <p:spPr>
          <a:xfrm>
            <a:off x="966136" y="1561458"/>
            <a:ext cx="4166776" cy="360586"/>
          </a:xfrm>
          <a:prstGeom prst="rect">
            <a:avLst/>
          </a:prstGeom>
          <a:solidFill>
            <a:srgbClr val="1F4E79"/>
          </a:solidFill>
          <a:ln w="6350">
            <a:solidFill>
              <a:srgbClr val="1F4E79"/>
            </a:solidFill>
            <a:prstDash val="solid"/>
          </a:ln>
        </p:spPr>
      </p:sp>
      <p:sp>
        <p:nvSpPr>
          <p:cNvPr id="19" name="Elemento [s2]"/>
          <p:cNvSpPr txBox="1"/>
          <p:nvPr/>
        </p:nvSpPr>
        <p:spPr>
          <a:xfrm>
            <a:off x="1006201" y="1561458"/>
            <a:ext cx="4086646"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Método</a:t>
            </a:r>
            <a:endParaRPr lang="en-US" sz="1350" dirty="0"/>
          </a:p>
        </p:txBody>
      </p:sp>
      <p:sp>
        <p:nvSpPr>
          <p:cNvPr id="20" name="Tarjeta Método [s2]"/>
          <p:cNvSpPr/>
          <p:nvPr/>
        </p:nvSpPr>
        <p:spPr>
          <a:xfrm>
            <a:off x="966136" y="1922045"/>
            <a:ext cx="4166776" cy="2083388"/>
          </a:xfrm>
          <a:prstGeom prst="rect">
            <a:avLst/>
          </a:prstGeom>
          <a:solidFill>
            <a:srgbClr val="FFFFFF"/>
          </a:solidFill>
          <a:ln w="16694">
            <a:solidFill>
              <a:srgbClr val="1F4E79"/>
            </a:solidFill>
            <a:prstDash val="solid"/>
          </a:ln>
        </p:spPr>
      </p:sp>
      <p:sp>
        <p:nvSpPr>
          <p:cNvPr id="21" name="Elemento [s2]"/>
          <p:cNvSpPr txBox="1"/>
          <p:nvPr/>
        </p:nvSpPr>
        <p:spPr>
          <a:xfrm>
            <a:off x="1062292" y="1986149"/>
            <a:ext cx="3974464" cy="1955180"/>
          </a:xfrm>
          <a:prstGeom prst="rect">
            <a:avLst/>
          </a:prstGeom>
          <a:noFill/>
          <a:ln/>
        </p:spPr>
        <p:txBody>
          <a:bodyPr wrap="square" lIns="0" tIns="0" rIns="0" bIns="0" rtlCol="0" anchor="t"/>
          <a:lstStyle/>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CMD_SCOPE_START: cada nodo emite un pulso de 1 ms por un GPIO, sin muestrear ni responder por radio</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El osciloscopio mide la separación entre los flancos del maestro y de los esclavos</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SCOPE_MULTI repite el disparo 128 veces, separado 1 s</a:t>
            </a:r>
            <a:endParaRPr lang="en-US" sz="1170" dirty="0"/>
          </a:p>
        </p:txBody>
      </p:sp>
      <p:sp>
        <p:nvSpPr>
          <p:cNvPr id="22" name="Fondo resultado [s2]"/>
          <p:cNvSpPr/>
          <p:nvPr/>
        </p:nvSpPr>
        <p:spPr>
          <a:xfrm>
            <a:off x="5373303" y="1561458"/>
            <a:ext cx="2804561" cy="2443975"/>
          </a:xfrm>
          <a:prstGeom prst="rect">
            <a:avLst/>
          </a:prstGeom>
          <a:solidFill>
            <a:srgbClr val="EAF1F8"/>
          </a:solidFill>
          <a:ln w="6350">
            <a:solidFill>
              <a:srgbClr val="EAF1F8"/>
            </a:solidFill>
            <a:prstDash val="solid"/>
          </a:ln>
        </p:spPr>
      </p:sp>
      <p:sp>
        <p:nvSpPr>
          <p:cNvPr id="23" name="Elemento [s2]"/>
          <p:cNvSpPr txBox="1"/>
          <p:nvPr/>
        </p:nvSpPr>
        <p:spPr>
          <a:xfrm>
            <a:off x="5373303" y="1721719"/>
            <a:ext cx="2804561" cy="641043"/>
          </a:xfrm>
          <a:prstGeom prst="rect">
            <a:avLst/>
          </a:prstGeom>
          <a:noFill/>
          <a:ln/>
        </p:spPr>
        <p:txBody>
          <a:bodyPr wrap="square" lIns="0" tIns="0" rIns="0" bIns="0" rtlCol="0" anchor="ctr"/>
          <a:lstStyle/>
          <a:p>
            <a:pPr algn="ctr" indent="0" marL="0">
              <a:buNone/>
            </a:pPr>
            <a:r>
              <a:rPr lang="en-US" sz="3239" b="1" dirty="0">
                <a:solidFill>
                  <a:srgbClr val="1F4E79"/>
                </a:solidFill>
                <a:latin typeface="Arial" pitchFamily="34" charset="0"/>
                <a:ea typeface="Arial" pitchFamily="34" charset="-122"/>
                <a:cs typeface="Arial" pitchFamily="34" charset="-120"/>
              </a:rPr>
              <a:t>200–400 µs</a:t>
            </a:r>
            <a:endParaRPr lang="en-US" sz="3239" dirty="0"/>
          </a:p>
        </p:txBody>
      </p:sp>
      <p:sp>
        <p:nvSpPr>
          <p:cNvPr id="24" name="Elemento [s2]"/>
          <p:cNvSpPr txBox="1"/>
          <p:nvPr/>
        </p:nvSpPr>
        <p:spPr>
          <a:xfrm>
            <a:off x="5493499" y="2442892"/>
            <a:ext cx="2564170" cy="721173"/>
          </a:xfrm>
          <a:prstGeom prst="rect">
            <a:avLst/>
          </a:prstGeom>
          <a:noFill/>
          <a:ln/>
        </p:spPr>
        <p:txBody>
          <a:bodyPr wrap="square" lIns="0" tIns="0" rIns="0" bIns="0" rtlCol="0" anchor="t"/>
          <a:lstStyle/>
          <a:p>
            <a:pPr algn="ctr" indent="0" marL="0">
              <a:buNone/>
            </a:pPr>
            <a:r>
              <a:rPr lang="en-US" sz="1170" dirty="0">
                <a:solidFill>
                  <a:srgbClr val="2D2D2D"/>
                </a:solidFill>
                <a:latin typeface="Arial" pitchFamily="34" charset="0"/>
                <a:ea typeface="Arial" pitchFamily="34" charset="-122"/>
                <a:cs typeface="Arial" pitchFamily="34" charset="-120"/>
              </a:rPr>
              <a:t>separación entre flancos GPIO, 3 nodos, 128 órdenes START por broadcast</a:t>
            </a:r>
            <a:endParaRPr lang="en-US" sz="1170" dirty="0"/>
          </a:p>
        </p:txBody>
      </p:sp>
      <p:sp>
        <p:nvSpPr>
          <p:cNvPr id="25" name="Elemento [s2]"/>
          <p:cNvSpPr txBox="1"/>
          <p:nvPr/>
        </p:nvSpPr>
        <p:spPr>
          <a:xfrm>
            <a:off x="5493499" y="3204130"/>
            <a:ext cx="2564170" cy="721173"/>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Sin relación con la posición relativa entre maestro y esclavos (maestro a ≈ 5 m)</a:t>
            </a:r>
            <a:endParaRPr lang="en-US" sz="1080" dirty="0"/>
          </a:p>
        </p:txBody>
      </p:sp>
      <p:sp>
        <p:nvSpPr>
          <p:cNvPr id="26" name="Elemento [s2]"/>
          <p:cNvSpPr txBox="1"/>
          <p:nvPr/>
        </p:nvSpPr>
        <p:spPr>
          <a:xfrm>
            <a:off x="966136" y="4125628"/>
            <a:ext cx="7211728" cy="280456"/>
          </a:xfrm>
          <a:prstGeom prst="rect">
            <a:avLst/>
          </a:prstGeom>
          <a:noFill/>
          <a:ln/>
        </p:spPr>
        <p:txBody>
          <a:bodyPr wrap="square" lIns="0" tIns="0" rIns="0" bIns="0" rtlCol="0" anchor="t"/>
          <a:lstStyle/>
          <a:p>
            <a:pPr indent="0" marL="0">
              <a:buNone/>
            </a:pPr>
            <a:r>
              <a:rPr lang="en-US" sz="1260" b="1" dirty="0">
                <a:solidFill>
                  <a:srgbClr val="C55A11"/>
                </a:solidFill>
                <a:latin typeface="Arial" pitchFamily="34" charset="0"/>
                <a:ea typeface="Arial" pitchFamily="34" charset="-122"/>
                <a:cs typeface="Arial" pitchFamily="34" charset="-120"/>
              </a:rPr>
              <a:t>Resultado preliminar: no es una especificación garantizada.</a:t>
            </a:r>
            <a:endParaRPr lang="en-US" sz="1260" dirty="0"/>
          </a:p>
        </p:txBody>
      </p:sp>
      <p:sp>
        <p:nvSpPr>
          <p:cNvPr id="27" name="Cabecera Qué mide [s3]"/>
          <p:cNvSpPr/>
          <p:nvPr/>
        </p:nvSpPr>
        <p:spPr>
          <a:xfrm>
            <a:off x="966136" y="1561458"/>
            <a:ext cx="2243649" cy="360586"/>
          </a:xfrm>
          <a:prstGeom prst="rect">
            <a:avLst/>
          </a:prstGeom>
          <a:solidFill>
            <a:srgbClr val="1F4E79"/>
          </a:solidFill>
          <a:ln w="6350">
            <a:solidFill>
              <a:srgbClr val="1F4E79"/>
            </a:solidFill>
            <a:prstDash val="solid"/>
          </a:ln>
        </p:spPr>
      </p:sp>
      <p:sp>
        <p:nvSpPr>
          <p:cNvPr id="28" name="Elemento [s3]"/>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Qué mide</a:t>
            </a:r>
            <a:endParaRPr lang="en-US" sz="1260" dirty="0"/>
          </a:p>
        </p:txBody>
      </p:sp>
      <p:sp>
        <p:nvSpPr>
          <p:cNvPr id="29" name="Tarjeta Qué mide [s3]"/>
          <p:cNvSpPr/>
          <p:nvPr/>
        </p:nvSpPr>
        <p:spPr>
          <a:xfrm>
            <a:off x="966136" y="1922045"/>
            <a:ext cx="2243649" cy="2203584"/>
          </a:xfrm>
          <a:prstGeom prst="rect">
            <a:avLst/>
          </a:prstGeom>
          <a:solidFill>
            <a:srgbClr val="FFFFFF"/>
          </a:solidFill>
          <a:ln w="16694">
            <a:solidFill>
              <a:srgbClr val="1F4E79"/>
            </a:solidFill>
            <a:prstDash val="solid"/>
          </a:ln>
        </p:spPr>
      </p:sp>
      <p:sp>
        <p:nvSpPr>
          <p:cNvPr id="30" name="Elemento [s3]"/>
          <p:cNvSpPr txBox="1"/>
          <p:nvPr/>
        </p:nvSpPr>
        <p:spPr>
          <a:xfrm>
            <a:off x="1062292" y="1986149"/>
            <a:ext cx="2051336" cy="2075375"/>
          </a:xfrm>
          <a:prstGeom prst="rect">
            <a:avLst/>
          </a:prstGeom>
          <a:noFill/>
          <a:ln/>
        </p:spPr>
        <p:txBody>
          <a:bodyPr wrap="square" lIns="0" tIns="0" rIns="0" bIns="0" rtlCol="0" anchor="t"/>
          <a:lstStyle/>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Llegada de la orden y flanco GPIO en cada ESP32</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Con los nodos juntos, por el alcance de las puntas</a:t>
            </a:r>
            <a:endParaRPr lang="en-US" sz="1125" dirty="0"/>
          </a:p>
        </p:txBody>
      </p:sp>
      <p:sp>
        <p:nvSpPr>
          <p:cNvPr id="31" name="Cabecera Qué falta [s3]"/>
          <p:cNvSpPr/>
          <p:nvPr/>
        </p:nvSpPr>
        <p:spPr>
          <a:xfrm>
            <a:off x="3450176" y="1561458"/>
            <a:ext cx="2243649" cy="360586"/>
          </a:xfrm>
          <a:prstGeom prst="rect">
            <a:avLst/>
          </a:prstGeom>
          <a:solidFill>
            <a:srgbClr val="C55A11"/>
          </a:solidFill>
          <a:ln w="6350">
            <a:solidFill>
              <a:srgbClr val="C55A11"/>
            </a:solidFill>
            <a:prstDash val="solid"/>
          </a:ln>
        </p:spPr>
      </p:sp>
      <p:sp>
        <p:nvSpPr>
          <p:cNvPr id="32" name="Elemento [s3]"/>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Qué falta</a:t>
            </a:r>
            <a:endParaRPr lang="en-US" sz="1260" dirty="0"/>
          </a:p>
        </p:txBody>
      </p:sp>
      <p:sp>
        <p:nvSpPr>
          <p:cNvPr id="33" name="Tarjeta Qué falta [s3]"/>
          <p:cNvSpPr/>
          <p:nvPr/>
        </p:nvSpPr>
        <p:spPr>
          <a:xfrm>
            <a:off x="3450176" y="1922045"/>
            <a:ext cx="2243649" cy="2203584"/>
          </a:xfrm>
          <a:prstGeom prst="rect">
            <a:avLst/>
          </a:prstGeom>
          <a:solidFill>
            <a:srgbClr val="FFFFFF"/>
          </a:solidFill>
          <a:ln w="16694">
            <a:solidFill>
              <a:srgbClr val="C55A11"/>
            </a:solidFill>
            <a:prstDash val="solid"/>
          </a:ln>
        </p:spPr>
      </p:sp>
      <p:sp>
        <p:nvSpPr>
          <p:cNvPr id="34" name="Elemento [s3]"/>
          <p:cNvSpPr txBox="1"/>
          <p:nvPr/>
        </p:nvSpPr>
        <p:spPr>
          <a:xfrm>
            <a:off x="3546332" y="1986149"/>
            <a:ext cx="2051336" cy="2075375"/>
          </a:xfrm>
          <a:prstGeom prst="rect">
            <a:avLst/>
          </a:prstGeom>
          <a:noFill/>
          <a:ln/>
        </p:spPr>
        <p:txBody>
          <a:bodyPr wrap="square" lIns="0" tIns="0" rIns="0" bIns="0" rtlCol="0" anchor="t"/>
          <a:lstStyle/>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Inicio efectivo del ADC: al entrar en muestreo se reinicia el modulador ΔΣ, con un retardo fijo y común nunca calibrado</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Deriva relativa de los relojes durante la captura</a:t>
            </a:r>
            <a:endParaRPr lang="en-US" sz="1125" dirty="0"/>
          </a:p>
        </p:txBody>
      </p:sp>
      <p:sp>
        <p:nvSpPr>
          <p:cNvPr id="35" name="Cabecera Experimentos pendientes [s3]"/>
          <p:cNvSpPr/>
          <p:nvPr/>
        </p:nvSpPr>
        <p:spPr>
          <a:xfrm>
            <a:off x="5934215" y="1561458"/>
            <a:ext cx="2243649" cy="360586"/>
          </a:xfrm>
          <a:prstGeom prst="rect">
            <a:avLst/>
          </a:prstGeom>
          <a:solidFill>
            <a:srgbClr val="2E75B6"/>
          </a:solidFill>
          <a:ln w="6350">
            <a:solidFill>
              <a:srgbClr val="2E75B6"/>
            </a:solidFill>
            <a:prstDash val="solid"/>
          </a:ln>
        </p:spPr>
      </p:sp>
      <p:sp>
        <p:nvSpPr>
          <p:cNvPr id="36" name="Elemento [s3]"/>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Experimentos pendientes</a:t>
            </a:r>
            <a:endParaRPr lang="en-US" sz="1260" dirty="0"/>
          </a:p>
        </p:txBody>
      </p:sp>
      <p:sp>
        <p:nvSpPr>
          <p:cNvPr id="37" name="Tarjeta Experimentos pendientes [s3]"/>
          <p:cNvSpPr/>
          <p:nvPr/>
        </p:nvSpPr>
        <p:spPr>
          <a:xfrm>
            <a:off x="5934215" y="1922045"/>
            <a:ext cx="2243649" cy="2203584"/>
          </a:xfrm>
          <a:prstGeom prst="rect">
            <a:avLst/>
          </a:prstGeom>
          <a:solidFill>
            <a:srgbClr val="FFFFFF"/>
          </a:solidFill>
          <a:ln w="16694">
            <a:solidFill>
              <a:srgbClr val="2E75B6"/>
            </a:solidFill>
            <a:prstDash val="solid"/>
          </a:ln>
        </p:spPr>
      </p:sp>
      <p:sp>
        <p:nvSpPr>
          <p:cNvPr id="38" name="Elemento [s3]"/>
          <p:cNvSpPr txBox="1"/>
          <p:nvPr/>
        </p:nvSpPr>
        <p:spPr>
          <a:xfrm>
            <a:off x="6030372" y="1986149"/>
            <a:ext cx="2051336" cy="2075375"/>
          </a:xfrm>
          <a:prstGeom prst="rect">
            <a:avLst/>
          </a:prstGeom>
          <a:noFill/>
          <a:ln/>
        </p:spPr>
        <p:txBody>
          <a:bodyPr wrap="square" lIns="0" tIns="0" rIns="0" bIns="0" rtlCol="0" anchor="t"/>
          <a:lstStyle/>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Señal de referencia común a todos los nodos y fase relativa entre trazas</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Nodos separados decenas de metros</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Repetibilidad, nº de nodos, temperatura, canal Wi-Fi</a:t>
            </a:r>
            <a:endParaRPr lang="en-US" sz="1125" dirty="0"/>
          </a:p>
        </p:txBody>
      </p:sp>
      <p:sp>
        <p:nvSpPr>
          <p:cNvPr id="39" name="Fondo E_fsi [s4]"/>
          <p:cNvSpPr/>
          <p:nvPr/>
        </p:nvSpPr>
        <p:spPr>
          <a:xfrm>
            <a:off x="966136" y="1561458"/>
            <a:ext cx="3525734"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0" name="Ecuación E_fsi [s4]"/>
              <p:cNvSpPr txBox="1"/>
              <p:nvPr/>
            </p:nvSpPr>
            <p:spPr>
              <a:xfrm>
                <a:off x="966136" y="1561458"/>
                <a:ext cx="3525734"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f</m:t>
                          </m:r>
                        </m:e>
                        <m:sub>
                          <m:r>
                            <a:rPr lang="es-ES" sz="2500" i="1">
                              <a:solidFill>
                                <a:srgbClr val="1F4E79"/>
                              </a:solidFill>
                              <a:latin typeface="Cambria Math" panose="02040503050406030204" pitchFamily="18" charset="0"/>
                            </a:rPr>
                            <m:t xml:space="preserve">s,i</m:t>
                          </m:r>
                        </m:sub>
                      </m:sSub>
                      <m:r>
                        <a:rPr lang="es-ES" sz="2500" i="1">
                          <a:solidFill>
                            <a:srgbClr val="1F4E79"/>
                          </a:solidFill>
                          <a:latin typeface="Cambria Math" panose="02040503050406030204" pitchFamily="18" charset="0"/>
                        </a:rPr>
                        <m:t xml:space="preserve">=</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f</m:t>
                          </m:r>
                        </m:e>
                        <m:sub>
                          <m:r>
                            <a:rPr lang="es-ES" sz="2500" i="1">
                              <a:solidFill>
                                <a:srgbClr val="1F4E79"/>
                              </a:solidFill>
                              <a:latin typeface="Cambria Math" panose="02040503050406030204" pitchFamily="18" charset="0"/>
                            </a:rPr>
                            <m:t xml:space="preserve">s</m:t>
                          </m:r>
                        </m:sub>
                      </m:sSub>
                      <m:r>
                        <a:rPr lang="es-ES" sz="2500" i="1">
                          <a:solidFill>
                            <a:srgbClr val="1F4E79"/>
                          </a:solidFill>
                          <a:latin typeface="Cambria Math" panose="02040503050406030204" pitchFamily="18" charset="0"/>
                        </a:rPr>
                        <m:t xml:space="preserve">(1+</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ε</m:t>
                          </m:r>
                        </m:e>
                        <m:sub>
                          <m:r>
                            <a:rPr lang="es-ES" sz="2500" i="1">
                              <a:solidFill>
                                <a:srgbClr val="1F4E79"/>
                              </a:solidFill>
                              <a:latin typeface="Cambria Math" panose="02040503050406030204" pitchFamily="18" charset="0"/>
                            </a:rPr>
                            <m:t xml:space="preserve">i</m:t>
                          </m:r>
                        </m:sub>
                      </m:sSub>
                      <m:r>
                        <a:rPr lang="es-ES" sz="2500" i="1">
                          <a:solidFill>
                            <a:srgbClr val="1F4E79"/>
                          </a:solidFill>
                          <a:latin typeface="Cambria Math" panose="02040503050406030204" pitchFamily="18" charset="0"/>
                        </a:rPr>
                        <m:t xml:space="preserve">)</m:t>
                      </m:r>
                    </m:oMath>
                  </m:oMathPara>
                </a14:m>
                <a:endParaRPr lang="es-ES"/>
              </a:p>
            </p:txBody>
          </p:sp>
        </mc:Choice>
        <mc:Fallback>
          <p:sp>
            <p:nvSpPr>
              <p:cNvPr id="40" name="Ecuación E_fsi [s4]"/>
              <p:cNvSpPr txBox="1"/>
              <p:nvPr/>
            </p:nvSpPr>
            <p:spPr>
              <a:xfrm>
                <a:off x="966136" y="1561458"/>
                <a:ext cx="3525734"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fs,i = fs(1 + εi)</a:t>
                </a:r>
                <a:endParaRPr lang="en-US" sz="2159" dirty="0"/>
              </a:p>
            </p:txBody>
          </p:sp>
        </mc:Fallback>
      </mc:AlternateContent>
      <p:sp>
        <p:nvSpPr>
          <p:cNvPr id="41" name="Fondo E_tin [s4]"/>
          <p:cNvSpPr/>
          <p:nvPr/>
        </p:nvSpPr>
        <p:spPr>
          <a:xfrm>
            <a:off x="4652130" y="1561458"/>
            <a:ext cx="3525734"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2" name="Ecuación E_tin [s4]"/>
              <p:cNvSpPr txBox="1"/>
              <p:nvPr/>
            </p:nvSpPr>
            <p:spPr>
              <a:xfrm>
                <a:off x="4652130" y="1561458"/>
                <a:ext cx="3525734"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t</m:t>
                          </m:r>
                        </m:e>
                        <m:sub>
                          <m:r>
                            <a:rPr lang="es-ES" sz="2500" i="1">
                              <a:solidFill>
                                <a:srgbClr val="1F4E79"/>
                              </a:solidFill>
                              <a:latin typeface="Cambria Math" panose="02040503050406030204" pitchFamily="18" charset="0"/>
                            </a:rPr>
                            <m:t xml:space="preserve">i</m:t>
                          </m:r>
                        </m:sub>
                      </m:sSub>
                      <m:r>
                        <a:rPr lang="es-ES" sz="2500" i="1">
                          <a:solidFill>
                            <a:srgbClr val="1F4E79"/>
                          </a:solidFill>
                          <a:latin typeface="Cambria Math" panose="02040503050406030204" pitchFamily="18" charset="0"/>
                        </a:rPr>
                        <m:t xml:space="preserve">[n]=</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t</m:t>
                          </m:r>
                        </m:e>
                        <m:sub>
                          <m:r>
                            <a:rPr lang="es-ES" sz="2500" i="1">
                              <a:solidFill>
                                <a:srgbClr val="1F4E79"/>
                              </a:solidFill>
                              <a:latin typeface="Cambria Math" panose="02040503050406030204" pitchFamily="18" charset="0"/>
                            </a:rPr>
                            <m:t xml:space="preserve">0,i</m:t>
                          </m:r>
                        </m:sub>
                      </m:sSub>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n</m:t>
                          </m:r>
                        </m:num>
                        <m:den>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f</m:t>
                              </m:r>
                            </m:e>
                            <m:sub>
                              <m:r>
                                <a:rPr lang="es-ES" sz="2500" i="1">
                                  <a:solidFill>
                                    <a:srgbClr val="1F4E79"/>
                                  </a:solidFill>
                                  <a:latin typeface="Cambria Math" panose="02040503050406030204" pitchFamily="18" charset="0"/>
                                </a:rPr>
                                <m:t xml:space="preserve">s</m:t>
                              </m:r>
                            </m:sub>
                          </m:sSub>
                          <m:r>
                            <a:rPr lang="es-ES" sz="2500" i="1">
                              <a:solidFill>
                                <a:srgbClr val="1F4E79"/>
                              </a:solidFill>
                              <a:latin typeface="Cambria Math" panose="02040503050406030204" pitchFamily="18" charset="0"/>
                            </a:rPr>
                            <m:t xml:space="preserve">(1+</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ε</m:t>
                              </m:r>
                            </m:e>
                            <m:sub>
                              <m:r>
                                <a:rPr lang="es-ES" sz="2500" i="1">
                                  <a:solidFill>
                                    <a:srgbClr val="1F4E79"/>
                                  </a:solidFill>
                                  <a:latin typeface="Cambria Math" panose="02040503050406030204" pitchFamily="18" charset="0"/>
                                </a:rPr>
                                <m:t xml:space="preserve">i</m:t>
                              </m:r>
                            </m:sub>
                          </m:sSub>
                          <m:r>
                            <a:rPr lang="es-ES" sz="2500" i="1">
                              <a:solidFill>
                                <a:srgbClr val="1F4E79"/>
                              </a:solidFill>
                              <a:latin typeface="Cambria Math" panose="02040503050406030204" pitchFamily="18" charset="0"/>
                            </a:rPr>
                            <m:t xml:space="preserve">)</m:t>
                          </m:r>
                        </m:den>
                      </m:f>
                    </m:oMath>
                  </m:oMathPara>
                </a14:m>
                <a:endParaRPr lang="es-ES"/>
              </a:p>
            </p:txBody>
          </p:sp>
        </mc:Choice>
        <mc:Fallback>
          <p:sp>
            <p:nvSpPr>
              <p:cNvPr id="42" name="Ecuación E_tin [s4]"/>
              <p:cNvSpPr txBox="1"/>
              <p:nvPr/>
            </p:nvSpPr>
            <p:spPr>
              <a:xfrm>
                <a:off x="4652130" y="1561458"/>
                <a:ext cx="3525734"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ti[n] = t0,i + n / (fs(1 + εi))</a:t>
                </a:r>
                <a:endParaRPr lang="en-US" sz="2159" dirty="0"/>
              </a:p>
            </p:txBody>
          </p:sp>
        </mc:Fallback>
      </mc:AlternateContent>
      <p:sp>
        <p:nvSpPr>
          <p:cNvPr id="43" name="Fondo E_drift [s4]"/>
          <p:cNvSpPr/>
          <p:nvPr/>
        </p:nvSpPr>
        <p:spPr>
          <a:xfrm>
            <a:off x="966136" y="2362761"/>
            <a:ext cx="3525734" cy="64104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4" name="Ecuación E_drift [s4]"/>
              <p:cNvSpPr txBox="1"/>
              <p:nvPr/>
            </p:nvSpPr>
            <p:spPr>
              <a:xfrm>
                <a:off x="966136" y="2362761"/>
                <a:ext cx="3525734" cy="64104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Δt=</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ε</m:t>
                          </m:r>
                        </m:e>
                        <m:sub>
                          <m:r>
                            <m:rPr>
                              <m:sty m:val="p"/>
                            </m:rPr>
                            <a:rPr lang="es-ES" sz="2500">
                              <a:solidFill>
                                <a:srgbClr val="1F4E79"/>
                              </a:solidFill>
                              <a:latin typeface="Cambria Math" panose="02040503050406030204" pitchFamily="18" charset="0"/>
                            </a:rPr>
                            <m:t xml:space="preserve">rel</m:t>
                          </m:r>
                        </m:sub>
                      </m:sSub>
                      <m:r>
                        <a:rPr lang="es-ES" sz="2500" i="1">
                          <a:solidFill>
                            <a:srgbClr val="1F4E79"/>
                          </a:solidFill>
                          <a:latin typeface="Cambria Math" panose="02040503050406030204" pitchFamily="18" charset="0"/>
                        </a:rPr>
                        <m:t xml:space="preserve">·T</m:t>
                      </m:r>
                    </m:oMath>
                  </m:oMathPara>
                </a14:m>
                <a:endParaRPr lang="es-ES"/>
              </a:p>
            </p:txBody>
          </p:sp>
        </mc:Choice>
        <mc:Fallback>
          <p:sp>
            <p:nvSpPr>
              <p:cNvPr id="44" name="Ecuación E_drift [s4]"/>
              <p:cNvSpPr txBox="1"/>
              <p:nvPr/>
            </p:nvSpPr>
            <p:spPr>
              <a:xfrm>
                <a:off x="966136" y="2362761"/>
                <a:ext cx="3525734" cy="64104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Δt = ε_rel · T</a:t>
                </a:r>
                <a:endParaRPr lang="en-US" sz="2159" dirty="0"/>
              </a:p>
            </p:txBody>
          </p:sp>
        </mc:Fallback>
      </mc:AlternateContent>
      <p:graphicFrame>
        <p:nvGraphicFramePr>
          <p:cNvPr id="21" name="Tabla de deriva [s4]"/>
          <p:cNvGraphicFramePr>
            <a:graphicFrameLocks noGrp="1"/>
          </p:cNvGraphicFramePr>
          <p:nvPr>
            <p:extLst>
              <p:ext uri="{D42A27DB-BD31-4B8C-83A1-F6EECF244321}">
                <p14:modId xmlns:p14="http://schemas.microsoft.com/office/powerpoint/2010/main" val="1579011935"/>
              </p:ext>
            </p:extLst>
          </p:nvPr>
        </p:nvGraphicFramePr>
        <p:xfrm>
          <a:off x="4652130" y="2362761"/>
          <a:ext cx="3525734" cy="914400"/>
        </p:xfrm>
        <a:graphic>
          <a:graphicData uri="http://schemas.openxmlformats.org/drawingml/2006/table">
            <a:tbl>
              <a:tblPr/>
              <a:tblGrid>
                <a:gridCol w="1121824"/>
                <a:gridCol w="1201955"/>
                <a:gridCol w="1201955"/>
              </a:tblGrid>
              <a:tr h="240391">
                <a:tc>
                  <a:txBody>
                    <a:bodyPr/>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080" i="1">
                                  <a:solidFill>
                                    <a:srgbClr val="FFFFFF"/>
                                  </a:solidFill>
                                  <a:latin typeface="Cambria Math" panose="02040503050406030204" pitchFamily="18" charset="0"/>
                                </a:rPr>
                                <m:t xml:space="preserve">ε</m:t>
                              </m:r>
                            </m:oMath>
                          </a14:m>
                        </mc:Choice>
                        <mc:Fallback>
                          <a:r>
                            <a:rPr lang="en-US" sz="1080" b="1" dirty="0">
                              <a:solidFill>
                                <a:srgbClr val="FFFFFF"/>
                              </a:solidFill>
                              <a:latin typeface="Arial" pitchFamily="34" charset="0"/>
                              <a:ea typeface="Arial" pitchFamily="34" charset="-122"/>
                              <a:cs typeface="Arial" pitchFamily="34" charset="-120"/>
                            </a:rPr>
                            <a:t>ε</a:t>
                          </a:r>
                        </mc:Fallback>
                      </mc:AlternateContent>
                      <a:r>
                        <a:rPr lang="en-US" sz="1080" b="1" dirty="0">
                          <a:solidFill>
                            <a:srgbClr val="FFFFFF"/>
                          </a:solidFill>
                          <a:latin typeface="Arial" pitchFamily="34" charset="0"/>
                          <a:ea typeface="Arial" pitchFamily="34" charset="-122"/>
                          <a:cs typeface="Arial" pitchFamily="34" charset="-120"/>
                        </a:rPr>
                        <a:t> relativo</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T = 1 s</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T = 10 s</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40391">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10 ppm</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10 µs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100 µs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40391">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50 ppm</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50 µs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500 µs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6" name="Cuerpo [s4]"/>
          <p:cNvSpPr txBox="1"/>
          <p:nvPr/>
        </p:nvSpPr>
        <p:spPr>
          <a:xfrm>
            <a:off x="966136" y="3484586"/>
            <a:ext cx="7211728" cy="961564"/>
          </a:xfrm>
          <a:prstGeom prst="rect">
            <a:avLst/>
          </a:prstGeom>
          <a:noFill/>
          <a:ln/>
        </p:spPr>
        <p:txBody>
          <a:bodyPr wrap="square" lIns="0" tIns="0" rIns="0" bIns="0" rtlCol="0" anchor="t"/>
          <a:lstStyle/>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Dos relojes que difieren en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ε</m:t>
                    </m:r>
                  </m:oMath>
                </a14:m>
              </mc:Choice>
              <mc:Fallback>
                <a:r>
                  <a:rPr lang="en-US" sz="1260" dirty="0">
                    <a:solidFill>
                      <a:srgbClr val="2D2D2D"/>
                    </a:solidFill>
                    <a:latin typeface="Arial" pitchFamily="34" charset="0"/>
                    <a:ea typeface="Arial" pitchFamily="34" charset="-122"/>
                    <a:cs typeface="Arial" pitchFamily="34" charset="-120"/>
                  </a:rPr>
                  <a:t>ε</a:t>
                </a:r>
              </mc:Fallback>
            </mc:AlternateContent>
            <a:r>
              <a:rPr lang="en-US" sz="1260" dirty="0">
                <a:solidFill>
                  <a:srgbClr val="2D2D2D"/>
                </a:solidFill>
                <a:latin typeface="Arial" pitchFamily="34" charset="0"/>
                <a:ea typeface="Arial" pitchFamily="34" charset="-122"/>
                <a:cs typeface="Arial" pitchFamily="34" charset="-120"/>
              </a:rPr>
              <a:t> se separan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ε</m:t>
                    </m:r>
                  </m:oMath>
                </a14:m>
              </mc:Choice>
              <mc:Fallback>
                <a:r>
                  <a:rPr lang="en-US" sz="1260" dirty="0">
                    <a:solidFill>
                      <a:srgbClr val="2D2D2D"/>
                    </a:solidFill>
                    <a:latin typeface="Arial" pitchFamily="34" charset="0"/>
                    <a:ea typeface="Arial" pitchFamily="34" charset="-122"/>
                    <a:cs typeface="Arial" pitchFamily="34" charset="-120"/>
                  </a:rPr>
                  <a:t>ε</a:t>
                </a:r>
              </mc:Fallback>
            </mc:AlternateContent>
            <a:r>
              <a:rPr lang="en-US" sz="1260" dirty="0">
                <a:solidFill>
                  <a:srgbClr val="2D2D2D"/>
                </a:solidFill>
                <a:latin typeface="Arial" pitchFamily="34" charset="0"/>
                <a:ea typeface="Arial" pitchFamily="34" charset="-122"/>
                <a:cs typeface="Arial" pitchFamily="34" charset="-120"/>
              </a:rPr>
              <a:t>·T al cabo de T</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Con 50 ppm y 10 s, la deriva (500 µs) supera al jitter de inicio</a:t>
            </a:r>
            <a:endParaRPr lang="en-US" sz="1260" dirty="0"/>
          </a:p>
          <a:p>
            <a:pPr marL="342900" indent="-342900">
              <a:spcAft>
                <a:spcPts val="540"/>
              </a:spcAft>
              <a:buSzPct val="100000"/>
              <a:buChar char="•"/>
            </a:pPr>
            <a:r>
              <a:rPr lang="en-US" sz="1260" dirty="0">
                <a:solidFill>
                  <a:srgbClr val="2D2D2D"/>
                </a:solidFill>
                <a:latin typeface="Arial" pitchFamily="34" charset="0"/>
                <a:ea typeface="Arial" pitchFamily="34" charset="-122"/>
                <a:cs typeface="Arial" pitchFamily="34" charset="-120"/>
              </a:rPr>
              <a:t>Falta saber si el reloj del ADC es un cristal o el oscilador interno</a:t>
            </a:r>
            <a:endParaRPr lang="en-US" sz="1260" dirty="0"/>
          </a:p>
        </p:txBody>
      </p:sp>
      <p:sp>
        <p:nvSpPr>
          <p:cNvPr id="47" name="Elemento [s4]"/>
          <p:cNvSpPr txBox="1"/>
          <p:nvPr/>
        </p:nvSpPr>
        <p:spPr>
          <a:xfrm>
            <a:off x="4652130" y="3164065"/>
            <a:ext cx="3525734"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TABLA ILUSTRATIVA: </a:t>
            </a:r>
            <mc:AlternateContent xmlns:mc="http://schemas.openxmlformats.org/markup-compatibility/2006">
              <mc:Choice xmlns:a14="http://schemas.microsoft.com/office/drawing/2010/main" Requires="a14">
                <a14:m>
                  <m:oMath xmlns:m="http://schemas.openxmlformats.org/officeDocument/2006/math">
                    <m:r>
                      <a:rPr lang="es-ES" sz="900" i="1">
                        <a:solidFill>
                          <a:srgbClr val="C55A11"/>
                        </a:solidFill>
                        <a:latin typeface="Cambria Math" panose="02040503050406030204" pitchFamily="18" charset="0"/>
                      </a:rPr>
                      <m:t xml:space="preserve">ε</m:t>
                    </m:r>
                  </m:oMath>
                </a14:m>
              </mc:Choice>
              <mc:Fallback>
                <a:r>
                  <a:rPr lang="en-US" sz="900" b="1" dirty="0">
                    <a:solidFill>
                      <a:srgbClr val="C55A11"/>
                    </a:solidFill>
                    <a:latin typeface="Arial" pitchFamily="34" charset="0"/>
                    <a:ea typeface="Arial" pitchFamily="34" charset="-122"/>
                    <a:cs typeface="Arial" pitchFamily="34" charset="-120"/>
                  </a:rPr>
                  <a:t>ε</a:t>
                </a:r>
              </mc:Fallback>
            </mc:AlternateContent>
            <a:r>
              <a:rPr lang="en-US" sz="900" b="1" dirty="0">
                <a:solidFill>
                  <a:srgbClr val="C55A11"/>
                </a:solidFill>
                <a:latin typeface="Arial" pitchFamily="34" charset="0"/>
                <a:ea typeface="Arial" pitchFamily="34" charset="-122"/>
                <a:cs typeface="Arial" pitchFamily="34" charset="-120"/>
              </a:rPr>
              <a:t> NO MEDIDO</a:t>
            </a:r>
            <a:endParaRPr lang="en-US" sz="900" dirty="0"/>
          </a:p>
        </p:txBody>
      </p:sp>
      <p:sp>
        <p:nvSpPr>
          <p:cNvPr id="48"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disparo se prepara en dos pasos y se ejecuta con una sola orden por broadcast</a:t>
            </a:r>
            <a:endParaRPr lang="en-US" sz="1400" dirty="0"/>
          </a:p>
        </p:txBody>
      </p:sp>
      <p:sp>
        <p:nvSpPr>
          <p:cNvPr id="49"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10); resumen firmado, sec. 4.8 y fig. 12.</a:t>
            </a:r>
            <a:endParaRPr lang="en-US" sz="800" dirty="0"/>
          </a:p>
        </p:txBody>
      </p:sp>
      <p:sp>
        <p:nvSpPr>
          <p:cNvPr id="50"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disparo va por broadcast: el unicast agrega retransmisiones distintas en cada nodo</a:t>
            </a:r>
            <a:endParaRPr lang="en-US" sz="1400" dirty="0"/>
          </a:p>
        </p:txBody>
      </p:sp>
      <p:sp>
        <p:nvSpPr>
          <p:cNvPr id="51"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04_arquitectura.tex (sec. broadcast vs unicast); comportamiento de ACK en unicast: estándar 802.11.</a:t>
            </a:r>
            <a:endParaRPr lang="en-US" sz="800" dirty="0"/>
          </a:p>
        </p:txBody>
      </p:sp>
      <p:sp>
        <p:nvSpPr>
          <p:cNvPr id="52"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jitter se mide con un disparo falso y un osciloscopio: 128 órdenes, 200 a 400 µs</a:t>
            </a:r>
            <a:endParaRPr lang="en-US" sz="1400" dirty="0"/>
          </a:p>
        </p:txBody>
      </p:sp>
      <p:sp>
        <p:nvSpPr>
          <p:cNvPr id="53"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documento de tesis, 04_arquitectura.tex (método, resultado y límites).</a:t>
            </a:r>
            <a:endParaRPr lang="en-US" sz="800" dirty="0"/>
          </a:p>
        </p:txBody>
      </p:sp>
      <p:sp>
        <p:nvSpPr>
          <p:cNvPr id="54"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Esta medición no incluye el inicio real del ADC ni la deriva posterior</a:t>
            </a:r>
            <a:endParaRPr lang="en-US" sz="1400" dirty="0"/>
          </a:p>
        </p:txBody>
      </p:sp>
      <p:sp>
        <p:nvSpPr>
          <p:cNvPr id="55"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 y 5; documento de tesis, 04_arquitectura.tex (limitaciones). La señal de referencia común es propuesta propia.</a:t>
            </a:r>
            <a:endParaRPr lang="en-US" sz="800" dirty="0"/>
          </a:p>
        </p:txBody>
      </p:sp>
      <p:sp>
        <p:nvSpPr>
          <p:cNvPr id="56" name="Encabezado [s4]"/>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Tras el disparo, cada nodo muestrea con su reloj local y la deriva se acumula</a:t>
            </a:r>
            <a:endParaRPr lang="en-US" sz="1400" dirty="0"/>
          </a:p>
        </p:txBody>
      </p:sp>
      <p:sp>
        <p:nvSpPr>
          <p:cNvPr id="57" name="Cita [s4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ec. 16 y 17. Valores de </a:t>
            </a:r>
            <mc:AlternateContent xmlns:mc="http://schemas.openxmlformats.org/markup-compatibility/2006">
              <mc:Choice xmlns:a14="http://schemas.microsoft.com/office/drawing/2010/main" Requires="a14">
                <a14:m>
                  <m:oMath xmlns:m="http://schemas.openxmlformats.org/officeDocument/2006/math">
                    <m:r>
                      <a:rPr lang="es-ES" sz="800" i="1">
                        <a:solidFill>
                          <a:srgbClr val="6B6B6B"/>
                        </a:solidFill>
                        <a:latin typeface="Cambria Math" panose="02040503050406030204" pitchFamily="18" charset="0"/>
                      </a:rPr>
                      <m:t xml:space="preserve">ε</m:t>
                    </m:r>
                  </m:oMath>
                </a14:m>
              </mc:Choice>
              <mc:Fallback>
                <a:r>
                  <a:rPr lang="en-US" sz="800" dirty="0">
                    <a:solidFill>
                      <a:srgbClr val="6B6B6B"/>
                    </a:solidFill>
                    <a:latin typeface="Arial" pitchFamily="34" charset="0"/>
                    <a:ea typeface="Arial" pitchFamily="34" charset="-122"/>
                    <a:cs typeface="Arial" pitchFamily="34" charset="-120"/>
                  </a:rPr>
                  <a:t>ε</a:t>
                </a:r>
              </mc:Fallback>
            </mc:AlternateContent>
            <a:r>
              <a:rPr lang="en-US" sz="800" dirty="0">
                <a:solidFill>
                  <a:srgbClr val="6B6B6B"/>
                </a:solidFill>
                <a:latin typeface="Arial" pitchFamily="34" charset="0"/>
                <a:ea typeface="Arial" pitchFamily="34" charset="-122"/>
                <a:cs typeface="Arial" pitchFamily="34" charset="-120"/>
              </a:rPr>
              <a:t>: ilustrativos (cristales típicos de decenas de ppm), no medidos en el sistema.</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308" fill="hold">
                      <p:stCondLst>
                        <p:cond delay="indefinite"/>
                      </p:stCondLst>
                      <p:childTnLst>
                        <p:par>
                          <p:cTn id="4309" fill="hold">
                            <p:stCondLst>
                              <p:cond delay="0"/>
                            </p:stCondLst>
                            <p:childTnLst>
                              <p:par>
                                <p:cTn id="4251" presetID="10" presetClass="exit" presetSubtype="0" fill="hold" nodeType="clickEffect">
                                  <p:stCondLst>
                                    <p:cond delay="0"/>
                                  </p:stCondLst>
                                  <p:childTnLst>
                                    <p:animEffect transition="out" filter="fade">
                                      <p:cBhvr>
                                        <p:cTn id="4252" dur="400"/>
                                        <p:tgtEl>
                                          <p:spTgt spid="3"/>
                                        </p:tgtEl>
                                      </p:cBhvr>
                                    </p:animEffect>
                                    <p:set>
                                      <p:cBhvr>
                                        <p:cTn id="4253" dur="1" fill="hold">
                                          <p:stCondLst>
                                            <p:cond delay="399"/>
                                          </p:stCondLst>
                                        </p:cTn>
                                        <p:tgtEl>
                                          <p:spTgt spid="3"/>
                                        </p:tgtEl>
                                        <p:attrNameLst>
                                          <p:attrName>style.visibility</p:attrName>
                                        </p:attrNameLst>
                                      </p:cBhvr>
                                      <p:to>
                                        <p:strVal val="hidden"/>
                                      </p:to>
                                    </p:set>
                                  </p:childTnLst>
                                </p:cTn>
                              </p:par>
                              <p:par>
                                <p:cTn id="4254" presetID="10" presetClass="exit" presetSubtype="0" fill="hold" nodeType="withEffect">
                                  <p:stCondLst>
                                    <p:cond delay="0"/>
                                  </p:stCondLst>
                                  <p:childTnLst>
                                    <p:animEffect transition="out" filter="fade">
                                      <p:cBhvr>
                                        <p:cTn id="4255" dur="400"/>
                                        <p:tgtEl>
                                          <p:spTgt spid="48"/>
                                        </p:tgtEl>
                                      </p:cBhvr>
                                    </p:animEffect>
                                    <p:set>
                                      <p:cBhvr>
                                        <p:cTn id="4256" dur="1" fill="hold">
                                          <p:stCondLst>
                                            <p:cond delay="399"/>
                                          </p:stCondLst>
                                        </p:cTn>
                                        <p:tgtEl>
                                          <p:spTgt spid="48"/>
                                        </p:tgtEl>
                                        <p:attrNameLst>
                                          <p:attrName>style.visibility</p:attrName>
                                        </p:attrNameLst>
                                      </p:cBhvr>
                                      <p:to>
                                        <p:strVal val="hidden"/>
                                      </p:to>
                                    </p:set>
                                  </p:childTnLst>
                                </p:cTn>
                              </p:par>
                              <p:par>
                                <p:cTn id="4257" presetID="10" presetClass="exit" presetSubtype="0" fill="hold" nodeType="withEffect">
                                  <p:stCondLst>
                                    <p:cond delay="0"/>
                                  </p:stCondLst>
                                  <p:childTnLst>
                                    <p:animEffect transition="out" filter="fade">
                                      <p:cBhvr>
                                        <p:cTn id="4258" dur="400"/>
                                        <p:tgtEl>
                                          <p:spTgt spid="49"/>
                                        </p:tgtEl>
                                      </p:cBhvr>
                                    </p:animEffect>
                                    <p:set>
                                      <p:cBhvr>
                                        <p:cTn id="4259" dur="1" fill="hold">
                                          <p:stCondLst>
                                            <p:cond delay="399"/>
                                          </p:stCondLst>
                                        </p:cTn>
                                        <p:tgtEl>
                                          <p:spTgt spid="49"/>
                                        </p:tgtEl>
                                        <p:attrNameLst>
                                          <p:attrName>style.visibility</p:attrName>
                                        </p:attrNameLst>
                                      </p:cBhvr>
                                      <p:to>
                                        <p:strVal val="hidden"/>
                                      </p:to>
                                    </p:set>
                                  </p:childTnLst>
                                </p:cTn>
                              </p:par>
                              <p:par>
                                <p:cTn id="4260" presetID="10" presetClass="entr" presetSubtype="0" fill="hold" nodeType="withEffect">
                                  <p:stCondLst>
                                    <p:cond delay="200"/>
                                  </p:stCondLst>
                                  <p:childTnLst>
                                    <p:set>
                                      <p:cBhvr>
                                        <p:cTn id="4261" dur="1" fill="hold">
                                          <p:stCondLst>
                                            <p:cond delay="0"/>
                                          </p:stCondLst>
                                        </p:cTn>
                                        <p:tgtEl>
                                          <p:spTgt spid="4"/>
                                        </p:tgtEl>
                                        <p:attrNameLst>
                                          <p:attrName>style.visibility</p:attrName>
                                        </p:attrNameLst>
                                      </p:cBhvr>
                                      <p:to>
                                        <p:strVal val="visible"/>
                                      </p:to>
                                    </p:set>
                                    <p:animEffect transition="in" filter="fade">
                                      <p:cBhvr>
                                        <p:cTn id="4262" dur="500"/>
                                        <p:tgtEl>
                                          <p:spTgt spid="4"/>
                                        </p:tgtEl>
                                      </p:cBhvr>
                                    </p:animEffect>
                                  </p:childTnLst>
                                </p:cTn>
                              </p:par>
                              <p:par>
                                <p:cTn id="4263" presetID="10" presetClass="entr" presetSubtype="0" fill="hold" nodeType="withEffect">
                                  <p:stCondLst>
                                    <p:cond delay="270"/>
                                  </p:stCondLst>
                                  <p:childTnLst>
                                    <p:set>
                                      <p:cBhvr>
                                        <p:cTn id="4264" dur="1" fill="hold">
                                          <p:stCondLst>
                                            <p:cond delay="0"/>
                                          </p:stCondLst>
                                        </p:cTn>
                                        <p:tgtEl>
                                          <p:spTgt spid="5"/>
                                        </p:tgtEl>
                                        <p:attrNameLst>
                                          <p:attrName>style.visibility</p:attrName>
                                        </p:attrNameLst>
                                      </p:cBhvr>
                                      <p:to>
                                        <p:strVal val="visible"/>
                                      </p:to>
                                    </p:set>
                                    <p:animEffect transition="in" filter="fade">
                                      <p:cBhvr>
                                        <p:cTn id="4265" dur="500"/>
                                        <p:tgtEl>
                                          <p:spTgt spid="5"/>
                                        </p:tgtEl>
                                      </p:cBhvr>
                                    </p:animEffect>
                                  </p:childTnLst>
                                </p:cTn>
                              </p:par>
                              <p:par>
                                <p:cTn id="4266" presetID="10" presetClass="entr" presetSubtype="0" fill="hold" nodeType="withEffect">
                                  <p:stCondLst>
                                    <p:cond delay="340"/>
                                  </p:stCondLst>
                                  <p:childTnLst>
                                    <p:set>
                                      <p:cBhvr>
                                        <p:cTn id="4267" dur="1" fill="hold">
                                          <p:stCondLst>
                                            <p:cond delay="0"/>
                                          </p:stCondLst>
                                        </p:cTn>
                                        <p:tgtEl>
                                          <p:spTgt spid="6"/>
                                        </p:tgtEl>
                                        <p:attrNameLst>
                                          <p:attrName>style.visibility</p:attrName>
                                        </p:attrNameLst>
                                      </p:cBhvr>
                                      <p:to>
                                        <p:strVal val="visible"/>
                                      </p:to>
                                    </p:set>
                                    <p:animEffect transition="in" filter="fade">
                                      <p:cBhvr>
                                        <p:cTn id="4268" dur="500"/>
                                        <p:tgtEl>
                                          <p:spTgt spid="6"/>
                                        </p:tgtEl>
                                      </p:cBhvr>
                                    </p:animEffect>
                                  </p:childTnLst>
                                </p:cTn>
                              </p:par>
                              <p:par>
                                <p:cTn id="4269" presetID="10" presetClass="entr" presetSubtype="0" fill="hold" nodeType="withEffect">
                                  <p:stCondLst>
                                    <p:cond delay="410"/>
                                  </p:stCondLst>
                                  <p:childTnLst>
                                    <p:set>
                                      <p:cBhvr>
                                        <p:cTn id="4270" dur="1" fill="hold">
                                          <p:stCondLst>
                                            <p:cond delay="0"/>
                                          </p:stCondLst>
                                        </p:cTn>
                                        <p:tgtEl>
                                          <p:spTgt spid="7"/>
                                        </p:tgtEl>
                                        <p:attrNameLst>
                                          <p:attrName>style.visibility</p:attrName>
                                        </p:attrNameLst>
                                      </p:cBhvr>
                                      <p:to>
                                        <p:strVal val="visible"/>
                                      </p:to>
                                    </p:set>
                                    <p:animEffect transition="in" filter="fade">
                                      <p:cBhvr>
                                        <p:cTn id="4271" dur="500"/>
                                        <p:tgtEl>
                                          <p:spTgt spid="7"/>
                                        </p:tgtEl>
                                      </p:cBhvr>
                                    </p:animEffect>
                                  </p:childTnLst>
                                </p:cTn>
                              </p:par>
                              <p:par>
                                <p:cTn id="4272" presetID="10" presetClass="entr" presetSubtype="0" fill="hold" nodeType="withEffect">
                                  <p:stCondLst>
                                    <p:cond delay="480"/>
                                  </p:stCondLst>
                                  <p:childTnLst>
                                    <p:set>
                                      <p:cBhvr>
                                        <p:cTn id="4273" dur="1" fill="hold">
                                          <p:stCondLst>
                                            <p:cond delay="0"/>
                                          </p:stCondLst>
                                        </p:cTn>
                                        <p:tgtEl>
                                          <p:spTgt spid="8"/>
                                        </p:tgtEl>
                                        <p:attrNameLst>
                                          <p:attrName>style.visibility</p:attrName>
                                        </p:attrNameLst>
                                      </p:cBhvr>
                                      <p:to>
                                        <p:strVal val="visible"/>
                                      </p:to>
                                    </p:set>
                                    <p:animEffect transition="in" filter="fade">
                                      <p:cBhvr>
                                        <p:cTn id="4274" dur="500"/>
                                        <p:tgtEl>
                                          <p:spTgt spid="8"/>
                                        </p:tgtEl>
                                      </p:cBhvr>
                                    </p:animEffect>
                                  </p:childTnLst>
                                </p:cTn>
                              </p:par>
                              <p:par>
                                <p:cTn id="4275" presetID="10" presetClass="entr" presetSubtype="0" fill="hold" nodeType="withEffect">
                                  <p:stCondLst>
                                    <p:cond delay="550"/>
                                  </p:stCondLst>
                                  <p:childTnLst>
                                    <p:set>
                                      <p:cBhvr>
                                        <p:cTn id="4276" dur="1" fill="hold">
                                          <p:stCondLst>
                                            <p:cond delay="0"/>
                                          </p:stCondLst>
                                        </p:cTn>
                                        <p:tgtEl>
                                          <p:spTgt spid="9"/>
                                        </p:tgtEl>
                                        <p:attrNameLst>
                                          <p:attrName>style.visibility</p:attrName>
                                        </p:attrNameLst>
                                      </p:cBhvr>
                                      <p:to>
                                        <p:strVal val="visible"/>
                                      </p:to>
                                    </p:set>
                                    <p:animEffect transition="in" filter="fade">
                                      <p:cBhvr>
                                        <p:cTn id="4277" dur="500"/>
                                        <p:tgtEl>
                                          <p:spTgt spid="9"/>
                                        </p:tgtEl>
                                      </p:cBhvr>
                                    </p:animEffect>
                                  </p:childTnLst>
                                </p:cTn>
                              </p:par>
                              <p:par>
                                <p:cTn id="4278" presetID="10" presetClass="entr" presetSubtype="0" fill="hold" nodeType="withEffect">
                                  <p:stCondLst>
                                    <p:cond delay="620"/>
                                  </p:stCondLst>
                                  <p:childTnLst>
                                    <p:set>
                                      <p:cBhvr>
                                        <p:cTn id="4279" dur="1" fill="hold">
                                          <p:stCondLst>
                                            <p:cond delay="0"/>
                                          </p:stCondLst>
                                        </p:cTn>
                                        <p:tgtEl>
                                          <p:spTgt spid="10"/>
                                        </p:tgtEl>
                                        <p:attrNameLst>
                                          <p:attrName>style.visibility</p:attrName>
                                        </p:attrNameLst>
                                      </p:cBhvr>
                                      <p:to>
                                        <p:strVal val="visible"/>
                                      </p:to>
                                    </p:set>
                                    <p:animEffect transition="in" filter="fade">
                                      <p:cBhvr>
                                        <p:cTn id="4280" dur="500"/>
                                        <p:tgtEl>
                                          <p:spTgt spid="10"/>
                                        </p:tgtEl>
                                      </p:cBhvr>
                                    </p:animEffect>
                                  </p:childTnLst>
                                </p:cTn>
                              </p:par>
                              <p:par>
                                <p:cTn id="4281" presetID="10" presetClass="entr" presetSubtype="0" fill="hold" nodeType="withEffect">
                                  <p:stCondLst>
                                    <p:cond delay="690"/>
                                  </p:stCondLst>
                                  <p:childTnLst>
                                    <p:set>
                                      <p:cBhvr>
                                        <p:cTn id="4282" dur="1" fill="hold">
                                          <p:stCondLst>
                                            <p:cond delay="0"/>
                                          </p:stCondLst>
                                        </p:cTn>
                                        <p:tgtEl>
                                          <p:spTgt spid="11"/>
                                        </p:tgtEl>
                                        <p:attrNameLst>
                                          <p:attrName>style.visibility</p:attrName>
                                        </p:attrNameLst>
                                      </p:cBhvr>
                                      <p:to>
                                        <p:strVal val="visible"/>
                                      </p:to>
                                    </p:set>
                                    <p:animEffect transition="in" filter="fade">
                                      <p:cBhvr>
                                        <p:cTn id="4283" dur="500"/>
                                        <p:tgtEl>
                                          <p:spTgt spid="11"/>
                                        </p:tgtEl>
                                      </p:cBhvr>
                                    </p:animEffect>
                                  </p:childTnLst>
                                </p:cTn>
                              </p:par>
                              <p:par>
                                <p:cTn id="4284" presetID="10" presetClass="entr" presetSubtype="0" fill="hold" nodeType="withEffect">
                                  <p:stCondLst>
                                    <p:cond delay="760"/>
                                  </p:stCondLst>
                                  <p:childTnLst>
                                    <p:set>
                                      <p:cBhvr>
                                        <p:cTn id="4285" dur="1" fill="hold">
                                          <p:stCondLst>
                                            <p:cond delay="0"/>
                                          </p:stCondLst>
                                        </p:cTn>
                                        <p:tgtEl>
                                          <p:spTgt spid="12"/>
                                        </p:tgtEl>
                                        <p:attrNameLst>
                                          <p:attrName>style.visibility</p:attrName>
                                        </p:attrNameLst>
                                      </p:cBhvr>
                                      <p:to>
                                        <p:strVal val="visible"/>
                                      </p:to>
                                    </p:set>
                                    <p:animEffect transition="in" filter="fade">
                                      <p:cBhvr>
                                        <p:cTn id="4286" dur="500"/>
                                        <p:tgtEl>
                                          <p:spTgt spid="12"/>
                                        </p:tgtEl>
                                      </p:cBhvr>
                                    </p:animEffect>
                                  </p:childTnLst>
                                </p:cTn>
                              </p:par>
                              <p:par>
                                <p:cTn id="4287" presetID="10" presetClass="entr" presetSubtype="0" fill="hold" nodeType="withEffect">
                                  <p:stCondLst>
                                    <p:cond delay="830"/>
                                  </p:stCondLst>
                                  <p:childTnLst>
                                    <p:set>
                                      <p:cBhvr>
                                        <p:cTn id="4288" dur="1" fill="hold">
                                          <p:stCondLst>
                                            <p:cond delay="0"/>
                                          </p:stCondLst>
                                        </p:cTn>
                                        <p:tgtEl>
                                          <p:spTgt spid="13"/>
                                        </p:tgtEl>
                                        <p:attrNameLst>
                                          <p:attrName>style.visibility</p:attrName>
                                        </p:attrNameLst>
                                      </p:cBhvr>
                                      <p:to>
                                        <p:strVal val="visible"/>
                                      </p:to>
                                    </p:set>
                                    <p:animEffect transition="in" filter="fade">
                                      <p:cBhvr>
                                        <p:cTn id="4289" dur="500"/>
                                        <p:tgtEl>
                                          <p:spTgt spid="13"/>
                                        </p:tgtEl>
                                      </p:cBhvr>
                                    </p:animEffect>
                                  </p:childTnLst>
                                </p:cTn>
                              </p:par>
                              <p:par>
                                <p:cTn id="4290" presetID="10" presetClass="entr" presetSubtype="0" fill="hold" nodeType="withEffect">
                                  <p:stCondLst>
                                    <p:cond delay="900"/>
                                  </p:stCondLst>
                                  <p:childTnLst>
                                    <p:set>
                                      <p:cBhvr>
                                        <p:cTn id="4291" dur="1" fill="hold">
                                          <p:stCondLst>
                                            <p:cond delay="0"/>
                                          </p:stCondLst>
                                        </p:cTn>
                                        <p:tgtEl>
                                          <p:spTgt spid="14"/>
                                        </p:tgtEl>
                                        <p:attrNameLst>
                                          <p:attrName>style.visibility</p:attrName>
                                        </p:attrNameLst>
                                      </p:cBhvr>
                                      <p:to>
                                        <p:strVal val="visible"/>
                                      </p:to>
                                    </p:set>
                                    <p:animEffect transition="in" filter="fade">
                                      <p:cBhvr>
                                        <p:cTn id="4292" dur="500"/>
                                        <p:tgtEl>
                                          <p:spTgt spid="14"/>
                                        </p:tgtEl>
                                      </p:cBhvr>
                                    </p:animEffect>
                                  </p:childTnLst>
                                </p:cTn>
                              </p:par>
                              <p:par>
                                <p:cTn id="4293" presetID="10" presetClass="entr" presetSubtype="0" fill="hold" nodeType="withEffect">
                                  <p:stCondLst>
                                    <p:cond delay="900"/>
                                  </p:stCondLst>
                                  <p:childTnLst>
                                    <p:set>
                                      <p:cBhvr>
                                        <p:cTn id="4294" dur="1" fill="hold">
                                          <p:stCondLst>
                                            <p:cond delay="0"/>
                                          </p:stCondLst>
                                        </p:cTn>
                                        <p:tgtEl>
                                          <p:spTgt spid="15"/>
                                        </p:tgtEl>
                                        <p:attrNameLst>
                                          <p:attrName>style.visibility</p:attrName>
                                        </p:attrNameLst>
                                      </p:cBhvr>
                                      <p:to>
                                        <p:strVal val="visible"/>
                                      </p:to>
                                    </p:set>
                                    <p:animEffect transition="in" filter="fade">
                                      <p:cBhvr>
                                        <p:cTn id="4295" dur="500"/>
                                        <p:tgtEl>
                                          <p:spTgt spid="15"/>
                                        </p:tgtEl>
                                      </p:cBhvr>
                                    </p:animEffect>
                                  </p:childTnLst>
                                </p:cTn>
                              </p:par>
                              <p:par>
                                <p:cTn id="4296" presetID="10" presetClass="entr" presetSubtype="0" fill="hold" nodeType="withEffect">
                                  <p:stCondLst>
                                    <p:cond delay="900"/>
                                  </p:stCondLst>
                                  <p:childTnLst>
                                    <p:set>
                                      <p:cBhvr>
                                        <p:cTn id="4297" dur="1" fill="hold">
                                          <p:stCondLst>
                                            <p:cond delay="0"/>
                                          </p:stCondLst>
                                        </p:cTn>
                                        <p:tgtEl>
                                          <p:spTgt spid="16"/>
                                        </p:tgtEl>
                                        <p:attrNameLst>
                                          <p:attrName>style.visibility</p:attrName>
                                        </p:attrNameLst>
                                      </p:cBhvr>
                                      <p:to>
                                        <p:strVal val="visible"/>
                                      </p:to>
                                    </p:set>
                                    <p:animEffect transition="in" filter="fade">
                                      <p:cBhvr>
                                        <p:cTn id="4298" dur="500"/>
                                        <p:tgtEl>
                                          <p:spTgt spid="16"/>
                                        </p:tgtEl>
                                      </p:cBhvr>
                                    </p:animEffect>
                                  </p:childTnLst>
                                </p:cTn>
                              </p:par>
                              <p:par>
                                <p:cTn id="4299" presetID="10" presetClass="entr" presetSubtype="0" fill="hold" nodeType="withEffect">
                                  <p:stCondLst>
                                    <p:cond delay="900"/>
                                  </p:stCondLst>
                                  <p:childTnLst>
                                    <p:set>
                                      <p:cBhvr>
                                        <p:cTn id="4300" dur="1" fill="hold">
                                          <p:stCondLst>
                                            <p:cond delay="0"/>
                                          </p:stCondLst>
                                        </p:cTn>
                                        <p:tgtEl>
                                          <p:spTgt spid="17"/>
                                        </p:tgtEl>
                                        <p:attrNameLst>
                                          <p:attrName>style.visibility</p:attrName>
                                        </p:attrNameLst>
                                      </p:cBhvr>
                                      <p:to>
                                        <p:strVal val="visible"/>
                                      </p:to>
                                    </p:set>
                                    <p:animEffect transition="in" filter="fade">
                                      <p:cBhvr>
                                        <p:cTn id="4301" dur="500"/>
                                        <p:tgtEl>
                                          <p:spTgt spid="17"/>
                                        </p:tgtEl>
                                      </p:cBhvr>
                                    </p:animEffect>
                                  </p:childTnLst>
                                </p:cTn>
                              </p:par>
                              <p:par>
                                <p:cTn id="4302" presetID="10" presetClass="entr" presetSubtype="0" fill="hold" nodeType="withEffect">
                                  <p:stCondLst>
                                    <p:cond delay="900"/>
                                  </p:stCondLst>
                                  <p:childTnLst>
                                    <p:set>
                                      <p:cBhvr>
                                        <p:cTn id="4303" dur="1" fill="hold">
                                          <p:stCondLst>
                                            <p:cond delay="0"/>
                                          </p:stCondLst>
                                        </p:cTn>
                                        <p:tgtEl>
                                          <p:spTgt spid="50"/>
                                        </p:tgtEl>
                                        <p:attrNameLst>
                                          <p:attrName>style.visibility</p:attrName>
                                        </p:attrNameLst>
                                      </p:cBhvr>
                                      <p:to>
                                        <p:strVal val="visible"/>
                                      </p:to>
                                    </p:set>
                                    <p:animEffect transition="in" filter="fade">
                                      <p:cBhvr>
                                        <p:cTn id="4304" dur="500"/>
                                        <p:tgtEl>
                                          <p:spTgt spid="50"/>
                                        </p:tgtEl>
                                      </p:cBhvr>
                                    </p:animEffect>
                                  </p:childTnLst>
                                </p:cTn>
                              </p:par>
                              <p:par>
                                <p:cTn id="4305" presetID="10" presetClass="entr" presetSubtype="0" fill="hold" nodeType="withEffect">
                                  <p:stCondLst>
                                    <p:cond delay="900"/>
                                  </p:stCondLst>
                                  <p:childTnLst>
                                    <p:set>
                                      <p:cBhvr>
                                        <p:cTn id="4306" dur="1" fill="hold">
                                          <p:stCondLst>
                                            <p:cond delay="0"/>
                                          </p:stCondLst>
                                        </p:cTn>
                                        <p:tgtEl>
                                          <p:spTgt spid="51"/>
                                        </p:tgtEl>
                                        <p:attrNameLst>
                                          <p:attrName>style.visibility</p:attrName>
                                        </p:attrNameLst>
                                      </p:cBhvr>
                                      <p:to>
                                        <p:strVal val="visible"/>
                                      </p:to>
                                    </p:set>
                                    <p:animEffect transition="in" filter="fade">
                                      <p:cBhvr>
                                        <p:cTn id="4307" dur="500"/>
                                        <p:tgtEl>
                                          <p:spTgt spid="51"/>
                                        </p:tgtEl>
                                      </p:cBhvr>
                                    </p:animEffect>
                                  </p:childTnLst>
                                </p:cTn>
                              </p:par>
                            </p:childTnLst>
                          </p:cTn>
                        </p:par>
                      </p:childTnLst>
                    </p:cTn>
                  </p:par>
                  <p:par>
                    <p:cTn id="4391" fill="hold">
                      <p:stCondLst>
                        <p:cond delay="indefinite"/>
                      </p:stCondLst>
                      <p:childTnLst>
                        <p:par>
                          <p:cTn id="4392" fill="hold">
                            <p:stCondLst>
                              <p:cond delay="0"/>
                            </p:stCondLst>
                            <p:childTnLst>
                              <p:par>
                                <p:cTn id="4310" presetID="10" presetClass="exit" presetSubtype="0" fill="hold" nodeType="clickEffect">
                                  <p:stCondLst>
                                    <p:cond delay="0"/>
                                  </p:stCondLst>
                                  <p:childTnLst>
                                    <p:animEffect transition="out" filter="fade">
                                      <p:cBhvr>
                                        <p:cTn id="4311" dur="400"/>
                                        <p:tgtEl>
                                          <p:spTgt spid="4"/>
                                        </p:tgtEl>
                                      </p:cBhvr>
                                    </p:animEffect>
                                    <p:set>
                                      <p:cBhvr>
                                        <p:cTn id="4312" dur="1" fill="hold">
                                          <p:stCondLst>
                                            <p:cond delay="399"/>
                                          </p:stCondLst>
                                        </p:cTn>
                                        <p:tgtEl>
                                          <p:spTgt spid="4"/>
                                        </p:tgtEl>
                                        <p:attrNameLst>
                                          <p:attrName>style.visibility</p:attrName>
                                        </p:attrNameLst>
                                      </p:cBhvr>
                                      <p:to>
                                        <p:strVal val="hidden"/>
                                      </p:to>
                                    </p:set>
                                  </p:childTnLst>
                                </p:cTn>
                              </p:par>
                              <p:par>
                                <p:cTn id="4313" presetID="10" presetClass="exit" presetSubtype="0" fill="hold" nodeType="withEffect">
                                  <p:stCondLst>
                                    <p:cond delay="0"/>
                                  </p:stCondLst>
                                  <p:childTnLst>
                                    <p:animEffect transition="out" filter="fade">
                                      <p:cBhvr>
                                        <p:cTn id="4314" dur="400"/>
                                        <p:tgtEl>
                                          <p:spTgt spid="5"/>
                                        </p:tgtEl>
                                      </p:cBhvr>
                                    </p:animEffect>
                                    <p:set>
                                      <p:cBhvr>
                                        <p:cTn id="4315" dur="1" fill="hold">
                                          <p:stCondLst>
                                            <p:cond delay="399"/>
                                          </p:stCondLst>
                                        </p:cTn>
                                        <p:tgtEl>
                                          <p:spTgt spid="5"/>
                                        </p:tgtEl>
                                        <p:attrNameLst>
                                          <p:attrName>style.visibility</p:attrName>
                                        </p:attrNameLst>
                                      </p:cBhvr>
                                      <p:to>
                                        <p:strVal val="hidden"/>
                                      </p:to>
                                    </p:set>
                                  </p:childTnLst>
                                </p:cTn>
                              </p:par>
                              <p:par>
                                <p:cTn id="4316" presetID="10" presetClass="exit" presetSubtype="0" fill="hold" nodeType="withEffect">
                                  <p:stCondLst>
                                    <p:cond delay="0"/>
                                  </p:stCondLst>
                                  <p:childTnLst>
                                    <p:animEffect transition="out" filter="fade">
                                      <p:cBhvr>
                                        <p:cTn id="4317" dur="400"/>
                                        <p:tgtEl>
                                          <p:spTgt spid="6"/>
                                        </p:tgtEl>
                                      </p:cBhvr>
                                    </p:animEffect>
                                    <p:set>
                                      <p:cBhvr>
                                        <p:cTn id="4318" dur="1" fill="hold">
                                          <p:stCondLst>
                                            <p:cond delay="399"/>
                                          </p:stCondLst>
                                        </p:cTn>
                                        <p:tgtEl>
                                          <p:spTgt spid="6"/>
                                        </p:tgtEl>
                                        <p:attrNameLst>
                                          <p:attrName>style.visibility</p:attrName>
                                        </p:attrNameLst>
                                      </p:cBhvr>
                                      <p:to>
                                        <p:strVal val="hidden"/>
                                      </p:to>
                                    </p:set>
                                  </p:childTnLst>
                                </p:cTn>
                              </p:par>
                              <p:par>
                                <p:cTn id="4319" presetID="10" presetClass="exit" presetSubtype="0" fill="hold" nodeType="withEffect">
                                  <p:stCondLst>
                                    <p:cond delay="0"/>
                                  </p:stCondLst>
                                  <p:childTnLst>
                                    <p:animEffect transition="out" filter="fade">
                                      <p:cBhvr>
                                        <p:cTn id="4320" dur="400"/>
                                        <p:tgtEl>
                                          <p:spTgt spid="7"/>
                                        </p:tgtEl>
                                      </p:cBhvr>
                                    </p:animEffect>
                                    <p:set>
                                      <p:cBhvr>
                                        <p:cTn id="4321" dur="1" fill="hold">
                                          <p:stCondLst>
                                            <p:cond delay="399"/>
                                          </p:stCondLst>
                                        </p:cTn>
                                        <p:tgtEl>
                                          <p:spTgt spid="7"/>
                                        </p:tgtEl>
                                        <p:attrNameLst>
                                          <p:attrName>style.visibility</p:attrName>
                                        </p:attrNameLst>
                                      </p:cBhvr>
                                      <p:to>
                                        <p:strVal val="hidden"/>
                                      </p:to>
                                    </p:set>
                                  </p:childTnLst>
                                </p:cTn>
                              </p:par>
                              <p:par>
                                <p:cTn id="4322" presetID="10" presetClass="exit" presetSubtype="0" fill="hold" nodeType="withEffect">
                                  <p:stCondLst>
                                    <p:cond delay="0"/>
                                  </p:stCondLst>
                                  <p:childTnLst>
                                    <p:animEffect transition="out" filter="fade">
                                      <p:cBhvr>
                                        <p:cTn id="4323" dur="400"/>
                                        <p:tgtEl>
                                          <p:spTgt spid="8"/>
                                        </p:tgtEl>
                                      </p:cBhvr>
                                    </p:animEffect>
                                    <p:set>
                                      <p:cBhvr>
                                        <p:cTn id="4324" dur="1" fill="hold">
                                          <p:stCondLst>
                                            <p:cond delay="399"/>
                                          </p:stCondLst>
                                        </p:cTn>
                                        <p:tgtEl>
                                          <p:spTgt spid="8"/>
                                        </p:tgtEl>
                                        <p:attrNameLst>
                                          <p:attrName>style.visibility</p:attrName>
                                        </p:attrNameLst>
                                      </p:cBhvr>
                                      <p:to>
                                        <p:strVal val="hidden"/>
                                      </p:to>
                                    </p:set>
                                  </p:childTnLst>
                                </p:cTn>
                              </p:par>
                              <p:par>
                                <p:cTn id="4325" presetID="10" presetClass="exit" presetSubtype="0" fill="hold" nodeType="withEffect">
                                  <p:stCondLst>
                                    <p:cond delay="0"/>
                                  </p:stCondLst>
                                  <p:childTnLst>
                                    <p:animEffect transition="out" filter="fade">
                                      <p:cBhvr>
                                        <p:cTn id="4326" dur="400"/>
                                        <p:tgtEl>
                                          <p:spTgt spid="9"/>
                                        </p:tgtEl>
                                      </p:cBhvr>
                                    </p:animEffect>
                                    <p:set>
                                      <p:cBhvr>
                                        <p:cTn id="4327" dur="1" fill="hold">
                                          <p:stCondLst>
                                            <p:cond delay="399"/>
                                          </p:stCondLst>
                                        </p:cTn>
                                        <p:tgtEl>
                                          <p:spTgt spid="9"/>
                                        </p:tgtEl>
                                        <p:attrNameLst>
                                          <p:attrName>style.visibility</p:attrName>
                                        </p:attrNameLst>
                                      </p:cBhvr>
                                      <p:to>
                                        <p:strVal val="hidden"/>
                                      </p:to>
                                    </p:set>
                                  </p:childTnLst>
                                </p:cTn>
                              </p:par>
                              <p:par>
                                <p:cTn id="4328" presetID="10" presetClass="exit" presetSubtype="0" fill="hold" nodeType="withEffect">
                                  <p:stCondLst>
                                    <p:cond delay="0"/>
                                  </p:stCondLst>
                                  <p:childTnLst>
                                    <p:animEffect transition="out" filter="fade">
                                      <p:cBhvr>
                                        <p:cTn id="4329" dur="400"/>
                                        <p:tgtEl>
                                          <p:spTgt spid="10"/>
                                        </p:tgtEl>
                                      </p:cBhvr>
                                    </p:animEffect>
                                    <p:set>
                                      <p:cBhvr>
                                        <p:cTn id="4330" dur="1" fill="hold">
                                          <p:stCondLst>
                                            <p:cond delay="399"/>
                                          </p:stCondLst>
                                        </p:cTn>
                                        <p:tgtEl>
                                          <p:spTgt spid="10"/>
                                        </p:tgtEl>
                                        <p:attrNameLst>
                                          <p:attrName>style.visibility</p:attrName>
                                        </p:attrNameLst>
                                      </p:cBhvr>
                                      <p:to>
                                        <p:strVal val="hidden"/>
                                      </p:to>
                                    </p:set>
                                  </p:childTnLst>
                                </p:cTn>
                              </p:par>
                              <p:par>
                                <p:cTn id="4331" presetID="10" presetClass="exit" presetSubtype="0" fill="hold" nodeType="withEffect">
                                  <p:stCondLst>
                                    <p:cond delay="0"/>
                                  </p:stCondLst>
                                  <p:childTnLst>
                                    <p:animEffect transition="out" filter="fade">
                                      <p:cBhvr>
                                        <p:cTn id="4332" dur="400"/>
                                        <p:tgtEl>
                                          <p:spTgt spid="11"/>
                                        </p:tgtEl>
                                      </p:cBhvr>
                                    </p:animEffect>
                                    <p:set>
                                      <p:cBhvr>
                                        <p:cTn id="4333" dur="1" fill="hold">
                                          <p:stCondLst>
                                            <p:cond delay="399"/>
                                          </p:stCondLst>
                                        </p:cTn>
                                        <p:tgtEl>
                                          <p:spTgt spid="11"/>
                                        </p:tgtEl>
                                        <p:attrNameLst>
                                          <p:attrName>style.visibility</p:attrName>
                                        </p:attrNameLst>
                                      </p:cBhvr>
                                      <p:to>
                                        <p:strVal val="hidden"/>
                                      </p:to>
                                    </p:set>
                                  </p:childTnLst>
                                </p:cTn>
                              </p:par>
                              <p:par>
                                <p:cTn id="4334" presetID="10" presetClass="exit" presetSubtype="0" fill="hold" nodeType="withEffect">
                                  <p:stCondLst>
                                    <p:cond delay="0"/>
                                  </p:stCondLst>
                                  <p:childTnLst>
                                    <p:animEffect transition="out" filter="fade">
                                      <p:cBhvr>
                                        <p:cTn id="4335" dur="400"/>
                                        <p:tgtEl>
                                          <p:spTgt spid="12"/>
                                        </p:tgtEl>
                                      </p:cBhvr>
                                    </p:animEffect>
                                    <p:set>
                                      <p:cBhvr>
                                        <p:cTn id="4336" dur="1" fill="hold">
                                          <p:stCondLst>
                                            <p:cond delay="399"/>
                                          </p:stCondLst>
                                        </p:cTn>
                                        <p:tgtEl>
                                          <p:spTgt spid="12"/>
                                        </p:tgtEl>
                                        <p:attrNameLst>
                                          <p:attrName>style.visibility</p:attrName>
                                        </p:attrNameLst>
                                      </p:cBhvr>
                                      <p:to>
                                        <p:strVal val="hidden"/>
                                      </p:to>
                                    </p:set>
                                  </p:childTnLst>
                                </p:cTn>
                              </p:par>
                              <p:par>
                                <p:cTn id="4337" presetID="10" presetClass="exit" presetSubtype="0" fill="hold" nodeType="withEffect">
                                  <p:stCondLst>
                                    <p:cond delay="0"/>
                                  </p:stCondLst>
                                  <p:childTnLst>
                                    <p:animEffect transition="out" filter="fade">
                                      <p:cBhvr>
                                        <p:cTn id="4338" dur="400"/>
                                        <p:tgtEl>
                                          <p:spTgt spid="13"/>
                                        </p:tgtEl>
                                      </p:cBhvr>
                                    </p:animEffect>
                                    <p:set>
                                      <p:cBhvr>
                                        <p:cTn id="4339" dur="1" fill="hold">
                                          <p:stCondLst>
                                            <p:cond delay="399"/>
                                          </p:stCondLst>
                                        </p:cTn>
                                        <p:tgtEl>
                                          <p:spTgt spid="13"/>
                                        </p:tgtEl>
                                        <p:attrNameLst>
                                          <p:attrName>style.visibility</p:attrName>
                                        </p:attrNameLst>
                                      </p:cBhvr>
                                      <p:to>
                                        <p:strVal val="hidden"/>
                                      </p:to>
                                    </p:set>
                                  </p:childTnLst>
                                </p:cTn>
                              </p:par>
                              <p:par>
                                <p:cTn id="4340" presetID="10" presetClass="exit" presetSubtype="0" fill="hold" nodeType="withEffect">
                                  <p:stCondLst>
                                    <p:cond delay="0"/>
                                  </p:stCondLst>
                                  <p:childTnLst>
                                    <p:animEffect transition="out" filter="fade">
                                      <p:cBhvr>
                                        <p:cTn id="4341" dur="400"/>
                                        <p:tgtEl>
                                          <p:spTgt spid="14"/>
                                        </p:tgtEl>
                                      </p:cBhvr>
                                    </p:animEffect>
                                    <p:set>
                                      <p:cBhvr>
                                        <p:cTn id="4342" dur="1" fill="hold">
                                          <p:stCondLst>
                                            <p:cond delay="399"/>
                                          </p:stCondLst>
                                        </p:cTn>
                                        <p:tgtEl>
                                          <p:spTgt spid="14"/>
                                        </p:tgtEl>
                                        <p:attrNameLst>
                                          <p:attrName>style.visibility</p:attrName>
                                        </p:attrNameLst>
                                      </p:cBhvr>
                                      <p:to>
                                        <p:strVal val="hidden"/>
                                      </p:to>
                                    </p:set>
                                  </p:childTnLst>
                                </p:cTn>
                              </p:par>
                              <p:par>
                                <p:cTn id="4343" presetID="10" presetClass="exit" presetSubtype="0" fill="hold" nodeType="withEffect">
                                  <p:stCondLst>
                                    <p:cond delay="0"/>
                                  </p:stCondLst>
                                  <p:childTnLst>
                                    <p:animEffect transition="out" filter="fade">
                                      <p:cBhvr>
                                        <p:cTn id="4344" dur="400"/>
                                        <p:tgtEl>
                                          <p:spTgt spid="15"/>
                                        </p:tgtEl>
                                      </p:cBhvr>
                                    </p:animEffect>
                                    <p:set>
                                      <p:cBhvr>
                                        <p:cTn id="4345" dur="1" fill="hold">
                                          <p:stCondLst>
                                            <p:cond delay="399"/>
                                          </p:stCondLst>
                                        </p:cTn>
                                        <p:tgtEl>
                                          <p:spTgt spid="15"/>
                                        </p:tgtEl>
                                        <p:attrNameLst>
                                          <p:attrName>style.visibility</p:attrName>
                                        </p:attrNameLst>
                                      </p:cBhvr>
                                      <p:to>
                                        <p:strVal val="hidden"/>
                                      </p:to>
                                    </p:set>
                                  </p:childTnLst>
                                </p:cTn>
                              </p:par>
                              <p:par>
                                <p:cTn id="4346" presetID="10" presetClass="exit" presetSubtype="0" fill="hold" nodeType="withEffect">
                                  <p:stCondLst>
                                    <p:cond delay="0"/>
                                  </p:stCondLst>
                                  <p:childTnLst>
                                    <p:animEffect transition="out" filter="fade">
                                      <p:cBhvr>
                                        <p:cTn id="4347" dur="400"/>
                                        <p:tgtEl>
                                          <p:spTgt spid="16"/>
                                        </p:tgtEl>
                                      </p:cBhvr>
                                    </p:animEffect>
                                    <p:set>
                                      <p:cBhvr>
                                        <p:cTn id="4348" dur="1" fill="hold">
                                          <p:stCondLst>
                                            <p:cond delay="399"/>
                                          </p:stCondLst>
                                        </p:cTn>
                                        <p:tgtEl>
                                          <p:spTgt spid="16"/>
                                        </p:tgtEl>
                                        <p:attrNameLst>
                                          <p:attrName>style.visibility</p:attrName>
                                        </p:attrNameLst>
                                      </p:cBhvr>
                                      <p:to>
                                        <p:strVal val="hidden"/>
                                      </p:to>
                                    </p:set>
                                  </p:childTnLst>
                                </p:cTn>
                              </p:par>
                              <p:par>
                                <p:cTn id="4349" presetID="10" presetClass="exit" presetSubtype="0" fill="hold" nodeType="withEffect">
                                  <p:stCondLst>
                                    <p:cond delay="0"/>
                                  </p:stCondLst>
                                  <p:childTnLst>
                                    <p:animEffect transition="out" filter="fade">
                                      <p:cBhvr>
                                        <p:cTn id="4350" dur="400"/>
                                        <p:tgtEl>
                                          <p:spTgt spid="17"/>
                                        </p:tgtEl>
                                      </p:cBhvr>
                                    </p:animEffect>
                                    <p:set>
                                      <p:cBhvr>
                                        <p:cTn id="4351" dur="1" fill="hold">
                                          <p:stCondLst>
                                            <p:cond delay="399"/>
                                          </p:stCondLst>
                                        </p:cTn>
                                        <p:tgtEl>
                                          <p:spTgt spid="17"/>
                                        </p:tgtEl>
                                        <p:attrNameLst>
                                          <p:attrName>style.visibility</p:attrName>
                                        </p:attrNameLst>
                                      </p:cBhvr>
                                      <p:to>
                                        <p:strVal val="hidden"/>
                                      </p:to>
                                    </p:set>
                                  </p:childTnLst>
                                </p:cTn>
                              </p:par>
                              <p:par>
                                <p:cTn id="4352" presetID="10" presetClass="exit" presetSubtype="0" fill="hold" nodeType="withEffect">
                                  <p:stCondLst>
                                    <p:cond delay="0"/>
                                  </p:stCondLst>
                                  <p:childTnLst>
                                    <p:animEffect transition="out" filter="fade">
                                      <p:cBhvr>
                                        <p:cTn id="4353" dur="400"/>
                                        <p:tgtEl>
                                          <p:spTgt spid="50"/>
                                        </p:tgtEl>
                                      </p:cBhvr>
                                    </p:animEffect>
                                    <p:set>
                                      <p:cBhvr>
                                        <p:cTn id="4354" dur="1" fill="hold">
                                          <p:stCondLst>
                                            <p:cond delay="399"/>
                                          </p:stCondLst>
                                        </p:cTn>
                                        <p:tgtEl>
                                          <p:spTgt spid="50"/>
                                        </p:tgtEl>
                                        <p:attrNameLst>
                                          <p:attrName>style.visibility</p:attrName>
                                        </p:attrNameLst>
                                      </p:cBhvr>
                                      <p:to>
                                        <p:strVal val="hidden"/>
                                      </p:to>
                                    </p:set>
                                  </p:childTnLst>
                                </p:cTn>
                              </p:par>
                              <p:par>
                                <p:cTn id="4355" presetID="10" presetClass="exit" presetSubtype="0" fill="hold" nodeType="withEffect">
                                  <p:stCondLst>
                                    <p:cond delay="0"/>
                                  </p:stCondLst>
                                  <p:childTnLst>
                                    <p:animEffect transition="out" filter="fade">
                                      <p:cBhvr>
                                        <p:cTn id="4356" dur="400"/>
                                        <p:tgtEl>
                                          <p:spTgt spid="51"/>
                                        </p:tgtEl>
                                      </p:cBhvr>
                                    </p:animEffect>
                                    <p:set>
                                      <p:cBhvr>
                                        <p:cTn id="4357" dur="1" fill="hold">
                                          <p:stCondLst>
                                            <p:cond delay="399"/>
                                          </p:stCondLst>
                                        </p:cTn>
                                        <p:tgtEl>
                                          <p:spTgt spid="51"/>
                                        </p:tgtEl>
                                        <p:attrNameLst>
                                          <p:attrName>style.visibility</p:attrName>
                                        </p:attrNameLst>
                                      </p:cBhvr>
                                      <p:to>
                                        <p:strVal val="hidden"/>
                                      </p:to>
                                    </p:set>
                                  </p:childTnLst>
                                </p:cTn>
                              </p:par>
                              <p:par>
                                <p:cTn id="4358" presetID="22" presetClass="entr" presetSubtype="8" fill="hold" nodeType="withEffect">
                                  <p:stCondLst>
                                    <p:cond delay="200"/>
                                  </p:stCondLst>
                                  <p:childTnLst>
                                    <p:set>
                                      <p:cBhvr>
                                        <p:cTn id="4359" dur="1" fill="hold">
                                          <p:stCondLst>
                                            <p:cond delay="0"/>
                                          </p:stCondLst>
                                        </p:cTn>
                                        <p:tgtEl>
                                          <p:spTgt spid="18"/>
                                        </p:tgtEl>
                                        <p:attrNameLst>
                                          <p:attrName>style.visibility</p:attrName>
                                        </p:attrNameLst>
                                      </p:cBhvr>
                                      <p:to>
                                        <p:strVal val="visible"/>
                                      </p:to>
                                    </p:set>
                                    <p:animEffect transition="in" filter="wipe(left)">
                                      <p:cBhvr>
                                        <p:cTn id="4360" dur="500"/>
                                        <p:tgtEl>
                                          <p:spTgt spid="18"/>
                                        </p:tgtEl>
                                      </p:cBhvr>
                                    </p:animEffect>
                                  </p:childTnLst>
                                </p:cTn>
                              </p:par>
                              <p:par>
                                <p:cTn id="4361" presetID="22" presetClass="entr" presetSubtype="8" fill="hold" nodeType="withEffect">
                                  <p:stCondLst>
                                    <p:cond delay="270"/>
                                  </p:stCondLst>
                                  <p:childTnLst>
                                    <p:set>
                                      <p:cBhvr>
                                        <p:cTn id="4362" dur="1" fill="hold">
                                          <p:stCondLst>
                                            <p:cond delay="0"/>
                                          </p:stCondLst>
                                        </p:cTn>
                                        <p:tgtEl>
                                          <p:spTgt spid="19"/>
                                        </p:tgtEl>
                                        <p:attrNameLst>
                                          <p:attrName>style.visibility</p:attrName>
                                        </p:attrNameLst>
                                      </p:cBhvr>
                                      <p:to>
                                        <p:strVal val="visible"/>
                                      </p:to>
                                    </p:set>
                                    <p:animEffect transition="in" filter="wipe(left)">
                                      <p:cBhvr>
                                        <p:cTn id="4363" dur="500"/>
                                        <p:tgtEl>
                                          <p:spTgt spid="19"/>
                                        </p:tgtEl>
                                      </p:cBhvr>
                                    </p:animEffect>
                                  </p:childTnLst>
                                </p:cTn>
                              </p:par>
                              <p:par>
                                <p:cTn id="4364" presetID="22" presetClass="entr" presetSubtype="8" fill="hold" nodeType="withEffect">
                                  <p:stCondLst>
                                    <p:cond delay="340"/>
                                  </p:stCondLst>
                                  <p:childTnLst>
                                    <p:set>
                                      <p:cBhvr>
                                        <p:cTn id="4365" dur="1" fill="hold">
                                          <p:stCondLst>
                                            <p:cond delay="0"/>
                                          </p:stCondLst>
                                        </p:cTn>
                                        <p:tgtEl>
                                          <p:spTgt spid="20"/>
                                        </p:tgtEl>
                                        <p:attrNameLst>
                                          <p:attrName>style.visibility</p:attrName>
                                        </p:attrNameLst>
                                      </p:cBhvr>
                                      <p:to>
                                        <p:strVal val="visible"/>
                                      </p:to>
                                    </p:set>
                                    <p:animEffect transition="in" filter="wipe(left)">
                                      <p:cBhvr>
                                        <p:cTn id="4366" dur="500"/>
                                        <p:tgtEl>
                                          <p:spTgt spid="20"/>
                                        </p:tgtEl>
                                      </p:cBhvr>
                                    </p:animEffect>
                                  </p:childTnLst>
                                </p:cTn>
                              </p:par>
                              <p:par>
                                <p:cTn id="4367" presetID="22" presetClass="entr" presetSubtype="8" fill="hold" nodeType="withEffect">
                                  <p:stCondLst>
                                    <p:cond delay="410"/>
                                  </p:stCondLst>
                                  <p:childTnLst>
                                    <p:set>
                                      <p:cBhvr>
                                        <p:cTn id="4368" dur="1" fill="hold">
                                          <p:stCondLst>
                                            <p:cond delay="0"/>
                                          </p:stCondLst>
                                        </p:cTn>
                                        <p:tgtEl>
                                          <p:spTgt spid="21"/>
                                        </p:tgtEl>
                                        <p:attrNameLst>
                                          <p:attrName>style.visibility</p:attrName>
                                        </p:attrNameLst>
                                      </p:cBhvr>
                                      <p:to>
                                        <p:strVal val="visible"/>
                                      </p:to>
                                    </p:set>
                                    <p:animEffect transition="in" filter="wipe(left)">
                                      <p:cBhvr>
                                        <p:cTn id="4369" dur="500"/>
                                        <p:tgtEl>
                                          <p:spTgt spid="21"/>
                                        </p:tgtEl>
                                      </p:cBhvr>
                                    </p:animEffect>
                                  </p:childTnLst>
                                </p:cTn>
                              </p:par>
                              <p:par>
                                <p:cTn id="4370" presetID="22" presetClass="entr" presetSubtype="8" fill="hold" nodeType="withEffect">
                                  <p:stCondLst>
                                    <p:cond delay="480"/>
                                  </p:stCondLst>
                                  <p:childTnLst>
                                    <p:set>
                                      <p:cBhvr>
                                        <p:cTn id="4371" dur="1" fill="hold">
                                          <p:stCondLst>
                                            <p:cond delay="0"/>
                                          </p:stCondLst>
                                        </p:cTn>
                                        <p:tgtEl>
                                          <p:spTgt spid="22"/>
                                        </p:tgtEl>
                                        <p:attrNameLst>
                                          <p:attrName>style.visibility</p:attrName>
                                        </p:attrNameLst>
                                      </p:cBhvr>
                                      <p:to>
                                        <p:strVal val="visible"/>
                                      </p:to>
                                    </p:set>
                                    <p:animEffect transition="in" filter="wipe(left)">
                                      <p:cBhvr>
                                        <p:cTn id="4372" dur="500"/>
                                        <p:tgtEl>
                                          <p:spTgt spid="22"/>
                                        </p:tgtEl>
                                      </p:cBhvr>
                                    </p:animEffect>
                                  </p:childTnLst>
                                </p:cTn>
                              </p:par>
                              <p:par>
                                <p:cTn id="4373" presetID="22" presetClass="entr" presetSubtype="8" fill="hold" nodeType="withEffect">
                                  <p:stCondLst>
                                    <p:cond delay="550"/>
                                  </p:stCondLst>
                                  <p:childTnLst>
                                    <p:set>
                                      <p:cBhvr>
                                        <p:cTn id="4374" dur="1" fill="hold">
                                          <p:stCondLst>
                                            <p:cond delay="0"/>
                                          </p:stCondLst>
                                        </p:cTn>
                                        <p:tgtEl>
                                          <p:spTgt spid="23"/>
                                        </p:tgtEl>
                                        <p:attrNameLst>
                                          <p:attrName>style.visibility</p:attrName>
                                        </p:attrNameLst>
                                      </p:cBhvr>
                                      <p:to>
                                        <p:strVal val="visible"/>
                                      </p:to>
                                    </p:set>
                                    <p:animEffect transition="in" filter="wipe(left)">
                                      <p:cBhvr>
                                        <p:cTn id="4375" dur="500"/>
                                        <p:tgtEl>
                                          <p:spTgt spid="23"/>
                                        </p:tgtEl>
                                      </p:cBhvr>
                                    </p:animEffect>
                                  </p:childTnLst>
                                </p:cTn>
                              </p:par>
                              <p:par>
                                <p:cTn id="4376" presetID="22" presetClass="entr" presetSubtype="8" fill="hold" nodeType="withEffect">
                                  <p:stCondLst>
                                    <p:cond delay="620"/>
                                  </p:stCondLst>
                                  <p:childTnLst>
                                    <p:set>
                                      <p:cBhvr>
                                        <p:cTn id="4377" dur="1" fill="hold">
                                          <p:stCondLst>
                                            <p:cond delay="0"/>
                                          </p:stCondLst>
                                        </p:cTn>
                                        <p:tgtEl>
                                          <p:spTgt spid="24"/>
                                        </p:tgtEl>
                                        <p:attrNameLst>
                                          <p:attrName>style.visibility</p:attrName>
                                        </p:attrNameLst>
                                      </p:cBhvr>
                                      <p:to>
                                        <p:strVal val="visible"/>
                                      </p:to>
                                    </p:set>
                                    <p:animEffect transition="in" filter="wipe(left)">
                                      <p:cBhvr>
                                        <p:cTn id="4378" dur="500"/>
                                        <p:tgtEl>
                                          <p:spTgt spid="24"/>
                                        </p:tgtEl>
                                      </p:cBhvr>
                                    </p:animEffect>
                                  </p:childTnLst>
                                </p:cTn>
                              </p:par>
                              <p:par>
                                <p:cTn id="4379" presetID="22" presetClass="entr" presetSubtype="8" fill="hold" nodeType="withEffect">
                                  <p:stCondLst>
                                    <p:cond delay="690"/>
                                  </p:stCondLst>
                                  <p:childTnLst>
                                    <p:set>
                                      <p:cBhvr>
                                        <p:cTn id="4380" dur="1" fill="hold">
                                          <p:stCondLst>
                                            <p:cond delay="0"/>
                                          </p:stCondLst>
                                        </p:cTn>
                                        <p:tgtEl>
                                          <p:spTgt spid="25"/>
                                        </p:tgtEl>
                                        <p:attrNameLst>
                                          <p:attrName>style.visibility</p:attrName>
                                        </p:attrNameLst>
                                      </p:cBhvr>
                                      <p:to>
                                        <p:strVal val="visible"/>
                                      </p:to>
                                    </p:set>
                                    <p:animEffect transition="in" filter="wipe(left)">
                                      <p:cBhvr>
                                        <p:cTn id="4381" dur="500"/>
                                        <p:tgtEl>
                                          <p:spTgt spid="25"/>
                                        </p:tgtEl>
                                      </p:cBhvr>
                                    </p:animEffect>
                                  </p:childTnLst>
                                </p:cTn>
                              </p:par>
                              <p:par>
                                <p:cTn id="4382" presetID="22" presetClass="entr" presetSubtype="8" fill="hold" nodeType="withEffect">
                                  <p:stCondLst>
                                    <p:cond delay="760"/>
                                  </p:stCondLst>
                                  <p:childTnLst>
                                    <p:set>
                                      <p:cBhvr>
                                        <p:cTn id="4383" dur="1" fill="hold">
                                          <p:stCondLst>
                                            <p:cond delay="0"/>
                                          </p:stCondLst>
                                        </p:cTn>
                                        <p:tgtEl>
                                          <p:spTgt spid="26"/>
                                        </p:tgtEl>
                                        <p:attrNameLst>
                                          <p:attrName>style.visibility</p:attrName>
                                        </p:attrNameLst>
                                      </p:cBhvr>
                                      <p:to>
                                        <p:strVal val="visible"/>
                                      </p:to>
                                    </p:set>
                                    <p:animEffect transition="in" filter="wipe(left)">
                                      <p:cBhvr>
                                        <p:cTn id="4384" dur="500"/>
                                        <p:tgtEl>
                                          <p:spTgt spid="26"/>
                                        </p:tgtEl>
                                      </p:cBhvr>
                                    </p:animEffect>
                                  </p:childTnLst>
                                </p:cTn>
                              </p:par>
                              <p:par>
                                <p:cTn id="4385" presetID="22" presetClass="entr" presetSubtype="8" fill="hold" nodeType="withEffect">
                                  <p:stCondLst>
                                    <p:cond delay="830"/>
                                  </p:stCondLst>
                                  <p:childTnLst>
                                    <p:set>
                                      <p:cBhvr>
                                        <p:cTn id="4386" dur="1" fill="hold">
                                          <p:stCondLst>
                                            <p:cond delay="0"/>
                                          </p:stCondLst>
                                        </p:cTn>
                                        <p:tgtEl>
                                          <p:spTgt spid="52"/>
                                        </p:tgtEl>
                                        <p:attrNameLst>
                                          <p:attrName>style.visibility</p:attrName>
                                        </p:attrNameLst>
                                      </p:cBhvr>
                                      <p:to>
                                        <p:strVal val="visible"/>
                                      </p:to>
                                    </p:set>
                                    <p:animEffect transition="in" filter="wipe(left)">
                                      <p:cBhvr>
                                        <p:cTn id="4387" dur="500"/>
                                        <p:tgtEl>
                                          <p:spTgt spid="52"/>
                                        </p:tgtEl>
                                      </p:cBhvr>
                                    </p:animEffect>
                                  </p:childTnLst>
                                </p:cTn>
                              </p:par>
                              <p:par>
                                <p:cTn id="4388" presetID="22" presetClass="entr" presetSubtype="8" fill="hold" nodeType="withEffect">
                                  <p:stCondLst>
                                    <p:cond delay="900"/>
                                  </p:stCondLst>
                                  <p:childTnLst>
                                    <p:set>
                                      <p:cBhvr>
                                        <p:cTn id="4389" dur="1" fill="hold">
                                          <p:stCondLst>
                                            <p:cond delay="0"/>
                                          </p:stCondLst>
                                        </p:cTn>
                                        <p:tgtEl>
                                          <p:spTgt spid="53"/>
                                        </p:tgtEl>
                                        <p:attrNameLst>
                                          <p:attrName>style.visibility</p:attrName>
                                        </p:attrNameLst>
                                      </p:cBhvr>
                                      <p:to>
                                        <p:strVal val="visible"/>
                                      </p:to>
                                    </p:set>
                                    <p:animEffect transition="in" filter="wipe(left)">
                                      <p:cBhvr>
                                        <p:cTn id="4390" dur="500"/>
                                        <p:tgtEl>
                                          <p:spTgt spid="53"/>
                                        </p:tgtEl>
                                      </p:cBhvr>
                                    </p:animEffect>
                                  </p:childTnLst>
                                </p:cTn>
                              </p:par>
                            </p:childTnLst>
                          </p:cTn>
                        </p:par>
                      </p:childTnLst>
                    </p:cTn>
                  </p:par>
                  <p:par>
                    <p:cTn id="4468" fill="hold">
                      <p:stCondLst>
                        <p:cond delay="indefinite"/>
                      </p:stCondLst>
                      <p:childTnLst>
                        <p:par>
                          <p:cTn id="4469" fill="hold">
                            <p:stCondLst>
                              <p:cond delay="0"/>
                            </p:stCondLst>
                            <p:childTnLst>
                              <p:par>
                                <p:cTn id="4393" presetID="10" presetClass="exit" presetSubtype="0" fill="hold" nodeType="clickEffect">
                                  <p:stCondLst>
                                    <p:cond delay="0"/>
                                  </p:stCondLst>
                                  <p:childTnLst>
                                    <p:animEffect transition="out" filter="fade">
                                      <p:cBhvr>
                                        <p:cTn id="4394" dur="400"/>
                                        <p:tgtEl>
                                          <p:spTgt spid="18"/>
                                        </p:tgtEl>
                                      </p:cBhvr>
                                    </p:animEffect>
                                    <p:set>
                                      <p:cBhvr>
                                        <p:cTn id="4395" dur="1" fill="hold">
                                          <p:stCondLst>
                                            <p:cond delay="399"/>
                                          </p:stCondLst>
                                        </p:cTn>
                                        <p:tgtEl>
                                          <p:spTgt spid="18"/>
                                        </p:tgtEl>
                                        <p:attrNameLst>
                                          <p:attrName>style.visibility</p:attrName>
                                        </p:attrNameLst>
                                      </p:cBhvr>
                                      <p:to>
                                        <p:strVal val="hidden"/>
                                      </p:to>
                                    </p:set>
                                  </p:childTnLst>
                                </p:cTn>
                              </p:par>
                              <p:par>
                                <p:cTn id="4396" presetID="10" presetClass="exit" presetSubtype="0" fill="hold" nodeType="withEffect">
                                  <p:stCondLst>
                                    <p:cond delay="0"/>
                                  </p:stCondLst>
                                  <p:childTnLst>
                                    <p:animEffect transition="out" filter="fade">
                                      <p:cBhvr>
                                        <p:cTn id="4397" dur="400"/>
                                        <p:tgtEl>
                                          <p:spTgt spid="19"/>
                                        </p:tgtEl>
                                      </p:cBhvr>
                                    </p:animEffect>
                                    <p:set>
                                      <p:cBhvr>
                                        <p:cTn id="4398" dur="1" fill="hold">
                                          <p:stCondLst>
                                            <p:cond delay="399"/>
                                          </p:stCondLst>
                                        </p:cTn>
                                        <p:tgtEl>
                                          <p:spTgt spid="19"/>
                                        </p:tgtEl>
                                        <p:attrNameLst>
                                          <p:attrName>style.visibility</p:attrName>
                                        </p:attrNameLst>
                                      </p:cBhvr>
                                      <p:to>
                                        <p:strVal val="hidden"/>
                                      </p:to>
                                    </p:set>
                                  </p:childTnLst>
                                </p:cTn>
                              </p:par>
                              <p:par>
                                <p:cTn id="4399" presetID="10" presetClass="exit" presetSubtype="0" fill="hold" nodeType="withEffect">
                                  <p:stCondLst>
                                    <p:cond delay="0"/>
                                  </p:stCondLst>
                                  <p:childTnLst>
                                    <p:animEffect transition="out" filter="fade">
                                      <p:cBhvr>
                                        <p:cTn id="4400" dur="400"/>
                                        <p:tgtEl>
                                          <p:spTgt spid="20"/>
                                        </p:tgtEl>
                                      </p:cBhvr>
                                    </p:animEffect>
                                    <p:set>
                                      <p:cBhvr>
                                        <p:cTn id="4401" dur="1" fill="hold">
                                          <p:stCondLst>
                                            <p:cond delay="399"/>
                                          </p:stCondLst>
                                        </p:cTn>
                                        <p:tgtEl>
                                          <p:spTgt spid="20"/>
                                        </p:tgtEl>
                                        <p:attrNameLst>
                                          <p:attrName>style.visibility</p:attrName>
                                        </p:attrNameLst>
                                      </p:cBhvr>
                                      <p:to>
                                        <p:strVal val="hidden"/>
                                      </p:to>
                                    </p:set>
                                  </p:childTnLst>
                                </p:cTn>
                              </p:par>
                              <p:par>
                                <p:cTn id="4402" presetID="10" presetClass="exit" presetSubtype="0" fill="hold" nodeType="withEffect">
                                  <p:stCondLst>
                                    <p:cond delay="0"/>
                                  </p:stCondLst>
                                  <p:childTnLst>
                                    <p:animEffect transition="out" filter="fade">
                                      <p:cBhvr>
                                        <p:cTn id="4403" dur="400"/>
                                        <p:tgtEl>
                                          <p:spTgt spid="21"/>
                                        </p:tgtEl>
                                      </p:cBhvr>
                                    </p:animEffect>
                                    <p:set>
                                      <p:cBhvr>
                                        <p:cTn id="4404" dur="1" fill="hold">
                                          <p:stCondLst>
                                            <p:cond delay="399"/>
                                          </p:stCondLst>
                                        </p:cTn>
                                        <p:tgtEl>
                                          <p:spTgt spid="21"/>
                                        </p:tgtEl>
                                        <p:attrNameLst>
                                          <p:attrName>style.visibility</p:attrName>
                                        </p:attrNameLst>
                                      </p:cBhvr>
                                      <p:to>
                                        <p:strVal val="hidden"/>
                                      </p:to>
                                    </p:set>
                                  </p:childTnLst>
                                </p:cTn>
                              </p:par>
                              <p:par>
                                <p:cTn id="4405" presetID="10" presetClass="exit" presetSubtype="0" fill="hold" nodeType="withEffect">
                                  <p:stCondLst>
                                    <p:cond delay="0"/>
                                  </p:stCondLst>
                                  <p:childTnLst>
                                    <p:animEffect transition="out" filter="fade">
                                      <p:cBhvr>
                                        <p:cTn id="4406" dur="400"/>
                                        <p:tgtEl>
                                          <p:spTgt spid="22"/>
                                        </p:tgtEl>
                                      </p:cBhvr>
                                    </p:animEffect>
                                    <p:set>
                                      <p:cBhvr>
                                        <p:cTn id="4407" dur="1" fill="hold">
                                          <p:stCondLst>
                                            <p:cond delay="399"/>
                                          </p:stCondLst>
                                        </p:cTn>
                                        <p:tgtEl>
                                          <p:spTgt spid="22"/>
                                        </p:tgtEl>
                                        <p:attrNameLst>
                                          <p:attrName>style.visibility</p:attrName>
                                        </p:attrNameLst>
                                      </p:cBhvr>
                                      <p:to>
                                        <p:strVal val="hidden"/>
                                      </p:to>
                                    </p:set>
                                  </p:childTnLst>
                                </p:cTn>
                              </p:par>
                              <p:par>
                                <p:cTn id="4408" presetID="10" presetClass="exit" presetSubtype="0" fill="hold" nodeType="withEffect">
                                  <p:stCondLst>
                                    <p:cond delay="0"/>
                                  </p:stCondLst>
                                  <p:childTnLst>
                                    <p:animEffect transition="out" filter="fade">
                                      <p:cBhvr>
                                        <p:cTn id="4409" dur="400"/>
                                        <p:tgtEl>
                                          <p:spTgt spid="23"/>
                                        </p:tgtEl>
                                      </p:cBhvr>
                                    </p:animEffect>
                                    <p:set>
                                      <p:cBhvr>
                                        <p:cTn id="4410" dur="1" fill="hold">
                                          <p:stCondLst>
                                            <p:cond delay="399"/>
                                          </p:stCondLst>
                                        </p:cTn>
                                        <p:tgtEl>
                                          <p:spTgt spid="23"/>
                                        </p:tgtEl>
                                        <p:attrNameLst>
                                          <p:attrName>style.visibility</p:attrName>
                                        </p:attrNameLst>
                                      </p:cBhvr>
                                      <p:to>
                                        <p:strVal val="hidden"/>
                                      </p:to>
                                    </p:set>
                                  </p:childTnLst>
                                </p:cTn>
                              </p:par>
                              <p:par>
                                <p:cTn id="4411" presetID="10" presetClass="exit" presetSubtype="0" fill="hold" nodeType="withEffect">
                                  <p:stCondLst>
                                    <p:cond delay="0"/>
                                  </p:stCondLst>
                                  <p:childTnLst>
                                    <p:animEffect transition="out" filter="fade">
                                      <p:cBhvr>
                                        <p:cTn id="4412" dur="400"/>
                                        <p:tgtEl>
                                          <p:spTgt spid="24"/>
                                        </p:tgtEl>
                                      </p:cBhvr>
                                    </p:animEffect>
                                    <p:set>
                                      <p:cBhvr>
                                        <p:cTn id="4413" dur="1" fill="hold">
                                          <p:stCondLst>
                                            <p:cond delay="399"/>
                                          </p:stCondLst>
                                        </p:cTn>
                                        <p:tgtEl>
                                          <p:spTgt spid="24"/>
                                        </p:tgtEl>
                                        <p:attrNameLst>
                                          <p:attrName>style.visibility</p:attrName>
                                        </p:attrNameLst>
                                      </p:cBhvr>
                                      <p:to>
                                        <p:strVal val="hidden"/>
                                      </p:to>
                                    </p:set>
                                  </p:childTnLst>
                                </p:cTn>
                              </p:par>
                              <p:par>
                                <p:cTn id="4414" presetID="10" presetClass="exit" presetSubtype="0" fill="hold" nodeType="withEffect">
                                  <p:stCondLst>
                                    <p:cond delay="0"/>
                                  </p:stCondLst>
                                  <p:childTnLst>
                                    <p:animEffect transition="out" filter="fade">
                                      <p:cBhvr>
                                        <p:cTn id="4415" dur="400"/>
                                        <p:tgtEl>
                                          <p:spTgt spid="25"/>
                                        </p:tgtEl>
                                      </p:cBhvr>
                                    </p:animEffect>
                                    <p:set>
                                      <p:cBhvr>
                                        <p:cTn id="4416" dur="1" fill="hold">
                                          <p:stCondLst>
                                            <p:cond delay="399"/>
                                          </p:stCondLst>
                                        </p:cTn>
                                        <p:tgtEl>
                                          <p:spTgt spid="25"/>
                                        </p:tgtEl>
                                        <p:attrNameLst>
                                          <p:attrName>style.visibility</p:attrName>
                                        </p:attrNameLst>
                                      </p:cBhvr>
                                      <p:to>
                                        <p:strVal val="hidden"/>
                                      </p:to>
                                    </p:set>
                                  </p:childTnLst>
                                </p:cTn>
                              </p:par>
                              <p:par>
                                <p:cTn id="4417" presetID="10" presetClass="exit" presetSubtype="0" fill="hold" nodeType="withEffect">
                                  <p:stCondLst>
                                    <p:cond delay="0"/>
                                  </p:stCondLst>
                                  <p:childTnLst>
                                    <p:animEffect transition="out" filter="fade">
                                      <p:cBhvr>
                                        <p:cTn id="4418" dur="400"/>
                                        <p:tgtEl>
                                          <p:spTgt spid="26"/>
                                        </p:tgtEl>
                                      </p:cBhvr>
                                    </p:animEffect>
                                    <p:set>
                                      <p:cBhvr>
                                        <p:cTn id="4419" dur="1" fill="hold">
                                          <p:stCondLst>
                                            <p:cond delay="399"/>
                                          </p:stCondLst>
                                        </p:cTn>
                                        <p:tgtEl>
                                          <p:spTgt spid="26"/>
                                        </p:tgtEl>
                                        <p:attrNameLst>
                                          <p:attrName>style.visibility</p:attrName>
                                        </p:attrNameLst>
                                      </p:cBhvr>
                                      <p:to>
                                        <p:strVal val="hidden"/>
                                      </p:to>
                                    </p:set>
                                  </p:childTnLst>
                                </p:cTn>
                              </p:par>
                              <p:par>
                                <p:cTn id="4420" presetID="10" presetClass="exit" presetSubtype="0" fill="hold" nodeType="withEffect">
                                  <p:stCondLst>
                                    <p:cond delay="0"/>
                                  </p:stCondLst>
                                  <p:childTnLst>
                                    <p:animEffect transition="out" filter="fade">
                                      <p:cBhvr>
                                        <p:cTn id="4421" dur="400"/>
                                        <p:tgtEl>
                                          <p:spTgt spid="52"/>
                                        </p:tgtEl>
                                      </p:cBhvr>
                                    </p:animEffect>
                                    <p:set>
                                      <p:cBhvr>
                                        <p:cTn id="4422" dur="1" fill="hold">
                                          <p:stCondLst>
                                            <p:cond delay="399"/>
                                          </p:stCondLst>
                                        </p:cTn>
                                        <p:tgtEl>
                                          <p:spTgt spid="52"/>
                                        </p:tgtEl>
                                        <p:attrNameLst>
                                          <p:attrName>style.visibility</p:attrName>
                                        </p:attrNameLst>
                                      </p:cBhvr>
                                      <p:to>
                                        <p:strVal val="hidden"/>
                                      </p:to>
                                    </p:set>
                                  </p:childTnLst>
                                </p:cTn>
                              </p:par>
                              <p:par>
                                <p:cTn id="4423" presetID="10" presetClass="exit" presetSubtype="0" fill="hold" nodeType="withEffect">
                                  <p:stCondLst>
                                    <p:cond delay="0"/>
                                  </p:stCondLst>
                                  <p:childTnLst>
                                    <p:animEffect transition="out" filter="fade">
                                      <p:cBhvr>
                                        <p:cTn id="4424" dur="400"/>
                                        <p:tgtEl>
                                          <p:spTgt spid="53"/>
                                        </p:tgtEl>
                                      </p:cBhvr>
                                    </p:animEffect>
                                    <p:set>
                                      <p:cBhvr>
                                        <p:cTn id="4425" dur="1" fill="hold">
                                          <p:stCondLst>
                                            <p:cond delay="399"/>
                                          </p:stCondLst>
                                        </p:cTn>
                                        <p:tgtEl>
                                          <p:spTgt spid="53"/>
                                        </p:tgtEl>
                                        <p:attrNameLst>
                                          <p:attrName>style.visibility</p:attrName>
                                        </p:attrNameLst>
                                      </p:cBhvr>
                                      <p:to>
                                        <p:strVal val="hidden"/>
                                      </p:to>
                                    </p:set>
                                  </p:childTnLst>
                                </p:cTn>
                              </p:par>
                              <p:par>
                                <p:cTn id="4426" presetID="22" presetClass="entr" presetSubtype="4" fill="hold" nodeType="withEffect">
                                  <p:stCondLst>
                                    <p:cond delay="200"/>
                                  </p:stCondLst>
                                  <p:childTnLst>
                                    <p:set>
                                      <p:cBhvr>
                                        <p:cTn id="4427" dur="1" fill="hold">
                                          <p:stCondLst>
                                            <p:cond delay="0"/>
                                          </p:stCondLst>
                                        </p:cTn>
                                        <p:tgtEl>
                                          <p:spTgt spid="27"/>
                                        </p:tgtEl>
                                        <p:attrNameLst>
                                          <p:attrName>style.visibility</p:attrName>
                                        </p:attrNameLst>
                                      </p:cBhvr>
                                      <p:to>
                                        <p:strVal val="visible"/>
                                      </p:to>
                                    </p:set>
                                    <p:animEffect transition="in" filter="wipe(down)">
                                      <p:cBhvr>
                                        <p:cTn id="4428" dur="500"/>
                                        <p:tgtEl>
                                          <p:spTgt spid="27"/>
                                        </p:tgtEl>
                                      </p:cBhvr>
                                    </p:animEffect>
                                  </p:childTnLst>
                                </p:cTn>
                              </p:par>
                              <p:par>
                                <p:cTn id="4429" presetID="22" presetClass="entr" presetSubtype="4" fill="hold" nodeType="withEffect">
                                  <p:stCondLst>
                                    <p:cond delay="270"/>
                                  </p:stCondLst>
                                  <p:childTnLst>
                                    <p:set>
                                      <p:cBhvr>
                                        <p:cTn id="4430" dur="1" fill="hold">
                                          <p:stCondLst>
                                            <p:cond delay="0"/>
                                          </p:stCondLst>
                                        </p:cTn>
                                        <p:tgtEl>
                                          <p:spTgt spid="28"/>
                                        </p:tgtEl>
                                        <p:attrNameLst>
                                          <p:attrName>style.visibility</p:attrName>
                                        </p:attrNameLst>
                                      </p:cBhvr>
                                      <p:to>
                                        <p:strVal val="visible"/>
                                      </p:to>
                                    </p:set>
                                    <p:animEffect transition="in" filter="wipe(down)">
                                      <p:cBhvr>
                                        <p:cTn id="4431" dur="500"/>
                                        <p:tgtEl>
                                          <p:spTgt spid="28"/>
                                        </p:tgtEl>
                                      </p:cBhvr>
                                    </p:animEffect>
                                  </p:childTnLst>
                                </p:cTn>
                              </p:par>
                              <p:par>
                                <p:cTn id="4432" presetID="22" presetClass="entr" presetSubtype="4" fill="hold" nodeType="withEffect">
                                  <p:stCondLst>
                                    <p:cond delay="340"/>
                                  </p:stCondLst>
                                  <p:childTnLst>
                                    <p:set>
                                      <p:cBhvr>
                                        <p:cTn id="4433" dur="1" fill="hold">
                                          <p:stCondLst>
                                            <p:cond delay="0"/>
                                          </p:stCondLst>
                                        </p:cTn>
                                        <p:tgtEl>
                                          <p:spTgt spid="29"/>
                                        </p:tgtEl>
                                        <p:attrNameLst>
                                          <p:attrName>style.visibility</p:attrName>
                                        </p:attrNameLst>
                                      </p:cBhvr>
                                      <p:to>
                                        <p:strVal val="visible"/>
                                      </p:to>
                                    </p:set>
                                    <p:animEffect transition="in" filter="wipe(down)">
                                      <p:cBhvr>
                                        <p:cTn id="4434" dur="500"/>
                                        <p:tgtEl>
                                          <p:spTgt spid="29"/>
                                        </p:tgtEl>
                                      </p:cBhvr>
                                    </p:animEffect>
                                  </p:childTnLst>
                                </p:cTn>
                              </p:par>
                              <p:par>
                                <p:cTn id="4435" presetID="22" presetClass="entr" presetSubtype="4" fill="hold" nodeType="withEffect">
                                  <p:stCondLst>
                                    <p:cond delay="410"/>
                                  </p:stCondLst>
                                  <p:childTnLst>
                                    <p:set>
                                      <p:cBhvr>
                                        <p:cTn id="4436" dur="1" fill="hold">
                                          <p:stCondLst>
                                            <p:cond delay="0"/>
                                          </p:stCondLst>
                                        </p:cTn>
                                        <p:tgtEl>
                                          <p:spTgt spid="30"/>
                                        </p:tgtEl>
                                        <p:attrNameLst>
                                          <p:attrName>style.visibility</p:attrName>
                                        </p:attrNameLst>
                                      </p:cBhvr>
                                      <p:to>
                                        <p:strVal val="visible"/>
                                      </p:to>
                                    </p:set>
                                    <p:animEffect transition="in" filter="wipe(down)">
                                      <p:cBhvr>
                                        <p:cTn id="4437" dur="500"/>
                                        <p:tgtEl>
                                          <p:spTgt spid="30"/>
                                        </p:tgtEl>
                                      </p:cBhvr>
                                    </p:animEffect>
                                  </p:childTnLst>
                                </p:cTn>
                              </p:par>
                              <p:par>
                                <p:cTn id="4438" presetID="22" presetClass="entr" presetSubtype="4" fill="hold" nodeType="withEffect">
                                  <p:stCondLst>
                                    <p:cond delay="480"/>
                                  </p:stCondLst>
                                  <p:childTnLst>
                                    <p:set>
                                      <p:cBhvr>
                                        <p:cTn id="4439" dur="1" fill="hold">
                                          <p:stCondLst>
                                            <p:cond delay="0"/>
                                          </p:stCondLst>
                                        </p:cTn>
                                        <p:tgtEl>
                                          <p:spTgt spid="31"/>
                                        </p:tgtEl>
                                        <p:attrNameLst>
                                          <p:attrName>style.visibility</p:attrName>
                                        </p:attrNameLst>
                                      </p:cBhvr>
                                      <p:to>
                                        <p:strVal val="visible"/>
                                      </p:to>
                                    </p:set>
                                    <p:animEffect transition="in" filter="wipe(down)">
                                      <p:cBhvr>
                                        <p:cTn id="4440" dur="500"/>
                                        <p:tgtEl>
                                          <p:spTgt spid="31"/>
                                        </p:tgtEl>
                                      </p:cBhvr>
                                    </p:animEffect>
                                  </p:childTnLst>
                                </p:cTn>
                              </p:par>
                              <p:par>
                                <p:cTn id="4441" presetID="22" presetClass="entr" presetSubtype="4" fill="hold" nodeType="withEffect">
                                  <p:stCondLst>
                                    <p:cond delay="550"/>
                                  </p:stCondLst>
                                  <p:childTnLst>
                                    <p:set>
                                      <p:cBhvr>
                                        <p:cTn id="4442" dur="1" fill="hold">
                                          <p:stCondLst>
                                            <p:cond delay="0"/>
                                          </p:stCondLst>
                                        </p:cTn>
                                        <p:tgtEl>
                                          <p:spTgt spid="32"/>
                                        </p:tgtEl>
                                        <p:attrNameLst>
                                          <p:attrName>style.visibility</p:attrName>
                                        </p:attrNameLst>
                                      </p:cBhvr>
                                      <p:to>
                                        <p:strVal val="visible"/>
                                      </p:to>
                                    </p:set>
                                    <p:animEffect transition="in" filter="wipe(down)">
                                      <p:cBhvr>
                                        <p:cTn id="4443" dur="500"/>
                                        <p:tgtEl>
                                          <p:spTgt spid="32"/>
                                        </p:tgtEl>
                                      </p:cBhvr>
                                    </p:animEffect>
                                  </p:childTnLst>
                                </p:cTn>
                              </p:par>
                              <p:par>
                                <p:cTn id="4444" presetID="22" presetClass="entr" presetSubtype="4" fill="hold" nodeType="withEffect">
                                  <p:stCondLst>
                                    <p:cond delay="620"/>
                                  </p:stCondLst>
                                  <p:childTnLst>
                                    <p:set>
                                      <p:cBhvr>
                                        <p:cTn id="4445" dur="1" fill="hold">
                                          <p:stCondLst>
                                            <p:cond delay="0"/>
                                          </p:stCondLst>
                                        </p:cTn>
                                        <p:tgtEl>
                                          <p:spTgt spid="33"/>
                                        </p:tgtEl>
                                        <p:attrNameLst>
                                          <p:attrName>style.visibility</p:attrName>
                                        </p:attrNameLst>
                                      </p:cBhvr>
                                      <p:to>
                                        <p:strVal val="visible"/>
                                      </p:to>
                                    </p:set>
                                    <p:animEffect transition="in" filter="wipe(down)">
                                      <p:cBhvr>
                                        <p:cTn id="4446" dur="500"/>
                                        <p:tgtEl>
                                          <p:spTgt spid="33"/>
                                        </p:tgtEl>
                                      </p:cBhvr>
                                    </p:animEffect>
                                  </p:childTnLst>
                                </p:cTn>
                              </p:par>
                              <p:par>
                                <p:cTn id="4447" presetID="22" presetClass="entr" presetSubtype="4" fill="hold" nodeType="withEffect">
                                  <p:stCondLst>
                                    <p:cond delay="690"/>
                                  </p:stCondLst>
                                  <p:childTnLst>
                                    <p:set>
                                      <p:cBhvr>
                                        <p:cTn id="4448" dur="1" fill="hold">
                                          <p:stCondLst>
                                            <p:cond delay="0"/>
                                          </p:stCondLst>
                                        </p:cTn>
                                        <p:tgtEl>
                                          <p:spTgt spid="34"/>
                                        </p:tgtEl>
                                        <p:attrNameLst>
                                          <p:attrName>style.visibility</p:attrName>
                                        </p:attrNameLst>
                                      </p:cBhvr>
                                      <p:to>
                                        <p:strVal val="visible"/>
                                      </p:to>
                                    </p:set>
                                    <p:animEffect transition="in" filter="wipe(down)">
                                      <p:cBhvr>
                                        <p:cTn id="4449" dur="500"/>
                                        <p:tgtEl>
                                          <p:spTgt spid="34"/>
                                        </p:tgtEl>
                                      </p:cBhvr>
                                    </p:animEffect>
                                  </p:childTnLst>
                                </p:cTn>
                              </p:par>
                              <p:par>
                                <p:cTn id="4450" presetID="22" presetClass="entr" presetSubtype="4" fill="hold" nodeType="withEffect">
                                  <p:stCondLst>
                                    <p:cond delay="760"/>
                                  </p:stCondLst>
                                  <p:childTnLst>
                                    <p:set>
                                      <p:cBhvr>
                                        <p:cTn id="4451" dur="1" fill="hold">
                                          <p:stCondLst>
                                            <p:cond delay="0"/>
                                          </p:stCondLst>
                                        </p:cTn>
                                        <p:tgtEl>
                                          <p:spTgt spid="35"/>
                                        </p:tgtEl>
                                        <p:attrNameLst>
                                          <p:attrName>style.visibility</p:attrName>
                                        </p:attrNameLst>
                                      </p:cBhvr>
                                      <p:to>
                                        <p:strVal val="visible"/>
                                      </p:to>
                                    </p:set>
                                    <p:animEffect transition="in" filter="wipe(down)">
                                      <p:cBhvr>
                                        <p:cTn id="4452" dur="500"/>
                                        <p:tgtEl>
                                          <p:spTgt spid="35"/>
                                        </p:tgtEl>
                                      </p:cBhvr>
                                    </p:animEffect>
                                  </p:childTnLst>
                                </p:cTn>
                              </p:par>
                              <p:par>
                                <p:cTn id="4453" presetID="22" presetClass="entr" presetSubtype="4" fill="hold" nodeType="withEffect">
                                  <p:stCondLst>
                                    <p:cond delay="830"/>
                                  </p:stCondLst>
                                  <p:childTnLst>
                                    <p:set>
                                      <p:cBhvr>
                                        <p:cTn id="4454" dur="1" fill="hold">
                                          <p:stCondLst>
                                            <p:cond delay="0"/>
                                          </p:stCondLst>
                                        </p:cTn>
                                        <p:tgtEl>
                                          <p:spTgt spid="36"/>
                                        </p:tgtEl>
                                        <p:attrNameLst>
                                          <p:attrName>style.visibility</p:attrName>
                                        </p:attrNameLst>
                                      </p:cBhvr>
                                      <p:to>
                                        <p:strVal val="visible"/>
                                      </p:to>
                                    </p:set>
                                    <p:animEffect transition="in" filter="wipe(down)">
                                      <p:cBhvr>
                                        <p:cTn id="4455" dur="500"/>
                                        <p:tgtEl>
                                          <p:spTgt spid="36"/>
                                        </p:tgtEl>
                                      </p:cBhvr>
                                    </p:animEffect>
                                  </p:childTnLst>
                                </p:cTn>
                              </p:par>
                              <p:par>
                                <p:cTn id="4456" presetID="22" presetClass="entr" presetSubtype="4" fill="hold" nodeType="withEffect">
                                  <p:stCondLst>
                                    <p:cond delay="900"/>
                                  </p:stCondLst>
                                  <p:childTnLst>
                                    <p:set>
                                      <p:cBhvr>
                                        <p:cTn id="4457" dur="1" fill="hold">
                                          <p:stCondLst>
                                            <p:cond delay="0"/>
                                          </p:stCondLst>
                                        </p:cTn>
                                        <p:tgtEl>
                                          <p:spTgt spid="37"/>
                                        </p:tgtEl>
                                        <p:attrNameLst>
                                          <p:attrName>style.visibility</p:attrName>
                                        </p:attrNameLst>
                                      </p:cBhvr>
                                      <p:to>
                                        <p:strVal val="visible"/>
                                      </p:to>
                                    </p:set>
                                    <p:animEffect transition="in" filter="wipe(down)">
                                      <p:cBhvr>
                                        <p:cTn id="4458" dur="500"/>
                                        <p:tgtEl>
                                          <p:spTgt spid="37"/>
                                        </p:tgtEl>
                                      </p:cBhvr>
                                    </p:animEffect>
                                  </p:childTnLst>
                                </p:cTn>
                              </p:par>
                              <p:par>
                                <p:cTn id="4459" presetID="22" presetClass="entr" presetSubtype="4" fill="hold" nodeType="withEffect">
                                  <p:stCondLst>
                                    <p:cond delay="900"/>
                                  </p:stCondLst>
                                  <p:childTnLst>
                                    <p:set>
                                      <p:cBhvr>
                                        <p:cTn id="4460" dur="1" fill="hold">
                                          <p:stCondLst>
                                            <p:cond delay="0"/>
                                          </p:stCondLst>
                                        </p:cTn>
                                        <p:tgtEl>
                                          <p:spTgt spid="38"/>
                                        </p:tgtEl>
                                        <p:attrNameLst>
                                          <p:attrName>style.visibility</p:attrName>
                                        </p:attrNameLst>
                                      </p:cBhvr>
                                      <p:to>
                                        <p:strVal val="visible"/>
                                      </p:to>
                                    </p:set>
                                    <p:animEffect transition="in" filter="wipe(down)">
                                      <p:cBhvr>
                                        <p:cTn id="4461" dur="500"/>
                                        <p:tgtEl>
                                          <p:spTgt spid="38"/>
                                        </p:tgtEl>
                                      </p:cBhvr>
                                    </p:animEffect>
                                  </p:childTnLst>
                                </p:cTn>
                              </p:par>
                              <p:par>
                                <p:cTn id="4462" presetID="22" presetClass="entr" presetSubtype="4" fill="hold" nodeType="withEffect">
                                  <p:stCondLst>
                                    <p:cond delay="900"/>
                                  </p:stCondLst>
                                  <p:childTnLst>
                                    <p:set>
                                      <p:cBhvr>
                                        <p:cTn id="4463" dur="1" fill="hold">
                                          <p:stCondLst>
                                            <p:cond delay="0"/>
                                          </p:stCondLst>
                                        </p:cTn>
                                        <p:tgtEl>
                                          <p:spTgt spid="54"/>
                                        </p:tgtEl>
                                        <p:attrNameLst>
                                          <p:attrName>style.visibility</p:attrName>
                                        </p:attrNameLst>
                                      </p:cBhvr>
                                      <p:to>
                                        <p:strVal val="visible"/>
                                      </p:to>
                                    </p:set>
                                    <p:animEffect transition="in" filter="wipe(down)">
                                      <p:cBhvr>
                                        <p:cTn id="4464" dur="500"/>
                                        <p:tgtEl>
                                          <p:spTgt spid="54"/>
                                        </p:tgtEl>
                                      </p:cBhvr>
                                    </p:animEffect>
                                  </p:childTnLst>
                                </p:cTn>
                              </p:par>
                              <p:par>
                                <p:cTn id="4465" presetID="22" presetClass="entr" presetSubtype="4" fill="hold" nodeType="withEffect">
                                  <p:stCondLst>
                                    <p:cond delay="900"/>
                                  </p:stCondLst>
                                  <p:childTnLst>
                                    <p:set>
                                      <p:cBhvr>
                                        <p:cTn id="4466" dur="1" fill="hold">
                                          <p:stCondLst>
                                            <p:cond delay="0"/>
                                          </p:stCondLst>
                                        </p:cTn>
                                        <p:tgtEl>
                                          <p:spTgt spid="55"/>
                                        </p:tgtEl>
                                        <p:attrNameLst>
                                          <p:attrName>style.visibility</p:attrName>
                                        </p:attrNameLst>
                                      </p:cBhvr>
                                      <p:to>
                                        <p:strVal val="visible"/>
                                      </p:to>
                                    </p:set>
                                    <p:animEffect transition="in" filter="wipe(down)">
                                      <p:cBhvr>
                                        <p:cTn id="4467" dur="500"/>
                                        <p:tgtEl>
                                          <p:spTgt spid="55"/>
                                        </p:tgtEl>
                                      </p:cBhvr>
                                    </p:animEffect>
                                  </p:childTnLst>
                                </p:cTn>
                              </p:par>
                            </p:childTnLst>
                          </p:cTn>
                        </p:par>
                      </p:childTnLst>
                    </p:cTn>
                  </p:par>
                  <p:par>
                    <p:cTn id="4542" fill="hold">
                      <p:stCondLst>
                        <p:cond delay="indefinite"/>
                      </p:stCondLst>
                      <p:childTnLst>
                        <p:par>
                          <p:cTn id="4543" fill="hold">
                            <p:stCondLst>
                              <p:cond delay="0"/>
                            </p:stCondLst>
                            <p:childTnLst>
                              <p:par>
                                <p:cTn id="4470" presetID="10" presetClass="exit" presetSubtype="0" fill="hold" nodeType="clickEffect">
                                  <p:stCondLst>
                                    <p:cond delay="0"/>
                                  </p:stCondLst>
                                  <p:childTnLst>
                                    <p:animEffect transition="out" filter="fade">
                                      <p:cBhvr>
                                        <p:cTn id="4471" dur="400"/>
                                        <p:tgtEl>
                                          <p:spTgt spid="27"/>
                                        </p:tgtEl>
                                      </p:cBhvr>
                                    </p:animEffect>
                                    <p:set>
                                      <p:cBhvr>
                                        <p:cTn id="4472" dur="1" fill="hold">
                                          <p:stCondLst>
                                            <p:cond delay="399"/>
                                          </p:stCondLst>
                                        </p:cTn>
                                        <p:tgtEl>
                                          <p:spTgt spid="27"/>
                                        </p:tgtEl>
                                        <p:attrNameLst>
                                          <p:attrName>style.visibility</p:attrName>
                                        </p:attrNameLst>
                                      </p:cBhvr>
                                      <p:to>
                                        <p:strVal val="hidden"/>
                                      </p:to>
                                    </p:set>
                                  </p:childTnLst>
                                </p:cTn>
                              </p:par>
                              <p:par>
                                <p:cTn id="4473" presetID="10" presetClass="exit" presetSubtype="0" fill="hold" nodeType="withEffect">
                                  <p:stCondLst>
                                    <p:cond delay="0"/>
                                  </p:stCondLst>
                                  <p:childTnLst>
                                    <p:animEffect transition="out" filter="fade">
                                      <p:cBhvr>
                                        <p:cTn id="4474" dur="400"/>
                                        <p:tgtEl>
                                          <p:spTgt spid="28"/>
                                        </p:tgtEl>
                                      </p:cBhvr>
                                    </p:animEffect>
                                    <p:set>
                                      <p:cBhvr>
                                        <p:cTn id="4475" dur="1" fill="hold">
                                          <p:stCondLst>
                                            <p:cond delay="399"/>
                                          </p:stCondLst>
                                        </p:cTn>
                                        <p:tgtEl>
                                          <p:spTgt spid="28"/>
                                        </p:tgtEl>
                                        <p:attrNameLst>
                                          <p:attrName>style.visibility</p:attrName>
                                        </p:attrNameLst>
                                      </p:cBhvr>
                                      <p:to>
                                        <p:strVal val="hidden"/>
                                      </p:to>
                                    </p:set>
                                  </p:childTnLst>
                                </p:cTn>
                              </p:par>
                              <p:par>
                                <p:cTn id="4476" presetID="10" presetClass="exit" presetSubtype="0" fill="hold" nodeType="withEffect">
                                  <p:stCondLst>
                                    <p:cond delay="0"/>
                                  </p:stCondLst>
                                  <p:childTnLst>
                                    <p:animEffect transition="out" filter="fade">
                                      <p:cBhvr>
                                        <p:cTn id="4477" dur="400"/>
                                        <p:tgtEl>
                                          <p:spTgt spid="29"/>
                                        </p:tgtEl>
                                      </p:cBhvr>
                                    </p:animEffect>
                                    <p:set>
                                      <p:cBhvr>
                                        <p:cTn id="4478" dur="1" fill="hold">
                                          <p:stCondLst>
                                            <p:cond delay="399"/>
                                          </p:stCondLst>
                                        </p:cTn>
                                        <p:tgtEl>
                                          <p:spTgt spid="29"/>
                                        </p:tgtEl>
                                        <p:attrNameLst>
                                          <p:attrName>style.visibility</p:attrName>
                                        </p:attrNameLst>
                                      </p:cBhvr>
                                      <p:to>
                                        <p:strVal val="hidden"/>
                                      </p:to>
                                    </p:set>
                                  </p:childTnLst>
                                </p:cTn>
                              </p:par>
                              <p:par>
                                <p:cTn id="4479" presetID="10" presetClass="exit" presetSubtype="0" fill="hold" nodeType="withEffect">
                                  <p:stCondLst>
                                    <p:cond delay="0"/>
                                  </p:stCondLst>
                                  <p:childTnLst>
                                    <p:animEffect transition="out" filter="fade">
                                      <p:cBhvr>
                                        <p:cTn id="4480" dur="400"/>
                                        <p:tgtEl>
                                          <p:spTgt spid="30"/>
                                        </p:tgtEl>
                                      </p:cBhvr>
                                    </p:animEffect>
                                    <p:set>
                                      <p:cBhvr>
                                        <p:cTn id="4481" dur="1" fill="hold">
                                          <p:stCondLst>
                                            <p:cond delay="399"/>
                                          </p:stCondLst>
                                        </p:cTn>
                                        <p:tgtEl>
                                          <p:spTgt spid="30"/>
                                        </p:tgtEl>
                                        <p:attrNameLst>
                                          <p:attrName>style.visibility</p:attrName>
                                        </p:attrNameLst>
                                      </p:cBhvr>
                                      <p:to>
                                        <p:strVal val="hidden"/>
                                      </p:to>
                                    </p:set>
                                  </p:childTnLst>
                                </p:cTn>
                              </p:par>
                              <p:par>
                                <p:cTn id="4482" presetID="10" presetClass="exit" presetSubtype="0" fill="hold" nodeType="withEffect">
                                  <p:stCondLst>
                                    <p:cond delay="0"/>
                                  </p:stCondLst>
                                  <p:childTnLst>
                                    <p:animEffect transition="out" filter="fade">
                                      <p:cBhvr>
                                        <p:cTn id="4483" dur="400"/>
                                        <p:tgtEl>
                                          <p:spTgt spid="31"/>
                                        </p:tgtEl>
                                      </p:cBhvr>
                                    </p:animEffect>
                                    <p:set>
                                      <p:cBhvr>
                                        <p:cTn id="4484" dur="1" fill="hold">
                                          <p:stCondLst>
                                            <p:cond delay="399"/>
                                          </p:stCondLst>
                                        </p:cTn>
                                        <p:tgtEl>
                                          <p:spTgt spid="31"/>
                                        </p:tgtEl>
                                        <p:attrNameLst>
                                          <p:attrName>style.visibility</p:attrName>
                                        </p:attrNameLst>
                                      </p:cBhvr>
                                      <p:to>
                                        <p:strVal val="hidden"/>
                                      </p:to>
                                    </p:set>
                                  </p:childTnLst>
                                </p:cTn>
                              </p:par>
                              <p:par>
                                <p:cTn id="4485" presetID="10" presetClass="exit" presetSubtype="0" fill="hold" nodeType="withEffect">
                                  <p:stCondLst>
                                    <p:cond delay="0"/>
                                  </p:stCondLst>
                                  <p:childTnLst>
                                    <p:animEffect transition="out" filter="fade">
                                      <p:cBhvr>
                                        <p:cTn id="4486" dur="400"/>
                                        <p:tgtEl>
                                          <p:spTgt spid="32"/>
                                        </p:tgtEl>
                                      </p:cBhvr>
                                    </p:animEffect>
                                    <p:set>
                                      <p:cBhvr>
                                        <p:cTn id="4487" dur="1" fill="hold">
                                          <p:stCondLst>
                                            <p:cond delay="399"/>
                                          </p:stCondLst>
                                        </p:cTn>
                                        <p:tgtEl>
                                          <p:spTgt spid="32"/>
                                        </p:tgtEl>
                                        <p:attrNameLst>
                                          <p:attrName>style.visibility</p:attrName>
                                        </p:attrNameLst>
                                      </p:cBhvr>
                                      <p:to>
                                        <p:strVal val="hidden"/>
                                      </p:to>
                                    </p:set>
                                  </p:childTnLst>
                                </p:cTn>
                              </p:par>
                              <p:par>
                                <p:cTn id="4488" presetID="10" presetClass="exit" presetSubtype="0" fill="hold" nodeType="withEffect">
                                  <p:stCondLst>
                                    <p:cond delay="0"/>
                                  </p:stCondLst>
                                  <p:childTnLst>
                                    <p:animEffect transition="out" filter="fade">
                                      <p:cBhvr>
                                        <p:cTn id="4489" dur="400"/>
                                        <p:tgtEl>
                                          <p:spTgt spid="33"/>
                                        </p:tgtEl>
                                      </p:cBhvr>
                                    </p:animEffect>
                                    <p:set>
                                      <p:cBhvr>
                                        <p:cTn id="4490" dur="1" fill="hold">
                                          <p:stCondLst>
                                            <p:cond delay="399"/>
                                          </p:stCondLst>
                                        </p:cTn>
                                        <p:tgtEl>
                                          <p:spTgt spid="33"/>
                                        </p:tgtEl>
                                        <p:attrNameLst>
                                          <p:attrName>style.visibility</p:attrName>
                                        </p:attrNameLst>
                                      </p:cBhvr>
                                      <p:to>
                                        <p:strVal val="hidden"/>
                                      </p:to>
                                    </p:set>
                                  </p:childTnLst>
                                </p:cTn>
                              </p:par>
                              <p:par>
                                <p:cTn id="4491" presetID="10" presetClass="exit" presetSubtype="0" fill="hold" nodeType="withEffect">
                                  <p:stCondLst>
                                    <p:cond delay="0"/>
                                  </p:stCondLst>
                                  <p:childTnLst>
                                    <p:animEffect transition="out" filter="fade">
                                      <p:cBhvr>
                                        <p:cTn id="4492" dur="400"/>
                                        <p:tgtEl>
                                          <p:spTgt spid="34"/>
                                        </p:tgtEl>
                                      </p:cBhvr>
                                    </p:animEffect>
                                    <p:set>
                                      <p:cBhvr>
                                        <p:cTn id="4493" dur="1" fill="hold">
                                          <p:stCondLst>
                                            <p:cond delay="399"/>
                                          </p:stCondLst>
                                        </p:cTn>
                                        <p:tgtEl>
                                          <p:spTgt spid="34"/>
                                        </p:tgtEl>
                                        <p:attrNameLst>
                                          <p:attrName>style.visibility</p:attrName>
                                        </p:attrNameLst>
                                      </p:cBhvr>
                                      <p:to>
                                        <p:strVal val="hidden"/>
                                      </p:to>
                                    </p:set>
                                  </p:childTnLst>
                                </p:cTn>
                              </p:par>
                              <p:par>
                                <p:cTn id="4494" presetID="10" presetClass="exit" presetSubtype="0" fill="hold" nodeType="withEffect">
                                  <p:stCondLst>
                                    <p:cond delay="0"/>
                                  </p:stCondLst>
                                  <p:childTnLst>
                                    <p:animEffect transition="out" filter="fade">
                                      <p:cBhvr>
                                        <p:cTn id="4495" dur="400"/>
                                        <p:tgtEl>
                                          <p:spTgt spid="35"/>
                                        </p:tgtEl>
                                      </p:cBhvr>
                                    </p:animEffect>
                                    <p:set>
                                      <p:cBhvr>
                                        <p:cTn id="4496" dur="1" fill="hold">
                                          <p:stCondLst>
                                            <p:cond delay="399"/>
                                          </p:stCondLst>
                                        </p:cTn>
                                        <p:tgtEl>
                                          <p:spTgt spid="35"/>
                                        </p:tgtEl>
                                        <p:attrNameLst>
                                          <p:attrName>style.visibility</p:attrName>
                                        </p:attrNameLst>
                                      </p:cBhvr>
                                      <p:to>
                                        <p:strVal val="hidden"/>
                                      </p:to>
                                    </p:set>
                                  </p:childTnLst>
                                </p:cTn>
                              </p:par>
                              <p:par>
                                <p:cTn id="4497" presetID="10" presetClass="exit" presetSubtype="0" fill="hold" nodeType="withEffect">
                                  <p:stCondLst>
                                    <p:cond delay="0"/>
                                  </p:stCondLst>
                                  <p:childTnLst>
                                    <p:animEffect transition="out" filter="fade">
                                      <p:cBhvr>
                                        <p:cTn id="4498" dur="400"/>
                                        <p:tgtEl>
                                          <p:spTgt spid="36"/>
                                        </p:tgtEl>
                                      </p:cBhvr>
                                    </p:animEffect>
                                    <p:set>
                                      <p:cBhvr>
                                        <p:cTn id="4499" dur="1" fill="hold">
                                          <p:stCondLst>
                                            <p:cond delay="399"/>
                                          </p:stCondLst>
                                        </p:cTn>
                                        <p:tgtEl>
                                          <p:spTgt spid="36"/>
                                        </p:tgtEl>
                                        <p:attrNameLst>
                                          <p:attrName>style.visibility</p:attrName>
                                        </p:attrNameLst>
                                      </p:cBhvr>
                                      <p:to>
                                        <p:strVal val="hidden"/>
                                      </p:to>
                                    </p:set>
                                  </p:childTnLst>
                                </p:cTn>
                              </p:par>
                              <p:par>
                                <p:cTn id="4500" presetID="10" presetClass="exit" presetSubtype="0" fill="hold" nodeType="withEffect">
                                  <p:stCondLst>
                                    <p:cond delay="0"/>
                                  </p:stCondLst>
                                  <p:childTnLst>
                                    <p:animEffect transition="out" filter="fade">
                                      <p:cBhvr>
                                        <p:cTn id="4501" dur="400"/>
                                        <p:tgtEl>
                                          <p:spTgt spid="37"/>
                                        </p:tgtEl>
                                      </p:cBhvr>
                                    </p:animEffect>
                                    <p:set>
                                      <p:cBhvr>
                                        <p:cTn id="4502" dur="1" fill="hold">
                                          <p:stCondLst>
                                            <p:cond delay="399"/>
                                          </p:stCondLst>
                                        </p:cTn>
                                        <p:tgtEl>
                                          <p:spTgt spid="37"/>
                                        </p:tgtEl>
                                        <p:attrNameLst>
                                          <p:attrName>style.visibility</p:attrName>
                                        </p:attrNameLst>
                                      </p:cBhvr>
                                      <p:to>
                                        <p:strVal val="hidden"/>
                                      </p:to>
                                    </p:set>
                                  </p:childTnLst>
                                </p:cTn>
                              </p:par>
                              <p:par>
                                <p:cTn id="4503" presetID="10" presetClass="exit" presetSubtype="0" fill="hold" nodeType="withEffect">
                                  <p:stCondLst>
                                    <p:cond delay="0"/>
                                  </p:stCondLst>
                                  <p:childTnLst>
                                    <p:animEffect transition="out" filter="fade">
                                      <p:cBhvr>
                                        <p:cTn id="4504" dur="400"/>
                                        <p:tgtEl>
                                          <p:spTgt spid="38"/>
                                        </p:tgtEl>
                                      </p:cBhvr>
                                    </p:animEffect>
                                    <p:set>
                                      <p:cBhvr>
                                        <p:cTn id="4505" dur="1" fill="hold">
                                          <p:stCondLst>
                                            <p:cond delay="399"/>
                                          </p:stCondLst>
                                        </p:cTn>
                                        <p:tgtEl>
                                          <p:spTgt spid="38"/>
                                        </p:tgtEl>
                                        <p:attrNameLst>
                                          <p:attrName>style.visibility</p:attrName>
                                        </p:attrNameLst>
                                      </p:cBhvr>
                                      <p:to>
                                        <p:strVal val="hidden"/>
                                      </p:to>
                                    </p:set>
                                  </p:childTnLst>
                                </p:cTn>
                              </p:par>
                              <p:par>
                                <p:cTn id="4506" presetID="10" presetClass="exit" presetSubtype="0" fill="hold" nodeType="withEffect">
                                  <p:stCondLst>
                                    <p:cond delay="0"/>
                                  </p:stCondLst>
                                  <p:childTnLst>
                                    <p:animEffect transition="out" filter="fade">
                                      <p:cBhvr>
                                        <p:cTn id="4507" dur="400"/>
                                        <p:tgtEl>
                                          <p:spTgt spid="54"/>
                                        </p:tgtEl>
                                      </p:cBhvr>
                                    </p:animEffect>
                                    <p:set>
                                      <p:cBhvr>
                                        <p:cTn id="4508" dur="1" fill="hold">
                                          <p:stCondLst>
                                            <p:cond delay="399"/>
                                          </p:stCondLst>
                                        </p:cTn>
                                        <p:tgtEl>
                                          <p:spTgt spid="54"/>
                                        </p:tgtEl>
                                        <p:attrNameLst>
                                          <p:attrName>style.visibility</p:attrName>
                                        </p:attrNameLst>
                                      </p:cBhvr>
                                      <p:to>
                                        <p:strVal val="hidden"/>
                                      </p:to>
                                    </p:set>
                                  </p:childTnLst>
                                </p:cTn>
                              </p:par>
                              <p:par>
                                <p:cTn id="4509" presetID="10" presetClass="exit" presetSubtype="0" fill="hold" nodeType="withEffect">
                                  <p:stCondLst>
                                    <p:cond delay="0"/>
                                  </p:stCondLst>
                                  <p:childTnLst>
                                    <p:animEffect transition="out" filter="fade">
                                      <p:cBhvr>
                                        <p:cTn id="4510" dur="400"/>
                                        <p:tgtEl>
                                          <p:spTgt spid="55"/>
                                        </p:tgtEl>
                                      </p:cBhvr>
                                    </p:animEffect>
                                    <p:set>
                                      <p:cBhvr>
                                        <p:cTn id="4511" dur="1" fill="hold">
                                          <p:stCondLst>
                                            <p:cond delay="399"/>
                                          </p:stCondLst>
                                        </p:cTn>
                                        <p:tgtEl>
                                          <p:spTgt spid="55"/>
                                        </p:tgtEl>
                                        <p:attrNameLst>
                                          <p:attrName>style.visibility</p:attrName>
                                        </p:attrNameLst>
                                      </p:cBhvr>
                                      <p:to>
                                        <p:strVal val="hidden"/>
                                      </p:to>
                                    </p:set>
                                  </p:childTnLst>
                                </p:cTn>
                              </p:par>
                              <p:par>
                                <p:cTn id="4512" presetID="10" presetClass="entr" presetSubtype="0" fill="hold" nodeType="withEffect">
                                  <p:stCondLst>
                                    <p:cond delay="200"/>
                                  </p:stCondLst>
                                  <p:childTnLst>
                                    <p:set>
                                      <p:cBhvr>
                                        <p:cTn id="4513" dur="1" fill="hold">
                                          <p:stCondLst>
                                            <p:cond delay="0"/>
                                          </p:stCondLst>
                                        </p:cTn>
                                        <p:tgtEl>
                                          <p:spTgt spid="39"/>
                                        </p:tgtEl>
                                        <p:attrNameLst>
                                          <p:attrName>style.visibility</p:attrName>
                                        </p:attrNameLst>
                                      </p:cBhvr>
                                      <p:to>
                                        <p:strVal val="visible"/>
                                      </p:to>
                                    </p:set>
                                    <p:animEffect transition="in" filter="fade">
                                      <p:cBhvr>
                                        <p:cTn id="4514" dur="500"/>
                                        <p:tgtEl>
                                          <p:spTgt spid="39"/>
                                        </p:tgtEl>
                                      </p:cBhvr>
                                    </p:animEffect>
                                  </p:childTnLst>
                                </p:cTn>
                              </p:par>
                              <p:par>
                                <p:cTn id="4515" presetID="10" presetClass="entr" presetSubtype="0" fill="hold" nodeType="withEffect">
                                  <p:stCondLst>
                                    <p:cond delay="270"/>
                                  </p:stCondLst>
                                  <p:childTnLst>
                                    <p:set>
                                      <p:cBhvr>
                                        <p:cTn id="4516" dur="1" fill="hold">
                                          <p:stCondLst>
                                            <p:cond delay="0"/>
                                          </p:stCondLst>
                                        </p:cTn>
                                        <p:tgtEl>
                                          <p:spTgt spid="40"/>
                                        </p:tgtEl>
                                        <p:attrNameLst>
                                          <p:attrName>style.visibility</p:attrName>
                                        </p:attrNameLst>
                                      </p:cBhvr>
                                      <p:to>
                                        <p:strVal val="visible"/>
                                      </p:to>
                                    </p:set>
                                    <p:animEffect transition="in" filter="fade">
                                      <p:cBhvr>
                                        <p:cTn id="4517" dur="500"/>
                                        <p:tgtEl>
                                          <p:spTgt spid="40"/>
                                        </p:tgtEl>
                                      </p:cBhvr>
                                    </p:animEffect>
                                  </p:childTnLst>
                                </p:cTn>
                              </p:par>
                              <p:par>
                                <p:cTn id="4518" presetID="10" presetClass="entr" presetSubtype="0" fill="hold" nodeType="withEffect">
                                  <p:stCondLst>
                                    <p:cond delay="340"/>
                                  </p:stCondLst>
                                  <p:childTnLst>
                                    <p:set>
                                      <p:cBhvr>
                                        <p:cTn id="4519" dur="1" fill="hold">
                                          <p:stCondLst>
                                            <p:cond delay="0"/>
                                          </p:stCondLst>
                                        </p:cTn>
                                        <p:tgtEl>
                                          <p:spTgt spid="41"/>
                                        </p:tgtEl>
                                        <p:attrNameLst>
                                          <p:attrName>style.visibility</p:attrName>
                                        </p:attrNameLst>
                                      </p:cBhvr>
                                      <p:to>
                                        <p:strVal val="visible"/>
                                      </p:to>
                                    </p:set>
                                    <p:animEffect transition="in" filter="fade">
                                      <p:cBhvr>
                                        <p:cTn id="4520" dur="500"/>
                                        <p:tgtEl>
                                          <p:spTgt spid="41"/>
                                        </p:tgtEl>
                                      </p:cBhvr>
                                    </p:animEffect>
                                  </p:childTnLst>
                                </p:cTn>
                              </p:par>
                              <p:par>
                                <p:cTn id="4521" presetID="10" presetClass="entr" presetSubtype="0" fill="hold" nodeType="withEffect">
                                  <p:stCondLst>
                                    <p:cond delay="410"/>
                                  </p:stCondLst>
                                  <p:childTnLst>
                                    <p:set>
                                      <p:cBhvr>
                                        <p:cTn id="4522" dur="1" fill="hold">
                                          <p:stCondLst>
                                            <p:cond delay="0"/>
                                          </p:stCondLst>
                                        </p:cTn>
                                        <p:tgtEl>
                                          <p:spTgt spid="42"/>
                                        </p:tgtEl>
                                        <p:attrNameLst>
                                          <p:attrName>style.visibility</p:attrName>
                                        </p:attrNameLst>
                                      </p:cBhvr>
                                      <p:to>
                                        <p:strVal val="visible"/>
                                      </p:to>
                                    </p:set>
                                    <p:animEffect transition="in" filter="fade">
                                      <p:cBhvr>
                                        <p:cTn id="4523" dur="500"/>
                                        <p:tgtEl>
                                          <p:spTgt spid="42"/>
                                        </p:tgtEl>
                                      </p:cBhvr>
                                    </p:animEffect>
                                  </p:childTnLst>
                                </p:cTn>
                              </p:par>
                              <p:par>
                                <p:cTn id="4524" presetID="10" presetClass="entr" presetSubtype="0" fill="hold" nodeType="withEffect">
                                  <p:stCondLst>
                                    <p:cond delay="480"/>
                                  </p:stCondLst>
                                  <p:childTnLst>
                                    <p:set>
                                      <p:cBhvr>
                                        <p:cTn id="4525" dur="1" fill="hold">
                                          <p:stCondLst>
                                            <p:cond delay="0"/>
                                          </p:stCondLst>
                                        </p:cTn>
                                        <p:tgtEl>
                                          <p:spTgt spid="43"/>
                                        </p:tgtEl>
                                        <p:attrNameLst>
                                          <p:attrName>style.visibility</p:attrName>
                                        </p:attrNameLst>
                                      </p:cBhvr>
                                      <p:to>
                                        <p:strVal val="visible"/>
                                      </p:to>
                                    </p:set>
                                    <p:animEffect transition="in" filter="fade">
                                      <p:cBhvr>
                                        <p:cTn id="4526" dur="500"/>
                                        <p:tgtEl>
                                          <p:spTgt spid="43"/>
                                        </p:tgtEl>
                                      </p:cBhvr>
                                    </p:animEffect>
                                  </p:childTnLst>
                                </p:cTn>
                              </p:par>
                              <p:par>
                                <p:cTn id="4527" presetID="10" presetClass="entr" presetSubtype="0" fill="hold" nodeType="withEffect">
                                  <p:stCondLst>
                                    <p:cond delay="550"/>
                                  </p:stCondLst>
                                  <p:childTnLst>
                                    <p:set>
                                      <p:cBhvr>
                                        <p:cTn id="4528" dur="1" fill="hold">
                                          <p:stCondLst>
                                            <p:cond delay="0"/>
                                          </p:stCondLst>
                                        </p:cTn>
                                        <p:tgtEl>
                                          <p:spTgt spid="44"/>
                                        </p:tgtEl>
                                        <p:attrNameLst>
                                          <p:attrName>style.visibility</p:attrName>
                                        </p:attrNameLst>
                                      </p:cBhvr>
                                      <p:to>
                                        <p:strVal val="visible"/>
                                      </p:to>
                                    </p:set>
                                    <p:animEffect transition="in" filter="fade">
                                      <p:cBhvr>
                                        <p:cTn id="4529" dur="500"/>
                                        <p:tgtEl>
                                          <p:spTgt spid="44"/>
                                        </p:tgtEl>
                                      </p:cBhvr>
                                    </p:animEffect>
                                  </p:childTnLst>
                                </p:cTn>
                              </p:par>
                              <p:par>
                                <p:cTn id="4530" presetID="10" presetClass="entr" presetSubtype="0" fill="hold" nodeType="withEffect">
                                  <p:stCondLst>
                                    <p:cond delay="620"/>
                                  </p:stCondLst>
                                  <p:childTnLst>
                                    <p:set>
                                      <p:cBhvr>
                                        <p:cTn id="4531" dur="1" fill="hold">
                                          <p:stCondLst>
                                            <p:cond delay="0"/>
                                          </p:stCondLst>
                                        </p:cTn>
                                        <p:tgtEl>
                                          <p:spTgt spid="46"/>
                                        </p:tgtEl>
                                        <p:attrNameLst>
                                          <p:attrName>style.visibility</p:attrName>
                                        </p:attrNameLst>
                                      </p:cBhvr>
                                      <p:to>
                                        <p:strVal val="visible"/>
                                      </p:to>
                                    </p:set>
                                    <p:animEffect transition="in" filter="fade">
                                      <p:cBhvr>
                                        <p:cTn id="4532" dur="500"/>
                                        <p:tgtEl>
                                          <p:spTgt spid="46"/>
                                        </p:tgtEl>
                                      </p:cBhvr>
                                    </p:animEffect>
                                  </p:childTnLst>
                                </p:cTn>
                              </p:par>
                              <p:par>
                                <p:cTn id="4533" presetID="10" presetClass="entr" presetSubtype="0" fill="hold" nodeType="withEffect">
                                  <p:stCondLst>
                                    <p:cond delay="690"/>
                                  </p:stCondLst>
                                  <p:childTnLst>
                                    <p:set>
                                      <p:cBhvr>
                                        <p:cTn id="4534" dur="1" fill="hold">
                                          <p:stCondLst>
                                            <p:cond delay="0"/>
                                          </p:stCondLst>
                                        </p:cTn>
                                        <p:tgtEl>
                                          <p:spTgt spid="47"/>
                                        </p:tgtEl>
                                        <p:attrNameLst>
                                          <p:attrName>style.visibility</p:attrName>
                                        </p:attrNameLst>
                                      </p:cBhvr>
                                      <p:to>
                                        <p:strVal val="visible"/>
                                      </p:to>
                                    </p:set>
                                    <p:animEffect transition="in" filter="fade">
                                      <p:cBhvr>
                                        <p:cTn id="4535" dur="500"/>
                                        <p:tgtEl>
                                          <p:spTgt spid="47"/>
                                        </p:tgtEl>
                                      </p:cBhvr>
                                    </p:animEffect>
                                  </p:childTnLst>
                                </p:cTn>
                              </p:par>
                              <p:par>
                                <p:cTn id="4536" presetID="10" presetClass="entr" presetSubtype="0" fill="hold" nodeType="withEffect">
                                  <p:stCondLst>
                                    <p:cond delay="760"/>
                                  </p:stCondLst>
                                  <p:childTnLst>
                                    <p:set>
                                      <p:cBhvr>
                                        <p:cTn id="4537" dur="1" fill="hold">
                                          <p:stCondLst>
                                            <p:cond delay="0"/>
                                          </p:stCondLst>
                                        </p:cTn>
                                        <p:tgtEl>
                                          <p:spTgt spid="56"/>
                                        </p:tgtEl>
                                        <p:attrNameLst>
                                          <p:attrName>style.visibility</p:attrName>
                                        </p:attrNameLst>
                                      </p:cBhvr>
                                      <p:to>
                                        <p:strVal val="visible"/>
                                      </p:to>
                                    </p:set>
                                    <p:animEffect transition="in" filter="fade">
                                      <p:cBhvr>
                                        <p:cTn id="4538" dur="500"/>
                                        <p:tgtEl>
                                          <p:spTgt spid="56"/>
                                        </p:tgtEl>
                                      </p:cBhvr>
                                    </p:animEffect>
                                  </p:childTnLst>
                                </p:cTn>
                              </p:par>
                              <p:par>
                                <p:cTn id="4539" presetID="10" presetClass="entr" presetSubtype="0" fill="hold" nodeType="withEffect">
                                  <p:stCondLst>
                                    <p:cond delay="830"/>
                                  </p:stCondLst>
                                  <p:childTnLst>
                                    <p:set>
                                      <p:cBhvr>
                                        <p:cTn id="4540" dur="1" fill="hold">
                                          <p:stCondLst>
                                            <p:cond delay="0"/>
                                          </p:stCondLst>
                                        </p:cTn>
                                        <p:tgtEl>
                                          <p:spTgt spid="57"/>
                                        </p:tgtEl>
                                        <p:attrNameLst>
                                          <p:attrName>style.visibility</p:attrName>
                                        </p:attrNameLst>
                                      </p:cBhvr>
                                      <p:to>
                                        <p:strVal val="visible"/>
                                      </p:to>
                                    </p:set>
                                    <p:animEffect transition="in" filter="fade">
                                      <p:cBhvr>
                                        <p:cTn id="4541"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Descarga en lotes, escalabilidad y nodo HAMMER</a:t>
            </a:r>
            <a:endParaRPr lang="en-US" sz="2200" dirty="0"/>
          </a:p>
        </p:txBody>
      </p:sp>
      <p:pic>
        <p:nvPicPr>
          <p:cNvPr id="3" name="Descarga de lotes [s0]" descr="Descarga de lotes: el maestro pide cada lote por nodo y secuencia, el esclavo lo recupera de la microSD o de la arena de RAM y lo envía con CRC; sin acuse se repite">    </p:cNvPr>
          <p:cNvPicPr>
            <a:picLocks noChangeAspect="1"/>
          </p:cNvPicPr>
          <p:nvPr/>
        </p:nvPicPr>
        <p:blipFill>
          <a:blip r:embed="rId1"/>
          <a:stretch>
            <a:fillRect/>
          </a:stretch>
        </p:blipFill>
        <p:spPr>
          <a:xfrm>
            <a:off x="1046266" y="1561458"/>
            <a:ext cx="7051468" cy="2839427"/>
          </a:xfrm>
          <a:prstGeom prst="rect">
            <a:avLst/>
          </a:prstGeom>
        </p:spPr>
      </p:pic>
      <p:sp>
        <p:nvSpPr>
          <p:cNvPr id="4" name="Cabecera Verificado [s1]"/>
          <p:cNvSpPr/>
          <p:nvPr/>
        </p:nvSpPr>
        <p:spPr>
          <a:xfrm>
            <a:off x="966136" y="1561458"/>
            <a:ext cx="2243649" cy="360586"/>
          </a:xfrm>
          <a:prstGeom prst="rect">
            <a:avLst/>
          </a:prstGeom>
          <a:solidFill>
            <a:srgbClr val="1F4E79"/>
          </a:solidFill>
          <a:ln w="6350">
            <a:solidFill>
              <a:srgbClr val="1F4E79"/>
            </a:solidFill>
            <a:prstDash val="solid"/>
          </a:ln>
        </p:spPr>
      </p:sp>
      <p:sp>
        <p:nvSpPr>
          <p:cNvPr id="5" name="Elemento [s1]"/>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Verificado</a:t>
            </a:r>
            <a:endParaRPr lang="en-US" sz="1350" dirty="0"/>
          </a:p>
        </p:txBody>
      </p:sp>
      <p:sp>
        <p:nvSpPr>
          <p:cNvPr id="6" name="Tarjeta Verificado [s1]"/>
          <p:cNvSpPr/>
          <p:nvPr/>
        </p:nvSpPr>
        <p:spPr>
          <a:xfrm>
            <a:off x="966136" y="1922045"/>
            <a:ext cx="2243649" cy="2163519"/>
          </a:xfrm>
          <a:prstGeom prst="rect">
            <a:avLst/>
          </a:prstGeom>
          <a:solidFill>
            <a:srgbClr val="FFFFFF"/>
          </a:solidFill>
          <a:ln w="16694">
            <a:solidFill>
              <a:srgbClr val="1F4E79"/>
            </a:solidFill>
            <a:prstDash val="solid"/>
          </a:ln>
        </p:spPr>
      </p:sp>
      <p:sp>
        <p:nvSpPr>
          <p:cNvPr id="7" name="Elemento [s1]"/>
          <p:cNvSpPr txBox="1"/>
          <p:nvPr/>
        </p:nvSpPr>
        <p:spPr>
          <a:xfrm>
            <a:off x="1062292" y="1986149"/>
            <a:ext cx="2051336" cy="2035310"/>
          </a:xfrm>
          <a:prstGeom prst="rect">
            <a:avLst/>
          </a:prstGeom>
          <a:noFill/>
          <a:ln/>
        </p:spPr>
        <p:txBody>
          <a:bodyPr wrap="square" lIns="0" tIns="0" rIns="0" bIns="0" rtlCol="0" anchor="t"/>
          <a:lstStyle/>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ESP-IDF v5.5: hasta 20 pares; cifrados: hasta 17, 7 por defecto</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Carga útil por trama: 250 B (v1.0) o 1470 B (v2.0)</a:t>
            </a:r>
            <a:endParaRPr lang="en-US" sz="1125" dirty="0"/>
          </a:p>
        </p:txBody>
      </p:sp>
      <p:sp>
        <p:nvSpPr>
          <p:cNvPr id="8" name="Cabecera Inferencia [s1]"/>
          <p:cNvSpPr/>
          <p:nvPr/>
        </p:nvSpPr>
        <p:spPr>
          <a:xfrm>
            <a:off x="3450176" y="1561458"/>
            <a:ext cx="2243649" cy="360586"/>
          </a:xfrm>
          <a:prstGeom prst="rect">
            <a:avLst/>
          </a:prstGeom>
          <a:solidFill>
            <a:srgbClr val="2E75B6"/>
          </a:solidFill>
          <a:ln w="6350">
            <a:solidFill>
              <a:srgbClr val="2E75B6"/>
            </a:solidFill>
            <a:prstDash val="solid"/>
          </a:ln>
        </p:spPr>
      </p:sp>
      <p:sp>
        <p:nvSpPr>
          <p:cNvPr id="9" name="Elemento [s1]"/>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Inferencia</a:t>
            </a:r>
            <a:endParaRPr lang="en-US" sz="1350" dirty="0"/>
          </a:p>
        </p:txBody>
      </p:sp>
      <p:sp>
        <p:nvSpPr>
          <p:cNvPr id="10" name="Tarjeta Inferencia [s1]"/>
          <p:cNvSpPr/>
          <p:nvPr/>
        </p:nvSpPr>
        <p:spPr>
          <a:xfrm>
            <a:off x="3450176" y="1922045"/>
            <a:ext cx="2243649" cy="2163519"/>
          </a:xfrm>
          <a:prstGeom prst="rect">
            <a:avLst/>
          </a:prstGeom>
          <a:solidFill>
            <a:srgbClr val="FFFFFF"/>
          </a:solidFill>
          <a:ln w="16694">
            <a:solidFill>
              <a:srgbClr val="2E75B6"/>
            </a:solidFill>
            <a:prstDash val="solid"/>
          </a:ln>
        </p:spPr>
      </p:sp>
      <p:sp>
        <p:nvSpPr>
          <p:cNvPr id="11" name="Elemento [s1]"/>
          <p:cNvSpPr txBox="1"/>
          <p:nvPr/>
        </p:nvSpPr>
        <p:spPr>
          <a:xfrm>
            <a:off x="3546332" y="1986149"/>
            <a:ext cx="2051336" cy="2035310"/>
          </a:xfrm>
          <a:prstGeom prst="rect">
            <a:avLst/>
          </a:prstGeom>
          <a:noFill/>
          <a:ln/>
        </p:spPr>
        <p:txBody>
          <a:bodyPr wrap="square" lIns="0" tIns="0" rIns="0" bIns="0" rtlCol="0" anchor="t"/>
          <a:lstStyle/>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Con un par para el broadcast, quedarían unos 19 nodos por maestro</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La descarga recorre un nodo por vez: el tiempo crece con N</a:t>
            </a:r>
            <a:endParaRPr lang="en-US" sz="1125" dirty="0"/>
          </a:p>
        </p:txBody>
      </p:sp>
      <p:sp>
        <p:nvSpPr>
          <p:cNvPr id="12" name="Cabecera Sin medir [s1]"/>
          <p:cNvSpPr/>
          <p:nvPr/>
        </p:nvSpPr>
        <p:spPr>
          <a:xfrm>
            <a:off x="5934215" y="1561458"/>
            <a:ext cx="2243649" cy="360586"/>
          </a:xfrm>
          <a:prstGeom prst="rect">
            <a:avLst/>
          </a:prstGeom>
          <a:solidFill>
            <a:srgbClr val="C55A11"/>
          </a:solidFill>
          <a:ln w="6350">
            <a:solidFill>
              <a:srgbClr val="C55A11"/>
            </a:solidFill>
            <a:prstDash val="solid"/>
          </a:ln>
        </p:spPr>
      </p:sp>
      <p:sp>
        <p:nvSpPr>
          <p:cNvPr id="13" name="Elemento [s1]"/>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Sin medir</a:t>
            </a:r>
            <a:endParaRPr lang="en-US" sz="1350" dirty="0"/>
          </a:p>
        </p:txBody>
      </p:sp>
      <p:sp>
        <p:nvSpPr>
          <p:cNvPr id="14" name="Tarjeta Sin medir [s1]"/>
          <p:cNvSpPr/>
          <p:nvPr/>
        </p:nvSpPr>
        <p:spPr>
          <a:xfrm>
            <a:off x="5934215" y="1922045"/>
            <a:ext cx="2243649" cy="2163519"/>
          </a:xfrm>
          <a:prstGeom prst="rect">
            <a:avLst/>
          </a:prstGeom>
          <a:solidFill>
            <a:srgbClr val="FFFFFF"/>
          </a:solidFill>
          <a:ln w="16694">
            <a:solidFill>
              <a:srgbClr val="C55A11"/>
            </a:solidFill>
            <a:prstDash val="solid"/>
          </a:ln>
        </p:spPr>
      </p:sp>
      <p:sp>
        <p:nvSpPr>
          <p:cNvPr id="15" name="Elemento [s1]"/>
          <p:cNvSpPr txBox="1"/>
          <p:nvPr/>
        </p:nvSpPr>
        <p:spPr>
          <a:xfrm>
            <a:off x="6030372" y="1986149"/>
            <a:ext cx="2051336" cy="2035310"/>
          </a:xfrm>
          <a:prstGeom prst="rect">
            <a:avLst/>
          </a:prstGeom>
          <a:noFill/>
          <a:ln/>
        </p:spPr>
        <p:txBody>
          <a:bodyPr wrap="square" lIns="0" tIns="0" rIns="0" bIns="0" rtlCol="0" anchor="t"/>
          <a:lstStyle/>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Jitter y descarga con más de 3 nodos</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Efecto de la ocupación del canal Wi-Fi</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Qué versión de ESP-NOW usa el firmware</a:t>
            </a:r>
            <a:endParaRPr lang="en-US" sz="1125" dirty="0"/>
          </a:p>
        </p:txBody>
      </p:sp>
      <p:pic>
        <p:nvPicPr>
          <p:cNvPr id="16" name="Principio ICP [s2]" descr="Principio de alimentación ICP: sensor de cuarzo con amplificador interno, cable, fuente de corriente constante y capacitor de desacople">    </p:cNvPr>
          <p:cNvPicPr>
            <a:picLocks noChangeAspect="1"/>
          </p:cNvPicPr>
          <p:nvPr/>
        </p:nvPicPr>
        <p:blipFill>
          <a:blip r:embed="rId2"/>
          <a:stretch>
            <a:fillRect/>
          </a:stretch>
        </p:blipFill>
        <p:spPr>
          <a:xfrm>
            <a:off x="886005" y="1601523"/>
            <a:ext cx="1762867" cy="1494030"/>
          </a:xfrm>
          <a:prstGeom prst="rect">
            <a:avLst/>
          </a:prstGeom>
        </p:spPr>
      </p:pic>
      <p:pic>
        <p:nvPicPr>
          <p:cNvPr id="17" name="Acondicionamiento del martillo [s2]" descr="Acondicionamiento del martillo en PSoC Creator: fuente de corriente con LM7805, desacople y protección, PGA, pasa-bajos y ADC delta-sigma">    </p:cNvPr>
          <p:cNvPicPr>
            <a:picLocks noChangeAspect="1"/>
          </p:cNvPicPr>
          <p:nvPr/>
        </p:nvPicPr>
        <p:blipFill>
          <a:blip r:embed="rId3"/>
          <a:stretch>
            <a:fillRect/>
          </a:stretch>
        </p:blipFill>
        <p:spPr>
          <a:xfrm>
            <a:off x="3129654" y="1601523"/>
            <a:ext cx="4968080" cy="1881246"/>
          </a:xfrm>
          <a:prstGeom prst="rect">
            <a:avLst/>
          </a:prstGeom>
        </p:spPr>
      </p:pic>
      <p:sp>
        <p:nvSpPr>
          <p:cNvPr id="18" name="Elemento [s2]"/>
          <p:cNvSpPr txBox="1"/>
          <p:nvPr/>
        </p:nvSpPr>
        <p:spPr>
          <a:xfrm>
            <a:off x="3129654" y="3500612"/>
            <a:ext cx="4968080"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ETIQUETAS EN INGLÉS (figuras originales)</a:t>
            </a:r>
            <a:endParaRPr lang="en-US" sz="900" dirty="0"/>
          </a:p>
        </p:txBody>
      </p:sp>
      <p:sp>
        <p:nvSpPr>
          <p:cNvPr id="19" name="Cuerpo [s2]"/>
          <p:cNvSpPr txBox="1"/>
          <p:nvPr/>
        </p:nvSpPr>
        <p:spPr>
          <a:xfrm>
            <a:off x="966136" y="3724977"/>
            <a:ext cx="7211728" cy="721173"/>
          </a:xfrm>
          <a:prstGeom prst="rect">
            <a:avLst/>
          </a:prstGeom>
          <a:noFill/>
          <a:ln/>
        </p:spPr>
        <p:txBody>
          <a:bodyPr wrap="square" lIns="0" tIns="0" rIns="0" bIns="0" rtlCol="0" anchor="t"/>
          <a:lstStyle/>
          <a:p>
            <a:pPr marL="342900" indent="-342900">
              <a:spcAft>
                <a:spcPts val="270"/>
              </a:spcAft>
              <a:buSzPct val="100000"/>
              <a:buChar char="•"/>
            </a:pPr>
            <a:r>
              <a:rPr lang="en-US" sz="1170" dirty="0">
                <a:solidFill>
                  <a:srgbClr val="2D2D2D"/>
                </a:solidFill>
                <a:latin typeface="Arial" pitchFamily="34" charset="0"/>
                <a:ea typeface="Arial" pitchFamily="34" charset="-122"/>
                <a:cs typeface="Arial" pitchFamily="34" charset="-120"/>
              </a:rPr>
              <a:t>Sensor de impacto PCB 086D20, alimentado con corriente constante; luego desacople, protección, PGA, pasa-bajos y ADC</a:t>
            </a:r>
            <a:endParaRPr lang="en-US" sz="1170" dirty="0"/>
          </a:p>
          <a:p>
            <a:pPr marL="342900" indent="-342900">
              <a:spcAft>
                <a:spcPts val="270"/>
              </a:spcAft>
              <a:buSzPct val="100000"/>
              <a:buChar char="•"/>
            </a:pPr>
            <a:r>
              <a:rPr lang="en-US" sz="1170" dirty="0">
                <a:solidFill>
                  <a:srgbClr val="2D2D2D"/>
                </a:solidFill>
                <a:latin typeface="Arial" pitchFamily="34" charset="0"/>
                <a:ea typeface="Arial" pitchFamily="34" charset="-122"/>
                <a:cs typeface="Arial" pitchFamily="34" charset="-120"/>
              </a:rPr>
              <a:t>Da el instante y la forma del impacto: alinea trazas, mide repetibilidad y detecta rebotes</a:t>
            </a:r>
            <a:endParaRPr lang="en-US" sz="1170" dirty="0"/>
          </a:p>
          <a:p>
            <a:pPr marL="342900" indent="-342900">
              <a:spcAft>
                <a:spcPts val="270"/>
              </a:spcAft>
              <a:buSzPct val="100000"/>
              <a:buChar char="•"/>
            </a:pPr>
            <a:r>
              <a:rPr lang="en-US" sz="1170" dirty="0">
                <a:solidFill>
                  <a:srgbClr val="2D2D2D"/>
                </a:solidFill>
                <a:latin typeface="Arial" pitchFamily="34" charset="0"/>
                <a:ea typeface="Arial" pitchFamily="34" charset="-122"/>
                <a:cs typeface="Arial" pitchFamily="34" charset="-120"/>
              </a:rPr>
              <a:t>Misma estructura de control, adquisición y almacenamiento que el nodo GEO</a:t>
            </a:r>
            <a:endParaRPr lang="en-US" sz="1170" dirty="0"/>
          </a:p>
        </p:txBody>
      </p:sp>
      <p:sp>
        <p:nvSpPr>
          <p:cNvPr id="20"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Los registros se descargan en lotes numerados, con CRC y reintento si algo falla</a:t>
            </a:r>
            <a:endParaRPr lang="en-US" sz="1400" dirty="0"/>
          </a:p>
        </p:txBody>
      </p:sp>
      <p:sp>
        <p:nvSpPr>
          <p:cNvPr id="21"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12); resumen firmado, sec. 4.8; documento de tesis, 04_arquitectura.tex.</a:t>
            </a:r>
            <a:endParaRPr lang="en-US" sz="800" dirty="0"/>
          </a:p>
        </p:txBody>
      </p:sp>
      <p:sp>
        <p:nvSpPr>
          <p:cNvPr id="22"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número de nodos está limitado por los pares de ESP-NOW y por la descarga secuencial</a:t>
            </a:r>
            <a:endParaRPr lang="en-US" sz="1400" dirty="0"/>
          </a:p>
        </p:txBody>
      </p:sp>
      <p:sp>
        <p:nvSpPr>
          <p:cNvPr id="23"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Espressif, ESP-IDF v5.5, API de ESP-NOW (docs.espressif.com); documento de tesis, 04_arquitectura.tex (experimentos pendientes). Inferencias propias.</a:t>
            </a:r>
            <a:endParaRPr lang="en-US" sz="800" dirty="0"/>
          </a:p>
        </p:txBody>
      </p:sp>
      <p:sp>
        <p:nvSpPr>
          <p:cNvPr id="24"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nodo HAMMER registra el impacto con un sensor ICP y el mismo firmware que los nodos GEO</a:t>
            </a:r>
            <a:endParaRPr lang="en-US" sz="1400" dirty="0"/>
          </a:p>
        </p:txBody>
      </p:sp>
      <p:sp>
        <p:nvSpPr>
          <p:cNvPr id="25"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4.7 y fig. 13; PCB Piezotronics (2025); documento de tesis, 03_excitacion.tex (principio ICP, esquema en PSoC Creator).</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95" fill="hold">
                      <p:stCondLst>
                        <p:cond delay="indefinite"/>
                      </p:stCondLst>
                      <p:childTnLst>
                        <p:par>
                          <p:cTn id="4596" fill="hold">
                            <p:stCondLst>
                              <p:cond delay="0"/>
                            </p:stCondLst>
                            <p:childTnLst>
                              <p:par>
                                <p:cTn id="4544" presetID="10" presetClass="exit" presetSubtype="0" fill="hold" nodeType="clickEffect">
                                  <p:stCondLst>
                                    <p:cond delay="0"/>
                                  </p:stCondLst>
                                  <p:childTnLst>
                                    <p:animEffect transition="out" filter="fade">
                                      <p:cBhvr>
                                        <p:cTn id="4545" dur="400"/>
                                        <p:tgtEl>
                                          <p:spTgt spid="3"/>
                                        </p:tgtEl>
                                      </p:cBhvr>
                                    </p:animEffect>
                                    <p:set>
                                      <p:cBhvr>
                                        <p:cTn id="4546" dur="1" fill="hold">
                                          <p:stCondLst>
                                            <p:cond delay="399"/>
                                          </p:stCondLst>
                                        </p:cTn>
                                        <p:tgtEl>
                                          <p:spTgt spid="3"/>
                                        </p:tgtEl>
                                        <p:attrNameLst>
                                          <p:attrName>style.visibility</p:attrName>
                                        </p:attrNameLst>
                                      </p:cBhvr>
                                      <p:to>
                                        <p:strVal val="hidden"/>
                                      </p:to>
                                    </p:set>
                                  </p:childTnLst>
                                </p:cTn>
                              </p:par>
                              <p:par>
                                <p:cTn id="4547" presetID="10" presetClass="exit" presetSubtype="0" fill="hold" nodeType="withEffect">
                                  <p:stCondLst>
                                    <p:cond delay="0"/>
                                  </p:stCondLst>
                                  <p:childTnLst>
                                    <p:animEffect transition="out" filter="fade">
                                      <p:cBhvr>
                                        <p:cTn id="4548" dur="400"/>
                                        <p:tgtEl>
                                          <p:spTgt spid="20"/>
                                        </p:tgtEl>
                                      </p:cBhvr>
                                    </p:animEffect>
                                    <p:set>
                                      <p:cBhvr>
                                        <p:cTn id="4549" dur="1" fill="hold">
                                          <p:stCondLst>
                                            <p:cond delay="399"/>
                                          </p:stCondLst>
                                        </p:cTn>
                                        <p:tgtEl>
                                          <p:spTgt spid="20"/>
                                        </p:tgtEl>
                                        <p:attrNameLst>
                                          <p:attrName>style.visibility</p:attrName>
                                        </p:attrNameLst>
                                      </p:cBhvr>
                                      <p:to>
                                        <p:strVal val="hidden"/>
                                      </p:to>
                                    </p:set>
                                  </p:childTnLst>
                                </p:cTn>
                              </p:par>
                              <p:par>
                                <p:cTn id="4550" presetID="10" presetClass="exit" presetSubtype="0" fill="hold" nodeType="withEffect">
                                  <p:stCondLst>
                                    <p:cond delay="0"/>
                                  </p:stCondLst>
                                  <p:childTnLst>
                                    <p:animEffect transition="out" filter="fade">
                                      <p:cBhvr>
                                        <p:cTn id="4551" dur="400"/>
                                        <p:tgtEl>
                                          <p:spTgt spid="21"/>
                                        </p:tgtEl>
                                      </p:cBhvr>
                                    </p:animEffect>
                                    <p:set>
                                      <p:cBhvr>
                                        <p:cTn id="4552" dur="1" fill="hold">
                                          <p:stCondLst>
                                            <p:cond delay="399"/>
                                          </p:stCondLst>
                                        </p:cTn>
                                        <p:tgtEl>
                                          <p:spTgt spid="21"/>
                                        </p:tgtEl>
                                        <p:attrNameLst>
                                          <p:attrName>style.visibility</p:attrName>
                                        </p:attrNameLst>
                                      </p:cBhvr>
                                      <p:to>
                                        <p:strVal val="hidden"/>
                                      </p:to>
                                    </p:set>
                                  </p:childTnLst>
                                </p:cTn>
                              </p:par>
                              <p:par>
                                <p:cTn id="4553" presetID="10" presetClass="entr" presetSubtype="0" fill="hold" nodeType="withEffect">
                                  <p:stCondLst>
                                    <p:cond delay="200"/>
                                  </p:stCondLst>
                                  <p:childTnLst>
                                    <p:set>
                                      <p:cBhvr>
                                        <p:cTn id="4554" dur="1" fill="hold">
                                          <p:stCondLst>
                                            <p:cond delay="0"/>
                                          </p:stCondLst>
                                        </p:cTn>
                                        <p:tgtEl>
                                          <p:spTgt spid="4"/>
                                        </p:tgtEl>
                                        <p:attrNameLst>
                                          <p:attrName>style.visibility</p:attrName>
                                        </p:attrNameLst>
                                      </p:cBhvr>
                                      <p:to>
                                        <p:strVal val="visible"/>
                                      </p:to>
                                    </p:set>
                                    <p:animEffect transition="in" filter="fade">
                                      <p:cBhvr>
                                        <p:cTn id="4555" dur="500"/>
                                        <p:tgtEl>
                                          <p:spTgt spid="4"/>
                                        </p:tgtEl>
                                      </p:cBhvr>
                                    </p:animEffect>
                                  </p:childTnLst>
                                </p:cTn>
                              </p:par>
                              <p:par>
                                <p:cTn id="4556" presetID="10" presetClass="entr" presetSubtype="0" fill="hold" nodeType="withEffect">
                                  <p:stCondLst>
                                    <p:cond delay="270"/>
                                  </p:stCondLst>
                                  <p:childTnLst>
                                    <p:set>
                                      <p:cBhvr>
                                        <p:cTn id="4557" dur="1" fill="hold">
                                          <p:stCondLst>
                                            <p:cond delay="0"/>
                                          </p:stCondLst>
                                        </p:cTn>
                                        <p:tgtEl>
                                          <p:spTgt spid="5"/>
                                        </p:tgtEl>
                                        <p:attrNameLst>
                                          <p:attrName>style.visibility</p:attrName>
                                        </p:attrNameLst>
                                      </p:cBhvr>
                                      <p:to>
                                        <p:strVal val="visible"/>
                                      </p:to>
                                    </p:set>
                                    <p:animEffect transition="in" filter="fade">
                                      <p:cBhvr>
                                        <p:cTn id="4558" dur="500"/>
                                        <p:tgtEl>
                                          <p:spTgt spid="5"/>
                                        </p:tgtEl>
                                      </p:cBhvr>
                                    </p:animEffect>
                                  </p:childTnLst>
                                </p:cTn>
                              </p:par>
                              <p:par>
                                <p:cTn id="4559" presetID="10" presetClass="entr" presetSubtype="0" fill="hold" nodeType="withEffect">
                                  <p:stCondLst>
                                    <p:cond delay="340"/>
                                  </p:stCondLst>
                                  <p:childTnLst>
                                    <p:set>
                                      <p:cBhvr>
                                        <p:cTn id="4560" dur="1" fill="hold">
                                          <p:stCondLst>
                                            <p:cond delay="0"/>
                                          </p:stCondLst>
                                        </p:cTn>
                                        <p:tgtEl>
                                          <p:spTgt spid="6"/>
                                        </p:tgtEl>
                                        <p:attrNameLst>
                                          <p:attrName>style.visibility</p:attrName>
                                        </p:attrNameLst>
                                      </p:cBhvr>
                                      <p:to>
                                        <p:strVal val="visible"/>
                                      </p:to>
                                    </p:set>
                                    <p:animEffect transition="in" filter="fade">
                                      <p:cBhvr>
                                        <p:cTn id="4561" dur="500"/>
                                        <p:tgtEl>
                                          <p:spTgt spid="6"/>
                                        </p:tgtEl>
                                      </p:cBhvr>
                                    </p:animEffect>
                                  </p:childTnLst>
                                </p:cTn>
                              </p:par>
                              <p:par>
                                <p:cTn id="4562" presetID="10" presetClass="entr" presetSubtype="0" fill="hold" nodeType="withEffect">
                                  <p:stCondLst>
                                    <p:cond delay="410"/>
                                  </p:stCondLst>
                                  <p:childTnLst>
                                    <p:set>
                                      <p:cBhvr>
                                        <p:cTn id="4563" dur="1" fill="hold">
                                          <p:stCondLst>
                                            <p:cond delay="0"/>
                                          </p:stCondLst>
                                        </p:cTn>
                                        <p:tgtEl>
                                          <p:spTgt spid="7"/>
                                        </p:tgtEl>
                                        <p:attrNameLst>
                                          <p:attrName>style.visibility</p:attrName>
                                        </p:attrNameLst>
                                      </p:cBhvr>
                                      <p:to>
                                        <p:strVal val="visible"/>
                                      </p:to>
                                    </p:set>
                                    <p:animEffect transition="in" filter="fade">
                                      <p:cBhvr>
                                        <p:cTn id="4564" dur="500"/>
                                        <p:tgtEl>
                                          <p:spTgt spid="7"/>
                                        </p:tgtEl>
                                      </p:cBhvr>
                                    </p:animEffect>
                                  </p:childTnLst>
                                </p:cTn>
                              </p:par>
                              <p:par>
                                <p:cTn id="4565" presetID="10" presetClass="entr" presetSubtype="0" fill="hold" nodeType="withEffect">
                                  <p:stCondLst>
                                    <p:cond delay="480"/>
                                  </p:stCondLst>
                                  <p:childTnLst>
                                    <p:set>
                                      <p:cBhvr>
                                        <p:cTn id="4566" dur="1" fill="hold">
                                          <p:stCondLst>
                                            <p:cond delay="0"/>
                                          </p:stCondLst>
                                        </p:cTn>
                                        <p:tgtEl>
                                          <p:spTgt spid="8"/>
                                        </p:tgtEl>
                                        <p:attrNameLst>
                                          <p:attrName>style.visibility</p:attrName>
                                        </p:attrNameLst>
                                      </p:cBhvr>
                                      <p:to>
                                        <p:strVal val="visible"/>
                                      </p:to>
                                    </p:set>
                                    <p:animEffect transition="in" filter="fade">
                                      <p:cBhvr>
                                        <p:cTn id="4567" dur="500"/>
                                        <p:tgtEl>
                                          <p:spTgt spid="8"/>
                                        </p:tgtEl>
                                      </p:cBhvr>
                                    </p:animEffect>
                                  </p:childTnLst>
                                </p:cTn>
                              </p:par>
                              <p:par>
                                <p:cTn id="4568" presetID="10" presetClass="entr" presetSubtype="0" fill="hold" nodeType="withEffect">
                                  <p:stCondLst>
                                    <p:cond delay="550"/>
                                  </p:stCondLst>
                                  <p:childTnLst>
                                    <p:set>
                                      <p:cBhvr>
                                        <p:cTn id="4569" dur="1" fill="hold">
                                          <p:stCondLst>
                                            <p:cond delay="0"/>
                                          </p:stCondLst>
                                        </p:cTn>
                                        <p:tgtEl>
                                          <p:spTgt spid="9"/>
                                        </p:tgtEl>
                                        <p:attrNameLst>
                                          <p:attrName>style.visibility</p:attrName>
                                        </p:attrNameLst>
                                      </p:cBhvr>
                                      <p:to>
                                        <p:strVal val="visible"/>
                                      </p:to>
                                    </p:set>
                                    <p:animEffect transition="in" filter="fade">
                                      <p:cBhvr>
                                        <p:cTn id="4570" dur="500"/>
                                        <p:tgtEl>
                                          <p:spTgt spid="9"/>
                                        </p:tgtEl>
                                      </p:cBhvr>
                                    </p:animEffect>
                                  </p:childTnLst>
                                </p:cTn>
                              </p:par>
                              <p:par>
                                <p:cTn id="4571" presetID="10" presetClass="entr" presetSubtype="0" fill="hold" nodeType="withEffect">
                                  <p:stCondLst>
                                    <p:cond delay="620"/>
                                  </p:stCondLst>
                                  <p:childTnLst>
                                    <p:set>
                                      <p:cBhvr>
                                        <p:cTn id="4572" dur="1" fill="hold">
                                          <p:stCondLst>
                                            <p:cond delay="0"/>
                                          </p:stCondLst>
                                        </p:cTn>
                                        <p:tgtEl>
                                          <p:spTgt spid="10"/>
                                        </p:tgtEl>
                                        <p:attrNameLst>
                                          <p:attrName>style.visibility</p:attrName>
                                        </p:attrNameLst>
                                      </p:cBhvr>
                                      <p:to>
                                        <p:strVal val="visible"/>
                                      </p:to>
                                    </p:set>
                                    <p:animEffect transition="in" filter="fade">
                                      <p:cBhvr>
                                        <p:cTn id="4573" dur="500"/>
                                        <p:tgtEl>
                                          <p:spTgt spid="10"/>
                                        </p:tgtEl>
                                      </p:cBhvr>
                                    </p:animEffect>
                                  </p:childTnLst>
                                </p:cTn>
                              </p:par>
                              <p:par>
                                <p:cTn id="4574" presetID="10" presetClass="entr" presetSubtype="0" fill="hold" nodeType="withEffect">
                                  <p:stCondLst>
                                    <p:cond delay="690"/>
                                  </p:stCondLst>
                                  <p:childTnLst>
                                    <p:set>
                                      <p:cBhvr>
                                        <p:cTn id="4575" dur="1" fill="hold">
                                          <p:stCondLst>
                                            <p:cond delay="0"/>
                                          </p:stCondLst>
                                        </p:cTn>
                                        <p:tgtEl>
                                          <p:spTgt spid="11"/>
                                        </p:tgtEl>
                                        <p:attrNameLst>
                                          <p:attrName>style.visibility</p:attrName>
                                        </p:attrNameLst>
                                      </p:cBhvr>
                                      <p:to>
                                        <p:strVal val="visible"/>
                                      </p:to>
                                    </p:set>
                                    <p:animEffect transition="in" filter="fade">
                                      <p:cBhvr>
                                        <p:cTn id="4576" dur="500"/>
                                        <p:tgtEl>
                                          <p:spTgt spid="11"/>
                                        </p:tgtEl>
                                      </p:cBhvr>
                                    </p:animEffect>
                                  </p:childTnLst>
                                </p:cTn>
                              </p:par>
                              <p:par>
                                <p:cTn id="4577" presetID="10" presetClass="entr" presetSubtype="0" fill="hold" nodeType="withEffect">
                                  <p:stCondLst>
                                    <p:cond delay="760"/>
                                  </p:stCondLst>
                                  <p:childTnLst>
                                    <p:set>
                                      <p:cBhvr>
                                        <p:cTn id="4578" dur="1" fill="hold">
                                          <p:stCondLst>
                                            <p:cond delay="0"/>
                                          </p:stCondLst>
                                        </p:cTn>
                                        <p:tgtEl>
                                          <p:spTgt spid="12"/>
                                        </p:tgtEl>
                                        <p:attrNameLst>
                                          <p:attrName>style.visibility</p:attrName>
                                        </p:attrNameLst>
                                      </p:cBhvr>
                                      <p:to>
                                        <p:strVal val="visible"/>
                                      </p:to>
                                    </p:set>
                                    <p:animEffect transition="in" filter="fade">
                                      <p:cBhvr>
                                        <p:cTn id="4579" dur="500"/>
                                        <p:tgtEl>
                                          <p:spTgt spid="12"/>
                                        </p:tgtEl>
                                      </p:cBhvr>
                                    </p:animEffect>
                                  </p:childTnLst>
                                </p:cTn>
                              </p:par>
                              <p:par>
                                <p:cTn id="4580" presetID="10" presetClass="entr" presetSubtype="0" fill="hold" nodeType="withEffect">
                                  <p:stCondLst>
                                    <p:cond delay="830"/>
                                  </p:stCondLst>
                                  <p:childTnLst>
                                    <p:set>
                                      <p:cBhvr>
                                        <p:cTn id="4581" dur="1" fill="hold">
                                          <p:stCondLst>
                                            <p:cond delay="0"/>
                                          </p:stCondLst>
                                        </p:cTn>
                                        <p:tgtEl>
                                          <p:spTgt spid="13"/>
                                        </p:tgtEl>
                                        <p:attrNameLst>
                                          <p:attrName>style.visibility</p:attrName>
                                        </p:attrNameLst>
                                      </p:cBhvr>
                                      <p:to>
                                        <p:strVal val="visible"/>
                                      </p:to>
                                    </p:set>
                                    <p:animEffect transition="in" filter="fade">
                                      <p:cBhvr>
                                        <p:cTn id="4582" dur="500"/>
                                        <p:tgtEl>
                                          <p:spTgt spid="13"/>
                                        </p:tgtEl>
                                      </p:cBhvr>
                                    </p:animEffect>
                                  </p:childTnLst>
                                </p:cTn>
                              </p:par>
                              <p:par>
                                <p:cTn id="4583" presetID="10" presetClass="entr" presetSubtype="0" fill="hold" nodeType="withEffect">
                                  <p:stCondLst>
                                    <p:cond delay="900"/>
                                  </p:stCondLst>
                                  <p:childTnLst>
                                    <p:set>
                                      <p:cBhvr>
                                        <p:cTn id="4584" dur="1" fill="hold">
                                          <p:stCondLst>
                                            <p:cond delay="0"/>
                                          </p:stCondLst>
                                        </p:cTn>
                                        <p:tgtEl>
                                          <p:spTgt spid="14"/>
                                        </p:tgtEl>
                                        <p:attrNameLst>
                                          <p:attrName>style.visibility</p:attrName>
                                        </p:attrNameLst>
                                      </p:cBhvr>
                                      <p:to>
                                        <p:strVal val="visible"/>
                                      </p:to>
                                    </p:set>
                                    <p:animEffect transition="in" filter="fade">
                                      <p:cBhvr>
                                        <p:cTn id="4585" dur="500"/>
                                        <p:tgtEl>
                                          <p:spTgt spid="14"/>
                                        </p:tgtEl>
                                      </p:cBhvr>
                                    </p:animEffect>
                                  </p:childTnLst>
                                </p:cTn>
                              </p:par>
                              <p:par>
                                <p:cTn id="4586" presetID="10" presetClass="entr" presetSubtype="0" fill="hold" nodeType="withEffect">
                                  <p:stCondLst>
                                    <p:cond delay="900"/>
                                  </p:stCondLst>
                                  <p:childTnLst>
                                    <p:set>
                                      <p:cBhvr>
                                        <p:cTn id="4587" dur="1" fill="hold">
                                          <p:stCondLst>
                                            <p:cond delay="0"/>
                                          </p:stCondLst>
                                        </p:cTn>
                                        <p:tgtEl>
                                          <p:spTgt spid="15"/>
                                        </p:tgtEl>
                                        <p:attrNameLst>
                                          <p:attrName>style.visibility</p:attrName>
                                        </p:attrNameLst>
                                      </p:cBhvr>
                                      <p:to>
                                        <p:strVal val="visible"/>
                                      </p:to>
                                    </p:set>
                                    <p:animEffect transition="in" filter="fade">
                                      <p:cBhvr>
                                        <p:cTn id="4588" dur="500"/>
                                        <p:tgtEl>
                                          <p:spTgt spid="15"/>
                                        </p:tgtEl>
                                      </p:cBhvr>
                                    </p:animEffect>
                                  </p:childTnLst>
                                </p:cTn>
                              </p:par>
                              <p:par>
                                <p:cTn id="4589" presetID="10" presetClass="entr" presetSubtype="0" fill="hold" nodeType="withEffect">
                                  <p:stCondLst>
                                    <p:cond delay="900"/>
                                  </p:stCondLst>
                                  <p:childTnLst>
                                    <p:set>
                                      <p:cBhvr>
                                        <p:cTn id="4590" dur="1" fill="hold">
                                          <p:stCondLst>
                                            <p:cond delay="0"/>
                                          </p:stCondLst>
                                        </p:cTn>
                                        <p:tgtEl>
                                          <p:spTgt spid="22"/>
                                        </p:tgtEl>
                                        <p:attrNameLst>
                                          <p:attrName>style.visibility</p:attrName>
                                        </p:attrNameLst>
                                      </p:cBhvr>
                                      <p:to>
                                        <p:strVal val="visible"/>
                                      </p:to>
                                    </p:set>
                                    <p:animEffect transition="in" filter="fade">
                                      <p:cBhvr>
                                        <p:cTn id="4591" dur="500"/>
                                        <p:tgtEl>
                                          <p:spTgt spid="22"/>
                                        </p:tgtEl>
                                      </p:cBhvr>
                                    </p:animEffect>
                                  </p:childTnLst>
                                </p:cTn>
                              </p:par>
                              <p:par>
                                <p:cTn id="4592" presetID="10" presetClass="entr" presetSubtype="0" fill="hold" nodeType="withEffect">
                                  <p:stCondLst>
                                    <p:cond delay="900"/>
                                  </p:stCondLst>
                                  <p:childTnLst>
                                    <p:set>
                                      <p:cBhvr>
                                        <p:cTn id="4593" dur="1" fill="hold">
                                          <p:stCondLst>
                                            <p:cond delay="0"/>
                                          </p:stCondLst>
                                        </p:cTn>
                                        <p:tgtEl>
                                          <p:spTgt spid="23"/>
                                        </p:tgtEl>
                                        <p:attrNameLst>
                                          <p:attrName>style.visibility</p:attrName>
                                        </p:attrNameLst>
                                      </p:cBhvr>
                                      <p:to>
                                        <p:strVal val="visible"/>
                                      </p:to>
                                    </p:set>
                                    <p:animEffect transition="in" filter="fade">
                                      <p:cBhvr>
                                        <p:cTn id="4594" dur="500"/>
                                        <p:tgtEl>
                                          <p:spTgt spid="23"/>
                                        </p:tgtEl>
                                      </p:cBhvr>
                                    </p:animEffect>
                                  </p:childTnLst>
                                </p:cTn>
                              </p:par>
                            </p:childTnLst>
                          </p:cTn>
                        </p:par>
                      </p:childTnLst>
                    </p:cTn>
                  </p:par>
                  <p:par>
                    <p:cTn id="4657" fill="hold">
                      <p:stCondLst>
                        <p:cond delay="indefinite"/>
                      </p:stCondLst>
                      <p:childTnLst>
                        <p:par>
                          <p:cTn id="4658" fill="hold">
                            <p:stCondLst>
                              <p:cond delay="0"/>
                            </p:stCondLst>
                            <p:childTnLst>
                              <p:par>
                                <p:cTn id="4597" presetID="10" presetClass="exit" presetSubtype="0" fill="hold" nodeType="clickEffect">
                                  <p:stCondLst>
                                    <p:cond delay="0"/>
                                  </p:stCondLst>
                                  <p:childTnLst>
                                    <p:animEffect transition="out" filter="fade">
                                      <p:cBhvr>
                                        <p:cTn id="4598" dur="400"/>
                                        <p:tgtEl>
                                          <p:spTgt spid="4"/>
                                        </p:tgtEl>
                                      </p:cBhvr>
                                    </p:animEffect>
                                    <p:set>
                                      <p:cBhvr>
                                        <p:cTn id="4599" dur="1" fill="hold">
                                          <p:stCondLst>
                                            <p:cond delay="399"/>
                                          </p:stCondLst>
                                        </p:cTn>
                                        <p:tgtEl>
                                          <p:spTgt spid="4"/>
                                        </p:tgtEl>
                                        <p:attrNameLst>
                                          <p:attrName>style.visibility</p:attrName>
                                        </p:attrNameLst>
                                      </p:cBhvr>
                                      <p:to>
                                        <p:strVal val="hidden"/>
                                      </p:to>
                                    </p:set>
                                  </p:childTnLst>
                                </p:cTn>
                              </p:par>
                              <p:par>
                                <p:cTn id="4600" presetID="10" presetClass="exit" presetSubtype="0" fill="hold" nodeType="withEffect">
                                  <p:stCondLst>
                                    <p:cond delay="0"/>
                                  </p:stCondLst>
                                  <p:childTnLst>
                                    <p:animEffect transition="out" filter="fade">
                                      <p:cBhvr>
                                        <p:cTn id="4601" dur="400"/>
                                        <p:tgtEl>
                                          <p:spTgt spid="5"/>
                                        </p:tgtEl>
                                      </p:cBhvr>
                                    </p:animEffect>
                                    <p:set>
                                      <p:cBhvr>
                                        <p:cTn id="4602" dur="1" fill="hold">
                                          <p:stCondLst>
                                            <p:cond delay="399"/>
                                          </p:stCondLst>
                                        </p:cTn>
                                        <p:tgtEl>
                                          <p:spTgt spid="5"/>
                                        </p:tgtEl>
                                        <p:attrNameLst>
                                          <p:attrName>style.visibility</p:attrName>
                                        </p:attrNameLst>
                                      </p:cBhvr>
                                      <p:to>
                                        <p:strVal val="hidden"/>
                                      </p:to>
                                    </p:set>
                                  </p:childTnLst>
                                </p:cTn>
                              </p:par>
                              <p:par>
                                <p:cTn id="4603" presetID="10" presetClass="exit" presetSubtype="0" fill="hold" nodeType="withEffect">
                                  <p:stCondLst>
                                    <p:cond delay="0"/>
                                  </p:stCondLst>
                                  <p:childTnLst>
                                    <p:animEffect transition="out" filter="fade">
                                      <p:cBhvr>
                                        <p:cTn id="4604" dur="400"/>
                                        <p:tgtEl>
                                          <p:spTgt spid="6"/>
                                        </p:tgtEl>
                                      </p:cBhvr>
                                    </p:animEffect>
                                    <p:set>
                                      <p:cBhvr>
                                        <p:cTn id="4605" dur="1" fill="hold">
                                          <p:stCondLst>
                                            <p:cond delay="399"/>
                                          </p:stCondLst>
                                        </p:cTn>
                                        <p:tgtEl>
                                          <p:spTgt spid="6"/>
                                        </p:tgtEl>
                                        <p:attrNameLst>
                                          <p:attrName>style.visibility</p:attrName>
                                        </p:attrNameLst>
                                      </p:cBhvr>
                                      <p:to>
                                        <p:strVal val="hidden"/>
                                      </p:to>
                                    </p:set>
                                  </p:childTnLst>
                                </p:cTn>
                              </p:par>
                              <p:par>
                                <p:cTn id="4606" presetID="10" presetClass="exit" presetSubtype="0" fill="hold" nodeType="withEffect">
                                  <p:stCondLst>
                                    <p:cond delay="0"/>
                                  </p:stCondLst>
                                  <p:childTnLst>
                                    <p:animEffect transition="out" filter="fade">
                                      <p:cBhvr>
                                        <p:cTn id="4607" dur="400"/>
                                        <p:tgtEl>
                                          <p:spTgt spid="7"/>
                                        </p:tgtEl>
                                      </p:cBhvr>
                                    </p:animEffect>
                                    <p:set>
                                      <p:cBhvr>
                                        <p:cTn id="4608" dur="1" fill="hold">
                                          <p:stCondLst>
                                            <p:cond delay="399"/>
                                          </p:stCondLst>
                                        </p:cTn>
                                        <p:tgtEl>
                                          <p:spTgt spid="7"/>
                                        </p:tgtEl>
                                        <p:attrNameLst>
                                          <p:attrName>style.visibility</p:attrName>
                                        </p:attrNameLst>
                                      </p:cBhvr>
                                      <p:to>
                                        <p:strVal val="hidden"/>
                                      </p:to>
                                    </p:set>
                                  </p:childTnLst>
                                </p:cTn>
                              </p:par>
                              <p:par>
                                <p:cTn id="4609" presetID="10" presetClass="exit" presetSubtype="0" fill="hold" nodeType="withEffect">
                                  <p:stCondLst>
                                    <p:cond delay="0"/>
                                  </p:stCondLst>
                                  <p:childTnLst>
                                    <p:animEffect transition="out" filter="fade">
                                      <p:cBhvr>
                                        <p:cTn id="4610" dur="400"/>
                                        <p:tgtEl>
                                          <p:spTgt spid="8"/>
                                        </p:tgtEl>
                                      </p:cBhvr>
                                    </p:animEffect>
                                    <p:set>
                                      <p:cBhvr>
                                        <p:cTn id="4611" dur="1" fill="hold">
                                          <p:stCondLst>
                                            <p:cond delay="399"/>
                                          </p:stCondLst>
                                        </p:cTn>
                                        <p:tgtEl>
                                          <p:spTgt spid="8"/>
                                        </p:tgtEl>
                                        <p:attrNameLst>
                                          <p:attrName>style.visibility</p:attrName>
                                        </p:attrNameLst>
                                      </p:cBhvr>
                                      <p:to>
                                        <p:strVal val="hidden"/>
                                      </p:to>
                                    </p:set>
                                  </p:childTnLst>
                                </p:cTn>
                              </p:par>
                              <p:par>
                                <p:cTn id="4612" presetID="10" presetClass="exit" presetSubtype="0" fill="hold" nodeType="withEffect">
                                  <p:stCondLst>
                                    <p:cond delay="0"/>
                                  </p:stCondLst>
                                  <p:childTnLst>
                                    <p:animEffect transition="out" filter="fade">
                                      <p:cBhvr>
                                        <p:cTn id="4613" dur="400"/>
                                        <p:tgtEl>
                                          <p:spTgt spid="9"/>
                                        </p:tgtEl>
                                      </p:cBhvr>
                                    </p:animEffect>
                                    <p:set>
                                      <p:cBhvr>
                                        <p:cTn id="4614" dur="1" fill="hold">
                                          <p:stCondLst>
                                            <p:cond delay="399"/>
                                          </p:stCondLst>
                                        </p:cTn>
                                        <p:tgtEl>
                                          <p:spTgt spid="9"/>
                                        </p:tgtEl>
                                        <p:attrNameLst>
                                          <p:attrName>style.visibility</p:attrName>
                                        </p:attrNameLst>
                                      </p:cBhvr>
                                      <p:to>
                                        <p:strVal val="hidden"/>
                                      </p:to>
                                    </p:set>
                                  </p:childTnLst>
                                </p:cTn>
                              </p:par>
                              <p:par>
                                <p:cTn id="4615" presetID="10" presetClass="exit" presetSubtype="0" fill="hold" nodeType="withEffect">
                                  <p:stCondLst>
                                    <p:cond delay="0"/>
                                  </p:stCondLst>
                                  <p:childTnLst>
                                    <p:animEffect transition="out" filter="fade">
                                      <p:cBhvr>
                                        <p:cTn id="4616" dur="400"/>
                                        <p:tgtEl>
                                          <p:spTgt spid="10"/>
                                        </p:tgtEl>
                                      </p:cBhvr>
                                    </p:animEffect>
                                    <p:set>
                                      <p:cBhvr>
                                        <p:cTn id="4617" dur="1" fill="hold">
                                          <p:stCondLst>
                                            <p:cond delay="399"/>
                                          </p:stCondLst>
                                        </p:cTn>
                                        <p:tgtEl>
                                          <p:spTgt spid="10"/>
                                        </p:tgtEl>
                                        <p:attrNameLst>
                                          <p:attrName>style.visibility</p:attrName>
                                        </p:attrNameLst>
                                      </p:cBhvr>
                                      <p:to>
                                        <p:strVal val="hidden"/>
                                      </p:to>
                                    </p:set>
                                  </p:childTnLst>
                                </p:cTn>
                              </p:par>
                              <p:par>
                                <p:cTn id="4618" presetID="10" presetClass="exit" presetSubtype="0" fill="hold" nodeType="withEffect">
                                  <p:stCondLst>
                                    <p:cond delay="0"/>
                                  </p:stCondLst>
                                  <p:childTnLst>
                                    <p:animEffect transition="out" filter="fade">
                                      <p:cBhvr>
                                        <p:cTn id="4619" dur="400"/>
                                        <p:tgtEl>
                                          <p:spTgt spid="11"/>
                                        </p:tgtEl>
                                      </p:cBhvr>
                                    </p:animEffect>
                                    <p:set>
                                      <p:cBhvr>
                                        <p:cTn id="4620" dur="1" fill="hold">
                                          <p:stCondLst>
                                            <p:cond delay="399"/>
                                          </p:stCondLst>
                                        </p:cTn>
                                        <p:tgtEl>
                                          <p:spTgt spid="11"/>
                                        </p:tgtEl>
                                        <p:attrNameLst>
                                          <p:attrName>style.visibility</p:attrName>
                                        </p:attrNameLst>
                                      </p:cBhvr>
                                      <p:to>
                                        <p:strVal val="hidden"/>
                                      </p:to>
                                    </p:set>
                                  </p:childTnLst>
                                </p:cTn>
                              </p:par>
                              <p:par>
                                <p:cTn id="4621" presetID="10" presetClass="exit" presetSubtype="0" fill="hold" nodeType="withEffect">
                                  <p:stCondLst>
                                    <p:cond delay="0"/>
                                  </p:stCondLst>
                                  <p:childTnLst>
                                    <p:animEffect transition="out" filter="fade">
                                      <p:cBhvr>
                                        <p:cTn id="4622" dur="400"/>
                                        <p:tgtEl>
                                          <p:spTgt spid="12"/>
                                        </p:tgtEl>
                                      </p:cBhvr>
                                    </p:animEffect>
                                    <p:set>
                                      <p:cBhvr>
                                        <p:cTn id="4623" dur="1" fill="hold">
                                          <p:stCondLst>
                                            <p:cond delay="399"/>
                                          </p:stCondLst>
                                        </p:cTn>
                                        <p:tgtEl>
                                          <p:spTgt spid="12"/>
                                        </p:tgtEl>
                                        <p:attrNameLst>
                                          <p:attrName>style.visibility</p:attrName>
                                        </p:attrNameLst>
                                      </p:cBhvr>
                                      <p:to>
                                        <p:strVal val="hidden"/>
                                      </p:to>
                                    </p:set>
                                  </p:childTnLst>
                                </p:cTn>
                              </p:par>
                              <p:par>
                                <p:cTn id="4624" presetID="10" presetClass="exit" presetSubtype="0" fill="hold" nodeType="withEffect">
                                  <p:stCondLst>
                                    <p:cond delay="0"/>
                                  </p:stCondLst>
                                  <p:childTnLst>
                                    <p:animEffect transition="out" filter="fade">
                                      <p:cBhvr>
                                        <p:cTn id="4625" dur="400"/>
                                        <p:tgtEl>
                                          <p:spTgt spid="13"/>
                                        </p:tgtEl>
                                      </p:cBhvr>
                                    </p:animEffect>
                                    <p:set>
                                      <p:cBhvr>
                                        <p:cTn id="4626" dur="1" fill="hold">
                                          <p:stCondLst>
                                            <p:cond delay="399"/>
                                          </p:stCondLst>
                                        </p:cTn>
                                        <p:tgtEl>
                                          <p:spTgt spid="13"/>
                                        </p:tgtEl>
                                        <p:attrNameLst>
                                          <p:attrName>style.visibility</p:attrName>
                                        </p:attrNameLst>
                                      </p:cBhvr>
                                      <p:to>
                                        <p:strVal val="hidden"/>
                                      </p:to>
                                    </p:set>
                                  </p:childTnLst>
                                </p:cTn>
                              </p:par>
                              <p:par>
                                <p:cTn id="4627" presetID="10" presetClass="exit" presetSubtype="0" fill="hold" nodeType="withEffect">
                                  <p:stCondLst>
                                    <p:cond delay="0"/>
                                  </p:stCondLst>
                                  <p:childTnLst>
                                    <p:animEffect transition="out" filter="fade">
                                      <p:cBhvr>
                                        <p:cTn id="4628" dur="400"/>
                                        <p:tgtEl>
                                          <p:spTgt spid="14"/>
                                        </p:tgtEl>
                                      </p:cBhvr>
                                    </p:animEffect>
                                    <p:set>
                                      <p:cBhvr>
                                        <p:cTn id="4629" dur="1" fill="hold">
                                          <p:stCondLst>
                                            <p:cond delay="399"/>
                                          </p:stCondLst>
                                        </p:cTn>
                                        <p:tgtEl>
                                          <p:spTgt spid="14"/>
                                        </p:tgtEl>
                                        <p:attrNameLst>
                                          <p:attrName>style.visibility</p:attrName>
                                        </p:attrNameLst>
                                      </p:cBhvr>
                                      <p:to>
                                        <p:strVal val="hidden"/>
                                      </p:to>
                                    </p:set>
                                  </p:childTnLst>
                                </p:cTn>
                              </p:par>
                              <p:par>
                                <p:cTn id="4630" presetID="10" presetClass="exit" presetSubtype="0" fill="hold" nodeType="withEffect">
                                  <p:stCondLst>
                                    <p:cond delay="0"/>
                                  </p:stCondLst>
                                  <p:childTnLst>
                                    <p:animEffect transition="out" filter="fade">
                                      <p:cBhvr>
                                        <p:cTn id="4631" dur="400"/>
                                        <p:tgtEl>
                                          <p:spTgt spid="15"/>
                                        </p:tgtEl>
                                      </p:cBhvr>
                                    </p:animEffect>
                                    <p:set>
                                      <p:cBhvr>
                                        <p:cTn id="4632" dur="1" fill="hold">
                                          <p:stCondLst>
                                            <p:cond delay="399"/>
                                          </p:stCondLst>
                                        </p:cTn>
                                        <p:tgtEl>
                                          <p:spTgt spid="15"/>
                                        </p:tgtEl>
                                        <p:attrNameLst>
                                          <p:attrName>style.visibility</p:attrName>
                                        </p:attrNameLst>
                                      </p:cBhvr>
                                      <p:to>
                                        <p:strVal val="hidden"/>
                                      </p:to>
                                    </p:set>
                                  </p:childTnLst>
                                </p:cTn>
                              </p:par>
                              <p:par>
                                <p:cTn id="4633" presetID="10" presetClass="exit" presetSubtype="0" fill="hold" nodeType="withEffect">
                                  <p:stCondLst>
                                    <p:cond delay="0"/>
                                  </p:stCondLst>
                                  <p:childTnLst>
                                    <p:animEffect transition="out" filter="fade">
                                      <p:cBhvr>
                                        <p:cTn id="4634" dur="400"/>
                                        <p:tgtEl>
                                          <p:spTgt spid="22"/>
                                        </p:tgtEl>
                                      </p:cBhvr>
                                    </p:animEffect>
                                    <p:set>
                                      <p:cBhvr>
                                        <p:cTn id="4635" dur="1" fill="hold">
                                          <p:stCondLst>
                                            <p:cond delay="399"/>
                                          </p:stCondLst>
                                        </p:cTn>
                                        <p:tgtEl>
                                          <p:spTgt spid="22"/>
                                        </p:tgtEl>
                                        <p:attrNameLst>
                                          <p:attrName>style.visibility</p:attrName>
                                        </p:attrNameLst>
                                      </p:cBhvr>
                                      <p:to>
                                        <p:strVal val="hidden"/>
                                      </p:to>
                                    </p:set>
                                  </p:childTnLst>
                                </p:cTn>
                              </p:par>
                              <p:par>
                                <p:cTn id="4636" presetID="10" presetClass="exit" presetSubtype="0" fill="hold" nodeType="withEffect">
                                  <p:stCondLst>
                                    <p:cond delay="0"/>
                                  </p:stCondLst>
                                  <p:childTnLst>
                                    <p:animEffect transition="out" filter="fade">
                                      <p:cBhvr>
                                        <p:cTn id="4637" dur="400"/>
                                        <p:tgtEl>
                                          <p:spTgt spid="23"/>
                                        </p:tgtEl>
                                      </p:cBhvr>
                                    </p:animEffect>
                                    <p:set>
                                      <p:cBhvr>
                                        <p:cTn id="4638" dur="1" fill="hold">
                                          <p:stCondLst>
                                            <p:cond delay="399"/>
                                          </p:stCondLst>
                                        </p:cTn>
                                        <p:tgtEl>
                                          <p:spTgt spid="23"/>
                                        </p:tgtEl>
                                        <p:attrNameLst>
                                          <p:attrName>style.visibility</p:attrName>
                                        </p:attrNameLst>
                                      </p:cBhvr>
                                      <p:to>
                                        <p:strVal val="hidden"/>
                                      </p:to>
                                    </p:set>
                                  </p:childTnLst>
                                </p:cTn>
                              </p:par>
                              <p:par>
                                <p:cTn id="4639" presetID="22" presetClass="entr" presetSubtype="8" fill="hold" nodeType="withEffect">
                                  <p:stCondLst>
                                    <p:cond delay="200"/>
                                  </p:stCondLst>
                                  <p:childTnLst>
                                    <p:set>
                                      <p:cBhvr>
                                        <p:cTn id="4640" dur="1" fill="hold">
                                          <p:stCondLst>
                                            <p:cond delay="0"/>
                                          </p:stCondLst>
                                        </p:cTn>
                                        <p:tgtEl>
                                          <p:spTgt spid="16"/>
                                        </p:tgtEl>
                                        <p:attrNameLst>
                                          <p:attrName>style.visibility</p:attrName>
                                        </p:attrNameLst>
                                      </p:cBhvr>
                                      <p:to>
                                        <p:strVal val="visible"/>
                                      </p:to>
                                    </p:set>
                                    <p:animEffect transition="in" filter="wipe(left)">
                                      <p:cBhvr>
                                        <p:cTn id="4641" dur="500"/>
                                        <p:tgtEl>
                                          <p:spTgt spid="16"/>
                                        </p:tgtEl>
                                      </p:cBhvr>
                                    </p:animEffect>
                                  </p:childTnLst>
                                </p:cTn>
                              </p:par>
                              <p:par>
                                <p:cTn id="4642" presetID="22" presetClass="entr" presetSubtype="8" fill="hold" nodeType="withEffect">
                                  <p:stCondLst>
                                    <p:cond delay="270"/>
                                  </p:stCondLst>
                                  <p:childTnLst>
                                    <p:set>
                                      <p:cBhvr>
                                        <p:cTn id="4643" dur="1" fill="hold">
                                          <p:stCondLst>
                                            <p:cond delay="0"/>
                                          </p:stCondLst>
                                        </p:cTn>
                                        <p:tgtEl>
                                          <p:spTgt spid="17"/>
                                        </p:tgtEl>
                                        <p:attrNameLst>
                                          <p:attrName>style.visibility</p:attrName>
                                        </p:attrNameLst>
                                      </p:cBhvr>
                                      <p:to>
                                        <p:strVal val="visible"/>
                                      </p:to>
                                    </p:set>
                                    <p:animEffect transition="in" filter="wipe(left)">
                                      <p:cBhvr>
                                        <p:cTn id="4644" dur="500"/>
                                        <p:tgtEl>
                                          <p:spTgt spid="17"/>
                                        </p:tgtEl>
                                      </p:cBhvr>
                                    </p:animEffect>
                                  </p:childTnLst>
                                </p:cTn>
                              </p:par>
                              <p:par>
                                <p:cTn id="4645" presetID="22" presetClass="entr" presetSubtype="8" fill="hold" nodeType="withEffect">
                                  <p:stCondLst>
                                    <p:cond delay="340"/>
                                  </p:stCondLst>
                                  <p:childTnLst>
                                    <p:set>
                                      <p:cBhvr>
                                        <p:cTn id="4646" dur="1" fill="hold">
                                          <p:stCondLst>
                                            <p:cond delay="0"/>
                                          </p:stCondLst>
                                        </p:cTn>
                                        <p:tgtEl>
                                          <p:spTgt spid="18"/>
                                        </p:tgtEl>
                                        <p:attrNameLst>
                                          <p:attrName>style.visibility</p:attrName>
                                        </p:attrNameLst>
                                      </p:cBhvr>
                                      <p:to>
                                        <p:strVal val="visible"/>
                                      </p:to>
                                    </p:set>
                                    <p:animEffect transition="in" filter="wipe(left)">
                                      <p:cBhvr>
                                        <p:cTn id="4647" dur="500"/>
                                        <p:tgtEl>
                                          <p:spTgt spid="18"/>
                                        </p:tgtEl>
                                      </p:cBhvr>
                                    </p:animEffect>
                                  </p:childTnLst>
                                </p:cTn>
                              </p:par>
                              <p:par>
                                <p:cTn id="4648" presetID="22" presetClass="entr" presetSubtype="8" fill="hold" nodeType="withEffect">
                                  <p:stCondLst>
                                    <p:cond delay="410"/>
                                  </p:stCondLst>
                                  <p:childTnLst>
                                    <p:set>
                                      <p:cBhvr>
                                        <p:cTn id="4649" dur="1" fill="hold">
                                          <p:stCondLst>
                                            <p:cond delay="0"/>
                                          </p:stCondLst>
                                        </p:cTn>
                                        <p:tgtEl>
                                          <p:spTgt spid="19"/>
                                        </p:tgtEl>
                                        <p:attrNameLst>
                                          <p:attrName>style.visibility</p:attrName>
                                        </p:attrNameLst>
                                      </p:cBhvr>
                                      <p:to>
                                        <p:strVal val="visible"/>
                                      </p:to>
                                    </p:set>
                                    <p:animEffect transition="in" filter="wipe(left)">
                                      <p:cBhvr>
                                        <p:cTn id="4650" dur="500"/>
                                        <p:tgtEl>
                                          <p:spTgt spid="19"/>
                                        </p:tgtEl>
                                      </p:cBhvr>
                                    </p:animEffect>
                                  </p:childTnLst>
                                </p:cTn>
                              </p:par>
                              <p:par>
                                <p:cTn id="4651" presetID="22" presetClass="entr" presetSubtype="8" fill="hold" nodeType="withEffect">
                                  <p:stCondLst>
                                    <p:cond delay="480"/>
                                  </p:stCondLst>
                                  <p:childTnLst>
                                    <p:set>
                                      <p:cBhvr>
                                        <p:cTn id="4652" dur="1" fill="hold">
                                          <p:stCondLst>
                                            <p:cond delay="0"/>
                                          </p:stCondLst>
                                        </p:cTn>
                                        <p:tgtEl>
                                          <p:spTgt spid="24"/>
                                        </p:tgtEl>
                                        <p:attrNameLst>
                                          <p:attrName>style.visibility</p:attrName>
                                        </p:attrNameLst>
                                      </p:cBhvr>
                                      <p:to>
                                        <p:strVal val="visible"/>
                                      </p:to>
                                    </p:set>
                                    <p:animEffect transition="in" filter="wipe(left)">
                                      <p:cBhvr>
                                        <p:cTn id="4653" dur="500"/>
                                        <p:tgtEl>
                                          <p:spTgt spid="24"/>
                                        </p:tgtEl>
                                      </p:cBhvr>
                                    </p:animEffect>
                                  </p:childTnLst>
                                </p:cTn>
                              </p:par>
                              <p:par>
                                <p:cTn id="4654" presetID="22" presetClass="entr" presetSubtype="8" fill="hold" nodeType="withEffect">
                                  <p:stCondLst>
                                    <p:cond delay="550"/>
                                  </p:stCondLst>
                                  <p:childTnLst>
                                    <p:set>
                                      <p:cBhvr>
                                        <p:cTn id="4655" dur="1" fill="hold">
                                          <p:stCondLst>
                                            <p:cond delay="0"/>
                                          </p:stCondLst>
                                        </p:cTn>
                                        <p:tgtEl>
                                          <p:spTgt spid="25"/>
                                        </p:tgtEl>
                                        <p:attrNameLst>
                                          <p:attrName>style.visibility</p:attrName>
                                        </p:attrNameLst>
                                      </p:cBhvr>
                                      <p:to>
                                        <p:strVal val="visible"/>
                                      </p:to>
                                    </p:set>
                                    <p:animEffect transition="in" filter="wipe(left)">
                                      <p:cBhvr>
                                        <p:cTn id="465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Del flujo completo del sistema a la operación de campo</a:t>
            </a:r>
            <a:endParaRPr lang="en-US" sz="2200" dirty="0"/>
          </a:p>
        </p:txBody>
      </p:sp>
      <p:pic>
        <p:nvPicPr>
          <p:cNvPr id="3" name="Flujo completo [s0]" descr="Flujo: fuente, suelo estratificado, nodos esclavos, captura local, ESP32 maestro, navegador de campo, servidor FastAPI, control de calidad y MASW, perfil Vs de z">    </p:cNvPr>
          <p:cNvPicPr>
            <a:picLocks noChangeAspect="1"/>
          </p:cNvPicPr>
          <p:nvPr/>
        </p:nvPicPr>
        <p:blipFill>
          <a:blip r:embed="rId1"/>
          <a:stretch>
            <a:fillRect/>
          </a:stretch>
        </p:blipFill>
        <p:spPr>
          <a:xfrm>
            <a:off x="966136" y="1521393"/>
            <a:ext cx="7211728" cy="1453132"/>
          </a:xfrm>
          <a:prstGeom prst="rect">
            <a:avLst/>
          </a:prstGeom>
        </p:spPr>
      </p:pic>
      <p:sp>
        <p:nvSpPr>
          <p:cNvPr id="4" name="Cabecera En el campo [s0]"/>
          <p:cNvSpPr/>
          <p:nvPr/>
        </p:nvSpPr>
        <p:spPr>
          <a:xfrm>
            <a:off x="966136" y="3123999"/>
            <a:ext cx="2283714" cy="320521"/>
          </a:xfrm>
          <a:prstGeom prst="rect">
            <a:avLst/>
          </a:prstGeom>
          <a:solidFill>
            <a:srgbClr val="1F4E79"/>
          </a:solidFill>
          <a:ln w="6350">
            <a:solidFill>
              <a:srgbClr val="1F4E79"/>
            </a:solidFill>
            <a:prstDash val="solid"/>
          </a:ln>
        </p:spPr>
      </p:sp>
      <p:sp>
        <p:nvSpPr>
          <p:cNvPr id="5" name="Elemento [s0]"/>
          <p:cNvSpPr txBox="1"/>
          <p:nvPr/>
        </p:nvSpPr>
        <p:spPr>
          <a:xfrm>
            <a:off x="1006201"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En el campo</a:t>
            </a:r>
            <a:endParaRPr lang="en-US" sz="1260" dirty="0"/>
          </a:p>
        </p:txBody>
      </p:sp>
      <p:sp>
        <p:nvSpPr>
          <p:cNvPr id="6" name="Tarjeta En el campo [s0]"/>
          <p:cNvSpPr/>
          <p:nvPr/>
        </p:nvSpPr>
        <p:spPr>
          <a:xfrm>
            <a:off x="966136" y="3444521"/>
            <a:ext cx="2283714" cy="961564"/>
          </a:xfrm>
          <a:prstGeom prst="rect">
            <a:avLst/>
          </a:prstGeom>
          <a:solidFill>
            <a:srgbClr val="FFFFFF"/>
          </a:solidFill>
          <a:ln w="16694">
            <a:solidFill>
              <a:srgbClr val="1F4E79"/>
            </a:solidFill>
            <a:prstDash val="solid"/>
          </a:ln>
        </p:spPr>
      </p:sp>
      <p:sp>
        <p:nvSpPr>
          <p:cNvPr id="7" name="Elemento [s0]"/>
          <p:cNvSpPr txBox="1"/>
          <p:nvPr/>
        </p:nvSpPr>
        <p:spPr>
          <a:xfrm>
            <a:off x="1062292"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Impacto, ondas Rayleigh, nodos con SM-24, AFE y ADC; captura y registro local</a:t>
            </a:r>
            <a:endParaRPr lang="en-US" sz="1170" dirty="0"/>
          </a:p>
        </p:txBody>
      </p:sp>
      <p:sp>
        <p:nvSpPr>
          <p:cNvPr id="8" name="Cabecera En el camino [s0]"/>
          <p:cNvSpPr/>
          <p:nvPr/>
        </p:nvSpPr>
        <p:spPr>
          <a:xfrm>
            <a:off x="3430143" y="3123999"/>
            <a:ext cx="2283714" cy="320521"/>
          </a:xfrm>
          <a:prstGeom prst="rect">
            <a:avLst/>
          </a:prstGeom>
          <a:solidFill>
            <a:srgbClr val="2E75B6"/>
          </a:solidFill>
          <a:ln w="6350">
            <a:solidFill>
              <a:srgbClr val="2E75B6"/>
            </a:solidFill>
            <a:prstDash val="solid"/>
          </a:ln>
        </p:spPr>
      </p:sp>
      <p:sp>
        <p:nvSpPr>
          <p:cNvPr id="9" name="Elemento [s0]"/>
          <p:cNvSpPr txBox="1"/>
          <p:nvPr/>
        </p:nvSpPr>
        <p:spPr>
          <a:xfrm>
            <a:off x="3470208"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En el camino</a:t>
            </a:r>
            <a:endParaRPr lang="en-US" sz="1260" dirty="0"/>
          </a:p>
        </p:txBody>
      </p:sp>
      <p:sp>
        <p:nvSpPr>
          <p:cNvPr id="10" name="Tarjeta En el camino [s0]"/>
          <p:cNvSpPr/>
          <p:nvPr/>
        </p:nvSpPr>
        <p:spPr>
          <a:xfrm>
            <a:off x="3430143" y="3444521"/>
            <a:ext cx="2283714" cy="961564"/>
          </a:xfrm>
          <a:prstGeom prst="rect">
            <a:avLst/>
          </a:prstGeom>
          <a:solidFill>
            <a:srgbClr val="FFFFFF"/>
          </a:solidFill>
          <a:ln w="16694">
            <a:solidFill>
              <a:srgbClr val="2E75B6"/>
            </a:solidFill>
            <a:prstDash val="solid"/>
          </a:ln>
        </p:spPr>
      </p:sp>
      <p:sp>
        <p:nvSpPr>
          <p:cNvPr id="11" name="Elemento [s0]"/>
          <p:cNvSpPr txBox="1"/>
          <p:nvPr/>
        </p:nvSpPr>
        <p:spPr>
          <a:xfrm>
            <a:off x="3526299"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El maestro reensambla las trazas; el navegador arma un ZIP y lo envía por Tailscale</a:t>
            </a:r>
            <a:endParaRPr lang="en-US" sz="1170" dirty="0"/>
          </a:p>
        </p:txBody>
      </p:sp>
      <p:sp>
        <p:nvSpPr>
          <p:cNvPr id="12" name="Cabecera Análisis (en parte pendiente) [s0]"/>
          <p:cNvSpPr/>
          <p:nvPr/>
        </p:nvSpPr>
        <p:spPr>
          <a:xfrm>
            <a:off x="5894150" y="3123999"/>
            <a:ext cx="2283714" cy="320521"/>
          </a:xfrm>
          <a:prstGeom prst="rect">
            <a:avLst/>
          </a:prstGeom>
          <a:solidFill>
            <a:srgbClr val="C55A11"/>
          </a:solidFill>
          <a:ln w="6350">
            <a:solidFill>
              <a:srgbClr val="C55A11"/>
            </a:solidFill>
            <a:prstDash val="solid"/>
          </a:ln>
        </p:spPr>
      </p:sp>
      <p:sp>
        <p:nvSpPr>
          <p:cNvPr id="13" name="Elemento [s0]"/>
          <p:cNvSpPr txBox="1"/>
          <p:nvPr/>
        </p:nvSpPr>
        <p:spPr>
          <a:xfrm>
            <a:off x="5934215" y="3123999"/>
            <a:ext cx="2203584"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Análisis (en parte pendiente)</a:t>
            </a:r>
            <a:endParaRPr lang="en-US" sz="1260" dirty="0"/>
          </a:p>
        </p:txBody>
      </p:sp>
      <p:sp>
        <p:nvSpPr>
          <p:cNvPr id="14" name="Tarjeta Análisis (en parte pendiente) [s0]"/>
          <p:cNvSpPr/>
          <p:nvPr/>
        </p:nvSpPr>
        <p:spPr>
          <a:xfrm>
            <a:off x="5894150" y="3444521"/>
            <a:ext cx="2283714" cy="961564"/>
          </a:xfrm>
          <a:prstGeom prst="rect">
            <a:avLst/>
          </a:prstGeom>
          <a:solidFill>
            <a:srgbClr val="FFFFFF"/>
          </a:solidFill>
          <a:ln w="16694">
            <a:solidFill>
              <a:srgbClr val="C55A11"/>
            </a:solidFill>
            <a:prstDash val="solid"/>
          </a:ln>
        </p:spPr>
      </p:sp>
      <p:sp>
        <p:nvSpPr>
          <p:cNvPr id="15" name="Elemento [s0]"/>
          <p:cNvSpPr txBox="1"/>
          <p:nvPr/>
        </p:nvSpPr>
        <p:spPr>
          <a:xfrm>
            <a:off x="5990307" y="3508625"/>
            <a:ext cx="2091401" cy="833355"/>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Servidor, alineación, apilado y dispersión están diseñados; picking e inversión son trabajo futuro</a:t>
            </a:r>
            <a:endParaRPr lang="en-US" sz="1170" dirty="0"/>
          </a:p>
        </p:txBody>
      </p:sp>
      <p:pic>
        <p:nvPicPr>
          <p:cNvPr id="16" name="Interfaz web del maestro [s1]" descr="Interfaz web Gephone Scope: configuración de captura, gráficas de las señales del HAMMER y del geófono, y botones para guardar o subir al servidor">    </p:cNvPr>
          <p:cNvPicPr>
            <a:picLocks noChangeAspect="1"/>
          </p:cNvPicPr>
          <p:nvPr/>
        </p:nvPicPr>
        <p:blipFill>
          <a:blip r:embed="rId2"/>
          <a:stretch>
            <a:fillRect/>
          </a:stretch>
        </p:blipFill>
        <p:spPr>
          <a:xfrm>
            <a:off x="886005" y="1561458"/>
            <a:ext cx="4407167" cy="2480556"/>
          </a:xfrm>
          <a:prstGeom prst="rect">
            <a:avLst/>
          </a:prstGeom>
        </p:spPr>
      </p:pic>
      <p:sp>
        <p:nvSpPr>
          <p:cNvPr id="17" name="Cuerpo [s1]"/>
          <p:cNvSpPr txBox="1"/>
          <p:nvPr/>
        </p:nvSpPr>
        <p:spPr>
          <a:xfrm>
            <a:off x="5493499" y="1561458"/>
            <a:ext cx="2724431" cy="2403909"/>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Se configuran ganancia, rango del ADC, duración y ruta de señal</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Se preparan los nodos, se inicia la captura y se ven las señales del HAMMER y del geófono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Cada captura se conserva, se descarta o se envía</a:t>
            </a:r>
            <a:endParaRPr lang="en-US" sz="1260" dirty="0"/>
          </a:p>
        </p:txBody>
      </p:sp>
      <p:sp>
        <p:nvSpPr>
          <p:cNvPr id="18" name="Franja [s1]"/>
          <p:cNvSpPr/>
          <p:nvPr/>
        </p:nvSpPr>
        <p:spPr>
          <a:xfrm>
            <a:off x="966136" y="4045498"/>
            <a:ext cx="7211728" cy="360586"/>
          </a:xfrm>
          <a:prstGeom prst="rect">
            <a:avLst/>
          </a:prstGeom>
          <a:solidFill>
            <a:srgbClr val="EAF1F8"/>
          </a:solidFill>
          <a:ln w="6350">
            <a:solidFill>
              <a:srgbClr val="EAF1F8"/>
            </a:solidFill>
            <a:prstDash val="solid"/>
          </a:ln>
        </p:spPr>
      </p:sp>
      <p:sp>
        <p:nvSpPr>
          <p:cNvPr id="19" name="Elemento [s1]"/>
          <p:cNvSpPr txBox="1"/>
          <p:nvPr/>
        </p:nvSpPr>
        <p:spPr>
          <a:xfrm>
            <a:off x="1086331" y="4045498"/>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Se detecta mal acople, impactos múltiples o ruido antes de mover el receptor.</a:t>
            </a:r>
            <a:endParaRPr lang="en-US" sz="1260" dirty="0"/>
          </a:p>
        </p:txBody>
      </p:sp>
      <p:pic>
        <p:nvPicPr>
          <p:cNvPr id="20" name="Flujo operativo de una sesión [s2]" descr="Diagrama de carriles: usuario o navegador, ESP32 maestro, nodos esclavos y servidor de análisis, desde iniciar el punto de acceso hasta publicar la captura como raw aceptado">    </p:cNvPr>
          <p:cNvPicPr>
            <a:picLocks noChangeAspect="1"/>
          </p:cNvPicPr>
          <p:nvPr/>
        </p:nvPicPr>
        <p:blipFill>
          <a:blip r:embed="rId3"/>
          <a:stretch>
            <a:fillRect/>
          </a:stretch>
        </p:blipFill>
        <p:spPr>
          <a:xfrm>
            <a:off x="886005" y="1521393"/>
            <a:ext cx="4856797" cy="2924757"/>
          </a:xfrm>
          <a:prstGeom prst="rect">
            <a:avLst/>
          </a:prstGeom>
        </p:spPr>
      </p:pic>
      <p:sp>
        <p:nvSpPr>
          <p:cNvPr id="21" name="Cuerpo [s2]"/>
          <p:cNvSpPr txBox="1"/>
          <p:nvPr/>
        </p:nvSpPr>
        <p:spPr>
          <a:xfrm>
            <a:off x="5894150" y="1561458"/>
            <a:ext cx="2323779" cy="2724431"/>
          </a:xfrm>
          <a:prstGeom prst="rect">
            <a:avLst/>
          </a:prstGeom>
          <a:noFill/>
          <a:ln/>
        </p:spPr>
        <p:txBody>
          <a:bodyPr wrap="square" lIns="0" tIns="0" rIns="0" bIns="0" rtlCol="0" anchor="t"/>
          <a:lstStyle/>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El maestro crea su propio punto de acceso: no hace falta infraestructura</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Calibración y captura se coordinan por ESP-NOW</a:t>
            </a:r>
            <a:endParaRPr lang="en-US" sz="1170" dirty="0"/>
          </a:p>
          <a:p>
            <a:pPr marL="342900" indent="-342900">
              <a:spcAft>
                <a:spcPts val="720"/>
              </a:spcAft>
              <a:buSzPct val="100000"/>
              <a:buChar char="•"/>
            </a:pPr>
            <a:r>
              <a:rPr lang="en-US" sz="1170" dirty="0">
                <a:solidFill>
                  <a:srgbClr val="2D2D2D"/>
                </a:solidFill>
                <a:latin typeface="Arial" pitchFamily="34" charset="0"/>
                <a:ea typeface="Arial" pitchFamily="34" charset="-122"/>
                <a:cs typeface="Arial" pitchFamily="34" charset="-120"/>
              </a:rPr>
              <a:t>Se revisa, se decide y recién entonces se envía por la red del cliente y Tailscale</a:t>
            </a:r>
            <a:endParaRPr lang="en-US" sz="1170" dirty="0"/>
          </a:p>
        </p:txBody>
      </p:sp>
      <p:sp>
        <p:nvSpPr>
          <p:cNvPr id="22"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Del impacto al perfil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E75B6"/>
                            </a:solidFill>
                            <a:latin typeface="Cambria Math" panose="02040503050406030204" pitchFamily="18" charset="0"/>
                          </a:rPr>
                          <m:t xml:space="preserve">V</m:t>
                        </m:r>
                      </m:e>
                      <m:sub>
                        <m:r>
                          <a:rPr lang="es-ES" sz="1400" i="1">
                            <a:solidFill>
                              <a:srgbClr val="2E75B6"/>
                            </a:solidFill>
                            <a:latin typeface="Cambria Math" panose="02040503050406030204" pitchFamily="18" charset="0"/>
                          </a:rPr>
                          <m:t xml:space="preserve">s</m:t>
                        </m:r>
                      </m:sub>
                    </m:sSub>
                  </m:oMath>
                </a14:m>
              </mc:Choice>
              <mc:Fallback>
                <a:r>
                  <a:rPr lang="en-US" sz="1400" b="1" dirty="0">
                    <a:solidFill>
                      <a:srgbClr val="2E75B6"/>
                    </a:solidFill>
                    <a:latin typeface="Arial" pitchFamily="34" charset="0"/>
                    <a:ea typeface="Arial" pitchFamily="34" charset="-122"/>
                    <a:cs typeface="Arial" pitchFamily="34" charset="-120"/>
                  </a:rPr>
                  <a:t>Vs</a:t>
                </a:r>
              </mc:Fallback>
            </mc:AlternateContent>
            <a:r>
              <a:rPr lang="en-US" sz="1400" b="1" dirty="0">
                <a:solidFill>
                  <a:srgbClr val="2E75B6"/>
                </a:solidFill>
                <a:latin typeface="Arial" pitchFamily="34" charset="0"/>
                <a:ea typeface="Arial" pitchFamily="34" charset="-122"/>
                <a:cs typeface="Arial" pitchFamily="34" charset="-120"/>
              </a:rPr>
              <a:t>(z): el flujo completo del sistema</a:t>
            </a:r>
            <a:endParaRPr lang="en-US" sz="1400" dirty="0"/>
          </a:p>
        </p:txBody>
      </p:sp>
      <p:sp>
        <p:nvSpPr>
          <p:cNvPr id="23"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Diagrama propio (Diagramas_operativos_y_calibracion.drawio, p. 1); resumen firmado, sec. 4.9 y 6.</a:t>
            </a:r>
            <a:endParaRPr lang="en-US" sz="800" dirty="0"/>
          </a:p>
        </p:txBody>
      </p:sp>
      <p:sp>
        <p:nvSpPr>
          <p:cNvPr id="24"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interfaz web del maestro configura, revisa y decide cada captura</a:t>
            </a:r>
            <a:endParaRPr lang="en-US" sz="1400" dirty="0"/>
          </a:p>
        </p:txBody>
      </p:sp>
      <p:sp>
        <p:nvSpPr>
          <p:cNvPr id="25"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fig. 15.</a:t>
            </a:r>
            <a:endParaRPr lang="en-US" sz="800" dirty="0"/>
          </a:p>
        </p:txBody>
      </p:sp>
      <p:sp>
        <p:nvSpPr>
          <p:cNvPr id="26"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sesión de campo: del navegador al servidor, con el maestro en el medio</a:t>
            </a:r>
            <a:endParaRPr lang="en-US" sz="1400" dirty="0"/>
          </a:p>
        </p:txBody>
      </p:sp>
      <p:sp>
        <p:nvSpPr>
          <p:cNvPr id="27"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fig. 14; diagrama propio (drawio, p. 2).</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722" fill="hold">
                      <p:stCondLst>
                        <p:cond delay="indefinite"/>
                      </p:stCondLst>
                      <p:childTnLst>
                        <p:par>
                          <p:cTn id="4723" fill="hold">
                            <p:stCondLst>
                              <p:cond delay="0"/>
                            </p:stCondLst>
                            <p:childTnLst>
                              <p:par>
                                <p:cTn id="4659" presetID="10" presetClass="exit" presetSubtype="0" fill="hold" nodeType="clickEffect">
                                  <p:stCondLst>
                                    <p:cond delay="0"/>
                                  </p:stCondLst>
                                  <p:childTnLst>
                                    <p:animEffect transition="out" filter="fade">
                                      <p:cBhvr>
                                        <p:cTn id="4660" dur="400"/>
                                        <p:tgtEl>
                                          <p:spTgt spid="3"/>
                                        </p:tgtEl>
                                      </p:cBhvr>
                                    </p:animEffect>
                                    <p:set>
                                      <p:cBhvr>
                                        <p:cTn id="4661" dur="1" fill="hold">
                                          <p:stCondLst>
                                            <p:cond delay="399"/>
                                          </p:stCondLst>
                                        </p:cTn>
                                        <p:tgtEl>
                                          <p:spTgt spid="3"/>
                                        </p:tgtEl>
                                        <p:attrNameLst>
                                          <p:attrName>style.visibility</p:attrName>
                                        </p:attrNameLst>
                                      </p:cBhvr>
                                      <p:to>
                                        <p:strVal val="hidden"/>
                                      </p:to>
                                    </p:set>
                                  </p:childTnLst>
                                </p:cTn>
                              </p:par>
                              <p:par>
                                <p:cTn id="4662" presetID="10" presetClass="exit" presetSubtype="0" fill="hold" nodeType="withEffect">
                                  <p:stCondLst>
                                    <p:cond delay="0"/>
                                  </p:stCondLst>
                                  <p:childTnLst>
                                    <p:animEffect transition="out" filter="fade">
                                      <p:cBhvr>
                                        <p:cTn id="4663" dur="400"/>
                                        <p:tgtEl>
                                          <p:spTgt spid="4"/>
                                        </p:tgtEl>
                                      </p:cBhvr>
                                    </p:animEffect>
                                    <p:set>
                                      <p:cBhvr>
                                        <p:cTn id="4664" dur="1" fill="hold">
                                          <p:stCondLst>
                                            <p:cond delay="399"/>
                                          </p:stCondLst>
                                        </p:cTn>
                                        <p:tgtEl>
                                          <p:spTgt spid="4"/>
                                        </p:tgtEl>
                                        <p:attrNameLst>
                                          <p:attrName>style.visibility</p:attrName>
                                        </p:attrNameLst>
                                      </p:cBhvr>
                                      <p:to>
                                        <p:strVal val="hidden"/>
                                      </p:to>
                                    </p:set>
                                  </p:childTnLst>
                                </p:cTn>
                              </p:par>
                              <p:par>
                                <p:cTn id="4665" presetID="10" presetClass="exit" presetSubtype="0" fill="hold" nodeType="withEffect">
                                  <p:stCondLst>
                                    <p:cond delay="0"/>
                                  </p:stCondLst>
                                  <p:childTnLst>
                                    <p:animEffect transition="out" filter="fade">
                                      <p:cBhvr>
                                        <p:cTn id="4666" dur="400"/>
                                        <p:tgtEl>
                                          <p:spTgt spid="5"/>
                                        </p:tgtEl>
                                      </p:cBhvr>
                                    </p:animEffect>
                                    <p:set>
                                      <p:cBhvr>
                                        <p:cTn id="4667" dur="1" fill="hold">
                                          <p:stCondLst>
                                            <p:cond delay="399"/>
                                          </p:stCondLst>
                                        </p:cTn>
                                        <p:tgtEl>
                                          <p:spTgt spid="5"/>
                                        </p:tgtEl>
                                        <p:attrNameLst>
                                          <p:attrName>style.visibility</p:attrName>
                                        </p:attrNameLst>
                                      </p:cBhvr>
                                      <p:to>
                                        <p:strVal val="hidden"/>
                                      </p:to>
                                    </p:set>
                                  </p:childTnLst>
                                </p:cTn>
                              </p:par>
                              <p:par>
                                <p:cTn id="4668" presetID="10" presetClass="exit" presetSubtype="0" fill="hold" nodeType="withEffect">
                                  <p:stCondLst>
                                    <p:cond delay="0"/>
                                  </p:stCondLst>
                                  <p:childTnLst>
                                    <p:animEffect transition="out" filter="fade">
                                      <p:cBhvr>
                                        <p:cTn id="4669" dur="400"/>
                                        <p:tgtEl>
                                          <p:spTgt spid="6"/>
                                        </p:tgtEl>
                                      </p:cBhvr>
                                    </p:animEffect>
                                    <p:set>
                                      <p:cBhvr>
                                        <p:cTn id="4670" dur="1" fill="hold">
                                          <p:stCondLst>
                                            <p:cond delay="399"/>
                                          </p:stCondLst>
                                        </p:cTn>
                                        <p:tgtEl>
                                          <p:spTgt spid="6"/>
                                        </p:tgtEl>
                                        <p:attrNameLst>
                                          <p:attrName>style.visibility</p:attrName>
                                        </p:attrNameLst>
                                      </p:cBhvr>
                                      <p:to>
                                        <p:strVal val="hidden"/>
                                      </p:to>
                                    </p:set>
                                  </p:childTnLst>
                                </p:cTn>
                              </p:par>
                              <p:par>
                                <p:cTn id="4671" presetID="10" presetClass="exit" presetSubtype="0" fill="hold" nodeType="withEffect">
                                  <p:stCondLst>
                                    <p:cond delay="0"/>
                                  </p:stCondLst>
                                  <p:childTnLst>
                                    <p:animEffect transition="out" filter="fade">
                                      <p:cBhvr>
                                        <p:cTn id="4672" dur="400"/>
                                        <p:tgtEl>
                                          <p:spTgt spid="7"/>
                                        </p:tgtEl>
                                      </p:cBhvr>
                                    </p:animEffect>
                                    <p:set>
                                      <p:cBhvr>
                                        <p:cTn id="4673" dur="1" fill="hold">
                                          <p:stCondLst>
                                            <p:cond delay="399"/>
                                          </p:stCondLst>
                                        </p:cTn>
                                        <p:tgtEl>
                                          <p:spTgt spid="7"/>
                                        </p:tgtEl>
                                        <p:attrNameLst>
                                          <p:attrName>style.visibility</p:attrName>
                                        </p:attrNameLst>
                                      </p:cBhvr>
                                      <p:to>
                                        <p:strVal val="hidden"/>
                                      </p:to>
                                    </p:set>
                                  </p:childTnLst>
                                </p:cTn>
                              </p:par>
                              <p:par>
                                <p:cTn id="4674" presetID="10" presetClass="exit" presetSubtype="0" fill="hold" nodeType="withEffect">
                                  <p:stCondLst>
                                    <p:cond delay="0"/>
                                  </p:stCondLst>
                                  <p:childTnLst>
                                    <p:animEffect transition="out" filter="fade">
                                      <p:cBhvr>
                                        <p:cTn id="4675" dur="400"/>
                                        <p:tgtEl>
                                          <p:spTgt spid="8"/>
                                        </p:tgtEl>
                                      </p:cBhvr>
                                    </p:animEffect>
                                    <p:set>
                                      <p:cBhvr>
                                        <p:cTn id="4676" dur="1" fill="hold">
                                          <p:stCondLst>
                                            <p:cond delay="399"/>
                                          </p:stCondLst>
                                        </p:cTn>
                                        <p:tgtEl>
                                          <p:spTgt spid="8"/>
                                        </p:tgtEl>
                                        <p:attrNameLst>
                                          <p:attrName>style.visibility</p:attrName>
                                        </p:attrNameLst>
                                      </p:cBhvr>
                                      <p:to>
                                        <p:strVal val="hidden"/>
                                      </p:to>
                                    </p:set>
                                  </p:childTnLst>
                                </p:cTn>
                              </p:par>
                              <p:par>
                                <p:cTn id="4677" presetID="10" presetClass="exit" presetSubtype="0" fill="hold" nodeType="withEffect">
                                  <p:stCondLst>
                                    <p:cond delay="0"/>
                                  </p:stCondLst>
                                  <p:childTnLst>
                                    <p:animEffect transition="out" filter="fade">
                                      <p:cBhvr>
                                        <p:cTn id="4678" dur="400"/>
                                        <p:tgtEl>
                                          <p:spTgt spid="9"/>
                                        </p:tgtEl>
                                      </p:cBhvr>
                                    </p:animEffect>
                                    <p:set>
                                      <p:cBhvr>
                                        <p:cTn id="4679" dur="1" fill="hold">
                                          <p:stCondLst>
                                            <p:cond delay="399"/>
                                          </p:stCondLst>
                                        </p:cTn>
                                        <p:tgtEl>
                                          <p:spTgt spid="9"/>
                                        </p:tgtEl>
                                        <p:attrNameLst>
                                          <p:attrName>style.visibility</p:attrName>
                                        </p:attrNameLst>
                                      </p:cBhvr>
                                      <p:to>
                                        <p:strVal val="hidden"/>
                                      </p:to>
                                    </p:set>
                                  </p:childTnLst>
                                </p:cTn>
                              </p:par>
                              <p:par>
                                <p:cTn id="4680" presetID="10" presetClass="exit" presetSubtype="0" fill="hold" nodeType="withEffect">
                                  <p:stCondLst>
                                    <p:cond delay="0"/>
                                  </p:stCondLst>
                                  <p:childTnLst>
                                    <p:animEffect transition="out" filter="fade">
                                      <p:cBhvr>
                                        <p:cTn id="4681" dur="400"/>
                                        <p:tgtEl>
                                          <p:spTgt spid="10"/>
                                        </p:tgtEl>
                                      </p:cBhvr>
                                    </p:animEffect>
                                    <p:set>
                                      <p:cBhvr>
                                        <p:cTn id="4682" dur="1" fill="hold">
                                          <p:stCondLst>
                                            <p:cond delay="399"/>
                                          </p:stCondLst>
                                        </p:cTn>
                                        <p:tgtEl>
                                          <p:spTgt spid="10"/>
                                        </p:tgtEl>
                                        <p:attrNameLst>
                                          <p:attrName>style.visibility</p:attrName>
                                        </p:attrNameLst>
                                      </p:cBhvr>
                                      <p:to>
                                        <p:strVal val="hidden"/>
                                      </p:to>
                                    </p:set>
                                  </p:childTnLst>
                                </p:cTn>
                              </p:par>
                              <p:par>
                                <p:cTn id="4683" presetID="10" presetClass="exit" presetSubtype="0" fill="hold" nodeType="withEffect">
                                  <p:stCondLst>
                                    <p:cond delay="0"/>
                                  </p:stCondLst>
                                  <p:childTnLst>
                                    <p:animEffect transition="out" filter="fade">
                                      <p:cBhvr>
                                        <p:cTn id="4684" dur="400"/>
                                        <p:tgtEl>
                                          <p:spTgt spid="11"/>
                                        </p:tgtEl>
                                      </p:cBhvr>
                                    </p:animEffect>
                                    <p:set>
                                      <p:cBhvr>
                                        <p:cTn id="4685" dur="1" fill="hold">
                                          <p:stCondLst>
                                            <p:cond delay="399"/>
                                          </p:stCondLst>
                                        </p:cTn>
                                        <p:tgtEl>
                                          <p:spTgt spid="11"/>
                                        </p:tgtEl>
                                        <p:attrNameLst>
                                          <p:attrName>style.visibility</p:attrName>
                                        </p:attrNameLst>
                                      </p:cBhvr>
                                      <p:to>
                                        <p:strVal val="hidden"/>
                                      </p:to>
                                    </p:set>
                                  </p:childTnLst>
                                </p:cTn>
                              </p:par>
                              <p:par>
                                <p:cTn id="4686" presetID="10" presetClass="exit" presetSubtype="0" fill="hold" nodeType="withEffect">
                                  <p:stCondLst>
                                    <p:cond delay="0"/>
                                  </p:stCondLst>
                                  <p:childTnLst>
                                    <p:animEffect transition="out" filter="fade">
                                      <p:cBhvr>
                                        <p:cTn id="4687" dur="400"/>
                                        <p:tgtEl>
                                          <p:spTgt spid="12"/>
                                        </p:tgtEl>
                                      </p:cBhvr>
                                    </p:animEffect>
                                    <p:set>
                                      <p:cBhvr>
                                        <p:cTn id="4688" dur="1" fill="hold">
                                          <p:stCondLst>
                                            <p:cond delay="399"/>
                                          </p:stCondLst>
                                        </p:cTn>
                                        <p:tgtEl>
                                          <p:spTgt spid="12"/>
                                        </p:tgtEl>
                                        <p:attrNameLst>
                                          <p:attrName>style.visibility</p:attrName>
                                        </p:attrNameLst>
                                      </p:cBhvr>
                                      <p:to>
                                        <p:strVal val="hidden"/>
                                      </p:to>
                                    </p:set>
                                  </p:childTnLst>
                                </p:cTn>
                              </p:par>
                              <p:par>
                                <p:cTn id="4689" presetID="10" presetClass="exit" presetSubtype="0" fill="hold" nodeType="withEffect">
                                  <p:stCondLst>
                                    <p:cond delay="0"/>
                                  </p:stCondLst>
                                  <p:childTnLst>
                                    <p:animEffect transition="out" filter="fade">
                                      <p:cBhvr>
                                        <p:cTn id="4690" dur="400"/>
                                        <p:tgtEl>
                                          <p:spTgt spid="13"/>
                                        </p:tgtEl>
                                      </p:cBhvr>
                                    </p:animEffect>
                                    <p:set>
                                      <p:cBhvr>
                                        <p:cTn id="4691" dur="1" fill="hold">
                                          <p:stCondLst>
                                            <p:cond delay="399"/>
                                          </p:stCondLst>
                                        </p:cTn>
                                        <p:tgtEl>
                                          <p:spTgt spid="13"/>
                                        </p:tgtEl>
                                        <p:attrNameLst>
                                          <p:attrName>style.visibility</p:attrName>
                                        </p:attrNameLst>
                                      </p:cBhvr>
                                      <p:to>
                                        <p:strVal val="hidden"/>
                                      </p:to>
                                    </p:set>
                                  </p:childTnLst>
                                </p:cTn>
                              </p:par>
                              <p:par>
                                <p:cTn id="4692" presetID="10" presetClass="exit" presetSubtype="0" fill="hold" nodeType="withEffect">
                                  <p:stCondLst>
                                    <p:cond delay="0"/>
                                  </p:stCondLst>
                                  <p:childTnLst>
                                    <p:animEffect transition="out" filter="fade">
                                      <p:cBhvr>
                                        <p:cTn id="4693" dur="400"/>
                                        <p:tgtEl>
                                          <p:spTgt spid="14"/>
                                        </p:tgtEl>
                                      </p:cBhvr>
                                    </p:animEffect>
                                    <p:set>
                                      <p:cBhvr>
                                        <p:cTn id="4694" dur="1" fill="hold">
                                          <p:stCondLst>
                                            <p:cond delay="399"/>
                                          </p:stCondLst>
                                        </p:cTn>
                                        <p:tgtEl>
                                          <p:spTgt spid="14"/>
                                        </p:tgtEl>
                                        <p:attrNameLst>
                                          <p:attrName>style.visibility</p:attrName>
                                        </p:attrNameLst>
                                      </p:cBhvr>
                                      <p:to>
                                        <p:strVal val="hidden"/>
                                      </p:to>
                                    </p:set>
                                  </p:childTnLst>
                                </p:cTn>
                              </p:par>
                              <p:par>
                                <p:cTn id="4695" presetID="10" presetClass="exit" presetSubtype="0" fill="hold" nodeType="withEffect">
                                  <p:stCondLst>
                                    <p:cond delay="0"/>
                                  </p:stCondLst>
                                  <p:childTnLst>
                                    <p:animEffect transition="out" filter="fade">
                                      <p:cBhvr>
                                        <p:cTn id="4696" dur="400"/>
                                        <p:tgtEl>
                                          <p:spTgt spid="15"/>
                                        </p:tgtEl>
                                      </p:cBhvr>
                                    </p:animEffect>
                                    <p:set>
                                      <p:cBhvr>
                                        <p:cTn id="4697" dur="1" fill="hold">
                                          <p:stCondLst>
                                            <p:cond delay="399"/>
                                          </p:stCondLst>
                                        </p:cTn>
                                        <p:tgtEl>
                                          <p:spTgt spid="15"/>
                                        </p:tgtEl>
                                        <p:attrNameLst>
                                          <p:attrName>style.visibility</p:attrName>
                                        </p:attrNameLst>
                                      </p:cBhvr>
                                      <p:to>
                                        <p:strVal val="hidden"/>
                                      </p:to>
                                    </p:set>
                                  </p:childTnLst>
                                </p:cTn>
                              </p:par>
                              <p:par>
                                <p:cTn id="4698" presetID="10" presetClass="exit" presetSubtype="0" fill="hold" nodeType="withEffect">
                                  <p:stCondLst>
                                    <p:cond delay="0"/>
                                  </p:stCondLst>
                                  <p:childTnLst>
                                    <p:animEffect transition="out" filter="fade">
                                      <p:cBhvr>
                                        <p:cTn id="4699" dur="400"/>
                                        <p:tgtEl>
                                          <p:spTgt spid="22"/>
                                        </p:tgtEl>
                                      </p:cBhvr>
                                    </p:animEffect>
                                    <p:set>
                                      <p:cBhvr>
                                        <p:cTn id="4700" dur="1" fill="hold">
                                          <p:stCondLst>
                                            <p:cond delay="399"/>
                                          </p:stCondLst>
                                        </p:cTn>
                                        <p:tgtEl>
                                          <p:spTgt spid="22"/>
                                        </p:tgtEl>
                                        <p:attrNameLst>
                                          <p:attrName>style.visibility</p:attrName>
                                        </p:attrNameLst>
                                      </p:cBhvr>
                                      <p:to>
                                        <p:strVal val="hidden"/>
                                      </p:to>
                                    </p:set>
                                  </p:childTnLst>
                                </p:cTn>
                              </p:par>
                              <p:par>
                                <p:cTn id="4701" presetID="10" presetClass="exit" presetSubtype="0" fill="hold" nodeType="withEffect">
                                  <p:stCondLst>
                                    <p:cond delay="0"/>
                                  </p:stCondLst>
                                  <p:childTnLst>
                                    <p:animEffect transition="out" filter="fade">
                                      <p:cBhvr>
                                        <p:cTn id="4702" dur="400"/>
                                        <p:tgtEl>
                                          <p:spTgt spid="23"/>
                                        </p:tgtEl>
                                      </p:cBhvr>
                                    </p:animEffect>
                                    <p:set>
                                      <p:cBhvr>
                                        <p:cTn id="4703" dur="1" fill="hold">
                                          <p:stCondLst>
                                            <p:cond delay="399"/>
                                          </p:stCondLst>
                                        </p:cTn>
                                        <p:tgtEl>
                                          <p:spTgt spid="23"/>
                                        </p:tgtEl>
                                        <p:attrNameLst>
                                          <p:attrName>style.visibility</p:attrName>
                                        </p:attrNameLst>
                                      </p:cBhvr>
                                      <p:to>
                                        <p:strVal val="hidden"/>
                                      </p:to>
                                    </p:set>
                                  </p:childTnLst>
                                </p:cTn>
                              </p:par>
                              <p:par>
                                <p:cTn id="4704" presetID="10" presetClass="entr" presetSubtype="0" fill="hold" nodeType="withEffect">
                                  <p:stCondLst>
                                    <p:cond delay="200"/>
                                  </p:stCondLst>
                                  <p:childTnLst>
                                    <p:set>
                                      <p:cBhvr>
                                        <p:cTn id="4705" dur="1" fill="hold">
                                          <p:stCondLst>
                                            <p:cond delay="0"/>
                                          </p:stCondLst>
                                        </p:cTn>
                                        <p:tgtEl>
                                          <p:spTgt spid="16"/>
                                        </p:tgtEl>
                                        <p:attrNameLst>
                                          <p:attrName>style.visibility</p:attrName>
                                        </p:attrNameLst>
                                      </p:cBhvr>
                                      <p:to>
                                        <p:strVal val="visible"/>
                                      </p:to>
                                    </p:set>
                                    <p:animEffect transition="in" filter="fade">
                                      <p:cBhvr>
                                        <p:cTn id="4706" dur="500"/>
                                        <p:tgtEl>
                                          <p:spTgt spid="16"/>
                                        </p:tgtEl>
                                      </p:cBhvr>
                                    </p:animEffect>
                                  </p:childTnLst>
                                </p:cTn>
                              </p:par>
                              <p:par>
                                <p:cTn id="4707" presetID="10" presetClass="entr" presetSubtype="0" fill="hold" nodeType="withEffect">
                                  <p:stCondLst>
                                    <p:cond delay="270"/>
                                  </p:stCondLst>
                                  <p:childTnLst>
                                    <p:set>
                                      <p:cBhvr>
                                        <p:cTn id="4708" dur="1" fill="hold">
                                          <p:stCondLst>
                                            <p:cond delay="0"/>
                                          </p:stCondLst>
                                        </p:cTn>
                                        <p:tgtEl>
                                          <p:spTgt spid="17"/>
                                        </p:tgtEl>
                                        <p:attrNameLst>
                                          <p:attrName>style.visibility</p:attrName>
                                        </p:attrNameLst>
                                      </p:cBhvr>
                                      <p:to>
                                        <p:strVal val="visible"/>
                                      </p:to>
                                    </p:set>
                                    <p:animEffect transition="in" filter="fade">
                                      <p:cBhvr>
                                        <p:cTn id="4709" dur="500"/>
                                        <p:tgtEl>
                                          <p:spTgt spid="17"/>
                                        </p:tgtEl>
                                      </p:cBhvr>
                                    </p:animEffect>
                                  </p:childTnLst>
                                </p:cTn>
                              </p:par>
                              <p:par>
                                <p:cTn id="4710" presetID="10" presetClass="entr" presetSubtype="0" fill="hold" nodeType="withEffect">
                                  <p:stCondLst>
                                    <p:cond delay="340"/>
                                  </p:stCondLst>
                                  <p:childTnLst>
                                    <p:set>
                                      <p:cBhvr>
                                        <p:cTn id="4711" dur="1" fill="hold">
                                          <p:stCondLst>
                                            <p:cond delay="0"/>
                                          </p:stCondLst>
                                        </p:cTn>
                                        <p:tgtEl>
                                          <p:spTgt spid="18"/>
                                        </p:tgtEl>
                                        <p:attrNameLst>
                                          <p:attrName>style.visibility</p:attrName>
                                        </p:attrNameLst>
                                      </p:cBhvr>
                                      <p:to>
                                        <p:strVal val="visible"/>
                                      </p:to>
                                    </p:set>
                                    <p:animEffect transition="in" filter="fade">
                                      <p:cBhvr>
                                        <p:cTn id="4712" dur="500"/>
                                        <p:tgtEl>
                                          <p:spTgt spid="18"/>
                                        </p:tgtEl>
                                      </p:cBhvr>
                                    </p:animEffect>
                                  </p:childTnLst>
                                </p:cTn>
                              </p:par>
                              <p:par>
                                <p:cTn id="4713" presetID="10" presetClass="entr" presetSubtype="0" fill="hold" nodeType="withEffect">
                                  <p:stCondLst>
                                    <p:cond delay="410"/>
                                  </p:stCondLst>
                                  <p:childTnLst>
                                    <p:set>
                                      <p:cBhvr>
                                        <p:cTn id="4714" dur="1" fill="hold">
                                          <p:stCondLst>
                                            <p:cond delay="0"/>
                                          </p:stCondLst>
                                        </p:cTn>
                                        <p:tgtEl>
                                          <p:spTgt spid="19"/>
                                        </p:tgtEl>
                                        <p:attrNameLst>
                                          <p:attrName>style.visibility</p:attrName>
                                        </p:attrNameLst>
                                      </p:cBhvr>
                                      <p:to>
                                        <p:strVal val="visible"/>
                                      </p:to>
                                    </p:set>
                                    <p:animEffect transition="in" filter="fade">
                                      <p:cBhvr>
                                        <p:cTn id="4715" dur="500"/>
                                        <p:tgtEl>
                                          <p:spTgt spid="19"/>
                                        </p:tgtEl>
                                      </p:cBhvr>
                                    </p:animEffect>
                                  </p:childTnLst>
                                </p:cTn>
                              </p:par>
                              <p:par>
                                <p:cTn id="4716" presetID="10" presetClass="entr" presetSubtype="0" fill="hold" nodeType="withEffect">
                                  <p:stCondLst>
                                    <p:cond delay="480"/>
                                  </p:stCondLst>
                                  <p:childTnLst>
                                    <p:set>
                                      <p:cBhvr>
                                        <p:cTn id="4717" dur="1" fill="hold">
                                          <p:stCondLst>
                                            <p:cond delay="0"/>
                                          </p:stCondLst>
                                        </p:cTn>
                                        <p:tgtEl>
                                          <p:spTgt spid="24"/>
                                        </p:tgtEl>
                                        <p:attrNameLst>
                                          <p:attrName>style.visibility</p:attrName>
                                        </p:attrNameLst>
                                      </p:cBhvr>
                                      <p:to>
                                        <p:strVal val="visible"/>
                                      </p:to>
                                    </p:set>
                                    <p:animEffect transition="in" filter="fade">
                                      <p:cBhvr>
                                        <p:cTn id="4718" dur="500"/>
                                        <p:tgtEl>
                                          <p:spTgt spid="24"/>
                                        </p:tgtEl>
                                      </p:cBhvr>
                                    </p:animEffect>
                                  </p:childTnLst>
                                </p:cTn>
                              </p:par>
                              <p:par>
                                <p:cTn id="4719" presetID="10" presetClass="entr" presetSubtype="0" fill="hold" nodeType="withEffect">
                                  <p:stCondLst>
                                    <p:cond delay="550"/>
                                  </p:stCondLst>
                                  <p:childTnLst>
                                    <p:set>
                                      <p:cBhvr>
                                        <p:cTn id="4720" dur="1" fill="hold">
                                          <p:stCondLst>
                                            <p:cond delay="0"/>
                                          </p:stCondLst>
                                        </p:cTn>
                                        <p:tgtEl>
                                          <p:spTgt spid="25"/>
                                        </p:tgtEl>
                                        <p:attrNameLst>
                                          <p:attrName>style.visibility</p:attrName>
                                        </p:attrNameLst>
                                      </p:cBhvr>
                                      <p:to>
                                        <p:strVal val="visible"/>
                                      </p:to>
                                    </p:set>
                                    <p:animEffect transition="in" filter="fade">
                                      <p:cBhvr>
                                        <p:cTn id="4721" dur="500"/>
                                        <p:tgtEl>
                                          <p:spTgt spid="25"/>
                                        </p:tgtEl>
                                      </p:cBhvr>
                                    </p:animEffect>
                                  </p:childTnLst>
                                </p:cTn>
                              </p:par>
                            </p:childTnLst>
                          </p:cTn>
                        </p:par>
                      </p:childTnLst>
                    </p:cTn>
                  </p:par>
                  <p:par>
                    <p:cTn id="4754" fill="hold">
                      <p:stCondLst>
                        <p:cond delay="indefinite"/>
                      </p:stCondLst>
                      <p:childTnLst>
                        <p:par>
                          <p:cTn id="4755" fill="hold">
                            <p:stCondLst>
                              <p:cond delay="0"/>
                            </p:stCondLst>
                            <p:childTnLst>
                              <p:par>
                                <p:cTn id="4724" presetID="10" presetClass="exit" presetSubtype="0" fill="hold" nodeType="clickEffect">
                                  <p:stCondLst>
                                    <p:cond delay="0"/>
                                  </p:stCondLst>
                                  <p:childTnLst>
                                    <p:animEffect transition="out" filter="fade">
                                      <p:cBhvr>
                                        <p:cTn id="4725" dur="400"/>
                                        <p:tgtEl>
                                          <p:spTgt spid="16"/>
                                        </p:tgtEl>
                                      </p:cBhvr>
                                    </p:animEffect>
                                    <p:set>
                                      <p:cBhvr>
                                        <p:cTn id="4726" dur="1" fill="hold">
                                          <p:stCondLst>
                                            <p:cond delay="399"/>
                                          </p:stCondLst>
                                        </p:cTn>
                                        <p:tgtEl>
                                          <p:spTgt spid="16"/>
                                        </p:tgtEl>
                                        <p:attrNameLst>
                                          <p:attrName>style.visibility</p:attrName>
                                        </p:attrNameLst>
                                      </p:cBhvr>
                                      <p:to>
                                        <p:strVal val="hidden"/>
                                      </p:to>
                                    </p:set>
                                  </p:childTnLst>
                                </p:cTn>
                              </p:par>
                              <p:par>
                                <p:cTn id="4727" presetID="10" presetClass="exit" presetSubtype="0" fill="hold" nodeType="withEffect">
                                  <p:stCondLst>
                                    <p:cond delay="0"/>
                                  </p:stCondLst>
                                  <p:childTnLst>
                                    <p:animEffect transition="out" filter="fade">
                                      <p:cBhvr>
                                        <p:cTn id="4728" dur="400"/>
                                        <p:tgtEl>
                                          <p:spTgt spid="17"/>
                                        </p:tgtEl>
                                      </p:cBhvr>
                                    </p:animEffect>
                                    <p:set>
                                      <p:cBhvr>
                                        <p:cTn id="4729" dur="1" fill="hold">
                                          <p:stCondLst>
                                            <p:cond delay="399"/>
                                          </p:stCondLst>
                                        </p:cTn>
                                        <p:tgtEl>
                                          <p:spTgt spid="17"/>
                                        </p:tgtEl>
                                        <p:attrNameLst>
                                          <p:attrName>style.visibility</p:attrName>
                                        </p:attrNameLst>
                                      </p:cBhvr>
                                      <p:to>
                                        <p:strVal val="hidden"/>
                                      </p:to>
                                    </p:set>
                                  </p:childTnLst>
                                </p:cTn>
                              </p:par>
                              <p:par>
                                <p:cTn id="4730" presetID="10" presetClass="exit" presetSubtype="0" fill="hold" nodeType="withEffect">
                                  <p:stCondLst>
                                    <p:cond delay="0"/>
                                  </p:stCondLst>
                                  <p:childTnLst>
                                    <p:animEffect transition="out" filter="fade">
                                      <p:cBhvr>
                                        <p:cTn id="4731" dur="400"/>
                                        <p:tgtEl>
                                          <p:spTgt spid="18"/>
                                        </p:tgtEl>
                                      </p:cBhvr>
                                    </p:animEffect>
                                    <p:set>
                                      <p:cBhvr>
                                        <p:cTn id="4732" dur="1" fill="hold">
                                          <p:stCondLst>
                                            <p:cond delay="399"/>
                                          </p:stCondLst>
                                        </p:cTn>
                                        <p:tgtEl>
                                          <p:spTgt spid="18"/>
                                        </p:tgtEl>
                                        <p:attrNameLst>
                                          <p:attrName>style.visibility</p:attrName>
                                        </p:attrNameLst>
                                      </p:cBhvr>
                                      <p:to>
                                        <p:strVal val="hidden"/>
                                      </p:to>
                                    </p:set>
                                  </p:childTnLst>
                                </p:cTn>
                              </p:par>
                              <p:par>
                                <p:cTn id="4733" presetID="10" presetClass="exit" presetSubtype="0" fill="hold" nodeType="withEffect">
                                  <p:stCondLst>
                                    <p:cond delay="0"/>
                                  </p:stCondLst>
                                  <p:childTnLst>
                                    <p:animEffect transition="out" filter="fade">
                                      <p:cBhvr>
                                        <p:cTn id="4734" dur="400"/>
                                        <p:tgtEl>
                                          <p:spTgt spid="19"/>
                                        </p:tgtEl>
                                      </p:cBhvr>
                                    </p:animEffect>
                                    <p:set>
                                      <p:cBhvr>
                                        <p:cTn id="4735" dur="1" fill="hold">
                                          <p:stCondLst>
                                            <p:cond delay="399"/>
                                          </p:stCondLst>
                                        </p:cTn>
                                        <p:tgtEl>
                                          <p:spTgt spid="19"/>
                                        </p:tgtEl>
                                        <p:attrNameLst>
                                          <p:attrName>style.visibility</p:attrName>
                                        </p:attrNameLst>
                                      </p:cBhvr>
                                      <p:to>
                                        <p:strVal val="hidden"/>
                                      </p:to>
                                    </p:set>
                                  </p:childTnLst>
                                </p:cTn>
                              </p:par>
                              <p:par>
                                <p:cTn id="4736" presetID="10" presetClass="exit" presetSubtype="0" fill="hold" nodeType="withEffect">
                                  <p:stCondLst>
                                    <p:cond delay="0"/>
                                  </p:stCondLst>
                                  <p:childTnLst>
                                    <p:animEffect transition="out" filter="fade">
                                      <p:cBhvr>
                                        <p:cTn id="4737" dur="400"/>
                                        <p:tgtEl>
                                          <p:spTgt spid="24"/>
                                        </p:tgtEl>
                                      </p:cBhvr>
                                    </p:animEffect>
                                    <p:set>
                                      <p:cBhvr>
                                        <p:cTn id="4738" dur="1" fill="hold">
                                          <p:stCondLst>
                                            <p:cond delay="399"/>
                                          </p:stCondLst>
                                        </p:cTn>
                                        <p:tgtEl>
                                          <p:spTgt spid="24"/>
                                        </p:tgtEl>
                                        <p:attrNameLst>
                                          <p:attrName>style.visibility</p:attrName>
                                        </p:attrNameLst>
                                      </p:cBhvr>
                                      <p:to>
                                        <p:strVal val="hidden"/>
                                      </p:to>
                                    </p:set>
                                  </p:childTnLst>
                                </p:cTn>
                              </p:par>
                              <p:par>
                                <p:cTn id="4739" presetID="10" presetClass="exit" presetSubtype="0" fill="hold" nodeType="withEffect">
                                  <p:stCondLst>
                                    <p:cond delay="0"/>
                                  </p:stCondLst>
                                  <p:childTnLst>
                                    <p:animEffect transition="out" filter="fade">
                                      <p:cBhvr>
                                        <p:cTn id="4740" dur="400"/>
                                        <p:tgtEl>
                                          <p:spTgt spid="25"/>
                                        </p:tgtEl>
                                      </p:cBhvr>
                                    </p:animEffect>
                                    <p:set>
                                      <p:cBhvr>
                                        <p:cTn id="4741" dur="1" fill="hold">
                                          <p:stCondLst>
                                            <p:cond delay="399"/>
                                          </p:stCondLst>
                                        </p:cTn>
                                        <p:tgtEl>
                                          <p:spTgt spid="25"/>
                                        </p:tgtEl>
                                        <p:attrNameLst>
                                          <p:attrName>style.visibility</p:attrName>
                                        </p:attrNameLst>
                                      </p:cBhvr>
                                      <p:to>
                                        <p:strVal val="hidden"/>
                                      </p:to>
                                    </p:set>
                                  </p:childTnLst>
                                </p:cTn>
                              </p:par>
                              <p:par>
                                <p:cTn id="4742" presetID="22" presetClass="entr" presetSubtype="8" fill="hold" nodeType="withEffect">
                                  <p:stCondLst>
                                    <p:cond delay="200"/>
                                  </p:stCondLst>
                                  <p:childTnLst>
                                    <p:set>
                                      <p:cBhvr>
                                        <p:cTn id="4743" dur="1" fill="hold">
                                          <p:stCondLst>
                                            <p:cond delay="0"/>
                                          </p:stCondLst>
                                        </p:cTn>
                                        <p:tgtEl>
                                          <p:spTgt spid="20"/>
                                        </p:tgtEl>
                                        <p:attrNameLst>
                                          <p:attrName>style.visibility</p:attrName>
                                        </p:attrNameLst>
                                      </p:cBhvr>
                                      <p:to>
                                        <p:strVal val="visible"/>
                                      </p:to>
                                    </p:set>
                                    <p:animEffect transition="in" filter="wipe(left)">
                                      <p:cBhvr>
                                        <p:cTn id="4744" dur="500"/>
                                        <p:tgtEl>
                                          <p:spTgt spid="20"/>
                                        </p:tgtEl>
                                      </p:cBhvr>
                                    </p:animEffect>
                                  </p:childTnLst>
                                </p:cTn>
                              </p:par>
                              <p:par>
                                <p:cTn id="4745" presetID="22" presetClass="entr" presetSubtype="8" fill="hold" nodeType="withEffect">
                                  <p:stCondLst>
                                    <p:cond delay="270"/>
                                  </p:stCondLst>
                                  <p:childTnLst>
                                    <p:set>
                                      <p:cBhvr>
                                        <p:cTn id="4746" dur="1" fill="hold">
                                          <p:stCondLst>
                                            <p:cond delay="0"/>
                                          </p:stCondLst>
                                        </p:cTn>
                                        <p:tgtEl>
                                          <p:spTgt spid="21"/>
                                        </p:tgtEl>
                                        <p:attrNameLst>
                                          <p:attrName>style.visibility</p:attrName>
                                        </p:attrNameLst>
                                      </p:cBhvr>
                                      <p:to>
                                        <p:strVal val="visible"/>
                                      </p:to>
                                    </p:set>
                                    <p:animEffect transition="in" filter="wipe(left)">
                                      <p:cBhvr>
                                        <p:cTn id="4747" dur="500"/>
                                        <p:tgtEl>
                                          <p:spTgt spid="21"/>
                                        </p:tgtEl>
                                      </p:cBhvr>
                                    </p:animEffect>
                                  </p:childTnLst>
                                </p:cTn>
                              </p:par>
                              <p:par>
                                <p:cTn id="4748" presetID="22" presetClass="entr" presetSubtype="8" fill="hold" nodeType="withEffect">
                                  <p:stCondLst>
                                    <p:cond delay="340"/>
                                  </p:stCondLst>
                                  <p:childTnLst>
                                    <p:set>
                                      <p:cBhvr>
                                        <p:cTn id="4749" dur="1" fill="hold">
                                          <p:stCondLst>
                                            <p:cond delay="0"/>
                                          </p:stCondLst>
                                        </p:cTn>
                                        <p:tgtEl>
                                          <p:spTgt spid="26"/>
                                        </p:tgtEl>
                                        <p:attrNameLst>
                                          <p:attrName>style.visibility</p:attrName>
                                        </p:attrNameLst>
                                      </p:cBhvr>
                                      <p:to>
                                        <p:strVal val="visible"/>
                                      </p:to>
                                    </p:set>
                                    <p:animEffect transition="in" filter="wipe(left)">
                                      <p:cBhvr>
                                        <p:cTn id="4750" dur="500"/>
                                        <p:tgtEl>
                                          <p:spTgt spid="26"/>
                                        </p:tgtEl>
                                      </p:cBhvr>
                                    </p:animEffect>
                                  </p:childTnLst>
                                </p:cTn>
                              </p:par>
                              <p:par>
                                <p:cTn id="4751" presetID="22" presetClass="entr" presetSubtype="8" fill="hold" nodeType="withEffect">
                                  <p:stCondLst>
                                    <p:cond delay="410"/>
                                  </p:stCondLst>
                                  <p:childTnLst>
                                    <p:set>
                                      <p:cBhvr>
                                        <p:cTn id="4752" dur="1" fill="hold">
                                          <p:stCondLst>
                                            <p:cond delay="0"/>
                                          </p:stCondLst>
                                        </p:cTn>
                                        <p:tgtEl>
                                          <p:spTgt spid="27"/>
                                        </p:tgtEl>
                                        <p:attrNameLst>
                                          <p:attrName>style.visibility</p:attrName>
                                        </p:attrNameLst>
                                      </p:cBhvr>
                                      <p:to>
                                        <p:strVal val="visible"/>
                                      </p:to>
                                    </p:set>
                                    <p:animEffect transition="in" filter="wipe(left)">
                                      <p:cBhvr>
                                        <p:cTn id="475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Geometría: 21 posiciones, límites de </a:t>
            </a:r>
            <mc:AlternateContent xmlns:mc="http://schemas.openxmlformats.org/markup-compatibility/2006">
              <mc:Choice xmlns:a14="http://schemas.microsoft.com/office/drawing/2010/main" Requires="a14">
                <a14:m>
                  <m:oMath xmlns:m="http://schemas.openxmlformats.org/officeDocument/2006/math">
                    <m:r>
                      <a:rPr lang="es-ES" sz="2200" i="1">
                        <a:solidFill>
                          <a:srgbClr val="1F4E79"/>
                        </a:solidFill>
                        <a:latin typeface="Cambria Math" panose="02040503050406030204" pitchFamily="18" charset="0"/>
                      </a:rPr>
                      <m:t xml:space="preserve">Δ</m:t>
                    </m:r>
                    <m:r>
                      <a:rPr lang="es-ES" sz="2200" i="1">
                        <a:solidFill>
                          <a:srgbClr val="1F4E79"/>
                        </a:solidFill>
                        <a:latin typeface="Cambria Math" panose="02040503050406030204" pitchFamily="18" charset="0"/>
                      </a:rPr>
                      <m:t xml:space="preserve">x</m:t>
                    </m:r>
                  </m:oMath>
                </a14:m>
              </mc:Choice>
              <mc:Fallback>
                <a:r>
                  <a:rPr lang="en-US" sz="2200" b="1" dirty="0">
                    <a:solidFill>
                      <a:srgbClr val="1F4E79"/>
                    </a:solidFill>
                    <a:latin typeface="Arial" pitchFamily="34" charset="0"/>
                    <a:ea typeface="Arial" pitchFamily="34" charset="-122"/>
                    <a:cs typeface="Arial" pitchFamily="34" charset="-120"/>
                  </a:rPr>
                  <a:t>Δx</a:t>
                </a:r>
              </mc:Fallback>
            </mc:AlternateContent>
            <a:r>
              <a:rPr lang="en-US" sz="2200" b="1" dirty="0">
                <a:solidFill>
                  <a:srgbClr val="1F4E79"/>
                </a:solidFill>
                <a:latin typeface="Arial" pitchFamily="34" charset="0"/>
                <a:ea typeface="Arial" pitchFamily="34" charset="-122"/>
                <a:cs typeface="Arial" pitchFamily="34" charset="-120"/>
              </a:rPr>
              <a:t> y L, y su incertidumbre</a:t>
            </a:r>
            <a:endParaRPr lang="en-US" sz="2200" dirty="0"/>
          </a:p>
        </p:txBody>
      </p:sp>
      <p:pic>
        <p:nvPicPr>
          <p:cNvPr id="3" name="Geometría del arreglo [s0]" descr="Esquema de la línea de medición: fuente y HAMMER en el origen, 21 posiciones del receptor GEO entre 10 y 50 m con paso de 2 metros y apertura de 40 metros">    </p:cNvPr>
          <p:cNvPicPr>
            <a:picLocks noChangeAspect="1"/>
          </p:cNvPicPr>
          <p:nvPr/>
        </p:nvPicPr>
        <p:blipFill>
          <a:blip r:embed="rId1"/>
          <a:stretch>
            <a:fillRect/>
          </a:stretch>
        </p:blipFill>
        <p:spPr>
          <a:xfrm>
            <a:off x="1126396" y="1521393"/>
            <a:ext cx="6891207" cy="2163519"/>
          </a:xfrm>
          <a:prstGeom prst="rect">
            <a:avLst/>
          </a:prstGeom>
        </p:spPr>
      </p:pic>
      <p:sp>
        <p:nvSpPr>
          <p:cNvPr id="4" name="Elemento [s0]"/>
          <p:cNvSpPr txBox="1"/>
          <p:nvPr/>
        </p:nvSpPr>
        <p:spPr>
          <a:xfrm>
            <a:off x="4972652" y="3668886"/>
            <a:ext cx="3205213"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FIGURA MÍA, A REGENERAR EN EL REPO</a:t>
            </a:r>
            <a:endParaRPr lang="en-US" sz="900" dirty="0"/>
          </a:p>
        </p:txBody>
      </p:sp>
      <p:sp>
        <p:nvSpPr>
          <p:cNvPr id="5" name="Fondo E_lap [s0]"/>
          <p:cNvSpPr/>
          <p:nvPr/>
        </p:nvSpPr>
        <p:spPr>
          <a:xfrm>
            <a:off x="966136" y="3925303"/>
            <a:ext cx="2884691" cy="480782"/>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6" name="Ecuación E_lap [s0]"/>
              <p:cNvSpPr txBox="1"/>
              <p:nvPr/>
            </p:nvSpPr>
            <p:spPr>
              <a:xfrm>
                <a:off x="966136" y="3925303"/>
                <a:ext cx="2884691" cy="480782"/>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L=(</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N</m:t>
                          </m:r>
                        </m:e>
                        <m:sub>
                          <m:r>
                            <a:rPr lang="es-ES" sz="2500" i="1">
                              <a:solidFill>
                                <a:srgbClr val="1F4E79"/>
                              </a:solidFill>
                              <a:latin typeface="Cambria Math" panose="02040503050406030204" pitchFamily="18" charset="0"/>
                            </a:rPr>
                            <m:t xml:space="preserve">r</m:t>
                          </m:r>
                        </m:sub>
                      </m:sSub>
                      <m:r>
                        <a:rPr lang="es-ES" sz="2500" i="1">
                          <a:solidFill>
                            <a:srgbClr val="1F4E79"/>
                          </a:solidFill>
                          <a:latin typeface="Cambria Math" panose="02040503050406030204" pitchFamily="18" charset="0"/>
                        </a:rPr>
                        <m:t xml:space="preserve">−1)·Δx</m:t>
                      </m:r>
                    </m:oMath>
                  </m:oMathPara>
                </a14:m>
                <a:endParaRPr lang="es-ES"/>
              </a:p>
            </p:txBody>
          </p:sp>
        </mc:Choice>
        <mc:Fallback>
          <p:sp>
            <p:nvSpPr>
              <p:cNvPr id="6" name="Ecuación E_lap [s0]"/>
              <p:cNvSpPr txBox="1"/>
              <p:nvPr/>
            </p:nvSpPr>
            <p:spPr>
              <a:xfrm>
                <a:off x="966136" y="3925303"/>
                <a:ext cx="2884691" cy="480782"/>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L = (Nr − 1)·Δx</a:t>
                </a:r>
                <a:endParaRPr lang="en-US" sz="2159" dirty="0"/>
              </a:p>
            </p:txBody>
          </p:sp>
        </mc:Fallback>
      </mc:AlternateContent>
      <p:sp>
        <p:nvSpPr>
          <p:cNvPr id="7" name="Cuerpo [s0]"/>
          <p:cNvSpPr txBox="1"/>
          <p:nvPr/>
        </p:nvSpPr>
        <p:spPr>
          <a:xfrm>
            <a:off x="4011088" y="3925303"/>
            <a:ext cx="4166776" cy="560912"/>
          </a:xfrm>
          <a:prstGeom prst="rect">
            <a:avLst/>
          </a:prstGeom>
          <a:noFill/>
          <a:ln/>
        </p:spPr>
        <p:txBody>
          <a:bodyPr wrap="square" lIns="0" tIns="0" rIns="0" bIns="0" rtlCol="0" anchor="t"/>
          <a:lstStyle/>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Nr = 21 posiciones, </a:t>
            </a:r>
            <mc:AlternateContent xmlns:mc="http://schemas.openxmlformats.org/markup-compatibility/2006">
              <mc:Choice xmlns:a14="http://schemas.microsoft.com/office/drawing/2010/main" Requires="a14">
                <a14:m>
                  <m:oMath xmlns:m="http://schemas.openxmlformats.org/officeDocument/2006/math">
                    <m:r>
                      <a:rPr lang="es-ES" sz="1080" i="1">
                        <a:solidFill>
                          <a:srgbClr val="2D2D2D"/>
                        </a:solidFill>
                        <a:latin typeface="Cambria Math" panose="02040503050406030204" pitchFamily="18" charset="0"/>
                      </a:rPr>
                      <m:t xml:space="preserve">Δ</m:t>
                    </m:r>
                    <m:r>
                      <a:rPr lang="es-ES" sz="1080" i="1">
                        <a:solidFill>
                          <a:srgbClr val="2D2D2D"/>
                        </a:solidFill>
                        <a:latin typeface="Cambria Math" panose="02040503050406030204" pitchFamily="18" charset="0"/>
                      </a:rPr>
                      <m:t xml:space="preserve">x</m:t>
                    </m:r>
                    <m:r>
                      <m:rPr>
                        <m:sty m:val="p"/>
                      </m:rPr>
                      <a:rPr lang="es-ES" sz="1080">
                        <a:solidFill>
                          <a:srgbClr val="2D2D2D"/>
                        </a:solidFill>
                        <a:latin typeface="Cambria Math" panose="02040503050406030204" pitchFamily="18" charset="0"/>
                      </a:rPr>
                      <m:t xml:space="preserve">=</m:t>
                    </m:r>
                    <m:r>
                      <m:rPr>
                        <m:sty m:val="p"/>
                      </m:rPr>
                      <a:rPr lang="es-ES" sz="1080">
                        <a:solidFill>
                          <a:srgbClr val="2D2D2D"/>
                        </a:solidFill>
                        <a:latin typeface="Cambria Math" panose="02040503050406030204" pitchFamily="18" charset="0"/>
                      </a:rPr>
                      <m:t xml:space="preserve">2</m:t>
                    </m:r>
                  </m:oMath>
                </a14:m>
              </mc:Choice>
              <mc:Fallback>
                <a:r>
                  <a:rPr lang="en-US" sz="1080" dirty="0">
                    <a:solidFill>
                      <a:srgbClr val="2D2D2D"/>
                    </a:solidFill>
                    <a:latin typeface="Arial" pitchFamily="34" charset="0"/>
                    <a:ea typeface="Arial" pitchFamily="34" charset="-122"/>
                    <a:cs typeface="Arial" pitchFamily="34" charset="-120"/>
                  </a:rPr>
                  <a:t>Δx = 2</a:t>
                </a:r>
              </mc:Fallback>
            </mc:AlternateContent>
            <a:r>
              <a:rPr lang="en-US" sz="1080" dirty="0">
                <a:solidFill>
                  <a:srgbClr val="2D2D2D"/>
                </a:solidFill>
                <a:latin typeface="Arial" pitchFamily="34" charset="0"/>
                <a:ea typeface="Arial" pitchFamily="34" charset="-122"/>
                <a:cs typeface="Arial" pitchFamily="34" charset="-120"/>
              </a:rPr>
              <a:t> m: L = 40 m</a:t>
            </a:r>
            <a:endParaRPr lang="en-US" sz="1080" dirty="0"/>
          </a:p>
          <a:p>
            <a:pPr marL="342900" indent="-342900">
              <a:spcAft>
                <a:spcPts val="270"/>
              </a:spcAft>
              <a:buSzPct val="100000"/>
              <a:buChar char="•"/>
            </a:pPr>
            <a:r>
              <a:rPr lang="en-US" sz="1080" dirty="0">
                <a:solidFill>
                  <a:srgbClr val="2D2D2D"/>
                </a:solidFill>
                <a:latin typeface="Arial" pitchFamily="34" charset="0"/>
                <a:ea typeface="Arial" pitchFamily="34" charset="-122"/>
                <a:cs typeface="Arial" pitchFamily="34" charset="-120"/>
              </a:rPr>
              <a:t>No se conservaron coordenadas ni azimut de los extremos</a:t>
            </a:r>
            <a:endParaRPr lang="en-US" sz="1080" dirty="0"/>
          </a:p>
        </p:txBody>
      </p:sp>
      <p:sp>
        <p:nvSpPr>
          <p:cNvPr id="8" name="Fondo E_lmin [s1]"/>
          <p:cNvSpPr/>
          <p:nvPr/>
        </p:nvSpPr>
        <p:spPr>
          <a:xfrm>
            <a:off x="966136" y="1521393"/>
            <a:ext cx="3044952" cy="52084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9" name="Ecuación E_lmin [s1]"/>
              <p:cNvSpPr txBox="1"/>
              <p:nvPr/>
            </p:nvSpPr>
            <p:spPr>
              <a:xfrm>
                <a:off x="966136" y="1521393"/>
                <a:ext cx="3044952" cy="52084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λ</m:t>
                          </m:r>
                        </m:e>
                        <m:sub>
                          <m:r>
                            <a:rPr lang="es-ES" sz="2500" i="1">
                              <a:solidFill>
                                <a:srgbClr val="1F4E79"/>
                              </a:solidFill>
                              <a:latin typeface="Cambria Math" panose="02040503050406030204" pitchFamily="18" charset="0"/>
                            </a:rPr>
                            <m:t xml:space="preserve">mín</m:t>
                          </m:r>
                        </m:sub>
                      </m:sSub>
                      <m:r>
                        <a:rPr lang="es-ES" sz="2500" i="1">
                          <a:solidFill>
                            <a:srgbClr val="1F4E79"/>
                          </a:solidFill>
                          <a:latin typeface="Cambria Math" panose="02040503050406030204" pitchFamily="18" charset="0"/>
                        </a:rPr>
                        <m:t xml:space="preserve">≳2Δx</m:t>
                      </m:r>
                    </m:oMath>
                  </m:oMathPara>
                </a14:m>
                <a:endParaRPr lang="es-ES"/>
              </a:p>
            </p:txBody>
          </p:sp>
        </mc:Choice>
        <mc:Fallback>
          <p:sp>
            <p:nvSpPr>
              <p:cNvPr id="9" name="Ecuación E_lmin [s1]"/>
              <p:cNvSpPr txBox="1"/>
              <p:nvPr/>
            </p:nvSpPr>
            <p:spPr>
              <a:xfrm>
                <a:off x="966136" y="1521393"/>
                <a:ext cx="3044952" cy="520847"/>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λmín ≳ 2Δx</a:t>
                </a:r>
                <a:endParaRPr lang="en-US" sz="2159" dirty="0"/>
              </a:p>
            </p:txBody>
          </p:sp>
        </mc:Fallback>
      </mc:AlternateContent>
      <p:sp>
        <p:nvSpPr>
          <p:cNvPr id="10" name="Elemento [s1]"/>
          <p:cNvSpPr txBox="1"/>
          <p:nvPr/>
        </p:nvSpPr>
        <p:spPr>
          <a:xfrm>
            <a:off x="966136" y="2066279"/>
            <a:ext cx="3044952" cy="240391"/>
          </a:xfrm>
          <a:prstGeom prst="rect">
            <a:avLst/>
          </a:prstGeom>
          <a:noFill/>
          <a:ln/>
        </p:spPr>
        <p:txBody>
          <a:bodyPr wrap="square" lIns="0" tIns="0" rIns="0" bIns="0" rtlCol="0" anchor="t"/>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080" i="1">
                        <a:solidFill>
                          <a:srgbClr val="6B6B6B"/>
                        </a:solidFill>
                        <a:latin typeface="Cambria Math" panose="02040503050406030204" pitchFamily="18" charset="0"/>
                      </a:rPr>
                      <m:t xml:space="preserve">Δ</m:t>
                    </m:r>
                    <m:r>
                      <a:rPr lang="es-ES" sz="1080" i="1">
                        <a:solidFill>
                          <a:srgbClr val="6B6B6B"/>
                        </a:solidFill>
                        <a:latin typeface="Cambria Math" panose="02040503050406030204" pitchFamily="18" charset="0"/>
                      </a:rPr>
                      <m:t xml:space="preserve">x</m:t>
                    </m:r>
                  </m:oMath>
                </a14:m>
              </mc:Choice>
              <mc:Fallback>
                <a:r>
                  <a:rPr lang="en-US" sz="1080" dirty="0">
                    <a:solidFill>
                      <a:srgbClr val="6B6B6B"/>
                    </a:solidFill>
                    <a:latin typeface="Arial" pitchFamily="34" charset="0"/>
                    <a:ea typeface="Arial" pitchFamily="34" charset="-122"/>
                    <a:cs typeface="Arial" pitchFamily="34" charset="-120"/>
                  </a:rPr>
                  <a:t>Δx</a:t>
                </a:r>
              </mc:Fallback>
            </mc:AlternateContent>
            <a:r>
              <a:rPr lang="en-US" sz="1080" dirty="0">
                <a:solidFill>
                  <a:srgbClr val="6B6B6B"/>
                </a:solidFill>
                <a:latin typeface="Arial" pitchFamily="34" charset="0"/>
                <a:ea typeface="Arial" pitchFamily="34" charset="-122"/>
                <a:cs typeface="Arial" pitchFamily="34" charset="-120"/>
              </a:rPr>
              <a:t> corto: sin aliasing espacial</a:t>
            </a:r>
            <a:endParaRPr lang="en-US" sz="1080" dirty="0"/>
          </a:p>
        </p:txBody>
      </p:sp>
      <p:sp>
        <p:nvSpPr>
          <p:cNvPr id="11" name="Fondo E_lmax [s1]"/>
          <p:cNvSpPr/>
          <p:nvPr/>
        </p:nvSpPr>
        <p:spPr>
          <a:xfrm>
            <a:off x="966136" y="2362761"/>
            <a:ext cx="3044952" cy="520847"/>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12" name="Ecuación E_lmax [s1]"/>
              <p:cNvSpPr txBox="1"/>
              <p:nvPr/>
            </p:nvSpPr>
            <p:spPr>
              <a:xfrm>
                <a:off x="966136" y="2362761"/>
                <a:ext cx="3044952" cy="520847"/>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500" i="1">
                          <a:solidFill>
                            <a:srgbClr val="1F4E79"/>
                          </a:solidFill>
                          <a:latin typeface="Cambria Math" panose="02040503050406030204" pitchFamily="18" charset="0"/>
                        </a:rPr>
                        <m:t xml:space="preserve">L≳</m:t>
                      </m:r>
                      <m:sSub>
                        <m:sSubPr>
                          <m:ctrlPr>
                            <a:rPr lang="es-ES" sz="2500" i="1">
                              <a:latin typeface="Cambria Math" panose="02040503050406030204" pitchFamily="18" charset="0"/>
                            </a:rPr>
                          </m:ctrlPr>
                        </m:sSubPr>
                        <m:e>
                          <m:r>
                            <a:rPr lang="es-ES" sz="2500" i="1">
                              <a:solidFill>
                                <a:srgbClr val="1F4E79"/>
                              </a:solidFill>
                              <a:latin typeface="Cambria Math" panose="02040503050406030204" pitchFamily="18" charset="0"/>
                            </a:rPr>
                            <m:t xml:space="preserve">λ</m:t>
                          </m:r>
                        </m:e>
                        <m:sub>
                          <m:r>
                            <a:rPr lang="es-ES" sz="2500" i="1">
                              <a:solidFill>
                                <a:srgbClr val="1F4E79"/>
                              </a:solidFill>
                              <a:latin typeface="Cambria Math" panose="02040503050406030204" pitchFamily="18" charset="0"/>
                            </a:rPr>
                            <m:t xml:space="preserve">máx</m:t>
                          </m:r>
                        </m:sub>
                      </m:sSub>
                    </m:oMath>
                  </m:oMathPara>
                </a14:m>
                <a:endParaRPr lang="es-ES"/>
              </a:p>
            </p:txBody>
          </p:sp>
        </mc:Choice>
        <mc:Fallback>
          <p:sp>
            <p:nvSpPr>
              <p:cNvPr id="12" name="Ecuación E_lmax [s1]"/>
              <p:cNvSpPr txBox="1"/>
              <p:nvPr/>
            </p:nvSpPr>
            <p:spPr>
              <a:xfrm>
                <a:off x="966136" y="2362761"/>
                <a:ext cx="3044952" cy="520847"/>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L ≳ λmáx</a:t>
                </a:r>
                <a:endParaRPr lang="en-US" sz="2159" dirty="0"/>
              </a:p>
            </p:txBody>
          </p:sp>
        </mc:Fallback>
      </mc:AlternateContent>
      <p:sp>
        <p:nvSpPr>
          <p:cNvPr id="13" name="Elemento [s1]"/>
          <p:cNvSpPr txBox="1"/>
          <p:nvPr/>
        </p:nvSpPr>
        <p:spPr>
          <a:xfrm>
            <a:off x="966136" y="2907648"/>
            <a:ext cx="3044952" cy="240391"/>
          </a:xfrm>
          <a:prstGeom prst="rect">
            <a:avLst/>
          </a:prstGeom>
          <a:noFill/>
          <a:ln/>
        </p:spPr>
        <p:txBody>
          <a:bodyPr wrap="square" lIns="0" tIns="0" rIns="0" bIns="0" rtlCol="0" anchor="t"/>
          <a:lstStyle/>
          <a:p>
            <a:pPr algn="ctr" indent="0" marL="0">
              <a:buNone/>
            </a:pPr>
            <a:r>
              <a:rPr lang="en-US" sz="1080" dirty="0">
                <a:solidFill>
                  <a:srgbClr val="6B6B6B"/>
                </a:solidFill>
                <a:latin typeface="Arial" pitchFamily="34" charset="0"/>
                <a:ea typeface="Arial" pitchFamily="34" charset="-122"/>
                <a:cs typeface="Arial" pitchFamily="34" charset="-120"/>
              </a:rPr>
              <a:t>L largo: se resuelven ondas largas</a:t>
            </a:r>
            <a:endParaRPr lang="en-US" sz="1080" dirty="0"/>
          </a:p>
        </p:txBody>
      </p:sp>
      <p:sp>
        <p:nvSpPr>
          <p:cNvPr id="14" name="Cuerpo [s1]"/>
          <p:cNvSpPr txBox="1"/>
          <p:nvPr/>
        </p:nvSpPr>
        <p:spPr>
          <a:xfrm>
            <a:off x="966136" y="3228169"/>
            <a:ext cx="3125082" cy="1242020"/>
          </a:xfrm>
          <a:prstGeom prst="rect">
            <a:avLst/>
          </a:prstGeom>
          <a:noFill/>
          <a:ln/>
        </p:spPr>
        <p:txBody>
          <a:bodyPr wrap="square" lIns="0" tIns="0" rIns="0" bIns="0" rtlCol="0" anchor="t"/>
          <a:lstStyle/>
          <a:p>
            <a:pPr marL="342900" indent="-342900">
              <a:spcAft>
                <a:spcPts val="270"/>
              </a:spcAft>
              <a:buSzPct val="100000"/>
              <a:buChar char="•"/>
            </a:pPr>
            <a:r>
              <a:rPr lang="en-US" sz="1035"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035" i="1">
                        <a:solidFill>
                          <a:srgbClr val="2D2D2D"/>
                        </a:solidFill>
                        <a:latin typeface="Cambria Math" panose="02040503050406030204" pitchFamily="18" charset="0"/>
                      </a:rPr>
                      <m:t xml:space="preserve">Δ</m:t>
                    </m:r>
                    <m:r>
                      <a:rPr lang="es-ES" sz="1035" i="1">
                        <a:solidFill>
                          <a:srgbClr val="2D2D2D"/>
                        </a:solidFill>
                        <a:latin typeface="Cambria Math" panose="02040503050406030204" pitchFamily="18" charset="0"/>
                      </a:rPr>
                      <m:t xml:space="preserve">x</m:t>
                    </m:r>
                    <m:r>
                      <m:rPr>
                        <m:sty m:val="p"/>
                      </m:rPr>
                      <a:rPr lang="es-ES" sz="1035">
                        <a:solidFill>
                          <a:srgbClr val="2D2D2D"/>
                        </a:solidFill>
                        <a:latin typeface="Cambria Math" panose="02040503050406030204" pitchFamily="18" charset="0"/>
                      </a:rPr>
                      <m:t xml:space="preserve">=</m:t>
                    </m:r>
                    <m:r>
                      <m:rPr>
                        <m:sty m:val="p"/>
                      </m:rPr>
                      <a:rPr lang="es-ES" sz="1035">
                        <a:solidFill>
                          <a:srgbClr val="2D2D2D"/>
                        </a:solidFill>
                        <a:latin typeface="Cambria Math" panose="02040503050406030204" pitchFamily="18" charset="0"/>
                      </a:rPr>
                      <m:t xml:space="preserve">2</m:t>
                    </m:r>
                  </m:oMath>
                </a14:m>
              </mc:Choice>
              <mc:Fallback>
                <a:r>
                  <a:rPr lang="en-US" sz="1035" dirty="0">
                    <a:solidFill>
                      <a:srgbClr val="2D2D2D"/>
                    </a:solidFill>
                    <a:latin typeface="Arial" pitchFamily="34" charset="0"/>
                    <a:ea typeface="Arial" pitchFamily="34" charset="-122"/>
                    <a:cs typeface="Arial" pitchFamily="34" charset="-120"/>
                  </a:rPr>
                  <a:t>Δx = 2</a:t>
                </a:r>
              </mc:Fallback>
            </mc:AlternateContent>
            <a:r>
              <a:rPr lang="en-US" sz="1035" dirty="0">
                <a:solidFill>
                  <a:srgbClr val="2D2D2D"/>
                </a:solidFill>
                <a:latin typeface="Arial" pitchFamily="34" charset="0"/>
                <a:ea typeface="Arial" pitchFamily="34" charset="-122"/>
                <a:cs typeface="Arial" pitchFamily="34" charset="-120"/>
              </a:rPr>
              <a:t> m: </a:t>
            </a:r>
            <mc:AlternateContent xmlns:mc="http://schemas.openxmlformats.org/markup-compatibility/2006">
              <mc:Choice xmlns:a14="http://schemas.microsoft.com/office/drawing/2010/main" Requires="a14">
                <a14:m>
                  <m:oMath xmlns:m="http://schemas.openxmlformats.org/officeDocument/2006/math">
                    <m:r>
                      <a:rPr lang="es-ES" sz="1035" i="1">
                        <a:solidFill>
                          <a:srgbClr val="2D2D2D"/>
                        </a:solidFill>
                        <a:latin typeface="Cambria Math" panose="02040503050406030204" pitchFamily="18" charset="0"/>
                      </a:rPr>
                      <m:t xml:space="preserve">λ</m:t>
                    </m:r>
                  </m:oMath>
                </a14:m>
              </mc:Choice>
              <mc:Fallback>
                <a:r>
                  <a:rPr lang="en-US" sz="1035" dirty="0">
                    <a:solidFill>
                      <a:srgbClr val="2D2D2D"/>
                    </a:solidFill>
                    <a:latin typeface="Arial" pitchFamily="34" charset="0"/>
                    <a:ea typeface="Arial" pitchFamily="34" charset="-122"/>
                    <a:cs typeface="Arial" pitchFamily="34" charset="-120"/>
                  </a:rPr>
                  <a:t>λ</a:t>
                </a:r>
              </mc:Fallback>
            </mc:AlternateContent>
            <a:r>
              <a:rPr lang="en-US" sz="1035" dirty="0">
                <a:solidFill>
                  <a:srgbClr val="2D2D2D"/>
                </a:solidFill>
                <a:latin typeface="Arial" pitchFamily="34" charset="0"/>
                <a:ea typeface="Arial" pitchFamily="34" charset="-122"/>
                <a:cs typeface="Arial" pitchFamily="34" charset="-120"/>
              </a:rPr>
              <a:t> ≳ 4 m; a c = 150 m/s, sin aliasing hasta 37,5 Hz</a:t>
            </a:r>
            <a:endParaRPr lang="en-US" sz="1035" dirty="0"/>
          </a:p>
          <a:p>
            <a:pPr marL="342900" indent="-342900">
              <a:spcAft>
                <a:spcPts val="270"/>
              </a:spcAft>
              <a:buSzPct val="100000"/>
              <a:buChar char="•"/>
            </a:pPr>
            <a:r>
              <a:rPr lang="en-US" sz="1035" dirty="0">
                <a:solidFill>
                  <a:srgbClr val="2D2D2D"/>
                </a:solidFill>
                <a:latin typeface="Arial" pitchFamily="34" charset="0"/>
                <a:ea typeface="Arial" pitchFamily="34" charset="-122"/>
                <a:cs typeface="Arial" pitchFamily="34" charset="-120"/>
              </a:rPr>
              <a:t>Con L = 40 m y L ≳ 1,5·λmáx: f ≳ 5,6 Hz a c = 150 m/s</a:t>
            </a:r>
            <a:endParaRPr lang="en-US" sz="1035" dirty="0"/>
          </a:p>
          <a:p>
            <a:pPr marL="342900" indent="-342900">
              <a:spcAft>
                <a:spcPts val="270"/>
              </a:spcAft>
              <a:buSzPct val="100000"/>
              <a:buChar char="•"/>
            </a:pPr>
            <a:r>
              <a:rPr lang="en-US" sz="1035" dirty="0">
                <a:solidFill>
                  <a:srgbClr val="2D2D2D"/>
                </a:solidFill>
                <a:latin typeface="Arial" pitchFamily="34" charset="0"/>
                <a:ea typeface="Arial" pitchFamily="34" charset="-122"/>
                <a:cs typeface="Arial" pitchFamily="34" charset="-120"/>
              </a:rPr>
              <a:t>Subarreglo de 22 a 42 m (L = 20 m): 8 Hz (</a:t>
            </a:r>
            <mc:AlternateContent xmlns:mc="http://schemas.openxmlformats.org/markup-compatibility/2006">
              <mc:Choice xmlns:a14="http://schemas.microsoft.com/office/drawing/2010/main" Requires="a14">
                <a14:m>
                  <m:oMath xmlns:m="http://schemas.openxmlformats.org/officeDocument/2006/math">
                    <m:r>
                      <a:rPr lang="es-ES" sz="1035" i="1">
                        <a:solidFill>
                          <a:srgbClr val="2D2D2D"/>
                        </a:solidFill>
                        <a:latin typeface="Cambria Math" panose="02040503050406030204" pitchFamily="18" charset="0"/>
                      </a:rPr>
                      <m:t xml:space="preserve">λ</m:t>
                    </m:r>
                    <m:r>
                      <m:rPr>
                        <m:sty m:val="p"/>
                      </m:rPr>
                      <a:rPr lang="es-ES" sz="1035">
                        <a:solidFill>
                          <a:srgbClr val="2D2D2D"/>
                        </a:solidFill>
                        <a:latin typeface="Cambria Math" panose="02040503050406030204" pitchFamily="18" charset="0"/>
                      </a:rPr>
                      <m:t xml:space="preserve">=</m:t>
                    </m:r>
                    <m:r>
                      <m:rPr>
                        <m:sty m:val="p"/>
                      </m:rPr>
                      <a:rPr lang="es-ES" sz="1035">
                        <a:solidFill>
                          <a:srgbClr val="2D2D2D"/>
                        </a:solidFill>
                        <a:latin typeface="Cambria Math" panose="02040503050406030204" pitchFamily="18" charset="0"/>
                      </a:rPr>
                      <m:t xml:space="preserve">21,5</m:t>
                    </m:r>
                  </m:oMath>
                </a14:m>
              </mc:Choice>
              <mc:Fallback>
                <a:r>
                  <a:rPr lang="en-US" sz="1035" dirty="0">
                    <a:solidFill>
                      <a:srgbClr val="2D2D2D"/>
                    </a:solidFill>
                    <a:latin typeface="Arial" pitchFamily="34" charset="0"/>
                    <a:ea typeface="Arial" pitchFamily="34" charset="-122"/>
                    <a:cs typeface="Arial" pitchFamily="34" charset="-120"/>
                  </a:rPr>
                  <a:t>λ = 21,5</a:t>
                </a:r>
              </mc:Fallback>
            </mc:AlternateContent>
            <a:r>
              <a:rPr lang="en-US" sz="1035" dirty="0">
                <a:solidFill>
                  <a:srgbClr val="2D2D2D"/>
                </a:solidFill>
                <a:latin typeface="Arial" pitchFamily="34" charset="0"/>
                <a:ea typeface="Arial" pitchFamily="34" charset="-122"/>
                <a:cs typeface="Arial" pitchFamily="34" charset="-120"/>
              </a:rPr>
              <a:t> m) ya es comparable con L</a:t>
            </a:r>
            <a:endParaRPr lang="en-US" sz="1035" dirty="0"/>
          </a:p>
        </p:txBody>
      </p:sp>
      <p:pic>
        <p:nvPicPr>
          <p:cNvPr id="15" name="Región válida de la geometría [s1]" descr="Plano frecuencia y velocidad de fase: la región válida queda entre la recta de aliasing espacial c igual a 2 Δx f y las rectas de apertura, para Δx de 2 metros y L de 40 metros">    </p:cNvPr>
          <p:cNvPicPr>
            <a:picLocks noChangeAspect="1"/>
          </p:cNvPicPr>
          <p:nvPr/>
        </p:nvPicPr>
        <p:blipFill>
          <a:blip r:embed="rId2"/>
          <a:stretch>
            <a:fillRect/>
          </a:stretch>
        </p:blipFill>
        <p:spPr>
          <a:xfrm>
            <a:off x="4251479" y="1521393"/>
            <a:ext cx="4244741" cy="2804561"/>
          </a:xfrm>
          <a:prstGeom prst="rect">
            <a:avLst/>
          </a:prstGeom>
        </p:spPr>
      </p:pic>
      <p:sp>
        <p:nvSpPr>
          <p:cNvPr id="16" name="Elemento [s1]"/>
          <p:cNvSpPr txBox="1"/>
          <p:nvPr/>
        </p:nvSpPr>
        <p:spPr>
          <a:xfrm>
            <a:off x="5533564" y="4349993"/>
            <a:ext cx="2644300"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FIGURA MÍA (CÁLCULO PROPIO)</a:t>
            </a:r>
            <a:endParaRPr lang="en-US" sz="900" dirty="0"/>
          </a:p>
        </p:txBody>
      </p:sp>
      <p:sp>
        <p:nvSpPr>
          <p:cNvPr id="17" name="Cabecera Qué se hace [s2]"/>
          <p:cNvSpPr/>
          <p:nvPr/>
        </p:nvSpPr>
        <p:spPr>
          <a:xfrm>
            <a:off x="966136" y="1561458"/>
            <a:ext cx="2243649" cy="360586"/>
          </a:xfrm>
          <a:prstGeom prst="rect">
            <a:avLst/>
          </a:prstGeom>
          <a:solidFill>
            <a:srgbClr val="1F4E79"/>
          </a:solidFill>
          <a:ln w="6350">
            <a:solidFill>
              <a:srgbClr val="1F4E79"/>
            </a:solidFill>
            <a:prstDash val="solid"/>
          </a:ln>
        </p:spPr>
      </p:sp>
      <p:sp>
        <p:nvSpPr>
          <p:cNvPr id="18" name="Elemento [s2]"/>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Qué se hace</a:t>
            </a:r>
            <a:endParaRPr lang="en-US" sz="1350" dirty="0"/>
          </a:p>
        </p:txBody>
      </p:sp>
      <p:sp>
        <p:nvSpPr>
          <p:cNvPr id="19" name="Tarjeta Qué se hace [s2]"/>
          <p:cNvSpPr/>
          <p:nvPr/>
        </p:nvSpPr>
        <p:spPr>
          <a:xfrm>
            <a:off x="966136" y="1922045"/>
            <a:ext cx="2243649" cy="2043323"/>
          </a:xfrm>
          <a:prstGeom prst="rect">
            <a:avLst/>
          </a:prstGeom>
          <a:solidFill>
            <a:srgbClr val="FFFFFF"/>
          </a:solidFill>
          <a:ln w="16694">
            <a:solidFill>
              <a:srgbClr val="1F4E79"/>
            </a:solidFill>
            <a:prstDash val="solid"/>
          </a:ln>
        </p:spPr>
      </p:sp>
      <p:sp>
        <p:nvSpPr>
          <p:cNvPr id="20" name="Elemento [s2]"/>
          <p:cNvSpPr txBox="1"/>
          <p:nvPr/>
        </p:nvSpPr>
        <p:spPr>
          <a:xfrm>
            <a:off x="1062292" y="1986149"/>
            <a:ext cx="2051336" cy="1915115"/>
          </a:xfrm>
          <a:prstGeom prst="rect">
            <a:avLst/>
          </a:prstGeom>
          <a:noFill/>
          <a:ln/>
        </p:spPr>
        <p:txBody>
          <a:bodyPr wrap="square" lIns="0" tIns="0" rIns="0" bIns="0" rtlCol="0" anchor="t"/>
          <a:lstStyle/>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Un nodo GEO recorre la línea</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El HAMMER fijo registra cada impacto</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Se alinea por el HAMMER y se promedia por posición</a:t>
            </a:r>
            <a:endParaRPr lang="en-US" sz="1170" dirty="0"/>
          </a:p>
        </p:txBody>
      </p:sp>
      <p:sp>
        <p:nvSpPr>
          <p:cNvPr id="21" name="Cabecera Qué supone [s2]"/>
          <p:cNvSpPr/>
          <p:nvPr/>
        </p:nvSpPr>
        <p:spPr>
          <a:xfrm>
            <a:off x="3450176" y="1561458"/>
            <a:ext cx="2243649" cy="360586"/>
          </a:xfrm>
          <a:prstGeom prst="rect">
            <a:avLst/>
          </a:prstGeom>
          <a:solidFill>
            <a:srgbClr val="2E75B6"/>
          </a:solidFill>
          <a:ln w="6350">
            <a:solidFill>
              <a:srgbClr val="2E75B6"/>
            </a:solidFill>
            <a:prstDash val="solid"/>
          </a:ln>
        </p:spPr>
      </p:sp>
      <p:sp>
        <p:nvSpPr>
          <p:cNvPr id="22" name="Elemento [s2]"/>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Qué supone</a:t>
            </a:r>
            <a:endParaRPr lang="en-US" sz="1350" dirty="0"/>
          </a:p>
        </p:txBody>
      </p:sp>
      <p:sp>
        <p:nvSpPr>
          <p:cNvPr id="23" name="Tarjeta Qué supone [s2]"/>
          <p:cNvSpPr/>
          <p:nvPr/>
        </p:nvSpPr>
        <p:spPr>
          <a:xfrm>
            <a:off x="3450176" y="1922045"/>
            <a:ext cx="2243649" cy="2043323"/>
          </a:xfrm>
          <a:prstGeom prst="rect">
            <a:avLst/>
          </a:prstGeom>
          <a:solidFill>
            <a:srgbClr val="FFFFFF"/>
          </a:solidFill>
          <a:ln w="16694">
            <a:solidFill>
              <a:srgbClr val="2E75B6"/>
            </a:solidFill>
            <a:prstDash val="solid"/>
          </a:ln>
        </p:spPr>
      </p:sp>
      <p:sp>
        <p:nvSpPr>
          <p:cNvPr id="24" name="Elemento [s2]"/>
          <p:cNvSpPr txBox="1"/>
          <p:nvPr/>
        </p:nvSpPr>
        <p:spPr>
          <a:xfrm>
            <a:off x="3546332" y="1986149"/>
            <a:ext cx="2051336" cy="1915115"/>
          </a:xfrm>
          <a:prstGeom prst="rect">
            <a:avLst/>
          </a:prstGeom>
          <a:noFill/>
          <a:ln/>
        </p:spPr>
        <p:txBody>
          <a:bodyPr wrap="square" lIns="0" tIns="0" rIns="0" bIns="0" rtlCol="0" anchor="t"/>
          <a:lstStyle/>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Fuente repetible entre golpes</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Terreno estable durante la campaña</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Posiciones conocidas</a:t>
            </a:r>
            <a:endParaRPr lang="en-US" sz="1170" dirty="0"/>
          </a:p>
        </p:txBody>
      </p:sp>
      <p:sp>
        <p:nvSpPr>
          <p:cNvPr id="25" name="Cabecera Qué no demuestra [s2]"/>
          <p:cNvSpPr/>
          <p:nvPr/>
        </p:nvSpPr>
        <p:spPr>
          <a:xfrm>
            <a:off x="5934215" y="1561458"/>
            <a:ext cx="2243649" cy="360586"/>
          </a:xfrm>
          <a:prstGeom prst="rect">
            <a:avLst/>
          </a:prstGeom>
          <a:solidFill>
            <a:srgbClr val="C55A11"/>
          </a:solidFill>
          <a:ln w="6350">
            <a:solidFill>
              <a:srgbClr val="C55A11"/>
            </a:solidFill>
            <a:prstDash val="solid"/>
          </a:ln>
        </p:spPr>
      </p:sp>
      <p:sp>
        <p:nvSpPr>
          <p:cNvPr id="26" name="Elemento [s2]"/>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Qué no demuestra</a:t>
            </a:r>
            <a:endParaRPr lang="en-US" sz="1350" dirty="0"/>
          </a:p>
        </p:txBody>
      </p:sp>
      <p:sp>
        <p:nvSpPr>
          <p:cNvPr id="27" name="Tarjeta Qué no demuestra [s2]"/>
          <p:cNvSpPr/>
          <p:nvPr/>
        </p:nvSpPr>
        <p:spPr>
          <a:xfrm>
            <a:off x="5934215" y="1922045"/>
            <a:ext cx="2243649" cy="2043323"/>
          </a:xfrm>
          <a:prstGeom prst="rect">
            <a:avLst/>
          </a:prstGeom>
          <a:solidFill>
            <a:srgbClr val="FFFFFF"/>
          </a:solidFill>
          <a:ln w="16694">
            <a:solidFill>
              <a:srgbClr val="C55A11"/>
            </a:solidFill>
            <a:prstDash val="solid"/>
          </a:ln>
        </p:spPr>
      </p:sp>
      <p:sp>
        <p:nvSpPr>
          <p:cNvPr id="28" name="Elemento [s2]"/>
          <p:cNvSpPr txBox="1"/>
          <p:nvPr/>
        </p:nvSpPr>
        <p:spPr>
          <a:xfrm>
            <a:off x="6030372" y="1986149"/>
            <a:ext cx="2051336" cy="1915115"/>
          </a:xfrm>
          <a:prstGeom prst="rect">
            <a:avLst/>
          </a:prstGeom>
          <a:noFill/>
          <a:ln/>
        </p:spPr>
        <p:txBody>
          <a:bodyPr wrap="square" lIns="0" tIns="0" rIns="0" bIns="0" rtlCol="0" anchor="t"/>
          <a:lstStyle/>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Captura simultánea de varios canales</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Sincronización entre nodos en campo</a:t>
            </a:r>
            <a:endParaRPr lang="en-US" sz="1170" dirty="0"/>
          </a:p>
          <a:p>
            <a:pPr algn="l" marL="342900" indent="-342900">
              <a:buSzPct val="100000"/>
              <a:buChar char="•"/>
            </a:pPr>
            <a:r>
              <a:rPr lang="en-US" sz="1170" dirty="0">
                <a:solidFill>
                  <a:srgbClr val="2D2D2D"/>
                </a:solidFill>
                <a:latin typeface="Arial" pitchFamily="34" charset="0"/>
                <a:ea typeface="Arial" pitchFamily="34" charset="-122"/>
                <a:cs typeface="Arial" pitchFamily="34" charset="-120"/>
              </a:rPr>
              <a:t>Igual fase y magnitud entre placas</a:t>
            </a:r>
            <a:endParaRPr lang="en-US" sz="1170" dirty="0"/>
          </a:p>
        </p:txBody>
      </p:sp>
      <p:sp>
        <p:nvSpPr>
          <p:cNvPr id="29" name="Franja [s2]"/>
          <p:cNvSpPr/>
          <p:nvPr/>
        </p:nvSpPr>
        <p:spPr>
          <a:xfrm>
            <a:off x="966136" y="4045498"/>
            <a:ext cx="7211728" cy="360586"/>
          </a:xfrm>
          <a:prstGeom prst="rect">
            <a:avLst/>
          </a:prstGeom>
          <a:solidFill>
            <a:srgbClr val="EAF1F8"/>
          </a:solidFill>
          <a:ln w="6350">
            <a:solidFill>
              <a:srgbClr val="EAF1F8"/>
            </a:solidFill>
            <a:prstDash val="solid"/>
          </a:ln>
        </p:spPr>
      </p:sp>
      <p:sp>
        <p:nvSpPr>
          <p:cNvPr id="30" name="Elemento [s2]"/>
          <p:cNvSpPr txBox="1"/>
          <p:nvPr/>
        </p:nvSpPr>
        <p:spPr>
          <a:xfrm>
            <a:off x="1086331" y="4045498"/>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Lin y Ashlock (2016) fijan el receptor y mueven la fuente; acá es al revés.</a:t>
            </a:r>
            <a:endParaRPr lang="en-US" sz="1260" dirty="0"/>
          </a:p>
        </p:txBody>
      </p:sp>
      <p:sp>
        <p:nvSpPr>
          <p:cNvPr id="31" name="Fondo E_dcx [s3]"/>
          <p:cNvSpPr/>
          <p:nvPr/>
        </p:nvSpPr>
        <p:spPr>
          <a:xfrm>
            <a:off x="966136" y="1561458"/>
            <a:ext cx="3445604" cy="801303"/>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32" name="Ecuación E_dcx [s3]"/>
              <p:cNvSpPr txBox="1"/>
              <p:nvPr/>
            </p:nvSpPr>
            <p:spPr>
              <a:xfrm>
                <a:off x="966136" y="1561458"/>
                <a:ext cx="3445604" cy="801303"/>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δc</m:t>
                          </m:r>
                        </m:num>
                        <m:den>
                          <m:r>
                            <a:rPr lang="es-ES" sz="2500" i="1">
                              <a:solidFill>
                                <a:srgbClr val="1F4E79"/>
                              </a:solidFill>
                              <a:latin typeface="Cambria Math" panose="02040503050406030204" pitchFamily="18" charset="0"/>
                            </a:rPr>
                            <m:t xml:space="preserve">c</m:t>
                          </m:r>
                        </m:den>
                      </m:f>
                      <m:r>
                        <a:rPr lang="es-ES" sz="2500" i="1">
                          <a:solidFill>
                            <a:srgbClr val="1F4E79"/>
                          </a:solidFill>
                          <a:latin typeface="Cambria Math" panose="02040503050406030204" pitchFamily="18" charset="0"/>
                        </a:rPr>
                        <m:t xml:space="preserve">≈</m:t>
                      </m:r>
                      <m:f>
                        <m:fPr>
                          <m:ctrlPr>
                            <a:rPr lang="es-ES" sz="2500" i="1">
                              <a:latin typeface="Cambria Math" panose="02040503050406030204" pitchFamily="18" charset="0"/>
                            </a:rPr>
                          </m:ctrlPr>
                        </m:fPr>
                        <m:num>
                          <m:r>
                            <a:rPr lang="es-ES" sz="2500" i="1">
                              <a:solidFill>
                                <a:srgbClr val="1F4E79"/>
                              </a:solidFill>
                              <a:latin typeface="Cambria Math" panose="02040503050406030204" pitchFamily="18" charset="0"/>
                            </a:rPr>
                            <m:t xml:space="preserve">δ(Δx)</m:t>
                          </m:r>
                        </m:num>
                        <m:den>
                          <m:r>
                            <a:rPr lang="es-ES" sz="2500" i="1">
                              <a:solidFill>
                                <a:srgbClr val="1F4E79"/>
                              </a:solidFill>
                              <a:latin typeface="Cambria Math" panose="02040503050406030204" pitchFamily="18" charset="0"/>
                            </a:rPr>
                            <m:t xml:space="preserve">Δx</m:t>
                          </m:r>
                        </m:den>
                      </m:f>
                    </m:oMath>
                  </m:oMathPara>
                </a14:m>
                <a:endParaRPr lang="es-ES"/>
              </a:p>
            </p:txBody>
          </p:sp>
        </mc:Choice>
        <mc:Fallback>
          <p:sp>
            <p:nvSpPr>
              <p:cNvPr id="32" name="Ecuación E_dcx [s3]"/>
              <p:cNvSpPr txBox="1"/>
              <p:nvPr/>
            </p:nvSpPr>
            <p:spPr>
              <a:xfrm>
                <a:off x="966136" y="1561458"/>
                <a:ext cx="3445604" cy="801303"/>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δc/c ≈ δ(Δx)/Δx</a:t>
                </a:r>
                <a:endParaRPr lang="en-US" sz="2159" dirty="0"/>
              </a:p>
            </p:txBody>
          </p:sp>
        </mc:Fallback>
      </mc:AlternateContent>
      <p:sp>
        <p:nvSpPr>
          <p:cNvPr id="33" name="Elemento [s3]"/>
          <p:cNvSpPr txBox="1"/>
          <p:nvPr/>
        </p:nvSpPr>
        <p:spPr>
          <a:xfrm>
            <a:off x="966136" y="2402827"/>
            <a:ext cx="3445604" cy="200326"/>
          </a:xfrm>
          <a:prstGeom prst="rect">
            <a:avLst/>
          </a:prstGeom>
          <a:noFill/>
          <a:ln/>
        </p:spPr>
        <p:txBody>
          <a:bodyPr wrap="square" lIns="0" tIns="0" rIns="0" bIns="0" rtlCol="0" anchor="t"/>
          <a:lstStyle/>
          <a:p>
            <a:pPr algn="r" indent="0" marL="0">
              <a:buNone/>
            </a:pPr>
            <a:r>
              <a:rPr lang="en-US" sz="900" b="1" dirty="0">
                <a:solidFill>
                  <a:srgbClr val="C55A11"/>
                </a:solidFill>
                <a:latin typeface="Arial" pitchFamily="34" charset="0"/>
                <a:ea typeface="Arial" pitchFamily="34" charset="-122"/>
                <a:cs typeface="Arial" pitchFamily="34" charset="-120"/>
              </a:rPr>
              <a:t>INFERENCIA PROPIA</a:t>
            </a:r>
            <a:endParaRPr lang="en-US" sz="900" dirty="0"/>
          </a:p>
        </p:txBody>
      </p:sp>
      <p:sp>
        <p:nvSpPr>
          <p:cNvPr id="34" name="Cuerpo [s3]"/>
          <p:cNvSpPr txBox="1"/>
          <p:nvPr/>
        </p:nvSpPr>
        <p:spPr>
          <a:xfrm>
            <a:off x="4652130" y="1561458"/>
            <a:ext cx="3525734" cy="2083388"/>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260" i="1">
                        <a:solidFill>
                          <a:srgbClr val="2D2D2D"/>
                        </a:solidFill>
                        <a:latin typeface="Cambria Math" panose="02040503050406030204" pitchFamily="18" charset="0"/>
                      </a:rPr>
                      <m:t xml:space="preserve">Δ</m:t>
                    </m:r>
                    <m:r>
                      <a:rPr lang="es-ES" sz="1260" i="1">
                        <a:solidFill>
                          <a:srgbClr val="2D2D2D"/>
                        </a:solidFill>
                        <a:latin typeface="Cambria Math" panose="02040503050406030204" pitchFamily="18" charset="0"/>
                      </a:rPr>
                      <m:t xml:space="preserve">x</m:t>
                    </m:r>
                    <m:r>
                      <m:rPr>
                        <m:sty m:val="p"/>
                      </m:rPr>
                      <a:rPr lang="es-ES" sz="1260">
                        <a:solidFill>
                          <a:srgbClr val="2D2D2D"/>
                        </a:solidFill>
                        <a:latin typeface="Cambria Math" panose="02040503050406030204" pitchFamily="18" charset="0"/>
                      </a:rPr>
                      <m:t xml:space="preserve">=</m:t>
                    </m:r>
                    <m:r>
                      <m:rPr>
                        <m:sty m:val="p"/>
                      </m:rPr>
                      <a:rPr lang="es-ES" sz="1260">
                        <a:solidFill>
                          <a:srgbClr val="2D2D2D"/>
                        </a:solidFill>
                        <a:latin typeface="Cambria Math" panose="02040503050406030204" pitchFamily="18" charset="0"/>
                      </a:rPr>
                      <m:t xml:space="preserve">2</m:t>
                    </m:r>
                  </m:oMath>
                </a14:m>
              </mc:Choice>
              <mc:Fallback>
                <a:r>
                  <a:rPr lang="en-US" sz="1260" dirty="0">
                    <a:solidFill>
                      <a:srgbClr val="2D2D2D"/>
                    </a:solidFill>
                    <a:latin typeface="Arial" pitchFamily="34" charset="0"/>
                    <a:ea typeface="Arial" pitchFamily="34" charset="-122"/>
                    <a:cs typeface="Arial" pitchFamily="34" charset="-120"/>
                  </a:rPr>
                  <a:t>Δx = 2</a:t>
                </a:r>
              </mc:Fallback>
            </mc:AlternateContent>
            <a:r>
              <a:rPr lang="en-US" sz="1260" dirty="0">
                <a:solidFill>
                  <a:srgbClr val="2D2D2D"/>
                </a:solidFill>
                <a:latin typeface="Arial" pitchFamily="34" charset="0"/>
                <a:ea typeface="Arial" pitchFamily="34" charset="-122"/>
                <a:cs typeface="Arial" pitchFamily="34" charset="-120"/>
              </a:rPr>
              <a:t> m, un error de 10 cm es un 5 % en c</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Un error aleatorio se promedia al ajustar 21 posiciones; uno sistemático, como una cinta mal calibrada, no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Hoy las posiciones se miden con cinta y se anotan a mano; no se conservaron coordenadas ni azimut</a:t>
            </a:r>
            <a:endParaRPr lang="en-US" sz="1260" dirty="0"/>
          </a:p>
        </p:txBody>
      </p:sp>
      <p:sp>
        <p:nvSpPr>
          <p:cNvPr id="35" name="Cabecera Para verificarlo [s3]"/>
          <p:cNvSpPr/>
          <p:nvPr/>
        </p:nvSpPr>
        <p:spPr>
          <a:xfrm>
            <a:off x="966136" y="2803478"/>
            <a:ext cx="3445604" cy="320521"/>
          </a:xfrm>
          <a:prstGeom prst="rect">
            <a:avLst/>
          </a:prstGeom>
          <a:solidFill>
            <a:srgbClr val="2E75B6"/>
          </a:solidFill>
          <a:ln w="6350">
            <a:solidFill>
              <a:srgbClr val="2E75B6"/>
            </a:solidFill>
            <a:prstDash val="solid"/>
          </a:ln>
        </p:spPr>
      </p:sp>
      <p:sp>
        <p:nvSpPr>
          <p:cNvPr id="36" name="Elemento [s3]"/>
          <p:cNvSpPr txBox="1"/>
          <p:nvPr/>
        </p:nvSpPr>
        <p:spPr>
          <a:xfrm>
            <a:off x="1006201" y="2803478"/>
            <a:ext cx="3365473" cy="320521"/>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Para verificarlo</a:t>
            </a:r>
            <a:endParaRPr lang="en-US" sz="1260" dirty="0"/>
          </a:p>
        </p:txBody>
      </p:sp>
      <p:sp>
        <p:nvSpPr>
          <p:cNvPr id="37" name="Tarjeta Para verificarlo [s3]"/>
          <p:cNvSpPr/>
          <p:nvPr/>
        </p:nvSpPr>
        <p:spPr>
          <a:xfrm>
            <a:off x="966136" y="3123999"/>
            <a:ext cx="3445604" cy="801303"/>
          </a:xfrm>
          <a:prstGeom prst="rect">
            <a:avLst/>
          </a:prstGeom>
          <a:solidFill>
            <a:srgbClr val="FFFFFF"/>
          </a:solidFill>
          <a:ln w="16694">
            <a:solidFill>
              <a:srgbClr val="2E75B6"/>
            </a:solidFill>
            <a:prstDash val="solid"/>
          </a:ln>
        </p:spPr>
      </p:sp>
      <p:sp>
        <p:nvSpPr>
          <p:cNvPr id="38" name="Elemento [s3]"/>
          <p:cNvSpPr txBox="1"/>
          <p:nvPr/>
        </p:nvSpPr>
        <p:spPr>
          <a:xfrm>
            <a:off x="1062292" y="3188104"/>
            <a:ext cx="3253291" cy="673095"/>
          </a:xfrm>
          <a:prstGeom prst="rect">
            <a:avLst/>
          </a:prstGeom>
          <a:noFill/>
          <a:ln/>
        </p:spPr>
        <p:txBody>
          <a:bodyPr wrap="square" lIns="0" tIns="0" rIns="0" bIns="0" rtlCol="0" anchor="t"/>
          <a:lstStyle/>
          <a:p>
            <a:pPr algn="l" indent="0" marL="0">
              <a:buNone/>
            </a:pPr>
            <a:r>
              <a:rPr lang="en-US" sz="1125" dirty="0">
                <a:solidFill>
                  <a:srgbClr val="2D2D2D"/>
                </a:solidFill>
                <a:latin typeface="Arial" pitchFamily="34" charset="0"/>
                <a:ea typeface="Arial" pitchFamily="34" charset="-122"/>
                <a:cs typeface="Arial" pitchFamily="34" charset="-120"/>
              </a:rPr>
              <a:t>Medir las posiciones con cinta y con otro método, tres veces, y propagar la incertidumbre a la curva de dispersión</a:t>
            </a:r>
            <a:endParaRPr lang="en-US" sz="1125" dirty="0"/>
          </a:p>
        </p:txBody>
      </p:sp>
      <p:sp>
        <p:nvSpPr>
          <p:cNvPr id="39" name="Franja [s3]"/>
          <p:cNvSpPr/>
          <p:nvPr/>
        </p:nvSpPr>
        <p:spPr>
          <a:xfrm>
            <a:off x="966136" y="4045498"/>
            <a:ext cx="7211728" cy="360586"/>
          </a:xfrm>
          <a:prstGeom prst="rect">
            <a:avLst/>
          </a:prstGeom>
          <a:solidFill>
            <a:srgbClr val="EAF1F8"/>
          </a:solidFill>
          <a:ln w="6350">
            <a:solidFill>
              <a:srgbClr val="EAF1F8"/>
            </a:solidFill>
            <a:prstDash val="solid"/>
          </a:ln>
        </p:spPr>
      </p:sp>
      <p:sp>
        <p:nvSpPr>
          <p:cNvPr id="40" name="Elemento [s3]"/>
          <p:cNvSpPr txBox="1"/>
          <p:nvPr/>
        </p:nvSpPr>
        <p:spPr>
          <a:xfrm>
            <a:off x="1086331" y="4045498"/>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Antes de invertir un perfil hay que declarar la incertidumbre de la geometría.</a:t>
            </a:r>
            <a:endParaRPr lang="en-US" sz="1260" dirty="0"/>
          </a:p>
        </p:txBody>
      </p:sp>
      <p:sp>
        <p:nvSpPr>
          <p:cNvPr id="41"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arreglo: 21 posiciones del receptor, un HAMMER fijo y 40 m de apertura</a:t>
            </a:r>
            <a:endParaRPr lang="en-US" sz="1400" dirty="0"/>
          </a:p>
        </p:txBody>
      </p:sp>
      <p:sp>
        <p:nvSpPr>
          <p:cNvPr id="42"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4.10.2; documento de tesis, 04_validacion.tex (campaña) y 02_requerimientos.tex (ec. de apertura). Esquema: cálculo propio.</a:t>
            </a:r>
            <a:endParaRPr lang="en-US" sz="800" dirty="0"/>
          </a:p>
        </p:txBody>
      </p:sp>
      <p:sp>
        <p:nvSpPr>
          <p:cNvPr id="43"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separación y la apertura fijan las longitudes de onda que se pueden medir</a:t>
            </a:r>
            <a:endParaRPr lang="en-US" sz="1400" dirty="0"/>
          </a:p>
        </p:txBody>
      </p:sp>
      <p:sp>
        <p:nvSpPr>
          <p:cNvPr id="44"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02_requerimientos.tex y 04_validacion.tex (atribuye a Foti et al., 2018: L ≳ λmáx y L ≳ 1,5·λmáx; L ≳ 2·λmáx es criterio de la tesis). Cálculos con c = 150 m/s.</a:t>
            </a:r>
            <a:endParaRPr lang="en-US" sz="800" dirty="0"/>
          </a:p>
        </p:txBody>
      </p:sp>
      <p:sp>
        <p:nvSpPr>
          <p:cNvPr id="45"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receptor móvil sintetiza el registro; no equivale a un MASW simultáneo</a:t>
            </a:r>
            <a:endParaRPr lang="en-US" sz="1400" dirty="0"/>
          </a:p>
        </p:txBody>
      </p:sp>
      <p:sp>
        <p:nvSpPr>
          <p:cNvPr id="46"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3 y 4.10; documento de tesis, 04_validacion.tex (Lin y Ashlock, 2016).</a:t>
            </a:r>
            <a:endParaRPr lang="en-US" sz="800" dirty="0"/>
          </a:p>
        </p:txBody>
      </p:sp>
      <p:sp>
        <p:nvSpPr>
          <p:cNvPr id="47"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 error en la posición de los receptores se paga en velocidad de fase</a:t>
            </a:r>
            <a:endParaRPr lang="en-US" sz="1400" dirty="0"/>
          </a:p>
        </p:txBody>
      </p:sp>
      <p:sp>
        <p:nvSpPr>
          <p:cNvPr id="48"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Relación SASW: documento de tesis, 01_contexto.tex (c = 2πfΔx/Δφ); campaña: 04_validacion.tex y sec. de limitaciones. Propagación: derivación propia.</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810" fill="hold">
                      <p:stCondLst>
                        <p:cond delay="indefinite"/>
                      </p:stCondLst>
                      <p:childTnLst>
                        <p:par>
                          <p:cTn id="4811" fill="hold">
                            <p:stCondLst>
                              <p:cond delay="0"/>
                            </p:stCondLst>
                            <p:childTnLst>
                              <p:par>
                                <p:cTn id="4756" presetID="10" presetClass="exit" presetSubtype="0" fill="hold" nodeType="clickEffect">
                                  <p:stCondLst>
                                    <p:cond delay="0"/>
                                  </p:stCondLst>
                                  <p:childTnLst>
                                    <p:animEffect transition="out" filter="fade">
                                      <p:cBhvr>
                                        <p:cTn id="4757" dur="400"/>
                                        <p:tgtEl>
                                          <p:spTgt spid="3"/>
                                        </p:tgtEl>
                                      </p:cBhvr>
                                    </p:animEffect>
                                    <p:set>
                                      <p:cBhvr>
                                        <p:cTn id="4758" dur="1" fill="hold">
                                          <p:stCondLst>
                                            <p:cond delay="399"/>
                                          </p:stCondLst>
                                        </p:cTn>
                                        <p:tgtEl>
                                          <p:spTgt spid="3"/>
                                        </p:tgtEl>
                                        <p:attrNameLst>
                                          <p:attrName>style.visibility</p:attrName>
                                        </p:attrNameLst>
                                      </p:cBhvr>
                                      <p:to>
                                        <p:strVal val="hidden"/>
                                      </p:to>
                                    </p:set>
                                  </p:childTnLst>
                                </p:cTn>
                              </p:par>
                              <p:par>
                                <p:cTn id="4759" presetID="10" presetClass="exit" presetSubtype="0" fill="hold" nodeType="withEffect">
                                  <p:stCondLst>
                                    <p:cond delay="0"/>
                                  </p:stCondLst>
                                  <p:childTnLst>
                                    <p:animEffect transition="out" filter="fade">
                                      <p:cBhvr>
                                        <p:cTn id="4760" dur="400"/>
                                        <p:tgtEl>
                                          <p:spTgt spid="4"/>
                                        </p:tgtEl>
                                      </p:cBhvr>
                                    </p:animEffect>
                                    <p:set>
                                      <p:cBhvr>
                                        <p:cTn id="4761" dur="1" fill="hold">
                                          <p:stCondLst>
                                            <p:cond delay="399"/>
                                          </p:stCondLst>
                                        </p:cTn>
                                        <p:tgtEl>
                                          <p:spTgt spid="4"/>
                                        </p:tgtEl>
                                        <p:attrNameLst>
                                          <p:attrName>style.visibility</p:attrName>
                                        </p:attrNameLst>
                                      </p:cBhvr>
                                      <p:to>
                                        <p:strVal val="hidden"/>
                                      </p:to>
                                    </p:set>
                                  </p:childTnLst>
                                </p:cTn>
                              </p:par>
                              <p:par>
                                <p:cTn id="4762" presetID="10" presetClass="exit" presetSubtype="0" fill="hold" nodeType="withEffect">
                                  <p:stCondLst>
                                    <p:cond delay="0"/>
                                  </p:stCondLst>
                                  <p:childTnLst>
                                    <p:animEffect transition="out" filter="fade">
                                      <p:cBhvr>
                                        <p:cTn id="4763" dur="400"/>
                                        <p:tgtEl>
                                          <p:spTgt spid="5"/>
                                        </p:tgtEl>
                                      </p:cBhvr>
                                    </p:animEffect>
                                    <p:set>
                                      <p:cBhvr>
                                        <p:cTn id="4764" dur="1" fill="hold">
                                          <p:stCondLst>
                                            <p:cond delay="399"/>
                                          </p:stCondLst>
                                        </p:cTn>
                                        <p:tgtEl>
                                          <p:spTgt spid="5"/>
                                        </p:tgtEl>
                                        <p:attrNameLst>
                                          <p:attrName>style.visibility</p:attrName>
                                        </p:attrNameLst>
                                      </p:cBhvr>
                                      <p:to>
                                        <p:strVal val="hidden"/>
                                      </p:to>
                                    </p:set>
                                  </p:childTnLst>
                                </p:cTn>
                              </p:par>
                              <p:par>
                                <p:cTn id="4765" presetID="10" presetClass="exit" presetSubtype="0" fill="hold" nodeType="withEffect">
                                  <p:stCondLst>
                                    <p:cond delay="0"/>
                                  </p:stCondLst>
                                  <p:childTnLst>
                                    <p:animEffect transition="out" filter="fade">
                                      <p:cBhvr>
                                        <p:cTn id="4766" dur="400"/>
                                        <p:tgtEl>
                                          <p:spTgt spid="6"/>
                                        </p:tgtEl>
                                      </p:cBhvr>
                                    </p:animEffect>
                                    <p:set>
                                      <p:cBhvr>
                                        <p:cTn id="4767" dur="1" fill="hold">
                                          <p:stCondLst>
                                            <p:cond delay="399"/>
                                          </p:stCondLst>
                                        </p:cTn>
                                        <p:tgtEl>
                                          <p:spTgt spid="6"/>
                                        </p:tgtEl>
                                        <p:attrNameLst>
                                          <p:attrName>style.visibility</p:attrName>
                                        </p:attrNameLst>
                                      </p:cBhvr>
                                      <p:to>
                                        <p:strVal val="hidden"/>
                                      </p:to>
                                    </p:set>
                                  </p:childTnLst>
                                </p:cTn>
                              </p:par>
                              <p:par>
                                <p:cTn id="4768" presetID="10" presetClass="exit" presetSubtype="0" fill="hold" nodeType="withEffect">
                                  <p:stCondLst>
                                    <p:cond delay="0"/>
                                  </p:stCondLst>
                                  <p:childTnLst>
                                    <p:animEffect transition="out" filter="fade">
                                      <p:cBhvr>
                                        <p:cTn id="4769" dur="400"/>
                                        <p:tgtEl>
                                          <p:spTgt spid="7"/>
                                        </p:tgtEl>
                                      </p:cBhvr>
                                    </p:animEffect>
                                    <p:set>
                                      <p:cBhvr>
                                        <p:cTn id="4770" dur="1" fill="hold">
                                          <p:stCondLst>
                                            <p:cond delay="399"/>
                                          </p:stCondLst>
                                        </p:cTn>
                                        <p:tgtEl>
                                          <p:spTgt spid="7"/>
                                        </p:tgtEl>
                                        <p:attrNameLst>
                                          <p:attrName>style.visibility</p:attrName>
                                        </p:attrNameLst>
                                      </p:cBhvr>
                                      <p:to>
                                        <p:strVal val="hidden"/>
                                      </p:to>
                                    </p:set>
                                  </p:childTnLst>
                                </p:cTn>
                              </p:par>
                              <p:par>
                                <p:cTn id="4771" presetID="10" presetClass="exit" presetSubtype="0" fill="hold" nodeType="withEffect">
                                  <p:stCondLst>
                                    <p:cond delay="0"/>
                                  </p:stCondLst>
                                  <p:childTnLst>
                                    <p:animEffect transition="out" filter="fade">
                                      <p:cBhvr>
                                        <p:cTn id="4772" dur="400"/>
                                        <p:tgtEl>
                                          <p:spTgt spid="41"/>
                                        </p:tgtEl>
                                      </p:cBhvr>
                                    </p:animEffect>
                                    <p:set>
                                      <p:cBhvr>
                                        <p:cTn id="4773" dur="1" fill="hold">
                                          <p:stCondLst>
                                            <p:cond delay="399"/>
                                          </p:stCondLst>
                                        </p:cTn>
                                        <p:tgtEl>
                                          <p:spTgt spid="41"/>
                                        </p:tgtEl>
                                        <p:attrNameLst>
                                          <p:attrName>style.visibility</p:attrName>
                                        </p:attrNameLst>
                                      </p:cBhvr>
                                      <p:to>
                                        <p:strVal val="hidden"/>
                                      </p:to>
                                    </p:set>
                                  </p:childTnLst>
                                </p:cTn>
                              </p:par>
                              <p:par>
                                <p:cTn id="4774" presetID="10" presetClass="exit" presetSubtype="0" fill="hold" nodeType="withEffect">
                                  <p:stCondLst>
                                    <p:cond delay="0"/>
                                  </p:stCondLst>
                                  <p:childTnLst>
                                    <p:animEffect transition="out" filter="fade">
                                      <p:cBhvr>
                                        <p:cTn id="4775" dur="400"/>
                                        <p:tgtEl>
                                          <p:spTgt spid="42"/>
                                        </p:tgtEl>
                                      </p:cBhvr>
                                    </p:animEffect>
                                    <p:set>
                                      <p:cBhvr>
                                        <p:cTn id="4776" dur="1" fill="hold">
                                          <p:stCondLst>
                                            <p:cond delay="399"/>
                                          </p:stCondLst>
                                        </p:cTn>
                                        <p:tgtEl>
                                          <p:spTgt spid="42"/>
                                        </p:tgtEl>
                                        <p:attrNameLst>
                                          <p:attrName>style.visibility</p:attrName>
                                        </p:attrNameLst>
                                      </p:cBhvr>
                                      <p:to>
                                        <p:strVal val="hidden"/>
                                      </p:to>
                                    </p:set>
                                  </p:childTnLst>
                                </p:cTn>
                              </p:par>
                              <p:par>
                                <p:cTn id="4777" presetID="10" presetClass="entr" presetSubtype="0" fill="hold" nodeType="withEffect">
                                  <p:stCondLst>
                                    <p:cond delay="200"/>
                                  </p:stCondLst>
                                  <p:childTnLst>
                                    <p:set>
                                      <p:cBhvr>
                                        <p:cTn id="4778" dur="1" fill="hold">
                                          <p:stCondLst>
                                            <p:cond delay="0"/>
                                          </p:stCondLst>
                                        </p:cTn>
                                        <p:tgtEl>
                                          <p:spTgt spid="8"/>
                                        </p:tgtEl>
                                        <p:attrNameLst>
                                          <p:attrName>style.visibility</p:attrName>
                                        </p:attrNameLst>
                                      </p:cBhvr>
                                      <p:to>
                                        <p:strVal val="visible"/>
                                      </p:to>
                                    </p:set>
                                    <p:animEffect transition="in" filter="fade">
                                      <p:cBhvr>
                                        <p:cTn id="4779" dur="500"/>
                                        <p:tgtEl>
                                          <p:spTgt spid="8"/>
                                        </p:tgtEl>
                                      </p:cBhvr>
                                    </p:animEffect>
                                  </p:childTnLst>
                                </p:cTn>
                              </p:par>
                              <p:par>
                                <p:cTn id="4780" presetID="10" presetClass="entr" presetSubtype="0" fill="hold" nodeType="withEffect">
                                  <p:stCondLst>
                                    <p:cond delay="270"/>
                                  </p:stCondLst>
                                  <p:childTnLst>
                                    <p:set>
                                      <p:cBhvr>
                                        <p:cTn id="4781" dur="1" fill="hold">
                                          <p:stCondLst>
                                            <p:cond delay="0"/>
                                          </p:stCondLst>
                                        </p:cTn>
                                        <p:tgtEl>
                                          <p:spTgt spid="9"/>
                                        </p:tgtEl>
                                        <p:attrNameLst>
                                          <p:attrName>style.visibility</p:attrName>
                                        </p:attrNameLst>
                                      </p:cBhvr>
                                      <p:to>
                                        <p:strVal val="visible"/>
                                      </p:to>
                                    </p:set>
                                    <p:animEffect transition="in" filter="fade">
                                      <p:cBhvr>
                                        <p:cTn id="4782" dur="500"/>
                                        <p:tgtEl>
                                          <p:spTgt spid="9"/>
                                        </p:tgtEl>
                                      </p:cBhvr>
                                    </p:animEffect>
                                  </p:childTnLst>
                                </p:cTn>
                              </p:par>
                              <p:par>
                                <p:cTn id="4783" presetID="10" presetClass="entr" presetSubtype="0" fill="hold" nodeType="withEffect">
                                  <p:stCondLst>
                                    <p:cond delay="340"/>
                                  </p:stCondLst>
                                  <p:childTnLst>
                                    <p:set>
                                      <p:cBhvr>
                                        <p:cTn id="4784" dur="1" fill="hold">
                                          <p:stCondLst>
                                            <p:cond delay="0"/>
                                          </p:stCondLst>
                                        </p:cTn>
                                        <p:tgtEl>
                                          <p:spTgt spid="10"/>
                                        </p:tgtEl>
                                        <p:attrNameLst>
                                          <p:attrName>style.visibility</p:attrName>
                                        </p:attrNameLst>
                                      </p:cBhvr>
                                      <p:to>
                                        <p:strVal val="visible"/>
                                      </p:to>
                                    </p:set>
                                    <p:animEffect transition="in" filter="fade">
                                      <p:cBhvr>
                                        <p:cTn id="4785" dur="500"/>
                                        <p:tgtEl>
                                          <p:spTgt spid="10"/>
                                        </p:tgtEl>
                                      </p:cBhvr>
                                    </p:animEffect>
                                  </p:childTnLst>
                                </p:cTn>
                              </p:par>
                              <p:par>
                                <p:cTn id="4786" presetID="10" presetClass="entr" presetSubtype="0" fill="hold" nodeType="withEffect">
                                  <p:stCondLst>
                                    <p:cond delay="410"/>
                                  </p:stCondLst>
                                  <p:childTnLst>
                                    <p:set>
                                      <p:cBhvr>
                                        <p:cTn id="4787" dur="1" fill="hold">
                                          <p:stCondLst>
                                            <p:cond delay="0"/>
                                          </p:stCondLst>
                                        </p:cTn>
                                        <p:tgtEl>
                                          <p:spTgt spid="11"/>
                                        </p:tgtEl>
                                        <p:attrNameLst>
                                          <p:attrName>style.visibility</p:attrName>
                                        </p:attrNameLst>
                                      </p:cBhvr>
                                      <p:to>
                                        <p:strVal val="visible"/>
                                      </p:to>
                                    </p:set>
                                    <p:animEffect transition="in" filter="fade">
                                      <p:cBhvr>
                                        <p:cTn id="4788" dur="500"/>
                                        <p:tgtEl>
                                          <p:spTgt spid="11"/>
                                        </p:tgtEl>
                                      </p:cBhvr>
                                    </p:animEffect>
                                  </p:childTnLst>
                                </p:cTn>
                              </p:par>
                              <p:par>
                                <p:cTn id="4789" presetID="10" presetClass="entr" presetSubtype="0" fill="hold" nodeType="withEffect">
                                  <p:stCondLst>
                                    <p:cond delay="480"/>
                                  </p:stCondLst>
                                  <p:childTnLst>
                                    <p:set>
                                      <p:cBhvr>
                                        <p:cTn id="4790" dur="1" fill="hold">
                                          <p:stCondLst>
                                            <p:cond delay="0"/>
                                          </p:stCondLst>
                                        </p:cTn>
                                        <p:tgtEl>
                                          <p:spTgt spid="12"/>
                                        </p:tgtEl>
                                        <p:attrNameLst>
                                          <p:attrName>style.visibility</p:attrName>
                                        </p:attrNameLst>
                                      </p:cBhvr>
                                      <p:to>
                                        <p:strVal val="visible"/>
                                      </p:to>
                                    </p:set>
                                    <p:animEffect transition="in" filter="fade">
                                      <p:cBhvr>
                                        <p:cTn id="4791" dur="500"/>
                                        <p:tgtEl>
                                          <p:spTgt spid="12"/>
                                        </p:tgtEl>
                                      </p:cBhvr>
                                    </p:animEffect>
                                  </p:childTnLst>
                                </p:cTn>
                              </p:par>
                              <p:par>
                                <p:cTn id="4792" presetID="10" presetClass="entr" presetSubtype="0" fill="hold" nodeType="withEffect">
                                  <p:stCondLst>
                                    <p:cond delay="550"/>
                                  </p:stCondLst>
                                  <p:childTnLst>
                                    <p:set>
                                      <p:cBhvr>
                                        <p:cTn id="4793" dur="1" fill="hold">
                                          <p:stCondLst>
                                            <p:cond delay="0"/>
                                          </p:stCondLst>
                                        </p:cTn>
                                        <p:tgtEl>
                                          <p:spTgt spid="13"/>
                                        </p:tgtEl>
                                        <p:attrNameLst>
                                          <p:attrName>style.visibility</p:attrName>
                                        </p:attrNameLst>
                                      </p:cBhvr>
                                      <p:to>
                                        <p:strVal val="visible"/>
                                      </p:to>
                                    </p:set>
                                    <p:animEffect transition="in" filter="fade">
                                      <p:cBhvr>
                                        <p:cTn id="4794" dur="500"/>
                                        <p:tgtEl>
                                          <p:spTgt spid="13"/>
                                        </p:tgtEl>
                                      </p:cBhvr>
                                    </p:animEffect>
                                  </p:childTnLst>
                                </p:cTn>
                              </p:par>
                              <p:par>
                                <p:cTn id="4795" presetID="10" presetClass="entr" presetSubtype="0" fill="hold" nodeType="withEffect">
                                  <p:stCondLst>
                                    <p:cond delay="620"/>
                                  </p:stCondLst>
                                  <p:childTnLst>
                                    <p:set>
                                      <p:cBhvr>
                                        <p:cTn id="4796" dur="1" fill="hold">
                                          <p:stCondLst>
                                            <p:cond delay="0"/>
                                          </p:stCondLst>
                                        </p:cTn>
                                        <p:tgtEl>
                                          <p:spTgt spid="14"/>
                                        </p:tgtEl>
                                        <p:attrNameLst>
                                          <p:attrName>style.visibility</p:attrName>
                                        </p:attrNameLst>
                                      </p:cBhvr>
                                      <p:to>
                                        <p:strVal val="visible"/>
                                      </p:to>
                                    </p:set>
                                    <p:animEffect transition="in" filter="fade">
                                      <p:cBhvr>
                                        <p:cTn id="4797" dur="500"/>
                                        <p:tgtEl>
                                          <p:spTgt spid="14"/>
                                        </p:tgtEl>
                                      </p:cBhvr>
                                    </p:animEffect>
                                  </p:childTnLst>
                                </p:cTn>
                              </p:par>
                              <p:par>
                                <p:cTn id="4798" presetID="10" presetClass="entr" presetSubtype="0" fill="hold" nodeType="withEffect">
                                  <p:stCondLst>
                                    <p:cond delay="690"/>
                                  </p:stCondLst>
                                  <p:childTnLst>
                                    <p:set>
                                      <p:cBhvr>
                                        <p:cTn id="4799" dur="1" fill="hold">
                                          <p:stCondLst>
                                            <p:cond delay="0"/>
                                          </p:stCondLst>
                                        </p:cTn>
                                        <p:tgtEl>
                                          <p:spTgt spid="15"/>
                                        </p:tgtEl>
                                        <p:attrNameLst>
                                          <p:attrName>style.visibility</p:attrName>
                                        </p:attrNameLst>
                                      </p:cBhvr>
                                      <p:to>
                                        <p:strVal val="visible"/>
                                      </p:to>
                                    </p:set>
                                    <p:animEffect transition="in" filter="fade">
                                      <p:cBhvr>
                                        <p:cTn id="4800" dur="500"/>
                                        <p:tgtEl>
                                          <p:spTgt spid="15"/>
                                        </p:tgtEl>
                                      </p:cBhvr>
                                    </p:animEffect>
                                  </p:childTnLst>
                                </p:cTn>
                              </p:par>
                              <p:par>
                                <p:cTn id="4801" presetID="10" presetClass="entr" presetSubtype="0" fill="hold" nodeType="withEffect">
                                  <p:stCondLst>
                                    <p:cond delay="760"/>
                                  </p:stCondLst>
                                  <p:childTnLst>
                                    <p:set>
                                      <p:cBhvr>
                                        <p:cTn id="4802" dur="1" fill="hold">
                                          <p:stCondLst>
                                            <p:cond delay="0"/>
                                          </p:stCondLst>
                                        </p:cTn>
                                        <p:tgtEl>
                                          <p:spTgt spid="16"/>
                                        </p:tgtEl>
                                        <p:attrNameLst>
                                          <p:attrName>style.visibility</p:attrName>
                                        </p:attrNameLst>
                                      </p:cBhvr>
                                      <p:to>
                                        <p:strVal val="visible"/>
                                      </p:to>
                                    </p:set>
                                    <p:animEffect transition="in" filter="fade">
                                      <p:cBhvr>
                                        <p:cTn id="4803" dur="500"/>
                                        <p:tgtEl>
                                          <p:spTgt spid="16"/>
                                        </p:tgtEl>
                                      </p:cBhvr>
                                    </p:animEffect>
                                  </p:childTnLst>
                                </p:cTn>
                              </p:par>
                              <p:par>
                                <p:cTn id="4804" presetID="10" presetClass="entr" presetSubtype="0" fill="hold" nodeType="withEffect">
                                  <p:stCondLst>
                                    <p:cond delay="830"/>
                                  </p:stCondLst>
                                  <p:childTnLst>
                                    <p:set>
                                      <p:cBhvr>
                                        <p:cTn id="4805" dur="1" fill="hold">
                                          <p:stCondLst>
                                            <p:cond delay="0"/>
                                          </p:stCondLst>
                                        </p:cTn>
                                        <p:tgtEl>
                                          <p:spTgt spid="43"/>
                                        </p:tgtEl>
                                        <p:attrNameLst>
                                          <p:attrName>style.visibility</p:attrName>
                                        </p:attrNameLst>
                                      </p:cBhvr>
                                      <p:to>
                                        <p:strVal val="visible"/>
                                      </p:to>
                                    </p:set>
                                    <p:animEffect transition="in" filter="fade">
                                      <p:cBhvr>
                                        <p:cTn id="4806" dur="500"/>
                                        <p:tgtEl>
                                          <p:spTgt spid="43"/>
                                        </p:tgtEl>
                                      </p:cBhvr>
                                    </p:animEffect>
                                  </p:childTnLst>
                                </p:cTn>
                              </p:par>
                              <p:par>
                                <p:cTn id="4807" presetID="10" presetClass="entr" presetSubtype="0" fill="hold" nodeType="withEffect">
                                  <p:stCondLst>
                                    <p:cond delay="900"/>
                                  </p:stCondLst>
                                  <p:childTnLst>
                                    <p:set>
                                      <p:cBhvr>
                                        <p:cTn id="4808" dur="1" fill="hold">
                                          <p:stCondLst>
                                            <p:cond delay="0"/>
                                          </p:stCondLst>
                                        </p:cTn>
                                        <p:tgtEl>
                                          <p:spTgt spid="44"/>
                                        </p:tgtEl>
                                        <p:attrNameLst>
                                          <p:attrName>style.visibility</p:attrName>
                                        </p:attrNameLst>
                                      </p:cBhvr>
                                      <p:to>
                                        <p:strVal val="visible"/>
                                      </p:to>
                                    </p:set>
                                    <p:animEffect transition="in" filter="fade">
                                      <p:cBhvr>
                                        <p:cTn id="4809" dur="500"/>
                                        <p:tgtEl>
                                          <p:spTgt spid="44"/>
                                        </p:tgtEl>
                                      </p:cBhvr>
                                    </p:animEffect>
                                  </p:childTnLst>
                                </p:cTn>
                              </p:par>
                            </p:childTnLst>
                          </p:cTn>
                        </p:par>
                      </p:childTnLst>
                    </p:cTn>
                  </p:par>
                  <p:par>
                    <p:cTn id="4893" fill="hold">
                      <p:stCondLst>
                        <p:cond delay="indefinite"/>
                      </p:stCondLst>
                      <p:childTnLst>
                        <p:par>
                          <p:cTn id="4894" fill="hold">
                            <p:stCondLst>
                              <p:cond delay="0"/>
                            </p:stCondLst>
                            <p:childTnLst>
                              <p:par>
                                <p:cTn id="4812" presetID="10" presetClass="exit" presetSubtype="0" fill="hold" nodeType="clickEffect">
                                  <p:stCondLst>
                                    <p:cond delay="0"/>
                                  </p:stCondLst>
                                  <p:childTnLst>
                                    <p:animEffect transition="out" filter="fade">
                                      <p:cBhvr>
                                        <p:cTn id="4813" dur="400"/>
                                        <p:tgtEl>
                                          <p:spTgt spid="8"/>
                                        </p:tgtEl>
                                      </p:cBhvr>
                                    </p:animEffect>
                                    <p:set>
                                      <p:cBhvr>
                                        <p:cTn id="4814" dur="1" fill="hold">
                                          <p:stCondLst>
                                            <p:cond delay="399"/>
                                          </p:stCondLst>
                                        </p:cTn>
                                        <p:tgtEl>
                                          <p:spTgt spid="8"/>
                                        </p:tgtEl>
                                        <p:attrNameLst>
                                          <p:attrName>style.visibility</p:attrName>
                                        </p:attrNameLst>
                                      </p:cBhvr>
                                      <p:to>
                                        <p:strVal val="hidden"/>
                                      </p:to>
                                    </p:set>
                                  </p:childTnLst>
                                </p:cTn>
                              </p:par>
                              <p:par>
                                <p:cTn id="4815" presetID="10" presetClass="exit" presetSubtype="0" fill="hold" nodeType="withEffect">
                                  <p:stCondLst>
                                    <p:cond delay="0"/>
                                  </p:stCondLst>
                                  <p:childTnLst>
                                    <p:animEffect transition="out" filter="fade">
                                      <p:cBhvr>
                                        <p:cTn id="4816" dur="400"/>
                                        <p:tgtEl>
                                          <p:spTgt spid="9"/>
                                        </p:tgtEl>
                                      </p:cBhvr>
                                    </p:animEffect>
                                    <p:set>
                                      <p:cBhvr>
                                        <p:cTn id="4817" dur="1" fill="hold">
                                          <p:stCondLst>
                                            <p:cond delay="399"/>
                                          </p:stCondLst>
                                        </p:cTn>
                                        <p:tgtEl>
                                          <p:spTgt spid="9"/>
                                        </p:tgtEl>
                                        <p:attrNameLst>
                                          <p:attrName>style.visibility</p:attrName>
                                        </p:attrNameLst>
                                      </p:cBhvr>
                                      <p:to>
                                        <p:strVal val="hidden"/>
                                      </p:to>
                                    </p:set>
                                  </p:childTnLst>
                                </p:cTn>
                              </p:par>
                              <p:par>
                                <p:cTn id="4818" presetID="10" presetClass="exit" presetSubtype="0" fill="hold" nodeType="withEffect">
                                  <p:stCondLst>
                                    <p:cond delay="0"/>
                                  </p:stCondLst>
                                  <p:childTnLst>
                                    <p:animEffect transition="out" filter="fade">
                                      <p:cBhvr>
                                        <p:cTn id="4819" dur="400"/>
                                        <p:tgtEl>
                                          <p:spTgt spid="10"/>
                                        </p:tgtEl>
                                      </p:cBhvr>
                                    </p:animEffect>
                                    <p:set>
                                      <p:cBhvr>
                                        <p:cTn id="4820" dur="1" fill="hold">
                                          <p:stCondLst>
                                            <p:cond delay="399"/>
                                          </p:stCondLst>
                                        </p:cTn>
                                        <p:tgtEl>
                                          <p:spTgt spid="10"/>
                                        </p:tgtEl>
                                        <p:attrNameLst>
                                          <p:attrName>style.visibility</p:attrName>
                                        </p:attrNameLst>
                                      </p:cBhvr>
                                      <p:to>
                                        <p:strVal val="hidden"/>
                                      </p:to>
                                    </p:set>
                                  </p:childTnLst>
                                </p:cTn>
                              </p:par>
                              <p:par>
                                <p:cTn id="4821" presetID="10" presetClass="exit" presetSubtype="0" fill="hold" nodeType="withEffect">
                                  <p:stCondLst>
                                    <p:cond delay="0"/>
                                  </p:stCondLst>
                                  <p:childTnLst>
                                    <p:animEffect transition="out" filter="fade">
                                      <p:cBhvr>
                                        <p:cTn id="4822" dur="400"/>
                                        <p:tgtEl>
                                          <p:spTgt spid="11"/>
                                        </p:tgtEl>
                                      </p:cBhvr>
                                    </p:animEffect>
                                    <p:set>
                                      <p:cBhvr>
                                        <p:cTn id="4823" dur="1" fill="hold">
                                          <p:stCondLst>
                                            <p:cond delay="399"/>
                                          </p:stCondLst>
                                        </p:cTn>
                                        <p:tgtEl>
                                          <p:spTgt spid="11"/>
                                        </p:tgtEl>
                                        <p:attrNameLst>
                                          <p:attrName>style.visibility</p:attrName>
                                        </p:attrNameLst>
                                      </p:cBhvr>
                                      <p:to>
                                        <p:strVal val="hidden"/>
                                      </p:to>
                                    </p:set>
                                  </p:childTnLst>
                                </p:cTn>
                              </p:par>
                              <p:par>
                                <p:cTn id="4824" presetID="10" presetClass="exit" presetSubtype="0" fill="hold" nodeType="withEffect">
                                  <p:stCondLst>
                                    <p:cond delay="0"/>
                                  </p:stCondLst>
                                  <p:childTnLst>
                                    <p:animEffect transition="out" filter="fade">
                                      <p:cBhvr>
                                        <p:cTn id="4825" dur="400"/>
                                        <p:tgtEl>
                                          <p:spTgt spid="12"/>
                                        </p:tgtEl>
                                      </p:cBhvr>
                                    </p:animEffect>
                                    <p:set>
                                      <p:cBhvr>
                                        <p:cTn id="4826" dur="1" fill="hold">
                                          <p:stCondLst>
                                            <p:cond delay="399"/>
                                          </p:stCondLst>
                                        </p:cTn>
                                        <p:tgtEl>
                                          <p:spTgt spid="12"/>
                                        </p:tgtEl>
                                        <p:attrNameLst>
                                          <p:attrName>style.visibility</p:attrName>
                                        </p:attrNameLst>
                                      </p:cBhvr>
                                      <p:to>
                                        <p:strVal val="hidden"/>
                                      </p:to>
                                    </p:set>
                                  </p:childTnLst>
                                </p:cTn>
                              </p:par>
                              <p:par>
                                <p:cTn id="4827" presetID="10" presetClass="exit" presetSubtype="0" fill="hold" nodeType="withEffect">
                                  <p:stCondLst>
                                    <p:cond delay="0"/>
                                  </p:stCondLst>
                                  <p:childTnLst>
                                    <p:animEffect transition="out" filter="fade">
                                      <p:cBhvr>
                                        <p:cTn id="4828" dur="400"/>
                                        <p:tgtEl>
                                          <p:spTgt spid="13"/>
                                        </p:tgtEl>
                                      </p:cBhvr>
                                    </p:animEffect>
                                    <p:set>
                                      <p:cBhvr>
                                        <p:cTn id="4829" dur="1" fill="hold">
                                          <p:stCondLst>
                                            <p:cond delay="399"/>
                                          </p:stCondLst>
                                        </p:cTn>
                                        <p:tgtEl>
                                          <p:spTgt spid="13"/>
                                        </p:tgtEl>
                                        <p:attrNameLst>
                                          <p:attrName>style.visibility</p:attrName>
                                        </p:attrNameLst>
                                      </p:cBhvr>
                                      <p:to>
                                        <p:strVal val="hidden"/>
                                      </p:to>
                                    </p:set>
                                  </p:childTnLst>
                                </p:cTn>
                              </p:par>
                              <p:par>
                                <p:cTn id="4830" presetID="10" presetClass="exit" presetSubtype="0" fill="hold" nodeType="withEffect">
                                  <p:stCondLst>
                                    <p:cond delay="0"/>
                                  </p:stCondLst>
                                  <p:childTnLst>
                                    <p:animEffect transition="out" filter="fade">
                                      <p:cBhvr>
                                        <p:cTn id="4831" dur="400"/>
                                        <p:tgtEl>
                                          <p:spTgt spid="14"/>
                                        </p:tgtEl>
                                      </p:cBhvr>
                                    </p:animEffect>
                                    <p:set>
                                      <p:cBhvr>
                                        <p:cTn id="4832" dur="1" fill="hold">
                                          <p:stCondLst>
                                            <p:cond delay="399"/>
                                          </p:stCondLst>
                                        </p:cTn>
                                        <p:tgtEl>
                                          <p:spTgt spid="14"/>
                                        </p:tgtEl>
                                        <p:attrNameLst>
                                          <p:attrName>style.visibility</p:attrName>
                                        </p:attrNameLst>
                                      </p:cBhvr>
                                      <p:to>
                                        <p:strVal val="hidden"/>
                                      </p:to>
                                    </p:set>
                                  </p:childTnLst>
                                </p:cTn>
                              </p:par>
                              <p:par>
                                <p:cTn id="4833" presetID="10" presetClass="exit" presetSubtype="0" fill="hold" nodeType="withEffect">
                                  <p:stCondLst>
                                    <p:cond delay="0"/>
                                  </p:stCondLst>
                                  <p:childTnLst>
                                    <p:animEffect transition="out" filter="fade">
                                      <p:cBhvr>
                                        <p:cTn id="4834" dur="400"/>
                                        <p:tgtEl>
                                          <p:spTgt spid="15"/>
                                        </p:tgtEl>
                                      </p:cBhvr>
                                    </p:animEffect>
                                    <p:set>
                                      <p:cBhvr>
                                        <p:cTn id="4835" dur="1" fill="hold">
                                          <p:stCondLst>
                                            <p:cond delay="399"/>
                                          </p:stCondLst>
                                        </p:cTn>
                                        <p:tgtEl>
                                          <p:spTgt spid="15"/>
                                        </p:tgtEl>
                                        <p:attrNameLst>
                                          <p:attrName>style.visibility</p:attrName>
                                        </p:attrNameLst>
                                      </p:cBhvr>
                                      <p:to>
                                        <p:strVal val="hidden"/>
                                      </p:to>
                                    </p:set>
                                  </p:childTnLst>
                                </p:cTn>
                              </p:par>
                              <p:par>
                                <p:cTn id="4836" presetID="10" presetClass="exit" presetSubtype="0" fill="hold" nodeType="withEffect">
                                  <p:stCondLst>
                                    <p:cond delay="0"/>
                                  </p:stCondLst>
                                  <p:childTnLst>
                                    <p:animEffect transition="out" filter="fade">
                                      <p:cBhvr>
                                        <p:cTn id="4837" dur="400"/>
                                        <p:tgtEl>
                                          <p:spTgt spid="16"/>
                                        </p:tgtEl>
                                      </p:cBhvr>
                                    </p:animEffect>
                                    <p:set>
                                      <p:cBhvr>
                                        <p:cTn id="4838" dur="1" fill="hold">
                                          <p:stCondLst>
                                            <p:cond delay="399"/>
                                          </p:stCondLst>
                                        </p:cTn>
                                        <p:tgtEl>
                                          <p:spTgt spid="16"/>
                                        </p:tgtEl>
                                        <p:attrNameLst>
                                          <p:attrName>style.visibility</p:attrName>
                                        </p:attrNameLst>
                                      </p:cBhvr>
                                      <p:to>
                                        <p:strVal val="hidden"/>
                                      </p:to>
                                    </p:set>
                                  </p:childTnLst>
                                </p:cTn>
                              </p:par>
                              <p:par>
                                <p:cTn id="4839" presetID="10" presetClass="exit" presetSubtype="0" fill="hold" nodeType="withEffect">
                                  <p:stCondLst>
                                    <p:cond delay="0"/>
                                  </p:stCondLst>
                                  <p:childTnLst>
                                    <p:animEffect transition="out" filter="fade">
                                      <p:cBhvr>
                                        <p:cTn id="4840" dur="400"/>
                                        <p:tgtEl>
                                          <p:spTgt spid="43"/>
                                        </p:tgtEl>
                                      </p:cBhvr>
                                    </p:animEffect>
                                    <p:set>
                                      <p:cBhvr>
                                        <p:cTn id="4841" dur="1" fill="hold">
                                          <p:stCondLst>
                                            <p:cond delay="399"/>
                                          </p:stCondLst>
                                        </p:cTn>
                                        <p:tgtEl>
                                          <p:spTgt spid="43"/>
                                        </p:tgtEl>
                                        <p:attrNameLst>
                                          <p:attrName>style.visibility</p:attrName>
                                        </p:attrNameLst>
                                      </p:cBhvr>
                                      <p:to>
                                        <p:strVal val="hidden"/>
                                      </p:to>
                                    </p:set>
                                  </p:childTnLst>
                                </p:cTn>
                              </p:par>
                              <p:par>
                                <p:cTn id="4842" presetID="10" presetClass="exit" presetSubtype="0" fill="hold" nodeType="withEffect">
                                  <p:stCondLst>
                                    <p:cond delay="0"/>
                                  </p:stCondLst>
                                  <p:childTnLst>
                                    <p:animEffect transition="out" filter="fade">
                                      <p:cBhvr>
                                        <p:cTn id="4843" dur="400"/>
                                        <p:tgtEl>
                                          <p:spTgt spid="44"/>
                                        </p:tgtEl>
                                      </p:cBhvr>
                                    </p:animEffect>
                                    <p:set>
                                      <p:cBhvr>
                                        <p:cTn id="4844" dur="1" fill="hold">
                                          <p:stCondLst>
                                            <p:cond delay="399"/>
                                          </p:stCondLst>
                                        </p:cTn>
                                        <p:tgtEl>
                                          <p:spTgt spid="44"/>
                                        </p:tgtEl>
                                        <p:attrNameLst>
                                          <p:attrName>style.visibility</p:attrName>
                                        </p:attrNameLst>
                                      </p:cBhvr>
                                      <p:to>
                                        <p:strVal val="hidden"/>
                                      </p:to>
                                    </p:set>
                                  </p:childTnLst>
                                </p:cTn>
                              </p:par>
                              <p:par>
                                <p:cTn id="4845" presetID="22" presetClass="entr" presetSubtype="8" fill="hold" nodeType="withEffect">
                                  <p:stCondLst>
                                    <p:cond delay="200"/>
                                  </p:stCondLst>
                                  <p:childTnLst>
                                    <p:set>
                                      <p:cBhvr>
                                        <p:cTn id="4846" dur="1" fill="hold">
                                          <p:stCondLst>
                                            <p:cond delay="0"/>
                                          </p:stCondLst>
                                        </p:cTn>
                                        <p:tgtEl>
                                          <p:spTgt spid="17"/>
                                        </p:tgtEl>
                                        <p:attrNameLst>
                                          <p:attrName>style.visibility</p:attrName>
                                        </p:attrNameLst>
                                      </p:cBhvr>
                                      <p:to>
                                        <p:strVal val="visible"/>
                                      </p:to>
                                    </p:set>
                                    <p:animEffect transition="in" filter="wipe(left)">
                                      <p:cBhvr>
                                        <p:cTn id="4847" dur="500"/>
                                        <p:tgtEl>
                                          <p:spTgt spid="17"/>
                                        </p:tgtEl>
                                      </p:cBhvr>
                                    </p:animEffect>
                                  </p:childTnLst>
                                </p:cTn>
                              </p:par>
                              <p:par>
                                <p:cTn id="4848" presetID="22" presetClass="entr" presetSubtype="8" fill="hold" nodeType="withEffect">
                                  <p:stCondLst>
                                    <p:cond delay="270"/>
                                  </p:stCondLst>
                                  <p:childTnLst>
                                    <p:set>
                                      <p:cBhvr>
                                        <p:cTn id="4849" dur="1" fill="hold">
                                          <p:stCondLst>
                                            <p:cond delay="0"/>
                                          </p:stCondLst>
                                        </p:cTn>
                                        <p:tgtEl>
                                          <p:spTgt spid="18"/>
                                        </p:tgtEl>
                                        <p:attrNameLst>
                                          <p:attrName>style.visibility</p:attrName>
                                        </p:attrNameLst>
                                      </p:cBhvr>
                                      <p:to>
                                        <p:strVal val="visible"/>
                                      </p:to>
                                    </p:set>
                                    <p:animEffect transition="in" filter="wipe(left)">
                                      <p:cBhvr>
                                        <p:cTn id="4850" dur="500"/>
                                        <p:tgtEl>
                                          <p:spTgt spid="18"/>
                                        </p:tgtEl>
                                      </p:cBhvr>
                                    </p:animEffect>
                                  </p:childTnLst>
                                </p:cTn>
                              </p:par>
                              <p:par>
                                <p:cTn id="4851" presetID="22" presetClass="entr" presetSubtype="8" fill="hold" nodeType="withEffect">
                                  <p:stCondLst>
                                    <p:cond delay="340"/>
                                  </p:stCondLst>
                                  <p:childTnLst>
                                    <p:set>
                                      <p:cBhvr>
                                        <p:cTn id="4852" dur="1" fill="hold">
                                          <p:stCondLst>
                                            <p:cond delay="0"/>
                                          </p:stCondLst>
                                        </p:cTn>
                                        <p:tgtEl>
                                          <p:spTgt spid="19"/>
                                        </p:tgtEl>
                                        <p:attrNameLst>
                                          <p:attrName>style.visibility</p:attrName>
                                        </p:attrNameLst>
                                      </p:cBhvr>
                                      <p:to>
                                        <p:strVal val="visible"/>
                                      </p:to>
                                    </p:set>
                                    <p:animEffect transition="in" filter="wipe(left)">
                                      <p:cBhvr>
                                        <p:cTn id="4853" dur="500"/>
                                        <p:tgtEl>
                                          <p:spTgt spid="19"/>
                                        </p:tgtEl>
                                      </p:cBhvr>
                                    </p:animEffect>
                                  </p:childTnLst>
                                </p:cTn>
                              </p:par>
                              <p:par>
                                <p:cTn id="4854" presetID="22" presetClass="entr" presetSubtype="8" fill="hold" nodeType="withEffect">
                                  <p:stCondLst>
                                    <p:cond delay="410"/>
                                  </p:stCondLst>
                                  <p:childTnLst>
                                    <p:set>
                                      <p:cBhvr>
                                        <p:cTn id="4855" dur="1" fill="hold">
                                          <p:stCondLst>
                                            <p:cond delay="0"/>
                                          </p:stCondLst>
                                        </p:cTn>
                                        <p:tgtEl>
                                          <p:spTgt spid="20"/>
                                        </p:tgtEl>
                                        <p:attrNameLst>
                                          <p:attrName>style.visibility</p:attrName>
                                        </p:attrNameLst>
                                      </p:cBhvr>
                                      <p:to>
                                        <p:strVal val="visible"/>
                                      </p:to>
                                    </p:set>
                                    <p:animEffect transition="in" filter="wipe(left)">
                                      <p:cBhvr>
                                        <p:cTn id="4856" dur="500"/>
                                        <p:tgtEl>
                                          <p:spTgt spid="20"/>
                                        </p:tgtEl>
                                      </p:cBhvr>
                                    </p:animEffect>
                                  </p:childTnLst>
                                </p:cTn>
                              </p:par>
                              <p:par>
                                <p:cTn id="4857" presetID="22" presetClass="entr" presetSubtype="8" fill="hold" nodeType="withEffect">
                                  <p:stCondLst>
                                    <p:cond delay="480"/>
                                  </p:stCondLst>
                                  <p:childTnLst>
                                    <p:set>
                                      <p:cBhvr>
                                        <p:cTn id="4858" dur="1" fill="hold">
                                          <p:stCondLst>
                                            <p:cond delay="0"/>
                                          </p:stCondLst>
                                        </p:cTn>
                                        <p:tgtEl>
                                          <p:spTgt spid="21"/>
                                        </p:tgtEl>
                                        <p:attrNameLst>
                                          <p:attrName>style.visibility</p:attrName>
                                        </p:attrNameLst>
                                      </p:cBhvr>
                                      <p:to>
                                        <p:strVal val="visible"/>
                                      </p:to>
                                    </p:set>
                                    <p:animEffect transition="in" filter="wipe(left)">
                                      <p:cBhvr>
                                        <p:cTn id="4859" dur="500"/>
                                        <p:tgtEl>
                                          <p:spTgt spid="21"/>
                                        </p:tgtEl>
                                      </p:cBhvr>
                                    </p:animEffect>
                                  </p:childTnLst>
                                </p:cTn>
                              </p:par>
                              <p:par>
                                <p:cTn id="4860" presetID="22" presetClass="entr" presetSubtype="8" fill="hold" nodeType="withEffect">
                                  <p:stCondLst>
                                    <p:cond delay="550"/>
                                  </p:stCondLst>
                                  <p:childTnLst>
                                    <p:set>
                                      <p:cBhvr>
                                        <p:cTn id="4861" dur="1" fill="hold">
                                          <p:stCondLst>
                                            <p:cond delay="0"/>
                                          </p:stCondLst>
                                        </p:cTn>
                                        <p:tgtEl>
                                          <p:spTgt spid="22"/>
                                        </p:tgtEl>
                                        <p:attrNameLst>
                                          <p:attrName>style.visibility</p:attrName>
                                        </p:attrNameLst>
                                      </p:cBhvr>
                                      <p:to>
                                        <p:strVal val="visible"/>
                                      </p:to>
                                    </p:set>
                                    <p:animEffect transition="in" filter="wipe(left)">
                                      <p:cBhvr>
                                        <p:cTn id="4862" dur="500"/>
                                        <p:tgtEl>
                                          <p:spTgt spid="22"/>
                                        </p:tgtEl>
                                      </p:cBhvr>
                                    </p:animEffect>
                                  </p:childTnLst>
                                </p:cTn>
                              </p:par>
                              <p:par>
                                <p:cTn id="4863" presetID="22" presetClass="entr" presetSubtype="8" fill="hold" nodeType="withEffect">
                                  <p:stCondLst>
                                    <p:cond delay="620"/>
                                  </p:stCondLst>
                                  <p:childTnLst>
                                    <p:set>
                                      <p:cBhvr>
                                        <p:cTn id="4864" dur="1" fill="hold">
                                          <p:stCondLst>
                                            <p:cond delay="0"/>
                                          </p:stCondLst>
                                        </p:cTn>
                                        <p:tgtEl>
                                          <p:spTgt spid="23"/>
                                        </p:tgtEl>
                                        <p:attrNameLst>
                                          <p:attrName>style.visibility</p:attrName>
                                        </p:attrNameLst>
                                      </p:cBhvr>
                                      <p:to>
                                        <p:strVal val="visible"/>
                                      </p:to>
                                    </p:set>
                                    <p:animEffect transition="in" filter="wipe(left)">
                                      <p:cBhvr>
                                        <p:cTn id="4865" dur="500"/>
                                        <p:tgtEl>
                                          <p:spTgt spid="23"/>
                                        </p:tgtEl>
                                      </p:cBhvr>
                                    </p:animEffect>
                                  </p:childTnLst>
                                </p:cTn>
                              </p:par>
                              <p:par>
                                <p:cTn id="4866" presetID="22" presetClass="entr" presetSubtype="8" fill="hold" nodeType="withEffect">
                                  <p:stCondLst>
                                    <p:cond delay="690"/>
                                  </p:stCondLst>
                                  <p:childTnLst>
                                    <p:set>
                                      <p:cBhvr>
                                        <p:cTn id="4867" dur="1" fill="hold">
                                          <p:stCondLst>
                                            <p:cond delay="0"/>
                                          </p:stCondLst>
                                        </p:cTn>
                                        <p:tgtEl>
                                          <p:spTgt spid="24"/>
                                        </p:tgtEl>
                                        <p:attrNameLst>
                                          <p:attrName>style.visibility</p:attrName>
                                        </p:attrNameLst>
                                      </p:cBhvr>
                                      <p:to>
                                        <p:strVal val="visible"/>
                                      </p:to>
                                    </p:set>
                                    <p:animEffect transition="in" filter="wipe(left)">
                                      <p:cBhvr>
                                        <p:cTn id="4868" dur="500"/>
                                        <p:tgtEl>
                                          <p:spTgt spid="24"/>
                                        </p:tgtEl>
                                      </p:cBhvr>
                                    </p:animEffect>
                                  </p:childTnLst>
                                </p:cTn>
                              </p:par>
                              <p:par>
                                <p:cTn id="4869" presetID="22" presetClass="entr" presetSubtype="8" fill="hold" nodeType="withEffect">
                                  <p:stCondLst>
                                    <p:cond delay="760"/>
                                  </p:stCondLst>
                                  <p:childTnLst>
                                    <p:set>
                                      <p:cBhvr>
                                        <p:cTn id="4870" dur="1" fill="hold">
                                          <p:stCondLst>
                                            <p:cond delay="0"/>
                                          </p:stCondLst>
                                        </p:cTn>
                                        <p:tgtEl>
                                          <p:spTgt spid="25"/>
                                        </p:tgtEl>
                                        <p:attrNameLst>
                                          <p:attrName>style.visibility</p:attrName>
                                        </p:attrNameLst>
                                      </p:cBhvr>
                                      <p:to>
                                        <p:strVal val="visible"/>
                                      </p:to>
                                    </p:set>
                                    <p:animEffect transition="in" filter="wipe(left)">
                                      <p:cBhvr>
                                        <p:cTn id="4871" dur="500"/>
                                        <p:tgtEl>
                                          <p:spTgt spid="25"/>
                                        </p:tgtEl>
                                      </p:cBhvr>
                                    </p:animEffect>
                                  </p:childTnLst>
                                </p:cTn>
                              </p:par>
                              <p:par>
                                <p:cTn id="4872" presetID="22" presetClass="entr" presetSubtype="8" fill="hold" nodeType="withEffect">
                                  <p:stCondLst>
                                    <p:cond delay="830"/>
                                  </p:stCondLst>
                                  <p:childTnLst>
                                    <p:set>
                                      <p:cBhvr>
                                        <p:cTn id="4873" dur="1" fill="hold">
                                          <p:stCondLst>
                                            <p:cond delay="0"/>
                                          </p:stCondLst>
                                        </p:cTn>
                                        <p:tgtEl>
                                          <p:spTgt spid="26"/>
                                        </p:tgtEl>
                                        <p:attrNameLst>
                                          <p:attrName>style.visibility</p:attrName>
                                        </p:attrNameLst>
                                      </p:cBhvr>
                                      <p:to>
                                        <p:strVal val="visible"/>
                                      </p:to>
                                    </p:set>
                                    <p:animEffect transition="in" filter="wipe(left)">
                                      <p:cBhvr>
                                        <p:cTn id="4874" dur="500"/>
                                        <p:tgtEl>
                                          <p:spTgt spid="26"/>
                                        </p:tgtEl>
                                      </p:cBhvr>
                                    </p:animEffect>
                                  </p:childTnLst>
                                </p:cTn>
                              </p:par>
                              <p:par>
                                <p:cTn id="4875" presetID="22" presetClass="entr" presetSubtype="8" fill="hold" nodeType="withEffect">
                                  <p:stCondLst>
                                    <p:cond delay="900"/>
                                  </p:stCondLst>
                                  <p:childTnLst>
                                    <p:set>
                                      <p:cBhvr>
                                        <p:cTn id="4876" dur="1" fill="hold">
                                          <p:stCondLst>
                                            <p:cond delay="0"/>
                                          </p:stCondLst>
                                        </p:cTn>
                                        <p:tgtEl>
                                          <p:spTgt spid="27"/>
                                        </p:tgtEl>
                                        <p:attrNameLst>
                                          <p:attrName>style.visibility</p:attrName>
                                        </p:attrNameLst>
                                      </p:cBhvr>
                                      <p:to>
                                        <p:strVal val="visible"/>
                                      </p:to>
                                    </p:set>
                                    <p:animEffect transition="in" filter="wipe(left)">
                                      <p:cBhvr>
                                        <p:cTn id="4877" dur="500"/>
                                        <p:tgtEl>
                                          <p:spTgt spid="27"/>
                                        </p:tgtEl>
                                      </p:cBhvr>
                                    </p:animEffect>
                                  </p:childTnLst>
                                </p:cTn>
                              </p:par>
                              <p:par>
                                <p:cTn id="4878" presetID="22" presetClass="entr" presetSubtype="8" fill="hold" nodeType="withEffect">
                                  <p:stCondLst>
                                    <p:cond delay="900"/>
                                  </p:stCondLst>
                                  <p:childTnLst>
                                    <p:set>
                                      <p:cBhvr>
                                        <p:cTn id="4879" dur="1" fill="hold">
                                          <p:stCondLst>
                                            <p:cond delay="0"/>
                                          </p:stCondLst>
                                        </p:cTn>
                                        <p:tgtEl>
                                          <p:spTgt spid="28"/>
                                        </p:tgtEl>
                                        <p:attrNameLst>
                                          <p:attrName>style.visibility</p:attrName>
                                        </p:attrNameLst>
                                      </p:cBhvr>
                                      <p:to>
                                        <p:strVal val="visible"/>
                                      </p:to>
                                    </p:set>
                                    <p:animEffect transition="in" filter="wipe(left)">
                                      <p:cBhvr>
                                        <p:cTn id="4880" dur="500"/>
                                        <p:tgtEl>
                                          <p:spTgt spid="28"/>
                                        </p:tgtEl>
                                      </p:cBhvr>
                                    </p:animEffect>
                                  </p:childTnLst>
                                </p:cTn>
                              </p:par>
                              <p:par>
                                <p:cTn id="4881" presetID="22" presetClass="entr" presetSubtype="8" fill="hold" nodeType="withEffect">
                                  <p:stCondLst>
                                    <p:cond delay="900"/>
                                  </p:stCondLst>
                                  <p:childTnLst>
                                    <p:set>
                                      <p:cBhvr>
                                        <p:cTn id="4882" dur="1" fill="hold">
                                          <p:stCondLst>
                                            <p:cond delay="0"/>
                                          </p:stCondLst>
                                        </p:cTn>
                                        <p:tgtEl>
                                          <p:spTgt spid="29"/>
                                        </p:tgtEl>
                                        <p:attrNameLst>
                                          <p:attrName>style.visibility</p:attrName>
                                        </p:attrNameLst>
                                      </p:cBhvr>
                                      <p:to>
                                        <p:strVal val="visible"/>
                                      </p:to>
                                    </p:set>
                                    <p:animEffect transition="in" filter="wipe(left)">
                                      <p:cBhvr>
                                        <p:cTn id="4883" dur="500"/>
                                        <p:tgtEl>
                                          <p:spTgt spid="29"/>
                                        </p:tgtEl>
                                      </p:cBhvr>
                                    </p:animEffect>
                                  </p:childTnLst>
                                </p:cTn>
                              </p:par>
                              <p:par>
                                <p:cTn id="4884" presetID="22" presetClass="entr" presetSubtype="8" fill="hold" nodeType="withEffect">
                                  <p:stCondLst>
                                    <p:cond delay="900"/>
                                  </p:stCondLst>
                                  <p:childTnLst>
                                    <p:set>
                                      <p:cBhvr>
                                        <p:cTn id="4885" dur="1" fill="hold">
                                          <p:stCondLst>
                                            <p:cond delay="0"/>
                                          </p:stCondLst>
                                        </p:cTn>
                                        <p:tgtEl>
                                          <p:spTgt spid="30"/>
                                        </p:tgtEl>
                                        <p:attrNameLst>
                                          <p:attrName>style.visibility</p:attrName>
                                        </p:attrNameLst>
                                      </p:cBhvr>
                                      <p:to>
                                        <p:strVal val="visible"/>
                                      </p:to>
                                    </p:set>
                                    <p:animEffect transition="in" filter="wipe(left)">
                                      <p:cBhvr>
                                        <p:cTn id="4886" dur="500"/>
                                        <p:tgtEl>
                                          <p:spTgt spid="30"/>
                                        </p:tgtEl>
                                      </p:cBhvr>
                                    </p:animEffect>
                                  </p:childTnLst>
                                </p:cTn>
                              </p:par>
                              <p:par>
                                <p:cTn id="4887" presetID="22" presetClass="entr" presetSubtype="8" fill="hold" nodeType="withEffect">
                                  <p:stCondLst>
                                    <p:cond delay="900"/>
                                  </p:stCondLst>
                                  <p:childTnLst>
                                    <p:set>
                                      <p:cBhvr>
                                        <p:cTn id="4888" dur="1" fill="hold">
                                          <p:stCondLst>
                                            <p:cond delay="0"/>
                                          </p:stCondLst>
                                        </p:cTn>
                                        <p:tgtEl>
                                          <p:spTgt spid="45"/>
                                        </p:tgtEl>
                                        <p:attrNameLst>
                                          <p:attrName>style.visibility</p:attrName>
                                        </p:attrNameLst>
                                      </p:cBhvr>
                                      <p:to>
                                        <p:strVal val="visible"/>
                                      </p:to>
                                    </p:set>
                                    <p:animEffect transition="in" filter="wipe(left)">
                                      <p:cBhvr>
                                        <p:cTn id="4889" dur="500"/>
                                        <p:tgtEl>
                                          <p:spTgt spid="45"/>
                                        </p:tgtEl>
                                      </p:cBhvr>
                                    </p:animEffect>
                                  </p:childTnLst>
                                </p:cTn>
                              </p:par>
                              <p:par>
                                <p:cTn id="4890" presetID="22" presetClass="entr" presetSubtype="8" fill="hold" nodeType="withEffect">
                                  <p:stCondLst>
                                    <p:cond delay="900"/>
                                  </p:stCondLst>
                                  <p:childTnLst>
                                    <p:set>
                                      <p:cBhvr>
                                        <p:cTn id="4891" dur="1" fill="hold">
                                          <p:stCondLst>
                                            <p:cond delay="0"/>
                                          </p:stCondLst>
                                        </p:cTn>
                                        <p:tgtEl>
                                          <p:spTgt spid="46"/>
                                        </p:tgtEl>
                                        <p:attrNameLst>
                                          <p:attrName>style.visibility</p:attrName>
                                        </p:attrNameLst>
                                      </p:cBhvr>
                                      <p:to>
                                        <p:strVal val="visible"/>
                                      </p:to>
                                    </p:set>
                                    <p:animEffect transition="in" filter="wipe(left)">
                                      <p:cBhvr>
                                        <p:cTn id="4892" dur="500"/>
                                        <p:tgtEl>
                                          <p:spTgt spid="46"/>
                                        </p:tgtEl>
                                      </p:cBhvr>
                                    </p:animEffect>
                                  </p:childTnLst>
                                </p:cTn>
                              </p:par>
                            </p:childTnLst>
                          </p:cTn>
                        </p:par>
                      </p:childTnLst>
                    </p:cTn>
                  </p:par>
                  <p:par>
                    <p:cTn id="4979" fill="hold">
                      <p:stCondLst>
                        <p:cond delay="indefinite"/>
                      </p:stCondLst>
                      <p:childTnLst>
                        <p:par>
                          <p:cTn id="4980" fill="hold">
                            <p:stCondLst>
                              <p:cond delay="0"/>
                            </p:stCondLst>
                            <p:childTnLst>
                              <p:par>
                                <p:cTn id="4895" presetID="10" presetClass="exit" presetSubtype="0" fill="hold" nodeType="clickEffect">
                                  <p:stCondLst>
                                    <p:cond delay="0"/>
                                  </p:stCondLst>
                                  <p:childTnLst>
                                    <p:animEffect transition="out" filter="fade">
                                      <p:cBhvr>
                                        <p:cTn id="4896" dur="400"/>
                                        <p:tgtEl>
                                          <p:spTgt spid="17"/>
                                        </p:tgtEl>
                                      </p:cBhvr>
                                    </p:animEffect>
                                    <p:set>
                                      <p:cBhvr>
                                        <p:cTn id="4897" dur="1" fill="hold">
                                          <p:stCondLst>
                                            <p:cond delay="399"/>
                                          </p:stCondLst>
                                        </p:cTn>
                                        <p:tgtEl>
                                          <p:spTgt spid="17"/>
                                        </p:tgtEl>
                                        <p:attrNameLst>
                                          <p:attrName>style.visibility</p:attrName>
                                        </p:attrNameLst>
                                      </p:cBhvr>
                                      <p:to>
                                        <p:strVal val="hidden"/>
                                      </p:to>
                                    </p:set>
                                  </p:childTnLst>
                                </p:cTn>
                              </p:par>
                              <p:par>
                                <p:cTn id="4898" presetID="10" presetClass="exit" presetSubtype="0" fill="hold" nodeType="withEffect">
                                  <p:stCondLst>
                                    <p:cond delay="0"/>
                                  </p:stCondLst>
                                  <p:childTnLst>
                                    <p:animEffect transition="out" filter="fade">
                                      <p:cBhvr>
                                        <p:cTn id="4899" dur="400"/>
                                        <p:tgtEl>
                                          <p:spTgt spid="18"/>
                                        </p:tgtEl>
                                      </p:cBhvr>
                                    </p:animEffect>
                                    <p:set>
                                      <p:cBhvr>
                                        <p:cTn id="4900" dur="1" fill="hold">
                                          <p:stCondLst>
                                            <p:cond delay="399"/>
                                          </p:stCondLst>
                                        </p:cTn>
                                        <p:tgtEl>
                                          <p:spTgt spid="18"/>
                                        </p:tgtEl>
                                        <p:attrNameLst>
                                          <p:attrName>style.visibility</p:attrName>
                                        </p:attrNameLst>
                                      </p:cBhvr>
                                      <p:to>
                                        <p:strVal val="hidden"/>
                                      </p:to>
                                    </p:set>
                                  </p:childTnLst>
                                </p:cTn>
                              </p:par>
                              <p:par>
                                <p:cTn id="4901" presetID="10" presetClass="exit" presetSubtype="0" fill="hold" nodeType="withEffect">
                                  <p:stCondLst>
                                    <p:cond delay="0"/>
                                  </p:stCondLst>
                                  <p:childTnLst>
                                    <p:animEffect transition="out" filter="fade">
                                      <p:cBhvr>
                                        <p:cTn id="4902" dur="400"/>
                                        <p:tgtEl>
                                          <p:spTgt spid="19"/>
                                        </p:tgtEl>
                                      </p:cBhvr>
                                    </p:animEffect>
                                    <p:set>
                                      <p:cBhvr>
                                        <p:cTn id="4903" dur="1" fill="hold">
                                          <p:stCondLst>
                                            <p:cond delay="399"/>
                                          </p:stCondLst>
                                        </p:cTn>
                                        <p:tgtEl>
                                          <p:spTgt spid="19"/>
                                        </p:tgtEl>
                                        <p:attrNameLst>
                                          <p:attrName>style.visibility</p:attrName>
                                        </p:attrNameLst>
                                      </p:cBhvr>
                                      <p:to>
                                        <p:strVal val="hidden"/>
                                      </p:to>
                                    </p:set>
                                  </p:childTnLst>
                                </p:cTn>
                              </p:par>
                              <p:par>
                                <p:cTn id="4904" presetID="10" presetClass="exit" presetSubtype="0" fill="hold" nodeType="withEffect">
                                  <p:stCondLst>
                                    <p:cond delay="0"/>
                                  </p:stCondLst>
                                  <p:childTnLst>
                                    <p:animEffect transition="out" filter="fade">
                                      <p:cBhvr>
                                        <p:cTn id="4905" dur="400"/>
                                        <p:tgtEl>
                                          <p:spTgt spid="20"/>
                                        </p:tgtEl>
                                      </p:cBhvr>
                                    </p:animEffect>
                                    <p:set>
                                      <p:cBhvr>
                                        <p:cTn id="4906" dur="1" fill="hold">
                                          <p:stCondLst>
                                            <p:cond delay="399"/>
                                          </p:stCondLst>
                                        </p:cTn>
                                        <p:tgtEl>
                                          <p:spTgt spid="20"/>
                                        </p:tgtEl>
                                        <p:attrNameLst>
                                          <p:attrName>style.visibility</p:attrName>
                                        </p:attrNameLst>
                                      </p:cBhvr>
                                      <p:to>
                                        <p:strVal val="hidden"/>
                                      </p:to>
                                    </p:set>
                                  </p:childTnLst>
                                </p:cTn>
                              </p:par>
                              <p:par>
                                <p:cTn id="4907" presetID="10" presetClass="exit" presetSubtype="0" fill="hold" nodeType="withEffect">
                                  <p:stCondLst>
                                    <p:cond delay="0"/>
                                  </p:stCondLst>
                                  <p:childTnLst>
                                    <p:animEffect transition="out" filter="fade">
                                      <p:cBhvr>
                                        <p:cTn id="4908" dur="400"/>
                                        <p:tgtEl>
                                          <p:spTgt spid="21"/>
                                        </p:tgtEl>
                                      </p:cBhvr>
                                    </p:animEffect>
                                    <p:set>
                                      <p:cBhvr>
                                        <p:cTn id="4909" dur="1" fill="hold">
                                          <p:stCondLst>
                                            <p:cond delay="399"/>
                                          </p:stCondLst>
                                        </p:cTn>
                                        <p:tgtEl>
                                          <p:spTgt spid="21"/>
                                        </p:tgtEl>
                                        <p:attrNameLst>
                                          <p:attrName>style.visibility</p:attrName>
                                        </p:attrNameLst>
                                      </p:cBhvr>
                                      <p:to>
                                        <p:strVal val="hidden"/>
                                      </p:to>
                                    </p:set>
                                  </p:childTnLst>
                                </p:cTn>
                              </p:par>
                              <p:par>
                                <p:cTn id="4910" presetID="10" presetClass="exit" presetSubtype="0" fill="hold" nodeType="withEffect">
                                  <p:stCondLst>
                                    <p:cond delay="0"/>
                                  </p:stCondLst>
                                  <p:childTnLst>
                                    <p:animEffect transition="out" filter="fade">
                                      <p:cBhvr>
                                        <p:cTn id="4911" dur="400"/>
                                        <p:tgtEl>
                                          <p:spTgt spid="22"/>
                                        </p:tgtEl>
                                      </p:cBhvr>
                                    </p:animEffect>
                                    <p:set>
                                      <p:cBhvr>
                                        <p:cTn id="4912" dur="1" fill="hold">
                                          <p:stCondLst>
                                            <p:cond delay="399"/>
                                          </p:stCondLst>
                                        </p:cTn>
                                        <p:tgtEl>
                                          <p:spTgt spid="22"/>
                                        </p:tgtEl>
                                        <p:attrNameLst>
                                          <p:attrName>style.visibility</p:attrName>
                                        </p:attrNameLst>
                                      </p:cBhvr>
                                      <p:to>
                                        <p:strVal val="hidden"/>
                                      </p:to>
                                    </p:set>
                                  </p:childTnLst>
                                </p:cTn>
                              </p:par>
                              <p:par>
                                <p:cTn id="4913" presetID="10" presetClass="exit" presetSubtype="0" fill="hold" nodeType="withEffect">
                                  <p:stCondLst>
                                    <p:cond delay="0"/>
                                  </p:stCondLst>
                                  <p:childTnLst>
                                    <p:animEffect transition="out" filter="fade">
                                      <p:cBhvr>
                                        <p:cTn id="4914" dur="400"/>
                                        <p:tgtEl>
                                          <p:spTgt spid="23"/>
                                        </p:tgtEl>
                                      </p:cBhvr>
                                    </p:animEffect>
                                    <p:set>
                                      <p:cBhvr>
                                        <p:cTn id="4915" dur="1" fill="hold">
                                          <p:stCondLst>
                                            <p:cond delay="399"/>
                                          </p:stCondLst>
                                        </p:cTn>
                                        <p:tgtEl>
                                          <p:spTgt spid="23"/>
                                        </p:tgtEl>
                                        <p:attrNameLst>
                                          <p:attrName>style.visibility</p:attrName>
                                        </p:attrNameLst>
                                      </p:cBhvr>
                                      <p:to>
                                        <p:strVal val="hidden"/>
                                      </p:to>
                                    </p:set>
                                  </p:childTnLst>
                                </p:cTn>
                              </p:par>
                              <p:par>
                                <p:cTn id="4916" presetID="10" presetClass="exit" presetSubtype="0" fill="hold" nodeType="withEffect">
                                  <p:stCondLst>
                                    <p:cond delay="0"/>
                                  </p:stCondLst>
                                  <p:childTnLst>
                                    <p:animEffect transition="out" filter="fade">
                                      <p:cBhvr>
                                        <p:cTn id="4917" dur="400"/>
                                        <p:tgtEl>
                                          <p:spTgt spid="24"/>
                                        </p:tgtEl>
                                      </p:cBhvr>
                                    </p:animEffect>
                                    <p:set>
                                      <p:cBhvr>
                                        <p:cTn id="4918" dur="1" fill="hold">
                                          <p:stCondLst>
                                            <p:cond delay="399"/>
                                          </p:stCondLst>
                                        </p:cTn>
                                        <p:tgtEl>
                                          <p:spTgt spid="24"/>
                                        </p:tgtEl>
                                        <p:attrNameLst>
                                          <p:attrName>style.visibility</p:attrName>
                                        </p:attrNameLst>
                                      </p:cBhvr>
                                      <p:to>
                                        <p:strVal val="hidden"/>
                                      </p:to>
                                    </p:set>
                                  </p:childTnLst>
                                </p:cTn>
                              </p:par>
                              <p:par>
                                <p:cTn id="4919" presetID="10" presetClass="exit" presetSubtype="0" fill="hold" nodeType="withEffect">
                                  <p:stCondLst>
                                    <p:cond delay="0"/>
                                  </p:stCondLst>
                                  <p:childTnLst>
                                    <p:animEffect transition="out" filter="fade">
                                      <p:cBhvr>
                                        <p:cTn id="4920" dur="400"/>
                                        <p:tgtEl>
                                          <p:spTgt spid="25"/>
                                        </p:tgtEl>
                                      </p:cBhvr>
                                    </p:animEffect>
                                    <p:set>
                                      <p:cBhvr>
                                        <p:cTn id="4921" dur="1" fill="hold">
                                          <p:stCondLst>
                                            <p:cond delay="399"/>
                                          </p:stCondLst>
                                        </p:cTn>
                                        <p:tgtEl>
                                          <p:spTgt spid="25"/>
                                        </p:tgtEl>
                                        <p:attrNameLst>
                                          <p:attrName>style.visibility</p:attrName>
                                        </p:attrNameLst>
                                      </p:cBhvr>
                                      <p:to>
                                        <p:strVal val="hidden"/>
                                      </p:to>
                                    </p:set>
                                  </p:childTnLst>
                                </p:cTn>
                              </p:par>
                              <p:par>
                                <p:cTn id="4922" presetID="10" presetClass="exit" presetSubtype="0" fill="hold" nodeType="withEffect">
                                  <p:stCondLst>
                                    <p:cond delay="0"/>
                                  </p:stCondLst>
                                  <p:childTnLst>
                                    <p:animEffect transition="out" filter="fade">
                                      <p:cBhvr>
                                        <p:cTn id="4923" dur="400"/>
                                        <p:tgtEl>
                                          <p:spTgt spid="26"/>
                                        </p:tgtEl>
                                      </p:cBhvr>
                                    </p:animEffect>
                                    <p:set>
                                      <p:cBhvr>
                                        <p:cTn id="4924" dur="1" fill="hold">
                                          <p:stCondLst>
                                            <p:cond delay="399"/>
                                          </p:stCondLst>
                                        </p:cTn>
                                        <p:tgtEl>
                                          <p:spTgt spid="26"/>
                                        </p:tgtEl>
                                        <p:attrNameLst>
                                          <p:attrName>style.visibility</p:attrName>
                                        </p:attrNameLst>
                                      </p:cBhvr>
                                      <p:to>
                                        <p:strVal val="hidden"/>
                                      </p:to>
                                    </p:set>
                                  </p:childTnLst>
                                </p:cTn>
                              </p:par>
                              <p:par>
                                <p:cTn id="4925" presetID="10" presetClass="exit" presetSubtype="0" fill="hold" nodeType="withEffect">
                                  <p:stCondLst>
                                    <p:cond delay="0"/>
                                  </p:stCondLst>
                                  <p:childTnLst>
                                    <p:animEffect transition="out" filter="fade">
                                      <p:cBhvr>
                                        <p:cTn id="4926" dur="400"/>
                                        <p:tgtEl>
                                          <p:spTgt spid="27"/>
                                        </p:tgtEl>
                                      </p:cBhvr>
                                    </p:animEffect>
                                    <p:set>
                                      <p:cBhvr>
                                        <p:cTn id="4927" dur="1" fill="hold">
                                          <p:stCondLst>
                                            <p:cond delay="399"/>
                                          </p:stCondLst>
                                        </p:cTn>
                                        <p:tgtEl>
                                          <p:spTgt spid="27"/>
                                        </p:tgtEl>
                                        <p:attrNameLst>
                                          <p:attrName>style.visibility</p:attrName>
                                        </p:attrNameLst>
                                      </p:cBhvr>
                                      <p:to>
                                        <p:strVal val="hidden"/>
                                      </p:to>
                                    </p:set>
                                  </p:childTnLst>
                                </p:cTn>
                              </p:par>
                              <p:par>
                                <p:cTn id="4928" presetID="10" presetClass="exit" presetSubtype="0" fill="hold" nodeType="withEffect">
                                  <p:stCondLst>
                                    <p:cond delay="0"/>
                                  </p:stCondLst>
                                  <p:childTnLst>
                                    <p:animEffect transition="out" filter="fade">
                                      <p:cBhvr>
                                        <p:cTn id="4929" dur="400"/>
                                        <p:tgtEl>
                                          <p:spTgt spid="28"/>
                                        </p:tgtEl>
                                      </p:cBhvr>
                                    </p:animEffect>
                                    <p:set>
                                      <p:cBhvr>
                                        <p:cTn id="4930" dur="1" fill="hold">
                                          <p:stCondLst>
                                            <p:cond delay="399"/>
                                          </p:stCondLst>
                                        </p:cTn>
                                        <p:tgtEl>
                                          <p:spTgt spid="28"/>
                                        </p:tgtEl>
                                        <p:attrNameLst>
                                          <p:attrName>style.visibility</p:attrName>
                                        </p:attrNameLst>
                                      </p:cBhvr>
                                      <p:to>
                                        <p:strVal val="hidden"/>
                                      </p:to>
                                    </p:set>
                                  </p:childTnLst>
                                </p:cTn>
                              </p:par>
                              <p:par>
                                <p:cTn id="4931" presetID="10" presetClass="exit" presetSubtype="0" fill="hold" nodeType="withEffect">
                                  <p:stCondLst>
                                    <p:cond delay="0"/>
                                  </p:stCondLst>
                                  <p:childTnLst>
                                    <p:animEffect transition="out" filter="fade">
                                      <p:cBhvr>
                                        <p:cTn id="4932" dur="400"/>
                                        <p:tgtEl>
                                          <p:spTgt spid="29"/>
                                        </p:tgtEl>
                                      </p:cBhvr>
                                    </p:animEffect>
                                    <p:set>
                                      <p:cBhvr>
                                        <p:cTn id="4933" dur="1" fill="hold">
                                          <p:stCondLst>
                                            <p:cond delay="399"/>
                                          </p:stCondLst>
                                        </p:cTn>
                                        <p:tgtEl>
                                          <p:spTgt spid="29"/>
                                        </p:tgtEl>
                                        <p:attrNameLst>
                                          <p:attrName>style.visibility</p:attrName>
                                        </p:attrNameLst>
                                      </p:cBhvr>
                                      <p:to>
                                        <p:strVal val="hidden"/>
                                      </p:to>
                                    </p:set>
                                  </p:childTnLst>
                                </p:cTn>
                              </p:par>
                              <p:par>
                                <p:cTn id="4934" presetID="10" presetClass="exit" presetSubtype="0" fill="hold" nodeType="withEffect">
                                  <p:stCondLst>
                                    <p:cond delay="0"/>
                                  </p:stCondLst>
                                  <p:childTnLst>
                                    <p:animEffect transition="out" filter="fade">
                                      <p:cBhvr>
                                        <p:cTn id="4935" dur="400"/>
                                        <p:tgtEl>
                                          <p:spTgt spid="30"/>
                                        </p:tgtEl>
                                      </p:cBhvr>
                                    </p:animEffect>
                                    <p:set>
                                      <p:cBhvr>
                                        <p:cTn id="4936" dur="1" fill="hold">
                                          <p:stCondLst>
                                            <p:cond delay="399"/>
                                          </p:stCondLst>
                                        </p:cTn>
                                        <p:tgtEl>
                                          <p:spTgt spid="30"/>
                                        </p:tgtEl>
                                        <p:attrNameLst>
                                          <p:attrName>style.visibility</p:attrName>
                                        </p:attrNameLst>
                                      </p:cBhvr>
                                      <p:to>
                                        <p:strVal val="hidden"/>
                                      </p:to>
                                    </p:set>
                                  </p:childTnLst>
                                </p:cTn>
                              </p:par>
                              <p:par>
                                <p:cTn id="4937" presetID="10" presetClass="exit" presetSubtype="0" fill="hold" nodeType="withEffect">
                                  <p:stCondLst>
                                    <p:cond delay="0"/>
                                  </p:stCondLst>
                                  <p:childTnLst>
                                    <p:animEffect transition="out" filter="fade">
                                      <p:cBhvr>
                                        <p:cTn id="4938" dur="400"/>
                                        <p:tgtEl>
                                          <p:spTgt spid="45"/>
                                        </p:tgtEl>
                                      </p:cBhvr>
                                    </p:animEffect>
                                    <p:set>
                                      <p:cBhvr>
                                        <p:cTn id="4939" dur="1" fill="hold">
                                          <p:stCondLst>
                                            <p:cond delay="399"/>
                                          </p:stCondLst>
                                        </p:cTn>
                                        <p:tgtEl>
                                          <p:spTgt spid="45"/>
                                        </p:tgtEl>
                                        <p:attrNameLst>
                                          <p:attrName>style.visibility</p:attrName>
                                        </p:attrNameLst>
                                      </p:cBhvr>
                                      <p:to>
                                        <p:strVal val="hidden"/>
                                      </p:to>
                                    </p:set>
                                  </p:childTnLst>
                                </p:cTn>
                              </p:par>
                              <p:par>
                                <p:cTn id="4940" presetID="10" presetClass="exit" presetSubtype="0" fill="hold" nodeType="withEffect">
                                  <p:stCondLst>
                                    <p:cond delay="0"/>
                                  </p:stCondLst>
                                  <p:childTnLst>
                                    <p:animEffect transition="out" filter="fade">
                                      <p:cBhvr>
                                        <p:cTn id="4941" dur="400"/>
                                        <p:tgtEl>
                                          <p:spTgt spid="46"/>
                                        </p:tgtEl>
                                      </p:cBhvr>
                                    </p:animEffect>
                                    <p:set>
                                      <p:cBhvr>
                                        <p:cTn id="4942" dur="1" fill="hold">
                                          <p:stCondLst>
                                            <p:cond delay="399"/>
                                          </p:stCondLst>
                                        </p:cTn>
                                        <p:tgtEl>
                                          <p:spTgt spid="46"/>
                                        </p:tgtEl>
                                        <p:attrNameLst>
                                          <p:attrName>style.visibility</p:attrName>
                                        </p:attrNameLst>
                                      </p:cBhvr>
                                      <p:to>
                                        <p:strVal val="hidden"/>
                                      </p:to>
                                    </p:set>
                                  </p:childTnLst>
                                </p:cTn>
                              </p:par>
                              <p:par>
                                <p:cTn id="4943" presetID="22" presetClass="entr" presetSubtype="4" fill="hold" nodeType="withEffect">
                                  <p:stCondLst>
                                    <p:cond delay="200"/>
                                  </p:stCondLst>
                                  <p:childTnLst>
                                    <p:set>
                                      <p:cBhvr>
                                        <p:cTn id="4944" dur="1" fill="hold">
                                          <p:stCondLst>
                                            <p:cond delay="0"/>
                                          </p:stCondLst>
                                        </p:cTn>
                                        <p:tgtEl>
                                          <p:spTgt spid="31"/>
                                        </p:tgtEl>
                                        <p:attrNameLst>
                                          <p:attrName>style.visibility</p:attrName>
                                        </p:attrNameLst>
                                      </p:cBhvr>
                                      <p:to>
                                        <p:strVal val="visible"/>
                                      </p:to>
                                    </p:set>
                                    <p:animEffect transition="in" filter="wipe(down)">
                                      <p:cBhvr>
                                        <p:cTn id="4945" dur="500"/>
                                        <p:tgtEl>
                                          <p:spTgt spid="31"/>
                                        </p:tgtEl>
                                      </p:cBhvr>
                                    </p:animEffect>
                                  </p:childTnLst>
                                </p:cTn>
                              </p:par>
                              <p:par>
                                <p:cTn id="4946" presetID="22" presetClass="entr" presetSubtype="4" fill="hold" nodeType="withEffect">
                                  <p:stCondLst>
                                    <p:cond delay="270"/>
                                  </p:stCondLst>
                                  <p:childTnLst>
                                    <p:set>
                                      <p:cBhvr>
                                        <p:cTn id="4947" dur="1" fill="hold">
                                          <p:stCondLst>
                                            <p:cond delay="0"/>
                                          </p:stCondLst>
                                        </p:cTn>
                                        <p:tgtEl>
                                          <p:spTgt spid="32"/>
                                        </p:tgtEl>
                                        <p:attrNameLst>
                                          <p:attrName>style.visibility</p:attrName>
                                        </p:attrNameLst>
                                      </p:cBhvr>
                                      <p:to>
                                        <p:strVal val="visible"/>
                                      </p:to>
                                    </p:set>
                                    <p:animEffect transition="in" filter="wipe(down)">
                                      <p:cBhvr>
                                        <p:cTn id="4948" dur="500"/>
                                        <p:tgtEl>
                                          <p:spTgt spid="32"/>
                                        </p:tgtEl>
                                      </p:cBhvr>
                                    </p:animEffect>
                                  </p:childTnLst>
                                </p:cTn>
                              </p:par>
                              <p:par>
                                <p:cTn id="4949" presetID="22" presetClass="entr" presetSubtype="4" fill="hold" nodeType="withEffect">
                                  <p:stCondLst>
                                    <p:cond delay="340"/>
                                  </p:stCondLst>
                                  <p:childTnLst>
                                    <p:set>
                                      <p:cBhvr>
                                        <p:cTn id="4950" dur="1" fill="hold">
                                          <p:stCondLst>
                                            <p:cond delay="0"/>
                                          </p:stCondLst>
                                        </p:cTn>
                                        <p:tgtEl>
                                          <p:spTgt spid="33"/>
                                        </p:tgtEl>
                                        <p:attrNameLst>
                                          <p:attrName>style.visibility</p:attrName>
                                        </p:attrNameLst>
                                      </p:cBhvr>
                                      <p:to>
                                        <p:strVal val="visible"/>
                                      </p:to>
                                    </p:set>
                                    <p:animEffect transition="in" filter="wipe(down)">
                                      <p:cBhvr>
                                        <p:cTn id="4951" dur="500"/>
                                        <p:tgtEl>
                                          <p:spTgt spid="33"/>
                                        </p:tgtEl>
                                      </p:cBhvr>
                                    </p:animEffect>
                                  </p:childTnLst>
                                </p:cTn>
                              </p:par>
                              <p:par>
                                <p:cTn id="4952" presetID="22" presetClass="entr" presetSubtype="4" fill="hold" nodeType="withEffect">
                                  <p:stCondLst>
                                    <p:cond delay="410"/>
                                  </p:stCondLst>
                                  <p:childTnLst>
                                    <p:set>
                                      <p:cBhvr>
                                        <p:cTn id="4953" dur="1" fill="hold">
                                          <p:stCondLst>
                                            <p:cond delay="0"/>
                                          </p:stCondLst>
                                        </p:cTn>
                                        <p:tgtEl>
                                          <p:spTgt spid="34"/>
                                        </p:tgtEl>
                                        <p:attrNameLst>
                                          <p:attrName>style.visibility</p:attrName>
                                        </p:attrNameLst>
                                      </p:cBhvr>
                                      <p:to>
                                        <p:strVal val="visible"/>
                                      </p:to>
                                    </p:set>
                                    <p:animEffect transition="in" filter="wipe(down)">
                                      <p:cBhvr>
                                        <p:cTn id="4954" dur="500"/>
                                        <p:tgtEl>
                                          <p:spTgt spid="34"/>
                                        </p:tgtEl>
                                      </p:cBhvr>
                                    </p:animEffect>
                                  </p:childTnLst>
                                </p:cTn>
                              </p:par>
                              <p:par>
                                <p:cTn id="4955" presetID="22" presetClass="entr" presetSubtype="4" fill="hold" nodeType="withEffect">
                                  <p:stCondLst>
                                    <p:cond delay="480"/>
                                  </p:stCondLst>
                                  <p:childTnLst>
                                    <p:set>
                                      <p:cBhvr>
                                        <p:cTn id="4956" dur="1" fill="hold">
                                          <p:stCondLst>
                                            <p:cond delay="0"/>
                                          </p:stCondLst>
                                        </p:cTn>
                                        <p:tgtEl>
                                          <p:spTgt spid="35"/>
                                        </p:tgtEl>
                                        <p:attrNameLst>
                                          <p:attrName>style.visibility</p:attrName>
                                        </p:attrNameLst>
                                      </p:cBhvr>
                                      <p:to>
                                        <p:strVal val="visible"/>
                                      </p:to>
                                    </p:set>
                                    <p:animEffect transition="in" filter="wipe(down)">
                                      <p:cBhvr>
                                        <p:cTn id="4957" dur="500"/>
                                        <p:tgtEl>
                                          <p:spTgt spid="35"/>
                                        </p:tgtEl>
                                      </p:cBhvr>
                                    </p:animEffect>
                                  </p:childTnLst>
                                </p:cTn>
                              </p:par>
                              <p:par>
                                <p:cTn id="4958" presetID="22" presetClass="entr" presetSubtype="4" fill="hold" nodeType="withEffect">
                                  <p:stCondLst>
                                    <p:cond delay="550"/>
                                  </p:stCondLst>
                                  <p:childTnLst>
                                    <p:set>
                                      <p:cBhvr>
                                        <p:cTn id="4959" dur="1" fill="hold">
                                          <p:stCondLst>
                                            <p:cond delay="0"/>
                                          </p:stCondLst>
                                        </p:cTn>
                                        <p:tgtEl>
                                          <p:spTgt spid="36"/>
                                        </p:tgtEl>
                                        <p:attrNameLst>
                                          <p:attrName>style.visibility</p:attrName>
                                        </p:attrNameLst>
                                      </p:cBhvr>
                                      <p:to>
                                        <p:strVal val="visible"/>
                                      </p:to>
                                    </p:set>
                                    <p:animEffect transition="in" filter="wipe(down)">
                                      <p:cBhvr>
                                        <p:cTn id="4960" dur="500"/>
                                        <p:tgtEl>
                                          <p:spTgt spid="36"/>
                                        </p:tgtEl>
                                      </p:cBhvr>
                                    </p:animEffect>
                                  </p:childTnLst>
                                </p:cTn>
                              </p:par>
                              <p:par>
                                <p:cTn id="4961" presetID="22" presetClass="entr" presetSubtype="4" fill="hold" nodeType="withEffect">
                                  <p:stCondLst>
                                    <p:cond delay="620"/>
                                  </p:stCondLst>
                                  <p:childTnLst>
                                    <p:set>
                                      <p:cBhvr>
                                        <p:cTn id="4962" dur="1" fill="hold">
                                          <p:stCondLst>
                                            <p:cond delay="0"/>
                                          </p:stCondLst>
                                        </p:cTn>
                                        <p:tgtEl>
                                          <p:spTgt spid="37"/>
                                        </p:tgtEl>
                                        <p:attrNameLst>
                                          <p:attrName>style.visibility</p:attrName>
                                        </p:attrNameLst>
                                      </p:cBhvr>
                                      <p:to>
                                        <p:strVal val="visible"/>
                                      </p:to>
                                    </p:set>
                                    <p:animEffect transition="in" filter="wipe(down)">
                                      <p:cBhvr>
                                        <p:cTn id="4963" dur="500"/>
                                        <p:tgtEl>
                                          <p:spTgt spid="37"/>
                                        </p:tgtEl>
                                      </p:cBhvr>
                                    </p:animEffect>
                                  </p:childTnLst>
                                </p:cTn>
                              </p:par>
                              <p:par>
                                <p:cTn id="4964" presetID="22" presetClass="entr" presetSubtype="4" fill="hold" nodeType="withEffect">
                                  <p:stCondLst>
                                    <p:cond delay="690"/>
                                  </p:stCondLst>
                                  <p:childTnLst>
                                    <p:set>
                                      <p:cBhvr>
                                        <p:cTn id="4965" dur="1" fill="hold">
                                          <p:stCondLst>
                                            <p:cond delay="0"/>
                                          </p:stCondLst>
                                        </p:cTn>
                                        <p:tgtEl>
                                          <p:spTgt spid="38"/>
                                        </p:tgtEl>
                                        <p:attrNameLst>
                                          <p:attrName>style.visibility</p:attrName>
                                        </p:attrNameLst>
                                      </p:cBhvr>
                                      <p:to>
                                        <p:strVal val="visible"/>
                                      </p:to>
                                    </p:set>
                                    <p:animEffect transition="in" filter="wipe(down)">
                                      <p:cBhvr>
                                        <p:cTn id="4966" dur="500"/>
                                        <p:tgtEl>
                                          <p:spTgt spid="38"/>
                                        </p:tgtEl>
                                      </p:cBhvr>
                                    </p:animEffect>
                                  </p:childTnLst>
                                </p:cTn>
                              </p:par>
                              <p:par>
                                <p:cTn id="4967" presetID="22" presetClass="entr" presetSubtype="4" fill="hold" nodeType="withEffect">
                                  <p:stCondLst>
                                    <p:cond delay="760"/>
                                  </p:stCondLst>
                                  <p:childTnLst>
                                    <p:set>
                                      <p:cBhvr>
                                        <p:cTn id="4968" dur="1" fill="hold">
                                          <p:stCondLst>
                                            <p:cond delay="0"/>
                                          </p:stCondLst>
                                        </p:cTn>
                                        <p:tgtEl>
                                          <p:spTgt spid="39"/>
                                        </p:tgtEl>
                                        <p:attrNameLst>
                                          <p:attrName>style.visibility</p:attrName>
                                        </p:attrNameLst>
                                      </p:cBhvr>
                                      <p:to>
                                        <p:strVal val="visible"/>
                                      </p:to>
                                    </p:set>
                                    <p:animEffect transition="in" filter="wipe(down)">
                                      <p:cBhvr>
                                        <p:cTn id="4969" dur="500"/>
                                        <p:tgtEl>
                                          <p:spTgt spid="39"/>
                                        </p:tgtEl>
                                      </p:cBhvr>
                                    </p:animEffect>
                                  </p:childTnLst>
                                </p:cTn>
                              </p:par>
                              <p:par>
                                <p:cTn id="4970" presetID="22" presetClass="entr" presetSubtype="4" fill="hold" nodeType="withEffect">
                                  <p:stCondLst>
                                    <p:cond delay="830"/>
                                  </p:stCondLst>
                                  <p:childTnLst>
                                    <p:set>
                                      <p:cBhvr>
                                        <p:cTn id="4971" dur="1" fill="hold">
                                          <p:stCondLst>
                                            <p:cond delay="0"/>
                                          </p:stCondLst>
                                        </p:cTn>
                                        <p:tgtEl>
                                          <p:spTgt spid="40"/>
                                        </p:tgtEl>
                                        <p:attrNameLst>
                                          <p:attrName>style.visibility</p:attrName>
                                        </p:attrNameLst>
                                      </p:cBhvr>
                                      <p:to>
                                        <p:strVal val="visible"/>
                                      </p:to>
                                    </p:set>
                                    <p:animEffect transition="in" filter="wipe(down)">
                                      <p:cBhvr>
                                        <p:cTn id="4972" dur="500"/>
                                        <p:tgtEl>
                                          <p:spTgt spid="40"/>
                                        </p:tgtEl>
                                      </p:cBhvr>
                                    </p:animEffect>
                                  </p:childTnLst>
                                </p:cTn>
                              </p:par>
                              <p:par>
                                <p:cTn id="4973" presetID="22" presetClass="entr" presetSubtype="4" fill="hold" nodeType="withEffect">
                                  <p:stCondLst>
                                    <p:cond delay="900"/>
                                  </p:stCondLst>
                                  <p:childTnLst>
                                    <p:set>
                                      <p:cBhvr>
                                        <p:cTn id="4974" dur="1" fill="hold">
                                          <p:stCondLst>
                                            <p:cond delay="0"/>
                                          </p:stCondLst>
                                        </p:cTn>
                                        <p:tgtEl>
                                          <p:spTgt spid="47"/>
                                        </p:tgtEl>
                                        <p:attrNameLst>
                                          <p:attrName>style.visibility</p:attrName>
                                        </p:attrNameLst>
                                      </p:cBhvr>
                                      <p:to>
                                        <p:strVal val="visible"/>
                                      </p:to>
                                    </p:set>
                                    <p:animEffect transition="in" filter="wipe(down)">
                                      <p:cBhvr>
                                        <p:cTn id="4975" dur="500"/>
                                        <p:tgtEl>
                                          <p:spTgt spid="47"/>
                                        </p:tgtEl>
                                      </p:cBhvr>
                                    </p:animEffect>
                                  </p:childTnLst>
                                </p:cTn>
                              </p:par>
                              <p:par>
                                <p:cTn id="4976" presetID="22" presetClass="entr" presetSubtype="4" fill="hold" nodeType="withEffect">
                                  <p:stCondLst>
                                    <p:cond delay="900"/>
                                  </p:stCondLst>
                                  <p:childTnLst>
                                    <p:set>
                                      <p:cBhvr>
                                        <p:cTn id="4977" dur="1" fill="hold">
                                          <p:stCondLst>
                                            <p:cond delay="0"/>
                                          </p:stCondLst>
                                        </p:cTn>
                                        <p:tgtEl>
                                          <p:spTgt spid="48"/>
                                        </p:tgtEl>
                                        <p:attrNameLst>
                                          <p:attrName>style.visibility</p:attrName>
                                        </p:attrNameLst>
                                      </p:cBhvr>
                                      <p:to>
                                        <p:strVal val="visible"/>
                                      </p:to>
                                    </p:set>
                                    <p:animEffect transition="in" filter="wipe(down)">
                                      <p:cBhvr>
                                        <p:cTn id="497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De la captura al registro espacio–tiempo y al servidor</a:t>
            </a:r>
            <a:endParaRPr lang="en-US" sz="2200" dirty="0"/>
          </a:p>
        </p:txBody>
      </p:sp>
      <p:pic>
        <p:nvPicPr>
          <p:cNvPr id="3" name="Captura real a 24 m [s0]" descr="Ejemplo de adquisición real a 24 metros: canal crudo del HAMMER con el impacto, registro del geófono con su nivel de continua y vista de trabajo centrada y filtrada">    </p:cNvPr>
          <p:cNvPicPr>
            <a:picLocks noChangeAspect="1"/>
          </p:cNvPicPr>
          <p:nvPr/>
        </p:nvPicPr>
        <p:blipFill>
          <a:blip r:embed="rId1"/>
          <a:stretch>
            <a:fillRect/>
          </a:stretch>
        </p:blipFill>
        <p:spPr>
          <a:xfrm>
            <a:off x="886005" y="1561458"/>
            <a:ext cx="4647558" cy="2828514"/>
          </a:xfrm>
          <a:prstGeom prst="rect">
            <a:avLst/>
          </a:prstGeom>
        </p:spPr>
      </p:pic>
      <p:sp>
        <p:nvSpPr>
          <p:cNvPr id="4" name="Cuerpo [s0]"/>
          <p:cNvSpPr txBox="1"/>
          <p:nvPr/>
        </p:nvSpPr>
        <p:spPr>
          <a:xfrm>
            <a:off x="5693824" y="1561458"/>
            <a:ext cx="2484040" cy="2403909"/>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Arriba: el HAMMER; su pico fija el instante del impacto</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Medio: el geófono crudo, con su nivel de continua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Abajo: la vista de trabajo, centrada y filtrada, para alinear</a:t>
            </a:r>
            <a:endParaRPr lang="en-US" sz="1260" dirty="0"/>
          </a:p>
        </p:txBody>
      </p:sp>
      <p:pic>
        <p:nvPicPr>
          <p:cNvPr id="5" name="Interfaz de procesamiento [s1]" descr="Interfaz de escritorio de procesamiento: lista de capturas con distancia y disparo, señal del martillo con el disparo detectado y respuesta del geófono alineada, superpuesta a las demás capturas de la misma posición">    </p:cNvPr>
          <p:cNvPicPr>
            <a:picLocks noChangeAspect="1"/>
          </p:cNvPicPr>
          <p:nvPr/>
        </p:nvPicPr>
        <p:blipFill>
          <a:blip r:embed="rId2"/>
          <a:stretch>
            <a:fillRect/>
          </a:stretch>
        </p:blipFill>
        <p:spPr>
          <a:xfrm>
            <a:off x="886005" y="1561458"/>
            <a:ext cx="3926385" cy="2460535"/>
          </a:xfrm>
          <a:prstGeom prst="rect">
            <a:avLst/>
          </a:prstGeom>
        </p:spPr>
      </p:pic>
      <p:sp>
        <p:nvSpPr>
          <p:cNvPr id="6" name="Pasos [s1]"/>
          <p:cNvSpPr txBox="1"/>
          <p:nvPr/>
        </p:nvSpPr>
        <p:spPr>
          <a:xfrm>
            <a:off x="5052782" y="1561458"/>
            <a:ext cx="3125082" cy="2083388"/>
          </a:xfrm>
          <a:prstGeom prst="rect">
            <a:avLst/>
          </a:prstGeom>
          <a:noFill/>
          <a:ln/>
        </p:spPr>
        <p:txBody>
          <a:bodyPr wrap="square" lIns="0" tIns="0" rIns="0" bIns="0" rtlCol="0" anchor="t"/>
          <a:lstStyle/>
          <a:p>
            <a:pPr marL="342900" indent="-342900">
              <a:spcAft>
                <a:spcPts val="720"/>
              </a:spcAft>
              <a:buSzPct val="100000"/>
              <a:buFont typeface="+mj-lt"/>
              <a:buAutoNum type="arabicPeriod" startAt="1"/>
            </a:pPr>
            <a:r>
              <a:rPr lang="en-US" sz="1350" dirty="0">
                <a:solidFill>
                  <a:srgbClr val="2D2D2D"/>
                </a:solidFill>
                <a:latin typeface="Arial" pitchFamily="34" charset="0"/>
                <a:ea typeface="Arial" pitchFamily="34" charset="-122"/>
                <a:cs typeface="Arial" pitchFamily="34" charset="-120"/>
              </a:rPr>
              <a:t>Se aceptan las capturas revisadas</a:t>
            </a:r>
            <a:endParaRPr lang="en-US" sz="1350" dirty="0"/>
          </a:p>
          <a:p>
            <a:pPr marL="342900" indent="-342900">
              <a:spcAft>
                <a:spcPts val="720"/>
              </a:spcAft>
              <a:buSzPct val="100000"/>
              <a:buFont typeface="+mj-lt"/>
              <a:buAutoNum type="arabicPeriod" startAt="1"/>
            </a:pPr>
            <a:r>
              <a:rPr lang="en-US" sz="1350" dirty="0">
                <a:solidFill>
                  <a:srgbClr val="2D2D2D"/>
                </a:solidFill>
                <a:latin typeface="Arial" pitchFamily="34" charset="0"/>
                <a:ea typeface="Arial" pitchFamily="34" charset="-122"/>
                <a:cs typeface="Arial" pitchFamily="34" charset="-120"/>
              </a:rPr>
              <a:t>Se alinean con el impacto del HAMMER</a:t>
            </a:r>
            <a:endParaRPr lang="en-US" sz="1350" dirty="0"/>
          </a:p>
          <a:p>
            <a:pPr marL="342900" indent="-342900">
              <a:spcAft>
                <a:spcPts val="720"/>
              </a:spcAft>
              <a:buSzPct val="100000"/>
              <a:buFont typeface="+mj-lt"/>
              <a:buAutoNum type="arabicPeriod" startAt="1"/>
            </a:pPr>
            <a:r>
              <a:rPr lang="en-US" sz="1350" dirty="0">
                <a:solidFill>
                  <a:srgbClr val="2D2D2D"/>
                </a:solidFill>
                <a:latin typeface="Arial" pitchFamily="34" charset="0"/>
                <a:ea typeface="Arial" pitchFamily="34" charset="-122"/>
                <a:cs typeface="Arial" pitchFamily="34" charset="-120"/>
              </a:rPr>
              <a:t>Se llevan a una </a:t>
            </a:r>
            <mc:AlternateContent xmlns:mc="http://schemas.openxmlformats.org/markup-compatibility/2006">
              <mc:Choice xmlns:a14="http://schemas.microsoft.com/office/drawing/2010/main" Requires="a14">
                <a14:m>
                  <m:oMath xmlns:m="http://schemas.openxmlformats.org/officeDocument/2006/math">
                    <m:sSub>
                      <m:sSubPr>
                        <m:ctrlPr>
                          <a:rPr lang="es-ES" sz="1350" i="1">
                            <a:latin typeface="Cambria Math" panose="02040503050406030204" pitchFamily="18" charset="0"/>
                          </a:rPr>
                        </m:ctrlPr>
                      </m:sSubPr>
                      <m:e>
                        <m:r>
                          <a:rPr lang="es-ES" sz="1350" i="1">
                            <a:solidFill>
                              <a:srgbClr val="2D2D2D"/>
                            </a:solidFill>
                            <a:latin typeface="Cambria Math" panose="02040503050406030204" pitchFamily="18" charset="0"/>
                          </a:rPr>
                          <m:t xml:space="preserve">f</m:t>
                        </m:r>
                      </m:e>
                      <m:sub>
                        <m:r>
                          <a:rPr lang="es-ES" sz="1350" i="1">
                            <a:solidFill>
                              <a:srgbClr val="2D2D2D"/>
                            </a:solidFill>
                            <a:latin typeface="Cambria Math" panose="02040503050406030204" pitchFamily="18" charset="0"/>
                          </a:rPr>
                          <m:t xml:space="preserve">s</m:t>
                        </m:r>
                      </m:sub>
                    </m:sSub>
                  </m:oMath>
                </a14:m>
              </mc:Choice>
              <mc:Fallback>
                <a:r>
                  <a:rPr lang="en-US" sz="1350" dirty="0">
                    <a:solidFill>
                      <a:srgbClr val="2D2D2D"/>
                    </a:solidFill>
                    <a:latin typeface="Arial" pitchFamily="34" charset="0"/>
                    <a:ea typeface="Arial" pitchFamily="34" charset="-122"/>
                    <a:cs typeface="Arial" pitchFamily="34" charset="-120"/>
                  </a:rPr>
                  <a:t>fs</a:t>
                </a:r>
              </mc:Fallback>
            </mc:AlternateContent>
            <a:r>
              <a:rPr lang="en-US" sz="1350" dirty="0">
                <a:solidFill>
                  <a:srgbClr val="2D2D2D"/>
                </a:solidFill>
                <a:latin typeface="Arial" pitchFamily="34" charset="0"/>
                <a:ea typeface="Arial" pitchFamily="34" charset="-122"/>
                <a:cs typeface="Arial" pitchFamily="34" charset="-120"/>
              </a:rPr>
              <a:t> común</a:t>
            </a:r>
            <a:endParaRPr lang="en-US" sz="1350" dirty="0"/>
          </a:p>
          <a:p>
            <a:pPr marL="342900" indent="-342900">
              <a:spcAft>
                <a:spcPts val="720"/>
              </a:spcAft>
              <a:buSzPct val="100000"/>
              <a:buFont typeface="+mj-lt"/>
              <a:buAutoNum type="arabicPeriod" startAt="1"/>
            </a:pPr>
            <a:r>
              <a:rPr lang="en-US" sz="1350" dirty="0">
                <a:solidFill>
                  <a:srgbClr val="2D2D2D"/>
                </a:solidFill>
                <a:latin typeface="Arial" pitchFamily="34" charset="0"/>
                <a:ea typeface="Arial" pitchFamily="34" charset="-122"/>
                <a:cs typeface="Arial" pitchFamily="34" charset="-120"/>
              </a:rPr>
              <a:t>Se promedian muestra a muestra</a:t>
            </a:r>
            <a:endParaRPr lang="en-US" sz="1350" dirty="0"/>
          </a:p>
          <a:p>
            <a:pPr marL="342900" indent="-342900">
              <a:spcAft>
                <a:spcPts val="720"/>
              </a:spcAft>
              <a:buSzPct val="100000"/>
              <a:buFont typeface="+mj-lt"/>
              <a:buAutoNum type="arabicPeriod" startAt="1"/>
            </a:pPr>
            <a:r>
              <a:rPr lang="en-US" sz="1350" dirty="0">
                <a:solidFill>
                  <a:srgbClr val="2D2D2D"/>
                </a:solidFill>
                <a:latin typeface="Arial" pitchFamily="34" charset="0"/>
                <a:ea typeface="Arial" pitchFamily="34" charset="-122"/>
                <a:cs typeface="Arial" pitchFamily="34" charset="-120"/>
              </a:rPr>
              <a:t>Se ordenan por distancia</a:t>
            </a:r>
            <a:endParaRPr lang="en-US" sz="1350" dirty="0"/>
          </a:p>
        </p:txBody>
      </p:sp>
      <p:sp>
        <p:nvSpPr>
          <p:cNvPr id="7" name="Franja [s1]"/>
          <p:cNvSpPr/>
          <p:nvPr/>
        </p:nvSpPr>
        <p:spPr>
          <a:xfrm>
            <a:off x="966136" y="4045498"/>
            <a:ext cx="7211728" cy="360586"/>
          </a:xfrm>
          <a:prstGeom prst="rect">
            <a:avLst/>
          </a:prstGeom>
          <a:solidFill>
            <a:srgbClr val="EAF1F8"/>
          </a:solidFill>
          <a:ln w="6350">
            <a:solidFill>
              <a:srgbClr val="EAF1F8"/>
            </a:solidFill>
            <a:prstDash val="solid"/>
          </a:ln>
        </p:spPr>
      </p:sp>
      <p:sp>
        <p:nvSpPr>
          <p:cNvPr id="8" name="Elemento [s1]"/>
          <p:cNvSpPr txBox="1"/>
          <p:nvPr/>
        </p:nvSpPr>
        <p:spPr>
          <a:xfrm>
            <a:off x="1086331" y="4045498"/>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La mediana fue de unos 30 golpes por posición; se descartaron 9 de 607 registros.</a:t>
            </a:r>
            <a:endParaRPr lang="en-US" sz="1260" dirty="0"/>
          </a:p>
        </p:txBody>
      </p:sp>
      <p:pic>
        <p:nvPicPr>
          <p:cNvPr id="9" name="Registro espacio-tiempo de 21 posiciones [s2]" descr="Registro espacio tiempo con 21 trazas entre 10 y 50 metros, primeros 4 segundos después del impacto, cada traza normalizada">    </p:cNvPr>
          <p:cNvPicPr>
            <a:picLocks noChangeAspect="1"/>
          </p:cNvPicPr>
          <p:nvPr/>
        </p:nvPicPr>
        <p:blipFill>
          <a:blip r:embed="rId3"/>
          <a:stretch>
            <a:fillRect/>
          </a:stretch>
        </p:blipFill>
        <p:spPr>
          <a:xfrm>
            <a:off x="886005" y="1561458"/>
            <a:ext cx="4407167" cy="2435938"/>
          </a:xfrm>
          <a:prstGeom prst="rect">
            <a:avLst/>
          </a:prstGeom>
        </p:spPr>
      </p:pic>
      <p:sp>
        <p:nvSpPr>
          <p:cNvPr id="10" name="Cuerpo [s2]"/>
          <p:cNvSpPr txBox="1"/>
          <p:nvPr/>
        </p:nvSpPr>
        <p:spPr>
          <a:xfrm>
            <a:off x="5453433" y="1561458"/>
            <a:ext cx="2724431" cy="2403909"/>
          </a:xfrm>
          <a:prstGeom prst="rect">
            <a:avLst/>
          </a:prstGeom>
          <a:noFill/>
          <a:ln/>
        </p:spPr>
        <p:txBody>
          <a:bodyPr wrap="square" lIns="0" tIns="0" rIns="0" bIns="0" rtlCol="0" anchor="t"/>
          <a:lstStyle/>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El tren de ondas llega más tarde al aumentar la distancia</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Cada traza está normalizada por su máximo: no se comparan amplitudes</a:t>
            </a:r>
            <a:endParaRPr lang="en-US" sz="1260" dirty="0"/>
          </a:p>
          <a:p>
            <a:pPr marL="342900" indent="-342900">
              <a:spcAft>
                <a:spcPts val="720"/>
              </a:spcAft>
              <a:buSzPct val="100000"/>
              <a:buChar char="•"/>
            </a:pPr>
            <a:r>
              <a:rPr lang="en-US" sz="1260" dirty="0">
                <a:solidFill>
                  <a:srgbClr val="2D2D2D"/>
                </a:solidFill>
                <a:latin typeface="Arial" pitchFamily="34" charset="0"/>
                <a:ea typeface="Arial" pitchFamily="34" charset="-122"/>
                <a:cs typeface="Arial" pitchFamily="34" charset="-120"/>
              </a:rPr>
              <a:t>Primeros 4 s tras el impacto</a:t>
            </a:r>
            <a:endParaRPr lang="en-US" sz="1260" dirty="0"/>
          </a:p>
        </p:txBody>
      </p:sp>
      <p:sp>
        <p:nvSpPr>
          <p:cNvPr id="11" name="Franja [s2]"/>
          <p:cNvSpPr/>
          <p:nvPr/>
        </p:nvSpPr>
        <p:spPr>
          <a:xfrm>
            <a:off x="966136" y="4045498"/>
            <a:ext cx="7211728" cy="360586"/>
          </a:xfrm>
          <a:prstGeom prst="rect">
            <a:avLst/>
          </a:prstGeom>
          <a:solidFill>
            <a:srgbClr val="EAF1F8"/>
          </a:solidFill>
          <a:ln w="6350">
            <a:solidFill>
              <a:srgbClr val="EAF1F8"/>
            </a:solidFill>
            <a:prstDash val="solid"/>
          </a:ln>
        </p:spPr>
      </p:sp>
      <p:sp>
        <p:nvSpPr>
          <p:cNvPr id="12" name="Elemento [s2]"/>
          <p:cNvSpPr txBox="1"/>
          <p:nvPr/>
        </p:nvSpPr>
        <p:spPr>
          <a:xfrm>
            <a:off x="1086331" y="4045498"/>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Demuestra adquisición secuencial; la curva de dispersión y la inversión siguen pendientes.</a:t>
            </a:r>
            <a:endParaRPr lang="en-US" sz="1260" dirty="0"/>
          </a:p>
        </p:txBody>
      </p:sp>
      <p:pic>
        <p:nvPicPr>
          <p:cNvPr id="13" name="Pipeline del servidor [s3]" descr="Pipeline del servidor: ZIP v4, validación de ingesta, SHA-256, raw inmutable, AnalysisJob, preprocesamiento, organización de trazas, productos intermedios y picking con inversión">    </p:cNvPr>
          <p:cNvPicPr>
            <a:picLocks noChangeAspect="1"/>
          </p:cNvPicPr>
          <p:nvPr/>
        </p:nvPicPr>
        <p:blipFill>
          <a:blip r:embed="rId4"/>
          <a:stretch>
            <a:fillRect/>
          </a:stretch>
        </p:blipFill>
        <p:spPr>
          <a:xfrm>
            <a:off x="1366787" y="1521393"/>
            <a:ext cx="6410425" cy="2163711"/>
          </a:xfrm>
          <a:prstGeom prst="rect">
            <a:avLst/>
          </a:prstGeom>
        </p:spPr>
      </p:pic>
      <p:sp>
        <p:nvSpPr>
          <p:cNvPr id="14" name="Cuerpo [s3]"/>
          <p:cNvSpPr txBox="1"/>
          <p:nvPr/>
        </p:nvSpPr>
        <p:spPr>
          <a:xfrm>
            <a:off x="966136" y="3724977"/>
            <a:ext cx="7211728" cy="721173"/>
          </a:xfrm>
          <a:prstGeom prst="rect">
            <a:avLst/>
          </a:prstGeom>
          <a:noFill/>
          <a:ln/>
        </p:spPr>
        <p:txBody>
          <a:bodyPr wrap="square" lIns="0" tIns="0" rIns="0" bIns="0" rtlCol="0" anchor="t"/>
          <a:lstStyle/>
          <a:p>
            <a:pPr marL="342900" indent="-342900">
              <a:spcAft>
                <a:spcPts val="270"/>
              </a:spcAft>
              <a:buSzPct val="100000"/>
              <a:buChar char="•"/>
            </a:pPr>
            <a:r>
              <a:rPr lang="en-US" sz="1170" dirty="0">
                <a:solidFill>
                  <a:srgbClr val="2D2D2D"/>
                </a:solidFill>
                <a:latin typeface="Arial" pitchFamily="34" charset="0"/>
                <a:ea typeface="Arial" pitchFamily="34" charset="-122"/>
                <a:cs typeface="Arial" pitchFamily="34" charset="-120"/>
              </a:rPr>
              <a:t>Se valida el paquete y se publica el original sin modificarlo (SHA-256, escritura atómica)</a:t>
            </a:r>
            <a:endParaRPr lang="en-US" sz="1170" dirty="0"/>
          </a:p>
          <a:p>
            <a:pPr marL="342900" indent="-342900">
              <a:spcAft>
                <a:spcPts val="270"/>
              </a:spcAft>
              <a:buSzPct val="100000"/>
              <a:buChar char="•"/>
            </a:pPr>
            <a:r>
              <a:rPr lang="en-US" sz="1170" dirty="0">
                <a:solidFill>
                  <a:srgbClr val="2D2D2D"/>
                </a:solidFill>
                <a:latin typeface="Arial" pitchFamily="34" charset="0"/>
                <a:ea typeface="Arial" pitchFamily="34" charset="-122"/>
                <a:cs typeface="Arial" pitchFamily="34" charset="-120"/>
              </a:rPr>
              <a:t>El procesamiento corre en una cola independiente, sobre copias</a:t>
            </a:r>
            <a:endParaRPr lang="en-US" sz="1170" dirty="0"/>
          </a:p>
          <a:p>
            <a:pPr marL="342900" indent="-342900">
              <a:spcAft>
                <a:spcPts val="270"/>
              </a:spcAft>
              <a:buSzPct val="100000"/>
              <a:buChar char="•"/>
            </a:pPr>
            <a:r>
              <a:rPr lang="en-US" sz="1170" dirty="0">
                <a:solidFill>
                  <a:srgbClr val="2D2D2D"/>
                </a:solidFill>
                <a:latin typeface="Arial" pitchFamily="34" charset="0"/>
                <a:ea typeface="Arial" pitchFamily="34" charset="-122"/>
                <a:cs typeface="Arial" pitchFamily="34" charset="-120"/>
              </a:rPr>
              <a:t>Picking e inversión: por hacer</a:t>
            </a:r>
            <a:endParaRPr lang="en-US" sz="1170" dirty="0"/>
          </a:p>
        </p:txBody>
      </p:sp>
      <p:sp>
        <p:nvSpPr>
          <p:cNvPr id="15"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Una captura real: el impacto del HAMMER marca el tiempo y el geófono lo sigue</a:t>
            </a:r>
            <a:endParaRPr lang="en-US" sz="1400" dirty="0"/>
          </a:p>
        </p:txBody>
      </p:sp>
      <p:sp>
        <p:nvSpPr>
          <p:cNvPr id="16"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06_metodologia_validacion.tex (ejemplo de adquisición real, 24 m). Figura del repo; no está en el resumen firmado.</a:t>
            </a:r>
            <a:endParaRPr lang="en-US" sz="800" dirty="0"/>
          </a:p>
        </p:txBody>
      </p:sp>
      <p:sp>
        <p:nvSpPr>
          <p:cNvPr id="17"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Cada posición se alinea con el HAMMER y se promedia traza por traza</a:t>
            </a:r>
            <a:endParaRPr lang="en-US" sz="1400" dirty="0"/>
          </a:p>
        </p:txBody>
      </p:sp>
      <p:sp>
        <p:nvSpPr>
          <p:cNvPr id="18"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y 4.10.2, fig. 16; documento de tesis, 04_validacion.tex (607 candidatos, 598 procesados, mediana de ~30 golpes).</a:t>
            </a:r>
            <a:endParaRPr lang="en-US" sz="800" dirty="0"/>
          </a:p>
        </p:txBody>
      </p:sp>
      <p:sp>
        <p:nvSpPr>
          <p:cNvPr id="19"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resultado: un registro espacio–tiempo de 21 trazas promediadas</a:t>
            </a:r>
            <a:endParaRPr lang="en-US" sz="1400" dirty="0"/>
          </a:p>
        </p:txBody>
      </p:sp>
      <p:sp>
        <p:nvSpPr>
          <p:cNvPr id="20"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4.10.2 y fig. 17b.</a:t>
            </a:r>
            <a:endParaRPr lang="en-US" sz="800" dirty="0"/>
          </a:p>
        </p:txBody>
      </p:sp>
      <p:sp>
        <p:nvSpPr>
          <p:cNvPr id="21"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El servidor conserva el original y procesa copias derivadas</a:t>
            </a:r>
            <a:endParaRPr lang="en-US" sz="1400" dirty="0"/>
          </a:p>
        </p:txBody>
      </p:sp>
      <p:sp>
        <p:nvSpPr>
          <p:cNvPr id="22"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4.9; documento de tesis, 03_diseno.tex (fig. d_servidor_ingesta); drawio, p. 20. Los detalles SHA-256 y AnalysisJob no están en el resumen.</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011" fill="hold">
                      <p:stCondLst>
                        <p:cond delay="indefinite"/>
                      </p:stCondLst>
                      <p:childTnLst>
                        <p:par>
                          <p:cTn id="5012" fill="hold">
                            <p:stCondLst>
                              <p:cond delay="0"/>
                            </p:stCondLst>
                            <p:childTnLst>
                              <p:par>
                                <p:cTn id="4981" presetID="10" presetClass="exit" presetSubtype="0" fill="hold" nodeType="clickEffect">
                                  <p:stCondLst>
                                    <p:cond delay="0"/>
                                  </p:stCondLst>
                                  <p:childTnLst>
                                    <p:animEffect transition="out" filter="fade">
                                      <p:cBhvr>
                                        <p:cTn id="4982" dur="400"/>
                                        <p:tgtEl>
                                          <p:spTgt spid="3"/>
                                        </p:tgtEl>
                                      </p:cBhvr>
                                    </p:animEffect>
                                    <p:set>
                                      <p:cBhvr>
                                        <p:cTn id="4983" dur="1" fill="hold">
                                          <p:stCondLst>
                                            <p:cond delay="399"/>
                                          </p:stCondLst>
                                        </p:cTn>
                                        <p:tgtEl>
                                          <p:spTgt spid="3"/>
                                        </p:tgtEl>
                                        <p:attrNameLst>
                                          <p:attrName>style.visibility</p:attrName>
                                        </p:attrNameLst>
                                      </p:cBhvr>
                                      <p:to>
                                        <p:strVal val="hidden"/>
                                      </p:to>
                                    </p:set>
                                  </p:childTnLst>
                                </p:cTn>
                              </p:par>
                              <p:par>
                                <p:cTn id="4984" presetID="10" presetClass="exit" presetSubtype="0" fill="hold" nodeType="withEffect">
                                  <p:stCondLst>
                                    <p:cond delay="0"/>
                                  </p:stCondLst>
                                  <p:childTnLst>
                                    <p:animEffect transition="out" filter="fade">
                                      <p:cBhvr>
                                        <p:cTn id="4985" dur="400"/>
                                        <p:tgtEl>
                                          <p:spTgt spid="4"/>
                                        </p:tgtEl>
                                      </p:cBhvr>
                                    </p:animEffect>
                                    <p:set>
                                      <p:cBhvr>
                                        <p:cTn id="4986" dur="1" fill="hold">
                                          <p:stCondLst>
                                            <p:cond delay="399"/>
                                          </p:stCondLst>
                                        </p:cTn>
                                        <p:tgtEl>
                                          <p:spTgt spid="4"/>
                                        </p:tgtEl>
                                        <p:attrNameLst>
                                          <p:attrName>style.visibility</p:attrName>
                                        </p:attrNameLst>
                                      </p:cBhvr>
                                      <p:to>
                                        <p:strVal val="hidden"/>
                                      </p:to>
                                    </p:set>
                                  </p:childTnLst>
                                </p:cTn>
                              </p:par>
                              <p:par>
                                <p:cTn id="4987" presetID="10" presetClass="exit" presetSubtype="0" fill="hold" nodeType="withEffect">
                                  <p:stCondLst>
                                    <p:cond delay="0"/>
                                  </p:stCondLst>
                                  <p:childTnLst>
                                    <p:animEffect transition="out" filter="fade">
                                      <p:cBhvr>
                                        <p:cTn id="4988" dur="400"/>
                                        <p:tgtEl>
                                          <p:spTgt spid="15"/>
                                        </p:tgtEl>
                                      </p:cBhvr>
                                    </p:animEffect>
                                    <p:set>
                                      <p:cBhvr>
                                        <p:cTn id="4989" dur="1" fill="hold">
                                          <p:stCondLst>
                                            <p:cond delay="399"/>
                                          </p:stCondLst>
                                        </p:cTn>
                                        <p:tgtEl>
                                          <p:spTgt spid="15"/>
                                        </p:tgtEl>
                                        <p:attrNameLst>
                                          <p:attrName>style.visibility</p:attrName>
                                        </p:attrNameLst>
                                      </p:cBhvr>
                                      <p:to>
                                        <p:strVal val="hidden"/>
                                      </p:to>
                                    </p:set>
                                  </p:childTnLst>
                                </p:cTn>
                              </p:par>
                              <p:par>
                                <p:cTn id="4990" presetID="10" presetClass="exit" presetSubtype="0" fill="hold" nodeType="withEffect">
                                  <p:stCondLst>
                                    <p:cond delay="0"/>
                                  </p:stCondLst>
                                  <p:childTnLst>
                                    <p:animEffect transition="out" filter="fade">
                                      <p:cBhvr>
                                        <p:cTn id="4991" dur="400"/>
                                        <p:tgtEl>
                                          <p:spTgt spid="16"/>
                                        </p:tgtEl>
                                      </p:cBhvr>
                                    </p:animEffect>
                                    <p:set>
                                      <p:cBhvr>
                                        <p:cTn id="4992" dur="1" fill="hold">
                                          <p:stCondLst>
                                            <p:cond delay="399"/>
                                          </p:stCondLst>
                                        </p:cTn>
                                        <p:tgtEl>
                                          <p:spTgt spid="16"/>
                                        </p:tgtEl>
                                        <p:attrNameLst>
                                          <p:attrName>style.visibility</p:attrName>
                                        </p:attrNameLst>
                                      </p:cBhvr>
                                      <p:to>
                                        <p:strVal val="hidden"/>
                                      </p:to>
                                    </p:set>
                                  </p:childTnLst>
                                </p:cTn>
                              </p:par>
                              <p:par>
                                <p:cTn id="4993" presetID="10" presetClass="entr" presetSubtype="0" fill="hold" nodeType="withEffect">
                                  <p:stCondLst>
                                    <p:cond delay="200"/>
                                  </p:stCondLst>
                                  <p:childTnLst>
                                    <p:set>
                                      <p:cBhvr>
                                        <p:cTn id="4994" dur="1" fill="hold">
                                          <p:stCondLst>
                                            <p:cond delay="0"/>
                                          </p:stCondLst>
                                        </p:cTn>
                                        <p:tgtEl>
                                          <p:spTgt spid="5"/>
                                        </p:tgtEl>
                                        <p:attrNameLst>
                                          <p:attrName>style.visibility</p:attrName>
                                        </p:attrNameLst>
                                      </p:cBhvr>
                                      <p:to>
                                        <p:strVal val="visible"/>
                                      </p:to>
                                    </p:set>
                                    <p:animEffect transition="in" filter="fade">
                                      <p:cBhvr>
                                        <p:cTn id="4995" dur="500"/>
                                        <p:tgtEl>
                                          <p:spTgt spid="5"/>
                                        </p:tgtEl>
                                      </p:cBhvr>
                                    </p:animEffect>
                                  </p:childTnLst>
                                </p:cTn>
                              </p:par>
                              <p:par>
                                <p:cTn id="4996" presetID="10" presetClass="entr" presetSubtype="0" fill="hold" nodeType="withEffect">
                                  <p:stCondLst>
                                    <p:cond delay="270"/>
                                  </p:stCondLst>
                                  <p:childTnLst>
                                    <p:set>
                                      <p:cBhvr>
                                        <p:cTn id="4997" dur="1" fill="hold">
                                          <p:stCondLst>
                                            <p:cond delay="0"/>
                                          </p:stCondLst>
                                        </p:cTn>
                                        <p:tgtEl>
                                          <p:spTgt spid="6"/>
                                        </p:tgtEl>
                                        <p:attrNameLst>
                                          <p:attrName>style.visibility</p:attrName>
                                        </p:attrNameLst>
                                      </p:cBhvr>
                                      <p:to>
                                        <p:strVal val="visible"/>
                                      </p:to>
                                    </p:set>
                                    <p:animEffect transition="in" filter="fade">
                                      <p:cBhvr>
                                        <p:cTn id="4998" dur="500"/>
                                        <p:tgtEl>
                                          <p:spTgt spid="6"/>
                                        </p:tgtEl>
                                      </p:cBhvr>
                                    </p:animEffect>
                                  </p:childTnLst>
                                </p:cTn>
                              </p:par>
                              <p:par>
                                <p:cTn id="4999" presetID="10" presetClass="entr" presetSubtype="0" fill="hold" nodeType="withEffect">
                                  <p:stCondLst>
                                    <p:cond delay="340"/>
                                  </p:stCondLst>
                                  <p:childTnLst>
                                    <p:set>
                                      <p:cBhvr>
                                        <p:cTn id="5000" dur="1" fill="hold">
                                          <p:stCondLst>
                                            <p:cond delay="0"/>
                                          </p:stCondLst>
                                        </p:cTn>
                                        <p:tgtEl>
                                          <p:spTgt spid="7"/>
                                        </p:tgtEl>
                                        <p:attrNameLst>
                                          <p:attrName>style.visibility</p:attrName>
                                        </p:attrNameLst>
                                      </p:cBhvr>
                                      <p:to>
                                        <p:strVal val="visible"/>
                                      </p:to>
                                    </p:set>
                                    <p:animEffect transition="in" filter="fade">
                                      <p:cBhvr>
                                        <p:cTn id="5001" dur="500"/>
                                        <p:tgtEl>
                                          <p:spTgt spid="7"/>
                                        </p:tgtEl>
                                      </p:cBhvr>
                                    </p:animEffect>
                                  </p:childTnLst>
                                </p:cTn>
                              </p:par>
                              <p:par>
                                <p:cTn id="5002" presetID="10" presetClass="entr" presetSubtype="0" fill="hold" nodeType="withEffect">
                                  <p:stCondLst>
                                    <p:cond delay="410"/>
                                  </p:stCondLst>
                                  <p:childTnLst>
                                    <p:set>
                                      <p:cBhvr>
                                        <p:cTn id="5003" dur="1" fill="hold">
                                          <p:stCondLst>
                                            <p:cond delay="0"/>
                                          </p:stCondLst>
                                        </p:cTn>
                                        <p:tgtEl>
                                          <p:spTgt spid="8"/>
                                        </p:tgtEl>
                                        <p:attrNameLst>
                                          <p:attrName>style.visibility</p:attrName>
                                        </p:attrNameLst>
                                      </p:cBhvr>
                                      <p:to>
                                        <p:strVal val="visible"/>
                                      </p:to>
                                    </p:set>
                                    <p:animEffect transition="in" filter="fade">
                                      <p:cBhvr>
                                        <p:cTn id="5004" dur="500"/>
                                        <p:tgtEl>
                                          <p:spTgt spid="8"/>
                                        </p:tgtEl>
                                      </p:cBhvr>
                                    </p:animEffect>
                                  </p:childTnLst>
                                </p:cTn>
                              </p:par>
                              <p:par>
                                <p:cTn id="5005" presetID="10" presetClass="entr" presetSubtype="0" fill="hold" nodeType="withEffect">
                                  <p:stCondLst>
                                    <p:cond delay="480"/>
                                  </p:stCondLst>
                                  <p:childTnLst>
                                    <p:set>
                                      <p:cBhvr>
                                        <p:cTn id="5006" dur="1" fill="hold">
                                          <p:stCondLst>
                                            <p:cond delay="0"/>
                                          </p:stCondLst>
                                        </p:cTn>
                                        <p:tgtEl>
                                          <p:spTgt spid="17"/>
                                        </p:tgtEl>
                                        <p:attrNameLst>
                                          <p:attrName>style.visibility</p:attrName>
                                        </p:attrNameLst>
                                      </p:cBhvr>
                                      <p:to>
                                        <p:strVal val="visible"/>
                                      </p:to>
                                    </p:set>
                                    <p:animEffect transition="in" filter="fade">
                                      <p:cBhvr>
                                        <p:cTn id="5007" dur="500"/>
                                        <p:tgtEl>
                                          <p:spTgt spid="17"/>
                                        </p:tgtEl>
                                      </p:cBhvr>
                                    </p:animEffect>
                                  </p:childTnLst>
                                </p:cTn>
                              </p:par>
                              <p:par>
                                <p:cTn id="5008" presetID="10" presetClass="entr" presetSubtype="0" fill="hold" nodeType="withEffect">
                                  <p:stCondLst>
                                    <p:cond delay="550"/>
                                  </p:stCondLst>
                                  <p:childTnLst>
                                    <p:set>
                                      <p:cBhvr>
                                        <p:cTn id="5009" dur="1" fill="hold">
                                          <p:stCondLst>
                                            <p:cond delay="0"/>
                                          </p:stCondLst>
                                        </p:cTn>
                                        <p:tgtEl>
                                          <p:spTgt spid="18"/>
                                        </p:tgtEl>
                                        <p:attrNameLst>
                                          <p:attrName>style.visibility</p:attrName>
                                        </p:attrNameLst>
                                      </p:cBhvr>
                                      <p:to>
                                        <p:strVal val="visible"/>
                                      </p:to>
                                    </p:set>
                                    <p:animEffect transition="in" filter="fade">
                                      <p:cBhvr>
                                        <p:cTn id="5010" dur="500"/>
                                        <p:tgtEl>
                                          <p:spTgt spid="18"/>
                                        </p:tgtEl>
                                      </p:cBhvr>
                                    </p:animEffect>
                                  </p:childTnLst>
                                </p:cTn>
                              </p:par>
                            </p:childTnLst>
                          </p:cTn>
                        </p:par>
                      </p:childTnLst>
                    </p:cTn>
                  </p:par>
                  <p:par>
                    <p:cTn id="5049" fill="hold">
                      <p:stCondLst>
                        <p:cond delay="indefinite"/>
                      </p:stCondLst>
                      <p:childTnLst>
                        <p:par>
                          <p:cTn id="5050" fill="hold">
                            <p:stCondLst>
                              <p:cond delay="0"/>
                            </p:stCondLst>
                            <p:childTnLst>
                              <p:par>
                                <p:cTn id="5013" presetID="10" presetClass="exit" presetSubtype="0" fill="hold" nodeType="clickEffect">
                                  <p:stCondLst>
                                    <p:cond delay="0"/>
                                  </p:stCondLst>
                                  <p:childTnLst>
                                    <p:animEffect transition="out" filter="fade">
                                      <p:cBhvr>
                                        <p:cTn id="5014" dur="400"/>
                                        <p:tgtEl>
                                          <p:spTgt spid="5"/>
                                        </p:tgtEl>
                                      </p:cBhvr>
                                    </p:animEffect>
                                    <p:set>
                                      <p:cBhvr>
                                        <p:cTn id="5015" dur="1" fill="hold">
                                          <p:stCondLst>
                                            <p:cond delay="399"/>
                                          </p:stCondLst>
                                        </p:cTn>
                                        <p:tgtEl>
                                          <p:spTgt spid="5"/>
                                        </p:tgtEl>
                                        <p:attrNameLst>
                                          <p:attrName>style.visibility</p:attrName>
                                        </p:attrNameLst>
                                      </p:cBhvr>
                                      <p:to>
                                        <p:strVal val="hidden"/>
                                      </p:to>
                                    </p:set>
                                  </p:childTnLst>
                                </p:cTn>
                              </p:par>
                              <p:par>
                                <p:cTn id="5016" presetID="10" presetClass="exit" presetSubtype="0" fill="hold" nodeType="withEffect">
                                  <p:stCondLst>
                                    <p:cond delay="0"/>
                                  </p:stCondLst>
                                  <p:childTnLst>
                                    <p:animEffect transition="out" filter="fade">
                                      <p:cBhvr>
                                        <p:cTn id="5017" dur="400"/>
                                        <p:tgtEl>
                                          <p:spTgt spid="6"/>
                                        </p:tgtEl>
                                      </p:cBhvr>
                                    </p:animEffect>
                                    <p:set>
                                      <p:cBhvr>
                                        <p:cTn id="5018" dur="1" fill="hold">
                                          <p:stCondLst>
                                            <p:cond delay="399"/>
                                          </p:stCondLst>
                                        </p:cTn>
                                        <p:tgtEl>
                                          <p:spTgt spid="6"/>
                                        </p:tgtEl>
                                        <p:attrNameLst>
                                          <p:attrName>style.visibility</p:attrName>
                                        </p:attrNameLst>
                                      </p:cBhvr>
                                      <p:to>
                                        <p:strVal val="hidden"/>
                                      </p:to>
                                    </p:set>
                                  </p:childTnLst>
                                </p:cTn>
                              </p:par>
                              <p:par>
                                <p:cTn id="5019" presetID="10" presetClass="exit" presetSubtype="0" fill="hold" nodeType="withEffect">
                                  <p:stCondLst>
                                    <p:cond delay="0"/>
                                  </p:stCondLst>
                                  <p:childTnLst>
                                    <p:animEffect transition="out" filter="fade">
                                      <p:cBhvr>
                                        <p:cTn id="5020" dur="400"/>
                                        <p:tgtEl>
                                          <p:spTgt spid="7"/>
                                        </p:tgtEl>
                                      </p:cBhvr>
                                    </p:animEffect>
                                    <p:set>
                                      <p:cBhvr>
                                        <p:cTn id="5021" dur="1" fill="hold">
                                          <p:stCondLst>
                                            <p:cond delay="399"/>
                                          </p:stCondLst>
                                        </p:cTn>
                                        <p:tgtEl>
                                          <p:spTgt spid="7"/>
                                        </p:tgtEl>
                                        <p:attrNameLst>
                                          <p:attrName>style.visibility</p:attrName>
                                        </p:attrNameLst>
                                      </p:cBhvr>
                                      <p:to>
                                        <p:strVal val="hidden"/>
                                      </p:to>
                                    </p:set>
                                  </p:childTnLst>
                                </p:cTn>
                              </p:par>
                              <p:par>
                                <p:cTn id="5022" presetID="10" presetClass="exit" presetSubtype="0" fill="hold" nodeType="withEffect">
                                  <p:stCondLst>
                                    <p:cond delay="0"/>
                                  </p:stCondLst>
                                  <p:childTnLst>
                                    <p:animEffect transition="out" filter="fade">
                                      <p:cBhvr>
                                        <p:cTn id="5023" dur="400"/>
                                        <p:tgtEl>
                                          <p:spTgt spid="8"/>
                                        </p:tgtEl>
                                      </p:cBhvr>
                                    </p:animEffect>
                                    <p:set>
                                      <p:cBhvr>
                                        <p:cTn id="5024" dur="1" fill="hold">
                                          <p:stCondLst>
                                            <p:cond delay="399"/>
                                          </p:stCondLst>
                                        </p:cTn>
                                        <p:tgtEl>
                                          <p:spTgt spid="8"/>
                                        </p:tgtEl>
                                        <p:attrNameLst>
                                          <p:attrName>style.visibility</p:attrName>
                                        </p:attrNameLst>
                                      </p:cBhvr>
                                      <p:to>
                                        <p:strVal val="hidden"/>
                                      </p:to>
                                    </p:set>
                                  </p:childTnLst>
                                </p:cTn>
                              </p:par>
                              <p:par>
                                <p:cTn id="5025" presetID="10" presetClass="exit" presetSubtype="0" fill="hold" nodeType="withEffect">
                                  <p:stCondLst>
                                    <p:cond delay="0"/>
                                  </p:stCondLst>
                                  <p:childTnLst>
                                    <p:animEffect transition="out" filter="fade">
                                      <p:cBhvr>
                                        <p:cTn id="5026" dur="400"/>
                                        <p:tgtEl>
                                          <p:spTgt spid="17"/>
                                        </p:tgtEl>
                                      </p:cBhvr>
                                    </p:animEffect>
                                    <p:set>
                                      <p:cBhvr>
                                        <p:cTn id="5027" dur="1" fill="hold">
                                          <p:stCondLst>
                                            <p:cond delay="399"/>
                                          </p:stCondLst>
                                        </p:cTn>
                                        <p:tgtEl>
                                          <p:spTgt spid="17"/>
                                        </p:tgtEl>
                                        <p:attrNameLst>
                                          <p:attrName>style.visibility</p:attrName>
                                        </p:attrNameLst>
                                      </p:cBhvr>
                                      <p:to>
                                        <p:strVal val="hidden"/>
                                      </p:to>
                                    </p:set>
                                  </p:childTnLst>
                                </p:cTn>
                              </p:par>
                              <p:par>
                                <p:cTn id="5028" presetID="10" presetClass="exit" presetSubtype="0" fill="hold" nodeType="withEffect">
                                  <p:stCondLst>
                                    <p:cond delay="0"/>
                                  </p:stCondLst>
                                  <p:childTnLst>
                                    <p:animEffect transition="out" filter="fade">
                                      <p:cBhvr>
                                        <p:cTn id="5029" dur="400"/>
                                        <p:tgtEl>
                                          <p:spTgt spid="18"/>
                                        </p:tgtEl>
                                      </p:cBhvr>
                                    </p:animEffect>
                                    <p:set>
                                      <p:cBhvr>
                                        <p:cTn id="5030" dur="1" fill="hold">
                                          <p:stCondLst>
                                            <p:cond delay="399"/>
                                          </p:stCondLst>
                                        </p:cTn>
                                        <p:tgtEl>
                                          <p:spTgt spid="18"/>
                                        </p:tgtEl>
                                        <p:attrNameLst>
                                          <p:attrName>style.visibility</p:attrName>
                                        </p:attrNameLst>
                                      </p:cBhvr>
                                      <p:to>
                                        <p:strVal val="hidden"/>
                                      </p:to>
                                    </p:set>
                                  </p:childTnLst>
                                </p:cTn>
                              </p:par>
                              <p:par>
                                <p:cTn id="5031" presetID="22" presetClass="entr" presetSubtype="8" fill="hold" nodeType="withEffect">
                                  <p:stCondLst>
                                    <p:cond delay="200"/>
                                  </p:stCondLst>
                                  <p:childTnLst>
                                    <p:set>
                                      <p:cBhvr>
                                        <p:cTn id="5032" dur="1" fill="hold">
                                          <p:stCondLst>
                                            <p:cond delay="0"/>
                                          </p:stCondLst>
                                        </p:cTn>
                                        <p:tgtEl>
                                          <p:spTgt spid="9"/>
                                        </p:tgtEl>
                                        <p:attrNameLst>
                                          <p:attrName>style.visibility</p:attrName>
                                        </p:attrNameLst>
                                      </p:cBhvr>
                                      <p:to>
                                        <p:strVal val="visible"/>
                                      </p:to>
                                    </p:set>
                                    <p:animEffect transition="in" filter="wipe(left)">
                                      <p:cBhvr>
                                        <p:cTn id="5033" dur="500"/>
                                        <p:tgtEl>
                                          <p:spTgt spid="9"/>
                                        </p:tgtEl>
                                      </p:cBhvr>
                                    </p:animEffect>
                                  </p:childTnLst>
                                </p:cTn>
                              </p:par>
                              <p:par>
                                <p:cTn id="5034" presetID="22" presetClass="entr" presetSubtype="8" fill="hold" nodeType="withEffect">
                                  <p:stCondLst>
                                    <p:cond delay="270"/>
                                  </p:stCondLst>
                                  <p:childTnLst>
                                    <p:set>
                                      <p:cBhvr>
                                        <p:cTn id="5035" dur="1" fill="hold">
                                          <p:stCondLst>
                                            <p:cond delay="0"/>
                                          </p:stCondLst>
                                        </p:cTn>
                                        <p:tgtEl>
                                          <p:spTgt spid="10"/>
                                        </p:tgtEl>
                                        <p:attrNameLst>
                                          <p:attrName>style.visibility</p:attrName>
                                        </p:attrNameLst>
                                      </p:cBhvr>
                                      <p:to>
                                        <p:strVal val="visible"/>
                                      </p:to>
                                    </p:set>
                                    <p:animEffect transition="in" filter="wipe(left)">
                                      <p:cBhvr>
                                        <p:cTn id="5036" dur="500"/>
                                        <p:tgtEl>
                                          <p:spTgt spid="10"/>
                                        </p:tgtEl>
                                      </p:cBhvr>
                                    </p:animEffect>
                                  </p:childTnLst>
                                </p:cTn>
                              </p:par>
                              <p:par>
                                <p:cTn id="5037" presetID="22" presetClass="entr" presetSubtype="8" fill="hold" nodeType="withEffect">
                                  <p:stCondLst>
                                    <p:cond delay="340"/>
                                  </p:stCondLst>
                                  <p:childTnLst>
                                    <p:set>
                                      <p:cBhvr>
                                        <p:cTn id="5038" dur="1" fill="hold">
                                          <p:stCondLst>
                                            <p:cond delay="0"/>
                                          </p:stCondLst>
                                        </p:cTn>
                                        <p:tgtEl>
                                          <p:spTgt spid="11"/>
                                        </p:tgtEl>
                                        <p:attrNameLst>
                                          <p:attrName>style.visibility</p:attrName>
                                        </p:attrNameLst>
                                      </p:cBhvr>
                                      <p:to>
                                        <p:strVal val="visible"/>
                                      </p:to>
                                    </p:set>
                                    <p:animEffect transition="in" filter="wipe(left)">
                                      <p:cBhvr>
                                        <p:cTn id="5039" dur="500"/>
                                        <p:tgtEl>
                                          <p:spTgt spid="11"/>
                                        </p:tgtEl>
                                      </p:cBhvr>
                                    </p:animEffect>
                                  </p:childTnLst>
                                </p:cTn>
                              </p:par>
                              <p:par>
                                <p:cTn id="5040" presetID="22" presetClass="entr" presetSubtype="8" fill="hold" nodeType="withEffect">
                                  <p:stCondLst>
                                    <p:cond delay="410"/>
                                  </p:stCondLst>
                                  <p:childTnLst>
                                    <p:set>
                                      <p:cBhvr>
                                        <p:cTn id="5041" dur="1" fill="hold">
                                          <p:stCondLst>
                                            <p:cond delay="0"/>
                                          </p:stCondLst>
                                        </p:cTn>
                                        <p:tgtEl>
                                          <p:spTgt spid="12"/>
                                        </p:tgtEl>
                                        <p:attrNameLst>
                                          <p:attrName>style.visibility</p:attrName>
                                        </p:attrNameLst>
                                      </p:cBhvr>
                                      <p:to>
                                        <p:strVal val="visible"/>
                                      </p:to>
                                    </p:set>
                                    <p:animEffect transition="in" filter="wipe(left)">
                                      <p:cBhvr>
                                        <p:cTn id="5042" dur="500"/>
                                        <p:tgtEl>
                                          <p:spTgt spid="12"/>
                                        </p:tgtEl>
                                      </p:cBhvr>
                                    </p:animEffect>
                                  </p:childTnLst>
                                </p:cTn>
                              </p:par>
                              <p:par>
                                <p:cTn id="5043" presetID="22" presetClass="entr" presetSubtype="8" fill="hold" nodeType="withEffect">
                                  <p:stCondLst>
                                    <p:cond delay="480"/>
                                  </p:stCondLst>
                                  <p:childTnLst>
                                    <p:set>
                                      <p:cBhvr>
                                        <p:cTn id="5044" dur="1" fill="hold">
                                          <p:stCondLst>
                                            <p:cond delay="0"/>
                                          </p:stCondLst>
                                        </p:cTn>
                                        <p:tgtEl>
                                          <p:spTgt spid="19"/>
                                        </p:tgtEl>
                                        <p:attrNameLst>
                                          <p:attrName>style.visibility</p:attrName>
                                        </p:attrNameLst>
                                      </p:cBhvr>
                                      <p:to>
                                        <p:strVal val="visible"/>
                                      </p:to>
                                    </p:set>
                                    <p:animEffect transition="in" filter="wipe(left)">
                                      <p:cBhvr>
                                        <p:cTn id="5045" dur="500"/>
                                        <p:tgtEl>
                                          <p:spTgt spid="19"/>
                                        </p:tgtEl>
                                      </p:cBhvr>
                                    </p:animEffect>
                                  </p:childTnLst>
                                </p:cTn>
                              </p:par>
                              <p:par>
                                <p:cTn id="5046" presetID="22" presetClass="entr" presetSubtype="8" fill="hold" nodeType="withEffect">
                                  <p:stCondLst>
                                    <p:cond delay="550"/>
                                  </p:stCondLst>
                                  <p:childTnLst>
                                    <p:set>
                                      <p:cBhvr>
                                        <p:cTn id="5047" dur="1" fill="hold">
                                          <p:stCondLst>
                                            <p:cond delay="0"/>
                                          </p:stCondLst>
                                        </p:cTn>
                                        <p:tgtEl>
                                          <p:spTgt spid="20"/>
                                        </p:tgtEl>
                                        <p:attrNameLst>
                                          <p:attrName>style.visibility</p:attrName>
                                        </p:attrNameLst>
                                      </p:cBhvr>
                                      <p:to>
                                        <p:strVal val="visible"/>
                                      </p:to>
                                    </p:set>
                                    <p:animEffect transition="in" filter="wipe(left)">
                                      <p:cBhvr>
                                        <p:cTn id="5048" dur="500"/>
                                        <p:tgtEl>
                                          <p:spTgt spid="20"/>
                                        </p:tgtEl>
                                      </p:cBhvr>
                                    </p:animEffect>
                                  </p:childTnLst>
                                </p:cTn>
                              </p:par>
                            </p:childTnLst>
                          </p:cTn>
                        </p:par>
                      </p:childTnLst>
                    </p:cTn>
                  </p:par>
                  <p:par>
                    <p:cTn id="5081" fill="hold">
                      <p:stCondLst>
                        <p:cond delay="indefinite"/>
                      </p:stCondLst>
                      <p:childTnLst>
                        <p:par>
                          <p:cTn id="5082" fill="hold">
                            <p:stCondLst>
                              <p:cond delay="0"/>
                            </p:stCondLst>
                            <p:childTnLst>
                              <p:par>
                                <p:cTn id="5051" presetID="10" presetClass="exit" presetSubtype="0" fill="hold" nodeType="clickEffect">
                                  <p:stCondLst>
                                    <p:cond delay="0"/>
                                  </p:stCondLst>
                                  <p:childTnLst>
                                    <p:animEffect transition="out" filter="fade">
                                      <p:cBhvr>
                                        <p:cTn id="5052" dur="400"/>
                                        <p:tgtEl>
                                          <p:spTgt spid="9"/>
                                        </p:tgtEl>
                                      </p:cBhvr>
                                    </p:animEffect>
                                    <p:set>
                                      <p:cBhvr>
                                        <p:cTn id="5053" dur="1" fill="hold">
                                          <p:stCondLst>
                                            <p:cond delay="399"/>
                                          </p:stCondLst>
                                        </p:cTn>
                                        <p:tgtEl>
                                          <p:spTgt spid="9"/>
                                        </p:tgtEl>
                                        <p:attrNameLst>
                                          <p:attrName>style.visibility</p:attrName>
                                        </p:attrNameLst>
                                      </p:cBhvr>
                                      <p:to>
                                        <p:strVal val="hidden"/>
                                      </p:to>
                                    </p:set>
                                  </p:childTnLst>
                                </p:cTn>
                              </p:par>
                              <p:par>
                                <p:cTn id="5054" presetID="10" presetClass="exit" presetSubtype="0" fill="hold" nodeType="withEffect">
                                  <p:stCondLst>
                                    <p:cond delay="0"/>
                                  </p:stCondLst>
                                  <p:childTnLst>
                                    <p:animEffect transition="out" filter="fade">
                                      <p:cBhvr>
                                        <p:cTn id="5055" dur="400"/>
                                        <p:tgtEl>
                                          <p:spTgt spid="10"/>
                                        </p:tgtEl>
                                      </p:cBhvr>
                                    </p:animEffect>
                                    <p:set>
                                      <p:cBhvr>
                                        <p:cTn id="5056" dur="1" fill="hold">
                                          <p:stCondLst>
                                            <p:cond delay="399"/>
                                          </p:stCondLst>
                                        </p:cTn>
                                        <p:tgtEl>
                                          <p:spTgt spid="10"/>
                                        </p:tgtEl>
                                        <p:attrNameLst>
                                          <p:attrName>style.visibility</p:attrName>
                                        </p:attrNameLst>
                                      </p:cBhvr>
                                      <p:to>
                                        <p:strVal val="hidden"/>
                                      </p:to>
                                    </p:set>
                                  </p:childTnLst>
                                </p:cTn>
                              </p:par>
                              <p:par>
                                <p:cTn id="5057" presetID="10" presetClass="exit" presetSubtype="0" fill="hold" nodeType="withEffect">
                                  <p:stCondLst>
                                    <p:cond delay="0"/>
                                  </p:stCondLst>
                                  <p:childTnLst>
                                    <p:animEffect transition="out" filter="fade">
                                      <p:cBhvr>
                                        <p:cTn id="5058" dur="400"/>
                                        <p:tgtEl>
                                          <p:spTgt spid="11"/>
                                        </p:tgtEl>
                                      </p:cBhvr>
                                    </p:animEffect>
                                    <p:set>
                                      <p:cBhvr>
                                        <p:cTn id="5059" dur="1" fill="hold">
                                          <p:stCondLst>
                                            <p:cond delay="399"/>
                                          </p:stCondLst>
                                        </p:cTn>
                                        <p:tgtEl>
                                          <p:spTgt spid="11"/>
                                        </p:tgtEl>
                                        <p:attrNameLst>
                                          <p:attrName>style.visibility</p:attrName>
                                        </p:attrNameLst>
                                      </p:cBhvr>
                                      <p:to>
                                        <p:strVal val="hidden"/>
                                      </p:to>
                                    </p:set>
                                  </p:childTnLst>
                                </p:cTn>
                              </p:par>
                              <p:par>
                                <p:cTn id="5060" presetID="10" presetClass="exit" presetSubtype="0" fill="hold" nodeType="withEffect">
                                  <p:stCondLst>
                                    <p:cond delay="0"/>
                                  </p:stCondLst>
                                  <p:childTnLst>
                                    <p:animEffect transition="out" filter="fade">
                                      <p:cBhvr>
                                        <p:cTn id="5061" dur="400"/>
                                        <p:tgtEl>
                                          <p:spTgt spid="12"/>
                                        </p:tgtEl>
                                      </p:cBhvr>
                                    </p:animEffect>
                                    <p:set>
                                      <p:cBhvr>
                                        <p:cTn id="5062" dur="1" fill="hold">
                                          <p:stCondLst>
                                            <p:cond delay="399"/>
                                          </p:stCondLst>
                                        </p:cTn>
                                        <p:tgtEl>
                                          <p:spTgt spid="12"/>
                                        </p:tgtEl>
                                        <p:attrNameLst>
                                          <p:attrName>style.visibility</p:attrName>
                                        </p:attrNameLst>
                                      </p:cBhvr>
                                      <p:to>
                                        <p:strVal val="hidden"/>
                                      </p:to>
                                    </p:set>
                                  </p:childTnLst>
                                </p:cTn>
                              </p:par>
                              <p:par>
                                <p:cTn id="5063" presetID="10" presetClass="exit" presetSubtype="0" fill="hold" nodeType="withEffect">
                                  <p:stCondLst>
                                    <p:cond delay="0"/>
                                  </p:stCondLst>
                                  <p:childTnLst>
                                    <p:animEffect transition="out" filter="fade">
                                      <p:cBhvr>
                                        <p:cTn id="5064" dur="400"/>
                                        <p:tgtEl>
                                          <p:spTgt spid="19"/>
                                        </p:tgtEl>
                                      </p:cBhvr>
                                    </p:animEffect>
                                    <p:set>
                                      <p:cBhvr>
                                        <p:cTn id="5065" dur="1" fill="hold">
                                          <p:stCondLst>
                                            <p:cond delay="399"/>
                                          </p:stCondLst>
                                        </p:cTn>
                                        <p:tgtEl>
                                          <p:spTgt spid="19"/>
                                        </p:tgtEl>
                                        <p:attrNameLst>
                                          <p:attrName>style.visibility</p:attrName>
                                        </p:attrNameLst>
                                      </p:cBhvr>
                                      <p:to>
                                        <p:strVal val="hidden"/>
                                      </p:to>
                                    </p:set>
                                  </p:childTnLst>
                                </p:cTn>
                              </p:par>
                              <p:par>
                                <p:cTn id="5066" presetID="10" presetClass="exit" presetSubtype="0" fill="hold" nodeType="withEffect">
                                  <p:stCondLst>
                                    <p:cond delay="0"/>
                                  </p:stCondLst>
                                  <p:childTnLst>
                                    <p:animEffect transition="out" filter="fade">
                                      <p:cBhvr>
                                        <p:cTn id="5067" dur="400"/>
                                        <p:tgtEl>
                                          <p:spTgt spid="20"/>
                                        </p:tgtEl>
                                      </p:cBhvr>
                                    </p:animEffect>
                                    <p:set>
                                      <p:cBhvr>
                                        <p:cTn id="5068" dur="1" fill="hold">
                                          <p:stCondLst>
                                            <p:cond delay="399"/>
                                          </p:stCondLst>
                                        </p:cTn>
                                        <p:tgtEl>
                                          <p:spTgt spid="20"/>
                                        </p:tgtEl>
                                        <p:attrNameLst>
                                          <p:attrName>style.visibility</p:attrName>
                                        </p:attrNameLst>
                                      </p:cBhvr>
                                      <p:to>
                                        <p:strVal val="hidden"/>
                                      </p:to>
                                    </p:set>
                                  </p:childTnLst>
                                </p:cTn>
                              </p:par>
                              <p:par>
                                <p:cTn id="5069" presetID="22" presetClass="entr" presetSubtype="4" fill="hold" nodeType="withEffect">
                                  <p:stCondLst>
                                    <p:cond delay="200"/>
                                  </p:stCondLst>
                                  <p:childTnLst>
                                    <p:set>
                                      <p:cBhvr>
                                        <p:cTn id="5070" dur="1" fill="hold">
                                          <p:stCondLst>
                                            <p:cond delay="0"/>
                                          </p:stCondLst>
                                        </p:cTn>
                                        <p:tgtEl>
                                          <p:spTgt spid="13"/>
                                        </p:tgtEl>
                                        <p:attrNameLst>
                                          <p:attrName>style.visibility</p:attrName>
                                        </p:attrNameLst>
                                      </p:cBhvr>
                                      <p:to>
                                        <p:strVal val="visible"/>
                                      </p:to>
                                    </p:set>
                                    <p:animEffect transition="in" filter="wipe(down)">
                                      <p:cBhvr>
                                        <p:cTn id="5071" dur="500"/>
                                        <p:tgtEl>
                                          <p:spTgt spid="13"/>
                                        </p:tgtEl>
                                      </p:cBhvr>
                                    </p:animEffect>
                                  </p:childTnLst>
                                </p:cTn>
                              </p:par>
                              <p:par>
                                <p:cTn id="5072" presetID="22" presetClass="entr" presetSubtype="4" fill="hold" nodeType="withEffect">
                                  <p:stCondLst>
                                    <p:cond delay="270"/>
                                  </p:stCondLst>
                                  <p:childTnLst>
                                    <p:set>
                                      <p:cBhvr>
                                        <p:cTn id="5073" dur="1" fill="hold">
                                          <p:stCondLst>
                                            <p:cond delay="0"/>
                                          </p:stCondLst>
                                        </p:cTn>
                                        <p:tgtEl>
                                          <p:spTgt spid="14"/>
                                        </p:tgtEl>
                                        <p:attrNameLst>
                                          <p:attrName>style.visibility</p:attrName>
                                        </p:attrNameLst>
                                      </p:cBhvr>
                                      <p:to>
                                        <p:strVal val="visible"/>
                                      </p:to>
                                    </p:set>
                                    <p:animEffect transition="in" filter="wipe(down)">
                                      <p:cBhvr>
                                        <p:cTn id="5074" dur="500"/>
                                        <p:tgtEl>
                                          <p:spTgt spid="14"/>
                                        </p:tgtEl>
                                      </p:cBhvr>
                                    </p:animEffect>
                                  </p:childTnLst>
                                </p:cTn>
                              </p:par>
                              <p:par>
                                <p:cTn id="5075" presetID="22" presetClass="entr" presetSubtype="4" fill="hold" nodeType="withEffect">
                                  <p:stCondLst>
                                    <p:cond delay="340"/>
                                  </p:stCondLst>
                                  <p:childTnLst>
                                    <p:set>
                                      <p:cBhvr>
                                        <p:cTn id="5076" dur="1" fill="hold">
                                          <p:stCondLst>
                                            <p:cond delay="0"/>
                                          </p:stCondLst>
                                        </p:cTn>
                                        <p:tgtEl>
                                          <p:spTgt spid="21"/>
                                        </p:tgtEl>
                                        <p:attrNameLst>
                                          <p:attrName>style.visibility</p:attrName>
                                        </p:attrNameLst>
                                      </p:cBhvr>
                                      <p:to>
                                        <p:strVal val="visible"/>
                                      </p:to>
                                    </p:set>
                                    <p:animEffect transition="in" filter="wipe(down)">
                                      <p:cBhvr>
                                        <p:cTn id="5077" dur="500"/>
                                        <p:tgtEl>
                                          <p:spTgt spid="21"/>
                                        </p:tgtEl>
                                      </p:cBhvr>
                                    </p:animEffect>
                                  </p:childTnLst>
                                </p:cTn>
                              </p:par>
                              <p:par>
                                <p:cTn id="5078" presetID="22" presetClass="entr" presetSubtype="4" fill="hold" nodeType="withEffect">
                                  <p:stCondLst>
                                    <p:cond delay="410"/>
                                  </p:stCondLst>
                                  <p:childTnLst>
                                    <p:set>
                                      <p:cBhvr>
                                        <p:cTn id="5079" dur="1" fill="hold">
                                          <p:stCondLst>
                                            <p:cond delay="0"/>
                                          </p:stCondLst>
                                        </p:cTn>
                                        <p:tgtEl>
                                          <p:spTgt spid="22"/>
                                        </p:tgtEl>
                                        <p:attrNameLst>
                                          <p:attrName>style.visibility</p:attrName>
                                        </p:attrNameLst>
                                      </p:cBhvr>
                                      <p:to>
                                        <p:strVal val="visible"/>
                                      </p:to>
                                    </p:set>
                                    <p:animEffect transition="in" filter="wipe(down)">
                                      <p:cBhvr>
                                        <p:cTn id="508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La SNR aparente es alta sobre 10 Hz y no distingue señal de ruido bajo 10 Hz</a:t>
            </a:r>
            <a:endParaRPr lang="en-US" sz="2200" dirty="0"/>
          </a:p>
        </p:txBody>
      </p:sp>
      <p:sp>
        <p:nvSpPr>
          <p:cNvPr id="3" name="Fondo E_snr [s0]"/>
          <p:cNvSpPr/>
          <p:nvPr/>
        </p:nvSpPr>
        <p:spPr>
          <a:xfrm>
            <a:off x="966136" y="1561458"/>
            <a:ext cx="7211728" cy="761238"/>
          </a:xfrm>
          <a:prstGeom prst="rect">
            <a:avLst/>
          </a:prstGeom>
          <a:solidFill>
            <a:srgbClr val="EAF1F8"/>
          </a:solidFill>
          <a:ln w="6350">
            <a:solidFill>
              <a:srgbClr val="EAF1F8"/>
            </a:solidFill>
            <a:prstDash val="solid"/>
          </a:ln>
        </p:spPr>
      </p:sp>
      <mc:AlternateContent xmlns:mc="http://schemas.openxmlformats.org/markup-compatibility/2006">
        <mc:Choice xmlns:a14="http://schemas.microsoft.com/office/drawing/2010/main" Requires="a14">
          <p:sp>
            <p:nvSpPr>
              <p:cNvPr id="4" name="Ecuación E_snr [s0]"/>
              <p:cNvSpPr txBox="1"/>
              <p:nvPr/>
            </p:nvSpPr>
            <p:spPr>
              <a:xfrm>
                <a:off x="966136" y="1561458"/>
                <a:ext cx="7211728" cy="761238"/>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SNR</m:t>
                          </m:r>
                        </m:e>
                        <m:sub>
                          <m:r>
                            <a:rPr lang="es-ES" sz="2300" i="1">
                              <a:solidFill>
                                <a:srgbClr val="1F4E79"/>
                              </a:solidFill>
                              <a:latin typeface="Cambria Math" panose="02040503050406030204" pitchFamily="18" charset="0"/>
                            </a:rPr>
                            <m:t xml:space="preserve">ap</m:t>
                          </m:r>
                        </m:sub>
                      </m:sSub>
                      <m:r>
                        <a:rPr lang="es-ES" sz="2300" i="1">
                          <a:solidFill>
                            <a:srgbClr val="1F4E79"/>
                          </a:solidFill>
                          <a:latin typeface="Cambria Math" panose="02040503050406030204" pitchFamily="18" charset="0"/>
                        </a:rPr>
                        <m:t xml:space="preserve">(f)=10·log</m:t>
                      </m:r>
                      <m:r>
                        <a:rPr lang="es-ES" sz="2300" i="1">
                          <a:solidFill>
                            <a:srgbClr val="1F4E79"/>
                          </a:solidFill>
                          <a:latin typeface="Cambria Math" panose="02040503050406030204" pitchFamily="18" charset="0"/>
                        </a:rPr>
                        <m:t xml:space="preserve">(</m:t>
                      </m:r>
                      <m:f>
                        <m:fPr>
                          <m:ctrlPr>
                            <a:rPr lang="es-ES" sz="2300" i="1">
                              <a:latin typeface="Cambria Math" panose="02040503050406030204" pitchFamily="18" charset="0"/>
                            </a:rPr>
                          </m:ctrlPr>
                        </m:fPr>
                        <m:num>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P</m:t>
                              </m:r>
                            </m:e>
                            <m:sub>
                              <m:r>
                                <a:rPr lang="es-ES" sz="2300" i="1">
                                  <a:solidFill>
                                    <a:srgbClr val="1F4E79"/>
                                  </a:solidFill>
                                  <a:latin typeface="Cambria Math" panose="02040503050406030204" pitchFamily="18" charset="0"/>
                                </a:rPr>
                                <m:t xml:space="preserve">post</m:t>
                              </m:r>
                            </m:sub>
                          </m:sSub>
                          <m:r>
                            <a:rPr lang="es-ES" sz="2300" i="1">
                              <a:solidFill>
                                <a:srgbClr val="1F4E79"/>
                              </a:solidFill>
                              <a:latin typeface="Cambria Math" panose="02040503050406030204" pitchFamily="18" charset="0"/>
                            </a:rPr>
                            <m:t xml:space="preserve">(f)</m:t>
                          </m:r>
                        </m:num>
                        <m:den>
                          <m:sSub>
                            <m:sSubPr>
                              <m:ctrlPr>
                                <a:rPr lang="es-ES" sz="2300" i="1">
                                  <a:latin typeface="Cambria Math" panose="02040503050406030204" pitchFamily="18" charset="0"/>
                                </a:rPr>
                              </m:ctrlPr>
                            </m:sSubPr>
                            <m:e>
                              <m:r>
                                <a:rPr lang="es-ES" sz="2300" i="1">
                                  <a:solidFill>
                                    <a:srgbClr val="1F4E79"/>
                                  </a:solidFill>
                                  <a:latin typeface="Cambria Math" panose="02040503050406030204" pitchFamily="18" charset="0"/>
                                </a:rPr>
                                <m:t xml:space="preserve">P</m:t>
                              </m:r>
                            </m:e>
                            <m:sub>
                              <m:r>
                                <a:rPr lang="es-ES" sz="2300" i="1">
                                  <a:solidFill>
                                    <a:srgbClr val="1F4E79"/>
                                  </a:solidFill>
                                  <a:latin typeface="Cambria Math" panose="02040503050406030204" pitchFamily="18" charset="0"/>
                                </a:rPr>
                                <m:t xml:space="preserve">pre</m:t>
                              </m:r>
                            </m:sub>
                          </m:sSub>
                          <m:r>
                            <a:rPr lang="es-ES" sz="2300" i="1">
                              <a:solidFill>
                                <a:srgbClr val="1F4E79"/>
                              </a:solidFill>
                              <a:latin typeface="Cambria Math" panose="02040503050406030204" pitchFamily="18" charset="0"/>
                            </a:rPr>
                            <m:t xml:space="preserve">(f)</m:t>
                          </m:r>
                        </m:den>
                      </m:f>
                      <m:r>
                        <a:rPr lang="es-ES" sz="2300" i="1">
                          <a:solidFill>
                            <a:srgbClr val="1F4E79"/>
                          </a:solidFill>
                          <a:latin typeface="Cambria Math" panose="02040503050406030204" pitchFamily="18" charset="0"/>
                        </a:rPr>
                        <m:t xml:space="preserve">)</m:t>
                      </m:r>
                    </m:oMath>
                  </m:oMathPara>
                </a14:m>
                <a:endParaRPr lang="es-ES"/>
              </a:p>
            </p:txBody>
          </p:sp>
        </mc:Choice>
        <mc:Fallback>
          <p:sp>
            <p:nvSpPr>
              <p:cNvPr id="4" name="Ecuación E_snr [s0]"/>
              <p:cNvSpPr txBox="1"/>
              <p:nvPr/>
            </p:nvSpPr>
            <p:spPr>
              <a:xfrm>
                <a:off x="966136" y="1561458"/>
                <a:ext cx="7211728" cy="761238"/>
              </a:xfrm>
              <a:prstGeom prst="rect">
                <a:avLst/>
              </a:prstGeom>
              <a:noFill/>
              <a:ln/>
            </p:spPr>
            <p:txBody>
              <a:bodyPr wrap="square" lIns="0" tIns="0" rIns="0" bIns="0" rtlCol="0" anchor="ctr"/>
              <a:lstStyle/>
              <a:p>
                <a:pPr algn="ctr" indent="0" marL="0">
                  <a:buNone/>
                </a:pPr>
                <a:r>
                  <a:rPr lang="en-US" sz="2159" dirty="0">
                    <a:solidFill>
                      <a:srgbClr val="1F4E79"/>
                    </a:solidFill>
                    <a:latin typeface="Arial" pitchFamily="34" charset="0"/>
                    <a:ea typeface="Arial" pitchFamily="34" charset="-122"/>
                    <a:cs typeface="Arial" pitchFamily="34" charset="-120"/>
                  </a:rPr>
                  <a:t>SNRap(f) = 10·log10( Ppost(f) / Ppre(f) )</a:t>
                </a:r>
                <a:endParaRPr lang="en-US" sz="2159" dirty="0"/>
              </a:p>
            </p:txBody>
          </p:sp>
        </mc:Fallback>
      </mc:AlternateContent>
      <p:sp>
        <p:nvSpPr>
          <p:cNvPr id="5" name="Cuerpo [s0]"/>
          <p:cNvSpPr txBox="1"/>
          <p:nvPr/>
        </p:nvSpPr>
        <p:spPr>
          <a:xfrm>
            <a:off x="966136" y="2523022"/>
            <a:ext cx="7211728" cy="1442346"/>
          </a:xfrm>
          <a:prstGeom prst="rect">
            <a:avLst/>
          </a:prstGeom>
          <a:noFill/>
          <a:ln/>
        </p:spPr>
        <p:txBody>
          <a:bodyPr wrap="square" lIns="0" tIns="0" rIns="0" bIns="0" rtlCol="0" anchor="t"/>
          <a:lstStyle/>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Ventanas de 1 s antes y después de cada impacto, sin valor medio y con ventana Hann</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Mediana de los espectros previos y posteriores en cada distancia</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Un valor cercano a 0 dB: después del impacto la energía apenas se distingue de la previa</a:t>
            </a:r>
            <a:endParaRPr lang="en-US" sz="1350" dirty="0"/>
          </a:p>
          <a:p>
            <a:pPr marL="342900" indent="-342900">
              <a:spcAft>
                <a:spcPts val="540"/>
              </a:spcAft>
              <a:buSzPct val="100000"/>
              <a:buChar char="•"/>
            </a:pPr>
            <a:r>
              <a:rPr lang="en-US" sz="1350" dirty="0">
                <a:solidFill>
                  <a:srgbClr val="2D2D2D"/>
                </a:solidFill>
                <a:latin typeface="Arial" pitchFamily="34" charset="0"/>
                <a:ea typeface="Arial" pitchFamily="34" charset="-122"/>
                <a:cs typeface="Arial" pitchFamily="34" charset="-120"/>
              </a:rPr>
              <a:t>Resolución espectral de unos 1 Hz: se analizan bandas, no picos aislados</a:t>
            </a:r>
            <a:endParaRPr lang="en-US" sz="1350" dirty="0"/>
          </a:p>
        </p:txBody>
      </p:sp>
      <p:sp>
        <p:nvSpPr>
          <p:cNvPr id="6" name="Franja [s0]"/>
          <p:cNvSpPr/>
          <p:nvPr/>
        </p:nvSpPr>
        <p:spPr>
          <a:xfrm>
            <a:off x="966136" y="4045498"/>
            <a:ext cx="7211728" cy="360586"/>
          </a:xfrm>
          <a:prstGeom prst="rect">
            <a:avLst/>
          </a:prstGeom>
          <a:solidFill>
            <a:srgbClr val="EAF1F8"/>
          </a:solidFill>
          <a:ln w="6350">
            <a:solidFill>
              <a:srgbClr val="EAF1F8"/>
            </a:solidFill>
            <a:prstDash val="solid"/>
          </a:ln>
        </p:spPr>
      </p:sp>
      <p:sp>
        <p:nvSpPr>
          <p:cNvPr id="7" name="Elemento [s0]"/>
          <p:cNvSpPr txBox="1"/>
          <p:nvPr/>
        </p:nvSpPr>
        <p:spPr>
          <a:xfrm>
            <a:off x="1086331" y="4045498"/>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Es “aparente”: la ventana posterior contiene a la vez la respuesta y el ruido.</a:t>
            </a:r>
            <a:endParaRPr lang="en-US" sz="1260" dirty="0"/>
          </a:p>
        </p:txBody>
      </p:sp>
      <p:pic>
        <p:nvPicPr>
          <p:cNvPr id="8" name="Espectro y SNR aparente [s1]" descr="Densidad espectral y SNR aparente de las capturas por distancia entre 10 y 50 metros; banda baja de interés sombreada y frecuencia natural del SM-24 a 10 Hz">    </p:cNvPr>
          <p:cNvPicPr>
            <a:picLocks noChangeAspect="1"/>
          </p:cNvPicPr>
          <p:nvPr/>
        </p:nvPicPr>
        <p:blipFill>
          <a:blip r:embed="rId1"/>
          <a:stretch>
            <a:fillRect/>
          </a:stretch>
        </p:blipFill>
        <p:spPr>
          <a:xfrm>
            <a:off x="886005" y="1561458"/>
            <a:ext cx="3766125" cy="2720604"/>
          </a:xfrm>
          <a:prstGeom prst="rect">
            <a:avLst/>
          </a:prstGeom>
        </p:spPr>
      </p:pic>
      <p:graphicFrame>
        <p:nvGraphicFramePr>
          <p:cNvPr id="26" name="Tabla SNR por banda [s1]"/>
          <p:cNvGraphicFramePr>
            <a:graphicFrameLocks noGrp="1"/>
          </p:cNvGraphicFramePr>
          <p:nvPr>
            <p:extLst>
              <p:ext uri="{D42A27DB-BD31-4B8C-83A1-F6EECF244321}">
                <p14:modId xmlns:p14="http://schemas.microsoft.com/office/powerpoint/2010/main" val="1579011935"/>
              </p:ext>
            </p:extLst>
          </p:nvPr>
        </p:nvGraphicFramePr>
        <p:xfrm>
          <a:off x="4892521" y="1561458"/>
          <a:ext cx="3285343" cy="914400"/>
        </p:xfrm>
        <a:graphic>
          <a:graphicData uri="http://schemas.openxmlformats.org/drawingml/2006/table">
            <a:tbl>
              <a:tblPr/>
              <a:tblGrid>
                <a:gridCol w="1282085"/>
                <a:gridCol w="2003258"/>
              </a:tblGrid>
              <a:tr h="272443">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Banda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SNR aparente (mediana)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1–5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C55A11"/>
                          </a:solidFill>
                          <a:latin typeface="Arial" pitchFamily="34" charset="0"/>
                          <a:ea typeface="Arial" pitchFamily="34" charset="-122"/>
                          <a:cs typeface="Arial" pitchFamily="34" charset="-120"/>
                        </a:rPr>
                        <a:t>0,5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5–10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C55A11"/>
                          </a:solidFill>
                          <a:latin typeface="Arial" pitchFamily="34" charset="0"/>
                          <a:ea typeface="Arial" pitchFamily="34" charset="-122"/>
                          <a:cs typeface="Arial" pitchFamily="34" charset="-120"/>
                        </a:rPr>
                        <a:t>2,1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10–20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1F4E79"/>
                          </a:solidFill>
                          <a:latin typeface="Arial" pitchFamily="34" charset="0"/>
                          <a:ea typeface="Arial" pitchFamily="34" charset="-122"/>
                          <a:cs typeface="Arial" pitchFamily="34" charset="-120"/>
                        </a:rPr>
                        <a:t>16,7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72443">
                <a:tc>
                  <a:txBody>
                    <a:bodyPr/>
                    <a:lstStyle/>
                    <a:p>
                      <a:pPr algn="ctr" indent="0" marL="0">
                        <a:buNone/>
                      </a:pPr>
                      <a:r>
                        <a:rPr lang="en-US" sz="990" dirty="0">
                          <a:solidFill>
                            <a:srgbClr val="2D2D2D"/>
                          </a:solidFill>
                          <a:latin typeface="Arial" pitchFamily="34" charset="0"/>
                          <a:ea typeface="Arial" pitchFamily="34" charset="-122"/>
                          <a:cs typeface="Arial" pitchFamily="34" charset="-120"/>
                        </a:rPr>
                        <a:t>20–50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90" b="1" dirty="0">
                          <a:solidFill>
                            <a:srgbClr val="1F4E79"/>
                          </a:solidFill>
                          <a:latin typeface="Arial" pitchFamily="34" charset="0"/>
                          <a:ea typeface="Arial" pitchFamily="34" charset="-122"/>
                          <a:cs typeface="Arial" pitchFamily="34" charset="-120"/>
                        </a:rPr>
                        <a:t>24,4 dB</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0" name="Cuerpo [s1]"/>
          <p:cNvSpPr txBox="1"/>
          <p:nvPr/>
        </p:nvSpPr>
        <p:spPr>
          <a:xfrm>
            <a:off x="4892521" y="3083934"/>
            <a:ext cx="3285343" cy="1041694"/>
          </a:xfrm>
          <a:prstGeom prst="rect">
            <a:avLst/>
          </a:prstGeom>
          <a:noFill/>
          <a:ln/>
        </p:spPr>
        <p:txBody>
          <a:bodyPr wrap="square" lIns="0" tIns="0" rIns="0" bIns="0" rtlCol="0" anchor="t"/>
          <a:lstStyle/>
          <a:p>
            <a:pPr marL="342900" indent="-342900">
              <a:spcAft>
                <a:spcPts val="540"/>
              </a:spcAft>
              <a:buSzPct val="100000"/>
              <a:buChar char="•"/>
            </a:pPr>
            <a:r>
              <a:rPr lang="en-US" sz="1170" dirty="0">
                <a:solidFill>
                  <a:srgbClr val="2D2D2D"/>
                </a:solidFill>
                <a:latin typeface="Arial" pitchFamily="34" charset="0"/>
                <a:ea typeface="Arial" pitchFamily="34" charset="-122"/>
                <a:cs typeface="Arial" pitchFamily="34" charset="-120"/>
              </a:rPr>
              <a:t>265 impactos en 15 distancias con al menos 3 registros utilizables</a:t>
            </a:r>
            <a:endParaRPr lang="en-US" sz="1170" dirty="0"/>
          </a:p>
          <a:p>
            <a:pPr marL="342900" indent="-342900">
              <a:spcAft>
                <a:spcPts val="540"/>
              </a:spcAft>
              <a:buSzPct val="100000"/>
              <a:buChar char="•"/>
            </a:pPr>
            <a:r>
              <a:rPr lang="en-US" sz="1170" dirty="0">
                <a:solidFill>
                  <a:srgbClr val="2D2D2D"/>
                </a:solidFill>
                <a:latin typeface="Arial" pitchFamily="34" charset="0"/>
                <a:ea typeface="Arial" pitchFamily="34" charset="-122"/>
                <a:cs typeface="Arial" pitchFamily="34" charset="-120"/>
              </a:rPr>
              <a:t>Ninguna distancia superó 10 dB de mediana bajo 10 Hz</a:t>
            </a:r>
            <a:endParaRPr lang="en-US" sz="1170" dirty="0"/>
          </a:p>
        </p:txBody>
      </p:sp>
      <p:sp>
        <p:nvSpPr>
          <p:cNvPr id="11" name="Cabecera Fuente [s2]"/>
          <p:cNvSpPr/>
          <p:nvPr/>
        </p:nvSpPr>
        <p:spPr>
          <a:xfrm>
            <a:off x="966136" y="1561458"/>
            <a:ext cx="2243649" cy="360586"/>
          </a:xfrm>
          <a:prstGeom prst="rect">
            <a:avLst/>
          </a:prstGeom>
          <a:solidFill>
            <a:srgbClr val="1F4E79"/>
          </a:solidFill>
          <a:ln w="6350">
            <a:solidFill>
              <a:srgbClr val="1F4E79"/>
            </a:solidFill>
            <a:prstDash val="solid"/>
          </a:ln>
        </p:spPr>
      </p:sp>
      <p:sp>
        <p:nvSpPr>
          <p:cNvPr id="12" name="Elemento [s2]"/>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Fuente</a:t>
            </a:r>
            <a:endParaRPr lang="en-US" sz="1350" dirty="0"/>
          </a:p>
        </p:txBody>
      </p:sp>
      <p:sp>
        <p:nvSpPr>
          <p:cNvPr id="13" name="Tarjeta Fuente [s2]"/>
          <p:cNvSpPr/>
          <p:nvPr/>
        </p:nvSpPr>
        <p:spPr>
          <a:xfrm>
            <a:off x="966136" y="1922045"/>
            <a:ext cx="2243649" cy="2163519"/>
          </a:xfrm>
          <a:prstGeom prst="rect">
            <a:avLst/>
          </a:prstGeom>
          <a:solidFill>
            <a:srgbClr val="FFFFFF"/>
          </a:solidFill>
          <a:ln w="16694">
            <a:solidFill>
              <a:srgbClr val="1F4E79"/>
            </a:solidFill>
            <a:prstDash val="solid"/>
          </a:ln>
        </p:spPr>
      </p:sp>
      <p:sp>
        <p:nvSpPr>
          <p:cNvPr id="14" name="Elemento [s2]"/>
          <p:cNvSpPr txBox="1"/>
          <p:nvPr/>
        </p:nvSpPr>
        <p:spPr>
          <a:xfrm>
            <a:off x="1062292" y="1986149"/>
            <a:ext cx="2051336" cy="2035310"/>
          </a:xfrm>
          <a:prstGeom prst="rect">
            <a:avLst/>
          </a:prstGeom>
          <a:noFill/>
          <a:ln/>
        </p:spPr>
        <p:txBody>
          <a:bodyPr wrap="square" lIns="0" tIns="0" rIns="0" bIns="0" rtlCol="0" anchor="t"/>
          <a:lstStyle/>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Hipótesis: la maza manual entrega poca energía bajo 10 Hz</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Prueba: excitador de mayor energía y repetibilidad, misma geometría (resumen)</a:t>
            </a:r>
            <a:endParaRPr lang="en-US" sz="1125" dirty="0"/>
          </a:p>
        </p:txBody>
      </p:sp>
      <p:sp>
        <p:nvSpPr>
          <p:cNvPr id="15" name="Cabecera Acople y terreno [s2]"/>
          <p:cNvSpPr/>
          <p:nvPr/>
        </p:nvSpPr>
        <p:spPr>
          <a:xfrm>
            <a:off x="3450176" y="1561458"/>
            <a:ext cx="2243649" cy="360586"/>
          </a:xfrm>
          <a:prstGeom prst="rect">
            <a:avLst/>
          </a:prstGeom>
          <a:solidFill>
            <a:srgbClr val="2E75B6"/>
          </a:solidFill>
          <a:ln w="6350">
            <a:solidFill>
              <a:srgbClr val="2E75B6"/>
            </a:solidFill>
            <a:prstDash val="solid"/>
          </a:ln>
        </p:spPr>
      </p:sp>
      <p:sp>
        <p:nvSpPr>
          <p:cNvPr id="16" name="Elemento [s2]"/>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Acople y terreno</a:t>
            </a:r>
            <a:endParaRPr lang="en-US" sz="1350" dirty="0"/>
          </a:p>
        </p:txBody>
      </p:sp>
      <p:sp>
        <p:nvSpPr>
          <p:cNvPr id="17" name="Tarjeta Acople y terreno [s2]"/>
          <p:cNvSpPr/>
          <p:nvPr/>
        </p:nvSpPr>
        <p:spPr>
          <a:xfrm>
            <a:off x="3450176" y="1922045"/>
            <a:ext cx="2243649" cy="2163519"/>
          </a:xfrm>
          <a:prstGeom prst="rect">
            <a:avLst/>
          </a:prstGeom>
          <a:solidFill>
            <a:srgbClr val="FFFFFF"/>
          </a:solidFill>
          <a:ln w="16694">
            <a:solidFill>
              <a:srgbClr val="2E75B6"/>
            </a:solidFill>
            <a:prstDash val="solid"/>
          </a:ln>
        </p:spPr>
      </p:sp>
      <p:sp>
        <p:nvSpPr>
          <p:cNvPr id="18" name="Elemento [s2]"/>
          <p:cNvSpPr txBox="1"/>
          <p:nvPr/>
        </p:nvSpPr>
        <p:spPr>
          <a:xfrm>
            <a:off x="3546332" y="1986149"/>
            <a:ext cx="2051336" cy="2035310"/>
          </a:xfrm>
          <a:prstGeom prst="rect">
            <a:avLst/>
          </a:prstGeom>
          <a:noFill/>
          <a:ln/>
        </p:spPr>
        <p:txBody>
          <a:bodyPr wrap="square" lIns="0" tIns="0" rIns="0" bIns="0" rtlCol="0" anchor="t"/>
          <a:lstStyle/>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Hipótesis: ruido ambiente o acople del geófono</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Prueba: piso de ruido sin golpear, con el geófono acoplado y desacoplado (propuesta mía)</a:t>
            </a:r>
            <a:endParaRPr lang="en-US" sz="1125" dirty="0"/>
          </a:p>
        </p:txBody>
      </p:sp>
      <p:sp>
        <p:nvSpPr>
          <p:cNvPr id="19" name="Cabecera Geófono y electrónica [s2]"/>
          <p:cNvSpPr/>
          <p:nvPr/>
        </p:nvSpPr>
        <p:spPr>
          <a:xfrm>
            <a:off x="5934215" y="1561458"/>
            <a:ext cx="2243649" cy="360586"/>
          </a:xfrm>
          <a:prstGeom prst="rect">
            <a:avLst/>
          </a:prstGeom>
          <a:solidFill>
            <a:srgbClr val="C55A11"/>
          </a:solidFill>
          <a:ln w="6350">
            <a:solidFill>
              <a:srgbClr val="C55A11"/>
            </a:solidFill>
            <a:prstDash val="solid"/>
          </a:ln>
        </p:spPr>
      </p:sp>
      <p:sp>
        <p:nvSpPr>
          <p:cNvPr id="20" name="Elemento [s2]"/>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Geófono y electrónica</a:t>
            </a:r>
            <a:endParaRPr lang="en-US" sz="1350" dirty="0"/>
          </a:p>
        </p:txBody>
      </p:sp>
      <p:sp>
        <p:nvSpPr>
          <p:cNvPr id="21" name="Tarjeta Geófono y electrónica [s2]"/>
          <p:cNvSpPr/>
          <p:nvPr/>
        </p:nvSpPr>
        <p:spPr>
          <a:xfrm>
            <a:off x="5934215" y="1922045"/>
            <a:ext cx="2243649" cy="2163519"/>
          </a:xfrm>
          <a:prstGeom prst="rect">
            <a:avLst/>
          </a:prstGeom>
          <a:solidFill>
            <a:srgbClr val="FFFFFF"/>
          </a:solidFill>
          <a:ln w="16694">
            <a:solidFill>
              <a:srgbClr val="C55A11"/>
            </a:solidFill>
            <a:prstDash val="solid"/>
          </a:ln>
        </p:spPr>
      </p:sp>
      <p:sp>
        <p:nvSpPr>
          <p:cNvPr id="22" name="Elemento [s2]"/>
          <p:cNvSpPr txBox="1"/>
          <p:nvPr/>
        </p:nvSpPr>
        <p:spPr>
          <a:xfrm>
            <a:off x="6030372" y="1986149"/>
            <a:ext cx="2051336" cy="2035310"/>
          </a:xfrm>
          <a:prstGeom prst="rect">
            <a:avLst/>
          </a:prstGeom>
          <a:noFill/>
          <a:ln/>
        </p:spPr>
        <p:txBody>
          <a:bodyPr wrap="square" lIns="0" tIns="0" rIns="0" bIns="0" rtlCol="0" anchor="t"/>
          <a:lstStyle/>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Hipótesis: el SM-24 pierde sensibilidad bajo 10 Hz y el ruido del AFE no está medido</a:t>
            </a:r>
            <a:endParaRPr lang="en-US" sz="1125" dirty="0"/>
          </a:p>
          <a:p>
            <a:pPr algn="l" marL="342900" indent="-342900">
              <a:buSzPct val="100000"/>
              <a:buChar char="•"/>
            </a:pPr>
            <a:r>
              <a:rPr lang="en-US" sz="1125" dirty="0">
                <a:solidFill>
                  <a:srgbClr val="2D2D2D"/>
                </a:solidFill>
                <a:latin typeface="Arial" pitchFamily="34" charset="0"/>
                <a:ea typeface="Arial" pitchFamily="34" charset="-122"/>
                <a:cs typeface="Arial" pitchFamily="34" charset="-120"/>
              </a:rPr>
              <a:t>Prueba: entrada terminada para aislar la electrónica; comparar con un geófono de 4,5 Hz (propuesta mía)</a:t>
            </a:r>
            <a:endParaRPr lang="en-US" sz="1125" dirty="0"/>
          </a:p>
        </p:txBody>
      </p:sp>
      <p:sp>
        <p:nvSpPr>
          <p:cNvPr id="23" name="Franja [s2]"/>
          <p:cNvSpPr/>
          <p:nvPr/>
        </p:nvSpPr>
        <p:spPr>
          <a:xfrm>
            <a:off x="966136" y="4165694"/>
            <a:ext cx="7211728" cy="360586"/>
          </a:xfrm>
          <a:prstGeom prst="rect">
            <a:avLst/>
          </a:prstGeom>
          <a:solidFill>
            <a:srgbClr val="EAF1F8"/>
          </a:solidFill>
          <a:ln w="6350">
            <a:solidFill>
              <a:srgbClr val="EAF1F8"/>
            </a:solidFill>
            <a:prstDash val="solid"/>
          </a:ln>
        </p:spPr>
      </p:sp>
      <p:sp>
        <p:nvSpPr>
          <p:cNvPr id="24" name="Elemento [s2]"/>
          <p:cNvSpPr txBox="1"/>
          <p:nvPr/>
        </p:nvSpPr>
        <p:spPr>
          <a:xfrm>
            <a:off x="1086331" y="4165694"/>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El resultado integra excitador, acople, propagación, geófono y electrónica.</a:t>
            </a:r>
            <a:endParaRPr lang="en-US" sz="1260" dirty="0"/>
          </a:p>
        </p:txBody>
      </p:sp>
      <p:sp>
        <p:nvSpPr>
          <p:cNvPr id="25"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La SNR aparente compara la energía después del impacto con la de antes</a:t>
            </a:r>
            <a:endParaRPr lang="en-US" sz="1400" dirty="0"/>
          </a:p>
        </p:txBody>
      </p:sp>
      <p:sp>
        <p:nvSpPr>
          <p:cNvPr id="26"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ec. 19.</a:t>
            </a:r>
            <a:endParaRPr lang="en-US" sz="800" dirty="0"/>
          </a:p>
        </p:txBody>
      </p:sp>
      <p:sp>
        <p:nvSpPr>
          <p:cNvPr id="27"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Por debajo de 10 Hz la señal apenas se distingue del ruido; arriba, la SNR es alta</a:t>
            </a:r>
            <a:endParaRPr lang="en-US" sz="1400" dirty="0"/>
          </a:p>
        </p:txBody>
      </p:sp>
      <p:sp>
        <p:nvSpPr>
          <p:cNvPr id="28"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fig. 17a.</a:t>
            </a:r>
            <a:endParaRPr lang="en-US" sz="800" dirty="0"/>
          </a:p>
        </p:txBody>
      </p:sp>
      <p:sp>
        <p:nvSpPr>
          <p:cNvPr id="29"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No se puede atribuir la baja SNR a un solo elemento: cómo separar las causas</a:t>
            </a:r>
            <a:endParaRPr lang="en-US" sz="1400" dirty="0"/>
          </a:p>
        </p:txBody>
      </p:sp>
      <p:sp>
        <p:nvSpPr>
          <p:cNvPr id="30"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4.10.1 y 5. Las pruebas de acople y de entrada terminada son propuestas propias.</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116" fill="hold">
                      <p:stCondLst>
                        <p:cond delay="indefinite"/>
                      </p:stCondLst>
                      <p:childTnLst>
                        <p:par>
                          <p:cTn id="5117" fill="hold">
                            <p:stCondLst>
                              <p:cond delay="0"/>
                            </p:stCondLst>
                            <p:childTnLst>
                              <p:par>
                                <p:cTn id="5083" presetID="10" presetClass="exit" presetSubtype="0" fill="hold" nodeType="clickEffect">
                                  <p:stCondLst>
                                    <p:cond delay="0"/>
                                  </p:stCondLst>
                                  <p:childTnLst>
                                    <p:animEffect transition="out" filter="fade">
                                      <p:cBhvr>
                                        <p:cTn id="5084" dur="400"/>
                                        <p:tgtEl>
                                          <p:spTgt spid="3"/>
                                        </p:tgtEl>
                                      </p:cBhvr>
                                    </p:animEffect>
                                    <p:set>
                                      <p:cBhvr>
                                        <p:cTn id="5085" dur="1" fill="hold">
                                          <p:stCondLst>
                                            <p:cond delay="399"/>
                                          </p:stCondLst>
                                        </p:cTn>
                                        <p:tgtEl>
                                          <p:spTgt spid="3"/>
                                        </p:tgtEl>
                                        <p:attrNameLst>
                                          <p:attrName>style.visibility</p:attrName>
                                        </p:attrNameLst>
                                      </p:cBhvr>
                                      <p:to>
                                        <p:strVal val="hidden"/>
                                      </p:to>
                                    </p:set>
                                  </p:childTnLst>
                                </p:cTn>
                              </p:par>
                              <p:par>
                                <p:cTn id="5086" presetID="10" presetClass="exit" presetSubtype="0" fill="hold" nodeType="withEffect">
                                  <p:stCondLst>
                                    <p:cond delay="0"/>
                                  </p:stCondLst>
                                  <p:childTnLst>
                                    <p:animEffect transition="out" filter="fade">
                                      <p:cBhvr>
                                        <p:cTn id="5087" dur="400"/>
                                        <p:tgtEl>
                                          <p:spTgt spid="4"/>
                                        </p:tgtEl>
                                      </p:cBhvr>
                                    </p:animEffect>
                                    <p:set>
                                      <p:cBhvr>
                                        <p:cTn id="5088" dur="1" fill="hold">
                                          <p:stCondLst>
                                            <p:cond delay="399"/>
                                          </p:stCondLst>
                                        </p:cTn>
                                        <p:tgtEl>
                                          <p:spTgt spid="4"/>
                                        </p:tgtEl>
                                        <p:attrNameLst>
                                          <p:attrName>style.visibility</p:attrName>
                                        </p:attrNameLst>
                                      </p:cBhvr>
                                      <p:to>
                                        <p:strVal val="hidden"/>
                                      </p:to>
                                    </p:set>
                                  </p:childTnLst>
                                </p:cTn>
                              </p:par>
                              <p:par>
                                <p:cTn id="5089" presetID="10" presetClass="exit" presetSubtype="0" fill="hold" nodeType="withEffect">
                                  <p:stCondLst>
                                    <p:cond delay="0"/>
                                  </p:stCondLst>
                                  <p:childTnLst>
                                    <p:animEffect transition="out" filter="fade">
                                      <p:cBhvr>
                                        <p:cTn id="5090" dur="400"/>
                                        <p:tgtEl>
                                          <p:spTgt spid="5"/>
                                        </p:tgtEl>
                                      </p:cBhvr>
                                    </p:animEffect>
                                    <p:set>
                                      <p:cBhvr>
                                        <p:cTn id="5091" dur="1" fill="hold">
                                          <p:stCondLst>
                                            <p:cond delay="399"/>
                                          </p:stCondLst>
                                        </p:cTn>
                                        <p:tgtEl>
                                          <p:spTgt spid="5"/>
                                        </p:tgtEl>
                                        <p:attrNameLst>
                                          <p:attrName>style.visibility</p:attrName>
                                        </p:attrNameLst>
                                      </p:cBhvr>
                                      <p:to>
                                        <p:strVal val="hidden"/>
                                      </p:to>
                                    </p:set>
                                  </p:childTnLst>
                                </p:cTn>
                              </p:par>
                              <p:par>
                                <p:cTn id="5092" presetID="10" presetClass="exit" presetSubtype="0" fill="hold" nodeType="withEffect">
                                  <p:stCondLst>
                                    <p:cond delay="0"/>
                                  </p:stCondLst>
                                  <p:childTnLst>
                                    <p:animEffect transition="out" filter="fade">
                                      <p:cBhvr>
                                        <p:cTn id="5093" dur="400"/>
                                        <p:tgtEl>
                                          <p:spTgt spid="6"/>
                                        </p:tgtEl>
                                      </p:cBhvr>
                                    </p:animEffect>
                                    <p:set>
                                      <p:cBhvr>
                                        <p:cTn id="5094" dur="1" fill="hold">
                                          <p:stCondLst>
                                            <p:cond delay="399"/>
                                          </p:stCondLst>
                                        </p:cTn>
                                        <p:tgtEl>
                                          <p:spTgt spid="6"/>
                                        </p:tgtEl>
                                        <p:attrNameLst>
                                          <p:attrName>style.visibility</p:attrName>
                                        </p:attrNameLst>
                                      </p:cBhvr>
                                      <p:to>
                                        <p:strVal val="hidden"/>
                                      </p:to>
                                    </p:set>
                                  </p:childTnLst>
                                </p:cTn>
                              </p:par>
                              <p:par>
                                <p:cTn id="5095" presetID="10" presetClass="exit" presetSubtype="0" fill="hold" nodeType="withEffect">
                                  <p:stCondLst>
                                    <p:cond delay="0"/>
                                  </p:stCondLst>
                                  <p:childTnLst>
                                    <p:animEffect transition="out" filter="fade">
                                      <p:cBhvr>
                                        <p:cTn id="5096" dur="400"/>
                                        <p:tgtEl>
                                          <p:spTgt spid="7"/>
                                        </p:tgtEl>
                                      </p:cBhvr>
                                    </p:animEffect>
                                    <p:set>
                                      <p:cBhvr>
                                        <p:cTn id="5097" dur="1" fill="hold">
                                          <p:stCondLst>
                                            <p:cond delay="399"/>
                                          </p:stCondLst>
                                        </p:cTn>
                                        <p:tgtEl>
                                          <p:spTgt spid="7"/>
                                        </p:tgtEl>
                                        <p:attrNameLst>
                                          <p:attrName>style.visibility</p:attrName>
                                        </p:attrNameLst>
                                      </p:cBhvr>
                                      <p:to>
                                        <p:strVal val="hidden"/>
                                      </p:to>
                                    </p:set>
                                  </p:childTnLst>
                                </p:cTn>
                              </p:par>
                              <p:par>
                                <p:cTn id="5098" presetID="10" presetClass="exit" presetSubtype="0" fill="hold" nodeType="withEffect">
                                  <p:stCondLst>
                                    <p:cond delay="0"/>
                                  </p:stCondLst>
                                  <p:childTnLst>
                                    <p:animEffect transition="out" filter="fade">
                                      <p:cBhvr>
                                        <p:cTn id="5099" dur="400"/>
                                        <p:tgtEl>
                                          <p:spTgt spid="25"/>
                                        </p:tgtEl>
                                      </p:cBhvr>
                                    </p:animEffect>
                                    <p:set>
                                      <p:cBhvr>
                                        <p:cTn id="5100" dur="1" fill="hold">
                                          <p:stCondLst>
                                            <p:cond delay="399"/>
                                          </p:stCondLst>
                                        </p:cTn>
                                        <p:tgtEl>
                                          <p:spTgt spid="25"/>
                                        </p:tgtEl>
                                        <p:attrNameLst>
                                          <p:attrName>style.visibility</p:attrName>
                                        </p:attrNameLst>
                                      </p:cBhvr>
                                      <p:to>
                                        <p:strVal val="hidden"/>
                                      </p:to>
                                    </p:set>
                                  </p:childTnLst>
                                </p:cTn>
                              </p:par>
                              <p:par>
                                <p:cTn id="5101" presetID="10" presetClass="entr" presetSubtype="0" fill="hold" nodeType="withEffect">
                                  <p:stCondLst>
                                    <p:cond delay="200"/>
                                  </p:stCondLst>
                                  <p:childTnLst>
                                    <p:set>
                                      <p:cBhvr>
                                        <p:cTn id="5102" dur="1" fill="hold">
                                          <p:stCondLst>
                                            <p:cond delay="0"/>
                                          </p:stCondLst>
                                        </p:cTn>
                                        <p:tgtEl>
                                          <p:spTgt spid="8"/>
                                        </p:tgtEl>
                                        <p:attrNameLst>
                                          <p:attrName>style.visibility</p:attrName>
                                        </p:attrNameLst>
                                      </p:cBhvr>
                                      <p:to>
                                        <p:strVal val="visible"/>
                                      </p:to>
                                    </p:set>
                                    <p:animEffect transition="in" filter="fade">
                                      <p:cBhvr>
                                        <p:cTn id="5103" dur="500"/>
                                        <p:tgtEl>
                                          <p:spTgt spid="8"/>
                                        </p:tgtEl>
                                      </p:cBhvr>
                                    </p:animEffect>
                                  </p:childTnLst>
                                </p:cTn>
                              </p:par>
                              <p:par>
                                <p:cTn id="5104" presetID="10" presetClass="entr" presetSubtype="0" fill="hold" nodeType="withEffect">
                                  <p:stCondLst>
                                    <p:cond delay="270"/>
                                  </p:stCondLst>
                                  <p:childTnLst>
                                    <p:set>
                                      <p:cBhvr>
                                        <p:cTn id="5105" dur="1" fill="hold">
                                          <p:stCondLst>
                                            <p:cond delay="0"/>
                                          </p:stCondLst>
                                        </p:cTn>
                                        <p:tgtEl>
                                          <p:spTgt spid="26"/>
                                        </p:tgtEl>
                                        <p:attrNameLst>
                                          <p:attrName>style.visibility</p:attrName>
                                        </p:attrNameLst>
                                      </p:cBhvr>
                                      <p:to>
                                        <p:strVal val="visible"/>
                                      </p:to>
                                    </p:set>
                                    <p:animEffect transition="in" filter="fade">
                                      <p:cBhvr>
                                        <p:cTn id="5106" dur="500"/>
                                        <p:tgtEl>
                                          <p:spTgt spid="26"/>
                                        </p:tgtEl>
                                      </p:cBhvr>
                                    </p:animEffect>
                                  </p:childTnLst>
                                </p:cTn>
                              </p:par>
                              <p:par>
                                <p:cTn id="5107" presetID="10" presetClass="entr" presetSubtype="0" fill="hold" nodeType="withEffect">
                                  <p:stCondLst>
                                    <p:cond delay="340"/>
                                  </p:stCondLst>
                                  <p:childTnLst>
                                    <p:set>
                                      <p:cBhvr>
                                        <p:cTn id="5108" dur="1" fill="hold">
                                          <p:stCondLst>
                                            <p:cond delay="0"/>
                                          </p:stCondLst>
                                        </p:cTn>
                                        <p:tgtEl>
                                          <p:spTgt spid="10"/>
                                        </p:tgtEl>
                                        <p:attrNameLst>
                                          <p:attrName>style.visibility</p:attrName>
                                        </p:attrNameLst>
                                      </p:cBhvr>
                                      <p:to>
                                        <p:strVal val="visible"/>
                                      </p:to>
                                    </p:set>
                                    <p:animEffect transition="in" filter="fade">
                                      <p:cBhvr>
                                        <p:cTn id="5109" dur="500"/>
                                        <p:tgtEl>
                                          <p:spTgt spid="10"/>
                                        </p:tgtEl>
                                      </p:cBhvr>
                                    </p:animEffect>
                                  </p:childTnLst>
                                </p:cTn>
                              </p:par>
                              <p:par>
                                <p:cTn id="5110" presetID="10" presetClass="entr" presetSubtype="0" fill="hold" nodeType="withEffect">
                                  <p:stCondLst>
                                    <p:cond delay="410"/>
                                  </p:stCondLst>
                                  <p:childTnLst>
                                    <p:set>
                                      <p:cBhvr>
                                        <p:cTn id="5111" dur="1" fill="hold">
                                          <p:stCondLst>
                                            <p:cond delay="0"/>
                                          </p:stCondLst>
                                        </p:cTn>
                                        <p:tgtEl>
                                          <p:spTgt spid="27"/>
                                        </p:tgtEl>
                                        <p:attrNameLst>
                                          <p:attrName>style.visibility</p:attrName>
                                        </p:attrNameLst>
                                      </p:cBhvr>
                                      <p:to>
                                        <p:strVal val="visible"/>
                                      </p:to>
                                    </p:set>
                                    <p:animEffect transition="in" filter="fade">
                                      <p:cBhvr>
                                        <p:cTn id="5112" dur="500"/>
                                        <p:tgtEl>
                                          <p:spTgt spid="27"/>
                                        </p:tgtEl>
                                      </p:cBhvr>
                                    </p:animEffect>
                                  </p:childTnLst>
                                </p:cTn>
                              </p:par>
                              <p:par>
                                <p:cTn id="5113" presetID="10" presetClass="entr" presetSubtype="0" fill="hold" nodeType="withEffect">
                                  <p:stCondLst>
                                    <p:cond delay="480"/>
                                  </p:stCondLst>
                                  <p:childTnLst>
                                    <p:set>
                                      <p:cBhvr>
                                        <p:cTn id="5114" dur="1" fill="hold">
                                          <p:stCondLst>
                                            <p:cond delay="0"/>
                                          </p:stCondLst>
                                        </p:cTn>
                                        <p:tgtEl>
                                          <p:spTgt spid="28"/>
                                        </p:tgtEl>
                                        <p:attrNameLst>
                                          <p:attrName>style.visibility</p:attrName>
                                        </p:attrNameLst>
                                      </p:cBhvr>
                                      <p:to>
                                        <p:strVal val="visible"/>
                                      </p:to>
                                    </p:set>
                                    <p:animEffect transition="in" filter="fade">
                                      <p:cBhvr>
                                        <p:cTn id="5115" dur="500"/>
                                        <p:tgtEl>
                                          <p:spTgt spid="28"/>
                                        </p:tgtEl>
                                      </p:cBhvr>
                                    </p:animEffect>
                                  </p:childTnLst>
                                </p:cTn>
                              </p:par>
                            </p:childTnLst>
                          </p:cTn>
                        </p:par>
                      </p:childTnLst>
                    </p:cTn>
                  </p:par>
                  <p:par>
                    <p:cTn id="5181" fill="hold">
                      <p:stCondLst>
                        <p:cond delay="indefinite"/>
                      </p:stCondLst>
                      <p:childTnLst>
                        <p:par>
                          <p:cTn id="5182" fill="hold">
                            <p:stCondLst>
                              <p:cond delay="0"/>
                            </p:stCondLst>
                            <p:childTnLst>
                              <p:par>
                                <p:cTn id="5118" presetID="10" presetClass="exit" presetSubtype="0" fill="hold" nodeType="clickEffect">
                                  <p:stCondLst>
                                    <p:cond delay="0"/>
                                  </p:stCondLst>
                                  <p:childTnLst>
                                    <p:animEffect transition="out" filter="fade">
                                      <p:cBhvr>
                                        <p:cTn id="5119" dur="400"/>
                                        <p:tgtEl>
                                          <p:spTgt spid="8"/>
                                        </p:tgtEl>
                                      </p:cBhvr>
                                    </p:animEffect>
                                    <p:set>
                                      <p:cBhvr>
                                        <p:cTn id="5120" dur="1" fill="hold">
                                          <p:stCondLst>
                                            <p:cond delay="399"/>
                                          </p:stCondLst>
                                        </p:cTn>
                                        <p:tgtEl>
                                          <p:spTgt spid="8"/>
                                        </p:tgtEl>
                                        <p:attrNameLst>
                                          <p:attrName>style.visibility</p:attrName>
                                        </p:attrNameLst>
                                      </p:cBhvr>
                                      <p:to>
                                        <p:strVal val="hidden"/>
                                      </p:to>
                                    </p:set>
                                  </p:childTnLst>
                                </p:cTn>
                              </p:par>
                              <p:par>
                                <p:cTn id="5121" presetID="10" presetClass="exit" presetSubtype="0" fill="hold" nodeType="withEffect">
                                  <p:stCondLst>
                                    <p:cond delay="0"/>
                                  </p:stCondLst>
                                  <p:childTnLst>
                                    <p:animEffect transition="out" filter="fade">
                                      <p:cBhvr>
                                        <p:cTn id="5122" dur="400"/>
                                        <p:tgtEl>
                                          <p:spTgt spid="26"/>
                                        </p:tgtEl>
                                      </p:cBhvr>
                                    </p:animEffect>
                                    <p:set>
                                      <p:cBhvr>
                                        <p:cTn id="5123" dur="1" fill="hold">
                                          <p:stCondLst>
                                            <p:cond delay="399"/>
                                          </p:stCondLst>
                                        </p:cTn>
                                        <p:tgtEl>
                                          <p:spTgt spid="26"/>
                                        </p:tgtEl>
                                        <p:attrNameLst>
                                          <p:attrName>style.visibility</p:attrName>
                                        </p:attrNameLst>
                                      </p:cBhvr>
                                      <p:to>
                                        <p:strVal val="hidden"/>
                                      </p:to>
                                    </p:set>
                                  </p:childTnLst>
                                </p:cTn>
                              </p:par>
                              <p:par>
                                <p:cTn id="5124" presetID="10" presetClass="exit" presetSubtype="0" fill="hold" nodeType="withEffect">
                                  <p:stCondLst>
                                    <p:cond delay="0"/>
                                  </p:stCondLst>
                                  <p:childTnLst>
                                    <p:animEffect transition="out" filter="fade">
                                      <p:cBhvr>
                                        <p:cTn id="5125" dur="400"/>
                                        <p:tgtEl>
                                          <p:spTgt spid="10"/>
                                        </p:tgtEl>
                                      </p:cBhvr>
                                    </p:animEffect>
                                    <p:set>
                                      <p:cBhvr>
                                        <p:cTn id="5126" dur="1" fill="hold">
                                          <p:stCondLst>
                                            <p:cond delay="399"/>
                                          </p:stCondLst>
                                        </p:cTn>
                                        <p:tgtEl>
                                          <p:spTgt spid="10"/>
                                        </p:tgtEl>
                                        <p:attrNameLst>
                                          <p:attrName>style.visibility</p:attrName>
                                        </p:attrNameLst>
                                      </p:cBhvr>
                                      <p:to>
                                        <p:strVal val="hidden"/>
                                      </p:to>
                                    </p:set>
                                  </p:childTnLst>
                                </p:cTn>
                              </p:par>
                              <p:par>
                                <p:cTn id="5127" presetID="10" presetClass="exit" presetSubtype="0" fill="hold" nodeType="withEffect">
                                  <p:stCondLst>
                                    <p:cond delay="0"/>
                                  </p:stCondLst>
                                  <p:childTnLst>
                                    <p:animEffect transition="out" filter="fade">
                                      <p:cBhvr>
                                        <p:cTn id="5128" dur="400"/>
                                        <p:tgtEl>
                                          <p:spTgt spid="27"/>
                                        </p:tgtEl>
                                      </p:cBhvr>
                                    </p:animEffect>
                                    <p:set>
                                      <p:cBhvr>
                                        <p:cTn id="5129" dur="1" fill="hold">
                                          <p:stCondLst>
                                            <p:cond delay="399"/>
                                          </p:stCondLst>
                                        </p:cTn>
                                        <p:tgtEl>
                                          <p:spTgt spid="27"/>
                                        </p:tgtEl>
                                        <p:attrNameLst>
                                          <p:attrName>style.visibility</p:attrName>
                                        </p:attrNameLst>
                                      </p:cBhvr>
                                      <p:to>
                                        <p:strVal val="hidden"/>
                                      </p:to>
                                    </p:set>
                                  </p:childTnLst>
                                </p:cTn>
                              </p:par>
                              <p:par>
                                <p:cTn id="5130" presetID="10" presetClass="exit" presetSubtype="0" fill="hold" nodeType="withEffect">
                                  <p:stCondLst>
                                    <p:cond delay="0"/>
                                  </p:stCondLst>
                                  <p:childTnLst>
                                    <p:animEffect transition="out" filter="fade">
                                      <p:cBhvr>
                                        <p:cTn id="5131" dur="400"/>
                                        <p:tgtEl>
                                          <p:spTgt spid="28"/>
                                        </p:tgtEl>
                                      </p:cBhvr>
                                    </p:animEffect>
                                    <p:set>
                                      <p:cBhvr>
                                        <p:cTn id="5132" dur="1" fill="hold">
                                          <p:stCondLst>
                                            <p:cond delay="399"/>
                                          </p:stCondLst>
                                        </p:cTn>
                                        <p:tgtEl>
                                          <p:spTgt spid="28"/>
                                        </p:tgtEl>
                                        <p:attrNameLst>
                                          <p:attrName>style.visibility</p:attrName>
                                        </p:attrNameLst>
                                      </p:cBhvr>
                                      <p:to>
                                        <p:strVal val="hidden"/>
                                      </p:to>
                                    </p:set>
                                  </p:childTnLst>
                                </p:cTn>
                              </p:par>
                              <p:par>
                                <p:cTn id="5133" presetID="22" presetClass="entr" presetSubtype="8" fill="hold" nodeType="withEffect">
                                  <p:stCondLst>
                                    <p:cond delay="200"/>
                                  </p:stCondLst>
                                  <p:childTnLst>
                                    <p:set>
                                      <p:cBhvr>
                                        <p:cTn id="5134" dur="1" fill="hold">
                                          <p:stCondLst>
                                            <p:cond delay="0"/>
                                          </p:stCondLst>
                                        </p:cTn>
                                        <p:tgtEl>
                                          <p:spTgt spid="11"/>
                                        </p:tgtEl>
                                        <p:attrNameLst>
                                          <p:attrName>style.visibility</p:attrName>
                                        </p:attrNameLst>
                                      </p:cBhvr>
                                      <p:to>
                                        <p:strVal val="visible"/>
                                      </p:to>
                                    </p:set>
                                    <p:animEffect transition="in" filter="wipe(left)">
                                      <p:cBhvr>
                                        <p:cTn id="5135" dur="500"/>
                                        <p:tgtEl>
                                          <p:spTgt spid="11"/>
                                        </p:tgtEl>
                                      </p:cBhvr>
                                    </p:animEffect>
                                  </p:childTnLst>
                                </p:cTn>
                              </p:par>
                              <p:par>
                                <p:cTn id="5136" presetID="22" presetClass="entr" presetSubtype="8" fill="hold" nodeType="withEffect">
                                  <p:stCondLst>
                                    <p:cond delay="270"/>
                                  </p:stCondLst>
                                  <p:childTnLst>
                                    <p:set>
                                      <p:cBhvr>
                                        <p:cTn id="5137" dur="1" fill="hold">
                                          <p:stCondLst>
                                            <p:cond delay="0"/>
                                          </p:stCondLst>
                                        </p:cTn>
                                        <p:tgtEl>
                                          <p:spTgt spid="12"/>
                                        </p:tgtEl>
                                        <p:attrNameLst>
                                          <p:attrName>style.visibility</p:attrName>
                                        </p:attrNameLst>
                                      </p:cBhvr>
                                      <p:to>
                                        <p:strVal val="visible"/>
                                      </p:to>
                                    </p:set>
                                    <p:animEffect transition="in" filter="wipe(left)">
                                      <p:cBhvr>
                                        <p:cTn id="5138" dur="500"/>
                                        <p:tgtEl>
                                          <p:spTgt spid="12"/>
                                        </p:tgtEl>
                                      </p:cBhvr>
                                    </p:animEffect>
                                  </p:childTnLst>
                                </p:cTn>
                              </p:par>
                              <p:par>
                                <p:cTn id="5139" presetID="22" presetClass="entr" presetSubtype="8" fill="hold" nodeType="withEffect">
                                  <p:stCondLst>
                                    <p:cond delay="340"/>
                                  </p:stCondLst>
                                  <p:childTnLst>
                                    <p:set>
                                      <p:cBhvr>
                                        <p:cTn id="5140" dur="1" fill="hold">
                                          <p:stCondLst>
                                            <p:cond delay="0"/>
                                          </p:stCondLst>
                                        </p:cTn>
                                        <p:tgtEl>
                                          <p:spTgt spid="13"/>
                                        </p:tgtEl>
                                        <p:attrNameLst>
                                          <p:attrName>style.visibility</p:attrName>
                                        </p:attrNameLst>
                                      </p:cBhvr>
                                      <p:to>
                                        <p:strVal val="visible"/>
                                      </p:to>
                                    </p:set>
                                    <p:animEffect transition="in" filter="wipe(left)">
                                      <p:cBhvr>
                                        <p:cTn id="5141" dur="500"/>
                                        <p:tgtEl>
                                          <p:spTgt spid="13"/>
                                        </p:tgtEl>
                                      </p:cBhvr>
                                    </p:animEffect>
                                  </p:childTnLst>
                                </p:cTn>
                              </p:par>
                              <p:par>
                                <p:cTn id="5142" presetID="22" presetClass="entr" presetSubtype="8" fill="hold" nodeType="withEffect">
                                  <p:stCondLst>
                                    <p:cond delay="410"/>
                                  </p:stCondLst>
                                  <p:childTnLst>
                                    <p:set>
                                      <p:cBhvr>
                                        <p:cTn id="5143" dur="1" fill="hold">
                                          <p:stCondLst>
                                            <p:cond delay="0"/>
                                          </p:stCondLst>
                                        </p:cTn>
                                        <p:tgtEl>
                                          <p:spTgt spid="14"/>
                                        </p:tgtEl>
                                        <p:attrNameLst>
                                          <p:attrName>style.visibility</p:attrName>
                                        </p:attrNameLst>
                                      </p:cBhvr>
                                      <p:to>
                                        <p:strVal val="visible"/>
                                      </p:to>
                                    </p:set>
                                    <p:animEffect transition="in" filter="wipe(left)">
                                      <p:cBhvr>
                                        <p:cTn id="5144" dur="500"/>
                                        <p:tgtEl>
                                          <p:spTgt spid="14"/>
                                        </p:tgtEl>
                                      </p:cBhvr>
                                    </p:animEffect>
                                  </p:childTnLst>
                                </p:cTn>
                              </p:par>
                              <p:par>
                                <p:cTn id="5145" presetID="22" presetClass="entr" presetSubtype="8" fill="hold" nodeType="withEffect">
                                  <p:stCondLst>
                                    <p:cond delay="480"/>
                                  </p:stCondLst>
                                  <p:childTnLst>
                                    <p:set>
                                      <p:cBhvr>
                                        <p:cTn id="5146" dur="1" fill="hold">
                                          <p:stCondLst>
                                            <p:cond delay="0"/>
                                          </p:stCondLst>
                                        </p:cTn>
                                        <p:tgtEl>
                                          <p:spTgt spid="15"/>
                                        </p:tgtEl>
                                        <p:attrNameLst>
                                          <p:attrName>style.visibility</p:attrName>
                                        </p:attrNameLst>
                                      </p:cBhvr>
                                      <p:to>
                                        <p:strVal val="visible"/>
                                      </p:to>
                                    </p:set>
                                    <p:animEffect transition="in" filter="wipe(left)">
                                      <p:cBhvr>
                                        <p:cTn id="5147" dur="500"/>
                                        <p:tgtEl>
                                          <p:spTgt spid="15"/>
                                        </p:tgtEl>
                                      </p:cBhvr>
                                    </p:animEffect>
                                  </p:childTnLst>
                                </p:cTn>
                              </p:par>
                              <p:par>
                                <p:cTn id="5148" presetID="22" presetClass="entr" presetSubtype="8" fill="hold" nodeType="withEffect">
                                  <p:stCondLst>
                                    <p:cond delay="550"/>
                                  </p:stCondLst>
                                  <p:childTnLst>
                                    <p:set>
                                      <p:cBhvr>
                                        <p:cTn id="5149" dur="1" fill="hold">
                                          <p:stCondLst>
                                            <p:cond delay="0"/>
                                          </p:stCondLst>
                                        </p:cTn>
                                        <p:tgtEl>
                                          <p:spTgt spid="16"/>
                                        </p:tgtEl>
                                        <p:attrNameLst>
                                          <p:attrName>style.visibility</p:attrName>
                                        </p:attrNameLst>
                                      </p:cBhvr>
                                      <p:to>
                                        <p:strVal val="visible"/>
                                      </p:to>
                                    </p:set>
                                    <p:animEffect transition="in" filter="wipe(left)">
                                      <p:cBhvr>
                                        <p:cTn id="5150" dur="500"/>
                                        <p:tgtEl>
                                          <p:spTgt spid="16"/>
                                        </p:tgtEl>
                                      </p:cBhvr>
                                    </p:animEffect>
                                  </p:childTnLst>
                                </p:cTn>
                              </p:par>
                              <p:par>
                                <p:cTn id="5151" presetID="22" presetClass="entr" presetSubtype="8" fill="hold" nodeType="withEffect">
                                  <p:stCondLst>
                                    <p:cond delay="620"/>
                                  </p:stCondLst>
                                  <p:childTnLst>
                                    <p:set>
                                      <p:cBhvr>
                                        <p:cTn id="5152" dur="1" fill="hold">
                                          <p:stCondLst>
                                            <p:cond delay="0"/>
                                          </p:stCondLst>
                                        </p:cTn>
                                        <p:tgtEl>
                                          <p:spTgt spid="17"/>
                                        </p:tgtEl>
                                        <p:attrNameLst>
                                          <p:attrName>style.visibility</p:attrName>
                                        </p:attrNameLst>
                                      </p:cBhvr>
                                      <p:to>
                                        <p:strVal val="visible"/>
                                      </p:to>
                                    </p:set>
                                    <p:animEffect transition="in" filter="wipe(left)">
                                      <p:cBhvr>
                                        <p:cTn id="5153" dur="500"/>
                                        <p:tgtEl>
                                          <p:spTgt spid="17"/>
                                        </p:tgtEl>
                                      </p:cBhvr>
                                    </p:animEffect>
                                  </p:childTnLst>
                                </p:cTn>
                              </p:par>
                              <p:par>
                                <p:cTn id="5154" presetID="22" presetClass="entr" presetSubtype="8" fill="hold" nodeType="withEffect">
                                  <p:stCondLst>
                                    <p:cond delay="690"/>
                                  </p:stCondLst>
                                  <p:childTnLst>
                                    <p:set>
                                      <p:cBhvr>
                                        <p:cTn id="5155" dur="1" fill="hold">
                                          <p:stCondLst>
                                            <p:cond delay="0"/>
                                          </p:stCondLst>
                                        </p:cTn>
                                        <p:tgtEl>
                                          <p:spTgt spid="18"/>
                                        </p:tgtEl>
                                        <p:attrNameLst>
                                          <p:attrName>style.visibility</p:attrName>
                                        </p:attrNameLst>
                                      </p:cBhvr>
                                      <p:to>
                                        <p:strVal val="visible"/>
                                      </p:to>
                                    </p:set>
                                    <p:animEffect transition="in" filter="wipe(left)">
                                      <p:cBhvr>
                                        <p:cTn id="5156" dur="500"/>
                                        <p:tgtEl>
                                          <p:spTgt spid="18"/>
                                        </p:tgtEl>
                                      </p:cBhvr>
                                    </p:animEffect>
                                  </p:childTnLst>
                                </p:cTn>
                              </p:par>
                              <p:par>
                                <p:cTn id="5157" presetID="22" presetClass="entr" presetSubtype="8" fill="hold" nodeType="withEffect">
                                  <p:stCondLst>
                                    <p:cond delay="760"/>
                                  </p:stCondLst>
                                  <p:childTnLst>
                                    <p:set>
                                      <p:cBhvr>
                                        <p:cTn id="5158" dur="1" fill="hold">
                                          <p:stCondLst>
                                            <p:cond delay="0"/>
                                          </p:stCondLst>
                                        </p:cTn>
                                        <p:tgtEl>
                                          <p:spTgt spid="19"/>
                                        </p:tgtEl>
                                        <p:attrNameLst>
                                          <p:attrName>style.visibility</p:attrName>
                                        </p:attrNameLst>
                                      </p:cBhvr>
                                      <p:to>
                                        <p:strVal val="visible"/>
                                      </p:to>
                                    </p:set>
                                    <p:animEffect transition="in" filter="wipe(left)">
                                      <p:cBhvr>
                                        <p:cTn id="5159" dur="500"/>
                                        <p:tgtEl>
                                          <p:spTgt spid="19"/>
                                        </p:tgtEl>
                                      </p:cBhvr>
                                    </p:animEffect>
                                  </p:childTnLst>
                                </p:cTn>
                              </p:par>
                              <p:par>
                                <p:cTn id="5160" presetID="22" presetClass="entr" presetSubtype="8" fill="hold" nodeType="withEffect">
                                  <p:stCondLst>
                                    <p:cond delay="830"/>
                                  </p:stCondLst>
                                  <p:childTnLst>
                                    <p:set>
                                      <p:cBhvr>
                                        <p:cTn id="5161" dur="1" fill="hold">
                                          <p:stCondLst>
                                            <p:cond delay="0"/>
                                          </p:stCondLst>
                                        </p:cTn>
                                        <p:tgtEl>
                                          <p:spTgt spid="20"/>
                                        </p:tgtEl>
                                        <p:attrNameLst>
                                          <p:attrName>style.visibility</p:attrName>
                                        </p:attrNameLst>
                                      </p:cBhvr>
                                      <p:to>
                                        <p:strVal val="visible"/>
                                      </p:to>
                                    </p:set>
                                    <p:animEffect transition="in" filter="wipe(left)">
                                      <p:cBhvr>
                                        <p:cTn id="5162" dur="500"/>
                                        <p:tgtEl>
                                          <p:spTgt spid="20"/>
                                        </p:tgtEl>
                                      </p:cBhvr>
                                    </p:animEffect>
                                  </p:childTnLst>
                                </p:cTn>
                              </p:par>
                              <p:par>
                                <p:cTn id="5163" presetID="22" presetClass="entr" presetSubtype="8" fill="hold" nodeType="withEffect">
                                  <p:stCondLst>
                                    <p:cond delay="900"/>
                                  </p:stCondLst>
                                  <p:childTnLst>
                                    <p:set>
                                      <p:cBhvr>
                                        <p:cTn id="5164" dur="1" fill="hold">
                                          <p:stCondLst>
                                            <p:cond delay="0"/>
                                          </p:stCondLst>
                                        </p:cTn>
                                        <p:tgtEl>
                                          <p:spTgt spid="21"/>
                                        </p:tgtEl>
                                        <p:attrNameLst>
                                          <p:attrName>style.visibility</p:attrName>
                                        </p:attrNameLst>
                                      </p:cBhvr>
                                      <p:to>
                                        <p:strVal val="visible"/>
                                      </p:to>
                                    </p:set>
                                    <p:animEffect transition="in" filter="wipe(left)">
                                      <p:cBhvr>
                                        <p:cTn id="5165" dur="500"/>
                                        <p:tgtEl>
                                          <p:spTgt spid="21"/>
                                        </p:tgtEl>
                                      </p:cBhvr>
                                    </p:animEffect>
                                  </p:childTnLst>
                                </p:cTn>
                              </p:par>
                              <p:par>
                                <p:cTn id="5166" presetID="22" presetClass="entr" presetSubtype="8" fill="hold" nodeType="withEffect">
                                  <p:stCondLst>
                                    <p:cond delay="900"/>
                                  </p:stCondLst>
                                  <p:childTnLst>
                                    <p:set>
                                      <p:cBhvr>
                                        <p:cTn id="5167" dur="1" fill="hold">
                                          <p:stCondLst>
                                            <p:cond delay="0"/>
                                          </p:stCondLst>
                                        </p:cTn>
                                        <p:tgtEl>
                                          <p:spTgt spid="22"/>
                                        </p:tgtEl>
                                        <p:attrNameLst>
                                          <p:attrName>style.visibility</p:attrName>
                                        </p:attrNameLst>
                                      </p:cBhvr>
                                      <p:to>
                                        <p:strVal val="visible"/>
                                      </p:to>
                                    </p:set>
                                    <p:animEffect transition="in" filter="wipe(left)">
                                      <p:cBhvr>
                                        <p:cTn id="5168" dur="500"/>
                                        <p:tgtEl>
                                          <p:spTgt spid="22"/>
                                        </p:tgtEl>
                                      </p:cBhvr>
                                    </p:animEffect>
                                  </p:childTnLst>
                                </p:cTn>
                              </p:par>
                              <p:par>
                                <p:cTn id="5169" presetID="22" presetClass="entr" presetSubtype="8" fill="hold" nodeType="withEffect">
                                  <p:stCondLst>
                                    <p:cond delay="900"/>
                                  </p:stCondLst>
                                  <p:childTnLst>
                                    <p:set>
                                      <p:cBhvr>
                                        <p:cTn id="5170" dur="1" fill="hold">
                                          <p:stCondLst>
                                            <p:cond delay="0"/>
                                          </p:stCondLst>
                                        </p:cTn>
                                        <p:tgtEl>
                                          <p:spTgt spid="23"/>
                                        </p:tgtEl>
                                        <p:attrNameLst>
                                          <p:attrName>style.visibility</p:attrName>
                                        </p:attrNameLst>
                                      </p:cBhvr>
                                      <p:to>
                                        <p:strVal val="visible"/>
                                      </p:to>
                                    </p:set>
                                    <p:animEffect transition="in" filter="wipe(left)">
                                      <p:cBhvr>
                                        <p:cTn id="5171" dur="500"/>
                                        <p:tgtEl>
                                          <p:spTgt spid="23"/>
                                        </p:tgtEl>
                                      </p:cBhvr>
                                    </p:animEffect>
                                  </p:childTnLst>
                                </p:cTn>
                              </p:par>
                              <p:par>
                                <p:cTn id="5172" presetID="22" presetClass="entr" presetSubtype="8" fill="hold" nodeType="withEffect">
                                  <p:stCondLst>
                                    <p:cond delay="900"/>
                                  </p:stCondLst>
                                  <p:childTnLst>
                                    <p:set>
                                      <p:cBhvr>
                                        <p:cTn id="5173" dur="1" fill="hold">
                                          <p:stCondLst>
                                            <p:cond delay="0"/>
                                          </p:stCondLst>
                                        </p:cTn>
                                        <p:tgtEl>
                                          <p:spTgt spid="24"/>
                                        </p:tgtEl>
                                        <p:attrNameLst>
                                          <p:attrName>style.visibility</p:attrName>
                                        </p:attrNameLst>
                                      </p:cBhvr>
                                      <p:to>
                                        <p:strVal val="visible"/>
                                      </p:to>
                                    </p:set>
                                    <p:animEffect transition="in" filter="wipe(left)">
                                      <p:cBhvr>
                                        <p:cTn id="5174" dur="500"/>
                                        <p:tgtEl>
                                          <p:spTgt spid="24"/>
                                        </p:tgtEl>
                                      </p:cBhvr>
                                    </p:animEffect>
                                  </p:childTnLst>
                                </p:cTn>
                              </p:par>
                              <p:par>
                                <p:cTn id="5175" presetID="22" presetClass="entr" presetSubtype="8" fill="hold" nodeType="withEffect">
                                  <p:stCondLst>
                                    <p:cond delay="900"/>
                                  </p:stCondLst>
                                  <p:childTnLst>
                                    <p:set>
                                      <p:cBhvr>
                                        <p:cTn id="5176" dur="1" fill="hold">
                                          <p:stCondLst>
                                            <p:cond delay="0"/>
                                          </p:stCondLst>
                                        </p:cTn>
                                        <p:tgtEl>
                                          <p:spTgt spid="29"/>
                                        </p:tgtEl>
                                        <p:attrNameLst>
                                          <p:attrName>style.visibility</p:attrName>
                                        </p:attrNameLst>
                                      </p:cBhvr>
                                      <p:to>
                                        <p:strVal val="visible"/>
                                      </p:to>
                                    </p:set>
                                    <p:animEffect transition="in" filter="wipe(left)">
                                      <p:cBhvr>
                                        <p:cTn id="5177" dur="500"/>
                                        <p:tgtEl>
                                          <p:spTgt spid="29"/>
                                        </p:tgtEl>
                                      </p:cBhvr>
                                    </p:animEffect>
                                  </p:childTnLst>
                                </p:cTn>
                              </p:par>
                              <p:par>
                                <p:cTn id="5178" presetID="22" presetClass="entr" presetSubtype="8" fill="hold" nodeType="withEffect">
                                  <p:stCondLst>
                                    <p:cond delay="900"/>
                                  </p:stCondLst>
                                  <p:childTnLst>
                                    <p:set>
                                      <p:cBhvr>
                                        <p:cTn id="5179" dur="1" fill="hold">
                                          <p:stCondLst>
                                            <p:cond delay="0"/>
                                          </p:stCondLst>
                                        </p:cTn>
                                        <p:tgtEl>
                                          <p:spTgt spid="30"/>
                                        </p:tgtEl>
                                        <p:attrNameLst>
                                          <p:attrName>style.visibility</p:attrName>
                                        </p:attrNameLst>
                                      </p:cBhvr>
                                      <p:to>
                                        <p:strVal val="visible"/>
                                      </p:to>
                                    </p:set>
                                    <p:animEffect transition="in" filter="wipe(left)">
                                      <p:cBhvr>
                                        <p:cTn id="518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Qué está demostrado, qué sigue y qué riesgos conocemos</a:t>
            </a:r>
            <a:endParaRPr lang="en-US" sz="2200" dirty="0"/>
          </a:p>
        </p:txBody>
      </p:sp>
      <p:graphicFrame>
        <p:nvGraphicFramePr>
          <p:cNvPr id="27" name="Tabla de evidencia [s0]"/>
          <p:cNvGraphicFramePr>
            <a:graphicFrameLocks noGrp="1"/>
          </p:cNvGraphicFramePr>
          <p:nvPr>
            <p:extLst>
              <p:ext uri="{D42A27DB-BD31-4B8C-83A1-F6EECF244321}">
                <p14:modId xmlns:p14="http://schemas.microsoft.com/office/powerpoint/2010/main" val="1579011935"/>
              </p:ext>
            </p:extLst>
          </p:nvPr>
        </p:nvGraphicFramePr>
        <p:xfrm>
          <a:off x="966136" y="1561458"/>
          <a:ext cx="7211728" cy="914400"/>
        </p:xfrm>
        <a:graphic>
          <a:graphicData uri="http://schemas.openxmlformats.org/drawingml/2006/table">
            <a:tbl>
              <a:tblPr/>
              <a:tblGrid>
                <a:gridCol w="1602606"/>
                <a:gridCol w="2884691"/>
                <a:gridCol w="2724431"/>
              </a:tblGrid>
              <a:tr h="336547">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Componente</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Evidencia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Qué falta</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Geófono SM-24</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Modelo con parámetros nominales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Respuesta extremo a extremo en bajas frecuencias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AFE PGA–ADC</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Medido: barridos de magnitud y fase contra el modelo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Extensión al conjunto con el geófono: hoy es predicción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Calibración de offset</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Medido: converge, por configuración de ganancia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Variación con el tiempo y las condiciones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Sincronización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Parcial: flancos GPIO, 3 nodos, 200–400 µs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Inicio efectivo del ADC y deriva de relojes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Campo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21 posiciones secuenciales con un receptor móvil</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Adquisición simultánea; fuente más repetible; SNR bajo 10 Hz</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3654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Dispersión e inversión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Sin hacer</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4D5D0"/>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Curvas, modos, perfil </a:t>
                      </a:r>
                      <mc:AlternateContent xmlns:mc="http://schemas.openxmlformats.org/markup-compatibility/2006">
                        <mc:Choice xmlns:a14="http://schemas.microsoft.com/office/drawing/2010/main" Requires="a14">
                          <a14:m>
                            <m:oMath xmlns:m="http://schemas.openxmlformats.org/officeDocument/2006/math">
                              <m:sSub>
                                <m:sSubPr>
                                  <m:ctrlPr>
                                    <a:rPr lang="es-ES" sz="990" i="1">
                                      <a:latin typeface="Cambria Math" panose="02040503050406030204" pitchFamily="18" charset="0"/>
                                    </a:rPr>
                                  </m:ctrlPr>
                                </m:sSubPr>
                                <m:e>
                                  <m:r>
                                    <a:rPr lang="es-ES" sz="990" i="1">
                                      <a:solidFill>
                                        <a:srgbClr val="2D2D2D"/>
                                      </a:solidFill>
                                      <a:latin typeface="Cambria Math" panose="02040503050406030204" pitchFamily="18" charset="0"/>
                                    </a:rPr>
                                    <m:t xml:space="preserve">V</m:t>
                                  </m:r>
                                </m:e>
                                <m:sub>
                                  <m:r>
                                    <a:rPr lang="es-ES" sz="990" i="1">
                                      <a:solidFill>
                                        <a:srgbClr val="2D2D2D"/>
                                      </a:solidFill>
                                      <a:latin typeface="Cambria Math" panose="02040503050406030204" pitchFamily="18" charset="0"/>
                                    </a:rPr>
                                    <m:t xml:space="preserve">s</m:t>
                                  </m:r>
                                </m:sub>
                              </m:sSub>
                            </m:oMath>
                          </a14:m>
                        </mc:Choice>
                        <mc:Fallback>
                          <a:r>
                            <a:rPr lang="en-US" sz="990" dirty="0">
                              <a:solidFill>
                                <a:srgbClr val="2D2D2D"/>
                              </a:solidFill>
                              <a:latin typeface="Arial" pitchFamily="34" charset="0"/>
                              <a:ea typeface="Arial" pitchFamily="34" charset="-122"/>
                              <a:cs typeface="Arial" pitchFamily="34" charset="-120"/>
                            </a:rPr>
                            <a:t>Vs</a:t>
                          </a:r>
                        </mc:Fallback>
                      </mc:AlternateContent>
                      <a:r>
                        <a:rPr lang="en-US" sz="990" dirty="0">
                          <a:solidFill>
                            <a:srgbClr val="2D2D2D"/>
                          </a:solidFill>
                          <a:latin typeface="Arial" pitchFamily="34" charset="0"/>
                          <a:ea typeface="Arial" pitchFamily="34" charset="-122"/>
                          <a:cs typeface="Arial" pitchFamily="34" charset="-120"/>
                        </a:rPr>
                        <a:t> y contraste con SPT o con el SEV 01</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Elemento [s0]"/>
          <p:cNvSpPr txBox="1"/>
          <p:nvPr/>
        </p:nvSpPr>
        <p:spPr>
          <a:xfrm>
            <a:off x="966136" y="4165694"/>
            <a:ext cx="7211728" cy="240391"/>
          </a:xfrm>
          <a:prstGeom prst="rect">
            <a:avLst/>
          </a:prstGeom>
          <a:noFill/>
          <a:ln/>
        </p:spPr>
        <p:txBody>
          <a:bodyPr wrap="square" lIns="0" tIns="0" rIns="0" bIns="0" rtlCol="0" anchor="t"/>
          <a:lstStyle/>
          <a:p>
            <a:pPr indent="0" marL="0">
              <a:buNone/>
            </a:pPr>
            <a:r>
              <a:rPr lang="en-US" sz="1080" dirty="0">
                <a:solidFill>
                  <a:srgbClr val="6B6B6B"/>
                </a:solidFill>
                <a:latin typeface="Arial" pitchFamily="34" charset="0"/>
                <a:ea typeface="Arial" pitchFamily="34" charset="-122"/>
                <a:cs typeface="Arial" pitchFamily="34" charset="-120"/>
              </a:rPr>
              <a:t>Verde: medido. Naranja: modelo o medición parcial. Rojo: pendiente.</a:t>
            </a:r>
            <a:endParaRPr lang="en-US" sz="1080" dirty="0"/>
          </a:p>
        </p:txBody>
      </p:sp>
      <p:graphicFrame>
        <p:nvGraphicFramePr>
          <p:cNvPr id="53" name="Tabla de trabajo futuro [s1]"/>
          <p:cNvGraphicFramePr>
            <a:graphicFrameLocks noGrp="1"/>
          </p:cNvGraphicFramePr>
          <p:nvPr>
            <p:extLst>
              <p:ext uri="{D42A27DB-BD31-4B8C-83A1-F6EECF244321}">
                <p14:modId xmlns:p14="http://schemas.microsoft.com/office/powerpoint/2010/main" val="1579011935"/>
              </p:ext>
            </p:extLst>
          </p:nvPr>
        </p:nvGraphicFramePr>
        <p:xfrm>
          <a:off x="966136" y="1561458"/>
          <a:ext cx="7211728" cy="914400"/>
        </p:xfrm>
        <a:graphic>
          <a:graphicData uri="http://schemas.openxmlformats.org/drawingml/2006/table">
            <a:tbl>
              <a:tblPr/>
              <a:tblGrid>
                <a:gridCol w="3205213"/>
                <a:gridCol w="4006516"/>
              </a:tblGrid>
              <a:tr h="440717">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Paso</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080" b="1" dirty="0">
                          <a:solidFill>
                            <a:srgbClr val="FFFFFF"/>
                          </a:solidFill>
                          <a:latin typeface="Arial" pitchFamily="34" charset="0"/>
                          <a:ea typeface="Arial" pitchFamily="34" charset="-122"/>
                          <a:cs typeface="Arial" pitchFamily="34" charset="-120"/>
                        </a:rPr>
                        <a:t>Para qué</a:t>
                      </a:r>
                      <a:endParaRPr lang="en-US" sz="108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Excitador de mayor energía y repetibilidad</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Extender la banda útil bajo 10 Hz y evaluar el aprovechamiento de la compensación del SM-24</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Medir el inicio efectivo del ADC y la deriva de relojes</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Cuantificar el error de fase por frecuencia y la banda de coherencia temporal</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Caracterizar el offset residual en el tiempo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Precisar el margen dinámico de cada ganancia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Más nodos GEO y adquisición simultánea</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Acercarse al MASW convencional (depende de financiamiento)</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40717">
                <a:tc>
                  <a:txBody>
                    <a:bodyPr/>
                    <a:lstStyle/>
                    <a:p>
                      <a:pPr algn="l" indent="0" marL="0">
                        <a:buNone/>
                      </a:pPr>
                      <a:r>
                        <a:rPr lang="en-US" sz="990" b="1" dirty="0">
                          <a:solidFill>
                            <a:srgbClr val="2D2D2D"/>
                          </a:solidFill>
                          <a:latin typeface="Arial" pitchFamily="34" charset="0"/>
                          <a:ea typeface="Arial" pitchFamily="34" charset="-122"/>
                          <a:cs typeface="Arial" pitchFamily="34" charset="-120"/>
                        </a:rPr>
                        <a:t>Curvas de dispersión, modos e inversión</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90" dirty="0">
                          <a:solidFill>
                            <a:srgbClr val="2D2D2D"/>
                          </a:solidFill>
                          <a:latin typeface="Arial" pitchFamily="34" charset="0"/>
                          <a:ea typeface="Arial" pitchFamily="34" charset="-122"/>
                          <a:cs typeface="Arial" pitchFamily="34" charset="-120"/>
                        </a:rPr>
                        <a:t>Pasar de verificar la adquisición a estimar </a:t>
                      </a:r>
                      <mc:AlternateContent xmlns:mc="http://schemas.openxmlformats.org/markup-compatibility/2006">
                        <mc:Choice xmlns:a14="http://schemas.microsoft.com/office/drawing/2010/main" Requires="a14">
                          <a14:m>
                            <m:oMath xmlns:m="http://schemas.openxmlformats.org/officeDocument/2006/math">
                              <m:sSub>
                                <m:sSubPr>
                                  <m:ctrlPr>
                                    <a:rPr lang="es-ES" sz="990" i="1">
                                      <a:latin typeface="Cambria Math" panose="02040503050406030204" pitchFamily="18" charset="0"/>
                                    </a:rPr>
                                  </m:ctrlPr>
                                </m:sSubPr>
                                <m:e>
                                  <m:r>
                                    <a:rPr lang="es-ES" sz="990" i="1">
                                      <a:solidFill>
                                        <a:srgbClr val="2D2D2D"/>
                                      </a:solidFill>
                                      <a:latin typeface="Cambria Math" panose="02040503050406030204" pitchFamily="18" charset="0"/>
                                    </a:rPr>
                                    <m:t xml:space="preserve">V</m:t>
                                  </m:r>
                                </m:e>
                                <m:sub>
                                  <m:r>
                                    <a:rPr lang="es-ES" sz="990" i="1">
                                      <a:solidFill>
                                        <a:srgbClr val="2D2D2D"/>
                                      </a:solidFill>
                                      <a:latin typeface="Cambria Math" panose="02040503050406030204" pitchFamily="18" charset="0"/>
                                    </a:rPr>
                                    <m:t xml:space="preserve">s</m:t>
                                  </m:r>
                                </m:sub>
                              </m:sSub>
                            </m:oMath>
                          </a14:m>
                        </mc:Choice>
                        <mc:Fallback>
                          <a:r>
                            <a:rPr lang="en-US" sz="990" dirty="0">
                              <a:solidFill>
                                <a:srgbClr val="2D2D2D"/>
                              </a:solidFill>
                              <a:latin typeface="Arial" pitchFamily="34" charset="0"/>
                              <a:ea typeface="Arial" pitchFamily="34" charset="-122"/>
                              <a:cs typeface="Arial" pitchFamily="34" charset="-120"/>
                            </a:rPr>
                            <a:t>Vs</a:t>
                          </a:r>
                        </mc:Fallback>
                      </mc:AlternateContent>
                      <a:r>
                        <a:rPr lang="en-US" sz="990" dirty="0">
                          <a:solidFill>
                            <a:srgbClr val="2D2D2D"/>
                          </a:solidFill>
                          <a:latin typeface="Arial" pitchFamily="34" charset="0"/>
                          <a:ea typeface="Arial" pitchFamily="34" charset="-122"/>
                          <a:cs typeface="Arial" pitchFamily="34" charset="-120"/>
                        </a:rPr>
                        <a:t> con la profundidad</a:t>
                      </a:r>
                      <a:endParaRPr lang="en-US" sz="99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6" name="Cabecera Korsimaa et al., 2025 [s2]"/>
          <p:cNvSpPr/>
          <p:nvPr/>
        </p:nvSpPr>
        <p:spPr>
          <a:xfrm>
            <a:off x="966136" y="1561458"/>
            <a:ext cx="2243649" cy="360586"/>
          </a:xfrm>
          <a:prstGeom prst="rect">
            <a:avLst/>
          </a:prstGeom>
          <a:solidFill>
            <a:srgbClr val="1F4E79"/>
          </a:solidFill>
          <a:ln w="6350">
            <a:solidFill>
              <a:srgbClr val="1F4E79"/>
            </a:solidFill>
            <a:prstDash val="solid"/>
          </a:ln>
        </p:spPr>
      </p:sp>
      <p:sp>
        <p:nvSpPr>
          <p:cNvPr id="7" name="Elemento [s2]"/>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Korsimaa et al., 2025</a:t>
            </a:r>
            <a:endParaRPr lang="en-US" sz="1260" dirty="0"/>
          </a:p>
        </p:txBody>
      </p:sp>
      <p:sp>
        <p:nvSpPr>
          <p:cNvPr id="8" name="Tarjeta Korsimaa et al., 2025 [s2]"/>
          <p:cNvSpPr/>
          <p:nvPr/>
        </p:nvSpPr>
        <p:spPr>
          <a:xfrm>
            <a:off x="966136" y="1922045"/>
            <a:ext cx="2243649" cy="1602606"/>
          </a:xfrm>
          <a:prstGeom prst="rect">
            <a:avLst/>
          </a:prstGeom>
          <a:solidFill>
            <a:srgbClr val="FFFFFF"/>
          </a:solidFill>
          <a:ln w="16694">
            <a:solidFill>
              <a:srgbClr val="1F4E79"/>
            </a:solidFill>
            <a:prstDash val="solid"/>
          </a:ln>
        </p:spPr>
      </p:sp>
      <p:sp>
        <p:nvSpPr>
          <p:cNvPr id="9" name="Elemento [s2]"/>
          <p:cNvSpPr txBox="1"/>
          <p:nvPr/>
        </p:nvSpPr>
        <p:spPr>
          <a:xfrm>
            <a:off x="106229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DWM1000 de bajo costo: jitter de ±4 ns (IC 95 %) en un millón de transmisiones, hasta 25 m</a:t>
            </a:r>
            <a:endParaRPr lang="en-US" sz="1170" dirty="0"/>
          </a:p>
        </p:txBody>
      </p:sp>
      <p:sp>
        <p:nvSpPr>
          <p:cNvPr id="10" name="Cabecera Wicsync (Xue, 2021) [s2]"/>
          <p:cNvSpPr/>
          <p:nvPr/>
        </p:nvSpPr>
        <p:spPr>
          <a:xfrm>
            <a:off x="3450176" y="1561458"/>
            <a:ext cx="2243649" cy="360586"/>
          </a:xfrm>
          <a:prstGeom prst="rect">
            <a:avLst/>
          </a:prstGeom>
          <a:solidFill>
            <a:srgbClr val="2E75B6"/>
          </a:solidFill>
          <a:ln w="6350">
            <a:solidFill>
              <a:srgbClr val="2E75B6"/>
            </a:solidFill>
            <a:prstDash val="solid"/>
          </a:ln>
        </p:spPr>
      </p:sp>
      <p:sp>
        <p:nvSpPr>
          <p:cNvPr id="11" name="Elemento [s2]"/>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Wicsync (Xue, 2021)</a:t>
            </a:r>
            <a:endParaRPr lang="en-US" sz="1260" dirty="0"/>
          </a:p>
        </p:txBody>
      </p:sp>
      <p:sp>
        <p:nvSpPr>
          <p:cNvPr id="12" name="Tarjeta Wicsync (Xue, 2021) [s2]"/>
          <p:cNvSpPr/>
          <p:nvPr/>
        </p:nvSpPr>
        <p:spPr>
          <a:xfrm>
            <a:off x="3450176" y="1922045"/>
            <a:ext cx="2243649" cy="1602606"/>
          </a:xfrm>
          <a:prstGeom prst="rect">
            <a:avLst/>
          </a:prstGeom>
          <a:solidFill>
            <a:srgbClr val="FFFFFF"/>
          </a:solidFill>
          <a:ln w="16694">
            <a:solidFill>
              <a:srgbClr val="2E75B6"/>
            </a:solidFill>
            <a:prstDash val="solid"/>
          </a:ln>
        </p:spPr>
      </p:sp>
      <p:sp>
        <p:nvSpPr>
          <p:cNvPr id="13" name="Elemento [s2]"/>
          <p:cNvSpPr txBox="1"/>
          <p:nvPr/>
        </p:nvSpPr>
        <p:spPr>
          <a:xfrm>
            <a:off x="354633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Menos de 3 ns con 10 nodos hasta 75 m, pero con DW1000, FPGA, DAC y VC-TCXO</a:t>
            </a:r>
            <a:endParaRPr lang="en-US" sz="1170" dirty="0"/>
          </a:p>
        </p:txBody>
      </p:sp>
      <p:sp>
        <p:nvSpPr>
          <p:cNvPr id="14" name="Cabecera Pérez-Solano, 2022 [s2]"/>
          <p:cNvSpPr/>
          <p:nvPr/>
        </p:nvSpPr>
        <p:spPr>
          <a:xfrm>
            <a:off x="5934215" y="1561458"/>
            <a:ext cx="2243649" cy="360586"/>
          </a:xfrm>
          <a:prstGeom prst="rect">
            <a:avLst/>
          </a:prstGeom>
          <a:solidFill>
            <a:srgbClr val="C55A11"/>
          </a:solidFill>
          <a:ln w="6350">
            <a:solidFill>
              <a:srgbClr val="C55A11"/>
            </a:solidFill>
            <a:prstDash val="solid"/>
          </a:ln>
        </p:spPr>
      </p:sp>
      <p:sp>
        <p:nvSpPr>
          <p:cNvPr id="15" name="Elemento [s2]"/>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Pérez-Solano, 2022</a:t>
            </a:r>
            <a:endParaRPr lang="en-US" sz="1260" dirty="0"/>
          </a:p>
        </p:txBody>
      </p:sp>
      <p:sp>
        <p:nvSpPr>
          <p:cNvPr id="16" name="Tarjeta Pérez-Solano, 2022 [s2]"/>
          <p:cNvSpPr/>
          <p:nvPr/>
        </p:nvSpPr>
        <p:spPr>
          <a:xfrm>
            <a:off x="5934215" y="1922045"/>
            <a:ext cx="2243649" cy="1602606"/>
          </a:xfrm>
          <a:prstGeom prst="rect">
            <a:avLst/>
          </a:prstGeom>
          <a:solidFill>
            <a:srgbClr val="FFFFFF"/>
          </a:solidFill>
          <a:ln w="16694">
            <a:solidFill>
              <a:srgbClr val="C55A11"/>
            </a:solidFill>
            <a:prstDash val="solid"/>
          </a:ln>
        </p:spPr>
      </p:sp>
      <p:sp>
        <p:nvSpPr>
          <p:cNvPr id="17" name="Elemento [s2]"/>
          <p:cNvSpPr txBox="1"/>
          <p:nvPr/>
        </p:nvSpPr>
        <p:spPr>
          <a:xfrm>
            <a:off x="6030372" y="1986149"/>
            <a:ext cx="2051336" cy="1474398"/>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0,14 ns con marcas internas del transceptor; ≈31 ns al pasar al temporizador del microcontrolador</a:t>
            </a:r>
            <a:endParaRPr lang="en-US" sz="1170" dirty="0"/>
          </a:p>
        </p:txBody>
      </p:sp>
      <p:sp>
        <p:nvSpPr>
          <p:cNvPr id="18" name="Elemento [s2]"/>
          <p:cNvSpPr txBox="1"/>
          <p:nvPr/>
        </p:nvSpPr>
        <p:spPr>
          <a:xfrm>
            <a:off x="966136" y="3684912"/>
            <a:ext cx="7211728" cy="320521"/>
          </a:xfrm>
          <a:prstGeom prst="rect">
            <a:avLst/>
          </a:prstGeom>
          <a:noFill/>
          <a:ln/>
        </p:spPr>
        <p:txBody>
          <a:bodyPr wrap="square" lIns="0" tIns="0" rIns="0" bIns="0" rtlCol="0" anchor="t"/>
          <a:lstStyle/>
          <a:p>
            <a:pPr indent="0" marL="0">
              <a:buNone/>
            </a:pPr>
            <a:r>
              <a:rPr lang="en-US" sz="1260" dirty="0">
                <a:solidFill>
                  <a:srgbClr val="2D2D2D"/>
                </a:solidFill>
                <a:latin typeface="Arial" pitchFamily="34" charset="0"/>
                <a:ea typeface="Arial" pitchFamily="34" charset="-122"/>
                <a:cs typeface="Arial" pitchFamily="34" charset="-120"/>
              </a:rPr>
              <a:t>UWB además mide distancias entre nodos: atacaría a la vez el error de sincronización y el de posición.</a:t>
            </a:r>
            <a:endParaRPr lang="en-US" sz="1260" dirty="0"/>
          </a:p>
        </p:txBody>
      </p:sp>
      <p:sp>
        <p:nvSpPr>
          <p:cNvPr id="19" name="Franja [s2]"/>
          <p:cNvSpPr/>
          <p:nvPr/>
        </p:nvSpPr>
        <p:spPr>
          <a:xfrm>
            <a:off x="966136" y="4085563"/>
            <a:ext cx="7211728" cy="360586"/>
          </a:xfrm>
          <a:prstGeom prst="rect">
            <a:avLst/>
          </a:prstGeom>
          <a:solidFill>
            <a:srgbClr val="EAF1F8"/>
          </a:solidFill>
          <a:ln w="6350">
            <a:solidFill>
              <a:srgbClr val="EAF1F8"/>
            </a:solidFill>
            <a:prstDash val="solid"/>
          </a:ln>
        </p:spPr>
      </p:sp>
      <p:sp>
        <p:nvSpPr>
          <p:cNvPr id="20" name="Elemento [s2]"/>
          <p:cNvSpPr txBox="1"/>
          <p:nvPr/>
        </p:nvSpPr>
        <p:spPr>
          <a:xfrm>
            <a:off x="1086331" y="4085563"/>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Debe medirse hasta el inicio del ADC, no por la resolución nominal del radio.</a:t>
            </a:r>
            <a:endParaRPr lang="en-US" sz="1260" dirty="0"/>
          </a:p>
        </p:txBody>
      </p:sp>
      <p:sp>
        <p:nvSpPr>
          <p:cNvPr id="21" name="Cabecera Qué pasa [s3]"/>
          <p:cNvSpPr/>
          <p:nvPr/>
        </p:nvSpPr>
        <p:spPr>
          <a:xfrm>
            <a:off x="966136" y="1561458"/>
            <a:ext cx="2243649" cy="360586"/>
          </a:xfrm>
          <a:prstGeom prst="rect">
            <a:avLst/>
          </a:prstGeom>
          <a:solidFill>
            <a:srgbClr val="1F4E79"/>
          </a:solidFill>
          <a:ln w="6350">
            <a:solidFill>
              <a:srgbClr val="1F4E79"/>
            </a:solidFill>
            <a:prstDash val="solid"/>
          </a:ln>
        </p:spPr>
      </p:sp>
      <p:sp>
        <p:nvSpPr>
          <p:cNvPr id="22" name="Elemento [s3]"/>
          <p:cNvSpPr txBox="1"/>
          <p:nvPr/>
        </p:nvSpPr>
        <p:spPr>
          <a:xfrm>
            <a:off x="100620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Qué pasa</a:t>
            </a:r>
            <a:endParaRPr lang="en-US" sz="1350" dirty="0"/>
          </a:p>
        </p:txBody>
      </p:sp>
      <p:sp>
        <p:nvSpPr>
          <p:cNvPr id="23" name="Tarjeta Qué pasa [s3]"/>
          <p:cNvSpPr/>
          <p:nvPr/>
        </p:nvSpPr>
        <p:spPr>
          <a:xfrm>
            <a:off x="966136" y="1922045"/>
            <a:ext cx="2243649" cy="2163519"/>
          </a:xfrm>
          <a:prstGeom prst="rect">
            <a:avLst/>
          </a:prstGeom>
          <a:solidFill>
            <a:srgbClr val="FFFFFF"/>
          </a:solidFill>
          <a:ln w="16694">
            <a:solidFill>
              <a:srgbClr val="1F4E79"/>
            </a:solidFill>
            <a:prstDash val="solid"/>
          </a:ln>
        </p:spPr>
      </p:sp>
      <p:sp>
        <p:nvSpPr>
          <p:cNvPr id="24" name="Elemento [s3]"/>
          <p:cNvSpPr txBox="1"/>
          <p:nvPr/>
        </p:nvSpPr>
        <p:spPr>
          <a:xfrm>
            <a:off x="106229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Si pasan el tiempo de captura más 2,5 s y el esclavo no recibió ningún lote del PSoC, el watchdog ejecuta START_NOW</a:t>
            </a:r>
            <a:endParaRPr lang="en-US" sz="1170" dirty="0"/>
          </a:p>
        </p:txBody>
      </p:sp>
      <p:sp>
        <p:nvSpPr>
          <p:cNvPr id="25" name="Cabecera Por qué importa [s3]"/>
          <p:cNvSpPr/>
          <p:nvPr/>
        </p:nvSpPr>
        <p:spPr>
          <a:xfrm>
            <a:off x="3450176" y="1561458"/>
            <a:ext cx="2243649" cy="360586"/>
          </a:xfrm>
          <a:prstGeom prst="rect">
            <a:avLst/>
          </a:prstGeom>
          <a:solidFill>
            <a:srgbClr val="C55A11"/>
          </a:solidFill>
          <a:ln w="6350">
            <a:solidFill>
              <a:srgbClr val="C55A11"/>
            </a:solidFill>
            <a:prstDash val="solid"/>
          </a:ln>
        </p:spPr>
      </p:sp>
      <p:sp>
        <p:nvSpPr>
          <p:cNvPr id="26" name="Elemento [s3]"/>
          <p:cNvSpPr txBox="1"/>
          <p:nvPr/>
        </p:nvSpPr>
        <p:spPr>
          <a:xfrm>
            <a:off x="349024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Por qué importa</a:t>
            </a:r>
            <a:endParaRPr lang="en-US" sz="1350" dirty="0"/>
          </a:p>
        </p:txBody>
      </p:sp>
      <p:sp>
        <p:nvSpPr>
          <p:cNvPr id="27" name="Tarjeta Por qué importa [s3]"/>
          <p:cNvSpPr/>
          <p:nvPr/>
        </p:nvSpPr>
        <p:spPr>
          <a:xfrm>
            <a:off x="3450176" y="1922045"/>
            <a:ext cx="2243649" cy="2163519"/>
          </a:xfrm>
          <a:prstGeom prst="rect">
            <a:avLst/>
          </a:prstGeom>
          <a:solidFill>
            <a:srgbClr val="FFFFFF"/>
          </a:solidFill>
          <a:ln w="16694">
            <a:solidFill>
              <a:srgbClr val="C55A11"/>
            </a:solidFill>
            <a:prstDash val="solid"/>
          </a:ln>
        </p:spPr>
      </p:sp>
      <p:sp>
        <p:nvSpPr>
          <p:cNvPr id="28" name="Elemento [s3]"/>
          <p:cNvSpPr txBox="1"/>
          <p:nvPr/>
        </p:nvSpPr>
        <p:spPr>
          <a:xfrm>
            <a:off x="354633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Conserva la marca temporal del disparo original: los datos parecen completos pero empezaron segundos tarde y no sirven para fase</a:t>
            </a:r>
            <a:endParaRPr lang="en-US" sz="1170" dirty="0"/>
          </a:p>
        </p:txBody>
      </p:sp>
      <p:sp>
        <p:nvSpPr>
          <p:cNvPr id="29" name="Cabecera Corrección pendiente [s3]"/>
          <p:cNvSpPr/>
          <p:nvPr/>
        </p:nvSpPr>
        <p:spPr>
          <a:xfrm>
            <a:off x="5934215" y="1561458"/>
            <a:ext cx="2243649" cy="360586"/>
          </a:xfrm>
          <a:prstGeom prst="rect">
            <a:avLst/>
          </a:prstGeom>
          <a:solidFill>
            <a:srgbClr val="2E75B6"/>
          </a:solidFill>
          <a:ln w="6350">
            <a:solidFill>
              <a:srgbClr val="2E75B6"/>
            </a:solidFill>
            <a:prstDash val="solid"/>
          </a:ln>
        </p:spPr>
      </p:sp>
      <p:sp>
        <p:nvSpPr>
          <p:cNvPr id="30" name="Elemento [s3]"/>
          <p:cNvSpPr txBox="1"/>
          <p:nvPr/>
        </p:nvSpPr>
        <p:spPr>
          <a:xfrm>
            <a:off x="5974281" y="1561458"/>
            <a:ext cx="2163519" cy="360586"/>
          </a:xfrm>
          <a:prstGeom prst="rect">
            <a:avLst/>
          </a:prstGeom>
          <a:noFill/>
          <a:ln/>
        </p:spPr>
        <p:txBody>
          <a:bodyPr wrap="square" lIns="0" tIns="0" rIns="0" bIns="0"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Corrección pendiente</a:t>
            </a:r>
            <a:endParaRPr lang="en-US" sz="1350" dirty="0"/>
          </a:p>
        </p:txBody>
      </p:sp>
      <p:sp>
        <p:nvSpPr>
          <p:cNvPr id="31" name="Tarjeta Corrección pendiente [s3]"/>
          <p:cNvSpPr/>
          <p:nvPr/>
        </p:nvSpPr>
        <p:spPr>
          <a:xfrm>
            <a:off x="5934215" y="1922045"/>
            <a:ext cx="2243649" cy="2163519"/>
          </a:xfrm>
          <a:prstGeom prst="rect">
            <a:avLst/>
          </a:prstGeom>
          <a:solidFill>
            <a:srgbClr val="FFFFFF"/>
          </a:solidFill>
          <a:ln w="16694">
            <a:solidFill>
              <a:srgbClr val="2E75B6"/>
            </a:solidFill>
            <a:prstDash val="solid"/>
          </a:ln>
        </p:spPr>
      </p:sp>
      <p:sp>
        <p:nvSpPr>
          <p:cNvPr id="32" name="Elemento [s3]"/>
          <p:cNvSpPr txBox="1"/>
          <p:nvPr/>
        </p:nvSpPr>
        <p:spPr>
          <a:xfrm>
            <a:off x="6030372" y="1986149"/>
            <a:ext cx="2051336" cy="2035310"/>
          </a:xfrm>
          <a:prstGeom prst="rect">
            <a:avLst/>
          </a:prstGeom>
          <a:noFill/>
          <a:ln/>
        </p:spPr>
        <p:txBody>
          <a:bodyPr wrap="square" lIns="0" tIns="0" rIns="0" bIns="0" rtlCol="0" anchor="t"/>
          <a:lstStyle/>
          <a:p>
            <a:pPr algn="l" indent="0" marL="0">
              <a:buNone/>
            </a:pPr>
            <a:r>
              <a:rPr lang="en-US" sz="1170" dirty="0">
                <a:solidFill>
                  <a:srgbClr val="2D2D2D"/>
                </a:solidFill>
                <a:latin typeface="Arial" pitchFamily="34" charset="0"/>
                <a:ea typeface="Arial" pitchFamily="34" charset="-122"/>
                <a:cs typeface="Arial" pitchFamily="34" charset="-120"/>
              </a:rPr>
              <a:t>Quitar START_NOW de todo flujo sincronizado; ante CAPTURE_SYNC_STALL, abortar y enviar NACK; agregar prueba de regresión</a:t>
            </a:r>
            <a:endParaRPr lang="en-US" sz="1170" dirty="0"/>
          </a:p>
        </p:txBody>
      </p:sp>
      <p:sp>
        <p:nvSpPr>
          <p:cNvPr id="33" name="Franja [s3]"/>
          <p:cNvSpPr/>
          <p:nvPr/>
        </p:nvSpPr>
        <p:spPr>
          <a:xfrm>
            <a:off x="966136" y="4165694"/>
            <a:ext cx="7211728" cy="360586"/>
          </a:xfrm>
          <a:prstGeom prst="rect">
            <a:avLst/>
          </a:prstGeom>
          <a:solidFill>
            <a:srgbClr val="EAF1F8"/>
          </a:solidFill>
          <a:ln w="6350">
            <a:solidFill>
              <a:srgbClr val="EAF1F8"/>
            </a:solidFill>
            <a:prstDash val="solid"/>
          </a:ln>
        </p:spPr>
      </p:sp>
      <p:sp>
        <p:nvSpPr>
          <p:cNvPr id="34" name="Elemento [s3]"/>
          <p:cNvSpPr txBox="1"/>
          <p:nvPr/>
        </p:nvSpPr>
        <p:spPr>
          <a:xfrm>
            <a:off x="1086331" y="4165694"/>
            <a:ext cx="6971337" cy="360586"/>
          </a:xfrm>
          <a:prstGeom prst="rect">
            <a:avLst/>
          </a:prstGeom>
          <a:noFill/>
          <a:ln/>
        </p:spPr>
        <p:txBody>
          <a:bodyPr wrap="square" lIns="0" tIns="0" rIns="0" bIns="0" rtlCol="0" anchor="ctr"/>
          <a:lstStyle/>
          <a:p>
            <a:pPr indent="0" marL="0">
              <a:buNone/>
            </a:pPr>
            <a:r>
              <a:rPr lang="en-US" sz="1260" b="1" dirty="0">
                <a:solidFill>
                  <a:srgbClr val="1F4E79"/>
                </a:solidFill>
                <a:latin typeface="Arial" pitchFamily="34" charset="0"/>
                <a:ea typeface="Arial" pitchFamily="34" charset="-122"/>
                <a:cs typeface="Arial" pitchFamily="34" charset="-120"/>
              </a:rPr>
              <a:t>No afecta las capturas que arrancan bien; oculta un fallo excepcional.</a:t>
            </a:r>
            <a:endParaRPr lang="en-US" sz="1260" dirty="0"/>
          </a:p>
        </p:txBody>
      </p:sp>
      <p:sp>
        <p:nvSpPr>
          <p:cNvPr id="35"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Qué está demostrado y qué falta, por nivel de evidencia</a:t>
            </a:r>
            <a:endParaRPr lang="en-US" sz="1400" dirty="0"/>
          </a:p>
        </p:txBody>
      </p:sp>
      <p:sp>
        <p:nvSpPr>
          <p:cNvPr id="36"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4.5, 4.10 y 5; documento de tesis, 08_trabajos_futuros.tex (SEV 01 y SPT).</a:t>
            </a:r>
            <a:endParaRPr lang="en-US" sz="800" dirty="0"/>
          </a:p>
        </p:txBody>
      </p:sp>
      <p:sp>
        <p:nvSpPr>
          <p:cNvPr id="37"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Trabajo futuro: cinco pasos desde la adquisición hacia la caracterización del suelo</a:t>
            </a:r>
            <a:endParaRPr lang="en-US" sz="1400" dirty="0"/>
          </a:p>
        </p:txBody>
      </p:sp>
      <p:sp>
        <p:nvSpPr>
          <p:cNvPr id="38"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Resumen firmado, sec. 5; documento de tesis, 08_trabajos_futuros.tex.</a:t>
            </a:r>
            <a:endParaRPr lang="en-US" sz="800" dirty="0"/>
          </a:p>
        </p:txBody>
      </p:sp>
      <p:sp>
        <p:nvSpPr>
          <p:cNvPr id="39" name="Encabezado [s2]"/>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Si ESP-NOW no alcanza, UWB es un candidato fundado, no una prestación disponible</a:t>
            </a:r>
            <a:endParaRPr lang="en-US" sz="1400" dirty="0"/>
          </a:p>
        </p:txBody>
      </p:sp>
      <p:sp>
        <p:nvSpPr>
          <p:cNvPr id="40" name="Cita [s2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Korsimaa et al. (2025), HardwareX 24, e00713; Xue et al. (2021), Measurement 183, 109760; Pérez-Solano et al. (2022), Comput. Commun. 186, 80–89; documento de tesis, 08_trabajos_futuros.tex.</a:t>
            </a:r>
            <a:endParaRPr lang="en-US" sz="800" dirty="0"/>
          </a:p>
        </p:txBody>
      </p:sp>
      <p:sp>
        <p:nvSpPr>
          <p:cNvPr id="41" name="Encabezado [s3]"/>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Riesgo conocido: un rearranque por watchdog puede ocultar una falla de sincronismo</a:t>
            </a:r>
            <a:endParaRPr lang="en-US" sz="1400" dirty="0"/>
          </a:p>
        </p:txBody>
      </p:sp>
      <p:sp>
        <p:nvSpPr>
          <p:cNvPr id="42" name="Cita [s3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Documento de tesis, 08_trabajos_futuros.tex (sincronización). No figura en el resumen firmado.</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204" fill="hold">
                      <p:stCondLst>
                        <p:cond delay="indefinite"/>
                      </p:stCondLst>
                      <p:childTnLst>
                        <p:par>
                          <p:cTn id="5205" fill="hold">
                            <p:stCondLst>
                              <p:cond delay="0"/>
                            </p:stCondLst>
                            <p:childTnLst>
                              <p:par>
                                <p:cTn id="5183" presetID="10" presetClass="exit" presetSubtype="0" fill="hold" nodeType="clickEffect">
                                  <p:stCondLst>
                                    <p:cond delay="0"/>
                                  </p:stCondLst>
                                  <p:childTnLst>
                                    <p:animEffect transition="out" filter="fade">
                                      <p:cBhvr>
                                        <p:cTn id="5184" dur="400"/>
                                        <p:tgtEl>
                                          <p:spTgt spid="27"/>
                                        </p:tgtEl>
                                      </p:cBhvr>
                                    </p:animEffect>
                                    <p:set>
                                      <p:cBhvr>
                                        <p:cTn id="5185" dur="1" fill="hold">
                                          <p:stCondLst>
                                            <p:cond delay="399"/>
                                          </p:stCondLst>
                                        </p:cTn>
                                        <p:tgtEl>
                                          <p:spTgt spid="27"/>
                                        </p:tgtEl>
                                        <p:attrNameLst>
                                          <p:attrName>style.visibility</p:attrName>
                                        </p:attrNameLst>
                                      </p:cBhvr>
                                      <p:to>
                                        <p:strVal val="hidden"/>
                                      </p:to>
                                    </p:set>
                                  </p:childTnLst>
                                </p:cTn>
                              </p:par>
                              <p:par>
                                <p:cTn id="5186" presetID="10" presetClass="exit" presetSubtype="0" fill="hold" nodeType="withEffect">
                                  <p:stCondLst>
                                    <p:cond delay="0"/>
                                  </p:stCondLst>
                                  <p:childTnLst>
                                    <p:animEffect transition="out" filter="fade">
                                      <p:cBhvr>
                                        <p:cTn id="5187" dur="400"/>
                                        <p:tgtEl>
                                          <p:spTgt spid="4"/>
                                        </p:tgtEl>
                                      </p:cBhvr>
                                    </p:animEffect>
                                    <p:set>
                                      <p:cBhvr>
                                        <p:cTn id="5188" dur="1" fill="hold">
                                          <p:stCondLst>
                                            <p:cond delay="399"/>
                                          </p:stCondLst>
                                        </p:cTn>
                                        <p:tgtEl>
                                          <p:spTgt spid="4"/>
                                        </p:tgtEl>
                                        <p:attrNameLst>
                                          <p:attrName>style.visibility</p:attrName>
                                        </p:attrNameLst>
                                      </p:cBhvr>
                                      <p:to>
                                        <p:strVal val="hidden"/>
                                      </p:to>
                                    </p:set>
                                  </p:childTnLst>
                                </p:cTn>
                              </p:par>
                              <p:par>
                                <p:cTn id="5189" presetID="10" presetClass="exit" presetSubtype="0" fill="hold" nodeType="withEffect">
                                  <p:stCondLst>
                                    <p:cond delay="0"/>
                                  </p:stCondLst>
                                  <p:childTnLst>
                                    <p:animEffect transition="out" filter="fade">
                                      <p:cBhvr>
                                        <p:cTn id="5190" dur="400"/>
                                        <p:tgtEl>
                                          <p:spTgt spid="35"/>
                                        </p:tgtEl>
                                      </p:cBhvr>
                                    </p:animEffect>
                                    <p:set>
                                      <p:cBhvr>
                                        <p:cTn id="5191" dur="1" fill="hold">
                                          <p:stCondLst>
                                            <p:cond delay="399"/>
                                          </p:stCondLst>
                                        </p:cTn>
                                        <p:tgtEl>
                                          <p:spTgt spid="35"/>
                                        </p:tgtEl>
                                        <p:attrNameLst>
                                          <p:attrName>style.visibility</p:attrName>
                                        </p:attrNameLst>
                                      </p:cBhvr>
                                      <p:to>
                                        <p:strVal val="hidden"/>
                                      </p:to>
                                    </p:set>
                                  </p:childTnLst>
                                </p:cTn>
                              </p:par>
                              <p:par>
                                <p:cTn id="5192" presetID="10" presetClass="exit" presetSubtype="0" fill="hold" nodeType="withEffect">
                                  <p:stCondLst>
                                    <p:cond delay="0"/>
                                  </p:stCondLst>
                                  <p:childTnLst>
                                    <p:animEffect transition="out" filter="fade">
                                      <p:cBhvr>
                                        <p:cTn id="5193" dur="400"/>
                                        <p:tgtEl>
                                          <p:spTgt spid="36"/>
                                        </p:tgtEl>
                                      </p:cBhvr>
                                    </p:animEffect>
                                    <p:set>
                                      <p:cBhvr>
                                        <p:cTn id="5194" dur="1" fill="hold">
                                          <p:stCondLst>
                                            <p:cond delay="399"/>
                                          </p:stCondLst>
                                        </p:cTn>
                                        <p:tgtEl>
                                          <p:spTgt spid="36"/>
                                        </p:tgtEl>
                                        <p:attrNameLst>
                                          <p:attrName>style.visibility</p:attrName>
                                        </p:attrNameLst>
                                      </p:cBhvr>
                                      <p:to>
                                        <p:strVal val="hidden"/>
                                      </p:to>
                                    </p:set>
                                  </p:childTnLst>
                                </p:cTn>
                              </p:par>
                              <p:par>
                                <p:cTn id="5195" presetID="10" presetClass="entr" presetSubtype="0" fill="hold" nodeType="withEffect">
                                  <p:stCondLst>
                                    <p:cond delay="200"/>
                                  </p:stCondLst>
                                  <p:childTnLst>
                                    <p:set>
                                      <p:cBhvr>
                                        <p:cTn id="5196" dur="1" fill="hold">
                                          <p:stCondLst>
                                            <p:cond delay="0"/>
                                          </p:stCondLst>
                                        </p:cTn>
                                        <p:tgtEl>
                                          <p:spTgt spid="53"/>
                                        </p:tgtEl>
                                        <p:attrNameLst>
                                          <p:attrName>style.visibility</p:attrName>
                                        </p:attrNameLst>
                                      </p:cBhvr>
                                      <p:to>
                                        <p:strVal val="visible"/>
                                      </p:to>
                                    </p:set>
                                    <p:animEffect transition="in" filter="fade">
                                      <p:cBhvr>
                                        <p:cTn id="5197" dur="500"/>
                                        <p:tgtEl>
                                          <p:spTgt spid="53"/>
                                        </p:tgtEl>
                                      </p:cBhvr>
                                    </p:animEffect>
                                  </p:childTnLst>
                                </p:cTn>
                              </p:par>
                              <p:par>
                                <p:cTn id="5198" presetID="10" presetClass="entr" presetSubtype="0" fill="hold" nodeType="withEffect">
                                  <p:stCondLst>
                                    <p:cond delay="270"/>
                                  </p:stCondLst>
                                  <p:childTnLst>
                                    <p:set>
                                      <p:cBhvr>
                                        <p:cTn id="5199" dur="1" fill="hold">
                                          <p:stCondLst>
                                            <p:cond delay="0"/>
                                          </p:stCondLst>
                                        </p:cTn>
                                        <p:tgtEl>
                                          <p:spTgt spid="37"/>
                                        </p:tgtEl>
                                        <p:attrNameLst>
                                          <p:attrName>style.visibility</p:attrName>
                                        </p:attrNameLst>
                                      </p:cBhvr>
                                      <p:to>
                                        <p:strVal val="visible"/>
                                      </p:to>
                                    </p:set>
                                    <p:animEffect transition="in" filter="fade">
                                      <p:cBhvr>
                                        <p:cTn id="5200" dur="500"/>
                                        <p:tgtEl>
                                          <p:spTgt spid="37"/>
                                        </p:tgtEl>
                                      </p:cBhvr>
                                    </p:animEffect>
                                  </p:childTnLst>
                                </p:cTn>
                              </p:par>
                              <p:par>
                                <p:cTn id="5201" presetID="10" presetClass="entr" presetSubtype="0" fill="hold" nodeType="withEffect">
                                  <p:stCondLst>
                                    <p:cond delay="340"/>
                                  </p:stCondLst>
                                  <p:childTnLst>
                                    <p:set>
                                      <p:cBhvr>
                                        <p:cTn id="5202" dur="1" fill="hold">
                                          <p:stCondLst>
                                            <p:cond delay="0"/>
                                          </p:stCondLst>
                                        </p:cTn>
                                        <p:tgtEl>
                                          <p:spTgt spid="38"/>
                                        </p:tgtEl>
                                        <p:attrNameLst>
                                          <p:attrName>style.visibility</p:attrName>
                                        </p:attrNameLst>
                                      </p:cBhvr>
                                      <p:to>
                                        <p:strVal val="visible"/>
                                      </p:to>
                                    </p:set>
                                    <p:animEffect transition="in" filter="fade">
                                      <p:cBhvr>
                                        <p:cTn id="5203" dur="500"/>
                                        <p:tgtEl>
                                          <p:spTgt spid="38"/>
                                        </p:tgtEl>
                                      </p:cBhvr>
                                    </p:animEffect>
                                  </p:childTnLst>
                                </p:cTn>
                              </p:par>
                            </p:childTnLst>
                          </p:cTn>
                        </p:par>
                      </p:childTnLst>
                    </p:cTn>
                  </p:par>
                  <p:par>
                    <p:cTn id="5266" fill="hold">
                      <p:stCondLst>
                        <p:cond delay="indefinite"/>
                      </p:stCondLst>
                      <p:childTnLst>
                        <p:par>
                          <p:cTn id="5267" fill="hold">
                            <p:stCondLst>
                              <p:cond delay="0"/>
                            </p:stCondLst>
                            <p:childTnLst>
                              <p:par>
                                <p:cTn id="5206" presetID="10" presetClass="exit" presetSubtype="0" fill="hold" nodeType="clickEffect">
                                  <p:stCondLst>
                                    <p:cond delay="0"/>
                                  </p:stCondLst>
                                  <p:childTnLst>
                                    <p:animEffect transition="out" filter="fade">
                                      <p:cBhvr>
                                        <p:cTn id="5207" dur="400"/>
                                        <p:tgtEl>
                                          <p:spTgt spid="53"/>
                                        </p:tgtEl>
                                      </p:cBhvr>
                                    </p:animEffect>
                                    <p:set>
                                      <p:cBhvr>
                                        <p:cTn id="5208" dur="1" fill="hold">
                                          <p:stCondLst>
                                            <p:cond delay="399"/>
                                          </p:stCondLst>
                                        </p:cTn>
                                        <p:tgtEl>
                                          <p:spTgt spid="53"/>
                                        </p:tgtEl>
                                        <p:attrNameLst>
                                          <p:attrName>style.visibility</p:attrName>
                                        </p:attrNameLst>
                                      </p:cBhvr>
                                      <p:to>
                                        <p:strVal val="hidden"/>
                                      </p:to>
                                    </p:set>
                                  </p:childTnLst>
                                </p:cTn>
                              </p:par>
                              <p:par>
                                <p:cTn id="5209" presetID="10" presetClass="exit" presetSubtype="0" fill="hold" nodeType="withEffect">
                                  <p:stCondLst>
                                    <p:cond delay="0"/>
                                  </p:stCondLst>
                                  <p:childTnLst>
                                    <p:animEffect transition="out" filter="fade">
                                      <p:cBhvr>
                                        <p:cTn id="5210" dur="400"/>
                                        <p:tgtEl>
                                          <p:spTgt spid="37"/>
                                        </p:tgtEl>
                                      </p:cBhvr>
                                    </p:animEffect>
                                    <p:set>
                                      <p:cBhvr>
                                        <p:cTn id="5211" dur="1" fill="hold">
                                          <p:stCondLst>
                                            <p:cond delay="399"/>
                                          </p:stCondLst>
                                        </p:cTn>
                                        <p:tgtEl>
                                          <p:spTgt spid="37"/>
                                        </p:tgtEl>
                                        <p:attrNameLst>
                                          <p:attrName>style.visibility</p:attrName>
                                        </p:attrNameLst>
                                      </p:cBhvr>
                                      <p:to>
                                        <p:strVal val="hidden"/>
                                      </p:to>
                                    </p:set>
                                  </p:childTnLst>
                                </p:cTn>
                              </p:par>
                              <p:par>
                                <p:cTn id="5212" presetID="10" presetClass="exit" presetSubtype="0" fill="hold" nodeType="withEffect">
                                  <p:stCondLst>
                                    <p:cond delay="0"/>
                                  </p:stCondLst>
                                  <p:childTnLst>
                                    <p:animEffect transition="out" filter="fade">
                                      <p:cBhvr>
                                        <p:cTn id="5213" dur="400"/>
                                        <p:tgtEl>
                                          <p:spTgt spid="38"/>
                                        </p:tgtEl>
                                      </p:cBhvr>
                                    </p:animEffect>
                                    <p:set>
                                      <p:cBhvr>
                                        <p:cTn id="5214" dur="1" fill="hold">
                                          <p:stCondLst>
                                            <p:cond delay="399"/>
                                          </p:stCondLst>
                                        </p:cTn>
                                        <p:tgtEl>
                                          <p:spTgt spid="38"/>
                                        </p:tgtEl>
                                        <p:attrNameLst>
                                          <p:attrName>style.visibility</p:attrName>
                                        </p:attrNameLst>
                                      </p:cBhvr>
                                      <p:to>
                                        <p:strVal val="hidden"/>
                                      </p:to>
                                    </p:set>
                                  </p:childTnLst>
                                </p:cTn>
                              </p:par>
                              <p:par>
                                <p:cTn id="5215" presetID="22" presetClass="entr" presetSubtype="8" fill="hold" nodeType="withEffect">
                                  <p:stCondLst>
                                    <p:cond delay="200"/>
                                  </p:stCondLst>
                                  <p:childTnLst>
                                    <p:set>
                                      <p:cBhvr>
                                        <p:cTn id="5216" dur="1" fill="hold">
                                          <p:stCondLst>
                                            <p:cond delay="0"/>
                                          </p:stCondLst>
                                        </p:cTn>
                                        <p:tgtEl>
                                          <p:spTgt spid="6"/>
                                        </p:tgtEl>
                                        <p:attrNameLst>
                                          <p:attrName>style.visibility</p:attrName>
                                        </p:attrNameLst>
                                      </p:cBhvr>
                                      <p:to>
                                        <p:strVal val="visible"/>
                                      </p:to>
                                    </p:set>
                                    <p:animEffect transition="in" filter="wipe(left)">
                                      <p:cBhvr>
                                        <p:cTn id="5217" dur="500"/>
                                        <p:tgtEl>
                                          <p:spTgt spid="6"/>
                                        </p:tgtEl>
                                      </p:cBhvr>
                                    </p:animEffect>
                                  </p:childTnLst>
                                </p:cTn>
                              </p:par>
                              <p:par>
                                <p:cTn id="5218" presetID="22" presetClass="entr" presetSubtype="8" fill="hold" nodeType="withEffect">
                                  <p:stCondLst>
                                    <p:cond delay="270"/>
                                  </p:stCondLst>
                                  <p:childTnLst>
                                    <p:set>
                                      <p:cBhvr>
                                        <p:cTn id="5219" dur="1" fill="hold">
                                          <p:stCondLst>
                                            <p:cond delay="0"/>
                                          </p:stCondLst>
                                        </p:cTn>
                                        <p:tgtEl>
                                          <p:spTgt spid="7"/>
                                        </p:tgtEl>
                                        <p:attrNameLst>
                                          <p:attrName>style.visibility</p:attrName>
                                        </p:attrNameLst>
                                      </p:cBhvr>
                                      <p:to>
                                        <p:strVal val="visible"/>
                                      </p:to>
                                    </p:set>
                                    <p:animEffect transition="in" filter="wipe(left)">
                                      <p:cBhvr>
                                        <p:cTn id="5220" dur="500"/>
                                        <p:tgtEl>
                                          <p:spTgt spid="7"/>
                                        </p:tgtEl>
                                      </p:cBhvr>
                                    </p:animEffect>
                                  </p:childTnLst>
                                </p:cTn>
                              </p:par>
                              <p:par>
                                <p:cTn id="5221" presetID="22" presetClass="entr" presetSubtype="8" fill="hold" nodeType="withEffect">
                                  <p:stCondLst>
                                    <p:cond delay="340"/>
                                  </p:stCondLst>
                                  <p:childTnLst>
                                    <p:set>
                                      <p:cBhvr>
                                        <p:cTn id="5222" dur="1" fill="hold">
                                          <p:stCondLst>
                                            <p:cond delay="0"/>
                                          </p:stCondLst>
                                        </p:cTn>
                                        <p:tgtEl>
                                          <p:spTgt spid="8"/>
                                        </p:tgtEl>
                                        <p:attrNameLst>
                                          <p:attrName>style.visibility</p:attrName>
                                        </p:attrNameLst>
                                      </p:cBhvr>
                                      <p:to>
                                        <p:strVal val="visible"/>
                                      </p:to>
                                    </p:set>
                                    <p:animEffect transition="in" filter="wipe(left)">
                                      <p:cBhvr>
                                        <p:cTn id="5223" dur="500"/>
                                        <p:tgtEl>
                                          <p:spTgt spid="8"/>
                                        </p:tgtEl>
                                      </p:cBhvr>
                                    </p:animEffect>
                                  </p:childTnLst>
                                </p:cTn>
                              </p:par>
                              <p:par>
                                <p:cTn id="5224" presetID="22" presetClass="entr" presetSubtype="8" fill="hold" nodeType="withEffect">
                                  <p:stCondLst>
                                    <p:cond delay="410"/>
                                  </p:stCondLst>
                                  <p:childTnLst>
                                    <p:set>
                                      <p:cBhvr>
                                        <p:cTn id="5225" dur="1" fill="hold">
                                          <p:stCondLst>
                                            <p:cond delay="0"/>
                                          </p:stCondLst>
                                        </p:cTn>
                                        <p:tgtEl>
                                          <p:spTgt spid="9"/>
                                        </p:tgtEl>
                                        <p:attrNameLst>
                                          <p:attrName>style.visibility</p:attrName>
                                        </p:attrNameLst>
                                      </p:cBhvr>
                                      <p:to>
                                        <p:strVal val="visible"/>
                                      </p:to>
                                    </p:set>
                                    <p:animEffect transition="in" filter="wipe(left)">
                                      <p:cBhvr>
                                        <p:cTn id="5226" dur="500"/>
                                        <p:tgtEl>
                                          <p:spTgt spid="9"/>
                                        </p:tgtEl>
                                      </p:cBhvr>
                                    </p:animEffect>
                                  </p:childTnLst>
                                </p:cTn>
                              </p:par>
                              <p:par>
                                <p:cTn id="5227" presetID="22" presetClass="entr" presetSubtype="8" fill="hold" nodeType="withEffect">
                                  <p:stCondLst>
                                    <p:cond delay="480"/>
                                  </p:stCondLst>
                                  <p:childTnLst>
                                    <p:set>
                                      <p:cBhvr>
                                        <p:cTn id="5228" dur="1" fill="hold">
                                          <p:stCondLst>
                                            <p:cond delay="0"/>
                                          </p:stCondLst>
                                        </p:cTn>
                                        <p:tgtEl>
                                          <p:spTgt spid="10"/>
                                        </p:tgtEl>
                                        <p:attrNameLst>
                                          <p:attrName>style.visibility</p:attrName>
                                        </p:attrNameLst>
                                      </p:cBhvr>
                                      <p:to>
                                        <p:strVal val="visible"/>
                                      </p:to>
                                    </p:set>
                                    <p:animEffect transition="in" filter="wipe(left)">
                                      <p:cBhvr>
                                        <p:cTn id="5229" dur="500"/>
                                        <p:tgtEl>
                                          <p:spTgt spid="10"/>
                                        </p:tgtEl>
                                      </p:cBhvr>
                                    </p:animEffect>
                                  </p:childTnLst>
                                </p:cTn>
                              </p:par>
                              <p:par>
                                <p:cTn id="5230" presetID="22" presetClass="entr" presetSubtype="8" fill="hold" nodeType="withEffect">
                                  <p:stCondLst>
                                    <p:cond delay="550"/>
                                  </p:stCondLst>
                                  <p:childTnLst>
                                    <p:set>
                                      <p:cBhvr>
                                        <p:cTn id="5231" dur="1" fill="hold">
                                          <p:stCondLst>
                                            <p:cond delay="0"/>
                                          </p:stCondLst>
                                        </p:cTn>
                                        <p:tgtEl>
                                          <p:spTgt spid="11"/>
                                        </p:tgtEl>
                                        <p:attrNameLst>
                                          <p:attrName>style.visibility</p:attrName>
                                        </p:attrNameLst>
                                      </p:cBhvr>
                                      <p:to>
                                        <p:strVal val="visible"/>
                                      </p:to>
                                    </p:set>
                                    <p:animEffect transition="in" filter="wipe(left)">
                                      <p:cBhvr>
                                        <p:cTn id="5232" dur="500"/>
                                        <p:tgtEl>
                                          <p:spTgt spid="11"/>
                                        </p:tgtEl>
                                      </p:cBhvr>
                                    </p:animEffect>
                                  </p:childTnLst>
                                </p:cTn>
                              </p:par>
                              <p:par>
                                <p:cTn id="5233" presetID="22" presetClass="entr" presetSubtype="8" fill="hold" nodeType="withEffect">
                                  <p:stCondLst>
                                    <p:cond delay="620"/>
                                  </p:stCondLst>
                                  <p:childTnLst>
                                    <p:set>
                                      <p:cBhvr>
                                        <p:cTn id="5234" dur="1" fill="hold">
                                          <p:stCondLst>
                                            <p:cond delay="0"/>
                                          </p:stCondLst>
                                        </p:cTn>
                                        <p:tgtEl>
                                          <p:spTgt spid="12"/>
                                        </p:tgtEl>
                                        <p:attrNameLst>
                                          <p:attrName>style.visibility</p:attrName>
                                        </p:attrNameLst>
                                      </p:cBhvr>
                                      <p:to>
                                        <p:strVal val="visible"/>
                                      </p:to>
                                    </p:set>
                                    <p:animEffect transition="in" filter="wipe(left)">
                                      <p:cBhvr>
                                        <p:cTn id="5235" dur="500"/>
                                        <p:tgtEl>
                                          <p:spTgt spid="12"/>
                                        </p:tgtEl>
                                      </p:cBhvr>
                                    </p:animEffect>
                                  </p:childTnLst>
                                </p:cTn>
                              </p:par>
                              <p:par>
                                <p:cTn id="5236" presetID="22" presetClass="entr" presetSubtype="8" fill="hold" nodeType="withEffect">
                                  <p:stCondLst>
                                    <p:cond delay="690"/>
                                  </p:stCondLst>
                                  <p:childTnLst>
                                    <p:set>
                                      <p:cBhvr>
                                        <p:cTn id="5237" dur="1" fill="hold">
                                          <p:stCondLst>
                                            <p:cond delay="0"/>
                                          </p:stCondLst>
                                        </p:cTn>
                                        <p:tgtEl>
                                          <p:spTgt spid="13"/>
                                        </p:tgtEl>
                                        <p:attrNameLst>
                                          <p:attrName>style.visibility</p:attrName>
                                        </p:attrNameLst>
                                      </p:cBhvr>
                                      <p:to>
                                        <p:strVal val="visible"/>
                                      </p:to>
                                    </p:set>
                                    <p:animEffect transition="in" filter="wipe(left)">
                                      <p:cBhvr>
                                        <p:cTn id="5238" dur="500"/>
                                        <p:tgtEl>
                                          <p:spTgt spid="13"/>
                                        </p:tgtEl>
                                      </p:cBhvr>
                                    </p:animEffect>
                                  </p:childTnLst>
                                </p:cTn>
                              </p:par>
                              <p:par>
                                <p:cTn id="5239" presetID="22" presetClass="entr" presetSubtype="8" fill="hold" nodeType="withEffect">
                                  <p:stCondLst>
                                    <p:cond delay="760"/>
                                  </p:stCondLst>
                                  <p:childTnLst>
                                    <p:set>
                                      <p:cBhvr>
                                        <p:cTn id="5240" dur="1" fill="hold">
                                          <p:stCondLst>
                                            <p:cond delay="0"/>
                                          </p:stCondLst>
                                        </p:cTn>
                                        <p:tgtEl>
                                          <p:spTgt spid="14"/>
                                        </p:tgtEl>
                                        <p:attrNameLst>
                                          <p:attrName>style.visibility</p:attrName>
                                        </p:attrNameLst>
                                      </p:cBhvr>
                                      <p:to>
                                        <p:strVal val="visible"/>
                                      </p:to>
                                    </p:set>
                                    <p:animEffect transition="in" filter="wipe(left)">
                                      <p:cBhvr>
                                        <p:cTn id="5241" dur="500"/>
                                        <p:tgtEl>
                                          <p:spTgt spid="14"/>
                                        </p:tgtEl>
                                      </p:cBhvr>
                                    </p:animEffect>
                                  </p:childTnLst>
                                </p:cTn>
                              </p:par>
                              <p:par>
                                <p:cTn id="5242" presetID="22" presetClass="entr" presetSubtype="8" fill="hold" nodeType="withEffect">
                                  <p:stCondLst>
                                    <p:cond delay="830"/>
                                  </p:stCondLst>
                                  <p:childTnLst>
                                    <p:set>
                                      <p:cBhvr>
                                        <p:cTn id="5243" dur="1" fill="hold">
                                          <p:stCondLst>
                                            <p:cond delay="0"/>
                                          </p:stCondLst>
                                        </p:cTn>
                                        <p:tgtEl>
                                          <p:spTgt spid="15"/>
                                        </p:tgtEl>
                                        <p:attrNameLst>
                                          <p:attrName>style.visibility</p:attrName>
                                        </p:attrNameLst>
                                      </p:cBhvr>
                                      <p:to>
                                        <p:strVal val="visible"/>
                                      </p:to>
                                    </p:set>
                                    <p:animEffect transition="in" filter="wipe(left)">
                                      <p:cBhvr>
                                        <p:cTn id="5244" dur="500"/>
                                        <p:tgtEl>
                                          <p:spTgt spid="15"/>
                                        </p:tgtEl>
                                      </p:cBhvr>
                                    </p:animEffect>
                                  </p:childTnLst>
                                </p:cTn>
                              </p:par>
                              <p:par>
                                <p:cTn id="5245" presetID="22" presetClass="entr" presetSubtype="8" fill="hold" nodeType="withEffect">
                                  <p:stCondLst>
                                    <p:cond delay="900"/>
                                  </p:stCondLst>
                                  <p:childTnLst>
                                    <p:set>
                                      <p:cBhvr>
                                        <p:cTn id="5246" dur="1" fill="hold">
                                          <p:stCondLst>
                                            <p:cond delay="0"/>
                                          </p:stCondLst>
                                        </p:cTn>
                                        <p:tgtEl>
                                          <p:spTgt spid="16"/>
                                        </p:tgtEl>
                                        <p:attrNameLst>
                                          <p:attrName>style.visibility</p:attrName>
                                        </p:attrNameLst>
                                      </p:cBhvr>
                                      <p:to>
                                        <p:strVal val="visible"/>
                                      </p:to>
                                    </p:set>
                                    <p:animEffect transition="in" filter="wipe(left)">
                                      <p:cBhvr>
                                        <p:cTn id="5247" dur="500"/>
                                        <p:tgtEl>
                                          <p:spTgt spid="16"/>
                                        </p:tgtEl>
                                      </p:cBhvr>
                                    </p:animEffect>
                                  </p:childTnLst>
                                </p:cTn>
                              </p:par>
                              <p:par>
                                <p:cTn id="5248" presetID="22" presetClass="entr" presetSubtype="8" fill="hold" nodeType="withEffect">
                                  <p:stCondLst>
                                    <p:cond delay="900"/>
                                  </p:stCondLst>
                                  <p:childTnLst>
                                    <p:set>
                                      <p:cBhvr>
                                        <p:cTn id="5249" dur="1" fill="hold">
                                          <p:stCondLst>
                                            <p:cond delay="0"/>
                                          </p:stCondLst>
                                        </p:cTn>
                                        <p:tgtEl>
                                          <p:spTgt spid="17"/>
                                        </p:tgtEl>
                                        <p:attrNameLst>
                                          <p:attrName>style.visibility</p:attrName>
                                        </p:attrNameLst>
                                      </p:cBhvr>
                                      <p:to>
                                        <p:strVal val="visible"/>
                                      </p:to>
                                    </p:set>
                                    <p:animEffect transition="in" filter="wipe(left)">
                                      <p:cBhvr>
                                        <p:cTn id="5250" dur="500"/>
                                        <p:tgtEl>
                                          <p:spTgt spid="17"/>
                                        </p:tgtEl>
                                      </p:cBhvr>
                                    </p:animEffect>
                                  </p:childTnLst>
                                </p:cTn>
                              </p:par>
                              <p:par>
                                <p:cTn id="5251" presetID="22" presetClass="entr" presetSubtype="8" fill="hold" nodeType="withEffect">
                                  <p:stCondLst>
                                    <p:cond delay="900"/>
                                  </p:stCondLst>
                                  <p:childTnLst>
                                    <p:set>
                                      <p:cBhvr>
                                        <p:cTn id="5252" dur="1" fill="hold">
                                          <p:stCondLst>
                                            <p:cond delay="0"/>
                                          </p:stCondLst>
                                        </p:cTn>
                                        <p:tgtEl>
                                          <p:spTgt spid="18"/>
                                        </p:tgtEl>
                                        <p:attrNameLst>
                                          <p:attrName>style.visibility</p:attrName>
                                        </p:attrNameLst>
                                      </p:cBhvr>
                                      <p:to>
                                        <p:strVal val="visible"/>
                                      </p:to>
                                    </p:set>
                                    <p:animEffect transition="in" filter="wipe(left)">
                                      <p:cBhvr>
                                        <p:cTn id="5253" dur="500"/>
                                        <p:tgtEl>
                                          <p:spTgt spid="18"/>
                                        </p:tgtEl>
                                      </p:cBhvr>
                                    </p:animEffect>
                                  </p:childTnLst>
                                </p:cTn>
                              </p:par>
                              <p:par>
                                <p:cTn id="5254" presetID="22" presetClass="entr" presetSubtype="8" fill="hold" nodeType="withEffect">
                                  <p:stCondLst>
                                    <p:cond delay="900"/>
                                  </p:stCondLst>
                                  <p:childTnLst>
                                    <p:set>
                                      <p:cBhvr>
                                        <p:cTn id="5255" dur="1" fill="hold">
                                          <p:stCondLst>
                                            <p:cond delay="0"/>
                                          </p:stCondLst>
                                        </p:cTn>
                                        <p:tgtEl>
                                          <p:spTgt spid="19"/>
                                        </p:tgtEl>
                                        <p:attrNameLst>
                                          <p:attrName>style.visibility</p:attrName>
                                        </p:attrNameLst>
                                      </p:cBhvr>
                                      <p:to>
                                        <p:strVal val="visible"/>
                                      </p:to>
                                    </p:set>
                                    <p:animEffect transition="in" filter="wipe(left)">
                                      <p:cBhvr>
                                        <p:cTn id="5256" dur="500"/>
                                        <p:tgtEl>
                                          <p:spTgt spid="19"/>
                                        </p:tgtEl>
                                      </p:cBhvr>
                                    </p:animEffect>
                                  </p:childTnLst>
                                </p:cTn>
                              </p:par>
                              <p:par>
                                <p:cTn id="5257" presetID="22" presetClass="entr" presetSubtype="8" fill="hold" nodeType="withEffect">
                                  <p:stCondLst>
                                    <p:cond delay="900"/>
                                  </p:stCondLst>
                                  <p:childTnLst>
                                    <p:set>
                                      <p:cBhvr>
                                        <p:cTn id="5258" dur="1" fill="hold">
                                          <p:stCondLst>
                                            <p:cond delay="0"/>
                                          </p:stCondLst>
                                        </p:cTn>
                                        <p:tgtEl>
                                          <p:spTgt spid="20"/>
                                        </p:tgtEl>
                                        <p:attrNameLst>
                                          <p:attrName>style.visibility</p:attrName>
                                        </p:attrNameLst>
                                      </p:cBhvr>
                                      <p:to>
                                        <p:strVal val="visible"/>
                                      </p:to>
                                    </p:set>
                                    <p:animEffect transition="in" filter="wipe(left)">
                                      <p:cBhvr>
                                        <p:cTn id="5259" dur="500"/>
                                        <p:tgtEl>
                                          <p:spTgt spid="20"/>
                                        </p:tgtEl>
                                      </p:cBhvr>
                                    </p:animEffect>
                                  </p:childTnLst>
                                </p:cTn>
                              </p:par>
                              <p:par>
                                <p:cTn id="5260" presetID="22" presetClass="entr" presetSubtype="8" fill="hold" nodeType="withEffect">
                                  <p:stCondLst>
                                    <p:cond delay="900"/>
                                  </p:stCondLst>
                                  <p:childTnLst>
                                    <p:set>
                                      <p:cBhvr>
                                        <p:cTn id="5261" dur="1" fill="hold">
                                          <p:stCondLst>
                                            <p:cond delay="0"/>
                                          </p:stCondLst>
                                        </p:cTn>
                                        <p:tgtEl>
                                          <p:spTgt spid="39"/>
                                        </p:tgtEl>
                                        <p:attrNameLst>
                                          <p:attrName>style.visibility</p:attrName>
                                        </p:attrNameLst>
                                      </p:cBhvr>
                                      <p:to>
                                        <p:strVal val="visible"/>
                                      </p:to>
                                    </p:set>
                                    <p:animEffect transition="in" filter="wipe(left)">
                                      <p:cBhvr>
                                        <p:cTn id="5262" dur="500"/>
                                        <p:tgtEl>
                                          <p:spTgt spid="39"/>
                                        </p:tgtEl>
                                      </p:cBhvr>
                                    </p:animEffect>
                                  </p:childTnLst>
                                </p:cTn>
                              </p:par>
                              <p:par>
                                <p:cTn id="5263" presetID="22" presetClass="entr" presetSubtype="8" fill="hold" nodeType="withEffect">
                                  <p:stCondLst>
                                    <p:cond delay="900"/>
                                  </p:stCondLst>
                                  <p:childTnLst>
                                    <p:set>
                                      <p:cBhvr>
                                        <p:cTn id="5264" dur="1" fill="hold">
                                          <p:stCondLst>
                                            <p:cond delay="0"/>
                                          </p:stCondLst>
                                        </p:cTn>
                                        <p:tgtEl>
                                          <p:spTgt spid="40"/>
                                        </p:tgtEl>
                                        <p:attrNameLst>
                                          <p:attrName>style.visibility</p:attrName>
                                        </p:attrNameLst>
                                      </p:cBhvr>
                                      <p:to>
                                        <p:strVal val="visible"/>
                                      </p:to>
                                    </p:set>
                                    <p:animEffect transition="in" filter="wipe(left)">
                                      <p:cBhvr>
                                        <p:cTn id="5265" dur="500"/>
                                        <p:tgtEl>
                                          <p:spTgt spid="40"/>
                                        </p:tgtEl>
                                      </p:cBhvr>
                                    </p:animEffect>
                                  </p:childTnLst>
                                </p:cTn>
                              </p:par>
                            </p:childTnLst>
                          </p:cTn>
                        </p:par>
                      </p:childTnLst>
                    </p:cTn>
                  </p:par>
                  <p:par>
                    <p:cTn id="5364" fill="hold">
                      <p:stCondLst>
                        <p:cond delay="indefinite"/>
                      </p:stCondLst>
                      <p:childTnLst>
                        <p:par>
                          <p:cTn id="5365" fill="hold">
                            <p:stCondLst>
                              <p:cond delay="0"/>
                            </p:stCondLst>
                            <p:childTnLst>
                              <p:par>
                                <p:cTn id="5268" presetID="10" presetClass="exit" presetSubtype="0" fill="hold" nodeType="clickEffect">
                                  <p:stCondLst>
                                    <p:cond delay="0"/>
                                  </p:stCondLst>
                                  <p:childTnLst>
                                    <p:animEffect transition="out" filter="fade">
                                      <p:cBhvr>
                                        <p:cTn id="5269" dur="400"/>
                                        <p:tgtEl>
                                          <p:spTgt spid="6"/>
                                        </p:tgtEl>
                                      </p:cBhvr>
                                    </p:animEffect>
                                    <p:set>
                                      <p:cBhvr>
                                        <p:cTn id="5270" dur="1" fill="hold">
                                          <p:stCondLst>
                                            <p:cond delay="399"/>
                                          </p:stCondLst>
                                        </p:cTn>
                                        <p:tgtEl>
                                          <p:spTgt spid="6"/>
                                        </p:tgtEl>
                                        <p:attrNameLst>
                                          <p:attrName>style.visibility</p:attrName>
                                        </p:attrNameLst>
                                      </p:cBhvr>
                                      <p:to>
                                        <p:strVal val="hidden"/>
                                      </p:to>
                                    </p:set>
                                  </p:childTnLst>
                                </p:cTn>
                              </p:par>
                              <p:par>
                                <p:cTn id="5271" presetID="10" presetClass="exit" presetSubtype="0" fill="hold" nodeType="withEffect">
                                  <p:stCondLst>
                                    <p:cond delay="0"/>
                                  </p:stCondLst>
                                  <p:childTnLst>
                                    <p:animEffect transition="out" filter="fade">
                                      <p:cBhvr>
                                        <p:cTn id="5272" dur="400"/>
                                        <p:tgtEl>
                                          <p:spTgt spid="7"/>
                                        </p:tgtEl>
                                      </p:cBhvr>
                                    </p:animEffect>
                                    <p:set>
                                      <p:cBhvr>
                                        <p:cTn id="5273" dur="1" fill="hold">
                                          <p:stCondLst>
                                            <p:cond delay="399"/>
                                          </p:stCondLst>
                                        </p:cTn>
                                        <p:tgtEl>
                                          <p:spTgt spid="7"/>
                                        </p:tgtEl>
                                        <p:attrNameLst>
                                          <p:attrName>style.visibility</p:attrName>
                                        </p:attrNameLst>
                                      </p:cBhvr>
                                      <p:to>
                                        <p:strVal val="hidden"/>
                                      </p:to>
                                    </p:set>
                                  </p:childTnLst>
                                </p:cTn>
                              </p:par>
                              <p:par>
                                <p:cTn id="5274" presetID="10" presetClass="exit" presetSubtype="0" fill="hold" nodeType="withEffect">
                                  <p:stCondLst>
                                    <p:cond delay="0"/>
                                  </p:stCondLst>
                                  <p:childTnLst>
                                    <p:animEffect transition="out" filter="fade">
                                      <p:cBhvr>
                                        <p:cTn id="5275" dur="400"/>
                                        <p:tgtEl>
                                          <p:spTgt spid="8"/>
                                        </p:tgtEl>
                                      </p:cBhvr>
                                    </p:animEffect>
                                    <p:set>
                                      <p:cBhvr>
                                        <p:cTn id="5276" dur="1" fill="hold">
                                          <p:stCondLst>
                                            <p:cond delay="399"/>
                                          </p:stCondLst>
                                        </p:cTn>
                                        <p:tgtEl>
                                          <p:spTgt spid="8"/>
                                        </p:tgtEl>
                                        <p:attrNameLst>
                                          <p:attrName>style.visibility</p:attrName>
                                        </p:attrNameLst>
                                      </p:cBhvr>
                                      <p:to>
                                        <p:strVal val="hidden"/>
                                      </p:to>
                                    </p:set>
                                  </p:childTnLst>
                                </p:cTn>
                              </p:par>
                              <p:par>
                                <p:cTn id="5277" presetID="10" presetClass="exit" presetSubtype="0" fill="hold" nodeType="withEffect">
                                  <p:stCondLst>
                                    <p:cond delay="0"/>
                                  </p:stCondLst>
                                  <p:childTnLst>
                                    <p:animEffect transition="out" filter="fade">
                                      <p:cBhvr>
                                        <p:cTn id="5278" dur="400"/>
                                        <p:tgtEl>
                                          <p:spTgt spid="9"/>
                                        </p:tgtEl>
                                      </p:cBhvr>
                                    </p:animEffect>
                                    <p:set>
                                      <p:cBhvr>
                                        <p:cTn id="5279" dur="1" fill="hold">
                                          <p:stCondLst>
                                            <p:cond delay="399"/>
                                          </p:stCondLst>
                                        </p:cTn>
                                        <p:tgtEl>
                                          <p:spTgt spid="9"/>
                                        </p:tgtEl>
                                        <p:attrNameLst>
                                          <p:attrName>style.visibility</p:attrName>
                                        </p:attrNameLst>
                                      </p:cBhvr>
                                      <p:to>
                                        <p:strVal val="hidden"/>
                                      </p:to>
                                    </p:set>
                                  </p:childTnLst>
                                </p:cTn>
                              </p:par>
                              <p:par>
                                <p:cTn id="5280" presetID="10" presetClass="exit" presetSubtype="0" fill="hold" nodeType="withEffect">
                                  <p:stCondLst>
                                    <p:cond delay="0"/>
                                  </p:stCondLst>
                                  <p:childTnLst>
                                    <p:animEffect transition="out" filter="fade">
                                      <p:cBhvr>
                                        <p:cTn id="5281" dur="400"/>
                                        <p:tgtEl>
                                          <p:spTgt spid="10"/>
                                        </p:tgtEl>
                                      </p:cBhvr>
                                    </p:animEffect>
                                    <p:set>
                                      <p:cBhvr>
                                        <p:cTn id="5282" dur="1" fill="hold">
                                          <p:stCondLst>
                                            <p:cond delay="399"/>
                                          </p:stCondLst>
                                        </p:cTn>
                                        <p:tgtEl>
                                          <p:spTgt spid="10"/>
                                        </p:tgtEl>
                                        <p:attrNameLst>
                                          <p:attrName>style.visibility</p:attrName>
                                        </p:attrNameLst>
                                      </p:cBhvr>
                                      <p:to>
                                        <p:strVal val="hidden"/>
                                      </p:to>
                                    </p:set>
                                  </p:childTnLst>
                                </p:cTn>
                              </p:par>
                              <p:par>
                                <p:cTn id="5283" presetID="10" presetClass="exit" presetSubtype="0" fill="hold" nodeType="withEffect">
                                  <p:stCondLst>
                                    <p:cond delay="0"/>
                                  </p:stCondLst>
                                  <p:childTnLst>
                                    <p:animEffect transition="out" filter="fade">
                                      <p:cBhvr>
                                        <p:cTn id="5284" dur="400"/>
                                        <p:tgtEl>
                                          <p:spTgt spid="11"/>
                                        </p:tgtEl>
                                      </p:cBhvr>
                                    </p:animEffect>
                                    <p:set>
                                      <p:cBhvr>
                                        <p:cTn id="5285" dur="1" fill="hold">
                                          <p:stCondLst>
                                            <p:cond delay="399"/>
                                          </p:stCondLst>
                                        </p:cTn>
                                        <p:tgtEl>
                                          <p:spTgt spid="11"/>
                                        </p:tgtEl>
                                        <p:attrNameLst>
                                          <p:attrName>style.visibility</p:attrName>
                                        </p:attrNameLst>
                                      </p:cBhvr>
                                      <p:to>
                                        <p:strVal val="hidden"/>
                                      </p:to>
                                    </p:set>
                                  </p:childTnLst>
                                </p:cTn>
                              </p:par>
                              <p:par>
                                <p:cTn id="5286" presetID="10" presetClass="exit" presetSubtype="0" fill="hold" nodeType="withEffect">
                                  <p:stCondLst>
                                    <p:cond delay="0"/>
                                  </p:stCondLst>
                                  <p:childTnLst>
                                    <p:animEffect transition="out" filter="fade">
                                      <p:cBhvr>
                                        <p:cTn id="5287" dur="400"/>
                                        <p:tgtEl>
                                          <p:spTgt spid="12"/>
                                        </p:tgtEl>
                                      </p:cBhvr>
                                    </p:animEffect>
                                    <p:set>
                                      <p:cBhvr>
                                        <p:cTn id="5288" dur="1" fill="hold">
                                          <p:stCondLst>
                                            <p:cond delay="399"/>
                                          </p:stCondLst>
                                        </p:cTn>
                                        <p:tgtEl>
                                          <p:spTgt spid="12"/>
                                        </p:tgtEl>
                                        <p:attrNameLst>
                                          <p:attrName>style.visibility</p:attrName>
                                        </p:attrNameLst>
                                      </p:cBhvr>
                                      <p:to>
                                        <p:strVal val="hidden"/>
                                      </p:to>
                                    </p:set>
                                  </p:childTnLst>
                                </p:cTn>
                              </p:par>
                              <p:par>
                                <p:cTn id="5289" presetID="10" presetClass="exit" presetSubtype="0" fill="hold" nodeType="withEffect">
                                  <p:stCondLst>
                                    <p:cond delay="0"/>
                                  </p:stCondLst>
                                  <p:childTnLst>
                                    <p:animEffect transition="out" filter="fade">
                                      <p:cBhvr>
                                        <p:cTn id="5290" dur="400"/>
                                        <p:tgtEl>
                                          <p:spTgt spid="13"/>
                                        </p:tgtEl>
                                      </p:cBhvr>
                                    </p:animEffect>
                                    <p:set>
                                      <p:cBhvr>
                                        <p:cTn id="5291" dur="1" fill="hold">
                                          <p:stCondLst>
                                            <p:cond delay="399"/>
                                          </p:stCondLst>
                                        </p:cTn>
                                        <p:tgtEl>
                                          <p:spTgt spid="13"/>
                                        </p:tgtEl>
                                        <p:attrNameLst>
                                          <p:attrName>style.visibility</p:attrName>
                                        </p:attrNameLst>
                                      </p:cBhvr>
                                      <p:to>
                                        <p:strVal val="hidden"/>
                                      </p:to>
                                    </p:set>
                                  </p:childTnLst>
                                </p:cTn>
                              </p:par>
                              <p:par>
                                <p:cTn id="5292" presetID="10" presetClass="exit" presetSubtype="0" fill="hold" nodeType="withEffect">
                                  <p:stCondLst>
                                    <p:cond delay="0"/>
                                  </p:stCondLst>
                                  <p:childTnLst>
                                    <p:animEffect transition="out" filter="fade">
                                      <p:cBhvr>
                                        <p:cTn id="5293" dur="400"/>
                                        <p:tgtEl>
                                          <p:spTgt spid="14"/>
                                        </p:tgtEl>
                                      </p:cBhvr>
                                    </p:animEffect>
                                    <p:set>
                                      <p:cBhvr>
                                        <p:cTn id="5294" dur="1" fill="hold">
                                          <p:stCondLst>
                                            <p:cond delay="399"/>
                                          </p:stCondLst>
                                        </p:cTn>
                                        <p:tgtEl>
                                          <p:spTgt spid="14"/>
                                        </p:tgtEl>
                                        <p:attrNameLst>
                                          <p:attrName>style.visibility</p:attrName>
                                        </p:attrNameLst>
                                      </p:cBhvr>
                                      <p:to>
                                        <p:strVal val="hidden"/>
                                      </p:to>
                                    </p:set>
                                  </p:childTnLst>
                                </p:cTn>
                              </p:par>
                              <p:par>
                                <p:cTn id="5295" presetID="10" presetClass="exit" presetSubtype="0" fill="hold" nodeType="withEffect">
                                  <p:stCondLst>
                                    <p:cond delay="0"/>
                                  </p:stCondLst>
                                  <p:childTnLst>
                                    <p:animEffect transition="out" filter="fade">
                                      <p:cBhvr>
                                        <p:cTn id="5296" dur="400"/>
                                        <p:tgtEl>
                                          <p:spTgt spid="15"/>
                                        </p:tgtEl>
                                      </p:cBhvr>
                                    </p:animEffect>
                                    <p:set>
                                      <p:cBhvr>
                                        <p:cTn id="5297" dur="1" fill="hold">
                                          <p:stCondLst>
                                            <p:cond delay="399"/>
                                          </p:stCondLst>
                                        </p:cTn>
                                        <p:tgtEl>
                                          <p:spTgt spid="15"/>
                                        </p:tgtEl>
                                        <p:attrNameLst>
                                          <p:attrName>style.visibility</p:attrName>
                                        </p:attrNameLst>
                                      </p:cBhvr>
                                      <p:to>
                                        <p:strVal val="hidden"/>
                                      </p:to>
                                    </p:set>
                                  </p:childTnLst>
                                </p:cTn>
                              </p:par>
                              <p:par>
                                <p:cTn id="5298" presetID="10" presetClass="exit" presetSubtype="0" fill="hold" nodeType="withEffect">
                                  <p:stCondLst>
                                    <p:cond delay="0"/>
                                  </p:stCondLst>
                                  <p:childTnLst>
                                    <p:animEffect transition="out" filter="fade">
                                      <p:cBhvr>
                                        <p:cTn id="5299" dur="400"/>
                                        <p:tgtEl>
                                          <p:spTgt spid="16"/>
                                        </p:tgtEl>
                                      </p:cBhvr>
                                    </p:animEffect>
                                    <p:set>
                                      <p:cBhvr>
                                        <p:cTn id="5300" dur="1" fill="hold">
                                          <p:stCondLst>
                                            <p:cond delay="399"/>
                                          </p:stCondLst>
                                        </p:cTn>
                                        <p:tgtEl>
                                          <p:spTgt spid="16"/>
                                        </p:tgtEl>
                                        <p:attrNameLst>
                                          <p:attrName>style.visibility</p:attrName>
                                        </p:attrNameLst>
                                      </p:cBhvr>
                                      <p:to>
                                        <p:strVal val="hidden"/>
                                      </p:to>
                                    </p:set>
                                  </p:childTnLst>
                                </p:cTn>
                              </p:par>
                              <p:par>
                                <p:cTn id="5301" presetID="10" presetClass="exit" presetSubtype="0" fill="hold" nodeType="withEffect">
                                  <p:stCondLst>
                                    <p:cond delay="0"/>
                                  </p:stCondLst>
                                  <p:childTnLst>
                                    <p:animEffect transition="out" filter="fade">
                                      <p:cBhvr>
                                        <p:cTn id="5302" dur="400"/>
                                        <p:tgtEl>
                                          <p:spTgt spid="17"/>
                                        </p:tgtEl>
                                      </p:cBhvr>
                                    </p:animEffect>
                                    <p:set>
                                      <p:cBhvr>
                                        <p:cTn id="5303" dur="1" fill="hold">
                                          <p:stCondLst>
                                            <p:cond delay="399"/>
                                          </p:stCondLst>
                                        </p:cTn>
                                        <p:tgtEl>
                                          <p:spTgt spid="17"/>
                                        </p:tgtEl>
                                        <p:attrNameLst>
                                          <p:attrName>style.visibility</p:attrName>
                                        </p:attrNameLst>
                                      </p:cBhvr>
                                      <p:to>
                                        <p:strVal val="hidden"/>
                                      </p:to>
                                    </p:set>
                                  </p:childTnLst>
                                </p:cTn>
                              </p:par>
                              <p:par>
                                <p:cTn id="5304" presetID="10" presetClass="exit" presetSubtype="0" fill="hold" nodeType="withEffect">
                                  <p:stCondLst>
                                    <p:cond delay="0"/>
                                  </p:stCondLst>
                                  <p:childTnLst>
                                    <p:animEffect transition="out" filter="fade">
                                      <p:cBhvr>
                                        <p:cTn id="5305" dur="400"/>
                                        <p:tgtEl>
                                          <p:spTgt spid="18"/>
                                        </p:tgtEl>
                                      </p:cBhvr>
                                    </p:animEffect>
                                    <p:set>
                                      <p:cBhvr>
                                        <p:cTn id="5306" dur="1" fill="hold">
                                          <p:stCondLst>
                                            <p:cond delay="399"/>
                                          </p:stCondLst>
                                        </p:cTn>
                                        <p:tgtEl>
                                          <p:spTgt spid="18"/>
                                        </p:tgtEl>
                                        <p:attrNameLst>
                                          <p:attrName>style.visibility</p:attrName>
                                        </p:attrNameLst>
                                      </p:cBhvr>
                                      <p:to>
                                        <p:strVal val="hidden"/>
                                      </p:to>
                                    </p:set>
                                  </p:childTnLst>
                                </p:cTn>
                              </p:par>
                              <p:par>
                                <p:cTn id="5307" presetID="10" presetClass="exit" presetSubtype="0" fill="hold" nodeType="withEffect">
                                  <p:stCondLst>
                                    <p:cond delay="0"/>
                                  </p:stCondLst>
                                  <p:childTnLst>
                                    <p:animEffect transition="out" filter="fade">
                                      <p:cBhvr>
                                        <p:cTn id="5308" dur="400"/>
                                        <p:tgtEl>
                                          <p:spTgt spid="19"/>
                                        </p:tgtEl>
                                      </p:cBhvr>
                                    </p:animEffect>
                                    <p:set>
                                      <p:cBhvr>
                                        <p:cTn id="5309" dur="1" fill="hold">
                                          <p:stCondLst>
                                            <p:cond delay="399"/>
                                          </p:stCondLst>
                                        </p:cTn>
                                        <p:tgtEl>
                                          <p:spTgt spid="19"/>
                                        </p:tgtEl>
                                        <p:attrNameLst>
                                          <p:attrName>style.visibility</p:attrName>
                                        </p:attrNameLst>
                                      </p:cBhvr>
                                      <p:to>
                                        <p:strVal val="hidden"/>
                                      </p:to>
                                    </p:set>
                                  </p:childTnLst>
                                </p:cTn>
                              </p:par>
                              <p:par>
                                <p:cTn id="5310" presetID="10" presetClass="exit" presetSubtype="0" fill="hold" nodeType="withEffect">
                                  <p:stCondLst>
                                    <p:cond delay="0"/>
                                  </p:stCondLst>
                                  <p:childTnLst>
                                    <p:animEffect transition="out" filter="fade">
                                      <p:cBhvr>
                                        <p:cTn id="5311" dur="400"/>
                                        <p:tgtEl>
                                          <p:spTgt spid="20"/>
                                        </p:tgtEl>
                                      </p:cBhvr>
                                    </p:animEffect>
                                    <p:set>
                                      <p:cBhvr>
                                        <p:cTn id="5312" dur="1" fill="hold">
                                          <p:stCondLst>
                                            <p:cond delay="399"/>
                                          </p:stCondLst>
                                        </p:cTn>
                                        <p:tgtEl>
                                          <p:spTgt spid="20"/>
                                        </p:tgtEl>
                                        <p:attrNameLst>
                                          <p:attrName>style.visibility</p:attrName>
                                        </p:attrNameLst>
                                      </p:cBhvr>
                                      <p:to>
                                        <p:strVal val="hidden"/>
                                      </p:to>
                                    </p:set>
                                  </p:childTnLst>
                                </p:cTn>
                              </p:par>
                              <p:par>
                                <p:cTn id="5313" presetID="10" presetClass="exit" presetSubtype="0" fill="hold" nodeType="withEffect">
                                  <p:stCondLst>
                                    <p:cond delay="0"/>
                                  </p:stCondLst>
                                  <p:childTnLst>
                                    <p:animEffect transition="out" filter="fade">
                                      <p:cBhvr>
                                        <p:cTn id="5314" dur="400"/>
                                        <p:tgtEl>
                                          <p:spTgt spid="39"/>
                                        </p:tgtEl>
                                      </p:cBhvr>
                                    </p:animEffect>
                                    <p:set>
                                      <p:cBhvr>
                                        <p:cTn id="5315" dur="1" fill="hold">
                                          <p:stCondLst>
                                            <p:cond delay="399"/>
                                          </p:stCondLst>
                                        </p:cTn>
                                        <p:tgtEl>
                                          <p:spTgt spid="39"/>
                                        </p:tgtEl>
                                        <p:attrNameLst>
                                          <p:attrName>style.visibility</p:attrName>
                                        </p:attrNameLst>
                                      </p:cBhvr>
                                      <p:to>
                                        <p:strVal val="hidden"/>
                                      </p:to>
                                    </p:set>
                                  </p:childTnLst>
                                </p:cTn>
                              </p:par>
                              <p:par>
                                <p:cTn id="5316" presetID="10" presetClass="exit" presetSubtype="0" fill="hold" nodeType="withEffect">
                                  <p:stCondLst>
                                    <p:cond delay="0"/>
                                  </p:stCondLst>
                                  <p:childTnLst>
                                    <p:animEffect transition="out" filter="fade">
                                      <p:cBhvr>
                                        <p:cTn id="5317" dur="400"/>
                                        <p:tgtEl>
                                          <p:spTgt spid="40"/>
                                        </p:tgtEl>
                                      </p:cBhvr>
                                    </p:animEffect>
                                    <p:set>
                                      <p:cBhvr>
                                        <p:cTn id="5318" dur="1" fill="hold">
                                          <p:stCondLst>
                                            <p:cond delay="399"/>
                                          </p:stCondLst>
                                        </p:cTn>
                                        <p:tgtEl>
                                          <p:spTgt spid="40"/>
                                        </p:tgtEl>
                                        <p:attrNameLst>
                                          <p:attrName>style.visibility</p:attrName>
                                        </p:attrNameLst>
                                      </p:cBhvr>
                                      <p:to>
                                        <p:strVal val="hidden"/>
                                      </p:to>
                                    </p:set>
                                  </p:childTnLst>
                                </p:cTn>
                              </p:par>
                              <p:par>
                                <p:cTn id="5319" presetID="22" presetClass="entr" presetSubtype="4" fill="hold" nodeType="withEffect">
                                  <p:stCondLst>
                                    <p:cond delay="200"/>
                                  </p:stCondLst>
                                  <p:childTnLst>
                                    <p:set>
                                      <p:cBhvr>
                                        <p:cTn id="5320" dur="1" fill="hold">
                                          <p:stCondLst>
                                            <p:cond delay="0"/>
                                          </p:stCondLst>
                                        </p:cTn>
                                        <p:tgtEl>
                                          <p:spTgt spid="21"/>
                                        </p:tgtEl>
                                        <p:attrNameLst>
                                          <p:attrName>style.visibility</p:attrName>
                                        </p:attrNameLst>
                                      </p:cBhvr>
                                      <p:to>
                                        <p:strVal val="visible"/>
                                      </p:to>
                                    </p:set>
                                    <p:animEffect transition="in" filter="wipe(down)">
                                      <p:cBhvr>
                                        <p:cTn id="5321" dur="500"/>
                                        <p:tgtEl>
                                          <p:spTgt spid="21"/>
                                        </p:tgtEl>
                                      </p:cBhvr>
                                    </p:animEffect>
                                  </p:childTnLst>
                                </p:cTn>
                              </p:par>
                              <p:par>
                                <p:cTn id="5322" presetID="22" presetClass="entr" presetSubtype="4" fill="hold" nodeType="withEffect">
                                  <p:stCondLst>
                                    <p:cond delay="270"/>
                                  </p:stCondLst>
                                  <p:childTnLst>
                                    <p:set>
                                      <p:cBhvr>
                                        <p:cTn id="5323" dur="1" fill="hold">
                                          <p:stCondLst>
                                            <p:cond delay="0"/>
                                          </p:stCondLst>
                                        </p:cTn>
                                        <p:tgtEl>
                                          <p:spTgt spid="22"/>
                                        </p:tgtEl>
                                        <p:attrNameLst>
                                          <p:attrName>style.visibility</p:attrName>
                                        </p:attrNameLst>
                                      </p:cBhvr>
                                      <p:to>
                                        <p:strVal val="visible"/>
                                      </p:to>
                                    </p:set>
                                    <p:animEffect transition="in" filter="wipe(down)">
                                      <p:cBhvr>
                                        <p:cTn id="5324" dur="500"/>
                                        <p:tgtEl>
                                          <p:spTgt spid="22"/>
                                        </p:tgtEl>
                                      </p:cBhvr>
                                    </p:animEffect>
                                  </p:childTnLst>
                                </p:cTn>
                              </p:par>
                              <p:par>
                                <p:cTn id="5325" presetID="22" presetClass="entr" presetSubtype="4" fill="hold" nodeType="withEffect">
                                  <p:stCondLst>
                                    <p:cond delay="340"/>
                                  </p:stCondLst>
                                  <p:childTnLst>
                                    <p:set>
                                      <p:cBhvr>
                                        <p:cTn id="5326" dur="1" fill="hold">
                                          <p:stCondLst>
                                            <p:cond delay="0"/>
                                          </p:stCondLst>
                                        </p:cTn>
                                        <p:tgtEl>
                                          <p:spTgt spid="23"/>
                                        </p:tgtEl>
                                        <p:attrNameLst>
                                          <p:attrName>style.visibility</p:attrName>
                                        </p:attrNameLst>
                                      </p:cBhvr>
                                      <p:to>
                                        <p:strVal val="visible"/>
                                      </p:to>
                                    </p:set>
                                    <p:animEffect transition="in" filter="wipe(down)">
                                      <p:cBhvr>
                                        <p:cTn id="5327" dur="500"/>
                                        <p:tgtEl>
                                          <p:spTgt spid="23"/>
                                        </p:tgtEl>
                                      </p:cBhvr>
                                    </p:animEffect>
                                  </p:childTnLst>
                                </p:cTn>
                              </p:par>
                              <p:par>
                                <p:cTn id="5328" presetID="22" presetClass="entr" presetSubtype="4" fill="hold" nodeType="withEffect">
                                  <p:stCondLst>
                                    <p:cond delay="410"/>
                                  </p:stCondLst>
                                  <p:childTnLst>
                                    <p:set>
                                      <p:cBhvr>
                                        <p:cTn id="5329" dur="1" fill="hold">
                                          <p:stCondLst>
                                            <p:cond delay="0"/>
                                          </p:stCondLst>
                                        </p:cTn>
                                        <p:tgtEl>
                                          <p:spTgt spid="24"/>
                                        </p:tgtEl>
                                        <p:attrNameLst>
                                          <p:attrName>style.visibility</p:attrName>
                                        </p:attrNameLst>
                                      </p:cBhvr>
                                      <p:to>
                                        <p:strVal val="visible"/>
                                      </p:to>
                                    </p:set>
                                    <p:animEffect transition="in" filter="wipe(down)">
                                      <p:cBhvr>
                                        <p:cTn id="5330" dur="500"/>
                                        <p:tgtEl>
                                          <p:spTgt spid="24"/>
                                        </p:tgtEl>
                                      </p:cBhvr>
                                    </p:animEffect>
                                  </p:childTnLst>
                                </p:cTn>
                              </p:par>
                              <p:par>
                                <p:cTn id="5331" presetID="22" presetClass="entr" presetSubtype="4" fill="hold" nodeType="withEffect">
                                  <p:stCondLst>
                                    <p:cond delay="480"/>
                                  </p:stCondLst>
                                  <p:childTnLst>
                                    <p:set>
                                      <p:cBhvr>
                                        <p:cTn id="5332" dur="1" fill="hold">
                                          <p:stCondLst>
                                            <p:cond delay="0"/>
                                          </p:stCondLst>
                                        </p:cTn>
                                        <p:tgtEl>
                                          <p:spTgt spid="25"/>
                                        </p:tgtEl>
                                        <p:attrNameLst>
                                          <p:attrName>style.visibility</p:attrName>
                                        </p:attrNameLst>
                                      </p:cBhvr>
                                      <p:to>
                                        <p:strVal val="visible"/>
                                      </p:to>
                                    </p:set>
                                    <p:animEffect transition="in" filter="wipe(down)">
                                      <p:cBhvr>
                                        <p:cTn id="5333" dur="500"/>
                                        <p:tgtEl>
                                          <p:spTgt spid="25"/>
                                        </p:tgtEl>
                                      </p:cBhvr>
                                    </p:animEffect>
                                  </p:childTnLst>
                                </p:cTn>
                              </p:par>
                              <p:par>
                                <p:cTn id="5334" presetID="22" presetClass="entr" presetSubtype="4" fill="hold" nodeType="withEffect">
                                  <p:stCondLst>
                                    <p:cond delay="550"/>
                                  </p:stCondLst>
                                  <p:childTnLst>
                                    <p:set>
                                      <p:cBhvr>
                                        <p:cTn id="5335" dur="1" fill="hold">
                                          <p:stCondLst>
                                            <p:cond delay="0"/>
                                          </p:stCondLst>
                                        </p:cTn>
                                        <p:tgtEl>
                                          <p:spTgt spid="26"/>
                                        </p:tgtEl>
                                        <p:attrNameLst>
                                          <p:attrName>style.visibility</p:attrName>
                                        </p:attrNameLst>
                                      </p:cBhvr>
                                      <p:to>
                                        <p:strVal val="visible"/>
                                      </p:to>
                                    </p:set>
                                    <p:animEffect transition="in" filter="wipe(down)">
                                      <p:cBhvr>
                                        <p:cTn id="5336" dur="500"/>
                                        <p:tgtEl>
                                          <p:spTgt spid="26"/>
                                        </p:tgtEl>
                                      </p:cBhvr>
                                    </p:animEffect>
                                  </p:childTnLst>
                                </p:cTn>
                              </p:par>
                              <p:par>
                                <p:cTn id="5337" presetID="22" presetClass="entr" presetSubtype="4" fill="hold" nodeType="withEffect">
                                  <p:stCondLst>
                                    <p:cond delay="620"/>
                                  </p:stCondLst>
                                  <p:childTnLst>
                                    <p:set>
                                      <p:cBhvr>
                                        <p:cTn id="5338" dur="1" fill="hold">
                                          <p:stCondLst>
                                            <p:cond delay="0"/>
                                          </p:stCondLst>
                                        </p:cTn>
                                        <p:tgtEl>
                                          <p:spTgt spid="28"/>
                                        </p:tgtEl>
                                        <p:attrNameLst>
                                          <p:attrName>style.visibility</p:attrName>
                                        </p:attrNameLst>
                                      </p:cBhvr>
                                      <p:to>
                                        <p:strVal val="visible"/>
                                      </p:to>
                                    </p:set>
                                    <p:animEffect transition="in" filter="wipe(down)">
                                      <p:cBhvr>
                                        <p:cTn id="5339" dur="500"/>
                                        <p:tgtEl>
                                          <p:spTgt spid="28"/>
                                        </p:tgtEl>
                                      </p:cBhvr>
                                    </p:animEffect>
                                  </p:childTnLst>
                                </p:cTn>
                              </p:par>
                              <p:par>
                                <p:cTn id="5340" presetID="22" presetClass="entr" presetSubtype="4" fill="hold" nodeType="withEffect">
                                  <p:stCondLst>
                                    <p:cond delay="690"/>
                                  </p:stCondLst>
                                  <p:childTnLst>
                                    <p:set>
                                      <p:cBhvr>
                                        <p:cTn id="5341" dur="1" fill="hold">
                                          <p:stCondLst>
                                            <p:cond delay="0"/>
                                          </p:stCondLst>
                                        </p:cTn>
                                        <p:tgtEl>
                                          <p:spTgt spid="29"/>
                                        </p:tgtEl>
                                        <p:attrNameLst>
                                          <p:attrName>style.visibility</p:attrName>
                                        </p:attrNameLst>
                                      </p:cBhvr>
                                      <p:to>
                                        <p:strVal val="visible"/>
                                      </p:to>
                                    </p:set>
                                    <p:animEffect transition="in" filter="wipe(down)">
                                      <p:cBhvr>
                                        <p:cTn id="5342" dur="500"/>
                                        <p:tgtEl>
                                          <p:spTgt spid="29"/>
                                        </p:tgtEl>
                                      </p:cBhvr>
                                    </p:animEffect>
                                  </p:childTnLst>
                                </p:cTn>
                              </p:par>
                              <p:par>
                                <p:cTn id="5343" presetID="22" presetClass="entr" presetSubtype="4" fill="hold" nodeType="withEffect">
                                  <p:stCondLst>
                                    <p:cond delay="760"/>
                                  </p:stCondLst>
                                  <p:childTnLst>
                                    <p:set>
                                      <p:cBhvr>
                                        <p:cTn id="5344" dur="1" fill="hold">
                                          <p:stCondLst>
                                            <p:cond delay="0"/>
                                          </p:stCondLst>
                                        </p:cTn>
                                        <p:tgtEl>
                                          <p:spTgt spid="30"/>
                                        </p:tgtEl>
                                        <p:attrNameLst>
                                          <p:attrName>style.visibility</p:attrName>
                                        </p:attrNameLst>
                                      </p:cBhvr>
                                      <p:to>
                                        <p:strVal val="visible"/>
                                      </p:to>
                                    </p:set>
                                    <p:animEffect transition="in" filter="wipe(down)">
                                      <p:cBhvr>
                                        <p:cTn id="5345" dur="500"/>
                                        <p:tgtEl>
                                          <p:spTgt spid="30"/>
                                        </p:tgtEl>
                                      </p:cBhvr>
                                    </p:animEffect>
                                  </p:childTnLst>
                                </p:cTn>
                              </p:par>
                              <p:par>
                                <p:cTn id="5346" presetID="22" presetClass="entr" presetSubtype="4" fill="hold" nodeType="withEffect">
                                  <p:stCondLst>
                                    <p:cond delay="830"/>
                                  </p:stCondLst>
                                  <p:childTnLst>
                                    <p:set>
                                      <p:cBhvr>
                                        <p:cTn id="5347" dur="1" fill="hold">
                                          <p:stCondLst>
                                            <p:cond delay="0"/>
                                          </p:stCondLst>
                                        </p:cTn>
                                        <p:tgtEl>
                                          <p:spTgt spid="31"/>
                                        </p:tgtEl>
                                        <p:attrNameLst>
                                          <p:attrName>style.visibility</p:attrName>
                                        </p:attrNameLst>
                                      </p:cBhvr>
                                      <p:to>
                                        <p:strVal val="visible"/>
                                      </p:to>
                                    </p:set>
                                    <p:animEffect transition="in" filter="wipe(down)">
                                      <p:cBhvr>
                                        <p:cTn id="5348" dur="500"/>
                                        <p:tgtEl>
                                          <p:spTgt spid="31"/>
                                        </p:tgtEl>
                                      </p:cBhvr>
                                    </p:animEffect>
                                  </p:childTnLst>
                                </p:cTn>
                              </p:par>
                              <p:par>
                                <p:cTn id="5349" presetID="22" presetClass="entr" presetSubtype="4" fill="hold" nodeType="withEffect">
                                  <p:stCondLst>
                                    <p:cond delay="900"/>
                                  </p:stCondLst>
                                  <p:childTnLst>
                                    <p:set>
                                      <p:cBhvr>
                                        <p:cTn id="5350" dur="1" fill="hold">
                                          <p:stCondLst>
                                            <p:cond delay="0"/>
                                          </p:stCondLst>
                                        </p:cTn>
                                        <p:tgtEl>
                                          <p:spTgt spid="32"/>
                                        </p:tgtEl>
                                        <p:attrNameLst>
                                          <p:attrName>style.visibility</p:attrName>
                                        </p:attrNameLst>
                                      </p:cBhvr>
                                      <p:to>
                                        <p:strVal val="visible"/>
                                      </p:to>
                                    </p:set>
                                    <p:animEffect transition="in" filter="wipe(down)">
                                      <p:cBhvr>
                                        <p:cTn id="5351" dur="500"/>
                                        <p:tgtEl>
                                          <p:spTgt spid="32"/>
                                        </p:tgtEl>
                                      </p:cBhvr>
                                    </p:animEffect>
                                  </p:childTnLst>
                                </p:cTn>
                              </p:par>
                              <p:par>
                                <p:cTn id="5352" presetID="22" presetClass="entr" presetSubtype="4" fill="hold" nodeType="withEffect">
                                  <p:stCondLst>
                                    <p:cond delay="900"/>
                                  </p:stCondLst>
                                  <p:childTnLst>
                                    <p:set>
                                      <p:cBhvr>
                                        <p:cTn id="5353" dur="1" fill="hold">
                                          <p:stCondLst>
                                            <p:cond delay="0"/>
                                          </p:stCondLst>
                                        </p:cTn>
                                        <p:tgtEl>
                                          <p:spTgt spid="33"/>
                                        </p:tgtEl>
                                        <p:attrNameLst>
                                          <p:attrName>style.visibility</p:attrName>
                                        </p:attrNameLst>
                                      </p:cBhvr>
                                      <p:to>
                                        <p:strVal val="visible"/>
                                      </p:to>
                                    </p:set>
                                    <p:animEffect transition="in" filter="wipe(down)">
                                      <p:cBhvr>
                                        <p:cTn id="5354" dur="500"/>
                                        <p:tgtEl>
                                          <p:spTgt spid="33"/>
                                        </p:tgtEl>
                                      </p:cBhvr>
                                    </p:animEffect>
                                  </p:childTnLst>
                                </p:cTn>
                              </p:par>
                              <p:par>
                                <p:cTn id="5355" presetID="22" presetClass="entr" presetSubtype="4" fill="hold" nodeType="withEffect">
                                  <p:stCondLst>
                                    <p:cond delay="900"/>
                                  </p:stCondLst>
                                  <p:childTnLst>
                                    <p:set>
                                      <p:cBhvr>
                                        <p:cTn id="5356" dur="1" fill="hold">
                                          <p:stCondLst>
                                            <p:cond delay="0"/>
                                          </p:stCondLst>
                                        </p:cTn>
                                        <p:tgtEl>
                                          <p:spTgt spid="34"/>
                                        </p:tgtEl>
                                        <p:attrNameLst>
                                          <p:attrName>style.visibility</p:attrName>
                                        </p:attrNameLst>
                                      </p:cBhvr>
                                      <p:to>
                                        <p:strVal val="visible"/>
                                      </p:to>
                                    </p:set>
                                    <p:animEffect transition="in" filter="wipe(down)">
                                      <p:cBhvr>
                                        <p:cTn id="5357" dur="500"/>
                                        <p:tgtEl>
                                          <p:spTgt spid="34"/>
                                        </p:tgtEl>
                                      </p:cBhvr>
                                    </p:animEffect>
                                  </p:childTnLst>
                                </p:cTn>
                              </p:par>
                              <p:par>
                                <p:cTn id="5358" presetID="22" presetClass="entr" presetSubtype="4" fill="hold" nodeType="withEffect">
                                  <p:stCondLst>
                                    <p:cond delay="900"/>
                                  </p:stCondLst>
                                  <p:childTnLst>
                                    <p:set>
                                      <p:cBhvr>
                                        <p:cTn id="5359" dur="1" fill="hold">
                                          <p:stCondLst>
                                            <p:cond delay="0"/>
                                          </p:stCondLst>
                                        </p:cTn>
                                        <p:tgtEl>
                                          <p:spTgt spid="41"/>
                                        </p:tgtEl>
                                        <p:attrNameLst>
                                          <p:attrName>style.visibility</p:attrName>
                                        </p:attrNameLst>
                                      </p:cBhvr>
                                      <p:to>
                                        <p:strVal val="visible"/>
                                      </p:to>
                                    </p:set>
                                    <p:animEffect transition="in" filter="wipe(down)">
                                      <p:cBhvr>
                                        <p:cTn id="5360" dur="500"/>
                                        <p:tgtEl>
                                          <p:spTgt spid="41"/>
                                        </p:tgtEl>
                                      </p:cBhvr>
                                    </p:animEffect>
                                  </p:childTnLst>
                                </p:cTn>
                              </p:par>
                              <p:par>
                                <p:cTn id="5361" presetID="22" presetClass="entr" presetSubtype="4" fill="hold" nodeType="withEffect">
                                  <p:stCondLst>
                                    <p:cond delay="900"/>
                                  </p:stCondLst>
                                  <p:childTnLst>
                                    <p:set>
                                      <p:cBhvr>
                                        <p:cTn id="5362" dur="1" fill="hold">
                                          <p:stCondLst>
                                            <p:cond delay="0"/>
                                          </p:stCondLst>
                                        </p:cTn>
                                        <p:tgtEl>
                                          <p:spTgt spid="42"/>
                                        </p:tgtEl>
                                        <p:attrNameLst>
                                          <p:attrName>style.visibility</p:attrName>
                                        </p:attrNameLst>
                                      </p:cBhvr>
                                      <p:to>
                                        <p:strVal val="visible"/>
                                      </p:to>
                                    </p:set>
                                    <p:animEffect transition="in" filter="wipe(down)">
                                      <p:cBhvr>
                                        <p:cTn id="536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Conclusiones: la adquisición secuencial es viable; falta validar el MASW multicanal</a:t>
            </a:r>
            <a:endParaRPr lang="en-US" sz="2400" dirty="0"/>
          </a:p>
        </p:txBody>
      </p:sp>
      <p:sp>
        <p:nvSpPr>
          <p:cNvPr id="3" name="Conclusiones"/>
          <p:cNvSpPr txBox="1"/>
          <p:nvPr/>
        </p:nvSpPr>
        <p:spPr>
          <a:xfrm>
            <a:off x="457200" y="1188720"/>
            <a:ext cx="82296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Se diseñó una plataforma distribuida: nodos GEO, un excitador instrumentado (HAMMER) y un maestro inalámbrico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El AFE del SM-24 compensa su respuesta en bajas frecuencias y calibra el offset con un ajuste automático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En campo se obtuvo un registro espacio–tiempo de 21 posiciones con un receptor móvil</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Bajo 10 Hz la SNR aparente es de 0,5 a 2,1 dB: la banda baja sigue sin resolverse</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Falta cuantificar la sincronización efectiva, verificar la respuesta extremo a extremo y adquirir en simultáneo</a:t>
            </a:r>
            <a:endParaRPr lang="en-US" sz="1600" dirty="0"/>
          </a:p>
        </p:txBody>
      </p:sp>
      <p:sp>
        <p:nvSpPr>
          <p:cNvPr id="4"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5" name="Text 3"/>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verificó la adquisición; la caracterización geotécnica es la etapa siguiente.</a:t>
            </a:r>
            <a:endParaRPr lang="en-US" sz="14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resumen, sec. 4.10 y 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731520" y="1737360"/>
            <a:ext cx="7680960"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Preguntas</a:t>
            </a:r>
            <a:endParaRPr lang="en-US" sz="4400" dirty="0"/>
          </a:p>
        </p:txBody>
      </p:sp>
      <p:sp>
        <p:nvSpPr>
          <p:cNvPr id="3" name="Text 1"/>
          <p:cNvSpPr txBox="1"/>
          <p:nvPr/>
        </p:nvSpPr>
        <p:spPr>
          <a:xfrm>
            <a:off x="731520" y="2834640"/>
            <a:ext cx="7680960" cy="457200"/>
          </a:xfrm>
          <a:prstGeom prst="rect">
            <a:avLst/>
          </a:prstGeom>
          <a:noFill/>
          <a:ln/>
        </p:spPr>
        <p:txBody>
          <a:bodyPr wrap="square" lIns="0" tIns="0" rIns="0" bIns="0" rtlCol="0" anchor="t"/>
          <a:lstStyle/>
          <a:p>
            <a:pPr algn="ctr" indent="0" marL="0">
              <a:buNone/>
            </a:pPr>
            <a:r>
              <a:rPr lang="en-US" sz="1600" dirty="0">
                <a:solidFill>
                  <a:srgbClr val="CADCFC"/>
                </a:solidFill>
                <a:latin typeface="Arial" pitchFamily="34" charset="0"/>
                <a:ea typeface="Arial" pitchFamily="34" charset="-122"/>
                <a:cs typeface="Arial" pitchFamily="34" charset="-120"/>
              </a:rPr>
              <a:t>Elías David Álvarez · Tutor: Dr. Enrique A. Vargas Cabral</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28600"/>
            <a:ext cx="8229600" cy="731520"/>
          </a:xfrm>
          <a:prstGeom prst="rect">
            <a:avLst/>
          </a:prstGeom>
          <a:noFill/>
          <a:ln/>
        </p:spPr>
        <p:txBody>
          <a:bodyPr wrap="square" lIns="0" tIns="0" rIns="0" bIns="0" rtlCol="0" anchor="t"/>
          <a:lstStyle/>
          <a:p>
            <a:pPr indent="0" marL="0">
              <a:buNone/>
            </a:pPr>
            <a:r>
              <a:rPr lang="en-US" sz="2200" b="1" dirty="0">
                <a:solidFill>
                  <a:srgbClr val="1F4E79"/>
                </a:solidFill>
                <a:latin typeface="Arial" pitchFamily="34" charset="0"/>
                <a:ea typeface="Arial" pitchFamily="34" charset="-122"/>
                <a:cs typeface="Arial" pitchFamily="34" charset="-120"/>
              </a:rPr>
              <a:t>Referencias</a:t>
            </a:r>
            <a:endParaRPr lang="en-US" sz="2200" dirty="0"/>
          </a:p>
        </p:txBody>
      </p:sp>
      <p:sp>
        <p:nvSpPr>
          <p:cNvPr id="3" name="Referencias [s0]"/>
          <p:cNvSpPr txBox="1"/>
          <p:nvPr/>
        </p:nvSpPr>
        <p:spPr>
          <a:xfrm>
            <a:off x="966136" y="1401198"/>
            <a:ext cx="7211728" cy="3044952"/>
          </a:xfrm>
          <a:prstGeom prst="rect">
            <a:avLst/>
          </a:prstGeom>
          <a:noFill/>
          <a:ln/>
        </p:spPr>
        <p:txBody>
          <a:bodyPr wrap="square" lIns="0" tIns="0" rIns="0" bIns="0" rtlCol="0" anchor="t"/>
          <a:lstStyle/>
          <a:p>
            <a:pPr indent="0" marL="0">
              <a:spcAft>
                <a:spcPts val="450"/>
              </a:spcAft>
              <a:buNone/>
            </a:pPr>
            <a:r>
              <a:rPr lang="en-US" sz="945" dirty="0">
                <a:solidFill>
                  <a:srgbClr val="2D2D2D"/>
                </a:solidFill>
                <a:latin typeface="Arial" pitchFamily="34" charset="0"/>
                <a:ea typeface="Arial" pitchFamily="34" charset="-122"/>
                <a:cs typeface="Arial" pitchFamily="34" charset="-120"/>
              </a:rPr>
              <a:t>Bangash, A. A., Khan, K. A. y Akhter, G. (2017). Spreadsheets for understanding seismic energy partitioning equations. Computer Applications in Engineering Education, 25(3), 441–448.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Espressif Systems (s. f.). ESP-NOW: ESP-IDF programming guide, ESP32. docs.espressif.com.</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Foti, S., Lai, C. G., Rix, G. J. y Strobbia, C. (2014). Surface Wave Methods for Near-Surface Site Characterization. CRC Press. doi:10.1201/b17268.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Foti, S. et al. (2018). Guidelines for the good practice of surface wave analysis: a product of the InterPACIFIC project. Bull. Earthquake Eng., 16(6), 2367–2420. doi:10.1007/s10518-017-0206-7.</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Infineon Technologies (2024). PSoC 5LP: CY8C58LP family datasheet. Doc. 001-84932, Rev. *O.</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Kafadar, O. (2020). A geophone-based and low-cost data acquisition and analysis system designed for microtremor measurements. Geosci. Instrum. Method. Data Syst., 9, 365–373.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Korsimaa, J., Weber, P., Häggström, E. y Salmi, A. (2025). Wireless trigger distribution with nanosecond jitter based on ultra-wideband. HardwareX, 24, e00713.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Kramer, S. L. (1996). Geotechnical Earthquake Engineering. Prentice Hall.</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Lin, S. y Ashlock, J. C. (2016). Surface-wave testing of soil sites using multichannel simulation with one-receiver. Soil Dyn. Earthquake Eng., 87, 82–92. doi:10.1016/j.soildyn.2016.04.013.</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Llorens, C. D. et al. (2016). Development and programming of Geophonino. Computers &amp; Geosciences, 94, 1–10.</a:t>
            </a:r>
            <a:endParaRPr lang="en-US" sz="945" dirty="0"/>
          </a:p>
        </p:txBody>
      </p:sp>
      <p:sp>
        <p:nvSpPr>
          <p:cNvPr id="4" name="Referencias [s1]"/>
          <p:cNvSpPr txBox="1"/>
          <p:nvPr/>
        </p:nvSpPr>
        <p:spPr>
          <a:xfrm>
            <a:off x="966136" y="1401198"/>
            <a:ext cx="7211728" cy="3044952"/>
          </a:xfrm>
          <a:prstGeom prst="rect">
            <a:avLst/>
          </a:prstGeom>
          <a:noFill/>
          <a:ln/>
        </p:spPr>
        <p:txBody>
          <a:bodyPr wrap="square" lIns="0" tIns="0" rIns="0" bIns="0" rtlCol="0" anchor="t"/>
          <a:lstStyle/>
          <a:p>
            <a:pPr indent="0" marL="0">
              <a:spcAft>
                <a:spcPts val="450"/>
              </a:spcAft>
              <a:buNone/>
            </a:pPr>
            <a:r>
              <a:rPr lang="en-US" sz="945" dirty="0">
                <a:solidFill>
                  <a:srgbClr val="2D2D2D"/>
                </a:solidFill>
                <a:latin typeface="Arial" pitchFamily="34" charset="0"/>
                <a:ea typeface="Arial" pitchFamily="34" charset="-122"/>
                <a:cs typeface="Arial" pitchFamily="34" charset="-120"/>
              </a:rPr>
              <a:t>Ma, K., Wu, J., Ma, Y., Xu, B., Qi, S. y Jiang, X. (2023). An effective method for improving low-frequency response of geophone. Sensors, 23(6), 3082. doi:10.3390/s23063082.</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Miller, R. D. y Xia, J. (1998). Imaging dispersion curves of surface waves on multi-channel record. SEG Expanded Abstracts, 1377–1380.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Miller, R. D. y Xia, J. (1999). Multichannel analysis of surface waves. Geophysics, 64(3), 800–808. doi:10.1190/1.1444590.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Park, C. B., Richter, J., Rodrigues, R. y Cirone, A. (2018). MASW applications for road construction and maintenance. The Leading Edge, 37(10), 724–730.</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PCB Piezotronics (2025). Model 086D20 ICP impact hammer: specification sheet, rev. J.</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Pérez-Solano, J. J., Felici-Castell, S., Soriano-Asensi, A. y Segura, J. (2022). Time synchronization enhancements in wireless networks with ultra wide band communications. Comput. Commun., 186, 80–89.</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Samtani, N. C. y Nowatzki, E. A. (2006). Soils and Foundations Reference Manual, vol. I. FHWA-NHI-06-088.</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Sensor Nederland B.V. (2006). SM-24 Geophone Element. Product brochure.</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Tailscale Inc. (2026). What is Tailscale? Documentación técnica.</a:t>
            </a:r>
            <a:endParaRPr lang="en-US" sz="945" dirty="0"/>
          </a:p>
          <a:p>
            <a:pPr indent="0" marL="0">
              <a:spcAft>
                <a:spcPts val="450"/>
              </a:spcAft>
              <a:buNone/>
            </a:pPr>
            <a:r>
              <a:rPr lang="en-US" sz="945" dirty="0">
                <a:solidFill>
                  <a:srgbClr val="2D2D2D"/>
                </a:solidFill>
                <a:latin typeface="Arial" pitchFamily="34" charset="0"/>
                <a:ea typeface="Arial" pitchFamily="34" charset="-122"/>
                <a:cs typeface="Arial" pitchFamily="34" charset="-120"/>
              </a:rPr>
              <a:t>Xue, B., Li, Z., Lei, P., Wang, Y. y Zou, X. (2021). Wicsync: a wireless multi-node clock synchronization solution based on optimized UWB. Measurement, 183, 109760.</a:t>
            </a:r>
            <a:endParaRPr lang="en-US" sz="945" dirty="0"/>
          </a:p>
        </p:txBody>
      </p:sp>
      <p:sp>
        <p:nvSpPr>
          <p:cNvPr id="5" name="Encabezado [s0]"/>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Referencias (1 de 2)</a:t>
            </a:r>
            <a:endParaRPr lang="en-US" sz="1400" dirty="0"/>
          </a:p>
        </p:txBody>
      </p:sp>
      <p:sp>
        <p:nvSpPr>
          <p:cNvPr id="6" name="Cita [s0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Lista a completar y verificar contra los PDF: faltan por confirmar las fuentes marcadas “por confirmar” en las slides.</a:t>
            </a:r>
            <a:endParaRPr lang="en-US" sz="800" dirty="0"/>
          </a:p>
        </p:txBody>
      </p:sp>
      <p:sp>
        <p:nvSpPr>
          <p:cNvPr id="7" name="Encabezado [s1]"/>
          <p:cNvSpPr txBox="1"/>
          <p:nvPr/>
        </p:nvSpPr>
        <p:spPr>
          <a:xfrm>
            <a:off x="365760" y="987552"/>
            <a:ext cx="8412480" cy="457200"/>
          </a:xfrm>
          <a:prstGeom prst="rect">
            <a:avLst/>
          </a:prstGeom>
          <a:noFill/>
          <a:ln/>
        </p:spPr>
        <p:txBody>
          <a:bodyPr wrap="square" lIns="0" tIns="0" rIns="0" bIns="0" rtlCol="0" anchor="t"/>
          <a:lstStyle/>
          <a:p>
            <a:pPr indent="0" marL="0">
              <a:buNone/>
            </a:pPr>
            <a:r>
              <a:rPr lang="en-US" sz="1400" b="1" dirty="0">
                <a:solidFill>
                  <a:srgbClr val="2E75B6"/>
                </a:solidFill>
                <a:latin typeface="Arial" pitchFamily="34" charset="0"/>
                <a:ea typeface="Arial" pitchFamily="34" charset="-122"/>
                <a:cs typeface="Arial" pitchFamily="34" charset="-120"/>
              </a:rPr>
              <a:t>Referencias (2 de 2)</a:t>
            </a:r>
            <a:endParaRPr lang="en-US" sz="1400" dirty="0"/>
          </a:p>
        </p:txBody>
      </p:sp>
      <p:sp>
        <p:nvSpPr>
          <p:cNvPr id="8" name="Cita [s1c]"/>
          <p:cNvSpPr txBox="1"/>
          <p:nvPr/>
        </p:nvSpPr>
        <p:spPr>
          <a:xfrm>
            <a:off x="457200" y="4572000"/>
            <a:ext cx="7772400" cy="457200"/>
          </a:xfrm>
          <a:prstGeom prst="rect">
            <a:avLst/>
          </a:prstGeom>
          <a:noFill/>
          <a:ln/>
        </p:spPr>
        <p:txBody>
          <a:bodyPr wrap="square" lIns="0" tIns="0" rIns="0" bIns="0" rtlCol="0" anchor="b"/>
          <a:lstStyle/>
          <a:p>
            <a:pPr indent="0" marL="0">
              <a:buNone/>
            </a:pPr>
            <a:r>
              <a:rPr lang="en-US" sz="800" dirty="0">
                <a:solidFill>
                  <a:srgbClr val="6B6B6B"/>
                </a:solidFill>
                <a:latin typeface="Arial" pitchFamily="34" charset="0"/>
                <a:ea typeface="Arial" pitchFamily="34" charset="-122"/>
                <a:cs typeface="Arial" pitchFamily="34" charset="-120"/>
              </a:rPr>
              <a:t>Fuentes: Faltan: Pazos et al. (2005), Hakimitoroghi et al. (2017), Zhang (2025), Álvarez, González y Vargas (URUCON), Texas Instruments (ΔΣ), Wood y Cox (2012), Comina et al. (2011), Socco y Strobbia (2004), Xia et al. (1999).</a:t>
            </a:r>
            <a:endParaRPr lang="en-US" sz="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384" fill="hold">
                      <p:stCondLst>
                        <p:cond delay="indefinite"/>
                      </p:stCondLst>
                      <p:childTnLst>
                        <p:par>
                          <p:cTn id="5385" fill="hold">
                            <p:stCondLst>
                              <p:cond delay="0"/>
                            </p:stCondLst>
                            <p:childTnLst>
                              <p:par>
                                <p:cTn id="5366" presetID="10" presetClass="exit" presetSubtype="0" fill="hold" nodeType="clickEffect">
                                  <p:stCondLst>
                                    <p:cond delay="0"/>
                                  </p:stCondLst>
                                  <p:childTnLst>
                                    <p:animEffect transition="out" filter="fade">
                                      <p:cBhvr>
                                        <p:cTn id="5367" dur="400"/>
                                        <p:tgtEl>
                                          <p:spTgt spid="3"/>
                                        </p:tgtEl>
                                      </p:cBhvr>
                                    </p:animEffect>
                                    <p:set>
                                      <p:cBhvr>
                                        <p:cTn id="5368" dur="1" fill="hold">
                                          <p:stCondLst>
                                            <p:cond delay="399"/>
                                          </p:stCondLst>
                                        </p:cTn>
                                        <p:tgtEl>
                                          <p:spTgt spid="3"/>
                                        </p:tgtEl>
                                        <p:attrNameLst>
                                          <p:attrName>style.visibility</p:attrName>
                                        </p:attrNameLst>
                                      </p:cBhvr>
                                      <p:to>
                                        <p:strVal val="hidden"/>
                                      </p:to>
                                    </p:set>
                                  </p:childTnLst>
                                </p:cTn>
                              </p:par>
                              <p:par>
                                <p:cTn id="5369" presetID="10" presetClass="exit" presetSubtype="0" fill="hold" nodeType="withEffect">
                                  <p:stCondLst>
                                    <p:cond delay="0"/>
                                  </p:stCondLst>
                                  <p:childTnLst>
                                    <p:animEffect transition="out" filter="fade">
                                      <p:cBhvr>
                                        <p:cTn id="5370" dur="400"/>
                                        <p:tgtEl>
                                          <p:spTgt spid="5"/>
                                        </p:tgtEl>
                                      </p:cBhvr>
                                    </p:animEffect>
                                    <p:set>
                                      <p:cBhvr>
                                        <p:cTn id="5371" dur="1" fill="hold">
                                          <p:stCondLst>
                                            <p:cond delay="399"/>
                                          </p:stCondLst>
                                        </p:cTn>
                                        <p:tgtEl>
                                          <p:spTgt spid="5"/>
                                        </p:tgtEl>
                                        <p:attrNameLst>
                                          <p:attrName>style.visibility</p:attrName>
                                        </p:attrNameLst>
                                      </p:cBhvr>
                                      <p:to>
                                        <p:strVal val="hidden"/>
                                      </p:to>
                                    </p:set>
                                  </p:childTnLst>
                                </p:cTn>
                              </p:par>
                              <p:par>
                                <p:cTn id="5372" presetID="10" presetClass="exit" presetSubtype="0" fill="hold" nodeType="withEffect">
                                  <p:stCondLst>
                                    <p:cond delay="0"/>
                                  </p:stCondLst>
                                  <p:childTnLst>
                                    <p:animEffect transition="out" filter="fade">
                                      <p:cBhvr>
                                        <p:cTn id="5373" dur="400"/>
                                        <p:tgtEl>
                                          <p:spTgt spid="6"/>
                                        </p:tgtEl>
                                      </p:cBhvr>
                                    </p:animEffect>
                                    <p:set>
                                      <p:cBhvr>
                                        <p:cTn id="5374" dur="1" fill="hold">
                                          <p:stCondLst>
                                            <p:cond delay="399"/>
                                          </p:stCondLst>
                                        </p:cTn>
                                        <p:tgtEl>
                                          <p:spTgt spid="6"/>
                                        </p:tgtEl>
                                        <p:attrNameLst>
                                          <p:attrName>style.visibility</p:attrName>
                                        </p:attrNameLst>
                                      </p:cBhvr>
                                      <p:to>
                                        <p:strVal val="hidden"/>
                                      </p:to>
                                    </p:set>
                                  </p:childTnLst>
                                </p:cTn>
                              </p:par>
                              <p:par>
                                <p:cTn id="5375" presetID="10" presetClass="entr" presetSubtype="0" fill="hold" nodeType="withEffect">
                                  <p:stCondLst>
                                    <p:cond delay="200"/>
                                  </p:stCondLst>
                                  <p:childTnLst>
                                    <p:set>
                                      <p:cBhvr>
                                        <p:cTn id="5376" dur="1" fill="hold">
                                          <p:stCondLst>
                                            <p:cond delay="0"/>
                                          </p:stCondLst>
                                        </p:cTn>
                                        <p:tgtEl>
                                          <p:spTgt spid="4"/>
                                        </p:tgtEl>
                                        <p:attrNameLst>
                                          <p:attrName>style.visibility</p:attrName>
                                        </p:attrNameLst>
                                      </p:cBhvr>
                                      <p:to>
                                        <p:strVal val="visible"/>
                                      </p:to>
                                    </p:set>
                                    <p:animEffect transition="in" filter="fade">
                                      <p:cBhvr>
                                        <p:cTn id="5377" dur="500"/>
                                        <p:tgtEl>
                                          <p:spTgt spid="4"/>
                                        </p:tgtEl>
                                      </p:cBhvr>
                                    </p:animEffect>
                                  </p:childTnLst>
                                </p:cTn>
                              </p:par>
                              <p:par>
                                <p:cTn id="5378" presetID="10" presetClass="entr" presetSubtype="0" fill="hold" nodeType="withEffect">
                                  <p:stCondLst>
                                    <p:cond delay="270"/>
                                  </p:stCondLst>
                                  <p:childTnLst>
                                    <p:set>
                                      <p:cBhvr>
                                        <p:cTn id="5379" dur="1" fill="hold">
                                          <p:stCondLst>
                                            <p:cond delay="0"/>
                                          </p:stCondLst>
                                        </p:cTn>
                                        <p:tgtEl>
                                          <p:spTgt spid="7"/>
                                        </p:tgtEl>
                                        <p:attrNameLst>
                                          <p:attrName>style.visibility</p:attrName>
                                        </p:attrNameLst>
                                      </p:cBhvr>
                                      <p:to>
                                        <p:strVal val="visible"/>
                                      </p:to>
                                    </p:set>
                                    <p:animEffect transition="in" filter="fade">
                                      <p:cBhvr>
                                        <p:cTn id="5380" dur="500"/>
                                        <p:tgtEl>
                                          <p:spTgt spid="7"/>
                                        </p:tgtEl>
                                      </p:cBhvr>
                                    </p:animEffect>
                                  </p:childTnLst>
                                </p:cTn>
                              </p:par>
                              <p:par>
                                <p:cTn id="5381" presetID="10" presetClass="entr" presetSubtype="0" fill="hold" nodeType="withEffect">
                                  <p:stCondLst>
                                    <p:cond delay="340"/>
                                  </p:stCondLst>
                                  <p:childTnLst>
                                    <p:set>
                                      <p:cBhvr>
                                        <p:cTn id="5382" dur="1" fill="hold">
                                          <p:stCondLst>
                                            <p:cond delay="0"/>
                                          </p:stCondLst>
                                        </p:cTn>
                                        <p:tgtEl>
                                          <p:spTgt spid="8"/>
                                        </p:tgtEl>
                                        <p:attrNameLst>
                                          <p:attrName>style.visibility</p:attrName>
                                        </p:attrNameLst>
                                      </p:cBhvr>
                                      <p:to>
                                        <p:strVal val="visible"/>
                                      </p:to>
                                    </p:set>
                                    <p:animEffect transition="in" filter="fade">
                                      <p:cBhvr>
                                        <p:cTn id="538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 (comprimida)</dc:title>
  <dc:subject>PptxGenJS Presentation</dc:subject>
  <dc:creator>Elías David Álvarez Martínez</dc:creator>
  <cp:lastModifiedBy>Elías David Álvarez Martínez</cp:lastModifiedBy>
  <cp:revision>1</cp:revision>
  <dcterms:created xsi:type="dcterms:W3CDTF">2026-10-13T07:21:53Z</dcterms:created>
  <dcterms:modified xsi:type="dcterms:W3CDTF">2026-10-13T07:21:53Z</dcterms:modified>
</cp:coreProperties>
</file>