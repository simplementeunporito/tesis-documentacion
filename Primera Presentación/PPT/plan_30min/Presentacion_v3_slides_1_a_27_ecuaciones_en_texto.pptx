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Elías Álvarez y les voy a mostrar cómo avanza mi proyecto final de carrera: una plataforma electrónica para medir el suelo con ondas sísmicas. En la imagen está la idea completa: un golpe en la superficie, una línea de geófonos y los registros que llegan a cada uno. Es la primera de dos presentaciones. Hoy me concentro en el estado del arte, la idea general y los resultados parciales; la validación completa queda para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construir hay que saber sobre qué se apoya la obra. Se reconoce qué materiales hay y se estiman parámetros para dimensionar la fundación. Y durante la ejecución se controla que los rellenos y las capas compactadas sean uniformes. Esto importa acá: la construcción paraguaya creció 6,2 % en 2025 según el Banco Central. Hablo de un sector en expansión, no de un auge sin matices: venía de dos años de caída.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Pero el trabajo con el terreno no termina cuando se levanta la obra. Aparecen grietas y asentamientos, problemas en rutas y pavimentos, taludes que se mueven. Hay que volver a medir, y de preferencia sin dañar lo que ya está construido.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Entonces la pregunta es cómo medir. Necesitamos un método que capte algo del terreno y que, procesando lo sensado, nos dé información que sirva. Ese recorrido, del transductor al procesamiento, es lo que construye este trabajo: la plataforma de medición. Todavía no definimos qué fenómeno medir. Ese es el primer punto de la hoja de ruta: explorar los fenómenos candidatos y sus técnicas, analizar a fondo el que elijamos, ver las especificaciones y la plataforma propuesta, y cerrar con los resultados parciales.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el SPT. Se baja una cuchara partida al fondo de una perforación y se hinca golpeándola con un martillo de 63,5 kilos que cae 76 centímetros. El primer tramo de 15 centímetros asienta la cuchara y no cuenta. N es el número de golpes para los siguientes 30 centímetros. Además de ese número, la cuchara trae una muestra de suelo, alterada pero útil para clasificarlo.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CPT es distinto: en vez de golpear, se empuja un cono de forma continua, a unos 2 centímetros por segundo. Sensores en la punta y en el manguito miden la resistencia de punta y la fricción lateral. Si además tiene un sensor de presión de poros, se llama CPTu o piezocono. El resultado es un perfil continuo, y de ahí se interpreta el tipo de suelo, como se ve a la derecha de la figura.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ofrecen. El SPT es sencillo, está en todas partes y entrega una muestra. El CPT da un perfil continuo y repetible, sin perforar antes, y con presión de poros distingue mejor el tipo de suelo. Los dos tienen décadas de correlaciones publicadas, y eso pesa mucho en la práctica.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qué no ofrecen. El SPT da un dato por profundidad y depende de la energía del martillo y de quién lo opera. El CPT no trae muestra y no atraviesa gravas ni suelos muy duros. Y en los dos, la rigidez, que es lo que nos interesa, se obtiene por correlaciones, no se mide. Esa es la pregunta que dejo abierta: cómo medir la rigidez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hablar de métodos basados en ondas, conviene ver de dónde salen las ondas. Si excitamos un terreno sólido, por ejemplo con un golpe, el material experimenta deformaciones transitorias fruto de esa energía: se deforma y vuelve, y esa deformación se transmite de punto a punto. Según cómo se deforme el material, aparecen distintos tipos de onda. Hay dos que viajan por dentro, las P y las S, y dos que viajan pegadas a la superficie, Love y Rayleigh. Empezamos por las de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poder analizar el problema, lo simplificamos hasta el absurdo. Suponemos un cuerpo homogéneo, es decir, con las mismas propiedades en todos los puntos; isótropo, con las mismas propiedades en todas las direcciones; y elástico lineal, que significa que la deformación es proporcional a la fuerza y desaparece cuando la fuerza cesa. Un suelo real no cumple ninguna de las tres, y lo vamos a ver más adelante cuando aparezca la estratificación. Pero con esta simplificación el problema tiene solución cerrada.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esas hipótesis, la ecuación de movimiento es la de Navier: la inercia, rho por la aceleración, es igual a las fuerzas elásticas, escritas con las constantes de Lamé, lambda y mu. Se puede descomponer el desplazamiento en una parte irrotacional, con un potencial escalar phi, y otra sin divergencia, con un potencial vectorial psi. Cada potencial cumple su propia ecuación de onda. Es decir, el medio tiene dos modos de vibración: uno de compresión, que viaja a Vp, y uno de corte, que viaja a Vs. Son las ondas P y S. Es matemática estándar de elastodinámica; la cita exacta la confirmo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escalar es la onda P. Las partículas oscilan en la misma dirección en que avanza la onda, así que el material se comprime y se dilata. No se transporta material: se transporta la perturbación. Viaja tanto en sólidos como en fluidos.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vectorial es la onda S. La oscilación es perpendicular al avance y el material no se comprime: se corta. Por eso necesita que el medio resista al corte. Un fluido no lo hace, así que la S no viaja por el agua.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las ecuaciones de onda se leen las velocidades. La P depende de lambda más dos mu, sobre la densidad; la S depende solo de mu sobre la densidad. Mu es lo que en geotecnia se llama G, el módulo de corte, la rigidez al corte. En el mismo medio la P siempre es más rápida que la S. Lo importante es esto: si medimos velocidades de onda, accedemos a parámetros elásticos del terreno.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hipótesis de elasticidad lineal en un suelo real solo se sostiene para deformaciones pequeñas. En ese rango, el esfuerzo de corte tau es proporcional a la deformación gamma, y la constante es el módulo de corte G, que ahí es casi constante y se llama Gmax. El umbral, del orden de 10 a la menos 5, depende del tipo de suelo. Las ondas de prospección producen deformaciones de ese orden o menores. Fuera de ese rango, G baja con la deformación. Nota para mí: confirmar el umbral en Foti, cap. 1 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juntamos todo. Del modelo elástico lineal sale que Vs es raíz de mu sobre rho. Cuando el suelo se deforma poco, mu es el módulo de corte máximo, Gmax. Entonces Gmax es la densidad por Vs al cuadrado. Esa relación solo vale en pequeña señal: no sirve para describir al suelo con deformaciones grandes.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lo que hace útil a Vs. Gmax depende de la densidad y de Vs al cuadrado. Derivando, el error relativo en Gmax es, como cota, el error en la densidad más el doble del error en Vs. La densidad varía poco y se estima razonablemente; Vs varía mucho y es lo que medimos. Por eso, conocer Vs permite estimar Gmax razonablemente. Con la advertencia de siempre: es válido a pequeñas deformaciones.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Vs ya definida, vemos los métodos que la miden de forma directa. En el downhole se deja una cadena de geófonos dentro de un pozo y se golpea en superficie. Cada geófono recibe la onda en un tiempo distinto, y la diferencia de tiempos entre dos profundidades, junto con la distancia que las separa, da la velocidad de ese tramo.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crosshole usa al menos dos pozos. La fuente baja a una profundidad en un pozo y el receptor a la misma profundidad en el otro. Como la onda viaja en horizontal por una sola capa, Vs es la distancia entre pozos dividida por el tiempo de viaje. Nota para mí: confirmar el número de figura y el crédito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miden Vs sin correlaciones: el trayecto es conocido. El downhole necesita un solo pozo y da un perfil con la profundidad. El crosshole mide capas individuales a una profundidad conocida, con mejor resolución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cuestan. Hay que perforar y entubar, lo que lleva tiempo y dinero. El crosshole además pide pozos alineados y verticales. Y cada ensayo describe un punto del sitio. Si queremos cubrir una línea larga sin perforar, hay que buscar otra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a los métodos desde la superficie. En refracción, la onda incide en la interfaz con el ángulo crítico y viaja por la capa rápida, justo por debajo de la interfaz. Desde ahí sale hacia los geófonos. Más allá de cierta distancia, esa onda llega antes que la directa, aunque haya recorrido más camino, porque lo hizo en material más rápido.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grafica el tiempo de llegada contra la distancia fuente-geófono. La onda directa da una recta con pendiente uno sobre V1. La refractada da otra recta, menos inclinada, con pendiente uno sobre V2, que corta el eje del tiempo en el intercepto ti. De ahí se obtienen las dos velocidades, y con el intercepto, el espesor de la primera capa.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Ventajas y límites de la refracción. Es simple, rápida y da velocidades y espesores. Pero supone que la velocidad aumenta con la profundidad: una capa blanda debajo de otra rápida no se ve, y las capas delgadas pueden pasar desapercibidas.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reflexión no importa el camino por el contenido de la capa, sino el eco. La energía baja, se refleja en cada interfaz y vuelve al geófono. Cada geófono produce una traza que registra el tiempo de ida y vuelta, y ese tiempo es función de la profundidad de la interfaz y de la velocidad de la 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reflexión llega más profundo y da una buena imagen de la estructura, pero para los primeros metros, que son los que nos interesan en ingeniería, rinde poco: exige alta frecuencia, más procesamiento y compite con las ondas directas y superficiales. Y esas ondas superficiales, que aquí estorban, son justo las que vamos a usar.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ítulo"/>
          <p:cNvSpPr txBox="1"/>
          <p:nvPr/>
        </p:nvSpPr>
        <p:spPr>
          <a:xfrm>
            <a:off x="457200" y="274320"/>
            <a:ext cx="8229600" cy="123444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Diseño e implementación de un sistema electrónico multicanal del tipo IoT para caracterización geotécnica del suelo mediante ondas sísmicas</a:t>
            </a:r>
            <a:endParaRPr lang="en-US" sz="2400" dirty="0"/>
          </a:p>
        </p:txBody>
      </p:sp>
      <p:sp>
        <p:nvSpPr>
          <p:cNvPr id="3" name="Text 1"/>
          <p:cNvSpPr txBox="1"/>
          <p:nvPr/>
        </p:nvSpPr>
        <p:spPr>
          <a:xfrm>
            <a:off x="457200" y="1600200"/>
            <a:ext cx="8229600" cy="32004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Proyecto final de carrera · Primera presentación</a:t>
            </a:r>
            <a:endParaRPr lang="en-US" sz="1800" dirty="0"/>
          </a:p>
        </p:txBody>
      </p:sp>
      <p:sp>
        <p:nvSpPr>
          <p:cNvPr id="4" name="Autoría"/>
          <p:cNvSpPr txBox="1"/>
          <p:nvPr/>
        </p:nvSpPr>
        <p:spPr>
          <a:xfrm>
            <a:off x="457200" y="2286000"/>
            <a:ext cx="35661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rial" pitchFamily="34" charset="0"/>
                <a:ea typeface="Arial" pitchFamily="34" charset="-122"/>
                <a:cs typeface="Arial" pitchFamily="34" charset="-120"/>
              </a:rPr>
              <a:t>Elías David Álvarez Martínez</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Matrícula Y24127 · Ingeniería Electrónica</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Tutor: Enrique A. Vargas Cabral, Ph.D.</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Universidad Católica «Nuestra Señora de la Asunción»</a:t>
            </a:r>
            <a:endParaRPr lang="en-US" sz="1600" dirty="0"/>
          </a:p>
        </p:txBody>
      </p:sp>
      <p:sp>
        <p:nvSpPr>
          <p:cNvPr id="5" name="Marco imagen"/>
          <p:cNvSpPr/>
          <p:nvPr/>
        </p:nvSpPr>
        <p:spPr>
          <a:xfrm>
            <a:off x="4206240" y="2240280"/>
            <a:ext cx="4480560" cy="2240280"/>
          </a:xfrm>
          <a:prstGeom prst="rect">
            <a:avLst/>
          </a:prstGeom>
          <a:solidFill>
            <a:srgbClr val="FFFFFF"/>
          </a:solidFill>
          <a:ln w="12700">
            <a:solidFill>
              <a:srgbClr val="FFFFFF"/>
            </a:solidFill>
            <a:prstDash val="solid"/>
          </a:ln>
        </p:spPr>
      </p:sp>
      <p:pic>
        <p:nvPicPr>
          <p:cNvPr id="6" name="Esquema MASW" descr="Esquema de adquisición MASW: martillo, línea de geófonos y registros en el tiempo">    </p:cNvPr>
          <p:cNvPicPr>
            <a:picLocks noChangeAspect="1"/>
          </p:cNvPicPr>
          <p:nvPr/>
        </p:nvPicPr>
        <p:blipFill>
          <a:blip r:embed="rId1"/>
          <a:stretch>
            <a:fillRect/>
          </a:stretch>
        </p:blipFill>
        <p:spPr>
          <a:xfrm>
            <a:off x="4251960" y="2286000"/>
            <a:ext cx="4389120" cy="2194560"/>
          </a:xfrm>
          <a:prstGeom prst="rect">
            <a:avLst/>
          </a:prstGeom>
        </p:spPr>
      </p:pic>
      <p:sp>
        <p:nvSpPr>
          <p:cNvPr id="7" name="Crédito imagen"/>
          <p:cNvSpPr txBox="1"/>
          <p:nvPr/>
        </p:nvSpPr>
        <p:spPr>
          <a:xfrm>
            <a:off x="4206240" y="4526280"/>
            <a:ext cx="4480560" cy="274320"/>
          </a:xfrm>
          <a:prstGeom prst="rect">
            <a:avLst/>
          </a:prstGeom>
          <a:noFill/>
          <a:ln/>
        </p:spPr>
        <p:txBody>
          <a:bodyPr wrap="square" lIns="0" tIns="0" rIns="0" bIns="0" rtlCol="0" anchor="ctr"/>
          <a:lstStyle/>
          <a:p>
            <a:pPr indent="0" marL="0">
              <a:buNone/>
            </a:pPr>
            <a:r>
              <a:rPr lang="en-US" sz="1100" dirty="0">
                <a:solidFill>
                  <a:srgbClr val="CADCFC"/>
                </a:solidFill>
                <a:latin typeface="Arial" pitchFamily="34" charset="0"/>
                <a:ea typeface="Arial" pitchFamily="34" charset="-122"/>
                <a:cs typeface="Arial" pitchFamily="34" charset="-120"/>
              </a:rPr>
              <a:t>Esquema MASW: GeoStru (2019), original de M. Bandini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Toda obra empieza por conocer el suelo que la sostiene</a:t>
            </a:r>
            <a:endParaRPr lang="en-US" sz="2400" dirty="0"/>
          </a:p>
        </p:txBody>
      </p:sp>
      <p:pic>
        <p:nvPicPr>
          <p:cNvPr id="3" name="Imagen fundación" descr="Esquema de zapata aislada: armadura, hormigón de limpieza y terreno de fundación">    </p:cNvPr>
          <p:cNvPicPr>
            <a:picLocks noChangeAspect="1"/>
          </p:cNvPicPr>
          <p:nvPr/>
        </p:nvPicPr>
        <p:blipFill>
          <a:blip r:embed="rId1"/>
          <a:stretch>
            <a:fillRect/>
          </a:stretch>
        </p:blipFill>
        <p:spPr>
          <a:xfrm>
            <a:off x="457200" y="1188720"/>
            <a:ext cx="1792224" cy="3191256"/>
          </a:xfrm>
          <a:prstGeom prst="rect">
            <a:avLst/>
          </a:prstGeom>
        </p:spPr>
      </p:pic>
      <p:sp>
        <p:nvSpPr>
          <p:cNvPr id="4" name="Cuerpo"/>
          <p:cNvSpPr txBox="1"/>
          <p:nvPr/>
        </p:nvSpPr>
        <p:spPr>
          <a:xfrm>
            <a:off x="2651760" y="1280160"/>
            <a:ext cx="6035040" cy="17373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Reconocer los materiales antes de construir</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Estimar parámetros para dimensionar la fundación</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Controlar rellenos y capas compactadas durante la obra</a:t>
            </a:r>
            <a:endParaRPr lang="en-US" sz="2000" dirty="0"/>
          </a:p>
        </p:txBody>
      </p:sp>
      <p:sp>
        <p:nvSpPr>
          <p:cNvPr id="5" name="Recuadro dato"/>
          <p:cNvSpPr/>
          <p:nvPr/>
        </p:nvSpPr>
        <p:spPr>
          <a:xfrm>
            <a:off x="2651760" y="3246120"/>
            <a:ext cx="6035040" cy="822960"/>
          </a:xfrm>
          <a:prstGeom prst="rect">
            <a:avLst/>
          </a:prstGeom>
          <a:solidFill>
            <a:srgbClr val="EAF1F8"/>
          </a:solidFill>
          <a:ln w="12700">
            <a:solidFill>
              <a:srgbClr val="EAF1F8"/>
            </a:solidFill>
            <a:prstDash val="solid"/>
          </a:ln>
        </p:spPr>
      </p:sp>
      <p:sp>
        <p:nvSpPr>
          <p:cNvPr id="6" name="Dato Paraguay"/>
          <p:cNvSpPr txBox="1"/>
          <p:nvPr/>
        </p:nvSpPr>
        <p:spPr>
          <a:xfrm>
            <a:off x="2788920" y="3246120"/>
            <a:ext cx="5760720" cy="822960"/>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La construcción creció 6,2 % en 2025 (BCP, 2026)</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Samtani y Nowatzki (2006). BCP (2026). Imagen: Instagram (s. f.).</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control del terreno no termina cuando la obra se levanta</a:t>
            </a:r>
            <a:endParaRPr lang="en-US" sz="2400" dirty="0"/>
          </a:p>
        </p:txBody>
      </p:sp>
      <p:pic>
        <p:nvPicPr>
          <p:cNvPr id="3" name="Foto grietas" descr="Grietas y asentamientos">    </p:cNvPr>
          <p:cNvPicPr>
            <a:picLocks noChangeAspect="1"/>
          </p:cNvPicPr>
          <p:nvPr/>
        </p:nvPicPr>
        <p:blipFill>
          <a:blip r:embed="rId1"/>
          <a:stretch>
            <a:fillRect/>
          </a:stretch>
        </p:blipFill>
        <p:spPr>
          <a:xfrm>
            <a:off x="457200" y="1280160"/>
            <a:ext cx="2560320" cy="1563624"/>
          </a:xfrm>
          <a:prstGeom prst="rect">
            <a:avLst/>
          </a:prstGeom>
        </p:spPr>
      </p:pic>
      <p:sp>
        <p:nvSpPr>
          <p:cNvPr id="4" name="Text 1"/>
          <p:cNvSpPr txBox="1"/>
          <p:nvPr/>
        </p:nvSpPr>
        <p:spPr>
          <a:xfrm>
            <a:off x="45720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Grietas y asentamientos</a:t>
            </a:r>
            <a:endParaRPr lang="en-US" sz="1600" dirty="0"/>
          </a:p>
        </p:txBody>
      </p:sp>
      <p:pic>
        <p:nvPicPr>
          <p:cNvPr id="5" name="Foto pavimento_relleno" descr="Pavimentos y rellenos">    </p:cNvPr>
          <p:cNvPicPr>
            <a:picLocks noChangeAspect="1"/>
          </p:cNvPicPr>
          <p:nvPr/>
        </p:nvPicPr>
        <p:blipFill>
          <a:blip r:embed="rId2"/>
          <a:stretch>
            <a:fillRect/>
          </a:stretch>
        </p:blipFill>
        <p:spPr>
          <a:xfrm>
            <a:off x="3291840" y="1280160"/>
            <a:ext cx="2560320" cy="1737360"/>
          </a:xfrm>
          <a:prstGeom prst="rect">
            <a:avLst/>
          </a:prstGeom>
        </p:spPr>
      </p:pic>
      <p:sp>
        <p:nvSpPr>
          <p:cNvPr id="6" name="Text 2"/>
          <p:cNvSpPr txBox="1"/>
          <p:nvPr/>
        </p:nvSpPr>
        <p:spPr>
          <a:xfrm>
            <a:off x="329184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Pavimentos y rellenos</a:t>
            </a:r>
            <a:endParaRPr lang="en-US" sz="1600" dirty="0"/>
          </a:p>
        </p:txBody>
      </p:sp>
      <p:pic>
        <p:nvPicPr>
          <p:cNvPr id="7" name="Foto talud" descr="Taludes">    </p:cNvPr>
          <p:cNvPicPr>
            <a:picLocks noChangeAspect="1"/>
          </p:cNvPicPr>
          <p:nvPr/>
        </p:nvPicPr>
        <p:blipFill>
          <a:blip r:embed="rId3"/>
          <a:stretch>
            <a:fillRect/>
          </a:stretch>
        </p:blipFill>
        <p:spPr>
          <a:xfrm>
            <a:off x="6126480" y="1280160"/>
            <a:ext cx="2560320" cy="1737360"/>
          </a:xfrm>
          <a:prstGeom prst="rect">
            <a:avLst/>
          </a:prstGeom>
        </p:spPr>
      </p:pic>
      <p:sp>
        <p:nvSpPr>
          <p:cNvPr id="8" name="Text 3"/>
          <p:cNvSpPr txBox="1"/>
          <p:nvPr/>
        </p:nvSpPr>
        <p:spPr>
          <a:xfrm>
            <a:off x="612648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Taludes</a:t>
            </a:r>
            <a:endParaRPr lang="en-US" sz="1600" dirty="0"/>
          </a:p>
        </p:txBody>
      </p:sp>
      <p:sp>
        <p:nvSpPr>
          <p:cNvPr id="9" name="Mensaje"/>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dirty="0">
                <a:solidFill>
                  <a:srgbClr val="2D2D2D"/>
                </a:solidFill>
                <a:latin typeface="Arial" pitchFamily="34" charset="0"/>
                <a:ea typeface="Arial" pitchFamily="34" charset="-122"/>
                <a:cs typeface="Arial" pitchFamily="34" charset="-120"/>
              </a:rPr>
              <a:t>Evaluar durante y después de la obra: cambios, daños y mantenimiento, sin alterar lo construido</a:t>
            </a:r>
            <a:endParaRPr lang="en-US" sz="20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Park et al. (2018). Imágenes: UPCommons (asentamientos); 360 en Concreto (rodillo); Facebook (ilustración).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74320"/>
            <a:ext cx="8229600" cy="10972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Nos proponemos definir un método de medición del terreno que, mediante el procesamiento de lo sensado, permita obtener información útil</a:t>
            </a:r>
            <a:endParaRPr lang="en-US" sz="2400" dirty="0"/>
          </a:p>
        </p:txBody>
      </p:sp>
      <p:sp>
        <p:nvSpPr>
          <p:cNvPr id="3" name="Marco plataforma"/>
          <p:cNvSpPr/>
          <p:nvPr/>
        </p:nvSpPr>
        <p:spPr>
          <a:xfrm>
            <a:off x="2514600" y="1463040"/>
            <a:ext cx="4114800" cy="1051560"/>
          </a:xfrm>
          <a:prstGeom prst="roundRect">
            <a:avLst>
              <a:gd name="adj" fmla="val 6957"/>
            </a:avLst>
          </a:prstGeom>
          <a:solidFill>
            <a:srgbClr val="FFFFFF">
              <a:alpha val="0"/>
            </a:srgbClr>
          </a:solidFill>
          <a:ln w="25400">
            <a:solidFill>
              <a:srgbClr val="C55A11"/>
            </a:solidFill>
            <a:prstDash val="solid"/>
          </a:ln>
        </p:spPr>
      </p:sp>
      <p:sp>
        <p:nvSpPr>
          <p:cNvPr id="4" name="Caja 1"/>
          <p:cNvSpPr/>
          <p:nvPr/>
        </p:nvSpPr>
        <p:spPr>
          <a:xfrm>
            <a:off x="457200" y="1554480"/>
            <a:ext cx="1783080" cy="868680"/>
          </a:xfrm>
          <a:prstGeom prst="rect">
            <a:avLst/>
          </a:prstGeom>
          <a:solidFill>
            <a:srgbClr val="EAF1F8"/>
          </a:solidFill>
          <a:ln w="12700">
            <a:solidFill>
              <a:srgbClr val="2E75B6"/>
            </a:solidFill>
            <a:prstDash val="solid"/>
          </a:ln>
        </p:spPr>
      </p:sp>
      <p:sp>
        <p:nvSpPr>
          <p:cNvPr id="5" name="Text 3"/>
          <p:cNvSpPr txBox="1"/>
          <p:nvPr/>
        </p:nvSpPr>
        <p:spPr>
          <a:xfrm>
            <a:off x="45720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Fenómeno físico del terreno</a:t>
            </a:r>
            <a:endParaRPr lang="en-US" sz="1600" dirty="0"/>
          </a:p>
        </p:txBody>
      </p:sp>
      <p:sp>
        <p:nvSpPr>
          <p:cNvPr id="6" name="Shape 4"/>
          <p:cNvSpPr/>
          <p:nvPr/>
        </p:nvSpPr>
        <p:spPr>
          <a:xfrm>
            <a:off x="2267712" y="1988820"/>
            <a:ext cx="310896" cy="0"/>
          </a:xfrm>
          <a:prstGeom prst="line">
            <a:avLst/>
          </a:prstGeom>
          <a:noFill/>
          <a:ln w="25400">
            <a:solidFill>
              <a:srgbClr val="1F4E79"/>
            </a:solidFill>
            <a:prstDash val="solid"/>
            <a:tailEnd type="triangle"/>
          </a:ln>
        </p:spPr>
      </p:sp>
      <p:sp>
        <p:nvSpPr>
          <p:cNvPr id="7" name="Caja 2"/>
          <p:cNvSpPr/>
          <p:nvPr/>
        </p:nvSpPr>
        <p:spPr>
          <a:xfrm>
            <a:off x="2606040" y="1554480"/>
            <a:ext cx="1783080" cy="868680"/>
          </a:xfrm>
          <a:prstGeom prst="rect">
            <a:avLst/>
          </a:prstGeom>
          <a:solidFill>
            <a:srgbClr val="EAF1F8"/>
          </a:solidFill>
          <a:ln w="12700">
            <a:solidFill>
              <a:srgbClr val="2E75B6"/>
            </a:solidFill>
            <a:prstDash val="solid"/>
          </a:ln>
        </p:spPr>
      </p:sp>
      <p:sp>
        <p:nvSpPr>
          <p:cNvPr id="8" name="Text 6"/>
          <p:cNvSpPr txBox="1"/>
          <p:nvPr/>
        </p:nvSpPr>
        <p:spPr>
          <a:xfrm>
            <a:off x="260604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Transductor</a:t>
            </a:r>
            <a:endParaRPr lang="en-US" sz="1600" dirty="0"/>
          </a:p>
        </p:txBody>
      </p:sp>
      <p:sp>
        <p:nvSpPr>
          <p:cNvPr id="9" name="Shape 7"/>
          <p:cNvSpPr/>
          <p:nvPr/>
        </p:nvSpPr>
        <p:spPr>
          <a:xfrm>
            <a:off x="4416552" y="1988820"/>
            <a:ext cx="310896" cy="0"/>
          </a:xfrm>
          <a:prstGeom prst="line">
            <a:avLst/>
          </a:prstGeom>
          <a:noFill/>
          <a:ln w="25400">
            <a:solidFill>
              <a:srgbClr val="1F4E79"/>
            </a:solidFill>
            <a:prstDash val="solid"/>
            <a:tailEnd type="triangle"/>
          </a:ln>
        </p:spPr>
      </p:sp>
      <p:sp>
        <p:nvSpPr>
          <p:cNvPr id="10" name="Caja 3"/>
          <p:cNvSpPr/>
          <p:nvPr/>
        </p:nvSpPr>
        <p:spPr>
          <a:xfrm>
            <a:off x="4754880" y="1554480"/>
            <a:ext cx="1783080" cy="868680"/>
          </a:xfrm>
          <a:prstGeom prst="rect">
            <a:avLst/>
          </a:prstGeom>
          <a:solidFill>
            <a:srgbClr val="EAF1F8"/>
          </a:solidFill>
          <a:ln w="12700">
            <a:solidFill>
              <a:srgbClr val="2E75B6"/>
            </a:solidFill>
            <a:prstDash val="solid"/>
          </a:ln>
        </p:spPr>
      </p:sp>
      <p:sp>
        <p:nvSpPr>
          <p:cNvPr id="11" name="Text 9"/>
          <p:cNvSpPr txBox="1"/>
          <p:nvPr/>
        </p:nvSpPr>
        <p:spPr>
          <a:xfrm>
            <a:off x="475488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Procesamiento</a:t>
            </a:r>
            <a:endParaRPr lang="en-US" sz="1600" dirty="0"/>
          </a:p>
        </p:txBody>
      </p:sp>
      <p:sp>
        <p:nvSpPr>
          <p:cNvPr id="12" name="Shape 10"/>
          <p:cNvSpPr/>
          <p:nvPr/>
        </p:nvSpPr>
        <p:spPr>
          <a:xfrm>
            <a:off x="6565392" y="1988820"/>
            <a:ext cx="310896" cy="0"/>
          </a:xfrm>
          <a:prstGeom prst="line">
            <a:avLst/>
          </a:prstGeom>
          <a:noFill/>
          <a:ln w="25400">
            <a:solidFill>
              <a:srgbClr val="1F4E79"/>
            </a:solidFill>
            <a:prstDash val="solid"/>
            <a:tailEnd type="triangle"/>
          </a:ln>
        </p:spPr>
      </p:sp>
      <p:sp>
        <p:nvSpPr>
          <p:cNvPr id="13" name="Caja 4"/>
          <p:cNvSpPr/>
          <p:nvPr/>
        </p:nvSpPr>
        <p:spPr>
          <a:xfrm>
            <a:off x="6903720" y="1554480"/>
            <a:ext cx="1783080" cy="868680"/>
          </a:xfrm>
          <a:prstGeom prst="rect">
            <a:avLst/>
          </a:prstGeom>
          <a:solidFill>
            <a:srgbClr val="1F4E79"/>
          </a:solidFill>
          <a:ln w="12700">
            <a:solidFill>
              <a:srgbClr val="1F4E79"/>
            </a:solidFill>
            <a:prstDash val="solid"/>
          </a:ln>
        </p:spPr>
      </p:sp>
      <p:sp>
        <p:nvSpPr>
          <p:cNvPr id="14" name="Text 12"/>
          <p:cNvSpPr txBox="1"/>
          <p:nvPr/>
        </p:nvSpPr>
        <p:spPr>
          <a:xfrm>
            <a:off x="690372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Información útil del terreno</a:t>
            </a:r>
            <a:endParaRPr lang="en-US" sz="1600" dirty="0"/>
          </a:p>
        </p:txBody>
      </p:sp>
      <p:sp>
        <p:nvSpPr>
          <p:cNvPr id="15" name="Etiqueta plataforma"/>
          <p:cNvSpPr txBox="1"/>
          <p:nvPr/>
        </p:nvSpPr>
        <p:spPr>
          <a:xfrm>
            <a:off x="2514600" y="2578608"/>
            <a:ext cx="4114800" cy="45720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Lo que construye este trabajo: la plataforma que realiza la medición</a:t>
            </a:r>
            <a:endParaRPr lang="en-US" sz="1600" dirty="0"/>
          </a:p>
        </p:txBody>
      </p:sp>
      <p:sp>
        <p:nvSpPr>
          <p:cNvPr id="16" name="Text 14"/>
          <p:cNvSpPr txBox="1"/>
          <p:nvPr/>
        </p:nvSpPr>
        <p:spPr>
          <a:xfrm>
            <a:off x="457200" y="3063240"/>
            <a:ext cx="2743200" cy="320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Hoja de ruta</a:t>
            </a:r>
            <a:endParaRPr lang="en-US" sz="2000" dirty="0"/>
          </a:p>
        </p:txBody>
      </p:sp>
      <p:sp>
        <p:nvSpPr>
          <p:cNvPr id="17" name="Número 1"/>
          <p:cNvSpPr/>
          <p:nvPr/>
        </p:nvSpPr>
        <p:spPr>
          <a:xfrm>
            <a:off x="457200" y="3493008"/>
            <a:ext cx="246888" cy="246888"/>
          </a:xfrm>
          <a:prstGeom prst="ellipse">
            <a:avLst/>
          </a:prstGeom>
          <a:solidFill>
            <a:srgbClr val="2E75B6"/>
          </a:solidFill>
          <a:ln w="12700">
            <a:solidFill>
              <a:srgbClr val="2E75B6"/>
            </a:solidFill>
            <a:prstDash val="solid"/>
          </a:ln>
        </p:spPr>
      </p:sp>
      <p:sp>
        <p:nvSpPr>
          <p:cNvPr id="18" name="Text 16"/>
          <p:cNvSpPr txBox="1"/>
          <p:nvPr/>
        </p:nvSpPr>
        <p:spPr>
          <a:xfrm>
            <a:off x="457200" y="3493008"/>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9" name="Hoja de ruta 1"/>
          <p:cNvSpPr txBox="1"/>
          <p:nvPr/>
        </p:nvSpPr>
        <p:spPr>
          <a:xfrm>
            <a:off x="822960" y="3474720"/>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Exploración de los fenómenos físicos candidatos a medir y las técnicas asociadas</a:t>
            </a:r>
            <a:endParaRPr lang="en-US" sz="1600" dirty="0"/>
          </a:p>
        </p:txBody>
      </p:sp>
      <p:sp>
        <p:nvSpPr>
          <p:cNvPr id="20" name="Número 2"/>
          <p:cNvSpPr/>
          <p:nvPr/>
        </p:nvSpPr>
        <p:spPr>
          <a:xfrm>
            <a:off x="457200" y="3803904"/>
            <a:ext cx="246888" cy="246888"/>
          </a:xfrm>
          <a:prstGeom prst="ellipse">
            <a:avLst/>
          </a:prstGeom>
          <a:solidFill>
            <a:srgbClr val="2E75B6"/>
          </a:solidFill>
          <a:ln w="12700">
            <a:solidFill>
              <a:srgbClr val="2E75B6"/>
            </a:solidFill>
            <a:prstDash val="solid"/>
          </a:ln>
        </p:spPr>
      </p:sp>
      <p:sp>
        <p:nvSpPr>
          <p:cNvPr id="21" name="Text 19"/>
          <p:cNvSpPr txBox="1"/>
          <p:nvPr/>
        </p:nvSpPr>
        <p:spPr>
          <a:xfrm>
            <a:off x="457200" y="3803904"/>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Hoja de ruta 2"/>
          <p:cNvSpPr txBox="1"/>
          <p:nvPr/>
        </p:nvSpPr>
        <p:spPr>
          <a:xfrm>
            <a:off x="822960" y="3785616"/>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Análisis en profundidad del método seleccionado</a:t>
            </a:r>
            <a:endParaRPr lang="en-US" sz="1600" dirty="0"/>
          </a:p>
        </p:txBody>
      </p:sp>
      <p:sp>
        <p:nvSpPr>
          <p:cNvPr id="23" name="Número 3"/>
          <p:cNvSpPr/>
          <p:nvPr/>
        </p:nvSpPr>
        <p:spPr>
          <a:xfrm>
            <a:off x="457200" y="4114800"/>
            <a:ext cx="246888" cy="246888"/>
          </a:xfrm>
          <a:prstGeom prst="ellipse">
            <a:avLst/>
          </a:prstGeom>
          <a:solidFill>
            <a:srgbClr val="2E75B6"/>
          </a:solidFill>
          <a:ln w="12700">
            <a:solidFill>
              <a:srgbClr val="2E75B6"/>
            </a:solidFill>
            <a:prstDash val="solid"/>
          </a:ln>
        </p:spPr>
      </p:sp>
      <p:sp>
        <p:nvSpPr>
          <p:cNvPr id="24" name="Text 22"/>
          <p:cNvSpPr txBox="1"/>
          <p:nvPr/>
        </p:nvSpPr>
        <p:spPr>
          <a:xfrm>
            <a:off x="457200" y="4114800"/>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5" name="Hoja de ruta 3"/>
          <p:cNvSpPr txBox="1"/>
          <p:nvPr/>
        </p:nvSpPr>
        <p:spPr>
          <a:xfrm>
            <a:off x="822960" y="4096512"/>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Especificaciones y plataforma propuesta</a:t>
            </a:r>
            <a:endParaRPr lang="en-US" sz="1600" dirty="0"/>
          </a:p>
        </p:txBody>
      </p:sp>
      <p:sp>
        <p:nvSpPr>
          <p:cNvPr id="26" name="Número 4"/>
          <p:cNvSpPr/>
          <p:nvPr/>
        </p:nvSpPr>
        <p:spPr>
          <a:xfrm>
            <a:off x="457200" y="4425696"/>
            <a:ext cx="246888" cy="246888"/>
          </a:xfrm>
          <a:prstGeom prst="ellipse">
            <a:avLst/>
          </a:prstGeom>
          <a:solidFill>
            <a:srgbClr val="2E75B6"/>
          </a:solidFill>
          <a:ln w="12700">
            <a:solidFill>
              <a:srgbClr val="2E75B6"/>
            </a:solidFill>
            <a:prstDash val="solid"/>
          </a:ln>
        </p:spPr>
      </p:sp>
      <p:sp>
        <p:nvSpPr>
          <p:cNvPr id="27" name="Text 25"/>
          <p:cNvSpPr txBox="1"/>
          <p:nvPr/>
        </p:nvSpPr>
        <p:spPr>
          <a:xfrm>
            <a:off x="457200" y="4425696"/>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Hoja de ruta 4"/>
          <p:cNvSpPr txBox="1"/>
          <p:nvPr/>
        </p:nvSpPr>
        <p:spPr>
          <a:xfrm>
            <a:off x="822960" y="4407408"/>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Resultados parciales</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Hay dos formas de medir el terreno: por su resistencia o por cómo transmite ondas</a:t>
            </a:r>
            <a:endParaRPr lang="en-US" sz="2400" dirty="0"/>
          </a:p>
        </p:txBody>
      </p:sp>
      <p:sp>
        <p:nvSpPr>
          <p:cNvPr id="3" name="Encabezado dentro"/>
          <p:cNvSpPr/>
          <p:nvPr/>
        </p:nvSpPr>
        <p:spPr>
          <a:xfrm>
            <a:off x="2048256" y="1188720"/>
            <a:ext cx="1737360" cy="777240"/>
          </a:xfrm>
          <a:prstGeom prst="rect">
            <a:avLst/>
          </a:prstGeom>
          <a:solidFill>
            <a:srgbClr val="1F4E79"/>
          </a:solidFill>
          <a:ln w="12700">
            <a:solidFill>
              <a:srgbClr val="1F4E79"/>
            </a:solidFill>
            <a:prstDash val="solid"/>
          </a:ln>
        </p:spPr>
      </p:sp>
      <p:sp>
        <p:nvSpPr>
          <p:cNvPr id="4" name="Text 2"/>
          <p:cNvSpPr txBox="1"/>
          <p:nvPr/>
        </p:nvSpPr>
        <p:spPr>
          <a:xfrm>
            <a:off x="2048256"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Dentro del terreno (invasivo)</a:t>
            </a:r>
            <a:endParaRPr lang="en-US" sz="1600" dirty="0"/>
          </a:p>
        </p:txBody>
      </p:sp>
      <p:sp>
        <p:nvSpPr>
          <p:cNvPr id="5" name="Encabezado superficie"/>
          <p:cNvSpPr/>
          <p:nvPr/>
        </p:nvSpPr>
        <p:spPr>
          <a:xfrm>
            <a:off x="3822192" y="1188720"/>
            <a:ext cx="1737360" cy="777240"/>
          </a:xfrm>
          <a:prstGeom prst="rect">
            <a:avLst/>
          </a:prstGeom>
          <a:solidFill>
            <a:srgbClr val="1F4E79"/>
          </a:solidFill>
          <a:ln w="12700">
            <a:solidFill>
              <a:srgbClr val="1F4E79"/>
            </a:solidFill>
            <a:prstDash val="solid"/>
          </a:ln>
        </p:spPr>
      </p:sp>
      <p:sp>
        <p:nvSpPr>
          <p:cNvPr id="6" name="Text 4"/>
          <p:cNvSpPr txBox="1"/>
          <p:nvPr/>
        </p:nvSpPr>
        <p:spPr>
          <a:xfrm>
            <a:off x="3822192"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Desde la superficie (no invasivo)</a:t>
            </a:r>
            <a:endParaRPr lang="en-US" sz="1600" dirty="0"/>
          </a:p>
        </p:txBody>
      </p:sp>
      <p:sp>
        <p:nvSpPr>
          <p:cNvPr id="7" name="Fila resistencia"/>
          <p:cNvSpPr/>
          <p:nvPr/>
        </p:nvSpPr>
        <p:spPr>
          <a:xfrm>
            <a:off x="457200" y="2002536"/>
            <a:ext cx="1554480" cy="868680"/>
          </a:xfrm>
          <a:prstGeom prst="rect">
            <a:avLst/>
          </a:prstGeom>
          <a:solidFill>
            <a:srgbClr val="2E75B6"/>
          </a:solidFill>
          <a:ln w="12700">
            <a:solidFill>
              <a:srgbClr val="2E75B6"/>
            </a:solidFill>
            <a:prstDash val="solid"/>
          </a:ln>
        </p:spPr>
      </p:sp>
      <p:sp>
        <p:nvSpPr>
          <p:cNvPr id="8" name="Text 6"/>
          <p:cNvSpPr txBox="1"/>
          <p:nvPr/>
        </p:nvSpPr>
        <p:spPr>
          <a:xfrm>
            <a:off x="457200" y="2002536"/>
            <a:ext cx="1554480" cy="86868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Resistencia a la penetración</a:t>
            </a:r>
            <a:endParaRPr lang="en-US" sz="1600" dirty="0"/>
          </a:p>
        </p:txBody>
      </p:sp>
      <p:sp>
        <p:nvSpPr>
          <p:cNvPr id="9" name="Fila ondas"/>
          <p:cNvSpPr/>
          <p:nvPr/>
        </p:nvSpPr>
        <p:spPr>
          <a:xfrm>
            <a:off x="457200" y="2907792"/>
            <a:ext cx="1554480" cy="1508760"/>
          </a:xfrm>
          <a:prstGeom prst="rect">
            <a:avLst/>
          </a:prstGeom>
          <a:solidFill>
            <a:srgbClr val="2E75B6"/>
          </a:solidFill>
          <a:ln w="12700">
            <a:solidFill>
              <a:srgbClr val="2E75B6"/>
            </a:solidFill>
            <a:prstDash val="solid"/>
          </a:ln>
        </p:spPr>
      </p:sp>
      <p:sp>
        <p:nvSpPr>
          <p:cNvPr id="10" name="Text 8"/>
          <p:cNvSpPr txBox="1"/>
          <p:nvPr/>
        </p:nvSpPr>
        <p:spPr>
          <a:xfrm>
            <a:off x="457200" y="2907792"/>
            <a:ext cx="1554480" cy="150876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Propagación de ondas</a:t>
            </a:r>
            <a:endParaRPr lang="en-US" sz="1600" dirty="0"/>
          </a:p>
        </p:txBody>
      </p:sp>
      <p:sp>
        <p:nvSpPr>
          <p:cNvPr id="11" name="Celda penetración dentro"/>
          <p:cNvSpPr/>
          <p:nvPr/>
        </p:nvSpPr>
        <p:spPr>
          <a:xfrm>
            <a:off x="2048256" y="2002536"/>
            <a:ext cx="1737360" cy="868680"/>
          </a:xfrm>
          <a:prstGeom prst="rect">
            <a:avLst/>
          </a:prstGeom>
          <a:solidFill>
            <a:srgbClr val="FFFFFF"/>
          </a:solidFill>
          <a:ln w="12700">
            <a:solidFill>
              <a:srgbClr val="6B6B6B"/>
            </a:solidFill>
            <a:prstDash val="solid"/>
          </a:ln>
        </p:spPr>
      </p:sp>
      <p:sp>
        <p:nvSpPr>
          <p:cNvPr id="12" name="Text 10"/>
          <p:cNvSpPr txBox="1"/>
          <p:nvPr/>
        </p:nvSpPr>
        <p:spPr>
          <a:xfrm>
            <a:off x="2048256" y="2002536"/>
            <a:ext cx="1737360" cy="86868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SPT</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CPT / CPTu</a:t>
            </a:r>
            <a:endParaRPr lang="en-US" sz="1600" dirty="0"/>
          </a:p>
        </p:txBody>
      </p:sp>
      <p:sp>
        <p:nvSpPr>
          <p:cNvPr id="13" name="Celda penetración superficie"/>
          <p:cNvSpPr/>
          <p:nvPr/>
        </p:nvSpPr>
        <p:spPr>
          <a:xfrm>
            <a:off x="3822192" y="2002536"/>
            <a:ext cx="1737360" cy="868680"/>
          </a:xfrm>
          <a:prstGeom prst="rect">
            <a:avLst/>
          </a:prstGeom>
          <a:solidFill>
            <a:srgbClr val="FFFFFF"/>
          </a:solidFill>
          <a:ln w="12700">
            <a:solidFill>
              <a:srgbClr val="6B6B6B"/>
            </a:solidFill>
            <a:prstDash val="solid"/>
          </a:ln>
        </p:spPr>
      </p:sp>
      <p:sp>
        <p:nvSpPr>
          <p:cNvPr id="14" name="Text 12"/>
          <p:cNvSpPr txBox="1"/>
          <p:nvPr/>
        </p:nvSpPr>
        <p:spPr>
          <a:xfrm>
            <a:off x="3822192" y="2002536"/>
            <a:ext cx="1737360" cy="868680"/>
          </a:xfrm>
          <a:prstGeom prst="rect">
            <a:avLst/>
          </a:prstGeom>
          <a:noFill/>
          <a:ln/>
        </p:spPr>
        <p:txBody>
          <a:bodyPr wrap="square" lIns="38100" tIns="38100" rIns="38100" bIns="38100" rtlCol="0" anchor="ctr"/>
          <a:lstStyle/>
          <a:p>
            <a:pPr algn="ctr" indent="0" marL="0">
              <a:buNone/>
            </a:pPr>
            <a:r>
              <a:rPr lang="en-US" sz="1600" dirty="0">
                <a:solidFill>
                  <a:srgbClr val="6B6B6B"/>
                </a:solidFill>
                <a:latin typeface="Arial" pitchFamily="34" charset="0"/>
                <a:ea typeface="Arial" pitchFamily="34" charset="-122"/>
                <a:cs typeface="Arial" pitchFamily="34" charset="-120"/>
              </a:rPr>
              <a:t>—</a:t>
            </a:r>
            <a:endParaRPr lang="en-US" sz="1600" dirty="0"/>
          </a:p>
        </p:txBody>
      </p:sp>
      <p:sp>
        <p:nvSpPr>
          <p:cNvPr id="15" name="Celda ondas dentro"/>
          <p:cNvSpPr/>
          <p:nvPr/>
        </p:nvSpPr>
        <p:spPr>
          <a:xfrm>
            <a:off x="2048256" y="2907792"/>
            <a:ext cx="1737360" cy="1508760"/>
          </a:xfrm>
          <a:prstGeom prst="rect">
            <a:avLst/>
          </a:prstGeom>
          <a:solidFill>
            <a:srgbClr val="FFFFFF"/>
          </a:solidFill>
          <a:ln w="12700">
            <a:solidFill>
              <a:srgbClr val="6B6B6B"/>
            </a:solidFill>
            <a:prstDash val="solid"/>
          </a:ln>
        </p:spPr>
      </p:sp>
      <p:sp>
        <p:nvSpPr>
          <p:cNvPr id="16" name="Text 14"/>
          <p:cNvSpPr txBox="1"/>
          <p:nvPr/>
        </p:nvSpPr>
        <p:spPr>
          <a:xfrm>
            <a:off x="2048256"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Downhole</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Crosshole</a:t>
            </a:r>
            <a:endParaRPr lang="en-US" sz="1600" dirty="0"/>
          </a:p>
        </p:txBody>
      </p:sp>
      <p:sp>
        <p:nvSpPr>
          <p:cNvPr id="17" name="Celda ondas superficie"/>
          <p:cNvSpPr/>
          <p:nvPr/>
        </p:nvSpPr>
        <p:spPr>
          <a:xfrm>
            <a:off x="3822192" y="2907792"/>
            <a:ext cx="1737360" cy="1508760"/>
          </a:xfrm>
          <a:prstGeom prst="rect">
            <a:avLst/>
          </a:prstGeom>
          <a:solidFill>
            <a:srgbClr val="FFFFFF"/>
          </a:solidFill>
          <a:ln w="38100">
            <a:solidFill>
              <a:srgbClr val="C55A11"/>
            </a:solidFill>
            <a:prstDash val="solid"/>
          </a:ln>
        </p:spPr>
      </p:sp>
      <p:sp>
        <p:nvSpPr>
          <p:cNvPr id="18" name="Text 16"/>
          <p:cNvSpPr txBox="1"/>
          <p:nvPr/>
        </p:nvSpPr>
        <p:spPr>
          <a:xfrm>
            <a:off x="3822192"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Refracción</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Reflexión</a:t>
            </a:r>
            <a:endParaRPr lang="en-US" sz="1600" dirty="0"/>
          </a:p>
          <a:p>
            <a:pPr algn="ctr" indent="0" marL="0">
              <a:buNone/>
            </a:pPr>
            <a:r>
              <a:rPr lang="en-US" sz="1600" b="1" dirty="0">
                <a:solidFill>
                  <a:srgbClr val="C55A11"/>
                </a:solidFill>
                <a:latin typeface="Arial" pitchFamily="34" charset="0"/>
                <a:ea typeface="Arial" pitchFamily="34" charset="-122"/>
                <a:cs typeface="Arial" pitchFamily="34" charset="-120"/>
              </a:rPr>
              <a:t>Ondas superficiales</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Love, Rayleigh</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SASW / MASW</a:t>
            </a:r>
            <a:endParaRPr lang="en-US" sz="1600" dirty="0"/>
          </a:p>
        </p:txBody>
      </p:sp>
      <p:sp>
        <p:nvSpPr>
          <p:cNvPr id="19" name="Cuerpo"/>
          <p:cNvSpPr txBox="1"/>
          <p:nvPr/>
        </p:nvSpPr>
        <p:spPr>
          <a:xfrm>
            <a:off x="5897880" y="1280160"/>
            <a:ext cx="2788920" cy="310896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Resistencia: miden cuánto cuesta penetrar el terreno</a:t>
            </a:r>
            <a:endParaRPr lang="en-US" sz="1800" dirty="0"/>
          </a:p>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Ondas: usan propiedades de las ondas y cómo el terreno las modifica</a:t>
            </a:r>
            <a:endParaRPr lang="en-US" sz="18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Clasificación elaborada a partir de Foti et al. (2014), cap.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SPT: se cuentan los golpes necesarios para hincar una cuchara en el suelo</a:t>
            </a:r>
            <a:endParaRPr lang="en-US" sz="2400" dirty="0"/>
          </a:p>
        </p:txBody>
      </p:sp>
      <p:pic>
        <p:nvPicPr>
          <p:cNvPr id="3" name="Figura SPT" descr="Ensayo SPT: martillo, barras, cuchara partida y tres tramos de avance">    </p:cNvPr>
          <p:cNvPicPr>
            <a:picLocks noChangeAspect="1"/>
          </p:cNvPicPr>
          <p:nvPr/>
        </p:nvPicPr>
        <p:blipFill>
          <a:blip r:embed="rId1"/>
          <a:stretch>
            <a:fillRect/>
          </a:stretch>
        </p:blipFill>
        <p:spPr>
          <a:xfrm>
            <a:off x="457200" y="1234440"/>
            <a:ext cx="4389120" cy="3291840"/>
          </a:xfrm>
          <a:prstGeom prst="rect">
            <a:avLst/>
          </a:prstGeom>
        </p:spPr>
      </p:pic>
      <p:sp>
        <p:nvSpPr>
          <p:cNvPr id="4" name="Cuerpo"/>
          <p:cNvSpPr txBox="1"/>
          <p:nvPr/>
        </p:nvSpPr>
        <p:spPr>
          <a:xfrm>
            <a:off x="5120640" y="1371600"/>
            <a:ext cx="3566160" cy="292608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martillo normalizado golpea una cuchara partida</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N: golpes para penetrar 0,304 m (N2 + N3)</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Además recupera una muestra alterada</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Procedimiento según la norma ASTM D1586.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CPT/CPTu: un cono se hinca a velocidad constante y mide mientras avanza</a:t>
            </a:r>
            <a:endParaRPr lang="en-US" sz="2400" dirty="0"/>
          </a:p>
        </p:txBody>
      </p:sp>
      <p:pic>
        <p:nvPicPr>
          <p:cNvPr id="3" name="Figura CPTu" descr="Piezocono: punta, manguito de fricción y presión de poros; camión de ensayo y perfil registrado">    </p:cNvPr>
          <p:cNvPicPr>
            <a:picLocks noChangeAspect="1"/>
          </p:cNvPicPr>
          <p:nvPr/>
        </p:nvPicPr>
        <p:blipFill>
          <a:blip r:embed="rId1"/>
          <a:stretch>
            <a:fillRect/>
          </a:stretch>
        </p:blipFill>
        <p:spPr>
          <a:xfrm>
            <a:off x="457200" y="1097280"/>
            <a:ext cx="3337875" cy="3611880"/>
          </a:xfrm>
          <a:prstGeom prst="rect">
            <a:avLst/>
          </a:prstGeom>
        </p:spPr>
      </p:pic>
      <p:sp>
        <p:nvSpPr>
          <p:cNvPr id="4" name="Cuerpo"/>
          <p:cNvSpPr txBox="1"/>
          <p:nvPr/>
        </p:nvSpPr>
        <p:spPr>
          <a:xfrm>
            <a:off x="4114800" y="1280160"/>
            <a:ext cx="457200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Se hinca a unos 2 cm/s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Mide resistencia de punta (qc) y fricción lateral (fs)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El CPTu agrega la presión de poros (u₂)</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Entrega un perfil continuo con la profundidad</a:t>
            </a:r>
            <a:endParaRPr lang="en-US" sz="2000" dirty="0"/>
          </a:p>
        </p:txBody>
      </p:sp>
      <p:sp>
        <p:nvSpPr>
          <p:cNvPr id="5" name="Cita"/>
          <p:cNvSpPr txBox="1"/>
          <p:nvPr/>
        </p:nvSpPr>
        <p:spPr>
          <a:xfrm>
            <a:off x="4114800" y="4206240"/>
            <a:ext cx="4572000" cy="45720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Putt et al. (2022), Front. Environ. Sci. 9:821882, fig. 1 (CC BY),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resistencia medida directamente y con mucha experiencia acumulada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Equipo simple y muy difundido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Recupera una muestra para clasificar</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Amplia base de correlaciones</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continuo, rápido y repetible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requiere perforación previa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 presión de poros ayuda a distinguir el suelo</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puntuales, invasivos y sin medir la rigidez de forma directa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dato por profundidad, no un perfil continuo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Depende de la energía del martillo y del operador</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recupera muestra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atraviesa gravas ni suelos muy duros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Los dos entregan resistencia, no rigidez, y la rigidez se estima por correlaciones</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Al excitar un terreno sólido, este se deforma de forma transitoria y la perturbación se propaga</a:t>
            </a:r>
            <a:endParaRPr lang="en-US" sz="2400" dirty="0"/>
          </a:p>
        </p:txBody>
      </p:sp>
      <p:sp>
        <p:nvSpPr>
          <p:cNvPr id="3" name="Cuerpo"/>
          <p:cNvSpPr txBox="1"/>
          <p:nvPr/>
        </p:nvSpPr>
        <p:spPr>
          <a:xfrm>
            <a:off x="457200" y="1371600"/>
            <a:ext cx="3931920" cy="237744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golpe aplica energía en un punto</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El material se deforma de distintas maneras</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Cada tipo de deformación viaja como una onda</a:t>
            </a:r>
            <a:endParaRPr lang="en-US" sz="2000" dirty="0"/>
          </a:p>
        </p:txBody>
      </p:sp>
      <p:pic>
        <p:nvPicPr>
          <p:cNvPr id="4" name="Onda P" descr="Onda P">    </p:cNvPr>
          <p:cNvPicPr>
            <a:picLocks noChangeAspect="1"/>
          </p:cNvPicPr>
          <p:nvPr/>
        </p:nvPicPr>
        <p:blipFill>
          <a:blip r:embed="rId1"/>
          <a:stretch>
            <a:fillRect/>
          </a:stretch>
        </p:blipFill>
        <p:spPr>
          <a:xfrm>
            <a:off x="4663440" y="1280160"/>
            <a:ext cx="1920240" cy="960120"/>
          </a:xfrm>
          <a:prstGeom prst="rect">
            <a:avLst/>
          </a:prstGeom>
        </p:spPr>
      </p:pic>
      <p:pic>
        <p:nvPicPr>
          <p:cNvPr id="5" name="Onda S" descr="Onda S">    </p:cNvPr>
          <p:cNvPicPr>
            <a:picLocks noChangeAspect="1"/>
          </p:cNvPicPr>
          <p:nvPr/>
        </p:nvPicPr>
        <p:blipFill>
          <a:blip r:embed="rId2"/>
          <a:stretch>
            <a:fillRect/>
          </a:stretch>
        </p:blipFill>
        <p:spPr>
          <a:xfrm>
            <a:off x="6720840" y="1280160"/>
            <a:ext cx="1920240" cy="960120"/>
          </a:xfrm>
          <a:prstGeom prst="rect">
            <a:avLst/>
          </a:prstGeom>
        </p:spPr>
      </p:pic>
      <p:pic>
        <p:nvPicPr>
          <p:cNvPr id="6" name="Onda Love" descr="Onda Love">    </p:cNvPr>
          <p:cNvPicPr>
            <a:picLocks noChangeAspect="1"/>
          </p:cNvPicPr>
          <p:nvPr/>
        </p:nvPicPr>
        <p:blipFill>
          <a:blip r:embed="rId3"/>
          <a:stretch>
            <a:fillRect/>
          </a:stretch>
        </p:blipFill>
        <p:spPr>
          <a:xfrm>
            <a:off x="4663440" y="2377440"/>
            <a:ext cx="1920240" cy="960120"/>
          </a:xfrm>
          <a:prstGeom prst="rect">
            <a:avLst/>
          </a:prstGeom>
        </p:spPr>
      </p:pic>
      <p:pic>
        <p:nvPicPr>
          <p:cNvPr id="7" name="Onda Rayleigh" descr="Onda Rayleigh">    </p:cNvPr>
          <p:cNvPicPr>
            <a:picLocks noChangeAspect="1"/>
          </p:cNvPicPr>
          <p:nvPr/>
        </p:nvPicPr>
        <p:blipFill>
          <a:blip r:embed="rId4"/>
          <a:stretch>
            <a:fillRect/>
          </a:stretch>
        </p:blipFill>
        <p:spPr>
          <a:xfrm>
            <a:off x="6720840" y="2377440"/>
            <a:ext cx="1920240" cy="960120"/>
          </a:xfrm>
          <a:prstGeom prst="rect">
            <a:avLst/>
          </a:prstGeom>
        </p:spPr>
      </p:pic>
      <p:sp>
        <p:nvSpPr>
          <p:cNvPr id="8" name="Text 2"/>
          <p:cNvSpPr txBox="1"/>
          <p:nvPr/>
        </p:nvSpPr>
        <p:spPr>
          <a:xfrm>
            <a:off x="4663440" y="3520440"/>
            <a:ext cx="4023360" cy="73152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Dos ondas de cuerpo (P, S) y dos superficiales (Love, Rayleigh)</a:t>
            </a:r>
            <a:endParaRPr lang="en-US" sz="16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Para analizarlo, simplificamos: un medio homogéneo, isótropo y elástico lineal</a:t>
            </a:r>
            <a:endParaRPr lang="en-US" sz="2400" dirty="0"/>
          </a:p>
        </p:txBody>
      </p:sp>
      <p:sp>
        <p:nvSpPr>
          <p:cNvPr id="3" name="Cabecera Homogéneo"/>
          <p:cNvSpPr/>
          <p:nvPr/>
        </p:nvSpPr>
        <p:spPr>
          <a:xfrm>
            <a:off x="457200" y="1325880"/>
            <a:ext cx="256032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Homogéneo</a:t>
            </a:r>
            <a:endParaRPr lang="en-US" sz="2000" dirty="0"/>
          </a:p>
        </p:txBody>
      </p:sp>
      <p:sp>
        <p:nvSpPr>
          <p:cNvPr id="5" name="Tarjeta Homogéneo"/>
          <p:cNvSpPr/>
          <p:nvPr/>
        </p:nvSpPr>
        <p:spPr>
          <a:xfrm>
            <a:off x="457200" y="1874520"/>
            <a:ext cx="2560320" cy="1463040"/>
          </a:xfrm>
          <a:prstGeom prst="rect">
            <a:avLst/>
          </a:prstGeom>
          <a:solidFill>
            <a:srgbClr val="FFFFFF"/>
          </a:solidFill>
          <a:ln w="19050">
            <a:solidFill>
              <a:srgbClr val="1F4E79"/>
            </a:solidFill>
            <a:prstDash val="solid"/>
          </a:ln>
        </p:spPr>
      </p:sp>
      <p:sp>
        <p:nvSpPr>
          <p:cNvPr id="6" name="Text 4"/>
          <p:cNvSpPr txBox="1"/>
          <p:nvPr/>
        </p:nvSpPr>
        <p:spPr>
          <a:xfrm>
            <a:off x="59436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todos los puntos</a:t>
            </a:r>
            <a:endParaRPr lang="en-US" sz="1800" dirty="0"/>
          </a:p>
        </p:txBody>
      </p:sp>
      <p:sp>
        <p:nvSpPr>
          <p:cNvPr id="7" name="Cabecera Isótropo"/>
          <p:cNvSpPr/>
          <p:nvPr/>
        </p:nvSpPr>
        <p:spPr>
          <a:xfrm>
            <a:off x="3291840" y="1325880"/>
            <a:ext cx="2560320" cy="548640"/>
          </a:xfrm>
          <a:prstGeom prst="rect">
            <a:avLst/>
          </a:prstGeom>
          <a:solidFill>
            <a:srgbClr val="1F4E79"/>
          </a:solidFill>
          <a:ln w="12700">
            <a:solidFill>
              <a:srgbClr val="1F4E79"/>
            </a:solidFill>
            <a:prstDash val="solid"/>
          </a:ln>
        </p:spPr>
      </p:sp>
      <p:sp>
        <p:nvSpPr>
          <p:cNvPr id="8" name="Text 6"/>
          <p:cNvSpPr txBox="1"/>
          <p:nvPr/>
        </p:nvSpPr>
        <p:spPr>
          <a:xfrm>
            <a:off x="329184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Isótropo</a:t>
            </a:r>
            <a:endParaRPr lang="en-US" sz="2000" dirty="0"/>
          </a:p>
        </p:txBody>
      </p:sp>
      <p:sp>
        <p:nvSpPr>
          <p:cNvPr id="9" name="Tarjeta Isótropo"/>
          <p:cNvSpPr/>
          <p:nvPr/>
        </p:nvSpPr>
        <p:spPr>
          <a:xfrm>
            <a:off x="3291840" y="1874520"/>
            <a:ext cx="2560320" cy="1463040"/>
          </a:xfrm>
          <a:prstGeom prst="rect">
            <a:avLst/>
          </a:prstGeom>
          <a:solidFill>
            <a:srgbClr val="FFFFFF"/>
          </a:solidFill>
          <a:ln w="19050">
            <a:solidFill>
              <a:srgbClr val="1F4E79"/>
            </a:solidFill>
            <a:prstDash val="solid"/>
          </a:ln>
        </p:spPr>
      </p:sp>
      <p:sp>
        <p:nvSpPr>
          <p:cNvPr id="10" name="Text 8"/>
          <p:cNvSpPr txBox="1"/>
          <p:nvPr/>
        </p:nvSpPr>
        <p:spPr>
          <a:xfrm>
            <a:off x="342900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todas las direcciones</a:t>
            </a:r>
            <a:endParaRPr lang="en-US" sz="1800" dirty="0"/>
          </a:p>
        </p:txBody>
      </p:sp>
      <p:sp>
        <p:nvSpPr>
          <p:cNvPr id="11" name="Cabecera Elástico lineal"/>
          <p:cNvSpPr/>
          <p:nvPr/>
        </p:nvSpPr>
        <p:spPr>
          <a:xfrm>
            <a:off x="6126480" y="1325880"/>
            <a:ext cx="2560320" cy="548640"/>
          </a:xfrm>
          <a:prstGeom prst="rect">
            <a:avLst/>
          </a:prstGeom>
          <a:solidFill>
            <a:srgbClr val="1F4E79"/>
          </a:solidFill>
          <a:ln w="12700">
            <a:solidFill>
              <a:srgbClr val="1F4E79"/>
            </a:solidFill>
            <a:prstDash val="solid"/>
          </a:ln>
        </p:spPr>
      </p:sp>
      <p:sp>
        <p:nvSpPr>
          <p:cNvPr id="12" name="Text 10"/>
          <p:cNvSpPr txBox="1"/>
          <p:nvPr/>
        </p:nvSpPr>
        <p:spPr>
          <a:xfrm>
            <a:off x="612648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Elástico lineal</a:t>
            </a:r>
            <a:endParaRPr lang="en-US" sz="2000" dirty="0"/>
          </a:p>
        </p:txBody>
      </p:sp>
      <p:sp>
        <p:nvSpPr>
          <p:cNvPr id="13" name="Tarjeta Elástico lineal"/>
          <p:cNvSpPr/>
          <p:nvPr/>
        </p:nvSpPr>
        <p:spPr>
          <a:xfrm>
            <a:off x="6126480" y="1874520"/>
            <a:ext cx="2560320" cy="1463040"/>
          </a:xfrm>
          <a:prstGeom prst="rect">
            <a:avLst/>
          </a:prstGeom>
          <a:solidFill>
            <a:srgbClr val="FFFFFF"/>
          </a:solidFill>
          <a:ln w="19050">
            <a:solidFill>
              <a:srgbClr val="1F4E79"/>
            </a:solidFill>
            <a:prstDash val="solid"/>
          </a:ln>
        </p:spPr>
      </p:sp>
      <p:sp>
        <p:nvSpPr>
          <p:cNvPr id="14" name="Text 12"/>
          <p:cNvSpPr txBox="1"/>
          <p:nvPr/>
        </p:nvSpPr>
        <p:spPr>
          <a:xfrm>
            <a:off x="626364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La deformación es proporcional a la fuerza y desaparece al cesar</a:t>
            </a:r>
            <a:endParaRPr lang="en-US" sz="1800" dirty="0"/>
          </a:p>
        </p:txBody>
      </p:sp>
      <p:sp>
        <p:nvSpPr>
          <p:cNvPr id="15" name="Text 13"/>
          <p:cNvSpPr txBox="1"/>
          <p:nvPr/>
        </p:nvSpPr>
        <p:spPr>
          <a:xfrm>
            <a:off x="457200" y="3657600"/>
            <a:ext cx="8229600" cy="64008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Es una simplificación extrema: el suelo real no cumple ninguna de las tres</a:t>
            </a:r>
            <a:endParaRPr lang="en-US" sz="20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ese medio, la ecuación de movimiento admite solo dos tipos de onda: P y S</a:t>
            </a:r>
            <a:endParaRPr lang="en-US" sz="2400" dirty="0"/>
          </a:p>
        </p:txBody>
      </p:sp>
      <p:sp>
        <p:nvSpPr>
          <p:cNvPr id="3" name="Fondo E_navier"/>
          <p:cNvSpPr/>
          <p:nvPr/>
        </p:nvSpPr>
        <p:spPr>
          <a:xfrm>
            <a:off x="457200" y="1188720"/>
            <a:ext cx="4389120" cy="731520"/>
          </a:xfrm>
          <a:prstGeom prst="rect">
            <a:avLst/>
          </a:prstGeom>
          <a:solidFill>
            <a:srgbClr val="EAF1F8"/>
          </a:solidFill>
          <a:ln w="12700">
            <a:solidFill>
              <a:srgbClr val="EAF1F8"/>
            </a:solidFill>
            <a:prstDash val="solid"/>
          </a:ln>
        </p:spPr>
      </p:sp>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ρ ∂²u/∂t² = (λ+μ)∇(∇·u) + μ∇²u</a:t>
            </a:r>
            <a:endParaRPr lang="en-US" sz="2400" dirty="0"/>
          </a:p>
        </p:txBody>
      </p:sp>
      <p:sp>
        <p:nvSpPr>
          <p:cNvPr id="5" name="Text 3"/>
          <p:cNvSpPr txBox="1"/>
          <p:nvPr/>
        </p:nvSpPr>
        <p:spPr>
          <a:xfrm>
            <a:off x="5074920" y="1188720"/>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Ecuación de movimiento. u: desplazamiento; ρ: densidad; λ, μ: constantes de Lamé</a:t>
            </a:r>
            <a:endParaRPr lang="en-US" sz="1600" dirty="0"/>
          </a:p>
        </p:txBody>
      </p:sp>
      <p:sp>
        <p:nvSpPr>
          <p:cNvPr id="6" name="Fondo E_helm"/>
          <p:cNvSpPr/>
          <p:nvPr/>
        </p:nvSpPr>
        <p:spPr>
          <a:xfrm>
            <a:off x="457200" y="1993392"/>
            <a:ext cx="4389120" cy="731520"/>
          </a:xfrm>
          <a:prstGeom prst="rect">
            <a:avLst/>
          </a:prstGeom>
          <a:solidFill>
            <a:srgbClr val="EAF1F8"/>
          </a:solidFill>
          <a:ln w="12700">
            <a:solidFill>
              <a:srgbClr val="EAF1F8"/>
            </a:solidFill>
            <a:prstDash val="solid"/>
          </a:ln>
        </p:spPr>
      </p:sp>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∇φ + ∇×ψ</a:t>
            </a:r>
            <a:endParaRPr lang="en-US" sz="2400" dirty="0"/>
          </a:p>
        </p:txBody>
      </p:sp>
      <p:sp>
        <p:nvSpPr>
          <p:cNvPr id="8" name="Text 6"/>
          <p:cNvSpPr txBox="1"/>
          <p:nvPr/>
        </p:nvSpPr>
        <p:spPr>
          <a:xfrm>
            <a:off x="5074920" y="1993392"/>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Descomposición con un potencial escalar φ y uno vectorial ψ</a:t>
            </a:r>
            <a:endParaRPr lang="en-US" sz="1600" dirty="0"/>
          </a:p>
        </p:txBody>
      </p:sp>
      <p:sp>
        <p:nvSpPr>
          <p:cNvPr id="9" name="Fondo E_phi"/>
          <p:cNvSpPr/>
          <p:nvPr/>
        </p:nvSpPr>
        <p:spPr>
          <a:xfrm>
            <a:off x="457200" y="2798064"/>
            <a:ext cx="4389120" cy="731520"/>
          </a:xfrm>
          <a:prstGeom prst="rect">
            <a:avLst/>
          </a:prstGeom>
          <a:solidFill>
            <a:srgbClr val="EAF1F8"/>
          </a:solidFill>
          <a:ln w="12700">
            <a:solidFill>
              <a:srgbClr val="EAF1F8"/>
            </a:solidFill>
            <a:prstDash val="solid"/>
          </a:ln>
        </p:spPr>
      </p:sp>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∂²φ/∂t² = Vp² ∇²φ</a:t>
            </a:r>
            <a:endParaRPr lang="en-US" sz="2400" dirty="0"/>
          </a:p>
        </p:txBody>
      </p:sp>
      <p:sp>
        <p:nvSpPr>
          <p:cNvPr id="11" name="Text 9"/>
          <p:cNvSpPr txBox="1"/>
          <p:nvPr/>
        </p:nvSpPr>
        <p:spPr>
          <a:xfrm>
            <a:off x="5074920" y="2798064"/>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φ: compresión, viaja a Vp (onda P)</a:t>
            </a:r>
            <a:endParaRPr lang="en-US" sz="1600" dirty="0"/>
          </a:p>
        </p:txBody>
      </p:sp>
      <p:sp>
        <p:nvSpPr>
          <p:cNvPr id="12" name="Fondo E_psi"/>
          <p:cNvSpPr/>
          <p:nvPr/>
        </p:nvSpPr>
        <p:spPr>
          <a:xfrm>
            <a:off x="457200" y="3602736"/>
            <a:ext cx="4389120" cy="731520"/>
          </a:xfrm>
          <a:prstGeom prst="rect">
            <a:avLst/>
          </a:prstGeom>
          <a:solidFill>
            <a:srgbClr val="EAF1F8"/>
          </a:solidFill>
          <a:ln w="12700">
            <a:solidFill>
              <a:srgbClr val="EAF1F8"/>
            </a:solidFill>
            <a:prstDash val="solid"/>
          </a:ln>
        </p:spPr>
      </p:sp>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∂²ψ/∂t² = Vs² ∇²ψ</a:t>
            </a:r>
            <a:endParaRPr lang="en-US" sz="2400" dirty="0"/>
          </a:p>
        </p:txBody>
      </p:sp>
      <p:sp>
        <p:nvSpPr>
          <p:cNvPr id="14" name="Text 12"/>
          <p:cNvSpPr txBox="1"/>
          <p:nvPr/>
        </p:nvSpPr>
        <p:spPr>
          <a:xfrm>
            <a:off x="5074920" y="3602736"/>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ψ: corte, viaja a Vs (onda S)</a:t>
            </a:r>
            <a:endParaRPr lang="en-US" sz="1600" dirty="0"/>
          </a:p>
        </p:txBody>
      </p:sp>
      <p:sp>
        <p:nvSpPr>
          <p:cNvPr id="1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Descomposición de Helmholtz de la ecuación de Navier.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P: el terreno se comprime y se dilata en la dirección en que avanza</a:t>
            </a:r>
            <a:endParaRPr lang="en-US" sz="2400" dirty="0"/>
          </a:p>
        </p:txBody>
      </p:sp>
      <p:pic>
        <p:nvPicPr>
          <p:cNvPr id="3" name="Onda P" descr="Onda P: compresión y dilatación,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en la dirección de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Viaja en sólidos y en fluidos</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S: el terreno se corta en la dirección perpendicular al avance</a:t>
            </a:r>
            <a:endParaRPr lang="en-US" sz="2400" dirty="0"/>
          </a:p>
        </p:txBody>
      </p:sp>
      <p:pic>
        <p:nvPicPr>
          <p:cNvPr id="3" name="Onda S" descr="Onda S: oscilación perpendicular a la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perpendicular a la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No viaja por fluidos: necesita rigidez al corte</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velocidades de propagación se deducen de esas mismas ecuaciones</a:t>
            </a:r>
            <a:endParaRPr lang="en-US" sz="2400" dirty="0"/>
          </a:p>
        </p:txBody>
      </p:sp>
      <p:sp>
        <p:nvSpPr>
          <p:cNvPr id="3" name="Fondo Vp"/>
          <p:cNvSpPr/>
          <p:nvPr/>
        </p:nvSpPr>
        <p:spPr>
          <a:xfrm>
            <a:off x="457200" y="1325880"/>
            <a:ext cx="4389120" cy="914400"/>
          </a:xfrm>
          <a:prstGeom prst="rect">
            <a:avLst/>
          </a:prstGeom>
          <a:solidFill>
            <a:srgbClr val="EAF1F8"/>
          </a:solidFill>
          <a:ln w="12700">
            <a:solidFill>
              <a:srgbClr val="EAF1F8"/>
            </a:solidFill>
            <a:prstDash val="solid"/>
          </a:ln>
        </p:spPr>
      </p:sp>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Vp = √((λ + 2μ) / ρ)</a:t>
            </a:r>
            <a:endParaRPr lang="en-US" sz="2400" dirty="0"/>
          </a:p>
        </p:txBody>
      </p:sp>
      <p:sp>
        <p:nvSpPr>
          <p:cNvPr id="5" name="Fondo Vs"/>
          <p:cNvSpPr/>
          <p:nvPr/>
        </p:nvSpPr>
        <p:spPr>
          <a:xfrm>
            <a:off x="457200" y="2377440"/>
            <a:ext cx="4389120" cy="914400"/>
          </a:xfrm>
          <a:prstGeom prst="rect">
            <a:avLst/>
          </a:prstGeom>
          <a:solidFill>
            <a:srgbClr val="EAF1F8"/>
          </a:solidFill>
          <a:ln w="12700">
            <a:solidFill>
              <a:srgbClr val="EAF1F8"/>
            </a:solidFill>
            <a:prstDash val="solid"/>
          </a:ln>
        </p:spPr>
      </p:sp>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p:sp>
        <p:nvSpPr>
          <p:cNvPr id="7" name="Cuerpo"/>
          <p:cNvSpPr txBox="1"/>
          <p:nvPr/>
        </p:nvSpPr>
        <p:spPr>
          <a:xfrm>
            <a:off x="5120640" y="1325880"/>
            <a:ext cx="3566160" cy="25603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μ: módulo de corte (también G), la rigidez al corte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λ: constante de Lamé</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ρ: densidad del medio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En el mismo medio, Vp &gt; Vs</a:t>
            </a:r>
            <a:endParaRPr lang="en-US" sz="1800" dirty="0"/>
          </a:p>
        </p:txBody>
      </p:sp>
      <p:sp>
        <p:nvSpPr>
          <p:cNvPr id="8" name="Text 6"/>
          <p:cNvSpPr txBox="1"/>
          <p:nvPr/>
        </p:nvSpPr>
        <p:spPr>
          <a:xfrm>
            <a:off x="457200" y="3611880"/>
            <a:ext cx="8229600" cy="73152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Medir velocidades de onda da acceso a parámetros elásticos del terreno</a:t>
            </a:r>
            <a:endParaRPr lang="en-US" sz="20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suelos, la relación esfuerzo-deformación solo es lineal para deformaciones pequeñas</a:t>
            </a:r>
            <a:endParaRPr lang="en-US" sz="2400" dirty="0"/>
          </a:p>
        </p:txBody>
      </p:sp>
      <p:pic>
        <p:nvPicPr>
          <p:cNvPr id="3" name="Corte simple" descr="Corte simple: esfuerzo τ y deformación γ = Δ/h">    </p:cNvPr>
          <p:cNvPicPr>
            <a:picLocks noChangeAspect="1"/>
          </p:cNvPicPr>
          <p:nvPr/>
        </p:nvPicPr>
        <p:blipFill>
          <a:blip r:embed="rId1"/>
          <a:stretch>
            <a:fillRect/>
          </a:stretch>
        </p:blipFill>
        <p:spPr>
          <a:xfrm>
            <a:off x="457200" y="1280160"/>
            <a:ext cx="4023360" cy="3017520"/>
          </a:xfrm>
          <a:prstGeom prst="rect">
            <a:avLst/>
          </a:prstGeom>
        </p:spPr>
      </p:pic>
      <p:sp>
        <p:nvSpPr>
          <p:cNvPr id="4" name="Fondo τ = Gγ"/>
          <p:cNvSpPr/>
          <p:nvPr/>
        </p:nvSpPr>
        <p:spPr>
          <a:xfrm>
            <a:off x="4754880" y="1325880"/>
            <a:ext cx="3931920" cy="822960"/>
          </a:xfrm>
          <a:prstGeom prst="rect">
            <a:avLst/>
          </a:prstGeom>
          <a:solidFill>
            <a:srgbClr val="EAF1F8"/>
          </a:solidFill>
          <a:ln w="12700">
            <a:solidFill>
              <a:srgbClr val="EAF1F8"/>
            </a:solidFill>
            <a:prstDash val="solid"/>
          </a:ln>
        </p:spPr>
      </p:sp>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τ = G · γ</a:t>
            </a:r>
            <a:endParaRPr lang="en-US" sz="2400" dirty="0"/>
          </a:p>
        </p:txBody>
      </p:sp>
      <p:sp>
        <p:nvSpPr>
          <p:cNvPr id="6" name="Cuerpo"/>
          <p:cNvSpPr txBox="1"/>
          <p:nvPr/>
        </p:nvSpPr>
        <p:spPr>
          <a:xfrm>
            <a:off x="4754880" y="2331720"/>
            <a:ext cx="3931920" cy="21945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Esfuerzo y deformación de corte son proporcionales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Con γ del orden de 10⁻⁵ o menos, G es casi constante: Gmax</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Las ondas de prospección producen deformaciones así de pequeñas</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Umbral aproximado; depende del tipo de suelo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pequeña señal, la velocidad de corte da directamente la rigidez máxima</a:t>
            </a:r>
            <a:endParaRPr lang="en-US" sz="2400" dirty="0"/>
          </a:p>
        </p:txBody>
      </p:sp>
      <p:sp>
        <p:nvSpPr>
          <p:cNvPr id="3" name="Ecuación 1"/>
          <p:cNvSpPr/>
          <p:nvPr/>
        </p:nvSpPr>
        <p:spPr>
          <a:xfrm>
            <a:off x="457200" y="1280160"/>
            <a:ext cx="4389120" cy="777240"/>
          </a:xfrm>
          <a:prstGeom prst="rect">
            <a:avLst/>
          </a:prstGeom>
          <a:solidFill>
            <a:srgbClr val="EAF1F8"/>
          </a:solidFill>
          <a:ln w="12700">
            <a:solidFill>
              <a:srgbClr val="EAF1F8"/>
            </a:solidFill>
            <a:prstDash val="solid"/>
          </a:ln>
        </p:spPr>
      </p:sp>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p:sp>
        <p:nvSpPr>
          <p:cNvPr id="5" name="Text 3"/>
          <p:cNvSpPr txBox="1"/>
          <p:nvPr/>
        </p:nvSpPr>
        <p:spPr>
          <a:xfrm>
            <a:off x="5120640" y="128016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Medio elástico lineal, homogéneo e isótropo</a:t>
            </a:r>
            <a:endParaRPr lang="en-US" sz="1800" dirty="0"/>
          </a:p>
        </p:txBody>
      </p:sp>
      <p:sp>
        <p:nvSpPr>
          <p:cNvPr id="6" name="Shape 4"/>
          <p:cNvSpPr/>
          <p:nvPr/>
        </p:nvSpPr>
        <p:spPr>
          <a:xfrm>
            <a:off x="2651760" y="2075688"/>
            <a:ext cx="0" cy="237744"/>
          </a:xfrm>
          <a:prstGeom prst="line">
            <a:avLst/>
          </a:prstGeom>
          <a:noFill/>
          <a:ln w="25400">
            <a:solidFill>
              <a:srgbClr val="1F4E79"/>
            </a:solidFill>
            <a:prstDash val="solid"/>
            <a:tailEnd type="triangle"/>
          </a:ln>
        </p:spPr>
      </p:sp>
      <p:sp>
        <p:nvSpPr>
          <p:cNvPr id="7" name="Ecuación 2"/>
          <p:cNvSpPr/>
          <p:nvPr/>
        </p:nvSpPr>
        <p:spPr>
          <a:xfrm>
            <a:off x="457200" y="2331720"/>
            <a:ext cx="4389120" cy="777240"/>
          </a:xfrm>
          <a:prstGeom prst="rect">
            <a:avLst/>
          </a:prstGeom>
          <a:solidFill>
            <a:srgbClr val="EAF1F8"/>
          </a:solidFill>
          <a:ln w="12700">
            <a:solidFill>
              <a:srgbClr val="EAF1F8"/>
            </a:solidFill>
            <a:prstDash val="solid"/>
          </a:ln>
        </p:spPr>
      </p:sp>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μ = Gmax</a:t>
            </a:r>
            <a:endParaRPr lang="en-US" sz="2400" dirty="0"/>
          </a:p>
        </p:txBody>
      </p:sp>
      <p:sp>
        <p:nvSpPr>
          <p:cNvPr id="9" name="Text 7"/>
          <p:cNvSpPr txBox="1"/>
          <p:nvPr/>
        </p:nvSpPr>
        <p:spPr>
          <a:xfrm>
            <a:off x="5120640" y="233172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Solo en pequeña señal: el módulo de corte es Gmax</a:t>
            </a:r>
            <a:endParaRPr lang="en-US" sz="1800" dirty="0"/>
          </a:p>
        </p:txBody>
      </p:sp>
      <p:sp>
        <p:nvSpPr>
          <p:cNvPr id="10" name="Shape 8"/>
          <p:cNvSpPr/>
          <p:nvPr/>
        </p:nvSpPr>
        <p:spPr>
          <a:xfrm>
            <a:off x="2651760" y="3127248"/>
            <a:ext cx="0" cy="237744"/>
          </a:xfrm>
          <a:prstGeom prst="line">
            <a:avLst/>
          </a:prstGeom>
          <a:noFill/>
          <a:ln w="25400">
            <a:solidFill>
              <a:srgbClr val="1F4E79"/>
            </a:solidFill>
            <a:prstDash val="solid"/>
            <a:tailEnd type="triangle"/>
          </a:ln>
        </p:spPr>
      </p:sp>
      <p:sp>
        <p:nvSpPr>
          <p:cNvPr id="11" name="Ecuación 3"/>
          <p:cNvSpPr/>
          <p:nvPr/>
        </p:nvSpPr>
        <p:spPr>
          <a:xfrm>
            <a:off x="457200" y="3383280"/>
            <a:ext cx="4389120" cy="777240"/>
          </a:xfrm>
          <a:prstGeom prst="rect">
            <a:avLst/>
          </a:prstGeom>
          <a:solidFill>
            <a:srgbClr val="1F4E79"/>
          </a:solidFill>
          <a:ln w="12700">
            <a:solidFill>
              <a:srgbClr val="1F4E79"/>
            </a:solidFill>
            <a:prstDash val="solid"/>
          </a:ln>
        </p:spPr>
      </p:sp>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r>
              <a:rPr lang="en-US" sz="2400" dirty="0">
                <a:solidFill>
                  <a:srgbClr val="FFFFFF"/>
                </a:solidFill>
                <a:latin typeface="Arial" pitchFamily="34" charset="0"/>
                <a:ea typeface="Arial" pitchFamily="34" charset="-122"/>
                <a:cs typeface="Arial" pitchFamily="34" charset="-120"/>
              </a:rPr>
              <a:t>Gmax = ρ · Vs²</a:t>
            </a:r>
            <a:endParaRPr lang="en-US" sz="2400" dirty="0"/>
          </a:p>
        </p:txBody>
      </p:sp>
      <p:sp>
        <p:nvSpPr>
          <p:cNvPr id="13" name="Text 11"/>
          <p:cNvSpPr txBox="1"/>
          <p:nvPr/>
        </p:nvSpPr>
        <p:spPr>
          <a:xfrm>
            <a:off x="5120640" y="338328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Relación buscada. Válida solo en pequeña señal</a:t>
            </a:r>
            <a:endParaRPr lang="en-US" sz="1800" dirty="0"/>
          </a:p>
        </p:txBody>
      </p:sp>
      <p:sp>
        <p:nvSpPr>
          <p:cNvPr id="1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Si conocemos Vs, podemos estimar Gmax con una incertidumbre razonable</a:t>
            </a:r>
            <a:endParaRPr lang="en-US" sz="2400" dirty="0"/>
          </a:p>
        </p:txBody>
      </p:sp>
      <p:sp>
        <p:nvSpPr>
          <p:cNvPr id="3" name="Fondo error"/>
          <p:cNvSpPr/>
          <p:nvPr/>
        </p:nvSpPr>
        <p:spPr>
          <a:xfrm>
            <a:off x="457200" y="1325880"/>
            <a:ext cx="4389120" cy="1097280"/>
          </a:xfrm>
          <a:prstGeom prst="rect">
            <a:avLst/>
          </a:prstGeom>
          <a:solidFill>
            <a:srgbClr val="EAF1F8"/>
          </a:solidFill>
          <a:ln w="12700">
            <a:solidFill>
              <a:srgbClr val="EAF1F8"/>
            </a:solidFill>
            <a:prstDash val="solid"/>
          </a:ln>
        </p:spPr>
      </p:sp>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ΔG/G ≈ Δρ/ρ + 2·ΔVs/Vs</a:t>
            </a:r>
            <a:endParaRPr lang="en-US" sz="2400" dirty="0"/>
          </a:p>
        </p:txBody>
      </p:sp>
      <p:sp>
        <p:nvSpPr>
          <p:cNvPr id="5" name="Cuerpo"/>
          <p:cNvSpPr txBox="1"/>
          <p:nvPr/>
        </p:nvSpPr>
        <p:spPr>
          <a:xfrm>
            <a:off x="5120640" y="1325880"/>
            <a:ext cx="3566160" cy="27432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ρ varía poco entre suelos y se estima con muestras o correlaciones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Vs varía mucho y se mide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 error en Vs pesa el doble que uno en ρ</a:t>
            </a:r>
            <a:endParaRPr lang="en-US" sz="1800" dirty="0"/>
          </a:p>
        </p:txBody>
      </p:sp>
      <p:sp>
        <p:nvSpPr>
          <p:cNvPr id="6" name="Text 4"/>
          <p:cNvSpPr txBox="1"/>
          <p:nvPr/>
        </p:nvSpPr>
        <p:spPr>
          <a:xfrm>
            <a:off x="457200" y="2743200"/>
            <a:ext cx="4389120" cy="10972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Vale para pequeñas deformaciones: no describe al suelo cerca de la falla</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Propagación de errores lineal, cota superior.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Downhole: la fuente está en superficie y los geófonos dentro del pozo</a:t>
            </a:r>
            <a:endParaRPr lang="en-US" sz="2400" dirty="0"/>
          </a:p>
        </p:txBody>
      </p:sp>
      <p:pic>
        <p:nvPicPr>
          <p:cNvPr id="3" name="Figura downhole" descr="Ensayo downhole: fuente sísmica en superficie, geófonos dentro del pozo, tres capas">    </p:cNvPr>
          <p:cNvPicPr>
            <a:picLocks noChangeAspect="1"/>
          </p:cNvPicPr>
          <p:nvPr/>
        </p:nvPicPr>
        <p:blipFill>
          <a:blip r:embed="rId1"/>
          <a:stretch>
            <a:fillRect/>
          </a:stretch>
        </p:blipFill>
        <p:spPr>
          <a:xfrm>
            <a:off x="457200" y="1188720"/>
            <a:ext cx="4026263" cy="3291840"/>
          </a:xfrm>
          <a:prstGeom prst="rect">
            <a:avLst/>
          </a:prstGeom>
        </p:spPr>
      </p:pic>
      <p:sp>
        <p:nvSpPr>
          <p:cNvPr id="4" name="Cuerpo"/>
          <p:cNvSpPr txBox="1"/>
          <p:nvPr/>
        </p:nvSpPr>
        <p:spPr>
          <a:xfrm>
            <a:off x="4754880" y="1371600"/>
            <a:ext cx="3931920" cy="29260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 solo pozo con geófonos a distintas profundidades</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Una fuente golpea en superficie</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Vs de cada tramo: distancia entre geófonos sobre diferencia de tiempos</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Crosshole: fuente y receptor a la misma profundidad, en pozos distintos</a:t>
            </a:r>
            <a:endParaRPr lang="en-US" sz="2400" dirty="0"/>
          </a:p>
        </p:txBody>
      </p:sp>
      <p:pic>
        <p:nvPicPr>
          <p:cNvPr id="3" name="Figura crosshole" descr="Ensayo crosshole: fuente en un pozo, receptor en otro, distancia Δx">    </p:cNvPr>
          <p:cNvPicPr>
            <a:picLocks noChangeAspect="1"/>
          </p:cNvPicPr>
          <p:nvPr/>
        </p:nvPicPr>
        <p:blipFill>
          <a:blip r:embed="rId1"/>
          <a:stretch>
            <a:fillRect/>
          </a:stretch>
        </p:blipFill>
        <p:spPr>
          <a:xfrm>
            <a:off x="457200" y="1234440"/>
            <a:ext cx="4937760" cy="3040493"/>
          </a:xfrm>
          <a:prstGeom prst="rect">
            <a:avLst/>
          </a:prstGeom>
        </p:spPr>
      </p:pic>
      <p:sp>
        <p:nvSpPr>
          <p:cNvPr id="4" name="Cuerpo"/>
          <p:cNvSpPr txBox="1"/>
          <p:nvPr/>
        </p:nvSpPr>
        <p:spPr>
          <a:xfrm>
            <a:off x="5669280" y="1371600"/>
            <a:ext cx="3017520" cy="292608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Dos pozos o más, a distancia Δx conocida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onda S viaja en horizontal por una sola capa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Vs = Δx / Δt</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Adaptada de 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miden Vs de forma directa, con trayectos conocidos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solo pozo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de Vs con la profundidad</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Vs de capas individuales a profundidad conocida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Mejor resolución vertical</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exigen perforar y siguen siendo ensayos puntuales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Menor resolución vertical</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Requiere perforar y entubar</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Dos o más pozos alineados y verticales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Costo y tiempo altos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Dan Vs de forma directa, pero un punto del sitio por ensayo</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a cierta distancia, la onda refractada llega antes que la directa</a:t>
            </a:r>
            <a:endParaRPr lang="en-US" sz="2400" dirty="0"/>
          </a:p>
        </p:txBody>
      </p:sp>
      <p:pic>
        <p:nvPicPr>
          <p:cNvPr id="3" name="Figura refracción" descr="Refracción sísmica: rayo directo y rayo refractado entre capa lenta y capa rápida">    </p:cNvPr>
          <p:cNvPicPr>
            <a:picLocks noChangeAspect="1"/>
          </p:cNvPicPr>
          <p:nvPr/>
        </p:nvPicPr>
        <p:blipFill>
          <a:blip r:embed="rId1"/>
          <a:stretch>
            <a:fillRect/>
          </a:stretch>
        </p:blipFill>
        <p:spPr>
          <a:xfrm>
            <a:off x="457200" y="1234440"/>
            <a:ext cx="4937760" cy="2648018"/>
          </a:xfrm>
          <a:prstGeom prst="rect">
            <a:avLst/>
          </a:prstGeom>
        </p:spPr>
      </p:pic>
      <p:sp>
        <p:nvSpPr>
          <p:cNvPr id="4" name="Cuerpo"/>
          <p:cNvSpPr txBox="1"/>
          <p:nvPr/>
        </p:nvSpPr>
        <p:spPr>
          <a:xfrm>
            <a:off x="5669280" y="1280160"/>
            <a:ext cx="301752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Incide en la interfaz con el ángulo crítico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Viaja por la capa rápida (onda de cabeza)</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Sale hacia los geófonos y llega antes que la directa, desde xc</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el principio de refracción (ley de Snell).</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del gráfico de tiempos salen las velocidades y el espesor de la capa</a:t>
            </a:r>
            <a:endParaRPr lang="en-US" sz="2400" dirty="0"/>
          </a:p>
        </p:txBody>
      </p:sp>
      <p:pic>
        <p:nvPicPr>
          <p:cNvPr id="3" name="Gráfico tiempo-distancia" descr="Gráfico tiempo-distancia: recta directa y recta refractada con intercepto ti">    </p:cNvPr>
          <p:cNvPicPr>
            <a:picLocks noChangeAspect="1"/>
          </p:cNvPicPr>
          <p:nvPr/>
        </p:nvPicPr>
        <p:blipFill>
          <a:blip r:embed="rId1"/>
          <a:stretch>
            <a:fillRect/>
          </a:stretch>
        </p:blipFill>
        <p:spPr>
          <a:xfrm>
            <a:off x="457200" y="1280160"/>
            <a:ext cx="4023360" cy="3017520"/>
          </a:xfrm>
          <a:prstGeom prst="rect">
            <a:avLst/>
          </a:prstGeom>
        </p:spPr>
      </p:pic>
      <p:sp>
        <p:nvSpPr>
          <p:cNvPr id="4" name="Cuerpo"/>
          <p:cNvSpPr txBox="1"/>
          <p:nvPr/>
        </p:nvSpPr>
        <p:spPr>
          <a:xfrm>
            <a:off x="4754880" y="1371600"/>
            <a:ext cx="3931920" cy="29260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La pendiente de cada recta da 1/V</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El intercepto tᵢ da el espesor de la capa superior</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Resultado: velocidades y espesores por capa</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simple y rápida, pero exige que la velocidad crezca con la profundidad</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Equipo y procesamiento simples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Rápida de ejecutar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Da velocidades y espesores de capa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velocidad debe aumentar con la profundidad</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Una capa blanda bajo otra rápida queda oculta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Capas delgadas pueden no verse</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se registra el tiempo de ida y vuelta de la energía reflejada</a:t>
            </a:r>
            <a:endParaRPr lang="en-US" sz="2400" dirty="0"/>
          </a:p>
        </p:txBody>
      </p:sp>
      <p:pic>
        <p:nvPicPr>
          <p:cNvPr id="3" name="Figura reflexión" descr="Reflexión sísmica: rayos desde la fuente hasta cada interfaz y de vuelta al geófono, con la traza registrada">    </p:cNvPr>
          <p:cNvPicPr>
            <a:picLocks noChangeAspect="1"/>
          </p:cNvPicPr>
          <p:nvPr/>
        </p:nvPicPr>
        <p:blipFill>
          <a:blip r:embed="rId1"/>
          <a:stretch>
            <a:fillRect/>
          </a:stretch>
        </p:blipFill>
        <p:spPr>
          <a:xfrm>
            <a:off x="457200" y="1188720"/>
            <a:ext cx="4572000" cy="3203924"/>
          </a:xfrm>
          <a:prstGeom prst="rect">
            <a:avLst/>
          </a:prstGeom>
        </p:spPr>
      </p:pic>
      <p:sp>
        <p:nvSpPr>
          <p:cNvPr id="4" name="Cuerpo"/>
          <p:cNvSpPr txBox="1"/>
          <p:nvPr/>
        </p:nvSpPr>
        <p:spPr>
          <a:xfrm>
            <a:off x="5303520" y="1280160"/>
            <a:ext cx="3383280" cy="31089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energía se refleja en cada interfaz</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Cada geófono registra una traza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El tiempo depende de la profundidad y de la velocidad</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«Basics of Seismic Reflection» (CC BY-SA 4.0),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alcanza más profundidad, pero rinde poco en los primeros metros</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Alcanza mayores profundidades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Buena imagen de la estructura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resolución en los primeros metros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Exige fuentes de alta frecuencia y más procesamiento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Interfieren las ondas directas y superficiales</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Primera presentación de tesis</dc:title>
  <dc:subject>PptxGenJS Presentation</dc:subject>
  <dc:creator>Elías David Álvarez Martínez</dc:creator>
  <cp:lastModifiedBy>Elías David Álvarez Martínez</cp:lastModifiedBy>
  <cp:revision>1</cp:revision>
  <dcterms:created xsi:type="dcterms:W3CDTF">2026-10-13T02:54:23Z</dcterms:created>
  <dcterms:modified xsi:type="dcterms:W3CDTF">2026-10-13T02:54:23Z</dcterms:modified>
</cp:coreProperties>
</file>