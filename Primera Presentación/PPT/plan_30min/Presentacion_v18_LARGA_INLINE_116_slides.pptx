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charts/chart5.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charts/chart6.xml" ContentType="application/vnd.openxmlformats-officedocument.drawingml.chart+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notesMasterIdLst>
    <p:notesMasterId r:id="rId1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notesMaster" Target="notesMasters/notesMaster1.xml"/><Relationship Id="rId119" Type="http://schemas.openxmlformats.org/officeDocument/2006/relationships/presProps" Target="presProps.xml"/><Relationship Id="rId120" Type="http://schemas.openxmlformats.org/officeDocument/2006/relationships/viewProps" Target="viewProps.xml"/><Relationship Id="rId121" Type="http://schemas.openxmlformats.org/officeDocument/2006/relationships/theme" Target="theme/theme1.xml"/><Relationship Id="rId1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1
2604 Hz</c:v>
                  </c:pt>
                  <c:pt idx="1">
                    <c:v>2
1302 Hz</c:v>
                  </c:pt>
                  <c:pt idx="2">
                    <c:v>5
521 Hz</c:v>
                  </c:pt>
                  <c:pt idx="3">
                    <c:v>10
260 Hz</c:v>
                  </c:pt>
                </c:lvl>
              </c:multiLvlStrCache>
            </c:multiLvlStrRef>
          </c:cat>
          <c:val>
            <c:numRef>
              <c:f>Sheet1!$B$2:$B$5</c:f>
              <c:numCache>
                <c:formatCode>General</c:formatCode>
                <c:ptCount val="4"/>
                <c:pt idx="0">
                  <c:v>5.9</c:v>
                </c:pt>
                <c:pt idx="1">
                  <c:v>11.8</c:v>
                </c:pt>
                <c:pt idx="2">
                  <c:v>29.5</c:v>
                </c:pt>
                <c:pt idx="3">
                  <c:v>59</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con D igual a 10 queda en 130 hertz y el registro dura casi un minuto. El gráfico llega hasta D igual a 10 porque más allá ya no tiene sentido práctico. Duración y banda compiten, y el D se elige según el sitio y la longitud de onda que se quiere resolver. Con tarjeta SD el límite lo fija el tamaño de la tarjeta y por eso no lo muestro. Nota para mí: confirmar con el director que D = 10 es un buen techo para el gráfico. Supongo además que el límite de 512 lotes cuenta muestras ya diezmadas, porque los metadatos guardan fs′ y D; es una inferencia que hay que confirmar en el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 todo lo que sigue. A la izquierda, lo que ya vimos: el martillo excita un suelo estratificado y las ondas Rayleigh dispersivas llegan a los nodos esclavos, cada uno con su SM-24, su AFE y su ADC. Cada nodo captura y guarda en local, en la SD o en la arena de RAM del ESP32. El maestro pide los registros en orden y los reensambla. Desde el navegador de campo se arma un ZIP con las señales y los metadatos y se envía, por la red privada de Tailscale, a un servidor FastAPI. Ahí se alinea, se apila y se calcula la dispersión, y el objetivo final es el perfil de velocidad de onda S contra la profundidad. Hay que ser claro con el tribunal en un punto: la inversión y la extracción de curvas de dispersión son trabajo futuro, así que esa última caja todavía no está demostrada. Nota para mí: el diagrama es del drawio, no del resumen firmado; el resumen describe la interfaz web, el envío al servidor y el procesamiento en escritorio.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interfaz web es la herramienta de campo. Se abre desde un teléfono o una notebook conectada a la red del maestro. Desde ahí se configura la ganancia, el rango del ADC, la duración y la ruta de señal, se preparan los nodos y se inicia la captura. Al terminar se ven de inmediato la señal del HAMMER y la del geófono. Esa revisión inmediata es lo que importa operativamente: permite detectar un geófono mal acoplado, un impacto doble o un ruido excesivo, y repetir la captura antes de mover el receptor a la posición siguiente. Después se decide: conservar, descartar o enviar. Nota para mí: la captura de pantalla está en español con algunas etiquetas en inglés; es la figura 15 del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recorre una sesión completa por carriles: el usuario con su navegador, el ESP32 maestro, los nodos esclavos y el servidor de análisis. Primero el maestro levanta su propio punto de acceso, llamado GeoNetwork, y sirve la página desde su memoria. El usuario se conecta, carga la red de datos móviles o Wi-Fi que va a usar para salir a Internet y la dirección del servidor. Después pide la calibración, y el maestro reenvía el comando por ESP-NOW a los PSoC. Con el sistema calibrado, se inicia la captura con la secuencia ARM, PRESTART y START que ya vimos, y el maestro pide los esclavos en orden, reensambla y transmite por WebSocket. El usuario revisa y decide si conserva. Si conserva, el maestro entrega un ZIP al navegador, y el navegador lo envía por la red del cliente al servidor, a través de Tailscale. El servidor valida y publica la captura como raw aceptado. Una regla de diseño: el original no se modifica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geometría de la campaña es simple. La fuente y el HAMMER quedan fijos en un extremo de la línea. Un único nodo GEO recorre 21 posiciones entre 10 y 50 metros de la fuente, con un paso de 2 metros, de modo que la apertura es L igual a Nr menos uno por Δx, o sea 40 metros. El punto de impacto permaneció fijo a varios metros del extremo del campo de fútbol y solo se movió el receptor, por una línea paralela a los laterales de la cancha. Una limitación que hay que decir antes de que la pregunten: no se conservaron coordenadas ni azimut de los extremos del tendido. Nota para mí: la figura es mía, no del resumen; hay que regenerarla en el repo. Los 2 metros son pasos nominales, no medidos con instrumento; lo retomo en la última slide de este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límites de la geometría. El primero es el aliasing espacial: con receptores separados Δx, la longitud de onda mínima que se puede interpretar es unas dos veces Δx. Con 2 metros, es 4 metros, y con una velocidad de fase de 150 metros por segundo eso da hasta 37,5 hertz. El segundo es la apertura: no se pueden resolver longitudes de onda mayores que el tendido. La tesis cita a Foti y colaboradores, que proponen que L sea al menos lambda máxima, con un ejemplo conservador de 1,5 veces, y adopta además un criterio más estricto de dos veces. Con 40 metros y el criterio de 1,5, la lambda máxima es unos 27 metros, y a 150 metros por segundo eso equivale a unos 5,6 hertz. La figura muestra, en el plano frecuencia y velocidad, la región donde la geometría es válida: entre la recta de aliasing y la recta de apertura. En el subarreglo de 22 a 42 metros, de 20 metros de apertura, la tesis llega a 8 hertz con una longitud de onda de 21,5 metros, que ya es comparable al tendido. Observación crítica mía, y es inferencia: con offset mínimo de 10 metros y longitudes de onda de 20 a 27 metros, el primer receptor puede quedar en campo cercano; es un criterio habitual de la literatura que no verifiqué contra el PDF de Foti. Discrepancia entre criterios: la tesis, en trabajo futuro, cita a Comina et al. (2011) con λmáx &gt; 60 m para estimar Vs,30 con confiabilidad, y reconoce que con 40 m ese criterio no se cumple; Foti 2018 es menos exigente. Responden a objetivos distintos (Vs,30 frente a curva de dispersión), pero hay que decirlo si preguntan. Nota para mí: confirmar capítulo y página de Foti 2018 y el criterio de Comina (no verificado en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nombrar el alcance del experimento con precisión. El registro espacio-tiempo de la campaña se construye a partir de eventos distintos: un solo nodo GEO que se desplaza, mientras el HAMMER en posición fija registra cada excitación. Eso es adquisición secuencial, y no es lo mismo que un MASW convencional, donde todos los receptores registran el mismo golpe. Lin y Ashlock demostraron que simular un arreglo multicanal con un solo receptor puede dar imágenes de dispersión comparables, bajo condiciones controladas, pero con el receptor fijo y la fuente móvil, que es lo inverso de lo que hicimos. Esto supone una fuente repetible y un terreno que no cambia entre golpes: el HAMMER corrige la referencia de tiempo, pero no la variación de amplitud ni de contenido espectral entre impactos. Y no demuestra operación simultánea de canales, sincronización entre nodos, ni igualdad de magnitud y fase entre placas distintas. La expresión adquisición simultánea de 21 canales sería incorrecta y no se usa. Experimento que lo cerraría, propuesta mía: repetir con dos o más nodos GEO simultáneos sobre el mismo golpe y comparar contra el registro secuencial.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captura real a 24 metros. El canal de arriba es el del HAMMER, crudo: el pico marca el instante del impacto, y es la referencia de tiempo común. El del medio es el geófono crudo, que se conserva con su nivel de continua para no perder información. El de abajo es la vista de trabajo, centrada y filtrada con el FIR, que es la que se usa para alinear y procesar. Nota para mí: esta figura no está en el resumen firmado; viene del documento de tesis, y la leyenda dice Start 71, que es el nombre interno de la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procesamiento posterior se hace con una interfaz de escritorio. Cada captura se alinea en el tiempo usando como referencia el impacto detectado en el HAMMER. En la figura se ve la señal del martillo con el disparo detectado, y abajo la respuesta del geófono alineada y superpuesta a las demás capturas de la misma posición, en gris. Para cada posición se toman las capturas marcadas como aceptadas y revisadas, se alinean, se llevan a una frecuencia de muestreo común, se promedian muestra a muestra, y después se ordenan por distancia. La mediana fue de unos 30 golpes por posición. De 607 registros candidatos, 598 pasaron la auditoría de calidad. Nota para mí: son números de la tesis, no del resumen firmado; el resumen habla de 265 impactos en 15 distancias solo para el análisis de SNR aparente, que es otro subconjunto: no son contradictorios, pero conviene aclararlo si preguntan. Brunetti podría preguntar por la alineación: la precisión de la alineación está limitada por la tasa de muestreo del canal HAMMER y por cómo se detecta el disparo; no está cuantificada.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de la campaña: las 21 trazas promediadas, ordenadas por distancia. El eje horizontal es el tiempo relativo al impacto, hasta 4 segundos, y el vertical la distancia fuente-receptor, de 10 a 50 metros. Se ve cómo el tren de ondas se desplaza hacia tiempos mayores a medida que aumenta la distancia, y cómo se dispersa. Cada traza se normalizó por su propio máximo para poder verla, así que la figura no permite comparar amplitudes absolutas entre posiciones. Lo que demuestra es la viabilidad operativa de construir un registro espacio-tiempo con adquisiciones sucesivas. Lo que no demuestra es una curva de dispersión ni un perfil Vs: eso es trabajo futuro, y ahí el tribunal puede preguntar con razón.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una advertencia propia, y es una inferencia mía, no un resultado de la tesis. En SASW, la velocidad de fase es c igual a 2 pi f Δx sobre Δφ. Si la separación que se usa para calcular es distinta de la real, el error relativo en c es el mismo que el error relativo en Δx: 10 centímetros de error sobre 2 metros son un 5 por ciento. Con 21 posiciones y un ajuste de la fase contra la distancia, los errores aleatorios de cada posición se promedian, pero un error sistemático, por ejemplo una cinta métrica mal calibrada o un paso real distinto del nominal, no se promedia: desplaza toda la curva. En la campaña los 2 metros son nominales: la posición de cada punto se midió con cinta métrica y se anotó a mano, y no se conservaron coordenadas ni azimut de los extremos. El experimento que resuelve esto es barato: medir las posiciones con cinta y con otro método, tres veces, y propagar la incertidumbre. Un posible camino futuro es UWB con ranging, que mediría la distancia entre nodos y atacaría a la vez el error de posición y el de sincronización. Brunetti se fija en los 400 microsegundos de sincronización; Vicente puede ir directo a esta incertidumbre geométrica, que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servidor de análisis recibe el ZIP con las señales y los metadatos. Valida el paquete, calcula un hash, y publica la captura original de forma atómica y sin modificarla. El procesamiento científico corre en una cola independiente y cancelable, sobre copias: preprocesamiento, organización de trazas, productos intermedios como waterfall, f-k, wiggle y dispersión, y al final picking e inversión. El resumen firmado dice solo que el servidor valida y preserva los archivos originales y que el procesamiento se hace sobre copias derivadas. Los detalles de SHA-256, AnalysisJob y la cola vienen del diagrama y del documento de tesis. Nota para mí: la parte de picking e inversión aparece en el diagrama, pero es trabajo futuro; no la presente como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evaluar el contenido frecuencial de las capturas de campo se tomaron ventanas de un segundo inmediatamente antes y después del marcador de cada impacto. A cada segmento se le quitó el valor medio y se aplicó una ventana Hann. Para cada distancia se calcularon las medianas de los espectros posteriores, Ppost, y de los previos, Ppre, y la relación señal-ruido aparente es diez veces el logaritmo de su cociente. Se llama aparente porque la ventana posterior contiene la respuesta del impacto y el ruido que había durante la adquisición. Un valor cercano a 0 dB indica que, en esa banda, la energía registrada después del impacto apenas se distingue de la previa. Con ventanas de un segundo la resolución espectral efectiva es de unos 1 Hz; el relleno con ceros solo interpola la gráfica. Por eso se analizan bandas y tendencias. Observación crítica mía: no es una SNR en sentido estricto, porque el ruido previo no es necesariamente estacionario respecto del ruido posterior al impacto.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de SNR aparente. En el panel superior de la figura, la densidad espectral por distancia; en el inferior, la SNR aparente, con la banda baja de interés sombreada y la frecuencia natural nominal del SM-24 en 10 hertz. Con 265 impactos en 15 distancias, la mediana fue de 0,5 dB entre 1 y 5 hertz y de 2,1 dB entre 5 y 10. En bandas superiores sube a 16,7 dB entre 10 y 20 hertz y a 24,4 dB entre 20 y 50. Ninguna de las 15 distancias tuvo una mediana superior a 10 dB por debajo de 10 hertz. Es el resultado más importante y menos cómodo de la campaña: justo en la banda baja que el proyecto quiere extender, la señal apenas se distingue del ruido. Nota para mí: no usar el 18,9 dB y 4,9 dB por distancia del documento de tesis sin aclarar que es otra agrupación; no coincide con las bandas del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es claro: estos resultados integran excitador, acoplamiento, propagación, geófono y electrónica, y no permiten atribuir la baja SNR por debajo de 10 hertz a un único elemento. Eso es una limitación y a la vez un plan. Lo que propone el resumen es un excitador de mayor energía y repetibilidad en esa región, comparando con la misma geometría. Dos pruebas más, propuestas mías: medir el piso de ruido sin golpear, con el geófono acoplado y desacoplado, que aísla el ruido ambiente; y terminar la entrada del AFE para medir el ruido de la electrónica, referido a la entrada, y compararlo con el del geófono. Un geófono de 4,5 hertz co-ubicado sería un control más. Vicente va a preguntar si bajo 10 hertz se está midiendo suelo o ruido, y la respuesta honesta es que todavía no se puede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que Enrique va a mirar con más atención, porque distingue modelo, simulación, medición eléctrica, caracterización del AFE y validación extremo a extremo. El geófono está en el nivel de modelo con parámetros nominales. El AFE entre PGA y ADC se midió con barridos de magnitud y fase y se contrastó con el modelo; extenderlo al conjunto con el geófono es una predicción. La calibración de offset converge y los códigos se conservan por ganancia. La sincronización tiene una medición parcial, los flancos GPIO de los ESP32, y falta el inicio efectivo de los ADC. El campo demuestra viabilidad operativa de la adquisición secuencial. La dispersión y la inversión no se hicieron. Nota para mí: el contraste contra SPT o contra el SEV 01, medido en la misma cancha por terceros, es el criterio de éxito último que aún no se realizó, según el documento de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ordena el trabajo futuro en cinco pasos. Primero, un excitador de mayor energía y repetibilidad en la banda baja, comparando con la misma geometría. Segundo, medir directamente el inicio efectivo de los ADC y la deriva relativa de sus relojes, para cuantificar el error de fase por frecuencia y delimitar la banda de coherencia. Tercero, caracterizar el offset residual y su variación con el tiempo y las condiciones. Cuarto, ampliar el arreglo con más nodos GEO para adquisiciones simultáneas, según financiamiento. Quinto, extraer curvas de dispersión, identificar modos e invertir para estimar Vs con la profundidad. El documento de tesis agrega, como validación definitiva, contrastar contra el SEV 01 medido en la misma cancha, y menciona que con 40 metros de apertura el criterio de Comina para Vs,30 no se cumple.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ESP-NOW no cumple el presupuesto de fase, UWB es el candidato fundado. Korsimaa y colaboradores publican en HardwareX un distribuidor inalámbrico de disparo con módulos DWM1000 de bajo costo, con jitter de más o menos 4 nanosegundos con intervalo de confianza del 95 por ciento sobre un millón de transmisiones, probado hasta 25 metros. Wicsync reporta menos de 3 nanosegundos con diez nodos hasta 75 metros, pero con una arquitectura mucho más especializada. Pérez-Solano obtuvo 0,14 nanosegundos usando marcas internas del transceptor y unos 31 al trasladar la referencia al temporizador del microcontrolador, que muestra que la interfaz entre dominios de reloj puede dominar el error. Advertencia mía: comparar los más o menos 4 nanosegundos con nuestros 200 a 400 microsegundos no es 1 a 1, porque son estadísticas distintas: un intervalo de confianza sobre un millón de disparos contra el rango observado en 128 disparos con 3 nodos. Y hay que medir de punta a punta hasta el inicio del ADC.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defecto pendiente que conviene conocer antes de que lo encuentre Brunetti. En la ruta de recuperación de capturas almacenadas en RAM, si después del tiempo de captura previsto más 2,5 segundos el esclavo no recibió ningún lote del PSoC, el watchdog ejecuta START_NOW automáticamente. Ese segundo arranque conserva la marca temporal del disparo original, así que una falla podría terminar produciendo datos aparentemente completos pero iniciados varios segundos tarde, y por tanto inválidos para el análisis de fase. No es una fuente de retardo en las capturas que arrancan correctamente. La corrección pendiente es eliminar START_NOW de todo flujo sincronizado y, ante CAPTURE_SYNC_STALL, abortar y enviar un NACK al maestro, como ya se hace en el camino de SD. Nota para mí: esto viene del documento de tesis, no del resumen firmado; decidir con el tutor si se muestra o va al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cinco conclusiones, en el orden en que las demostramos. Uno: se diseñó una plataforma distribuida y ampliable. Dos: el AFE compensa la respuesta del SM-24 en bajas frecuencias y calibra el offset automáticamente. Tres: en campo se construyó un registro espacio-tiempo de 21 posiciones con un receptor desplazado. Cuatro: por debajo de 10 hertz la SNR aparente es de 0,5 a 2,1 dB, así que la banda baja que motiva el proyecto aún no se resuelve con esta fuente y esta cadena. Cinco: para validar el sistema como MASW multicanal hay que cuantificar la sincronización efectiva entre nodos, verificar la respuesta extremo a extremo en bajas frecuencias y hacer adquisiciones simultáneas. Los resultados demuestran la viabilidad operativa, y es lo que decimos, sin pasar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Nota para mí: ajustar nombres, institución y fecha según la portada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2-1.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a:t>
            </a:r>
            <mc:AlternateContent xmlns:mc="http://schemas.openxmlformats.org/markup-compatibility/2006">
              <mc:Choice xmlns:a14="http://schemas.microsoft.com/office/drawing/2010/main" Requires="a14">
                <a14:m>
                  <m:oMath xmlns:m="http://schemas.openxmlformats.org/officeDocument/2006/math">
                    <m:sSub>
                      <m:sSubPr>
                        <m:ctrlPr>
                          <a:rPr lang="es-ES" sz="2000" i="1">
                            <a:latin typeface="Cambria Math" panose="02040503050406030204" pitchFamily="18" charset="0"/>
                          </a:rPr>
                        </m:ctrlPr>
                      </m:sSubPr>
                      <m:e>
                        <m:r>
                          <a:rPr lang="es-ES" sz="2000" i="1">
                            <a:solidFill>
                              <a:srgbClr val="2D2D2D"/>
                            </a:solidFill>
                            <a:latin typeface="Cambria Math" panose="02040503050406030204" pitchFamily="18" charset="0"/>
                          </a:rPr>
                          <m:t xml:space="preserve">f</m:t>
                        </m:r>
                      </m:e>
                      <m:sub>
                        <m:r>
                          <a:rPr lang="es-ES" sz="2000" i="1">
                            <a:solidFill>
                              <a:srgbClr val="2D2D2D"/>
                            </a:solidFill>
                            <a:latin typeface="Cambria Math" panose="02040503050406030204" pitchFamily="18" charset="0"/>
                          </a:rPr>
                          <m:t xml:space="preserve">s</m:t>
                        </m:r>
                      </m:sub>
                    </m:sSub>
                  </m:oMath>
                </a14:m>
              </mc:Choice>
              <mc:Fallback>
                <a:r>
                  <a:rPr lang="en-US" sz="2000" dirty="0">
                    <a:solidFill>
                      <a:srgbClr val="2D2D2D"/>
                    </a:solidFill>
                    <a:latin typeface="Arial" pitchFamily="34" charset="0"/>
                    <a:ea typeface="Arial" pitchFamily="34" charset="-122"/>
                    <a:cs typeface="Arial" pitchFamily="34" charset="-120"/>
                  </a:rPr>
                  <a:t>fs</a:t>
                </a:r>
              </mc:Fallback>
            </mc:AlternateContent>
            <a:r>
              <a:rPr lang="en-US" sz="2000" dirty="0">
                <a:solidFill>
                  <a:srgbClr val="2D2D2D"/>
                </a:solidFill>
                <a:latin typeface="Arial" pitchFamily="34" charset="0"/>
                <a:ea typeface="Arial" pitchFamily="34" charset="-122"/>
                <a:cs typeface="Arial" pitchFamily="34" charset="-120"/>
              </a:rPr>
              <a:t>)</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densidad;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μ</m:t>
                    </m:r>
                  </m:oMath>
                </a14:m>
              </mc:Choice>
              <mc:Fallback>
                <a:r>
                  <a:rPr lang="en-US" sz="1600" dirty="0">
                    <a:solidFill>
                      <a:srgbClr val="2D2D2D"/>
                    </a:solidFill>
                    <a:latin typeface="Arial" pitchFamily="34" charset="0"/>
                    <a:ea typeface="Arial" pitchFamily="34" charset="-122"/>
                    <a:cs typeface="Arial" pitchFamily="34" charset="-120"/>
                  </a:rPr>
                  <a:t>μ</a:t>
                </a:r>
              </mc:Fallback>
            </mc:AlternateContent>
            <a:r>
              <a:rPr lang="en-US" sz="1600" dirty="0">
                <a:solidFill>
                  <a:srgbClr val="2D2D2D"/>
                </a:solidFill>
                <a:latin typeface="Arial" pitchFamily="34" charset="0"/>
                <a:ea typeface="Arial" pitchFamily="34" charset="-122"/>
                <a:cs typeface="Arial" pitchFamily="34" charset="-120"/>
              </a:rPr>
              <a:t>: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φ</a:t>
                </a:r>
              </mc:Fallback>
            </mc:AlternateContent>
            <a:r>
              <a:rPr lang="en-US" sz="1600" dirty="0">
                <a:solidFill>
                  <a:srgbClr val="2D2D2D"/>
                </a:solidFill>
                <a:latin typeface="Arial" pitchFamily="34" charset="0"/>
                <a:ea typeface="Arial" pitchFamily="34" charset="-122"/>
                <a:cs typeface="Arial" pitchFamily="34" charset="-120"/>
              </a:rPr>
              <a:t> y uno vectorial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ψ</m:t>
                    </m:r>
                  </m:oMath>
                </a14:m>
              </mc:Choice>
              <mc:Fallback>
                <a:r>
                  <a:rPr lang="en-US" sz="1600" dirty="0">
                    <a:solidFill>
                      <a:srgbClr val="2D2D2D"/>
                    </a:solidFill>
                    <a:latin typeface="Arial" pitchFamily="34" charset="0"/>
                    <a:ea typeface="Arial" pitchFamily="34" charset="-122"/>
                    <a:cs typeface="Arial" pitchFamily="34" charset="-120"/>
                  </a:rPr>
                  <a:t>ψ</a:t>
                </a:r>
              </mc:Fallback>
            </mc:AlternateContent>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φ</a:t>
                </a:r>
              </mc:Fallback>
            </mc:AlternateContent>
            <a:r>
              <a:rPr lang="en-US" sz="1600" dirty="0">
                <a:solidFill>
                  <a:srgbClr val="2D2D2D"/>
                </a:solidFill>
                <a:latin typeface="Arial" pitchFamily="34" charset="0"/>
                <a:ea typeface="Arial" pitchFamily="34" charset="-122"/>
                <a:cs typeface="Arial" pitchFamily="34" charset="-120"/>
              </a:rPr>
              <a:t>: compresión, viaja 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ψ</m:t>
                    </m:r>
                  </m:oMath>
                </a14:m>
              </mc:Choice>
              <mc:Fallback>
                <a:r>
                  <a:rPr lang="en-US" sz="1600" dirty="0">
                    <a:solidFill>
                      <a:srgbClr val="2D2D2D"/>
                    </a:solidFill>
                    <a:latin typeface="Arial" pitchFamily="34" charset="0"/>
                    <a:ea typeface="Arial" pitchFamily="34" charset="-122"/>
                    <a:cs typeface="Arial" pitchFamily="34" charset="-120"/>
                  </a:rPr>
                  <a:t>ψ</a:t>
                </a:r>
              </mc:Fallback>
            </mc:AlternateContent>
            <a:r>
              <a:rPr lang="en-US" sz="1600" dirty="0">
                <a:solidFill>
                  <a:srgbClr val="2D2D2D"/>
                </a:solidFill>
                <a:latin typeface="Arial" pitchFamily="34" charset="0"/>
                <a:ea typeface="Arial" pitchFamily="34" charset="-122"/>
                <a:cs typeface="Arial" pitchFamily="34" charset="-120"/>
              </a:rPr>
              <a:t>: corte, viaja 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μ</m:t>
                    </m:r>
                  </m:oMath>
                </a14:m>
              </mc:Choice>
              <mc:Fallback>
                <a:r>
                  <a:rPr lang="en-US" sz="1800" dirty="0">
                    <a:solidFill>
                      <a:srgbClr val="2D2D2D"/>
                    </a:solidFill>
                    <a:latin typeface="Arial" pitchFamily="34" charset="0"/>
                    <a:ea typeface="Arial" pitchFamily="34" charset="-122"/>
                    <a:cs typeface="Arial" pitchFamily="34" charset="-120"/>
                  </a:rPr>
                  <a:t>μ</a:t>
                </a:r>
              </mc:Fallback>
            </mc:AlternateContent>
            <a:r>
              <a:rPr lang="en-US" sz="1800" dirty="0">
                <a:solidFill>
                  <a:srgbClr val="2D2D2D"/>
                </a:solidFill>
                <a:latin typeface="Arial" pitchFamily="34" charset="0"/>
                <a:ea typeface="Arial" pitchFamily="34" charset="-122"/>
                <a:cs typeface="Arial" pitchFamily="34" charset="-120"/>
              </a:rPr>
              <a:t>: módulo de corte (también G), la rigidez al corte</a:t>
            </a:r>
            <a:endParaRPr lang="en-US" sz="1800" dirty="0"/>
          </a:p>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λ</m:t>
                    </m:r>
                  </m:oMath>
                </a14:m>
              </mc:Choice>
              <mc:Fallback>
                <a:r>
                  <a:rPr lang="en-US" sz="1800" dirty="0">
                    <a:solidFill>
                      <a:srgbClr val="2D2D2D"/>
                    </a:solidFill>
                    <a:latin typeface="Arial" pitchFamily="34" charset="0"/>
                    <a:ea typeface="Arial" pitchFamily="34" charset="-122"/>
                    <a:cs typeface="Arial" pitchFamily="34" charset="-120"/>
                  </a:rPr>
                  <a:t>λ</a:t>
                </a:r>
              </mc:Fallback>
            </mc:AlternateContent>
            <a:r>
              <a:rPr lang="en-US" sz="1800" dirty="0">
                <a:solidFill>
                  <a:srgbClr val="2D2D2D"/>
                </a:solidFill>
                <a:latin typeface="Arial" pitchFamily="34" charset="0"/>
                <a:ea typeface="Arial" pitchFamily="34" charset="-122"/>
                <a:cs typeface="Arial" pitchFamily="34" charset="-120"/>
              </a:rPr>
              <a:t>: constante de Lamé</a:t>
            </a:r>
            <a:endParaRPr lang="en-US" sz="1800" dirty="0"/>
          </a:p>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p</m:t>
                        </m:r>
                      </m:sub>
                    </m:sSub>
                    <m:r>
                      <m:rPr>
                        <m:sty m:val="p"/>
                      </m:rPr>
                      <a:rPr lang="es-ES" sz="1800">
                        <a:solidFill>
                          <a:srgbClr val="2D2D2D"/>
                        </a:solidFill>
                        <a:latin typeface="Cambria Math" panose="02040503050406030204" pitchFamily="18" charset="0"/>
                      </a:rPr>
                      <m:t xml:space="preserve">&gt;</m:t>
                    </m:r>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Vp &gt; Vs</a:t>
                </a:r>
              </mc:Fallback>
            </mc:AlternateContent>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γ</m:t>
                    </m:r>
                  </m:oMath>
                </a14:m>
              </mc:Choice>
              <mc:Fallback>
                <a:r>
                  <a:rPr lang="en-US" sz="1800" dirty="0">
                    <a:solidFill>
                      <a:srgbClr val="2D2D2D"/>
                    </a:solidFill>
                    <a:latin typeface="Arial" pitchFamily="34" charset="0"/>
                    <a:ea typeface="Arial" pitchFamily="34" charset="-122"/>
                    <a:cs typeface="Arial" pitchFamily="34" charset="-120"/>
                  </a:rPr>
                  <a:t>γ</a:t>
                </a:r>
              </mc:Fallback>
            </mc:AlternateContent>
            <a:r>
              <a:rPr lang="en-US" sz="1800" dirty="0">
                <a:solidFill>
                  <a:srgbClr val="2D2D2D"/>
                </a:solidFill>
                <a:latin typeface="Arial" pitchFamily="34" charset="0"/>
                <a:ea typeface="Arial" pitchFamily="34" charset="-122"/>
                <a:cs typeface="Arial" pitchFamily="34" charset="-120"/>
              </a:rPr>
              <a:t> del orden de 10⁻⁵ o menos, G es casi constante: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G</m:t>
                        </m:r>
                      </m:e>
                      <m:sub>
                        <m:r>
                          <m:rPr>
                            <m:sty m:val="p"/>
                          </m:rPr>
                          <a:rPr lang="es-ES" sz="1800">
                            <a:solidFill>
                              <a:srgbClr val="2D2D2D"/>
                            </a:solidFill>
                            <a:latin typeface="Cambria Math" panose="02040503050406030204" pitchFamily="18" charset="0"/>
                          </a:rPr>
                          <m:t xml:space="preserve">max</m:t>
                        </m:r>
                      </m:sub>
                    </m:sSub>
                  </m:oMath>
                </a14:m>
              </mc:Choice>
              <mc:Fallback>
                <a:r>
                  <a:rPr lang="en-US" sz="1800" dirty="0">
                    <a:solidFill>
                      <a:srgbClr val="2D2D2D"/>
                    </a:solidFill>
                    <a:latin typeface="Arial" pitchFamily="34" charset="0"/>
                    <a:ea typeface="Arial" pitchFamily="34" charset="-122"/>
                    <a:cs typeface="Arial" pitchFamily="34" charset="-120"/>
                  </a:rPr>
                  <a:t>Gmax</a:t>
                </a:r>
              </mc:Fallback>
            </mc:AlternateContent>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G</m:t>
                        </m:r>
                      </m:e>
                      <m:sub>
                        <m:r>
                          <m:rPr>
                            <m:sty m:val="p"/>
                          </m:rPr>
                          <a:rPr lang="es-ES" sz="1800">
                            <a:solidFill>
                              <a:srgbClr val="2D2D2D"/>
                            </a:solidFill>
                            <a:latin typeface="Cambria Math" panose="02040503050406030204" pitchFamily="18" charset="0"/>
                          </a:rPr>
                          <m:t xml:space="preserve">max</m:t>
                        </m:r>
                      </m:sub>
                    </m:sSub>
                  </m:oMath>
                </a14:m>
              </mc:Choice>
              <mc:Fallback>
                <a:r>
                  <a:rPr lang="en-US" sz="1800" dirty="0">
                    <a:solidFill>
                      <a:srgbClr val="2D2D2D"/>
                    </a:solidFill>
                    <a:latin typeface="Arial" pitchFamily="34" charset="0"/>
                    <a:ea typeface="Arial" pitchFamily="34" charset="-122"/>
                    <a:cs typeface="Arial" pitchFamily="34" charset="-120"/>
                  </a:rPr>
                  <a:t>Gmax</a:t>
                </a:r>
              </mc:Fallback>
            </mc:AlternateContent>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 podemos estimar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oMath>
                </a14:m>
              </mc:Choice>
              <mc:Fallback>
                <a:r>
                  <a:rPr lang="en-US" sz="2400" b="1" dirty="0">
                    <a:solidFill>
                      <a:srgbClr val="1F4E79"/>
                    </a:solidFill>
                    <a:latin typeface="Arial" pitchFamily="34" charset="0"/>
                    <a:ea typeface="Arial" pitchFamily="34" charset="-122"/>
                    <a:cs typeface="Arial" pitchFamily="34" charset="-120"/>
                  </a:rPr>
                  <a:t>Gmax</a:t>
                </a:r>
              </mc:Fallback>
            </mc:AlternateContent>
            <a:r>
              <a:rPr lang="en-US" sz="2400" b="1" dirty="0">
                <a:solidFill>
                  <a:srgbClr val="1F4E79"/>
                </a:solidFill>
                <a:latin typeface="Arial" pitchFamily="34" charset="0"/>
                <a:ea typeface="Arial" pitchFamily="34" charset="-122"/>
                <a:cs typeface="Arial" pitchFamily="34" charset="-120"/>
              </a:rPr>
              <a:t>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varía poco entre suelos y se estima con muestras o correlaciones</a:t>
            </a:r>
            <a:endParaRPr lang="en-US" sz="1800" dirty="0"/>
          </a:p>
          <a:p>
            <a:pPr marL="342900" indent="-342900">
              <a:spcAft>
                <a:spcPts val="10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pesa el doble que uno en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2000" i="1">
                            <a:latin typeface="Cambria Math" panose="02040503050406030204" pitchFamily="18" charset="0"/>
                          </a:rPr>
                        </m:ctrlPr>
                      </m:sSubPr>
                      <m:e>
                        <m:r>
                          <a:rPr lang="es-ES" sz="2000" i="1">
                            <a:solidFill>
                              <a:srgbClr val="2D2D2D"/>
                            </a:solidFill>
                            <a:latin typeface="Cambria Math" panose="02040503050406030204" pitchFamily="18" charset="0"/>
                          </a:rPr>
                          <m:t xml:space="preserve">V</m:t>
                        </m:r>
                      </m:e>
                      <m:sub>
                        <m:r>
                          <a:rPr lang="es-ES" sz="2000" i="1">
                            <a:solidFill>
                              <a:srgbClr val="2D2D2D"/>
                            </a:solidFill>
                            <a:latin typeface="Cambria Math" panose="02040503050406030204" pitchFamily="18" charset="0"/>
                          </a:rPr>
                          <m:t xml:space="preserve">s</m:t>
                        </m:r>
                      </m:sub>
                    </m:sSub>
                  </m:oMath>
                </a14:m>
              </mc:Choice>
              <mc:Fallback>
                <a:r>
                  <a:rPr lang="en-US" sz="2000" dirty="0">
                    <a:solidFill>
                      <a:srgbClr val="2D2D2D"/>
                    </a:solidFill>
                    <a:latin typeface="Arial" pitchFamily="34" charset="0"/>
                    <a:ea typeface="Arial" pitchFamily="34" charset="-122"/>
                    <a:cs typeface="Arial" pitchFamily="34" charset="-120"/>
                  </a:rPr>
                  <a:t>Vs</a:t>
                </a:r>
              </mc:Fallback>
            </mc:AlternateContent>
            <a:r>
              <a:rPr lang="en-US" sz="2000" dirty="0">
                <a:solidFill>
                  <a:srgbClr val="2D2D2D"/>
                </a:solidFill>
                <a:latin typeface="Arial" pitchFamily="34" charset="0"/>
                <a:ea typeface="Arial" pitchFamily="34" charset="-122"/>
                <a:cs typeface="Arial" pitchFamily="34" charset="-120"/>
              </a:rPr>
              <a:t>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Δ</m:t>
                    </m:r>
                    <m:r>
                      <a:rPr lang="es-ES" sz="1800" i="1">
                        <a:solidFill>
                          <a:srgbClr val="2D2D2D"/>
                        </a:solidFill>
                        <a:latin typeface="Cambria Math" panose="02040503050406030204" pitchFamily="18" charset="0"/>
                      </a:rPr>
                      <m:t xml:space="preserve">x</m:t>
                    </m:r>
                  </m:oMath>
                </a14:m>
              </mc:Choice>
              <mc:Fallback>
                <a:r>
                  <a:rPr lang="en-US" sz="1800" dirty="0">
                    <a:solidFill>
                      <a:srgbClr val="2D2D2D"/>
                    </a:solidFill>
                    <a:latin typeface="Arial" pitchFamily="34" charset="0"/>
                    <a:ea typeface="Arial" pitchFamily="34" charset="-122"/>
                    <a:cs typeface="Arial" pitchFamily="34" charset="-120"/>
                  </a:rPr>
                  <a:t>Δx</a:t>
                </a:r>
              </mc:Fallback>
            </mc:AlternateContent>
            <a:r>
              <a:rPr lang="en-US" sz="1800" dirty="0">
                <a:solidFill>
                  <a:srgbClr val="2D2D2D"/>
                </a:solidFill>
                <a:latin typeface="Arial" pitchFamily="34" charset="0"/>
                <a:ea typeface="Arial" pitchFamily="34" charset="-122"/>
                <a:cs typeface="Arial" pitchFamily="34" charset="-120"/>
              </a:rPr>
              <a:t>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p:txBody>
      </p:sp>
      <p:sp>
        <p:nvSpPr>
          <p:cNvPr id="5" name="Fondo Vs"/>
          <p:cNvSpPr/>
          <p:nvPr/>
        </p:nvSpPr>
        <p:spPr>
          <a:xfrm>
            <a:off x="5669280" y="324612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Δx</m:t>
                          </m:r>
                        </m:num>
                        <m:den>
                          <m:r>
                            <a:rPr lang="es-ES" sz="2800" i="1">
                              <a:solidFill>
                                <a:srgbClr val="1F4E79"/>
                              </a:solidFill>
                              <a:latin typeface="Cambria Math" panose="02040503050406030204" pitchFamily="18" charset="0"/>
                            </a:rPr>
                            <m:t xml:space="preserve">Δt</m:t>
                          </m:r>
                        </m:den>
                      </m:f>
                    </m:oMath>
                  </m:oMathPara>
                </a14:m>
                <a:endParaRPr lang="es-ES"/>
              </a:p>
            </p:txBody>
          </p:sp>
        </mc:Choice>
        <mc:Fallback>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Δx / Δt</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C55A11"/>
                            </a:solidFill>
                            <a:latin typeface="Cambria Math" panose="02040503050406030204" pitchFamily="18" charset="0"/>
                          </a:rPr>
                          <m:t xml:space="preserve">V</m:t>
                        </m:r>
                      </m:e>
                      <m:sub>
                        <m:r>
                          <a:rPr lang="es-ES" sz="1800" i="1">
                            <a:solidFill>
                              <a:srgbClr val="C55A11"/>
                            </a:solidFill>
                            <a:latin typeface="Cambria Math" panose="02040503050406030204" pitchFamily="18" charset="0"/>
                          </a:rPr>
                          <m:t xml:space="preserve">s</m:t>
                        </m:r>
                      </m:sub>
                    </m:sSub>
                  </m:oMath>
                </a14:m>
              </mc:Choice>
              <mc:Fallback>
                <a:r>
                  <a:rPr lang="en-US" sz="1800" b="1" dirty="0">
                    <a:solidFill>
                      <a:srgbClr val="C55A11"/>
                    </a:solidFill>
                    <a:latin typeface="Arial" pitchFamily="34" charset="0"/>
                    <a:ea typeface="Arial" pitchFamily="34" charset="-122"/>
                    <a:cs typeface="Arial" pitchFamily="34" charset="-120"/>
                  </a:rPr>
                  <a:t>Vs</a:t>
                </a:r>
              </mc:Fallback>
            </mc:AlternateContent>
            <a:r>
              <a:rPr lang="en-US" sz="1800" b="1" dirty="0">
                <a:solidFill>
                  <a:srgbClr val="C55A11"/>
                </a:solidFill>
                <a:latin typeface="Arial" pitchFamily="34" charset="0"/>
                <a:ea typeface="Arial" pitchFamily="34" charset="-122"/>
                <a:cs typeface="Arial" pitchFamily="34" charset="-120"/>
              </a:rPr>
              <a:t>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y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para P y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r>
                      <m:rPr>
                        <m:sty m:val="p"/>
                      </m:rPr>
                      <a:rPr lang="es-ES" sz="1600">
                        <a:solidFill>
                          <a:srgbClr val="2D2D2D"/>
                        </a:solidFill>
                        <a:latin typeface="Cambria Math" panose="02040503050406030204" pitchFamily="18" charset="0"/>
                      </a:rPr>
                      <m:t xml:space="preserve">&lt;</m:t>
                    </m:r>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Vs &lt; Vp</a:t>
                </a:r>
              </mc:Fallback>
            </mc:AlternateContent>
            <a:r>
              <a:rPr lang="en-US" sz="1600" dirty="0">
                <a:solidFill>
                  <a:srgbClr val="2D2D2D"/>
                </a:solidFill>
                <a:latin typeface="Arial" pitchFamily="34" charset="0"/>
                <a:ea typeface="Arial" pitchFamily="34" charset="-122"/>
                <a:cs typeface="Arial" pitchFamily="34" charset="-120"/>
              </a:rPr>
              <a:t>,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m:rPr>
                            <m:sty m:val="p"/>
                          </m:rPr>
                          <a:rPr lang="es-ES" sz="1600">
                            <a:solidFill>
                              <a:srgbClr val="2D2D2D"/>
                            </a:solidFill>
                            <a:latin typeface="Cambria Math" panose="02040503050406030204" pitchFamily="18" charset="0"/>
                          </a:rPr>
                          <m:t xml:space="preserve">s1</m:t>
                        </m:r>
                      </m:sub>
                    </m:sSub>
                    <m:r>
                      <m:rPr>
                        <m:sty m:val="p"/>
                      </m:rPr>
                      <a:rPr lang="es-ES" sz="1600">
                        <a:solidFill>
                          <a:srgbClr val="2D2D2D"/>
                        </a:solidFill>
                        <a:latin typeface="Cambria Math" panose="02040503050406030204" pitchFamily="18" charset="0"/>
                      </a:rPr>
                      <m:t xml:space="preserve">&lt;</m:t>
                    </m:r>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m:rPr>
                            <m:sty m:val="p"/>
                          </m:rPr>
                          <a:rPr lang="es-ES" sz="1600">
                            <a:solidFill>
                              <a:srgbClr val="2D2D2D"/>
                            </a:solidFill>
                            <a:latin typeface="Cambria Math" panose="02040503050406030204" pitchFamily="18" charset="0"/>
                          </a:rPr>
                          <m:t xml:space="preserve">s2</m:t>
                        </m:r>
                      </m:sub>
                    </m:sSub>
                  </m:oMath>
                </a14:m>
              </mc:Choice>
              <mc:Fallback>
                <a:r>
                  <a:rPr lang="en-US" sz="1600" dirty="0">
                    <a:solidFill>
                      <a:srgbClr val="2D2D2D"/>
                    </a:solidFill>
                    <a:latin typeface="Arial" pitchFamily="34" charset="0"/>
                    <a:ea typeface="Arial" pitchFamily="34" charset="-122"/>
                    <a:cs typeface="Arial" pitchFamily="34" charset="-120"/>
                  </a:rPr>
                  <a:t>Vs1 &lt; Vs2</a:t>
                </a:r>
              </mc:Fallback>
            </mc:AlternateContent>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a:t>
            </a:r>
            <mc:AlternateContent xmlns:mc="http://schemas.openxmlformats.org/markup-compatibility/2006">
              <mc:Choice xmlns:a14="http://schemas.microsoft.com/office/drawing/2010/main" Requires="a14">
                <a14:m>
                  <m:oMath xmlns:m="http://schemas.openxmlformats.org/officeDocument/2006/math">
                    <m:r>
                      <a:rPr lang="es-ES" sz="1600" i="1">
                        <a:solidFill>
                          <a:srgbClr val="6B6B6B"/>
                        </a:solidFill>
                        <a:latin typeface="Cambria Math" panose="02040503050406030204" pitchFamily="18" charset="0"/>
                      </a:rPr>
                      <m:t xml:space="preserve">ν</m:t>
                    </m:r>
                    <m:r>
                      <m:rPr>
                        <m:sty m:val="p"/>
                      </m:rPr>
                      <a:rPr lang="es-ES" sz="1600">
                        <a:solidFill>
                          <a:srgbClr val="6B6B6B"/>
                        </a:solidFill>
                        <a:latin typeface="Cambria Math" panose="02040503050406030204" pitchFamily="18" charset="0"/>
                      </a:rPr>
                      <m:t xml:space="preserve">=</m:t>
                    </m:r>
                    <m:r>
                      <m:rPr>
                        <m:sty m:val="p"/>
                      </m:rPr>
                      <a:rPr lang="es-ES" sz="1600">
                        <a:solidFill>
                          <a:srgbClr val="6B6B6B"/>
                        </a:solidFill>
                        <a:latin typeface="Cambria Math" panose="02040503050406030204" pitchFamily="18" charset="0"/>
                      </a:rPr>
                      <m:t xml:space="preserve">0,25</m:t>
                    </m:r>
                  </m:oMath>
                </a14:m>
              </mc:Choice>
              <mc:Fallback>
                <a:r>
                  <a:rPr lang="en-US" sz="1600" dirty="0">
                    <a:solidFill>
                      <a:srgbClr val="6B6B6B"/>
                    </a:solidFill>
                    <a:latin typeface="Arial" pitchFamily="34" charset="0"/>
                    <a:ea typeface="Arial" pitchFamily="34" charset="-122"/>
                    <a:cs typeface="Arial" pitchFamily="34" charset="-120"/>
                  </a:rPr>
                  <a:t>ν = 0,25</a:t>
                </a:r>
              </mc:Fallback>
            </mc:AlternateContent>
            <a:r>
              <a:rPr lang="en-US" sz="1600" dirty="0">
                <a:solidFill>
                  <a:srgbClr val="6B6B6B"/>
                </a:solidFill>
                <a:latin typeface="Arial" pitchFamily="34" charset="0"/>
                <a:ea typeface="Arial" pitchFamily="34" charset="-122"/>
                <a:cs typeface="Arial" pitchFamily="34" charset="-120"/>
              </a:rPr>
              <a:t>,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m:rPr>
                        <m:sty m:val="p"/>
                      </m:rPr>
                      <a:rPr lang="es-ES" sz="2400">
                        <a:solidFill>
                          <a:srgbClr val="1F4E79"/>
                        </a:solidFill>
                        <a:latin typeface="Cambria Math" panose="02040503050406030204" pitchFamily="18" charset="0"/>
                      </a:rPr>
                      <m:t xml:space="preserve">≈</m:t>
                    </m:r>
                    <m:r>
                      <m:rPr>
                        <m:sty m:val="p"/>
                      </m:rPr>
                      <a:rPr lang="es-ES" sz="2400">
                        <a:solidFill>
                          <a:srgbClr val="1F4E79"/>
                        </a:solidFill>
                        <a:latin typeface="Cambria Math" panose="02040503050406030204" pitchFamily="18" charset="0"/>
                      </a:rPr>
                      <m:t xml:space="preserve">0,9</m:t>
                    </m:r>
                    <m:r>
                      <m:rPr>
                        <m:sty m:val="p"/>
                      </m:rPr>
                      <a:rPr lang="es-ES" sz="2400">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cR ≈ 0,9·Vs</a:t>
                </a:r>
              </mc:Fallback>
            </mc:AlternateContent>
            <a:r>
              <a:rPr lang="en-US" sz="2400" b="1" dirty="0">
                <a:solidFill>
                  <a:srgbClr val="1F4E79"/>
                </a:solidFill>
                <a:latin typeface="Arial" pitchFamily="34" charset="0"/>
                <a:ea typeface="Arial" pitchFamily="34" charset="-122"/>
                <a:cs typeface="Arial" pitchFamily="34" charset="-120"/>
              </a:rPr>
              <a:t>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1965960"/>
            <a:ext cx="374904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2880360"/>
            <a:ext cx="3749040" cy="914400"/>
          </a:xfrm>
          <a:prstGeom prst="rect">
            <a:avLst/>
          </a:prstGeom>
          <a:noFill/>
          <a:ln/>
        </p:spPr>
        <p:txBody>
          <a:bodyPr wrap="square" lIns="0" tIns="0" rIns="0" bIns="0" rtlCol="0" anchor="t"/>
          <a:lstStyle/>
          <a:p>
            <a:pPr marL="342900" indent="-342900">
              <a:spcAft>
                <a:spcPts val="6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c</m:t>
                        </m:r>
                      </m:e>
                      <m:sub>
                        <m:r>
                          <a:rPr lang="es-ES" sz="1400" i="1">
                            <a:solidFill>
                              <a:srgbClr val="2D2D2D"/>
                            </a:solidFill>
                            <a:latin typeface="Cambria Math" panose="02040503050406030204" pitchFamily="18" charset="0"/>
                          </a:rPr>
                          <m:t xml:space="preserve">R</m:t>
                        </m:r>
                      </m:sub>
                    </m:sSub>
                    <m:r>
                      <m:rPr>
                        <m:sty m:val="p"/>
                      </m:rPr>
                      <a:rPr lang="es-ES" sz="1400">
                        <a:solidFill>
                          <a:srgbClr val="2D2D2D"/>
                        </a:solidFill>
                        <a:latin typeface="Cambria Math" panose="02040503050406030204" pitchFamily="18" charset="0"/>
                      </a:rPr>
                      <m:t xml:space="preserve">/</m:t>
                    </m:r>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V</m:t>
                        </m:r>
                      </m:e>
                      <m:sub>
                        <m:r>
                          <a:rPr lang="es-ES" sz="1400" i="1">
                            <a:solidFill>
                              <a:srgbClr val="2D2D2D"/>
                            </a:solidFill>
                            <a:latin typeface="Cambria Math" panose="02040503050406030204" pitchFamily="18" charset="0"/>
                          </a:rPr>
                          <m:t xml:space="preserve">s</m:t>
                        </m:r>
                      </m:sub>
                    </m:sSub>
                  </m:oMath>
                </a14:m>
              </mc:Choice>
              <mc:Fallback>
                <a:r>
                  <a:rPr lang="en-US" sz="1400" dirty="0">
                    <a:solidFill>
                      <a:srgbClr val="2D2D2D"/>
                    </a:solidFill>
                    <a:latin typeface="Arial" pitchFamily="34" charset="0"/>
                    <a:ea typeface="Arial" pitchFamily="34" charset="-122"/>
                    <a:cs typeface="Arial" pitchFamily="34" charset="-120"/>
                  </a:rPr>
                  <a:t>cR / Vs</a:t>
                </a:r>
              </mc:Fallback>
            </mc:AlternateContent>
            <a:r>
              <a:rPr lang="en-US" sz="1400" dirty="0">
                <a:solidFill>
                  <a:srgbClr val="2D2D2D"/>
                </a:solidFill>
                <a:latin typeface="Arial" pitchFamily="34" charset="0"/>
                <a:ea typeface="Arial" pitchFamily="34" charset="-122"/>
                <a:cs typeface="Arial" pitchFamily="34" charset="-120"/>
              </a:rPr>
              <a:t> va de 0,86 a 0,95 según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ν</m:t>
                    </m:r>
                  </m:oMath>
                </a14:m>
              </mc:Choice>
              <mc:Fallback>
                <a:r>
                  <a:rPr lang="en-US" sz="1400" dirty="0">
                    <a:solidFill>
                      <a:srgbClr val="2D2D2D"/>
                    </a:solidFill>
                    <a:latin typeface="Arial" pitchFamily="34" charset="0"/>
                    <a:ea typeface="Arial" pitchFamily="34" charset="-122"/>
                    <a:cs typeface="Arial" pitchFamily="34" charset="-120"/>
                  </a:rPr>
                  <a:t>ν</a:t>
                </a:r>
              </mc:Fallback>
            </mc:AlternateContent>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No hay dispersión: todas las frecuencias van a la misma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c</m:t>
                        </m:r>
                      </m:e>
                      <m:sub>
                        <m:r>
                          <a:rPr lang="es-ES" sz="1400" i="1">
                            <a:solidFill>
                              <a:srgbClr val="2D2D2D"/>
                            </a:solidFill>
                            <a:latin typeface="Cambria Math" panose="02040503050406030204" pitchFamily="18" charset="0"/>
                          </a:rPr>
                          <m:t xml:space="preserve">R</m:t>
                        </m:r>
                      </m:sub>
                    </m:sSub>
                  </m:oMath>
                </a14:m>
              </mc:Choice>
              <mc:Fallback>
                <a:r>
                  <a:rPr lang="en-US" sz="1400" dirty="0">
                    <a:solidFill>
                      <a:srgbClr val="2D2D2D"/>
                    </a:solidFill>
                    <a:latin typeface="Arial" pitchFamily="34" charset="0"/>
                    <a:ea typeface="Arial" pitchFamily="34" charset="-122"/>
                    <a:cs typeface="Arial" pitchFamily="34" charset="-120"/>
                  </a:rPr>
                  <a:t>cR</a:t>
                </a:r>
              </mc:Fallback>
            </mc:AlternateContent>
            <a:endParaRPr lang="en-US" sz="1400" dirty="0"/>
          </a:p>
        </p:txBody>
      </p:sp>
      <p:sp>
        <p:nvSpPr>
          <p:cNvPr id="9" name="Fondo Vs cR"/>
          <p:cNvSpPr/>
          <p:nvPr/>
        </p:nvSpPr>
        <p:spPr>
          <a:xfrm>
            <a:off x="4937760" y="384048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num>
                        <m:den>
                          <m:r>
                            <a:rPr lang="es-ES" sz="2800" i="1">
                              <a:solidFill>
                                <a:srgbClr val="1F4E79"/>
                              </a:solidFill>
                              <a:latin typeface="Cambria Math" panose="02040503050406030204" pitchFamily="18" charset="0"/>
                            </a:rPr>
                            <m:t xml:space="preserve">0,9</m:t>
                          </m:r>
                        </m:den>
                      </m:f>
                    </m:oMath>
                  </m:oMathPara>
                </a14:m>
                <a:endParaRPr lang="es-ES"/>
              </a:p>
            </p:txBody>
          </p:sp>
        </mc:Choice>
        <mc:Fallback>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cR / 0,9</a:t>
                </a:r>
                <a:endParaRPr lang="en-US" sz="2400" dirty="0"/>
              </a:p>
            </p:txBody>
          </p:sp>
        </mc:Fallback>
      </mc:AlternateContent>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rigidez y la velocidad de corte cambian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23444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rigidez cambia con la profundidad, y con ella la velocidad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Es común que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aumente (terreno más rocoso), pero no siempre ocurre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densidad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suele variar poco en comparación con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(z), estimamos el módulo de corte máximo:</a:t>
            </a:r>
            <a:endParaRPr lang="en-US" sz="1600" dirty="0"/>
          </a:p>
        </p:txBody>
      </p:sp>
      <p:sp>
        <p:nvSpPr>
          <p:cNvPr id="5" name="Fondo Gmax"/>
          <p:cNvSpPr/>
          <p:nvPr/>
        </p:nvSpPr>
        <p:spPr>
          <a:xfrm>
            <a:off x="4754880" y="3840480"/>
            <a:ext cx="39319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(z)=ρ(z)·</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Gmax(z) = ρ(z) · Vs²(z)</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ν</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0,3</m:t>
                    </m:r>
                  </m:oMath>
                </a14:m>
              </mc:Choice>
              <mc:Fallback>
                <a:r>
                  <a:rPr lang="en-US" sz="1200" dirty="0">
                    <a:solidFill>
                      <a:srgbClr val="6B6B6B"/>
                    </a:solidFill>
                    <a:latin typeface="Arial" pitchFamily="34" charset="0"/>
                    <a:ea typeface="Arial" pitchFamily="34" charset="-122"/>
                    <a:cs typeface="Arial" pitchFamily="34" charset="-120"/>
                  </a:rPr>
                  <a:t>ν = 0,3</a:t>
                </a:r>
              </mc:Fallback>
            </mc:AlternateContent>
            <a:r>
              <a:rPr lang="en-US" sz="1200" dirty="0">
                <a:solidFill>
                  <a:srgbClr val="6B6B6B"/>
                </a:solidFill>
                <a:latin typeface="Arial" pitchFamily="34" charset="0"/>
                <a:ea typeface="Arial" pitchFamily="34" charset="-122"/>
                <a:cs typeface="Arial" pitchFamily="34" charset="-120"/>
              </a:rPr>
              <a:t>. Variación de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ρ</m:t>
                    </m:r>
                  </m:oMath>
                </a14:m>
              </mc:Choice>
              <mc:Fallback>
                <a:r>
                  <a:rPr lang="en-US" sz="1200" dirty="0">
                    <a:solidFill>
                      <a:srgbClr val="6B6B6B"/>
                    </a:solidFill>
                    <a:latin typeface="Arial" pitchFamily="34" charset="0"/>
                    <a:ea typeface="Arial" pitchFamily="34" charset="-122"/>
                    <a:cs typeface="Arial" pitchFamily="34" charset="-120"/>
                  </a:rPr>
                  <a:t>ρ</a:t>
                </a:r>
              </mc:Fallback>
            </mc:AlternateContent>
            <a:r>
              <a:rPr lang="en-US" sz="1200" dirty="0">
                <a:solidFill>
                  <a:srgbClr val="6B6B6B"/>
                </a:solidFill>
                <a:latin typeface="Arial" pitchFamily="34" charset="0"/>
                <a:ea typeface="Arial" pitchFamily="34" charset="-122"/>
                <a:cs typeface="Arial" pitchFamily="34" charset="-120"/>
              </a:rPr>
              <a:t>: Kramer (1996), por confirmar página.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longitud de onda «ve» una profundidad distinta del terreno</a:t>
            </a:r>
            <a:endParaRPr lang="en-US" sz="2400" dirty="0"/>
          </a:p>
        </p:txBody>
      </p:sp>
      <p:pic>
        <p:nvPicPr>
          <p:cNvPr id="3" name="Desplazamiento vs profundidad" descr="Desplazamiento vertical de la onda Rayleigh en función de la profundidad: a 15 Hz queda en la capa superior; a 9,5 Hz llega hasta unos 25 m">    </p:cNvPr>
          <p:cNvPicPr>
            <a:picLocks noChangeAspect="1"/>
          </p:cNvPicPr>
          <p:nvPr/>
        </p:nvPicPr>
        <p:blipFill>
          <a:blip r:embed="rId1"/>
          <a:stretch>
            <a:fillRect/>
          </a:stretch>
        </p:blipFill>
        <p:spPr>
          <a:xfrm>
            <a:off x="365760" y="1234440"/>
            <a:ext cx="5120640" cy="3319272"/>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corta, el movimiento queda en las capas superiores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larga, el movimiento llega a capas más profundas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 Idea: Foti et al. (2014), fig. 2.13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Este fenómeno se llama dispersión</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dispersión permite reconstruir un modelo estratificado compatible con las mediciones de campo</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FFFFFF"/>
                            </a:solidFill>
                            <a:latin typeface="Cambria Math" panose="02040503050406030204" pitchFamily="18" charset="0"/>
                          </a:rPr>
                          <m:t xml:space="preserve">V</m:t>
                        </m:r>
                      </m:e>
                      <m:sub>
                        <m:r>
                          <a:rPr lang="es-ES" sz="1600" i="1">
                            <a:solidFill>
                              <a:srgbClr val="FFFFFF"/>
                            </a:solidFill>
                            <a:latin typeface="Cambria Math" panose="02040503050406030204" pitchFamily="18" charset="0"/>
                          </a:rPr>
                          <m:t xml:space="preserve">s</m:t>
                        </m:r>
                      </m:sub>
                    </m:sSub>
                  </m:oMath>
                </a14:m>
              </mc:Choice>
              <mc:Fallback>
                <a:r>
                  <a:rPr lang="en-US" sz="1600" b="1" dirty="0">
                    <a:solidFill>
                      <a:srgbClr val="FFFFFF"/>
                    </a:solidFill>
                    <a:latin typeface="Arial" pitchFamily="34" charset="0"/>
                    <a:ea typeface="Arial" pitchFamily="34" charset="-122"/>
                    <a:cs typeface="Arial" pitchFamily="34" charset="-120"/>
                  </a:rPr>
                  <a:t>Vs</a:t>
                </a:r>
              </mc:Fallback>
            </mc:AlternateContent>
            <a:r>
              <a:rPr lang="en-US" sz="1600" b="1" dirty="0">
                <a:solidFill>
                  <a:srgbClr val="FFFFFF"/>
                </a:solidFill>
                <a:latin typeface="Arial" pitchFamily="34" charset="0"/>
                <a:ea typeface="Arial" pitchFamily="34" charset="-122"/>
                <a:cs typeface="Arial" pitchFamily="34" charset="-120"/>
              </a:rPr>
              <a:t>(z)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FFFFFF"/>
                            </a:solidFill>
                            <a:latin typeface="Cambria Math" panose="02040503050406030204" pitchFamily="18" charset="0"/>
                          </a:rPr>
                          <m:t xml:space="preserve">V</m:t>
                        </m:r>
                      </m:e>
                      <m:sub>
                        <m:r>
                          <a:rPr lang="es-ES" sz="1600" i="1">
                            <a:solidFill>
                              <a:srgbClr val="FFFFFF"/>
                            </a:solidFill>
                            <a:latin typeface="Cambria Math" panose="02040503050406030204" pitchFamily="18" charset="0"/>
                          </a:rPr>
                          <m:t xml:space="preserve">s</m:t>
                        </m:r>
                      </m:sub>
                    </m:sSub>
                  </m:oMath>
                </a14:m>
              </mc:Choice>
              <mc:Fallback>
                <a:r>
                  <a:rPr lang="en-US" sz="1600" b="1" dirty="0">
                    <a:solidFill>
                      <a:srgbClr val="FFFFFF"/>
                    </a:solidFill>
                    <a:latin typeface="Arial" pitchFamily="34" charset="0"/>
                    <a:ea typeface="Arial" pitchFamily="34" charset="-122"/>
                    <a:cs typeface="Arial" pitchFamily="34" charset="-120"/>
                  </a:rPr>
                  <a:t>Vs</a:t>
                </a:r>
              </mc:Fallback>
            </mc:AlternateContent>
            <a:r>
              <a:rPr lang="en-US" sz="1600" b="1" dirty="0">
                <a:solidFill>
                  <a:srgbClr val="FFFFFF"/>
                </a:solidFill>
                <a:latin typeface="Arial" pitchFamily="34" charset="0"/>
                <a:ea typeface="Arial" pitchFamily="34" charset="-122"/>
                <a:cs typeface="Arial" pitchFamily="34" charset="-120"/>
              </a:rPr>
              <a:t>(z)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C55A11"/>
                            </a:solidFill>
                            <a:latin typeface="Cambria Math" panose="02040503050406030204" pitchFamily="18" charset="0"/>
                          </a:rPr>
                          <m:t xml:space="preserve">V</m:t>
                        </m:r>
                      </m:e>
                      <m:sub>
                        <m:r>
                          <a:rPr lang="es-ES" sz="1600" i="1">
                            <a:solidFill>
                              <a:srgbClr val="C55A11"/>
                            </a:solidFill>
                            <a:latin typeface="Cambria Math" panose="02040503050406030204" pitchFamily="18" charset="0"/>
                          </a:rPr>
                          <m:t xml:space="preserve">s</m:t>
                        </m:r>
                      </m:sub>
                    </m:sSub>
                  </m:oMath>
                </a14:m>
              </mc:Choice>
              <mc:Fallback>
                <a:r>
                  <a:rPr lang="en-US" sz="1600" b="1" dirty="0">
                    <a:solidFill>
                      <a:srgbClr val="C55A11"/>
                    </a:solidFill>
                    <a:latin typeface="Arial" pitchFamily="34" charset="0"/>
                    <a:ea typeface="Arial" pitchFamily="34" charset="-122"/>
                    <a:cs typeface="Arial" pitchFamily="34" charset="-120"/>
                  </a:rPr>
                  <a:t>Vs</a:t>
                </a:r>
              </mc:Fallback>
            </mc:AlternateContent>
            <a:r>
              <a:rPr lang="en-US" sz="1600" b="1" dirty="0">
                <a:solidFill>
                  <a:srgbClr val="C55A11"/>
                </a:solidFill>
                <a:latin typeface="Arial" pitchFamily="34" charset="0"/>
                <a:ea typeface="Arial" pitchFamily="34" charset="-122"/>
                <a:cs typeface="Arial" pitchFamily="34" charset="-120"/>
              </a:rPr>
              <a:t>(z)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depende de supuestos y se apoya en otras mediciones</a:t>
            </a:r>
            <a:endParaRPr lang="en-US" sz="2400" dirty="0"/>
          </a:p>
        </p:txBody>
      </p:sp>
      <p:sp>
        <p:nvSpPr>
          <p:cNvPr id="3" name="Cabecera Capas profundas"/>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Capas profundas</a:t>
            </a:r>
            <a:endParaRPr lang="en-US" sz="2000" dirty="0"/>
          </a:p>
        </p:txBody>
      </p:sp>
      <p:sp>
        <p:nvSpPr>
          <p:cNvPr id="5" name="Tarjeta Capas profundas"/>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Dependen de las bajas frecuencias y se resuelven peor</a:t>
            </a:r>
            <a:endParaRPr lang="en-US" sz="1800" dirty="0"/>
          </a:p>
        </p:txBody>
      </p:sp>
      <p:sp>
        <p:nvSpPr>
          <p:cNvPr id="7" name="Cabecera Supuestos"/>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9" name="Tarjeta Supuestos"/>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Densidad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número de capas y modelo inicial se suponen</a:t>
            </a:r>
            <a:endParaRPr lang="en-US" sz="1800" dirty="0"/>
          </a:p>
        </p:txBody>
      </p:sp>
      <p:sp>
        <p:nvSpPr>
          <p:cNvPr id="11" name="Cabecera No unicidad"/>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13" name="Tarjeta No unicidad"/>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15" name="Cabecera Otras mediciones"/>
          <p:cNvSpPr/>
          <p:nvPr/>
        </p:nvSpPr>
        <p:spPr>
          <a:xfrm>
            <a:off x="4663440" y="2880360"/>
            <a:ext cx="4023360" cy="457200"/>
          </a:xfrm>
          <a:prstGeom prst="rect">
            <a:avLst/>
          </a:prstGeom>
          <a:solidFill>
            <a:srgbClr val="C55A11"/>
          </a:solidFill>
          <a:ln w="12700">
            <a:solidFill>
              <a:srgbClr val="C55A11"/>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Otras mediciones</a:t>
            </a:r>
            <a:endParaRPr lang="en-US" sz="2000" dirty="0"/>
          </a:p>
        </p:txBody>
      </p:sp>
      <p:sp>
        <p:nvSpPr>
          <p:cNvPr id="17" name="Tarjeta Otras mediciones"/>
          <p:cNvSpPr/>
          <p:nvPr/>
        </p:nvSpPr>
        <p:spPr>
          <a:xfrm>
            <a:off x="4663440" y="3337560"/>
            <a:ext cx="4023360" cy="914400"/>
          </a:xfrm>
          <a:prstGeom prst="rect">
            <a:avLst/>
          </a:prstGeom>
          <a:solidFill>
            <a:srgbClr val="FFFFFF"/>
          </a:solidFill>
          <a:ln w="19050">
            <a:solidFill>
              <a:srgbClr val="C55A11"/>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 Xia et al. (1999), p. 694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ρ</m:t>
                    </m:r>
                  </m:oMath>
                </a14:m>
              </mc:Choice>
              <mc:Fallback>
                <a:r>
                  <a:rPr lang="en-US" sz="1200" dirty="0">
                    <a:solidFill>
                      <a:srgbClr val="6B6B6B"/>
                    </a:solidFill>
                    <a:latin typeface="Arial" pitchFamily="34" charset="0"/>
                    <a:ea typeface="Arial" pitchFamily="34" charset="-122"/>
                    <a:cs typeface="Arial" pitchFamily="34" charset="-120"/>
                  </a:rPr>
                  <a:t>ρ</a:t>
                </a:r>
              </mc:Fallback>
            </mc:AlternateContent>
            <a:r>
              <a:rPr lang="en-US" sz="1200" dirty="0">
                <a:solidFill>
                  <a:srgbClr val="6B6B6B"/>
                </a:solidFill>
                <a:latin typeface="Arial" pitchFamily="34" charset="0"/>
                <a:ea typeface="Arial" pitchFamily="34" charset="-122"/>
                <a:cs typeface="Arial" pitchFamily="34" charset="-120"/>
              </a:rPr>
              <a:t> supuesta conocida).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Δ</m:t>
                    </m:r>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Δφ</a:t>
                </a:r>
              </mc:Fallback>
            </mc:AlternateContent>
            <a:r>
              <a:rPr lang="en-US" sz="1600" dirty="0">
                <a:solidFill>
                  <a:srgbClr val="2D2D2D"/>
                </a:solidFill>
                <a:latin typeface="Arial" pitchFamily="34" charset="0"/>
                <a:ea typeface="Arial" pitchFamily="34" charset="-122"/>
                <a:cs typeface="Arial" pitchFamily="34" charset="-120"/>
              </a:rPr>
              <a:t>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Δ</m:t>
                    </m:r>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Δφ</a:t>
                </a:r>
              </mc:Fallback>
            </mc:AlternateContent>
            <a:r>
              <a:rPr lang="en-US" sz="1600" dirty="0">
                <a:solidFill>
                  <a:srgbClr val="2D2D2D"/>
                </a:solidFill>
                <a:latin typeface="Arial" pitchFamily="34" charset="0"/>
                <a:ea typeface="Arial" pitchFamily="34" charset="-122"/>
                <a:cs typeface="Arial" pitchFamily="34" charset="-120"/>
              </a:rPr>
              <a:t>(f) sale la velocidad de fase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c</m:t>
                        </m:r>
                      </m:e>
                      <m:sub>
                        <m:r>
                          <a:rPr lang="es-ES" sz="1600" i="1">
                            <a:solidFill>
                              <a:srgbClr val="2D2D2D"/>
                            </a:solidFill>
                            <a:latin typeface="Cambria Math" panose="02040503050406030204" pitchFamily="18" charset="0"/>
                          </a:rPr>
                          <m:t xml:space="preserve">R</m:t>
                        </m:r>
                      </m:sub>
                    </m:sSub>
                  </m:oMath>
                </a14:m>
              </mc:Choice>
              <mc:Fallback>
                <a:r>
                  <a:rPr lang="en-US" sz="1600" dirty="0">
                    <a:solidFill>
                      <a:srgbClr val="2D2D2D"/>
                    </a:solidFill>
                    <a:latin typeface="Arial" pitchFamily="34" charset="0"/>
                    <a:ea typeface="Arial" pitchFamily="34" charset="-122"/>
                    <a:cs typeface="Arial" pitchFamily="34" charset="-120"/>
                  </a:rPr>
                  <a:t>cR</a:t>
                </a:r>
              </mc:Fallback>
            </mc:AlternateContent>
            <a:r>
              <a:rPr lang="en-US" sz="1600" dirty="0">
                <a:solidFill>
                  <a:srgbClr val="2D2D2D"/>
                </a:solidFill>
                <a:latin typeface="Arial" pitchFamily="34" charset="0"/>
                <a:ea typeface="Arial" pitchFamily="34" charset="-122"/>
                <a:cs typeface="Arial" pitchFamily="34" charset="-120"/>
              </a:rPr>
              <a:t>(f)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Δ</m:t>
                    </m:r>
                    <m:r>
                      <a:rPr lang="es-ES" sz="1800" i="1">
                        <a:solidFill>
                          <a:srgbClr val="2D2D2D"/>
                        </a:solidFill>
                        <a:latin typeface="Cambria Math" panose="02040503050406030204" pitchFamily="18" charset="0"/>
                      </a:rPr>
                      <m:t xml:space="preserve">φ</m:t>
                    </m:r>
                  </m:oMath>
                </a14:m>
              </mc:Choice>
              <mc:Fallback>
                <a:r>
                  <a:rPr lang="en-US" sz="1800" dirty="0">
                    <a:solidFill>
                      <a:srgbClr val="2D2D2D"/>
                    </a:solidFill>
                    <a:latin typeface="Arial" pitchFamily="34" charset="0"/>
                    <a:ea typeface="Arial" pitchFamily="34" charset="-122"/>
                    <a:cs typeface="Arial" pitchFamily="34" charset="-120"/>
                  </a:rPr>
                  <a:t>Δφ</a:t>
                </a:r>
              </mc:Fallback>
            </mc:AlternateContent>
            <a:r>
              <a:rPr lang="en-US" sz="1800" dirty="0">
                <a:solidFill>
                  <a:srgbClr val="2D2D2D"/>
                </a:solidFill>
                <a:latin typeface="Arial" pitchFamily="34" charset="0"/>
                <a:ea typeface="Arial" pitchFamily="34" charset="-122"/>
                <a:cs typeface="Arial" pitchFamily="34" charset="-120"/>
              </a:rPr>
              <a:t>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73736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Conservar la información temporal y espacial de cada traza</a:t>
            </a:r>
            <a:endParaRPr lang="en-US" sz="1700" dirty="0"/>
          </a:p>
        </p:txBody>
      </p:sp>
      <p:sp>
        <p:nvSpPr>
          <p:cNvPr id="7" name="Cabecera Referencia temporal"/>
          <p:cNvSpPr/>
          <p:nvPr/>
        </p:nvSpPr>
        <p:spPr>
          <a:xfrm>
            <a:off x="324612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4612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46120" y="1874520"/>
            <a:ext cx="2651760" cy="1737360"/>
          </a:xfrm>
          <a:prstGeom prst="rect">
            <a:avLst/>
          </a:prstGeom>
          <a:solidFill>
            <a:srgbClr val="FFFFFF"/>
          </a:solidFill>
          <a:ln w="19050">
            <a:solidFill>
              <a:srgbClr val="1F4E79"/>
            </a:solidFill>
            <a:prstDash val="solid"/>
          </a:ln>
        </p:spPr>
      </p:sp>
      <p:sp>
        <p:nvSpPr>
          <p:cNvPr id="10" name="Text 8"/>
          <p:cNvSpPr txBox="1"/>
          <p:nvPr/>
        </p:nvSpPr>
        <p:spPr>
          <a:xfrm>
            <a:off x="338328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Mantener una referencia temporal entre registros</a:t>
            </a:r>
            <a:endParaRPr lang="en-US" sz="1700" dirty="0"/>
          </a:p>
        </p:txBody>
      </p:sp>
      <p:sp>
        <p:nvSpPr>
          <p:cNvPr id="11" name="Cabecera Forma de onda"/>
          <p:cNvSpPr/>
          <p:nvPr/>
        </p:nvSpPr>
        <p:spPr>
          <a:xfrm>
            <a:off x="603504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0350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 de onda</a:t>
            </a:r>
            <a:endParaRPr lang="en-US" sz="1800" dirty="0"/>
          </a:p>
        </p:txBody>
      </p:sp>
      <p:sp>
        <p:nvSpPr>
          <p:cNvPr id="13" name="Tarjeta Forma de onda"/>
          <p:cNvSpPr/>
          <p:nvPr/>
        </p:nvSpPr>
        <p:spPr>
          <a:xfrm>
            <a:off x="6035040" y="1874520"/>
            <a:ext cx="2651760" cy="1737360"/>
          </a:xfrm>
          <a:prstGeom prst="rect">
            <a:avLst/>
          </a:prstGeom>
          <a:solidFill>
            <a:srgbClr val="FFFFFF"/>
          </a:solidFill>
          <a:ln w="19050">
            <a:solidFill>
              <a:srgbClr val="1F4E79"/>
            </a:solidFill>
            <a:prstDash val="solid"/>
          </a:ln>
        </p:spPr>
      </p:sp>
      <p:sp>
        <p:nvSpPr>
          <p:cNvPr id="14" name="Text 12"/>
          <p:cNvSpPr txBox="1"/>
          <p:nvPr/>
        </p:nvSpPr>
        <p:spPr>
          <a:xfrm>
            <a:off x="617220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Preservar la forma de la onda</a:t>
            </a:r>
            <a:endParaRPr lang="en-US" sz="1700" dirty="0"/>
          </a:p>
        </p:txBody>
      </p:sp>
      <p:sp>
        <p:nvSpPr>
          <p:cNvPr id="15" name="Mensaje"/>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cinco condiciones de diseño del sistema</a:t>
            </a:r>
            <a:endParaRPr lang="en-US" sz="2400" dirty="0"/>
          </a:p>
        </p:txBody>
      </p:sp>
      <p:sp>
        <p:nvSpPr>
          <p:cNvPr id="3" name="Cabecera Banda y fase"/>
          <p:cNvSpPr/>
          <p:nvPr/>
        </p:nvSpPr>
        <p:spPr>
          <a:xfrm>
            <a:off x="457200" y="1234440"/>
            <a:ext cx="2651760" cy="502920"/>
          </a:xfrm>
          <a:prstGeom prst="rect">
            <a:avLst/>
          </a:prstGeom>
          <a:solidFill>
            <a:srgbClr val="1F4E79"/>
          </a:solidFill>
          <a:ln w="12700">
            <a:solidFill>
              <a:srgbClr val="1F4E79"/>
            </a:solidFill>
            <a:prstDash val="solid"/>
          </a:ln>
        </p:spPr>
      </p:sp>
      <p:sp>
        <p:nvSpPr>
          <p:cNvPr id="4" name="Text 2"/>
          <p:cNvSpPr txBox="1"/>
          <p:nvPr/>
        </p:nvSpPr>
        <p:spPr>
          <a:xfrm>
            <a:off x="45720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Banda y fase</a:t>
            </a:r>
            <a:endParaRPr lang="en-US" sz="1600" dirty="0"/>
          </a:p>
        </p:txBody>
      </p:sp>
      <p:sp>
        <p:nvSpPr>
          <p:cNvPr id="5" name="Tarjeta Banda y fase"/>
          <p:cNvSpPr/>
          <p:nvPr/>
        </p:nvSpPr>
        <p:spPr>
          <a:xfrm>
            <a:off x="457200" y="1737360"/>
            <a:ext cx="2651760" cy="1280160"/>
          </a:xfrm>
          <a:prstGeom prst="rect">
            <a:avLst/>
          </a:prstGeom>
          <a:solidFill>
            <a:srgbClr val="FFFFFF"/>
          </a:solidFill>
          <a:ln w="19050">
            <a:solidFill>
              <a:srgbClr val="1F4E79"/>
            </a:solidFill>
            <a:prstDash val="solid"/>
          </a:ln>
        </p:spPr>
      </p:sp>
      <p:sp>
        <p:nvSpPr>
          <p:cNvPr id="6" name="Text 4"/>
          <p:cNvSpPr txBox="1"/>
          <p:nvPr/>
        </p:nvSpPr>
        <p:spPr>
          <a:xfrm>
            <a:off x="59436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600" dirty="0"/>
          </a:p>
        </p:txBody>
      </p:sp>
      <p:sp>
        <p:nvSpPr>
          <p:cNvPr id="7" name="Cabecera Margen dinámico"/>
          <p:cNvSpPr/>
          <p:nvPr/>
        </p:nvSpPr>
        <p:spPr>
          <a:xfrm>
            <a:off x="3246120" y="1234440"/>
            <a:ext cx="2651760" cy="502920"/>
          </a:xfrm>
          <a:prstGeom prst="rect">
            <a:avLst/>
          </a:prstGeom>
          <a:solidFill>
            <a:srgbClr val="1F4E79"/>
          </a:solidFill>
          <a:ln w="12700">
            <a:solidFill>
              <a:srgbClr val="1F4E79"/>
            </a:solidFill>
            <a:prstDash val="solid"/>
          </a:ln>
        </p:spPr>
      </p:sp>
      <p:sp>
        <p:nvSpPr>
          <p:cNvPr id="8" name="Text 6"/>
          <p:cNvSpPr txBox="1"/>
          <p:nvPr/>
        </p:nvSpPr>
        <p:spPr>
          <a:xfrm>
            <a:off x="324612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Margen dinámico</a:t>
            </a:r>
            <a:endParaRPr lang="en-US" sz="1600" dirty="0"/>
          </a:p>
        </p:txBody>
      </p:sp>
      <p:sp>
        <p:nvSpPr>
          <p:cNvPr id="9" name="Tarjeta Margen dinámico"/>
          <p:cNvSpPr/>
          <p:nvPr/>
        </p:nvSpPr>
        <p:spPr>
          <a:xfrm>
            <a:off x="3246120" y="1737360"/>
            <a:ext cx="2651760" cy="1280160"/>
          </a:xfrm>
          <a:prstGeom prst="rect">
            <a:avLst/>
          </a:prstGeom>
          <a:solidFill>
            <a:srgbClr val="FFFFFF"/>
          </a:solidFill>
          <a:ln w="19050">
            <a:solidFill>
              <a:srgbClr val="1F4E79"/>
            </a:solidFill>
            <a:prstDash val="solid"/>
          </a:ln>
        </p:spPr>
      </p:sp>
      <p:sp>
        <p:nvSpPr>
          <p:cNvPr id="10" name="Text 8"/>
          <p:cNvSpPr txBox="1"/>
          <p:nvPr/>
        </p:nvSpPr>
        <p:spPr>
          <a:xfrm>
            <a:off x="338328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600" dirty="0"/>
          </a:p>
        </p:txBody>
      </p:sp>
      <p:sp>
        <p:nvSpPr>
          <p:cNvPr id="11" name="Cabecera Sincronización temporal"/>
          <p:cNvSpPr/>
          <p:nvPr/>
        </p:nvSpPr>
        <p:spPr>
          <a:xfrm>
            <a:off x="6035040" y="1234440"/>
            <a:ext cx="2651760" cy="502920"/>
          </a:xfrm>
          <a:prstGeom prst="rect">
            <a:avLst/>
          </a:prstGeom>
          <a:solidFill>
            <a:srgbClr val="1F4E79"/>
          </a:solidFill>
          <a:ln w="12700">
            <a:solidFill>
              <a:srgbClr val="1F4E79"/>
            </a:solidFill>
            <a:prstDash val="solid"/>
          </a:ln>
        </p:spPr>
      </p:sp>
      <p:sp>
        <p:nvSpPr>
          <p:cNvPr id="12" name="Text 10"/>
          <p:cNvSpPr txBox="1"/>
          <p:nvPr/>
        </p:nvSpPr>
        <p:spPr>
          <a:xfrm>
            <a:off x="603504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Sincronización temporal</a:t>
            </a:r>
            <a:endParaRPr lang="en-US" sz="1600" dirty="0"/>
          </a:p>
        </p:txBody>
      </p:sp>
      <p:sp>
        <p:nvSpPr>
          <p:cNvPr id="13" name="Tarjeta Sincronización temporal"/>
          <p:cNvSpPr/>
          <p:nvPr/>
        </p:nvSpPr>
        <p:spPr>
          <a:xfrm>
            <a:off x="6035040" y="1737360"/>
            <a:ext cx="2651760" cy="1280160"/>
          </a:xfrm>
          <a:prstGeom prst="rect">
            <a:avLst/>
          </a:prstGeom>
          <a:solidFill>
            <a:srgbClr val="FFFFFF"/>
          </a:solidFill>
          <a:ln w="19050">
            <a:solidFill>
              <a:srgbClr val="1F4E79"/>
            </a:solidFill>
            <a:prstDash val="solid"/>
          </a:ln>
        </p:spPr>
      </p:sp>
      <p:sp>
        <p:nvSpPr>
          <p:cNvPr id="14" name="Text 12"/>
          <p:cNvSpPr txBox="1"/>
          <p:nvPr/>
        </p:nvSpPr>
        <p:spPr>
          <a:xfrm>
            <a:off x="617220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Referencia de tiempo común entre nodos y con la excitación</a:t>
            </a:r>
            <a:endParaRPr lang="en-US" sz="1600" dirty="0"/>
          </a:p>
        </p:txBody>
      </p:sp>
      <p:sp>
        <p:nvSpPr>
          <p:cNvPr id="15" name="Cabecera Geometría"/>
          <p:cNvSpPr/>
          <p:nvPr/>
        </p:nvSpPr>
        <p:spPr>
          <a:xfrm>
            <a:off x="457200" y="3200400"/>
            <a:ext cx="4023360" cy="457200"/>
          </a:xfrm>
          <a:prstGeom prst="rect">
            <a:avLst/>
          </a:prstGeom>
          <a:solidFill>
            <a:srgbClr val="1F4E79"/>
          </a:solidFill>
          <a:ln w="12700">
            <a:solidFill>
              <a:srgbClr val="1F4E79"/>
            </a:solidFill>
            <a:prstDash val="solid"/>
          </a:ln>
        </p:spPr>
      </p:sp>
      <p:sp>
        <p:nvSpPr>
          <p:cNvPr id="16" name="Text 14"/>
          <p:cNvSpPr txBox="1"/>
          <p:nvPr/>
        </p:nvSpPr>
        <p:spPr>
          <a:xfrm>
            <a:off x="45720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Geometría</a:t>
            </a:r>
            <a:endParaRPr lang="en-US" sz="2000" dirty="0"/>
          </a:p>
        </p:txBody>
      </p:sp>
      <p:sp>
        <p:nvSpPr>
          <p:cNvPr id="17" name="Tarjeta Geometría"/>
          <p:cNvSpPr/>
          <p:nvPr/>
        </p:nvSpPr>
        <p:spPr>
          <a:xfrm>
            <a:off x="457200" y="3657600"/>
            <a:ext cx="4023360" cy="868680"/>
          </a:xfrm>
          <a:prstGeom prst="rect">
            <a:avLst/>
          </a:prstGeom>
          <a:solidFill>
            <a:srgbClr val="FFFFFF"/>
          </a:solidFill>
          <a:ln w="19050">
            <a:solidFill>
              <a:srgbClr val="1F4E79"/>
            </a:solidFill>
            <a:prstDash val="solid"/>
          </a:ln>
        </p:spPr>
      </p:sp>
      <p:sp>
        <p:nvSpPr>
          <p:cNvPr id="18" name="Text 16"/>
          <p:cNvSpPr txBox="1"/>
          <p:nvPr/>
        </p:nvSpPr>
        <p:spPr>
          <a:xfrm>
            <a:off x="59436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Posición conocida de cada traza respecto de la fuente</a:t>
            </a:r>
            <a:endParaRPr lang="en-US" sz="1800" dirty="0"/>
          </a:p>
        </p:txBody>
      </p:sp>
      <p:sp>
        <p:nvSpPr>
          <p:cNvPr id="19" name="Cabecera Operación en campo"/>
          <p:cNvSpPr/>
          <p:nvPr/>
        </p:nvSpPr>
        <p:spPr>
          <a:xfrm>
            <a:off x="4663440" y="3200400"/>
            <a:ext cx="4023360" cy="457200"/>
          </a:xfrm>
          <a:prstGeom prst="rect">
            <a:avLst/>
          </a:prstGeom>
          <a:solidFill>
            <a:srgbClr val="1F4E79"/>
          </a:solidFill>
          <a:ln w="12700">
            <a:solidFill>
              <a:srgbClr val="1F4E79"/>
            </a:solidFill>
            <a:prstDash val="solid"/>
          </a:ln>
        </p:spPr>
      </p:sp>
      <p:sp>
        <p:nvSpPr>
          <p:cNvPr id="20" name="Text 18"/>
          <p:cNvSpPr txBox="1"/>
          <p:nvPr/>
        </p:nvSpPr>
        <p:spPr>
          <a:xfrm>
            <a:off x="466344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21" name="Tarjeta Operación en campo"/>
          <p:cNvSpPr/>
          <p:nvPr/>
        </p:nvSpPr>
        <p:spPr>
          <a:xfrm>
            <a:off x="4663440" y="3657600"/>
            <a:ext cx="4023360" cy="868680"/>
          </a:xfrm>
          <a:prstGeom prst="rect">
            <a:avLst/>
          </a:prstGeom>
          <a:solidFill>
            <a:srgbClr val="FFFFFF"/>
          </a:solidFill>
          <a:ln w="19050">
            <a:solidFill>
              <a:srgbClr val="1F4E79"/>
            </a:solidFill>
            <a:prstDash val="solid"/>
          </a:ln>
        </p:spPr>
      </p:sp>
      <p:sp>
        <p:nvSpPr>
          <p:cNvPr id="22" name="Text 20"/>
          <p:cNvSpPr txBox="1"/>
          <p:nvPr/>
        </p:nvSpPr>
        <p:spPr>
          <a:xfrm>
            <a:off x="480060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80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plataforma consta de un maestro y de nodos independientes que se comunican por ESP-NOW</a:t>
            </a:r>
            <a:endParaRPr lang="en-US" sz="2400" dirty="0"/>
          </a:p>
        </p:txBody>
      </p:sp>
      <p:pic>
        <p:nvPicPr>
          <p:cNvPr id="3" name="Arquitectura" descr="Arquitectura del sistema: navegador, maestro ESP32, nodos GEO y nodo HAMMER, cada uno con ESP32 y PSoC 5LP">    </p:cNvPr>
          <p:cNvPicPr>
            <a:picLocks noChangeAspect="1"/>
          </p:cNvPicPr>
          <p:nvPr/>
        </p:nvPicPr>
        <p:blipFill>
          <a:blip r:embed="rId1"/>
          <a:stretch>
            <a:fillRect/>
          </a:stretch>
        </p:blipFill>
        <p:spPr>
          <a:xfrm>
            <a:off x="548640" y="1234440"/>
            <a:ext cx="8046720" cy="2951220"/>
          </a:xfrm>
          <a:prstGeom prst="rect">
            <a:avLst/>
          </a:prstGeom>
        </p:spPr>
      </p:pic>
      <p:sp>
        <p:nvSpPr>
          <p:cNvPr id="4" name="Text 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fig. 11 del resumen firmado (sec. 4.7).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SM-24 es un geófono vertical pasivo de bobina móvil, y su amortiguamiento depende de la carga</a:t>
            </a:r>
            <a:endParaRPr lang="en-US" sz="2400" dirty="0"/>
          </a:p>
        </p:txBody>
      </p:sp>
      <p:pic>
        <p:nvPicPr>
          <p:cNvPr id="3" name="Foto SM-24" descr="Foto del geófono SM-24 con carcasa amarilla y punta">    </p:cNvPr>
          <p:cNvPicPr>
            <a:picLocks noChangeAspect="1"/>
          </p:cNvPicPr>
          <p:nvPr/>
        </p:nvPicPr>
        <p:blipFill>
          <a:blip r:embed="rId1"/>
          <a:stretch>
            <a:fillRect/>
          </a:stretch>
        </p:blipFill>
        <p:spPr>
          <a:xfrm>
            <a:off x="457200" y="1280160"/>
            <a:ext cx="1691640" cy="1691640"/>
          </a:xfrm>
          <a:prstGeom prst="rect">
            <a:avLst/>
          </a:prstGeom>
        </p:spPr>
      </p:pic>
      <p:pic>
        <p:nvPicPr>
          <p:cNvPr id="4" name="Corte geófono" descr="Corte interno de un geófono de bobina móvil: carcasa, resortes, imán y bobinas">    </p:cNvPr>
          <p:cNvPicPr>
            <a:picLocks noChangeAspect="1"/>
          </p:cNvPicPr>
          <p:nvPr/>
        </p:nvPicPr>
        <p:blipFill>
          <a:blip r:embed="rId2"/>
          <a:stretch>
            <a:fillRect/>
          </a:stretch>
        </p:blipFill>
        <p:spPr>
          <a:xfrm>
            <a:off x="2240280" y="1280160"/>
            <a:ext cx="2240280" cy="1692242"/>
          </a:xfrm>
          <a:prstGeom prst="rect">
            <a:avLst/>
          </a:prstGeom>
        </p:spPr>
      </p:pic>
      <p:sp>
        <p:nvSpPr>
          <p:cNvPr id="5" name="Cuerpo"/>
          <p:cNvSpPr txBox="1"/>
          <p:nvPr/>
        </p:nvSpPr>
        <p:spPr>
          <a:xfrm>
            <a:off x="4754880" y="128016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Mide el movimiento vertical del suelo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Frecuencia natural: 10 Hz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Sensibilidad: 28,8 V·s/m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En circuito abierto: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ζ</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0,25</m:t>
                    </m:r>
                  </m:oMath>
                </a14:m>
              </mc:Choice>
              <mc:Fallback>
                <a:r>
                  <a:rPr lang="en-US" sz="1400" dirty="0">
                    <a:solidFill>
                      <a:srgbClr val="2D2D2D"/>
                    </a:solidFill>
                    <a:latin typeface="Arial" pitchFamily="34" charset="0"/>
                    <a:ea typeface="Arial" pitchFamily="34" charset="-122"/>
                    <a:cs typeface="Arial" pitchFamily="34" charset="-120"/>
                  </a:rPr>
                  <a:t>ζ ≈ 0,25</a:t>
                </a:r>
              </mc:Fallback>
            </mc:AlternateContent>
            <a:r>
              <a:rPr lang="en-US" sz="1400" dirty="0">
                <a:solidFill>
                  <a:srgbClr val="2D2D2D"/>
                </a:solidFill>
                <a:latin typeface="Arial" pitchFamily="34" charset="0"/>
                <a:ea typeface="Arial" pitchFamily="34" charset="-122"/>
                <a:cs typeface="Arial" pitchFamily="34" charset="-120"/>
              </a:rPr>
              <a:t>; con 1339 Ω de carga: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ζ</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0,60</m:t>
                    </m:r>
                  </m:oMath>
                </a14:m>
              </mc:Choice>
              <mc:Fallback>
                <a:r>
                  <a:rPr lang="en-US" sz="1400" dirty="0">
                    <a:solidFill>
                      <a:srgbClr val="2D2D2D"/>
                    </a:solidFill>
                    <a:latin typeface="Arial" pitchFamily="34" charset="0"/>
                    <a:ea typeface="Arial" pitchFamily="34" charset="-122"/>
                    <a:cs typeface="Arial" pitchFamily="34" charset="-120"/>
                  </a:rPr>
                  <a:t>ζ = 0,60</a:t>
                </a:r>
              </mc:Fallback>
            </mc:AlternateContent>
            <a:endParaRPr lang="en-US" sz="1400" dirty="0"/>
          </a:p>
        </p:txBody>
      </p:sp>
      <p:sp>
        <p:nvSpPr>
          <p:cNvPr id="6" name="Fondo E_zeta"/>
          <p:cNvSpPr/>
          <p:nvPr/>
        </p:nvSpPr>
        <p:spPr>
          <a:xfrm>
            <a:off x="457200" y="32461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c</m:t>
                          </m:r>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c/(2mωn) + G0²/(2mωn(Ri + RL))</a:t>
                </a:r>
                <a:endParaRPr lang="en-US" sz="2400" dirty="0"/>
              </a:p>
            </p:txBody>
          </p:sp>
        </mc:Fallback>
      </mc:AlternateContent>
      <p:sp>
        <p:nvSpPr>
          <p:cNvPr id="8" name="Text 4"/>
          <p:cNvSpPr txBox="1"/>
          <p:nvPr/>
        </p:nvSpPr>
        <p:spPr>
          <a:xfrm>
            <a:off x="457200" y="4114800"/>
            <a:ext cx="8229600" cy="411480"/>
          </a:xfrm>
          <a:prstGeom prst="rect">
            <a:avLst/>
          </a:prstGeom>
          <a:noFill/>
          <a:ln/>
        </p:spPr>
        <p:txBody>
          <a:bodyPr wrap="square" lIns="0" tIns="0" rIns="0" bIns="0" rtlCol="0" anchor="t"/>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300" i="1">
                        <a:solidFill>
                          <a:srgbClr val="6B6B6B"/>
                        </a:solidFill>
                        <a:latin typeface="Cambria Math" panose="02040503050406030204" pitchFamily="18" charset="0"/>
                      </a:rPr>
                      <m:t xml:space="preserve">ζ</m:t>
                    </m:r>
                  </m:oMath>
                </a14:m>
              </mc:Choice>
              <mc:Fallback>
                <a:r>
                  <a:rPr lang="en-US" sz="1300" dirty="0">
                    <a:solidFill>
                      <a:srgbClr val="6B6B6B"/>
                    </a:solidFill>
                    <a:latin typeface="Arial" pitchFamily="34" charset="0"/>
                    <a:ea typeface="Arial" pitchFamily="34" charset="-122"/>
                    <a:cs typeface="Arial" pitchFamily="34" charset="-120"/>
                  </a:rPr>
                  <a:t>ζ</a:t>
                </a:r>
              </mc:Fallback>
            </mc:AlternateContent>
            <a:r>
              <a:rPr lang="en-US" sz="1300" dirty="0">
                <a:solidFill>
                  <a:srgbClr val="6B6B6B"/>
                </a:solidFill>
                <a:latin typeface="Arial" pitchFamily="34" charset="0"/>
                <a:ea typeface="Arial" pitchFamily="34" charset="-122"/>
                <a:cs typeface="Arial" pitchFamily="34" charset="-120"/>
              </a:rPr>
              <a:t>: factor de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6B6B6B"/>
                            </a:solidFill>
                            <a:latin typeface="Cambria Math" panose="02040503050406030204" pitchFamily="18" charset="0"/>
                          </a:rPr>
                          <m:t xml:space="preserve">R</m:t>
                        </m:r>
                      </m:e>
                      <m:sub>
                        <m:r>
                          <a:rPr lang="es-ES" sz="1300" i="1">
                            <a:solidFill>
                              <a:srgbClr val="6B6B6B"/>
                            </a:solidFill>
                            <a:latin typeface="Cambria Math" panose="02040503050406030204" pitchFamily="18" charset="0"/>
                          </a:rPr>
                          <m:t xml:space="preserve">i</m:t>
                        </m:r>
                      </m:sub>
                    </m:sSub>
                  </m:oMath>
                </a14:m>
              </mc:Choice>
              <mc:Fallback>
                <a:r>
                  <a:rPr lang="en-US" sz="1300" dirty="0">
                    <a:solidFill>
                      <a:srgbClr val="6B6B6B"/>
                    </a:solidFill>
                    <a:latin typeface="Arial" pitchFamily="34" charset="0"/>
                    <a:ea typeface="Arial" pitchFamily="34" charset="-122"/>
                    <a:cs typeface="Arial" pitchFamily="34" charset="-120"/>
                  </a:rPr>
                  <a:t>Ri</a:t>
                </a:r>
              </mc:Fallback>
            </mc:AlternateContent>
            <a:r>
              <a:rPr lang="en-US" sz="1300" dirty="0">
                <a:solidFill>
                  <a:srgbClr val="6B6B6B"/>
                </a:solidFill>
                <a:latin typeface="Arial" pitchFamily="34" charset="0"/>
                <a:ea typeface="Arial" pitchFamily="34" charset="-122"/>
                <a:cs typeface="Arial" pitchFamily="34" charset="-120"/>
              </a:rPr>
              <a:t>: resistencia de la bobina (375 Ω).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6B6B6B"/>
                            </a:solidFill>
                            <a:latin typeface="Cambria Math" panose="02040503050406030204" pitchFamily="18" charset="0"/>
                          </a:rPr>
                          <m:t xml:space="preserve">R</m:t>
                        </m:r>
                      </m:e>
                      <m:sub>
                        <m:r>
                          <a:rPr lang="es-ES" sz="1300" i="1">
                            <a:solidFill>
                              <a:srgbClr val="6B6B6B"/>
                            </a:solidFill>
                            <a:latin typeface="Cambria Math" panose="02040503050406030204" pitchFamily="18" charset="0"/>
                          </a:rPr>
                          <m:t xml:space="preserve">L</m:t>
                        </m:r>
                      </m:sub>
                    </m:sSub>
                  </m:oMath>
                </a14:m>
              </mc:Choice>
              <mc:Fallback>
                <a:r>
                  <a:rPr lang="en-US" sz="1300" dirty="0">
                    <a:solidFill>
                      <a:srgbClr val="6B6B6B"/>
                    </a:solidFill>
                    <a:latin typeface="Arial" pitchFamily="34" charset="0"/>
                    <a:ea typeface="Arial" pitchFamily="34" charset="-122"/>
                    <a:cs typeface="Arial" pitchFamily="34" charset="-120"/>
                  </a:rPr>
                  <a:t>RL</a:t>
                </a:r>
              </mc:Fallback>
            </mc:AlternateContent>
            <a:r>
              <a:rPr lang="en-US" sz="1300" dirty="0">
                <a:solidFill>
                  <a:srgbClr val="6B6B6B"/>
                </a:solidFill>
                <a:latin typeface="Arial" pitchFamily="34" charset="0"/>
                <a:ea typeface="Arial" pitchFamily="34" charset="-122"/>
                <a:cs typeface="Arial" pitchFamily="34" charset="-120"/>
              </a:rPr>
              <a:t>: carga del frente analógico, que también amortigua al sensor.</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Sensor Nederland B.V. (2006), hoja de datos SM-24; resumen firmado, sec. 4.2, ec. (8). Corte: Breslin (2020), crédito DESY, original sin verificar.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masa suspendida se mueve respecto de la carcasa, y ese movimiento relativo genera la tensión</a:t>
            </a:r>
            <a:endParaRPr lang="en-US" sz="2400" dirty="0"/>
          </a:p>
        </p:txBody>
      </p:sp>
      <p:sp>
        <p:nvSpPr>
          <p:cNvPr id="3" name="Fondo E_urel"/>
          <p:cNvSpPr/>
          <p:nvPr/>
        </p:nvSpPr>
        <p:spPr>
          <a:xfrm>
            <a:off x="457200" y="1325880"/>
            <a:ext cx="27432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xm − xg</a:t>
                </a:r>
                <a:endParaRPr lang="en-US" sz="2400" dirty="0"/>
              </a:p>
            </p:txBody>
          </p:sp>
        </mc:Fallback>
      </mc:AlternateContent>
      <p:sp>
        <p:nvSpPr>
          <p:cNvPr id="5" name="Fondo E_mech"/>
          <p:cNvSpPr/>
          <p:nvPr/>
        </p:nvSpPr>
        <p:spPr>
          <a:xfrm>
            <a:off x="3383280" y="1325880"/>
            <a:ext cx="53035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m</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+c</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+ku=−m</m:t>
                      </m:r>
                      <m:sSub>
                        <m:sSubPr>
                          <m:ctrlPr>
                            <a:rPr lang="es-ES" sz="2400" i="1">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x</m:t>
                              </m:r>
                            </m:e>
                          </m:acc>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m ü + c u̇ + k u = −m ẍg</a:t>
                </a:r>
                <a:endParaRPr lang="en-US" sz="2400" dirty="0"/>
              </a:p>
            </p:txBody>
          </p:sp>
        </mc:Fallback>
      </mc:AlternateContent>
      <p:sp>
        <p:nvSpPr>
          <p:cNvPr id="7" name="Cuerpo"/>
          <p:cNvSpPr txBox="1"/>
          <p:nvPr/>
        </p:nvSpPr>
        <p:spPr>
          <a:xfrm>
            <a:off x="457200" y="22860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600" dirty="0"/>
          </a:p>
        </p:txBody>
      </p:sp>
      <p:sp>
        <p:nvSpPr>
          <p:cNvPr id="8" name="Fondo E_vo"/>
          <p:cNvSpPr/>
          <p:nvPr/>
        </p:nvSpPr>
        <p:spPr>
          <a:xfrm>
            <a:off x="2743200" y="3749040"/>
            <a:ext cx="365760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m:rPr>
                              <m:sty m:val="p"/>
                            </m:rPr>
                            <a:rPr lang="es-ES" sz="2400">
                              <a:solidFill>
                                <a:srgbClr val="1F4E79"/>
                              </a:solidFill>
                              <a:latin typeface="Cambria Math" panose="02040503050406030204" pitchFamily="18" charset="0"/>
                            </a:rPr>
                            <m:t xml:space="preserve">o</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oMath>
                  </m:oMathPara>
                </a14:m>
                <a:endParaRPr lang="es-ES"/>
              </a:p>
            </p:txBody>
          </p:sp>
        </mc:Choice>
        <mc:Fallback>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Vo = G0 u̇</a:t>
                </a:r>
                <a:endParaRPr lang="en-US" sz="2400" dirty="0"/>
              </a:p>
            </p:txBody>
          </p:sp>
        </mc:Fallback>
      </mc:AlternateContent>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ec. (7)–(9).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su frecuencia natural, la tensión del SM-24 cae rápido: a 1 Hz, unos 40 dB</a:t>
            </a:r>
            <a:endParaRPr lang="en-US" sz="2400" dirty="0"/>
          </a:p>
        </p:txBody>
      </p:sp>
      <p:pic>
        <p:nvPicPr>
          <p:cNvPr id="3" name="Respuesta SM-24" descr="Respuesta nominal del SM-24 referida a velocidad y a aceleración del terreno, con frecuencia natural de 10 Hz">    </p:cNvPr>
          <p:cNvPicPr>
            <a:picLocks noChangeAspect="1"/>
          </p:cNvPicPr>
          <p:nvPr/>
        </p:nvPicPr>
        <p:blipFill>
          <a:blip r:embed="rId1"/>
          <a:stretch>
            <a:fillRect/>
          </a:stretch>
        </p:blipFill>
        <p:spPr>
          <a:xfrm>
            <a:off x="1188720" y="1188720"/>
            <a:ext cx="6766560" cy="2470158"/>
          </a:xfrm>
          <a:prstGeom prst="rect">
            <a:avLst/>
          </a:prstGeom>
        </p:spPr>
      </p:pic>
      <p:sp>
        <p:nvSpPr>
          <p:cNvPr id="4" name="Fondo E_ha"/>
          <p:cNvSpPr/>
          <p:nvPr/>
        </p:nvSpPr>
        <p:spPr>
          <a:xfrm>
            <a:off x="2011680" y="3749040"/>
            <a:ext cx="51206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H</m:t>
                          </m:r>
                        </m:e>
                        <m:sub>
                          <m:r>
                            <a:rPr lang="es-ES" sz="2400" i="1">
                              <a:solidFill>
                                <a:srgbClr val="1F4E79"/>
                              </a:solidFill>
                              <a:latin typeface="Cambria Math" panose="02040503050406030204" pitchFamily="18" charset="0"/>
                            </a:rPr>
                            <m:t xml:space="preserve">a</m:t>
                          </m:r>
                        </m:sub>
                      </m:sSub>
                      <m:r>
                        <a:rPr lang="es-ES" sz="2400" i="1">
                          <a:solidFill>
                            <a:srgbClr val="1F4E79"/>
                          </a:solidFill>
                          <a:latin typeface="Cambria Math" panose="02040503050406030204" pitchFamily="18" charset="0"/>
                        </a:rPr>
                        <m:t xml:space="preserve">(s)=−</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s</m:t>
                          </m:r>
                        </m:num>
                        <m:den>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s</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+2ζ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s+</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e>
                            <m:sup>
                              <m:r>
                                <a:rPr lang="es-ES" sz="24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Ha(s) = −G0·s / (s² + 2ζωn·s + ωn²)</a:t>
                </a:r>
                <a:endParaRPr lang="en-US" sz="2400" dirty="0"/>
              </a:p>
            </p:txBody>
          </p:sp>
        </mc:Fallback>
      </mc:AlternateContent>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propio a partir de Sensor Nederland B.V. (2006), circuito abierto; resumen firmado, fig. 4 y ec. (9).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pérdida cae justo en las bajas frecuencias, que son las que llegan más profundo</a:t>
            </a:r>
            <a:endParaRPr lang="en-US" sz="2400" dirty="0"/>
          </a:p>
        </p:txBody>
      </p:sp>
      <p:sp>
        <p:nvSpPr>
          <p:cNvPr id="3" name="Cabecera Geófono de 4,5 Hz"/>
          <p:cNvSpPr/>
          <p:nvPr/>
        </p:nvSpPr>
        <p:spPr>
          <a:xfrm>
            <a:off x="457200" y="1325880"/>
            <a:ext cx="2011680" cy="502920"/>
          </a:xfrm>
          <a:prstGeom prst="rect">
            <a:avLst/>
          </a:prstGeom>
          <a:solidFill>
            <a:srgbClr val="6B6B6B"/>
          </a:solidFill>
          <a:ln w="12700">
            <a:solidFill>
              <a:srgbClr val="6B6B6B"/>
            </a:solidFill>
            <a:prstDash val="solid"/>
          </a:ln>
        </p:spPr>
      </p:sp>
      <p:sp>
        <p:nvSpPr>
          <p:cNvPr id="4" name="Text 2"/>
          <p:cNvSpPr txBox="1"/>
          <p:nvPr/>
        </p:nvSpPr>
        <p:spPr>
          <a:xfrm>
            <a:off x="45720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Geófono de 4,5 Hz</a:t>
            </a:r>
            <a:endParaRPr lang="en-US" sz="1600" dirty="0"/>
          </a:p>
        </p:txBody>
      </p:sp>
      <p:sp>
        <p:nvSpPr>
          <p:cNvPr id="5" name="Tarjeta Geófono de 4,5 Hz"/>
          <p:cNvSpPr/>
          <p:nvPr/>
        </p:nvSpPr>
        <p:spPr>
          <a:xfrm>
            <a:off x="457200" y="1828800"/>
            <a:ext cx="2011680" cy="1097280"/>
          </a:xfrm>
          <a:prstGeom prst="rect">
            <a:avLst/>
          </a:prstGeom>
          <a:solidFill>
            <a:srgbClr val="FFFFFF"/>
          </a:solidFill>
          <a:ln w="19050">
            <a:solidFill>
              <a:srgbClr val="6B6B6B"/>
            </a:solidFill>
            <a:prstDash val="solid"/>
          </a:ln>
        </p:spPr>
      </p:sp>
      <p:sp>
        <p:nvSpPr>
          <p:cNvPr id="6" name="Text 4"/>
          <p:cNvSpPr txBox="1"/>
          <p:nvPr/>
        </p:nvSpPr>
        <p:spPr>
          <a:xfrm>
            <a:off x="54864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92 a 154 USD por canal</a:t>
            </a:r>
            <a:endParaRPr lang="en-US" sz="1800" dirty="0"/>
          </a:p>
        </p:txBody>
      </p:sp>
      <p:sp>
        <p:nvSpPr>
          <p:cNvPr id="7" name="Cabecera SM-24 de 10 Hz"/>
          <p:cNvSpPr/>
          <p:nvPr/>
        </p:nvSpPr>
        <p:spPr>
          <a:xfrm>
            <a:off x="2606040" y="1325880"/>
            <a:ext cx="2011680" cy="502920"/>
          </a:xfrm>
          <a:prstGeom prst="rect">
            <a:avLst/>
          </a:prstGeom>
          <a:solidFill>
            <a:srgbClr val="1F4E79"/>
          </a:solidFill>
          <a:ln w="12700">
            <a:solidFill>
              <a:srgbClr val="1F4E79"/>
            </a:solidFill>
            <a:prstDash val="solid"/>
          </a:ln>
        </p:spPr>
      </p:sp>
      <p:sp>
        <p:nvSpPr>
          <p:cNvPr id="8" name="Text 6"/>
          <p:cNvSpPr txBox="1"/>
          <p:nvPr/>
        </p:nvSpPr>
        <p:spPr>
          <a:xfrm>
            <a:off x="260604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SM-24 de 10 Hz</a:t>
            </a:r>
            <a:endParaRPr lang="en-US" sz="1600" dirty="0"/>
          </a:p>
        </p:txBody>
      </p:sp>
      <p:sp>
        <p:nvSpPr>
          <p:cNvPr id="9" name="Tarjeta SM-24 de 10 Hz"/>
          <p:cNvSpPr/>
          <p:nvPr/>
        </p:nvSpPr>
        <p:spPr>
          <a:xfrm>
            <a:off x="2606040" y="1828800"/>
            <a:ext cx="2011680" cy="1097280"/>
          </a:xfrm>
          <a:prstGeom prst="rect">
            <a:avLst/>
          </a:prstGeom>
          <a:solidFill>
            <a:srgbClr val="FFFFFF"/>
          </a:solidFill>
          <a:ln w="19050">
            <a:solidFill>
              <a:srgbClr val="1F4E79"/>
            </a:solidFill>
            <a:prstDash val="solid"/>
          </a:ln>
        </p:spPr>
      </p:sp>
      <p:sp>
        <p:nvSpPr>
          <p:cNvPr id="10" name="Text 8"/>
          <p:cNvSpPr txBox="1"/>
          <p:nvPr/>
        </p:nvSpPr>
        <p:spPr>
          <a:xfrm>
            <a:off x="269748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unos 70 USD por canal</a:t>
            </a:r>
            <a:endParaRPr lang="en-US" sz="1800" dirty="0"/>
          </a:p>
        </p:txBody>
      </p:sp>
      <p:sp>
        <p:nvSpPr>
          <p:cNvPr id="11" name="Cuerpo"/>
          <p:cNvSpPr txBox="1"/>
          <p:nvPr/>
        </p:nvSpPr>
        <p:spPr>
          <a:xfrm>
            <a:off x="4846320" y="1325880"/>
            <a:ext cx="384048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Menor frecuencia: mayor longitud de onda y mayor profundidad</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800" dirty="0"/>
          </a:p>
        </p:txBody>
      </p:sp>
      <p:sp>
        <p:nvSpPr>
          <p:cNvPr id="12" name="Text 10"/>
          <p:cNvSpPr txBox="1"/>
          <p:nvPr/>
        </p:nvSpPr>
        <p:spPr>
          <a:xfrm>
            <a:off x="457200" y="3108960"/>
            <a:ext cx="4114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Precios de referencia consultados por el autor en 2026.</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SparkFun Electronics (2026); R. T. Clark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Existen cuatro familias de técnicas para mejorar la respuesta en baja frecuencia de un geófono</a:t>
            </a:r>
            <a:endParaRPr lang="en-US" sz="2400" dirty="0"/>
          </a:p>
        </p:txBody>
      </p:sp>
      <p:sp>
        <p:nvSpPr>
          <p:cNvPr id="3" name="Cabecera Modificar la carga del sensor"/>
          <p:cNvSpPr/>
          <p:nvPr/>
        </p:nvSpPr>
        <p:spPr>
          <a:xfrm>
            <a:off x="457200" y="1325880"/>
            <a:ext cx="1965960" cy="777240"/>
          </a:xfrm>
          <a:prstGeom prst="rect">
            <a:avLst/>
          </a:prstGeom>
          <a:solidFill>
            <a:srgbClr val="6B6B6B"/>
          </a:solidFill>
          <a:ln w="12700">
            <a:solidFill>
              <a:srgbClr val="6B6B6B"/>
            </a:solidFill>
            <a:prstDash val="solid"/>
          </a:ln>
        </p:spPr>
      </p:sp>
      <p:sp>
        <p:nvSpPr>
          <p:cNvPr id="4" name="Text 2"/>
          <p:cNvSpPr txBox="1"/>
          <p:nvPr/>
        </p:nvSpPr>
        <p:spPr>
          <a:xfrm>
            <a:off x="50292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carga del sensor</a:t>
            </a:r>
            <a:endParaRPr lang="en-US" sz="1300" dirty="0"/>
          </a:p>
        </p:txBody>
      </p:sp>
      <p:sp>
        <p:nvSpPr>
          <p:cNvPr id="5" name="Tarjeta Modificar la carga del sensor"/>
          <p:cNvSpPr/>
          <p:nvPr/>
        </p:nvSpPr>
        <p:spPr>
          <a:xfrm>
            <a:off x="457200" y="2103120"/>
            <a:ext cx="1965960" cy="1965960"/>
          </a:xfrm>
          <a:prstGeom prst="rect">
            <a:avLst/>
          </a:prstGeom>
          <a:solidFill>
            <a:srgbClr val="FFFFFF"/>
          </a:solidFill>
          <a:ln w="19050">
            <a:solidFill>
              <a:srgbClr val="6B6B6B"/>
            </a:solidFill>
            <a:prstDash val="solid"/>
          </a:ln>
        </p:spPr>
      </p:sp>
      <p:sp>
        <p:nvSpPr>
          <p:cNvPr id="6" name="Text 4"/>
          <p:cNvSpPr txBox="1"/>
          <p:nvPr/>
        </p:nvSpPr>
        <p:spPr>
          <a:xfrm>
            <a:off x="56692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200" dirty="0"/>
          </a:p>
        </p:txBody>
      </p:sp>
      <p:sp>
        <p:nvSpPr>
          <p:cNvPr id="7" name="Cabecera Compensación inversa (cero–polo)"/>
          <p:cNvSpPr/>
          <p:nvPr/>
        </p:nvSpPr>
        <p:spPr>
          <a:xfrm>
            <a:off x="2560320" y="1325880"/>
            <a:ext cx="1965960" cy="777240"/>
          </a:xfrm>
          <a:prstGeom prst="rect">
            <a:avLst/>
          </a:prstGeom>
          <a:solidFill>
            <a:srgbClr val="6B6B6B"/>
          </a:solidFill>
          <a:ln w="12700">
            <a:solidFill>
              <a:srgbClr val="6B6B6B"/>
            </a:solidFill>
            <a:prstDash val="solid"/>
          </a:ln>
        </p:spPr>
      </p:sp>
      <p:sp>
        <p:nvSpPr>
          <p:cNvPr id="8" name="Text 6"/>
          <p:cNvSpPr txBox="1"/>
          <p:nvPr/>
        </p:nvSpPr>
        <p:spPr>
          <a:xfrm>
            <a:off x="260604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Compensación inversa (cero–polo)</a:t>
            </a:r>
            <a:endParaRPr lang="en-US" sz="1300" dirty="0"/>
          </a:p>
        </p:txBody>
      </p:sp>
      <p:sp>
        <p:nvSpPr>
          <p:cNvPr id="9" name="Tarjeta Compensación inversa (cero–polo)"/>
          <p:cNvSpPr/>
          <p:nvPr/>
        </p:nvSpPr>
        <p:spPr>
          <a:xfrm>
            <a:off x="2560320" y="2103120"/>
            <a:ext cx="1965960" cy="1965960"/>
          </a:xfrm>
          <a:prstGeom prst="rect">
            <a:avLst/>
          </a:prstGeom>
          <a:solidFill>
            <a:srgbClr val="FFFFFF"/>
          </a:solidFill>
          <a:ln w="19050">
            <a:solidFill>
              <a:srgbClr val="6B6B6B"/>
            </a:solidFill>
            <a:prstDash val="solid"/>
          </a:ln>
        </p:spPr>
      </p:sp>
      <p:sp>
        <p:nvSpPr>
          <p:cNvPr id="10" name="Text 8"/>
          <p:cNvSpPr txBox="1"/>
          <p:nvPr/>
        </p:nvSpPr>
        <p:spPr>
          <a:xfrm>
            <a:off x="267004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200" dirty="0"/>
          </a:p>
        </p:txBody>
      </p:sp>
      <p:sp>
        <p:nvSpPr>
          <p:cNvPr id="11" name="Cabecera Resistencia negativa y balance de fuerza"/>
          <p:cNvSpPr/>
          <p:nvPr/>
        </p:nvSpPr>
        <p:spPr>
          <a:xfrm>
            <a:off x="4663440" y="1325880"/>
            <a:ext cx="1965960" cy="777240"/>
          </a:xfrm>
          <a:prstGeom prst="rect">
            <a:avLst/>
          </a:prstGeom>
          <a:solidFill>
            <a:srgbClr val="6B6B6B"/>
          </a:solidFill>
          <a:ln w="12700">
            <a:solidFill>
              <a:srgbClr val="6B6B6B"/>
            </a:solidFill>
            <a:prstDash val="solid"/>
          </a:ln>
        </p:spPr>
      </p:sp>
      <p:sp>
        <p:nvSpPr>
          <p:cNvPr id="12" name="Text 10"/>
          <p:cNvSpPr txBox="1"/>
          <p:nvPr/>
        </p:nvSpPr>
        <p:spPr>
          <a:xfrm>
            <a:off x="470916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Resistencia negativa y balance de fuerza</a:t>
            </a:r>
            <a:endParaRPr lang="en-US" sz="1300" dirty="0"/>
          </a:p>
        </p:txBody>
      </p:sp>
      <p:sp>
        <p:nvSpPr>
          <p:cNvPr id="13" name="Tarjeta Resistencia negativa y balance de fuerza"/>
          <p:cNvSpPr/>
          <p:nvPr/>
        </p:nvSpPr>
        <p:spPr>
          <a:xfrm>
            <a:off x="4663440" y="2103120"/>
            <a:ext cx="1965960" cy="1965960"/>
          </a:xfrm>
          <a:prstGeom prst="rect">
            <a:avLst/>
          </a:prstGeom>
          <a:solidFill>
            <a:srgbClr val="FFFFFF"/>
          </a:solidFill>
          <a:ln w="19050">
            <a:solidFill>
              <a:srgbClr val="6B6B6B"/>
            </a:solidFill>
            <a:prstDash val="solid"/>
          </a:ln>
        </p:spPr>
      </p:sp>
      <p:sp>
        <p:nvSpPr>
          <p:cNvPr id="14" name="Text 12"/>
          <p:cNvSpPr txBox="1"/>
          <p:nvPr/>
        </p:nvSpPr>
        <p:spPr>
          <a:xfrm>
            <a:off x="477316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200" dirty="0"/>
          </a:p>
        </p:txBody>
      </p:sp>
      <p:sp>
        <p:nvSpPr>
          <p:cNvPr id="15" name="Cabecera Modificar la forma de la respuesta"/>
          <p:cNvSpPr/>
          <p:nvPr/>
        </p:nvSpPr>
        <p:spPr>
          <a:xfrm>
            <a:off x="6766560" y="1325880"/>
            <a:ext cx="1965960" cy="777240"/>
          </a:xfrm>
          <a:prstGeom prst="rect">
            <a:avLst/>
          </a:prstGeom>
          <a:solidFill>
            <a:srgbClr val="2E75B6"/>
          </a:solidFill>
          <a:ln w="12700">
            <a:solidFill>
              <a:srgbClr val="2E75B6"/>
            </a:solidFill>
            <a:prstDash val="solid"/>
          </a:ln>
        </p:spPr>
      </p:sp>
      <p:sp>
        <p:nvSpPr>
          <p:cNvPr id="16" name="Text 14"/>
          <p:cNvSpPr txBox="1"/>
          <p:nvPr/>
        </p:nvSpPr>
        <p:spPr>
          <a:xfrm>
            <a:off x="681228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forma de la respuesta</a:t>
            </a:r>
            <a:endParaRPr lang="en-US" sz="1300" dirty="0"/>
          </a:p>
        </p:txBody>
      </p:sp>
      <p:sp>
        <p:nvSpPr>
          <p:cNvPr id="17" name="Tarjeta Modificar la forma de la respuesta"/>
          <p:cNvSpPr/>
          <p:nvPr/>
        </p:nvSpPr>
        <p:spPr>
          <a:xfrm>
            <a:off x="6766560" y="2103120"/>
            <a:ext cx="1965960" cy="1965960"/>
          </a:xfrm>
          <a:prstGeom prst="rect">
            <a:avLst/>
          </a:prstGeom>
          <a:solidFill>
            <a:srgbClr val="FFFFFF"/>
          </a:solidFill>
          <a:ln w="19050">
            <a:solidFill>
              <a:srgbClr val="2E75B6"/>
            </a:solidFill>
            <a:prstDash val="solid"/>
          </a:ln>
        </p:spPr>
      </p:sp>
      <p:sp>
        <p:nvSpPr>
          <p:cNvPr id="18" name="Text 16"/>
          <p:cNvSpPr txBox="1"/>
          <p:nvPr/>
        </p:nvSpPr>
        <p:spPr>
          <a:xfrm>
            <a:off x="687628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200" dirty="0"/>
          </a:p>
        </p:txBody>
      </p:sp>
      <p:sp>
        <p:nvSpPr>
          <p:cNvPr id="19" name="Text 1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Pazos, Alguacil y Davila (2005), BSSA 95(5), 1940–1946, según Ma et al. (2023), Sensors 23(6), 3082; Hakimitoroghi et al. (2017) y Zhang (2025):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Invertir la respuesta del sensor exige muchísima ganancia cerca de continua</a:t>
            </a:r>
            <a:endParaRPr lang="en-US" sz="2400" dirty="0"/>
          </a:p>
        </p:txBody>
      </p:sp>
      <p:sp>
        <p:nvSpPr>
          <p:cNvPr id="3" name="Cuerpo"/>
          <p:cNvSpPr txBox="1"/>
          <p:nvPr/>
        </p:nvSpPr>
        <p:spPr>
          <a:xfrm>
            <a:off x="457200" y="1325880"/>
            <a:ext cx="48463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Altísima ganancia cerca de DC</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Offsets y bias pueden llevarla a saturación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Amplifica el ruido de baja frecuencia fuera de banda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800" dirty="0"/>
          </a:p>
        </p:txBody>
      </p:sp>
      <p:sp>
        <p:nvSpPr>
          <p:cNvPr id="4" name="Cabecera ganancia"/>
          <p:cNvSpPr/>
          <p:nvPr/>
        </p:nvSpPr>
        <p:spPr>
          <a:xfrm>
            <a:off x="5669280" y="1371600"/>
            <a:ext cx="3017520" cy="457200"/>
          </a:xfrm>
          <a:prstGeom prst="rect">
            <a:avLst/>
          </a:prstGeom>
          <a:solidFill>
            <a:srgbClr val="C55A11"/>
          </a:solidFill>
          <a:ln w="12700">
            <a:solidFill>
              <a:srgbClr val="C55A11"/>
            </a:solidFill>
            <a:prstDash val="solid"/>
          </a:ln>
        </p:spPr>
      </p:sp>
      <p:sp>
        <p:nvSpPr>
          <p:cNvPr id="5" name="Text 3"/>
          <p:cNvSpPr txBox="1"/>
          <p:nvPr/>
        </p:nvSpPr>
        <p:spPr>
          <a:xfrm>
            <a:off x="5669280" y="1371600"/>
            <a:ext cx="3017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Ganancia necesaria a 1 Hz</a:t>
            </a:r>
            <a:endParaRPr lang="en-US" sz="1500" dirty="0"/>
          </a:p>
        </p:txBody>
      </p:sp>
      <p:sp>
        <p:nvSpPr>
          <p:cNvPr id="6" name="Tarjeta ganancia"/>
          <p:cNvSpPr/>
          <p:nvPr/>
        </p:nvSpPr>
        <p:spPr>
          <a:xfrm>
            <a:off x="5669280" y="1828800"/>
            <a:ext cx="3017520" cy="1554480"/>
          </a:xfrm>
          <a:prstGeom prst="rect">
            <a:avLst/>
          </a:prstGeom>
          <a:solidFill>
            <a:srgbClr val="FFFFFF"/>
          </a:solidFill>
          <a:ln w="19050">
            <a:solidFill>
              <a:srgbClr val="C55A11"/>
            </a:solidFill>
            <a:prstDash val="solid"/>
          </a:ln>
        </p:spPr>
      </p:sp>
      <p:sp>
        <p:nvSpPr>
          <p:cNvPr id="7" name="Text 5"/>
          <p:cNvSpPr txBox="1"/>
          <p:nvPr/>
        </p:nvSpPr>
        <p:spPr>
          <a:xfrm>
            <a:off x="5669280" y="1874520"/>
            <a:ext cx="3017520" cy="822960"/>
          </a:xfrm>
          <a:prstGeom prst="rect">
            <a:avLst/>
          </a:prstGeom>
          <a:noFill/>
          <a:ln/>
        </p:spPr>
        <p:txBody>
          <a:bodyPr wrap="square" lIns="0" tIns="0" rIns="0" bIns="0" rtlCol="0" anchor="ctr"/>
          <a:lstStyle/>
          <a:p>
            <a:pPr algn="ctr" indent="0" marL="0">
              <a:buNone/>
            </a:pPr>
            <a:r>
              <a:rPr lang="en-US" sz="3600" b="1" dirty="0">
                <a:solidFill>
                  <a:srgbClr val="C55A11"/>
                </a:solidFill>
                <a:latin typeface="Arial" pitchFamily="34" charset="0"/>
                <a:ea typeface="Arial" pitchFamily="34" charset="-122"/>
                <a:cs typeface="Arial" pitchFamily="34" charset="-120"/>
              </a:rPr>
              <a:t>≈ +40 dB</a:t>
            </a:r>
            <a:endParaRPr lang="en-US" sz="3600" dirty="0"/>
          </a:p>
        </p:txBody>
      </p:sp>
      <p:sp>
        <p:nvSpPr>
          <p:cNvPr id="8" name="Text 6"/>
          <p:cNvSpPr txBox="1"/>
          <p:nvPr/>
        </p:nvSpPr>
        <p:spPr>
          <a:xfrm>
            <a:off x="5806440" y="2697480"/>
            <a:ext cx="2743200" cy="64008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respecto de la zona plana (modelo del SM-24,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ζ</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0,25</m:t>
                    </m:r>
                  </m:oMath>
                </a14:m>
              </mc:Choice>
              <mc:Fallback>
                <a:r>
                  <a:rPr lang="en-US" sz="1200" dirty="0">
                    <a:solidFill>
                      <a:srgbClr val="6B6B6B"/>
                    </a:solidFill>
                    <a:latin typeface="Arial" pitchFamily="34" charset="0"/>
                    <a:ea typeface="Arial" pitchFamily="34" charset="-122"/>
                    <a:cs typeface="Arial" pitchFamily="34" charset="-120"/>
                  </a:rPr>
                  <a:t>ζ = 0,25</a:t>
                </a:r>
              </mc:Fallback>
            </mc:AlternateContent>
            <a:r>
              <a:rPr lang="en-US" sz="1200" dirty="0">
                <a:solidFill>
                  <a:srgbClr val="6B6B6B"/>
                </a:solidFill>
                <a:latin typeface="Arial" pitchFamily="34" charset="0"/>
                <a:ea typeface="Arial" pitchFamily="34" charset="-122"/>
                <a:cs typeface="Arial" pitchFamily="34" charset="-120"/>
              </a:rPr>
              <a:t>, referido a velocidad)</a:t>
            </a:r>
            <a:endParaRPr lang="en-US" sz="1200" dirty="0"/>
          </a:p>
        </p:txBody>
      </p:sp>
      <p:sp>
        <p:nvSpPr>
          <p:cNvPr id="9" name="Text 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4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Hakimitoroghi et al. (2017); modelo propio (slide 54).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2400" dirty="0"/>
          </a:p>
        </p:txBody>
      </p:sp>
      <p:sp>
        <p:nvSpPr>
          <p:cNvPr id="3" name="Fondo E_zeta2"/>
          <p:cNvSpPr/>
          <p:nvPr/>
        </p:nvSpPr>
        <p:spPr>
          <a:xfrm>
            <a:off x="457200" y="132588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ζ</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e>
                            <m:sup>
                              <m:r>
                                <a:rPr lang="es-ES" sz="2400" i="1">
                                  <a:solidFill>
                                    <a:srgbClr val="1F4E79"/>
                                  </a:solidFill>
                                  <a:latin typeface="Cambria Math" panose="02040503050406030204" pitchFamily="18" charset="0"/>
                                </a:rPr>
                                <m:t xml:space="preserve">2</m:t>
                              </m:r>
                            </m:sup>
                          </m:sSup>
                        </m:num>
                        <m:den>
                          <m:r>
                            <a:rPr lang="es-ES" sz="2400" i="1">
                              <a:solidFill>
                                <a:srgbClr val="1F4E79"/>
                              </a:solidFill>
                              <a:latin typeface="Cambria Math" panose="02040503050406030204" pitchFamily="18" charset="0"/>
                            </a:rPr>
                            <m:t xml:space="preserve">2m</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L</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ζ0 + G0² / (2mωn(Ri + RL))</a:t>
                </a:r>
                <a:endParaRPr lang="en-US" sz="2400" dirty="0"/>
              </a:p>
            </p:txBody>
          </p:sp>
        </mc:Fallback>
      </mc:AlternateContent>
      <p:sp>
        <p:nvSpPr>
          <p:cNvPr id="5" name="Cuerpo"/>
          <p:cNvSpPr txBox="1"/>
          <p:nvPr/>
        </p:nvSpPr>
        <p:spPr>
          <a:xfrm>
            <a:off x="457200" y="23774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El lazo activo interactúa directamente con el transductor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600" dirty="0"/>
          </a:p>
        </p:txBody>
      </p:sp>
      <p:sp>
        <p:nvSpPr>
          <p:cNvPr id="6" name="Text 4"/>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circuito de resistencia negativa; resumen firmado, sec. 4.2, ec. (8).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idea de Ma et al.: no levantar el fondo, bajar el pico</a:t>
            </a:r>
            <a:endParaRPr lang="en-US" sz="2400" dirty="0"/>
          </a:p>
        </p:txBody>
      </p:sp>
      <p:pic>
        <p:nvPicPr>
          <p:cNvPr id="3" name="Curvas del compensador" descr="Respuesta referida a aceleración: geófono, compensador ideal sin ganancia y compensador ideal con ganancia">    </p:cNvPr>
          <p:cNvPicPr>
            <a:picLocks noChangeAspect="1"/>
          </p:cNvPicPr>
          <p:nvPr/>
        </p:nvPicPr>
        <p:blipFill>
          <a:blip r:embed="rId1"/>
          <a:stretch>
            <a:fillRect/>
          </a:stretch>
        </p:blipFill>
        <p:spPr>
          <a:xfrm>
            <a:off x="365760" y="1234440"/>
            <a:ext cx="5120640" cy="2906309"/>
          </a:xfrm>
          <a:prstGeom prst="rect">
            <a:avLst/>
          </a:prstGeom>
        </p:spPr>
      </p:pic>
      <p:sp>
        <p:nvSpPr>
          <p:cNvPr id="4" name="Cuerpo"/>
          <p:cNvSpPr txBox="1"/>
          <p:nvPr/>
        </p:nvSpPr>
        <p:spPr>
          <a:xfrm>
            <a:off x="5669280" y="132588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atenúa la zona de la resonancia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Después se recupera el nivel con ganancia global</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pasabanda se ensancha, pero sigue siendo un pasabanda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300" dirty="0"/>
          </a:p>
        </p:txBody>
      </p:sp>
      <p:sp>
        <p:nvSpPr>
          <p:cNvPr id="5" name="Text 2"/>
          <p:cNvSpPr txBox="1"/>
          <p:nvPr/>
        </p:nvSpPr>
        <p:spPr>
          <a:xfrm>
            <a:off x="457200" y="4224528"/>
            <a:ext cx="512064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Compensador ideal</a:t>
            </a:r>
            <a:endParaRPr lang="en-US" sz="12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documento de tesis (03b_topologias.tex); curvas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el método de Ma et al. porque es estable, simple y no amplifica ruido</a:t>
            </a:r>
            <a:endParaRPr lang="en-US" sz="2400" dirty="0"/>
          </a:p>
        </p:txBody>
      </p:sp>
      <p:sp>
        <p:nvSpPr>
          <p:cNvPr id="3" name="Cabecera Estable"/>
          <p:cNvSpPr/>
          <p:nvPr/>
        </p:nvSpPr>
        <p:spPr>
          <a:xfrm>
            <a:off x="457200" y="1280160"/>
            <a:ext cx="2651760" cy="457200"/>
          </a:xfrm>
          <a:prstGeom prst="rect">
            <a:avLst/>
          </a:prstGeom>
          <a:solidFill>
            <a:srgbClr val="1F4E79"/>
          </a:solidFill>
          <a:ln w="12700">
            <a:solidFill>
              <a:srgbClr val="1F4E79"/>
            </a:solidFill>
            <a:prstDash val="solid"/>
          </a:ln>
        </p:spPr>
      </p:sp>
      <p:sp>
        <p:nvSpPr>
          <p:cNvPr id="4" name="Text 2"/>
          <p:cNvSpPr txBox="1"/>
          <p:nvPr/>
        </p:nvSpPr>
        <p:spPr>
          <a:xfrm>
            <a:off x="50292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Estable</a:t>
            </a:r>
            <a:endParaRPr lang="en-US" sz="1600" dirty="0"/>
          </a:p>
        </p:txBody>
      </p:sp>
      <p:sp>
        <p:nvSpPr>
          <p:cNvPr id="5" name="Tarjeta Estable"/>
          <p:cNvSpPr/>
          <p:nvPr/>
        </p:nvSpPr>
        <p:spPr>
          <a:xfrm>
            <a:off x="457200" y="1737360"/>
            <a:ext cx="2651760" cy="1097280"/>
          </a:xfrm>
          <a:prstGeom prst="rect">
            <a:avLst/>
          </a:prstGeom>
          <a:solidFill>
            <a:srgbClr val="FFFFFF"/>
          </a:solidFill>
          <a:ln w="19050">
            <a:solidFill>
              <a:srgbClr val="1F4E79"/>
            </a:solidFill>
            <a:prstDash val="solid"/>
          </a:ln>
        </p:spPr>
      </p:sp>
      <p:sp>
        <p:nvSpPr>
          <p:cNvPr id="6" name="Text 4"/>
          <p:cNvSpPr txBox="1"/>
          <p:nvPr/>
        </p:nvSpPr>
        <p:spPr>
          <a:xfrm>
            <a:off x="56692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300" dirty="0"/>
          </a:p>
        </p:txBody>
      </p:sp>
      <p:sp>
        <p:nvSpPr>
          <p:cNvPr id="7" name="Cabecera Simple"/>
          <p:cNvSpPr/>
          <p:nvPr/>
        </p:nvSpPr>
        <p:spPr>
          <a:xfrm>
            <a:off x="3246120" y="1280160"/>
            <a:ext cx="2651760" cy="457200"/>
          </a:xfrm>
          <a:prstGeom prst="rect">
            <a:avLst/>
          </a:prstGeom>
          <a:solidFill>
            <a:srgbClr val="1F4E79"/>
          </a:solidFill>
          <a:ln w="12700">
            <a:solidFill>
              <a:srgbClr val="1F4E79"/>
            </a:solidFill>
            <a:prstDash val="solid"/>
          </a:ln>
        </p:spPr>
      </p:sp>
      <p:sp>
        <p:nvSpPr>
          <p:cNvPr id="8" name="Text 6"/>
          <p:cNvSpPr txBox="1"/>
          <p:nvPr/>
        </p:nvSpPr>
        <p:spPr>
          <a:xfrm>
            <a:off x="329184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Simple</a:t>
            </a:r>
            <a:endParaRPr lang="en-US" sz="1600" dirty="0"/>
          </a:p>
        </p:txBody>
      </p:sp>
      <p:sp>
        <p:nvSpPr>
          <p:cNvPr id="9" name="Tarjeta Simple"/>
          <p:cNvSpPr/>
          <p:nvPr/>
        </p:nvSpPr>
        <p:spPr>
          <a:xfrm>
            <a:off x="3246120" y="1737360"/>
            <a:ext cx="2651760" cy="1097280"/>
          </a:xfrm>
          <a:prstGeom prst="rect">
            <a:avLst/>
          </a:prstGeom>
          <a:solidFill>
            <a:srgbClr val="FFFFFF"/>
          </a:solidFill>
          <a:ln w="19050">
            <a:solidFill>
              <a:srgbClr val="1F4E79"/>
            </a:solidFill>
            <a:prstDash val="solid"/>
          </a:ln>
        </p:spPr>
      </p:sp>
      <p:sp>
        <p:nvSpPr>
          <p:cNvPr id="10" name="Text 8"/>
          <p:cNvSpPr txBox="1"/>
          <p:nvPr/>
        </p:nvSpPr>
        <p:spPr>
          <a:xfrm>
            <a:off x="335584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Su implementación requiere pocos componentes.</a:t>
            </a:r>
            <a:endParaRPr lang="en-US" sz="1300" dirty="0"/>
          </a:p>
        </p:txBody>
      </p:sp>
      <p:sp>
        <p:nvSpPr>
          <p:cNvPr id="11" name="Cabecera No amplifica ruido"/>
          <p:cNvSpPr/>
          <p:nvPr/>
        </p:nvSpPr>
        <p:spPr>
          <a:xfrm>
            <a:off x="6035040" y="1280160"/>
            <a:ext cx="2651760" cy="457200"/>
          </a:xfrm>
          <a:prstGeom prst="rect">
            <a:avLst/>
          </a:prstGeom>
          <a:solidFill>
            <a:srgbClr val="1F4E79"/>
          </a:solidFill>
          <a:ln w="12700">
            <a:solidFill>
              <a:srgbClr val="1F4E79"/>
            </a:solidFill>
            <a:prstDash val="solid"/>
          </a:ln>
        </p:spPr>
      </p:sp>
      <p:sp>
        <p:nvSpPr>
          <p:cNvPr id="12" name="Text 10"/>
          <p:cNvSpPr txBox="1"/>
          <p:nvPr/>
        </p:nvSpPr>
        <p:spPr>
          <a:xfrm>
            <a:off x="608076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 amplifica ruido</a:t>
            </a:r>
            <a:endParaRPr lang="en-US" sz="1600" dirty="0"/>
          </a:p>
        </p:txBody>
      </p:sp>
      <p:sp>
        <p:nvSpPr>
          <p:cNvPr id="13" name="Tarjeta No amplifica ruido"/>
          <p:cNvSpPr/>
          <p:nvPr/>
        </p:nvSpPr>
        <p:spPr>
          <a:xfrm>
            <a:off x="6035040" y="1737360"/>
            <a:ext cx="2651760" cy="1097280"/>
          </a:xfrm>
          <a:prstGeom prst="rect">
            <a:avLst/>
          </a:prstGeom>
          <a:solidFill>
            <a:srgbClr val="FFFFFF"/>
          </a:solidFill>
          <a:ln w="19050">
            <a:solidFill>
              <a:srgbClr val="1F4E79"/>
            </a:solidFill>
            <a:prstDash val="solid"/>
          </a:ln>
        </p:spPr>
      </p:sp>
      <p:sp>
        <p:nvSpPr>
          <p:cNvPr id="14" name="Text 12"/>
          <p:cNvSpPr txBox="1"/>
          <p:nvPr/>
        </p:nvSpPr>
        <p:spPr>
          <a:xfrm>
            <a:off x="614476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300" dirty="0"/>
          </a:p>
        </p:txBody>
      </p:sp>
      <p:sp>
        <p:nvSpPr>
          <p:cNvPr id="15" name="Fondo complejidad"/>
          <p:cNvSpPr/>
          <p:nvPr/>
        </p:nvSpPr>
        <p:spPr>
          <a:xfrm>
            <a:off x="457200" y="2880360"/>
            <a:ext cx="8229600" cy="777240"/>
          </a:xfrm>
          <a:prstGeom prst="rect">
            <a:avLst/>
          </a:prstGeom>
          <a:solidFill>
            <a:srgbClr val="EAF1F8"/>
          </a:solidFill>
          <a:ln w="12700">
            <a:solidFill>
              <a:srgbClr val="EAF1F8"/>
            </a:solidFill>
            <a:prstDash val="solid"/>
          </a:ln>
        </p:spPr>
      </p:sp>
      <p:sp>
        <p:nvSpPr>
          <p:cNvPr id="16" name="Text 14"/>
          <p:cNvSpPr txBox="1"/>
          <p:nvPr/>
        </p:nvSpPr>
        <p:spPr>
          <a:xfrm>
            <a:off x="594360" y="2880360"/>
            <a:ext cx="7955280" cy="777240"/>
          </a:xfrm>
          <a:prstGeom prst="rect">
            <a:avLst/>
          </a:prstGeom>
          <a:noFill/>
          <a:ln/>
        </p:spPr>
        <p:txBody>
          <a:bodyPr wrap="square" lIns="0" tIns="0" rIns="0" bIns="0" rtlCol="0" anchor="ctr"/>
          <a:lstStyle/>
          <a:p>
            <a:pPr indent="0" marL="0">
              <a:buNone/>
            </a:pPr>
            <a:r>
              <a:rPr lang="en-US" sz="140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400" dirty="0"/>
          </a:p>
        </p:txBody>
      </p:sp>
      <p:sp>
        <p:nvSpPr>
          <p:cNvPr id="17" name="Fondo desventaja"/>
          <p:cNvSpPr/>
          <p:nvPr/>
        </p:nvSpPr>
        <p:spPr>
          <a:xfrm>
            <a:off x="457200" y="3749040"/>
            <a:ext cx="8229600" cy="640080"/>
          </a:xfrm>
          <a:prstGeom prst="rect">
            <a:avLst/>
          </a:prstGeom>
          <a:solidFill>
            <a:srgbClr val="FBE9DD"/>
          </a:solidFill>
          <a:ln w="12700">
            <a:solidFill>
              <a:srgbClr val="FBE9DD"/>
            </a:solidFill>
            <a:prstDash val="solid"/>
          </a:ln>
        </p:spPr>
      </p:sp>
      <p:sp>
        <p:nvSpPr>
          <p:cNvPr id="18" name="Text 16"/>
          <p:cNvSpPr txBox="1"/>
          <p:nvPr/>
        </p:nvSpPr>
        <p:spPr>
          <a:xfrm>
            <a:off x="594360" y="3749040"/>
            <a:ext cx="7955280" cy="640080"/>
          </a:xfrm>
          <a:prstGeom prst="rect">
            <a:avLst/>
          </a:prstGeom>
          <a:noFill/>
          <a:ln/>
        </p:spPr>
        <p:txBody>
          <a:bodyPr wrap="square" lIns="0" tIns="0" rIns="0" bIns="0" rtlCol="0" anchor="ctr"/>
          <a:lstStyle/>
          <a:p>
            <a:pPr indent="0" marL="0">
              <a:buNone/>
            </a:pPr>
            <a:r>
              <a:rPr lang="en-US" sz="150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5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Pazos et al. (2005); estabilidad y ruido: inferencia propia,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compensador sube el amortiguamiento del conjunto: es un camino directo menos un pasabanda</a:t>
            </a:r>
            <a:endParaRPr lang="en-US" sz="2400" dirty="0"/>
          </a:p>
        </p:txBody>
      </p:sp>
      <p:sp>
        <p:nvSpPr>
          <p:cNvPr id="3"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Buscamos que el conjunto tenga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ζ</m:t>
                        </m:r>
                      </m:e>
                      <m:sub>
                        <m:r>
                          <m:rPr>
                            <m:sty m:val="p"/>
                          </m:rPr>
                          <a:rPr lang="es-ES" sz="1400">
                            <a:solidFill>
                              <a:srgbClr val="2D2D2D"/>
                            </a:solidFill>
                            <a:latin typeface="Cambria Math" panose="02040503050406030204" pitchFamily="18" charset="0"/>
                          </a:rPr>
                          <m:t xml:space="preserve">1</m:t>
                        </m:r>
                      </m:sub>
                    </m:sSub>
                    <m:r>
                      <m:rPr>
                        <m:sty m:val="p"/>
                      </m:rPr>
                      <a:rPr lang="es-ES" sz="1400">
                        <a:solidFill>
                          <a:srgbClr val="2D2D2D"/>
                        </a:solidFill>
                        <a:latin typeface="Cambria Math" panose="02040503050406030204" pitchFamily="18" charset="0"/>
                      </a:rPr>
                      <m:t xml:space="preserve">&gt;</m:t>
                    </m:r>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ζ</m:t>
                        </m:r>
                      </m:e>
                      <m:sub>
                        <m:r>
                          <m:rPr>
                            <m:sty m:val="p"/>
                          </m:rPr>
                          <a:rPr lang="es-ES" sz="1400">
                            <a:solidFill>
                              <a:srgbClr val="2D2D2D"/>
                            </a:solidFill>
                            <a:latin typeface="Cambria Math" panose="02040503050406030204" pitchFamily="18" charset="0"/>
                          </a:rPr>
                          <m:t xml:space="preserve">0</m:t>
                        </m:r>
                      </m:sub>
                    </m:sSub>
                  </m:oMath>
                </a14:m>
              </mc:Choice>
              <mc:Fallback>
                <a:r>
                  <a:rPr lang="en-US" sz="1400" dirty="0">
                    <a:solidFill>
                      <a:srgbClr val="2D2D2D"/>
                    </a:solidFill>
                    <a:latin typeface="Arial" pitchFamily="34" charset="0"/>
                    <a:ea typeface="Arial" pitchFamily="34" charset="-122"/>
                    <a:cs typeface="Arial" pitchFamily="34" charset="-120"/>
                  </a:rPr>
                  <a:t>ζ1 &gt; ζ0</a:t>
                </a:r>
              </mc:Fallback>
            </mc:AlternateContent>
            <a:r>
              <a:rPr lang="en-US" sz="1400" dirty="0">
                <a:solidFill>
                  <a:srgbClr val="2D2D2D"/>
                </a:solidFill>
                <a:latin typeface="Arial" pitchFamily="34" charset="0"/>
                <a:ea typeface="Arial" pitchFamily="34" charset="-122"/>
                <a:cs typeface="Arial" pitchFamily="34" charset="-120"/>
              </a:rPr>
              <a:t>, con la misma frecuencia natural:</a:t>
            </a:r>
            <a:endParaRPr lang="en-US" sz="1400" dirty="0"/>
          </a:p>
        </p:txBody>
      </p:sp>
      <p:sp>
        <p:nvSpPr>
          <p:cNvPr id="4" name="Fondo E_hc1"/>
          <p:cNvSpPr/>
          <p:nvPr/>
        </p:nvSpPr>
        <p:spPr>
          <a:xfrm>
            <a:off x="457200" y="1600200"/>
            <a:ext cx="8229600" cy="11430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m:t>
                      </m:r>
                      <m:f>
                        <m:fPr>
                          <m:ctrlPr>
                            <a:rPr lang="es-ES" sz="3000" i="1">
                              <a:latin typeface="Cambria Math" panose="02040503050406030204" pitchFamily="18" charset="0"/>
                            </a:rPr>
                          </m:ctrlPr>
                        </m:fPr>
                        <m:num>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(s² + 2ζ0ωn·s + ωn²) / (s² + 2ζ1ωn·s + ωn²)</a:t>
                </a:r>
                <a:endParaRPr lang="en-US" sz="2400" dirty="0"/>
              </a:p>
            </p:txBody>
          </p:sp>
        </mc:Fallback>
      </mc:AlternateContent>
      <p:sp>
        <p:nvSpPr>
          <p:cNvPr id="6" name="Text 4"/>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Separando el término constante, el segundo término es un pasabanda,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H</m:t>
                        </m:r>
                      </m:e>
                      <m:sub>
                        <m:r>
                          <m:rPr>
                            <m:sty m:val="p"/>
                          </m:rPr>
                          <a:rPr lang="es-ES" sz="1500">
                            <a:solidFill>
                              <a:srgbClr val="2D2D2D"/>
                            </a:solidFill>
                            <a:latin typeface="Cambria Math" panose="02040503050406030204" pitchFamily="18" charset="0"/>
                          </a:rPr>
                          <m:t xml:space="preserve">BP</m:t>
                        </m:r>
                      </m:sub>
                    </m:sSub>
                  </m:oMath>
                </a14:m>
              </mc:Choice>
              <mc:Fallback>
                <a:r>
                  <a:rPr lang="en-US" sz="1500" dirty="0">
                    <a:solidFill>
                      <a:srgbClr val="2D2D2D"/>
                    </a:solidFill>
                    <a:latin typeface="Arial" pitchFamily="34" charset="0"/>
                    <a:ea typeface="Arial" pitchFamily="34" charset="-122"/>
                    <a:cs typeface="Arial" pitchFamily="34" charset="-120"/>
                  </a:rPr>
                  <a:t>HBP</a:t>
                </a:r>
              </mc:Fallback>
            </mc:AlternateContent>
            <a:r>
              <a:rPr lang="en-US" sz="1500" dirty="0">
                <a:solidFill>
                  <a:srgbClr val="2D2D2D"/>
                </a:solidFill>
                <a:latin typeface="Arial" pitchFamily="34" charset="0"/>
                <a:ea typeface="Arial" pitchFamily="34" charset="-122"/>
                <a:cs typeface="Arial" pitchFamily="34" charset="-120"/>
              </a:rPr>
              <a:t>(s):</a:t>
            </a:r>
            <a:endParaRPr lang="en-US" sz="1500" dirty="0"/>
          </a:p>
        </p:txBody>
      </p:sp>
      <p:sp>
        <p:nvSpPr>
          <p:cNvPr id="7" name="Fondo E_hc2"/>
          <p:cNvSpPr/>
          <p:nvPr/>
        </p:nvSpPr>
        <p:spPr>
          <a:xfrm>
            <a:off x="457200" y="3246120"/>
            <a:ext cx="8229600" cy="11887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(s)=1−</m:t>
                      </m:r>
                      <m:f>
                        <m:fPr>
                          <m:ctrlPr>
                            <a:rPr lang="es-ES" sz="3000" i="1">
                              <a:latin typeface="Cambria Math" panose="02040503050406030204" pitchFamily="18" charset="0"/>
                            </a:rPr>
                          </m:ctrlPr>
                        </m:fPr>
                        <m:num>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1 − 2(ζ1 − ζ0)ωn·s / (s² + 2ζ1ωn·s + ωn²)</a:t>
                </a:r>
                <a:endParaRPr lang="en-US" sz="2400" dirty="0"/>
              </a:p>
            </p:txBody>
          </p:sp>
        </mc:Fallback>
      </mc:AlternateContent>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ec. (comp-afe); se usan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ζ</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ζ0</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ζ</m:t>
                        </m:r>
                      </m:e>
                      <m:sub>
                        <m:r>
                          <m:rPr>
                            <m:sty m:val="p"/>
                          </m:rPr>
                          <a:rPr lang="es-ES" sz="1200">
                            <a:solidFill>
                              <a:srgbClr val="6B6B6B"/>
                            </a:solidFill>
                            <a:latin typeface="Cambria Math" panose="02040503050406030204" pitchFamily="18" charset="0"/>
                          </a:rPr>
                          <m:t xml:space="preserve">1</m:t>
                        </m:r>
                      </m:sub>
                    </m:sSub>
                  </m:oMath>
                </a14:m>
              </mc:Choice>
              <mc:Fallback>
                <a:r>
                  <a:rPr lang="en-US" sz="1200" dirty="0">
                    <a:solidFill>
                      <a:srgbClr val="6B6B6B"/>
                    </a:solidFill>
                    <a:latin typeface="Arial" pitchFamily="34" charset="0"/>
                    <a:ea typeface="Arial" pitchFamily="34" charset="-122"/>
                    <a:cs typeface="Arial" pitchFamily="34" charset="-120"/>
                  </a:rPr>
                  <a:t>ζ1</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ω</m:t>
                        </m:r>
                      </m:e>
                      <m:sub>
                        <m:r>
                          <a:rPr lang="es-ES" sz="1200" i="1">
                            <a:solidFill>
                              <a:srgbClr val="6B6B6B"/>
                            </a:solidFill>
                            <a:latin typeface="Cambria Math" panose="02040503050406030204" pitchFamily="18" charset="0"/>
                          </a:rPr>
                          <m:t xml:space="preserve">n</m:t>
                        </m:r>
                      </m:sub>
                    </m:sSub>
                  </m:oMath>
                </a14:m>
              </mc:Choice>
              <mc:Fallback>
                <a:r>
                  <a:rPr lang="en-US" sz="1200" dirty="0">
                    <a:solidFill>
                      <a:srgbClr val="6B6B6B"/>
                    </a:solidFill>
                    <a:latin typeface="Arial" pitchFamily="34" charset="0"/>
                    <a:ea typeface="Arial" pitchFamily="34" charset="-122"/>
                    <a:cs typeface="Arial" pitchFamily="34" charset="-120"/>
                  </a:rPr>
                  <a:t>ωn</a:t>
                </a:r>
              </mc:Fallback>
            </mc:AlternateContent>
            <a:r>
              <a:rPr lang="en-US" sz="1200" dirty="0">
                <a:solidFill>
                  <a:srgbClr val="6B6B6B"/>
                </a:solidFill>
                <a:latin typeface="Arial" pitchFamily="34" charset="0"/>
                <a:ea typeface="Arial" pitchFamily="34" charset="-122"/>
                <a:cs typeface="Arial" pitchFamily="34" charset="-120"/>
              </a:rPr>
              <a:t> (en Ma: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γ</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γ0</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γ</m:t>
                        </m:r>
                      </m:e>
                      <m:sub>
                        <m:r>
                          <m:rPr>
                            <m:sty m:val="p"/>
                          </m:rPr>
                          <a:rPr lang="es-ES" sz="1200">
                            <a:solidFill>
                              <a:srgbClr val="6B6B6B"/>
                            </a:solidFill>
                            <a:latin typeface="Cambria Math" panose="02040503050406030204" pitchFamily="18" charset="0"/>
                          </a:rPr>
                          <m:t xml:space="preserve">1</m:t>
                        </m:r>
                      </m:sub>
                    </m:sSub>
                  </m:oMath>
                </a14:m>
              </mc:Choice>
              <mc:Fallback>
                <a:r>
                  <a:rPr lang="en-US" sz="1200" dirty="0">
                    <a:solidFill>
                      <a:srgbClr val="6B6B6B"/>
                    </a:solidFill>
                    <a:latin typeface="Arial" pitchFamily="34" charset="0"/>
                    <a:ea typeface="Arial" pitchFamily="34" charset="-122"/>
                    <a:cs typeface="Arial" pitchFamily="34" charset="-120"/>
                  </a:rPr>
                  <a:t>γ1</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ω</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ω0</a:t>
                </a:r>
              </mc:Fallback>
            </mc:AlternateContent>
            <a:r>
              <a:rPr lang="en-US" sz="1200" dirty="0">
                <a:solidFill>
                  <a:srgbClr val="6B6B6B"/>
                </a:solidFill>
                <a:latin typeface="Arial" pitchFamily="34" charset="0"/>
                <a:ea typeface="Arial" pitchFamily="34" charset="-122"/>
                <a:cs typeface="Arial" pitchFamily="34" charset="-120"/>
              </a:rPr>
              <a: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Implementación: la ganancia se reparte entre las etapas para recuperar la atenuación del compensador</a:t>
            </a:r>
            <a:endParaRPr lang="en-US" sz="2400" dirty="0"/>
          </a:p>
        </p:txBody>
      </p:sp>
      <p:sp>
        <p:nvSpPr>
          <p:cNvPr id="3" name="Geófono"/>
          <p:cNvSpPr/>
          <p:nvPr/>
        </p:nvSpPr>
        <p:spPr>
          <a:xfrm>
            <a:off x="457200" y="1508760"/>
            <a:ext cx="1188720" cy="640080"/>
          </a:xfrm>
          <a:prstGeom prst="roundRect">
            <a:avLst>
              <a:gd name="adj" fmla="val 11429"/>
            </a:avLst>
          </a:prstGeom>
          <a:solidFill>
            <a:srgbClr val="2E75B6"/>
          </a:solidFill>
          <a:ln w="12700">
            <a:solidFill>
              <a:srgbClr val="2E75B6"/>
            </a:solidFill>
            <a:prstDash val="solid"/>
          </a:ln>
        </p:spPr>
      </p:sp>
      <p:sp>
        <p:nvSpPr>
          <p:cNvPr id="4" name="Text 2"/>
          <p:cNvSpPr txBox="1"/>
          <p:nvPr/>
        </p:nvSpPr>
        <p:spPr>
          <a:xfrm>
            <a:off x="457200" y="1508760"/>
            <a:ext cx="118872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Geófono</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SM-24</a:t>
            </a:r>
            <a:endParaRPr lang="en-US" sz="1300" dirty="0"/>
          </a:p>
        </p:txBody>
      </p:sp>
      <p:sp>
        <p:nvSpPr>
          <p:cNvPr id="5" name="PGA"/>
          <p:cNvSpPr/>
          <p:nvPr/>
        </p:nvSpPr>
        <p:spPr>
          <a:xfrm>
            <a:off x="1920240" y="1508760"/>
            <a:ext cx="1371600" cy="640080"/>
          </a:xfrm>
          <a:prstGeom prst="roundRect">
            <a:avLst>
              <a:gd name="adj" fmla="val 11429"/>
            </a:avLst>
          </a:prstGeom>
          <a:solidFill>
            <a:srgbClr val="2E75B6"/>
          </a:solidFill>
          <a:ln w="12700">
            <a:solidFill>
              <a:srgbClr val="2E75B6"/>
            </a:solidFill>
            <a:prstDash val="solid"/>
          </a:ln>
        </p:spPr>
      </p:sp>
      <p:sp>
        <p:nvSpPr>
          <p:cNvPr id="6" name="Text 4"/>
          <p:cNvSpPr txBox="1"/>
          <p:nvPr/>
        </p:nvSpPr>
        <p:spPr>
          <a:xfrm>
            <a:off x="1920240" y="1508760"/>
            <a:ext cx="13716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Entrada dif.</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PGA</a:t>
            </a:r>
            <a:endParaRPr lang="en-US" sz="1300" dirty="0"/>
          </a:p>
        </p:txBody>
      </p:sp>
      <p:sp>
        <p:nvSpPr>
          <p:cNvPr id="7" name="Pasabanda"/>
          <p:cNvSpPr/>
          <p:nvPr/>
        </p:nvSpPr>
        <p:spPr>
          <a:xfrm>
            <a:off x="3749040" y="2194560"/>
            <a:ext cx="1463040" cy="640080"/>
          </a:xfrm>
          <a:prstGeom prst="roundRect">
            <a:avLst>
              <a:gd name="adj" fmla="val 11429"/>
            </a:avLst>
          </a:prstGeom>
          <a:solidFill>
            <a:srgbClr val="C55A11"/>
          </a:solidFill>
          <a:ln w="12700">
            <a:solidFill>
              <a:srgbClr val="C55A11"/>
            </a:solidFill>
            <a:prstDash val="solid"/>
          </a:ln>
        </p:spPr>
      </p:sp>
      <p:sp>
        <p:nvSpPr>
          <p:cNvPr id="8" name="Text 6"/>
          <p:cNvSpPr txBox="1"/>
          <p:nvPr/>
        </p:nvSpPr>
        <p:spPr>
          <a:xfrm>
            <a:off x="3749040" y="2194560"/>
            <a:ext cx="14630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Pasabanda</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inversor</a:t>
            </a:r>
            <a:endParaRPr lang="en-US" sz="1300" dirty="0"/>
          </a:p>
        </p:txBody>
      </p:sp>
      <p:sp>
        <p:nvSpPr>
          <p:cNvPr id="9" name="Sumador"/>
          <p:cNvSpPr/>
          <p:nvPr/>
        </p:nvSpPr>
        <p:spPr>
          <a:xfrm>
            <a:off x="5239512" y="1581912"/>
            <a:ext cx="493776" cy="493776"/>
          </a:xfrm>
          <a:prstGeom prst="ellipse">
            <a:avLst/>
          </a:prstGeom>
          <a:solidFill>
            <a:srgbClr val="1F4E79"/>
          </a:solidFill>
          <a:ln w="12700">
            <a:solidFill>
              <a:srgbClr val="1F4E79"/>
            </a:solidFill>
            <a:prstDash val="solid"/>
          </a:ln>
        </p:spPr>
      </p:sp>
      <p:sp>
        <p:nvSpPr>
          <p:cNvPr id="10" name="Text 8"/>
          <p:cNvSpPr txBox="1"/>
          <p:nvPr/>
        </p:nvSpPr>
        <p:spPr>
          <a:xfrm>
            <a:off x="5239512" y="15819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Σ</a:t>
            </a:r>
            <a:endParaRPr lang="en-US" sz="1800" dirty="0"/>
          </a:p>
        </p:txBody>
      </p:sp>
      <p:sp>
        <p:nvSpPr>
          <p:cNvPr id="11" name="Pasa-bajos"/>
          <p:cNvSpPr/>
          <p:nvPr/>
        </p:nvSpPr>
        <p:spPr>
          <a:xfrm>
            <a:off x="6263640" y="1508760"/>
            <a:ext cx="1143000" cy="640080"/>
          </a:xfrm>
          <a:prstGeom prst="roundRect">
            <a:avLst>
              <a:gd name="adj" fmla="val 11429"/>
            </a:avLst>
          </a:prstGeom>
          <a:solidFill>
            <a:srgbClr val="2E75B6"/>
          </a:solidFill>
          <a:ln w="12700">
            <a:solidFill>
              <a:srgbClr val="2E75B6"/>
            </a:solidFill>
            <a:prstDash val="solid"/>
          </a:ln>
        </p:spPr>
      </p:sp>
      <p:sp>
        <p:nvSpPr>
          <p:cNvPr id="12" name="Text 10"/>
          <p:cNvSpPr txBox="1"/>
          <p:nvPr/>
        </p:nvSpPr>
        <p:spPr>
          <a:xfrm>
            <a:off x="6263640" y="1508760"/>
            <a:ext cx="11430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Pasa-bajos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antialias</a:t>
            </a:r>
            <a:endParaRPr lang="en-US" sz="1300" dirty="0"/>
          </a:p>
        </p:txBody>
      </p:sp>
      <p:sp>
        <p:nvSpPr>
          <p:cNvPr id="13" name="ADC"/>
          <p:cNvSpPr/>
          <p:nvPr/>
        </p:nvSpPr>
        <p:spPr>
          <a:xfrm>
            <a:off x="7680960" y="1508760"/>
            <a:ext cx="1005840" cy="640080"/>
          </a:xfrm>
          <a:prstGeom prst="roundRect">
            <a:avLst>
              <a:gd name="adj" fmla="val 11429"/>
            </a:avLst>
          </a:prstGeom>
          <a:solidFill>
            <a:srgbClr val="1F4E79"/>
          </a:solidFill>
          <a:ln w="12700">
            <a:solidFill>
              <a:srgbClr val="1F4E79"/>
            </a:solidFill>
            <a:prstDash val="solid"/>
          </a:ln>
        </p:spPr>
      </p:sp>
      <p:sp>
        <p:nvSpPr>
          <p:cNvPr id="14" name="Text 12"/>
          <p:cNvSpPr txBox="1"/>
          <p:nvPr/>
        </p:nvSpPr>
        <p:spPr>
          <a:xfrm>
            <a:off x="7680960" y="1508760"/>
            <a:ext cx="10058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15" name="Shape 13"/>
          <p:cNvSpPr/>
          <p:nvPr/>
        </p:nvSpPr>
        <p:spPr>
          <a:xfrm>
            <a:off x="1645920" y="1828800"/>
            <a:ext cx="274320" cy="0"/>
          </a:xfrm>
          <a:prstGeom prst="line">
            <a:avLst/>
          </a:prstGeom>
          <a:noFill/>
          <a:ln w="31750">
            <a:solidFill>
              <a:srgbClr val="1F4E79"/>
            </a:solidFill>
            <a:prstDash val="solid"/>
            <a:tailEnd type="triangle"/>
          </a:ln>
        </p:spPr>
      </p:sp>
      <p:sp>
        <p:nvSpPr>
          <p:cNvPr id="16" name="Shape 14"/>
          <p:cNvSpPr/>
          <p:nvPr/>
        </p:nvSpPr>
        <p:spPr>
          <a:xfrm>
            <a:off x="3291840" y="1828800"/>
            <a:ext cx="1947672" cy="0"/>
          </a:xfrm>
          <a:prstGeom prst="line">
            <a:avLst/>
          </a:prstGeom>
          <a:noFill/>
          <a:ln w="31750">
            <a:solidFill>
              <a:srgbClr val="1F4E79"/>
            </a:solidFill>
            <a:prstDash val="solid"/>
            <a:tailEnd type="triangle"/>
          </a:ln>
        </p:spPr>
      </p:sp>
      <p:sp>
        <p:nvSpPr>
          <p:cNvPr id="17" name="Nodo de derivación"/>
          <p:cNvSpPr/>
          <p:nvPr/>
        </p:nvSpPr>
        <p:spPr>
          <a:xfrm>
            <a:off x="3474720" y="1783080"/>
            <a:ext cx="91440" cy="91440"/>
          </a:xfrm>
          <a:prstGeom prst="ellipse">
            <a:avLst/>
          </a:prstGeom>
          <a:solidFill>
            <a:srgbClr val="1F4E79"/>
          </a:solidFill>
          <a:ln w="12700">
            <a:solidFill>
              <a:srgbClr val="1F4E79"/>
            </a:solidFill>
            <a:prstDash val="solid"/>
          </a:ln>
        </p:spPr>
      </p:sp>
      <p:sp>
        <p:nvSpPr>
          <p:cNvPr id="18" name="Shape 16"/>
          <p:cNvSpPr/>
          <p:nvPr/>
        </p:nvSpPr>
        <p:spPr>
          <a:xfrm>
            <a:off x="3520440" y="1828800"/>
            <a:ext cx="0" cy="685800"/>
          </a:xfrm>
          <a:prstGeom prst="line">
            <a:avLst/>
          </a:prstGeom>
          <a:noFill/>
          <a:ln w="31750">
            <a:solidFill>
              <a:srgbClr val="C55A11"/>
            </a:solidFill>
            <a:prstDash val="solid"/>
          </a:ln>
        </p:spPr>
      </p:sp>
      <p:sp>
        <p:nvSpPr>
          <p:cNvPr id="19" name="Shape 17"/>
          <p:cNvSpPr/>
          <p:nvPr/>
        </p:nvSpPr>
        <p:spPr>
          <a:xfrm>
            <a:off x="3520440" y="2514600"/>
            <a:ext cx="228600" cy="0"/>
          </a:xfrm>
          <a:prstGeom prst="line">
            <a:avLst/>
          </a:prstGeom>
          <a:noFill/>
          <a:ln w="31750">
            <a:solidFill>
              <a:srgbClr val="C55A11"/>
            </a:solidFill>
            <a:prstDash val="solid"/>
            <a:tailEnd type="triangle"/>
          </a:ln>
        </p:spPr>
      </p:sp>
      <p:sp>
        <p:nvSpPr>
          <p:cNvPr id="20" name="Shape 18"/>
          <p:cNvSpPr/>
          <p:nvPr/>
        </p:nvSpPr>
        <p:spPr>
          <a:xfrm>
            <a:off x="5212080" y="2514600"/>
            <a:ext cx="274320" cy="0"/>
          </a:xfrm>
          <a:prstGeom prst="line">
            <a:avLst/>
          </a:prstGeom>
          <a:noFill/>
          <a:ln w="31750">
            <a:solidFill>
              <a:srgbClr val="C55A11"/>
            </a:solidFill>
            <a:prstDash val="solid"/>
          </a:ln>
        </p:spPr>
      </p:sp>
      <p:sp>
        <p:nvSpPr>
          <p:cNvPr id="21" name="Shape 19"/>
          <p:cNvSpPr/>
          <p:nvPr/>
        </p:nvSpPr>
        <p:spPr>
          <a:xfrm flipV="1">
            <a:off x="5486400" y="2075688"/>
            <a:ext cx="0" cy="438912"/>
          </a:xfrm>
          <a:prstGeom prst="line">
            <a:avLst/>
          </a:prstGeom>
          <a:noFill/>
          <a:ln w="31750">
            <a:solidFill>
              <a:srgbClr val="C55A11"/>
            </a:solidFill>
            <a:prstDash val="solid"/>
            <a:tailEnd type="triangle"/>
          </a:ln>
        </p:spPr>
      </p:sp>
      <p:sp>
        <p:nvSpPr>
          <p:cNvPr id="22" name="Shape 20"/>
          <p:cNvSpPr/>
          <p:nvPr/>
        </p:nvSpPr>
        <p:spPr>
          <a:xfrm>
            <a:off x="5733288" y="1828800"/>
            <a:ext cx="530352" cy="0"/>
          </a:xfrm>
          <a:prstGeom prst="line">
            <a:avLst/>
          </a:prstGeom>
          <a:noFill/>
          <a:ln w="31750">
            <a:solidFill>
              <a:srgbClr val="1F4E79"/>
            </a:solidFill>
            <a:prstDash val="solid"/>
            <a:tailEnd type="triangle"/>
          </a:ln>
        </p:spPr>
      </p:sp>
      <p:sp>
        <p:nvSpPr>
          <p:cNvPr id="23" name="Shape 21"/>
          <p:cNvSpPr/>
          <p:nvPr/>
        </p:nvSpPr>
        <p:spPr>
          <a:xfrm>
            <a:off x="7406640" y="1828800"/>
            <a:ext cx="274320" cy="0"/>
          </a:xfrm>
          <a:prstGeom prst="line">
            <a:avLst/>
          </a:prstGeom>
          <a:noFill/>
          <a:ln w="31750">
            <a:solidFill>
              <a:srgbClr val="1F4E79"/>
            </a:solidFill>
            <a:prstDash val="solid"/>
            <a:tailEnd type="triangle"/>
          </a:ln>
        </p:spPr>
      </p:sp>
      <p:sp>
        <p:nvSpPr>
          <p:cNvPr id="24" name="Text 22"/>
          <p:cNvSpPr txBox="1"/>
          <p:nvPr/>
        </p:nvSpPr>
        <p:spPr>
          <a:xfrm>
            <a:off x="4892040" y="1444752"/>
            <a:ext cx="274320" cy="27432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577840" y="2130552"/>
            <a:ext cx="274320" cy="274320"/>
          </a:xfrm>
          <a:prstGeom prst="rect">
            <a:avLst/>
          </a:prstGeom>
          <a:noFill/>
          <a:ln/>
        </p:spPr>
        <p:txBody>
          <a:bodyPr wrap="square" lIns="0" tIns="0" rIns="0" bIns="0" rtlCol="0" anchor="t"/>
          <a:lstStyle/>
          <a:p>
            <a:pPr algn="ctr" indent="0" marL="0">
              <a:buNone/>
            </a:pPr>
            <a:r>
              <a:rPr lang="en-US" sz="2000" b="1" dirty="0">
                <a:solidFill>
                  <a:srgbClr val="C55A11"/>
                </a:solidFill>
                <a:latin typeface="Arial" pitchFamily="34" charset="0"/>
                <a:ea typeface="Arial" pitchFamily="34" charset="-122"/>
                <a:cs typeface="Arial" pitchFamily="34" charset="-120"/>
              </a:rPr>
              <a:t>+</a:t>
            </a:r>
            <a:endParaRPr lang="en-US" sz="2000" dirty="0"/>
          </a:p>
        </p:txBody>
      </p:sp>
      <p:sp>
        <p:nvSpPr>
          <p:cNvPr id="26" name="Cuerpo"/>
          <p:cNvSpPr txBox="1"/>
          <p:nvPr/>
        </p:nvSpPr>
        <p:spPr>
          <a:xfrm>
            <a:off x="457200" y="32461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500" dirty="0"/>
          </a:p>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ζ</m:t>
                        </m:r>
                      </m:e>
                      <m:sub>
                        <m:r>
                          <m:rPr>
                            <m:sty m:val="p"/>
                          </m:rPr>
                          <a:rPr lang="es-ES" sz="1500">
                            <a:solidFill>
                              <a:srgbClr val="2D2D2D"/>
                            </a:solidFill>
                            <a:latin typeface="Cambria Math" panose="02040503050406030204" pitchFamily="18" charset="0"/>
                          </a:rPr>
                          <m:t xml:space="preserve">1</m:t>
                        </m:r>
                      </m:sub>
                    </m:sSub>
                    <m:r>
                      <m:rPr>
                        <m:sty m:val="p"/>
                      </m:rPr>
                      <a:rPr lang="es-ES" sz="1500">
                        <a:solidFill>
                          <a:srgbClr val="2D2D2D"/>
                        </a:solidFill>
                        <a:latin typeface="Cambria Math" panose="02040503050406030204" pitchFamily="18" charset="0"/>
                      </a:rPr>
                      <m:t xml:space="preserve">≈</m:t>
                    </m:r>
                    <m:r>
                      <m:rPr>
                        <m:sty m:val="p"/>
                      </m:rPr>
                      <a:rPr lang="es-ES" sz="1500">
                        <a:solidFill>
                          <a:srgbClr val="2D2D2D"/>
                        </a:solidFill>
                        <a:latin typeface="Cambria Math" panose="02040503050406030204" pitchFamily="18" charset="0"/>
                      </a:rPr>
                      <m:t xml:space="preserve">938</m:t>
                    </m:r>
                  </m:oMath>
                </a14:m>
              </mc:Choice>
              <mc:Fallback>
                <a:r>
                  <a:rPr lang="en-US" sz="1500" dirty="0">
                    <a:solidFill>
                      <a:srgbClr val="2D2D2D"/>
                    </a:solidFill>
                    <a:latin typeface="Arial" pitchFamily="34" charset="0"/>
                    <a:ea typeface="Arial" pitchFamily="34" charset="-122"/>
                    <a:cs typeface="Arial" pitchFamily="34" charset="-120"/>
                  </a:rPr>
                  <a:t>ζ1 ≈ 938</a:t>
                </a:r>
              </mc:Fallback>
            </mc:AlternateContent>
            <a:r>
              <a:rPr lang="en-US" sz="1500" dirty="0">
                <a:solidFill>
                  <a:srgbClr val="2D2D2D"/>
                </a:solidFill>
                <a:latin typeface="Arial" pitchFamily="34" charset="0"/>
                <a:ea typeface="Arial" pitchFamily="34" charset="-122"/>
                <a:cs typeface="Arial" pitchFamily="34" charset="-120"/>
              </a:rPr>
              <a:t>, el compensador atenúa 2ζ1 ≈ 1876 veces: la ganancia lo recupera</a:t>
            </a:r>
            <a:endParaRPr lang="en-US" sz="1500" dirty="0"/>
          </a:p>
        </p:txBody>
      </p:sp>
      <p:sp>
        <p:nvSpPr>
          <p:cNvPr id="2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(acondicionamiento); 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entrada es instrumental, con dos operacionales, para rechazar el ruido de red</a:t>
            </a:r>
            <a:endParaRPr lang="en-US" sz="2400" dirty="0"/>
          </a:p>
        </p:txBody>
      </p:sp>
      <p:pic>
        <p:nvPicPr>
          <p:cNvPr id="3" name="Entrada diferencial" descr="Amplificador diferencial de dos operacionales con entradas V1 y V2">    </p:cNvPr>
          <p:cNvPicPr>
            <a:picLocks noChangeAspect="1"/>
          </p:cNvPicPr>
          <p:nvPr/>
        </p:nvPicPr>
        <p:blipFill>
          <a:blip r:embed="rId1"/>
          <a:stretch>
            <a:fillRect/>
          </a:stretch>
        </p:blipFill>
        <p:spPr>
          <a:xfrm>
            <a:off x="365760" y="1280160"/>
            <a:ext cx="4754880" cy="2377440"/>
          </a:xfrm>
          <a:prstGeom prst="rect">
            <a:avLst/>
          </a:prstGeom>
        </p:spPr>
      </p:pic>
      <p:sp>
        <p:nvSpPr>
          <p:cNvPr id="4" name="Cuerpo"/>
          <p:cNvSpPr txBox="1"/>
          <p:nvPr/>
        </p:nvSpPr>
        <p:spPr>
          <a:xfrm>
            <a:off x="5394960" y="137160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ruido de red está muy presente en el geófono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entrada diferencial lo rechaza como señal de modo común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Aporta una ganancia de ×2</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genérico aportado por el autor (fuente por confirmar); ganancia: documento de tesis,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pasabanda es un inversor con dos quiebres desacoplados, en lugar de un Sallen-Key</a:t>
            </a:r>
            <a:endParaRPr lang="en-US" sz="2400" dirty="0"/>
          </a:p>
        </p:txBody>
      </p:sp>
      <p:pic>
        <p:nvPicPr>
          <p:cNvPr id="3" name="Sallen-Key" descr="Filtro pasabanda Sallen-Key con admitancias Y1 a Y5">    </p:cNvPr>
          <p:cNvPicPr>
            <a:picLocks noChangeAspect="1"/>
          </p:cNvPicPr>
          <p:nvPr/>
        </p:nvPicPr>
        <p:blipFill>
          <a:blip r:embed="rId1"/>
          <a:stretch>
            <a:fillRect/>
          </a:stretch>
        </p:blipFill>
        <p:spPr>
          <a:xfrm>
            <a:off x="548640" y="1234440"/>
            <a:ext cx="2926080" cy="2194560"/>
          </a:xfrm>
          <a:prstGeom prst="rect">
            <a:avLst/>
          </a:prstGeom>
        </p:spPr>
      </p:pic>
      <p:pic>
        <p:nvPicPr>
          <p:cNvPr id="4" name="Pasabanda inversor" descr="Amplificador inversor con Cin y Rin en la entrada y Rf en paralelo con Cf en la realimentación">    </p:cNvPr>
          <p:cNvPicPr>
            <a:picLocks noChangeAspect="1"/>
          </p:cNvPicPr>
          <p:nvPr/>
        </p:nvPicPr>
        <p:blipFill>
          <a:blip r:embed="rId2"/>
          <a:stretch>
            <a:fillRect/>
          </a:stretch>
        </p:blipFill>
        <p:spPr>
          <a:xfrm>
            <a:off x="4480560" y="1234440"/>
            <a:ext cx="3840480" cy="1920240"/>
          </a:xfrm>
          <a:prstGeom prst="rect">
            <a:avLst/>
          </a:prstGeom>
        </p:spPr>
      </p:pic>
      <p:sp>
        <p:nvSpPr>
          <p:cNvPr id="5" name="Text 1"/>
          <p:cNvSpPr txBox="1"/>
          <p:nvPr/>
        </p:nvSpPr>
        <p:spPr>
          <a:xfrm>
            <a:off x="457200" y="3520440"/>
            <a:ext cx="3108960" cy="274320"/>
          </a:xfrm>
          <a:prstGeom prst="rect">
            <a:avLst/>
          </a:prstGeom>
          <a:noFill/>
          <a:ln/>
        </p:spPr>
        <p:txBody>
          <a:bodyPr wrap="square" lIns="0" tIns="0" rIns="0" bIns="0" rtlCol="0" anchor="t"/>
          <a:lstStyle/>
          <a:p>
            <a:pPr algn="ctr" indent="0" marL="0">
              <a:buNone/>
            </a:pPr>
            <a:r>
              <a:rPr lang="en-US" sz="1400" b="1" dirty="0">
                <a:solidFill>
                  <a:srgbClr val="6B6B6B"/>
                </a:solidFill>
                <a:latin typeface="Arial" pitchFamily="34" charset="0"/>
                <a:ea typeface="Arial" pitchFamily="34" charset="-122"/>
                <a:cs typeface="Arial" pitchFamily="34" charset="-120"/>
              </a:rPr>
              <a:t>Ma et al.: Sallen-Key</a:t>
            </a:r>
            <a:endParaRPr lang="en-US" sz="1400" dirty="0"/>
          </a:p>
        </p:txBody>
      </p:sp>
      <p:sp>
        <p:nvSpPr>
          <p:cNvPr id="6" name="Text 2"/>
          <p:cNvSpPr txBox="1"/>
          <p:nvPr/>
        </p:nvSpPr>
        <p:spPr>
          <a:xfrm>
            <a:off x="4297680" y="3200400"/>
            <a:ext cx="4389120" cy="274320"/>
          </a:xfrm>
          <a:prstGeom prst="rect">
            <a:avLst/>
          </a:prstGeom>
          <a:noFill/>
          <a:ln/>
        </p:spPr>
        <p:txBody>
          <a:bodyPr wrap="square" lIns="0" tIns="0" rIns="0" bIns="0" rtlCol="0" anchor="t"/>
          <a:lstStyle/>
          <a:p>
            <a:pPr algn="ctr" indent="0" marL="0">
              <a:buNone/>
            </a:pPr>
            <a:r>
              <a:rPr lang="en-US" sz="1400" b="1" dirty="0">
                <a:solidFill>
                  <a:srgbClr val="1F4E79"/>
                </a:solidFill>
                <a:latin typeface="Arial" pitchFamily="34" charset="0"/>
                <a:ea typeface="Arial" pitchFamily="34" charset="-122"/>
                <a:cs typeface="Arial" pitchFamily="34" charset="-120"/>
              </a:rPr>
              <a:t>Este trabajo: inversor, −Zf/Zin</a:t>
            </a:r>
            <a:endParaRPr lang="en-US" sz="1400" dirty="0"/>
          </a:p>
        </p:txBody>
      </p:sp>
      <p:sp>
        <p:nvSpPr>
          <p:cNvPr id="7" name="Text 3"/>
          <p:cNvSpPr txBox="1"/>
          <p:nvPr/>
        </p:nvSpPr>
        <p:spPr>
          <a:xfrm>
            <a:off x="457200" y="3840480"/>
            <a:ext cx="3108960" cy="457200"/>
          </a:xfrm>
          <a:prstGeom prst="rect">
            <a:avLst/>
          </a:prstGeom>
          <a:noFill/>
          <a:ln/>
        </p:spPr>
        <p:txBody>
          <a:bodyPr wrap="square" lIns="0" tIns="0" rIns="0" bIns="0" rtlCol="0" anchor="t"/>
          <a:lstStyle/>
          <a:p>
            <a:pPr algn="ctr" indent="0" marL="0">
              <a:buNone/>
            </a:pPr>
            <a:r>
              <a:rPr lang="en-US" sz="1300" dirty="0">
                <a:solidFill>
                  <a:srgbClr val="6B6B6B"/>
                </a:solidFill>
                <a:latin typeface="Arial" pitchFamily="34" charset="0"/>
                <a:ea typeface="Arial" pitchFamily="34" charset="-122"/>
                <a:cs typeface="Arial" pitchFamily="34" charset="-120"/>
              </a:rPr>
              <a:t>Cada polo se reparte entre varios componentes</a:t>
            </a:r>
            <a:endParaRPr lang="en-US" sz="1300" dirty="0"/>
          </a:p>
        </p:txBody>
      </p:sp>
      <p:sp>
        <p:nvSpPr>
          <p:cNvPr id="8" name="Fondo E_flow"/>
          <p:cNvSpPr/>
          <p:nvPr/>
        </p:nvSpPr>
        <p:spPr>
          <a:xfrm>
            <a:off x="4297680" y="352044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low</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in</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in</m:t>
                              </m:r>
                            </m:sub>
                          </m:sSub>
                        </m:den>
                      </m:f>
                    </m:oMath>
                  </m:oMathPara>
                </a14:m>
                <a:endParaRPr lang="es-ES"/>
              </a:p>
            </p:txBody>
          </p:sp>
        </mc:Choice>
        <mc:Fallback>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f_low = 1 / (2π Rin Cin)</a:t>
                </a:r>
                <a:endParaRPr lang="en-US" sz="2400" dirty="0"/>
              </a:p>
            </p:txBody>
          </p:sp>
        </mc:Fallback>
      </mc:AlternateContent>
      <p:sp>
        <p:nvSpPr>
          <p:cNvPr id="10" name="Fondo E_fhigh"/>
          <p:cNvSpPr/>
          <p:nvPr/>
        </p:nvSpPr>
        <p:spPr>
          <a:xfrm>
            <a:off x="4297680" y="406908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high</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f</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f</m:t>
                              </m:r>
                            </m:sub>
                          </m:sSub>
                        </m:den>
                      </m:f>
                    </m:oMath>
                  </m:oMathPara>
                </a14:m>
                <a:endParaRPr lang="es-ES"/>
              </a:p>
            </p:txBody>
          </p:sp>
        </mc:Choice>
        <mc:Fallback>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f_high = 1 / (2π Rf Cf)</a:t>
                </a:r>
                <a:endParaRPr lang="en-US" sz="2400" dirty="0"/>
              </a:p>
            </p:txBody>
          </p:sp>
        </mc:Fallback>
      </mc:AlternateContent>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el pasabanda ya invierte la fase, un sumador reemplaza al amplificador diferencial</a:t>
            </a:r>
            <a:endParaRPr lang="en-US" sz="2400" dirty="0"/>
          </a:p>
        </p:txBody>
      </p:sp>
      <p:pic>
        <p:nvPicPr>
          <p:cNvPr id="3" name="Diferencial de Ma" descr="Amplificador diferencial de un operacional con R1 a R4">    </p:cNvPr>
          <p:cNvPicPr>
            <a:picLocks noChangeAspect="1"/>
          </p:cNvPicPr>
          <p:nvPr/>
        </p:nvPicPr>
        <p:blipFill>
          <a:blip r:embed="rId1"/>
          <a:stretch>
            <a:fillRect/>
          </a:stretch>
        </p:blipFill>
        <p:spPr>
          <a:xfrm>
            <a:off x="457200" y="1188720"/>
            <a:ext cx="2834640" cy="2125980"/>
          </a:xfrm>
          <a:prstGeom prst="rect">
            <a:avLst/>
          </a:prstGeom>
        </p:spPr>
      </p:pic>
      <p:pic>
        <p:nvPicPr>
          <p:cNvPr id="4" name="Sumador inversor" descr="Sumador inversor con Rf en paralelo con Cf">    </p:cNvPr>
          <p:cNvPicPr>
            <a:picLocks noChangeAspect="1"/>
          </p:cNvPicPr>
          <p:nvPr/>
        </p:nvPicPr>
        <p:blipFill>
          <a:blip r:embed="rId2"/>
          <a:stretch>
            <a:fillRect/>
          </a:stretch>
        </p:blipFill>
        <p:spPr>
          <a:xfrm>
            <a:off x="4297680" y="1188720"/>
            <a:ext cx="2834640" cy="2125980"/>
          </a:xfrm>
          <a:prstGeom prst="rect">
            <a:avLst/>
          </a:prstGeom>
        </p:spPr>
      </p:pic>
      <p:sp>
        <p:nvSpPr>
          <p:cNvPr id="5" name="Text 1"/>
          <p:cNvSpPr txBox="1"/>
          <p:nvPr/>
        </p:nvSpPr>
        <p:spPr>
          <a:xfrm>
            <a:off x="457200" y="3383280"/>
            <a:ext cx="3108960" cy="274320"/>
          </a:xfrm>
          <a:prstGeom prst="rect">
            <a:avLst/>
          </a:prstGeom>
          <a:noFill/>
          <a:ln/>
        </p:spPr>
        <p:txBody>
          <a:bodyPr wrap="square" lIns="0" tIns="0" rIns="0" bIns="0" rtlCol="0" anchor="t"/>
          <a:lstStyle/>
          <a:p>
            <a:pPr indent="0" marL="0">
              <a:buNone/>
            </a:pPr>
            <a:r>
              <a:rPr lang="en-US" sz="1400" b="1" dirty="0">
                <a:solidFill>
                  <a:srgbClr val="6B6B6B"/>
                </a:solidFill>
                <a:latin typeface="Arial" pitchFamily="34" charset="0"/>
                <a:ea typeface="Arial" pitchFamily="34" charset="-122"/>
                <a:cs typeface="Arial" pitchFamily="34" charset="-120"/>
              </a:rPr>
              <a:t>Ma et al.: amplificador diferencial</a:t>
            </a:r>
            <a:endParaRPr lang="en-US" sz="1400" dirty="0"/>
          </a:p>
        </p:txBody>
      </p:sp>
      <p:sp>
        <p:nvSpPr>
          <p:cNvPr id="6" name="Text 2"/>
          <p:cNvSpPr txBox="1"/>
          <p:nvPr/>
        </p:nvSpPr>
        <p:spPr>
          <a:xfrm>
            <a:off x="4297680" y="3383280"/>
            <a:ext cx="4389120" cy="2743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Este trabajo: sumador inversor</a:t>
            </a:r>
            <a:endParaRPr lang="en-US" sz="1400" dirty="0"/>
          </a:p>
        </p:txBody>
      </p:sp>
      <p:sp>
        <p:nvSpPr>
          <p:cNvPr id="7" name="Text 3"/>
          <p:cNvSpPr txBox="1"/>
          <p:nvPr/>
        </p:nvSpPr>
        <p:spPr>
          <a:xfrm>
            <a:off x="457200" y="3703320"/>
            <a:ext cx="31089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Exige resistencias pareadas</a:t>
            </a:r>
            <a:endParaRPr lang="en-US" sz="1300" dirty="0"/>
          </a:p>
        </p:txBody>
      </p:sp>
      <p:sp>
        <p:nvSpPr>
          <p:cNvPr id="8" name="Cuerpo"/>
          <p:cNvSpPr txBox="1"/>
          <p:nvPr/>
        </p:nvSpPr>
        <p:spPr>
          <a:xfrm>
            <a:off x="4297680" y="3657600"/>
            <a:ext cx="43891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Menos componentes y menos dependencia de tolerancias</a:t>
            </a:r>
            <a:endParaRPr lang="en-US" sz="1300" dirty="0"/>
          </a:p>
          <a:p>
            <a:pPr marL="342900" indent="-342900">
              <a:spcAft>
                <a:spcPts val="4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2D2D2D"/>
                            </a:solidFill>
                            <a:latin typeface="Cambria Math" panose="02040503050406030204" pitchFamily="18" charset="0"/>
                          </a:rPr>
                          <m:t xml:space="preserve">C</m:t>
                        </m:r>
                      </m:e>
                      <m:sub>
                        <m:r>
                          <a:rPr lang="es-ES" sz="1300" i="1">
                            <a:solidFill>
                              <a:srgbClr val="2D2D2D"/>
                            </a:solidFill>
                            <a:latin typeface="Cambria Math" panose="02040503050406030204" pitchFamily="18" charset="0"/>
                          </a:rPr>
                          <m:t xml:space="preserve">f</m:t>
                        </m:r>
                      </m:sub>
                    </m:sSub>
                  </m:oMath>
                </a14:m>
              </mc:Choice>
              <mc:Fallback>
                <a:r>
                  <a:rPr lang="en-US" sz="1300" dirty="0">
                    <a:solidFill>
                      <a:srgbClr val="2D2D2D"/>
                    </a:solidFill>
                    <a:latin typeface="Arial" pitchFamily="34" charset="0"/>
                    <a:ea typeface="Arial" pitchFamily="34" charset="-122"/>
                    <a:cs typeface="Arial" pitchFamily="34" charset="-120"/>
                  </a:rPr>
                  <a:t>Cf</a:t>
                </a:r>
              </mc:Fallback>
            </mc:AlternateContent>
            <a:r>
              <a:rPr lang="en-US" sz="1300" dirty="0">
                <a:solidFill>
                  <a:srgbClr val="2D2D2D"/>
                </a:solidFill>
                <a:latin typeface="Arial" pitchFamily="34" charset="0"/>
                <a:ea typeface="Arial" pitchFamily="34" charset="-122"/>
                <a:cs typeface="Arial" pitchFamily="34" charset="-120"/>
              </a:rPr>
              <a:t> en paralelo con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2D2D2D"/>
                            </a:solidFill>
                            <a:latin typeface="Cambria Math" panose="02040503050406030204" pitchFamily="18" charset="0"/>
                          </a:rPr>
                          <m:t xml:space="preserve">R</m:t>
                        </m:r>
                      </m:e>
                      <m:sub>
                        <m:r>
                          <a:rPr lang="es-ES" sz="1300" i="1">
                            <a:solidFill>
                              <a:srgbClr val="2D2D2D"/>
                            </a:solidFill>
                            <a:latin typeface="Cambria Math" panose="02040503050406030204" pitchFamily="18" charset="0"/>
                          </a:rPr>
                          <m:t xml:space="preserve">f</m:t>
                        </m:r>
                      </m:sub>
                    </m:sSub>
                  </m:oMath>
                </a14:m>
              </mc:Choice>
              <mc:Fallback>
                <a:r>
                  <a:rPr lang="en-US" sz="1300" dirty="0">
                    <a:solidFill>
                      <a:srgbClr val="2D2D2D"/>
                    </a:solidFill>
                    <a:latin typeface="Arial" pitchFamily="34" charset="0"/>
                    <a:ea typeface="Arial" pitchFamily="34" charset="-122"/>
                    <a:cs typeface="Arial" pitchFamily="34" charset="-120"/>
                  </a:rPr>
                  <a:t>Rf</a:t>
                </a:r>
              </mc:Fallback>
            </mc:AlternateContent>
            <a:r>
              <a:rPr lang="en-US" sz="1300" dirty="0">
                <a:solidFill>
                  <a:srgbClr val="2D2D2D"/>
                </a:solidFill>
                <a:latin typeface="Arial" pitchFamily="34" charset="0"/>
                <a:ea typeface="Arial" pitchFamily="34" charset="-122"/>
                <a:cs typeface="Arial" pitchFamily="34" charset="-120"/>
              </a:rPr>
              <a:t> agrega un polo pasa-bajos</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antialias es un Bessel de tercer orden que aprovecha el polo del sumador</a:t>
            </a:r>
            <a:endParaRPr lang="en-US" sz="2400" dirty="0"/>
          </a:p>
        </p:txBody>
      </p:sp>
      <p:pic>
        <p:nvPicPr>
          <p:cNvPr id="3" name="MFB" descr="Filtro pasabajos de realimentación múltiple (MFB) con R1, R3, R4, C2 y C5">    </p:cNvPr>
          <p:cNvPicPr>
            <a:picLocks noChangeAspect="1"/>
          </p:cNvPicPr>
          <p:nvPr/>
        </p:nvPicPr>
        <p:blipFill>
          <a:blip r:embed="rId1"/>
          <a:stretch>
            <a:fillRect/>
          </a:stretch>
        </p:blipFill>
        <p:spPr>
          <a:xfrm>
            <a:off x="365760" y="1234440"/>
            <a:ext cx="4480560" cy="3360420"/>
          </a:xfrm>
          <a:prstGeom prst="rect">
            <a:avLst/>
          </a:prstGeom>
        </p:spPr>
      </p:pic>
      <p:sp>
        <p:nvSpPr>
          <p:cNvPr id="4" name="Cuerpo"/>
          <p:cNvSpPr txBox="1"/>
          <p:nvPr/>
        </p:nvSpPr>
        <p:spPr>
          <a:xfrm>
            <a:off x="5029200" y="1325880"/>
            <a:ext cx="3657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Se decidió que sea Bessel, de fase casi lineal</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y latex/03b_topologias.tex. Imagen aportada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AFE final</a:t>
            </a:r>
            <a:endParaRPr lang="en-US" sz="2400" dirty="0"/>
          </a:p>
        </p:txBody>
      </p:sp>
      <p:pic>
        <p:nvPicPr>
          <p:cNvPr id="3" name="Esquema AFE" descr="Esquema del frente analógico en PSoC Creator: entrada diferencial, ganancia programable, rama pasabanda, sumador, pasa-bajos, referencias VDAC y ADC">    </p:cNvPr>
          <p:cNvPicPr>
            <a:picLocks noChangeAspect="1"/>
          </p:cNvPicPr>
          <p:nvPr/>
        </p:nvPicPr>
        <p:blipFill>
          <a:blip r:embed="rId1"/>
          <a:stretch>
            <a:fillRect/>
          </a:stretch>
        </p:blipFill>
        <p:spPr>
          <a:xfrm>
            <a:off x="640080" y="868680"/>
            <a:ext cx="7863840" cy="3545281"/>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5 y sec. 4.3).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ruta PGA–ADC se midió con barridos y el geófono se tomó con su modelo nominal</a:t>
            </a:r>
            <a:endParaRPr lang="en-US" sz="2400" dirty="0"/>
          </a:p>
        </p:txBody>
      </p:sp>
      <p:pic>
        <p:nvPicPr>
          <p:cNvPr id="3" name="Respuesta PGA-ADC" descr="Respuesta PGA–ADC medida: magnitud, fase y coherencia, junto al modelo, sus tolerancias y el rango del potenciómetro">    </p:cNvPr>
          <p:cNvPicPr>
            <a:picLocks noChangeAspect="1"/>
          </p:cNvPicPr>
          <p:nvPr/>
        </p:nvPicPr>
        <p:blipFill>
          <a:blip r:embed="rId1"/>
          <a:stretch>
            <a:fillRect/>
          </a:stretch>
        </p:blipFill>
        <p:spPr>
          <a:xfrm>
            <a:off x="365760" y="1234440"/>
            <a:ext cx="4023360" cy="3156310"/>
          </a:xfrm>
          <a:prstGeom prst="rect">
            <a:avLst/>
          </a:prstGeom>
        </p:spPr>
      </p:pic>
      <p:sp>
        <p:nvSpPr>
          <p:cNvPr id="4" name="Cuerpo"/>
          <p:cNvSpPr txBox="1"/>
          <p:nvPr/>
        </p:nvSpPr>
        <p:spPr>
          <a:xfrm>
            <a:off x="4572000" y="1280160"/>
            <a:ext cx="41148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fig. 9; figura propia; Sensor Nederland B.V. (2006).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offset se acumula en la cadena y recorta la señal; no se puede filtrar en continua</a:t>
            </a:r>
            <a:endParaRPr lang="en-US" sz="2400" dirty="0"/>
          </a:p>
        </p:txBody>
      </p:sp>
      <p:pic>
        <p:nvPicPr>
          <p:cNvPr id="3" name="Ilustración de recorte" descr="Ilustración: salida de una etapa con offset, recortada en el límite de alimentación, y la misma salida con ajuste previo">    </p:cNvPr>
          <p:cNvPicPr>
            <a:picLocks noChangeAspect="1"/>
          </p:cNvPicPr>
          <p:nvPr/>
        </p:nvPicPr>
        <p:blipFill>
          <a:blip r:embed="rId1"/>
          <a:stretch>
            <a:fillRect/>
          </a:stretch>
        </p:blipFill>
        <p:spPr>
          <a:xfrm>
            <a:off x="1097280" y="1143000"/>
            <a:ext cx="6583680" cy="2194560"/>
          </a:xfrm>
          <a:prstGeom prst="rect">
            <a:avLst/>
          </a:prstGeom>
        </p:spPr>
      </p:pic>
      <p:sp>
        <p:nvSpPr>
          <p:cNvPr id="4" name="Cuerpo"/>
          <p:cNvSpPr txBox="1"/>
          <p:nvPr/>
        </p:nvSpPr>
        <p:spPr>
          <a:xfrm>
            <a:off x="457200" y="3383280"/>
            <a:ext cx="82296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Ilustración propia (esquemática); 21,8 %: Álvarez, González y Vargas, DA-AFE (URUCON);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continua de cada etapa depende de las anteriores, por eso el ajuste se hace en orden</a:t>
            </a:r>
            <a:endParaRPr lang="en-US" sz="2400" dirty="0"/>
          </a:p>
        </p:txBody>
      </p:sp>
      <p:sp>
        <p:nvSpPr>
          <p:cNvPr id="3" name="Fondo E_off"/>
          <p:cNvSpPr/>
          <p:nvPr/>
        </p:nvSpPr>
        <p:spPr>
          <a:xfrm>
            <a:off x="457200" y="1325880"/>
            <a:ext cx="8229600" cy="10058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i</m:t>
                          </m:r>
                        </m:sub>
                        <m:sup>
                          <m:r>
                            <m:rPr>
                              <m:sty m:val="p"/>
                            </m:rPr>
                            <a:rPr lang="es-ES" sz="2400">
                              <a:solidFill>
                                <a:srgbClr val="1F4E79"/>
                              </a:solidFill>
                              <a:latin typeface="Cambria Math" panose="02040503050406030204" pitchFamily="18" charset="0"/>
                            </a:rPr>
                            <m:t xml:space="preserve">DC</m:t>
                          </m:r>
                        </m:sup>
                      </m:sSubSup>
                      <m:r>
                        <a:rPr lang="es-ES" sz="2400" i="1">
                          <a:solidFill>
                            <a:srgbClr val="1F4E79"/>
                          </a:solidFill>
                          <a:latin typeface="Cambria Math" panose="02040503050406030204" pitchFamily="18" charset="0"/>
                        </a:rPr>
                        <m:t xml:space="preserve">=</m:t>
                      </m:r>
                      <m:nary>
                        <m:naryPr>
                          <m:chr m:val="∑"/>
                          <m:limLoc m:val="undOvr"/>
                          <m:supHide m:val="1"/>
                          <m:ctrlPr>
                            <a:rPr lang="es-ES" sz="2400" i="1">
                              <a:latin typeface="Cambria Math" panose="02040503050406030204" pitchFamily="18" charset="0"/>
                            </a:rPr>
                          </m:ctrlPr>
                        </m:naryPr>
                        <m:sub>
                          <m:r>
                            <a:rPr lang="es-ES" sz="2400" i="1">
                              <a:solidFill>
                                <a:srgbClr val="1F4E79"/>
                              </a:solidFill>
                              <a:latin typeface="Cambria Math" panose="02040503050406030204" pitchFamily="18" charset="0"/>
                            </a:rPr>
                            <m:t xml:space="preserve">j&lt;i</m:t>
                          </m:r>
                        </m:sub>
                        <m:sup/>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j</m:t>
                              </m:r>
                            </m:sub>
                            <m:sup>
                              <m:r>
                                <m:rPr>
                                  <m:sty m:val="p"/>
                                </m:rPr>
                                <a:rPr lang="es-ES" sz="2400">
                                  <a:solidFill>
                                    <a:srgbClr val="1F4E79"/>
                                  </a:solidFill>
                                  <a:latin typeface="Cambria Math" panose="02040503050406030204" pitchFamily="18" charset="0"/>
                                </a:rPr>
                                <m:t xml:space="preserve">DC</m:t>
                              </m:r>
                            </m:sup>
                          </m:sSubSup>
                        </m:e>
                      </m:nary>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yi(DC) = Σ(j&lt;i) Aij · yj(DC) + bi + Ki · ui</a:t>
                </a:r>
                <a:endParaRPr lang="en-US" sz="2400" dirty="0"/>
              </a:p>
            </p:txBody>
          </p:sp>
        </mc:Fallback>
      </mc:AlternateContent>
      <p:sp>
        <p:nvSpPr>
          <p:cNvPr id="5" name="Fondo E_Aij"/>
          <p:cNvSpPr/>
          <p:nvPr/>
        </p:nvSpPr>
        <p:spPr>
          <a:xfrm>
            <a:off x="457200" y="256032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oMath>
                  </m:oMathPara>
                </a14:m>
                <a:endParaRPr lang="es-ES"/>
              </a:p>
            </p:txBody>
          </p:sp>
        </mc:Choice>
        <mc:Fallback>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Aij</a:t>
                </a:r>
                <a:endParaRPr lang="en-US" sz="2400" dirty="0"/>
              </a:p>
            </p:txBody>
          </p:sp>
        </mc:Fallback>
      </mc:AlternateContent>
      <p:sp>
        <p:nvSpPr>
          <p:cNvPr id="7" name="Text 5"/>
          <p:cNvSpPr txBox="1"/>
          <p:nvPr/>
        </p:nvSpPr>
        <p:spPr>
          <a:xfrm>
            <a:off x="2011680" y="256032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transferencia de continua de la etapa j a la etapa i</a:t>
            </a:r>
            <a:endParaRPr lang="en-US" sz="1600" dirty="0"/>
          </a:p>
        </p:txBody>
      </p:sp>
      <p:sp>
        <p:nvSpPr>
          <p:cNvPr id="8" name="Fondo E_bi"/>
          <p:cNvSpPr/>
          <p:nvPr/>
        </p:nvSpPr>
        <p:spPr>
          <a:xfrm>
            <a:off x="457200" y="310896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bi</a:t>
                </a:r>
                <a:endParaRPr lang="en-US" sz="2400" dirty="0"/>
              </a:p>
            </p:txBody>
          </p:sp>
        </mc:Fallback>
      </mc:AlternateContent>
      <p:sp>
        <p:nvSpPr>
          <p:cNvPr id="10" name="Text 8"/>
          <p:cNvSpPr txBox="1"/>
          <p:nvPr/>
        </p:nvSpPr>
        <p:spPr>
          <a:xfrm>
            <a:off x="2011680" y="310896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offset propio de la etapa i</a:t>
            </a:r>
            <a:endParaRPr lang="en-US" sz="1600" dirty="0"/>
          </a:p>
        </p:txBody>
      </p:sp>
      <p:sp>
        <p:nvSpPr>
          <p:cNvPr id="11" name="Fondo E_Kiui"/>
          <p:cNvSpPr/>
          <p:nvPr/>
        </p:nvSpPr>
        <p:spPr>
          <a:xfrm>
            <a:off x="457200" y="365760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Ki·ui</a:t>
                </a:r>
                <a:endParaRPr lang="en-US" sz="2400" dirty="0"/>
              </a:p>
            </p:txBody>
          </p:sp>
        </mc:Fallback>
      </mc:AlternateContent>
      <p:sp>
        <p:nvSpPr>
          <p:cNvPr id="13" name="Text 11"/>
          <p:cNvSpPr txBox="1"/>
          <p:nvPr/>
        </p:nvSpPr>
        <p:spPr>
          <a:xfrm>
            <a:off x="2011680" y="365760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corrección aplicada con el VDAC de la etapa i</a:t>
            </a:r>
            <a:endParaRPr lang="en-US" sz="1600" dirty="0"/>
          </a:p>
        </p:txBody>
      </p:sp>
      <p:sp>
        <p:nvSpPr>
          <p:cNvPr id="14" name="Text 1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5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documento de tesis, sec. 3. Notación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2400" dirty="0"/>
          </a:p>
        </p:txBody>
      </p:sp>
      <p:pic>
        <p:nvPicPr>
          <p:cNvPr id="3" name="Flujo de calibración" descr="Diagrama de flujo de la calibración en primer plano: verificación de códigos guardados, ajuste secuencial y adquisición">    </p:cNvPr>
          <p:cNvPicPr>
            <a:picLocks noChangeAspect="1"/>
          </p:cNvPicPr>
          <p:nvPr/>
        </p:nvPicPr>
        <p:blipFill>
          <a:blip r:embed="rId1"/>
          <a:stretch>
            <a:fillRect/>
          </a:stretch>
        </p:blipFill>
        <p:spPr>
          <a:xfrm>
            <a:off x="2011680" y="1188720"/>
            <a:ext cx="5120640" cy="3276199"/>
          </a:xfrm>
          <a:prstGeom prst="rect">
            <a:avLst/>
          </a:prstGeom>
        </p:spPr>
      </p:pic>
      <p:sp>
        <p:nvSpPr>
          <p:cNvPr id="4" name="Text 1"/>
          <p:cNvSpPr txBox="1"/>
          <p:nvPr/>
        </p:nvSpPr>
        <p:spPr>
          <a:xfrm>
            <a:off x="3474720" y="448056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EN INGLÉS: traducir desde el repo</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2;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converge y baja el offset residual en el ADC de 2,9–45,8 % a 0,4–3,9 % del fondo de escala</a:t>
            </a:r>
            <a:endParaRPr lang="en-US" sz="2400" dirty="0"/>
          </a:p>
        </p:txBody>
      </p:sp>
      <p:pic>
        <p:nvPicPr>
          <p:cNvPr id="3" name="Ejemplo de calibración" descr="Trayectorias de calibración de las etapas PGA, BP, SUM y LP en función del tiempo">    </p:cNvPr>
          <p:cNvPicPr>
            <a:picLocks noChangeAspect="1"/>
          </p:cNvPicPr>
          <p:nvPr/>
        </p:nvPicPr>
        <p:blipFill>
          <a:blip r:embed="rId1"/>
          <a:stretch>
            <a:fillRect/>
          </a:stretch>
        </p:blipFill>
        <p:spPr>
          <a:xfrm>
            <a:off x="365760" y="1188720"/>
            <a:ext cx="2606040" cy="3071613"/>
          </a:xfrm>
          <a:prstGeom prst="rect">
            <a:avLst/>
          </a:prstGeom>
        </p:spPr>
      </p:pic>
      <p:graphicFrame>
        <p:nvGraphicFramePr>
          <p:cNvPr id="4" name="Chart 0" descr=""/>
          <p:cNvGraphicFramePr/>
          <p:nvPr/>
        </p:nvGraphicFramePr>
        <p:xfrm>
          <a:off x="3291840" y="1188720"/>
          <a:ext cx="5394960" cy="2423160"/>
        </p:xfrm>
        <a:graphic xmlns:a="http://schemas.openxmlformats.org/drawingml/2006/main">
          <a:graphicData uri="http://schemas.openxmlformats.org/drawingml/2006/chart">
            <c:chart xmlns:c="http://schemas.openxmlformats.org/drawingml/2006/chart" r:id="rId2"/>
          </a:graphicData>
        </a:graphic>
      </p:graphicFrame>
      <p:sp>
        <p:nvSpPr>
          <p:cNvPr id="5" name="Cuerpo"/>
          <p:cNvSpPr txBox="1"/>
          <p:nvPr/>
        </p:nvSpPr>
        <p:spPr>
          <a:xfrm>
            <a:off x="3291840" y="3657600"/>
            <a:ext cx="539496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Derecha: 2 placas y 8 configuraciones placa–ganancia</a:t>
            </a:r>
            <a:endParaRPr lang="en-US" sz="1100" dirty="0"/>
          </a:p>
        </p:txBody>
      </p:sp>
      <p:sp>
        <p:nvSpPr>
          <p:cNvPr id="6" name="Text 2"/>
          <p:cNvSpPr txBox="1"/>
          <p:nvPr/>
        </p:nvSpPr>
        <p:spPr>
          <a:xfrm>
            <a:off x="182880" y="4297680"/>
            <a:ext cx="2788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EJE EN INGLÉS: traducir desde el repo</a:t>
            </a:r>
            <a:endParaRPr lang="en-US" sz="1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4; documento de tesis (00_resumen.tex).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Reparto de tareas digitales entre la máquina de estados y el procesador</a:t>
            </a:r>
            <a:endParaRPr lang="en-US" sz="2400" dirty="0"/>
          </a:p>
        </p:txBody>
      </p:sp>
      <p:sp>
        <p:nvSpPr>
          <p:cNvPr id="3" name="Cabecera Qué se espera del sistema digital"/>
          <p:cNvSpPr/>
          <p:nvPr/>
        </p:nvSpPr>
        <p:spPr>
          <a:xfrm>
            <a:off x="457200" y="1188720"/>
            <a:ext cx="4023360" cy="36576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se espera del sistema digital</a:t>
            </a:r>
            <a:endParaRPr lang="en-US" sz="1400" dirty="0"/>
          </a:p>
        </p:txBody>
      </p:sp>
      <p:sp>
        <p:nvSpPr>
          <p:cNvPr id="5" name="Tarjeta Qué se espera del sistema digital"/>
          <p:cNvSpPr/>
          <p:nvPr/>
        </p:nvSpPr>
        <p:spPr>
          <a:xfrm>
            <a:off x="457200" y="1554480"/>
            <a:ext cx="4023360" cy="1417320"/>
          </a:xfrm>
          <a:prstGeom prst="rect">
            <a:avLst/>
          </a:prstGeom>
          <a:solidFill>
            <a:srgbClr val="FFFFFF"/>
          </a:solidFill>
          <a:ln w="19050">
            <a:solidFill>
              <a:srgbClr val="1F4E79"/>
            </a:solidFill>
            <a:prstDash val="solid"/>
          </a:ln>
        </p:spPr>
      </p:sp>
      <p:sp>
        <p:nvSpPr>
          <p:cNvPr id="6" name="Text 4"/>
          <p:cNvSpPr txBox="1"/>
          <p:nvPr/>
        </p:nvSpPr>
        <p:spPr>
          <a:xfrm>
            <a:off x="566928" y="1627632"/>
            <a:ext cx="3803904" cy="12710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Arrancar la captura al mismo tiempo en todos los nodos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Muestrear a un ritmo fijo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Llevar cada muestra a memoria sin perder ninguna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Guardar el registro y entregarlo después</a:t>
            </a:r>
            <a:endParaRPr lang="en-US" sz="1300" dirty="0"/>
          </a:p>
        </p:txBody>
      </p:sp>
      <p:sp>
        <p:nvSpPr>
          <p:cNvPr id="7" name="Cabecera Por qué no lo decide el procesador"/>
          <p:cNvSpPr/>
          <p:nvPr/>
        </p:nvSpPr>
        <p:spPr>
          <a:xfrm>
            <a:off x="4663440" y="1188720"/>
            <a:ext cx="4023360" cy="365760"/>
          </a:xfrm>
          <a:prstGeom prst="rect">
            <a:avLst/>
          </a:prstGeom>
          <a:solidFill>
            <a:srgbClr val="C55A11"/>
          </a:solidFill>
          <a:ln w="12700">
            <a:solidFill>
              <a:srgbClr val="C55A11"/>
            </a:solidFill>
            <a:prstDash val="solid"/>
          </a:ln>
        </p:spPr>
      </p:sp>
      <p:sp>
        <p:nvSpPr>
          <p:cNvPr id="8" name="Text 6"/>
          <p:cNvSpPr txBox="1"/>
          <p:nvPr/>
        </p:nvSpPr>
        <p:spPr>
          <a:xfrm>
            <a:off x="470916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Por qué no lo decide el procesador</a:t>
            </a:r>
            <a:endParaRPr lang="en-US" sz="1400" dirty="0"/>
          </a:p>
        </p:txBody>
      </p:sp>
      <p:sp>
        <p:nvSpPr>
          <p:cNvPr id="9" name="Tarjeta Por qué no lo decide el procesador"/>
          <p:cNvSpPr/>
          <p:nvPr/>
        </p:nvSpPr>
        <p:spPr>
          <a:xfrm>
            <a:off x="4663440" y="1554480"/>
            <a:ext cx="4023360" cy="1417320"/>
          </a:xfrm>
          <a:prstGeom prst="rect">
            <a:avLst/>
          </a:prstGeom>
          <a:solidFill>
            <a:srgbClr val="FFFFFF"/>
          </a:solidFill>
          <a:ln w="19050">
            <a:solidFill>
              <a:srgbClr val="C55A11"/>
            </a:solidFill>
            <a:prstDash val="solid"/>
          </a:ln>
        </p:spPr>
      </p:sp>
      <p:sp>
        <p:nvSpPr>
          <p:cNvPr id="10" name="Text 8"/>
          <p:cNvSpPr txBox="1"/>
          <p:nvPr/>
        </p:nvSpPr>
        <p:spPr>
          <a:xfrm>
            <a:off x="4773168" y="1627632"/>
            <a:ext cx="3803904" cy="1271016"/>
          </a:xfrm>
          <a:prstGeom prst="rect">
            <a:avLst/>
          </a:prstGeom>
          <a:noFill/>
          <a:ln/>
        </p:spPr>
        <p:txBody>
          <a:bodyPr wrap="square" lIns="0" tIns="0" rIns="0" bIns="0" rtlCol="0" anchor="t"/>
          <a:lstStyle/>
          <a:p>
            <a:pPr algn="l" indent="0" marL="0">
              <a:buNone/>
            </a:pPr>
            <a:endParaRPr lang="en-US" sz="1300" dirty="0"/>
          </a:p>
        </p:txBody>
      </p:sp>
      <p:sp>
        <p:nvSpPr>
          <p:cNvPr id="11" name="Text 9"/>
          <p:cNvSpPr txBox="1"/>
          <p:nvPr/>
        </p:nvSpPr>
        <p:spPr>
          <a:xfrm>
            <a:off x="4773168" y="1627632"/>
            <a:ext cx="3803904" cy="502920"/>
          </a:xfrm>
          <a:prstGeom prst="rect">
            <a:avLst/>
          </a:prstGeom>
          <a:noFill/>
          <a:ln/>
        </p:spPr>
        <p:txBody>
          <a:bodyPr wrap="square" lIns="0" tIns="0" rIns="0" bIns="0" rtlCol="0" anchor="t"/>
          <a:lstStyle/>
          <a:p>
            <a:pPr indent="0" marL="0">
              <a:buNone/>
            </a:pPr>
            <a:r>
              <a:rPr lang="en-US" sz="120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200" dirty="0"/>
          </a:p>
        </p:txBody>
      </p:sp>
      <p:sp>
        <p:nvSpPr>
          <p:cNvPr id="12" name="Fondo E_dphi"/>
          <p:cNvSpPr/>
          <p:nvPr/>
        </p:nvSpPr>
        <p:spPr>
          <a:xfrm>
            <a:off x="4937760" y="2176272"/>
            <a:ext cx="329184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14" name="Text 12"/>
          <p:cNvSpPr txBox="1"/>
          <p:nvPr/>
        </p:nvSpPr>
        <p:spPr>
          <a:xfrm>
            <a:off x="4773168" y="2679192"/>
            <a:ext cx="3803904" cy="22860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y, con ella, error en la velocidad de fase</a:t>
            </a:r>
            <a:endParaRPr lang="en-US" sz="1200" dirty="0"/>
          </a:p>
        </p:txBody>
      </p:sp>
      <p:sp>
        <p:nvSpPr>
          <p:cNvPr id="15" name="Cabecera Hardware: decide cuándo"/>
          <p:cNvSpPr/>
          <p:nvPr/>
        </p:nvSpPr>
        <p:spPr>
          <a:xfrm>
            <a:off x="457200" y="3108960"/>
            <a:ext cx="4023360" cy="320040"/>
          </a:xfrm>
          <a:prstGeom prst="rect">
            <a:avLst/>
          </a:prstGeom>
          <a:solidFill>
            <a:srgbClr val="1F4E79"/>
          </a:solidFill>
          <a:ln w="12700">
            <a:solidFill>
              <a:srgbClr val="1F4E79"/>
            </a:solidFill>
            <a:prstDash val="solid"/>
          </a:ln>
        </p:spPr>
      </p:sp>
      <p:sp>
        <p:nvSpPr>
          <p:cNvPr id="16" name="Text 14"/>
          <p:cNvSpPr txBox="1"/>
          <p:nvPr/>
        </p:nvSpPr>
        <p:spPr>
          <a:xfrm>
            <a:off x="50292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Hardware: decide cuándo</a:t>
            </a:r>
            <a:endParaRPr lang="en-US" sz="1300" dirty="0"/>
          </a:p>
        </p:txBody>
      </p:sp>
      <p:sp>
        <p:nvSpPr>
          <p:cNvPr id="17" name="Tarjeta Hardware: decide cuándo"/>
          <p:cNvSpPr/>
          <p:nvPr/>
        </p:nvSpPr>
        <p:spPr>
          <a:xfrm>
            <a:off x="457200" y="3429000"/>
            <a:ext cx="4023360" cy="1051560"/>
          </a:xfrm>
          <a:prstGeom prst="rect">
            <a:avLst/>
          </a:prstGeom>
          <a:solidFill>
            <a:srgbClr val="FFFFFF"/>
          </a:solidFill>
          <a:ln w="19050">
            <a:solidFill>
              <a:srgbClr val="1F4E79"/>
            </a:solidFill>
            <a:prstDash val="solid"/>
          </a:ln>
        </p:spPr>
      </p:sp>
      <p:sp>
        <p:nvSpPr>
          <p:cNvPr id="18" name="Text 16"/>
          <p:cNvSpPr txBox="1"/>
          <p:nvPr/>
        </p:nvSpPr>
        <p:spPr>
          <a:xfrm>
            <a:off x="56692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250" dirty="0"/>
          </a:p>
        </p:txBody>
      </p:sp>
      <p:sp>
        <p:nvSpPr>
          <p:cNvPr id="19" name="Cabecera Software: decide qué valores"/>
          <p:cNvSpPr/>
          <p:nvPr/>
        </p:nvSpPr>
        <p:spPr>
          <a:xfrm>
            <a:off x="4663440" y="3108960"/>
            <a:ext cx="4023360" cy="320040"/>
          </a:xfrm>
          <a:prstGeom prst="rect">
            <a:avLst/>
          </a:prstGeom>
          <a:solidFill>
            <a:srgbClr val="2E75B6"/>
          </a:solidFill>
          <a:ln w="12700">
            <a:solidFill>
              <a:srgbClr val="2E75B6"/>
            </a:solidFill>
            <a:prstDash val="solid"/>
          </a:ln>
        </p:spPr>
      </p:sp>
      <p:sp>
        <p:nvSpPr>
          <p:cNvPr id="20" name="Text 18"/>
          <p:cNvSpPr txBox="1"/>
          <p:nvPr/>
        </p:nvSpPr>
        <p:spPr>
          <a:xfrm>
            <a:off x="470916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Software: decide qué valores</a:t>
            </a:r>
            <a:endParaRPr lang="en-US" sz="1300" dirty="0"/>
          </a:p>
        </p:txBody>
      </p:sp>
      <p:sp>
        <p:nvSpPr>
          <p:cNvPr id="21" name="Tarjeta Software: decide qué valores"/>
          <p:cNvSpPr/>
          <p:nvPr/>
        </p:nvSpPr>
        <p:spPr>
          <a:xfrm>
            <a:off x="4663440" y="3429000"/>
            <a:ext cx="4023360" cy="1051560"/>
          </a:xfrm>
          <a:prstGeom prst="rect">
            <a:avLst/>
          </a:prstGeom>
          <a:solidFill>
            <a:srgbClr val="FFFFFF"/>
          </a:solidFill>
          <a:ln w="19050">
            <a:solidFill>
              <a:srgbClr val="2E75B6"/>
            </a:solidFill>
            <a:prstDash val="solid"/>
          </a:ln>
        </p:spPr>
      </p:sp>
      <p:sp>
        <p:nvSpPr>
          <p:cNvPr id="22" name="Text 20"/>
          <p:cNvSpPr txBox="1"/>
          <p:nvPr/>
        </p:nvSpPr>
        <p:spPr>
          <a:xfrm>
            <a:off x="477316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25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(criterio de reparto); resumen firmado, sec. 4.6.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φ</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360</m:t>
                    </m:r>
                  </m:oMath>
                </a14:m>
              </mc:Choice>
              <mc:Fallback>
                <a:r>
                  <a:rPr lang="en-US" sz="1200" dirty="0">
                    <a:solidFill>
                      <a:srgbClr val="6B6B6B"/>
                    </a:solidFill>
                    <a:latin typeface="Arial" pitchFamily="34" charset="0"/>
                    <a:ea typeface="Arial" pitchFamily="34" charset="-122"/>
                    <a:cs typeface="Arial" pitchFamily="34" charset="-120"/>
                  </a:rPr>
                  <a:t>Δφ = 360</a:t>
                </a:r>
              </mc:Fallback>
            </mc:AlternateContent>
            <a:r>
              <a:rPr lang="en-US" sz="1200" dirty="0">
                <a:solidFill>
                  <a:srgbClr val="6B6B6B"/>
                </a:solidFill>
                <a:latin typeface="Arial" pitchFamily="34" charset="0"/>
                <a:ea typeface="Arial" pitchFamily="34" charset="-122"/>
                <a:cs typeface="Arial" pitchFamily="34" charset="-120"/>
              </a:rPr>
              <a:t>°·f·</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t</m:t>
                    </m:r>
                  </m:oMath>
                </a14:m>
              </mc:Choice>
              <mc:Fallback>
                <a:r>
                  <a:rPr lang="en-US" sz="1200" dirty="0">
                    <a:solidFill>
                      <a:srgbClr val="6B6B6B"/>
                    </a:solidFill>
                    <a:latin typeface="Arial" pitchFamily="34" charset="0"/>
                    <a:ea typeface="Arial" pitchFamily="34" charset="-122"/>
                    <a:cs typeface="Arial" pitchFamily="34" charset="-120"/>
                  </a:rPr>
                  <a:t>Δt</a:t>
                </a:r>
              </mc:Fallback>
            </mc:AlternateContent>
            <a:r>
              <a:rPr lang="en-US" sz="1200" dirty="0">
                <a:solidFill>
                  <a:srgbClr val="6B6B6B"/>
                </a:solidFill>
                <a:latin typeface="Arial" pitchFamily="34" charset="0"/>
                <a:ea typeface="Arial" pitchFamily="34" charset="-122"/>
                <a:cs typeface="Arial" pitchFamily="34" charset="-120"/>
              </a:rPr>
              <a:t>: relación estándar entre retardo y fase.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digital en PSoC Creator</a:t>
            </a:r>
            <a:endParaRPr lang="en-US" sz="2400" dirty="0"/>
          </a:p>
        </p:txBody>
      </p:sp>
      <p:pic>
        <p:nvPicPr>
          <p:cNvPr id="3" name="Camino digital en PSoC Creator"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640080" y="1097280"/>
            <a:ext cx="7863840" cy="3420770"/>
          </a:xfrm>
          <a:prstGeom prst="rect">
            <a:avLst/>
          </a:prstGeom>
        </p:spPr>
      </p:pic>
      <p:sp>
        <p:nvSpPr>
          <p:cNvPr id="4" name="Text 1"/>
          <p:cNvSpPr txBox="1"/>
          <p:nvPr/>
        </p:nvSpPr>
        <p:spPr>
          <a:xfrm>
            <a:off x="5029200" y="443484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CAPTURA CON ETIQUETAS EN INGLÉS (PSoC Creator)</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10 y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lógico de los datos y del control en el PSoC</a:t>
            </a:r>
            <a:endParaRPr lang="en-US" sz="2400" dirty="0"/>
          </a:p>
        </p:txBody>
      </p:sp>
      <p:pic>
        <p:nvPicPr>
          <p:cNvPr id="3" name="Vista del PSoC" descr="Vista del PSoC 5LP: acondicionamiento y conversión, camino digital de muestras por DMA con ruta cruda y ruta FIR, control con superMaquina y enlace con el ESP32 esclavo">    </p:cNvPr>
          <p:cNvPicPr>
            <a:picLocks noChangeAspect="1"/>
          </p:cNvPicPr>
          <p:nvPr/>
        </p:nvPicPr>
        <p:blipFill>
          <a:blip r:embed="rId1"/>
          <a:stretch>
            <a:fillRect/>
          </a:stretch>
        </p:blipFill>
        <p:spPr>
          <a:xfrm>
            <a:off x="1009403" y="777240"/>
            <a:ext cx="7125195" cy="365760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18); resumen firmado, sec. 4.6 y fig. 10.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Selección del tipo de ADC: por qué delta-sigma</a:t>
            </a:r>
            <a:endParaRPr lang="en-US" sz="2400" dirty="0"/>
          </a:p>
        </p:txBody>
      </p:sp>
      <p:pic>
        <p:nvPicPr>
          <p:cNvPr id="3" name="Conformación del ruido" descr="Sobremuestreo y conformación del ruido delta-sigma: el ruido de cuantización sube con la frecuencia y el filtro digital rechaza la mayor parte">    </p:cNvPr>
          <p:cNvPicPr>
            <a:picLocks noChangeAspect="1"/>
          </p:cNvPicPr>
          <p:nvPr/>
        </p:nvPicPr>
        <p:blipFill>
          <a:blip r:embed="rId1"/>
          <a:stretch>
            <a:fillRect/>
          </a:stretch>
        </p:blipFill>
        <p:spPr>
          <a:xfrm>
            <a:off x="365760" y="1234440"/>
            <a:ext cx="5120640" cy="2153324"/>
          </a:xfrm>
          <a:prstGeom prst="rect">
            <a:avLst/>
          </a:prstGeom>
        </p:spPr>
      </p:pic>
      <p:sp>
        <p:nvSpPr>
          <p:cNvPr id="4" name="Text 1"/>
          <p:cNvSpPr txBox="1"/>
          <p:nvPr/>
        </p:nvSpPr>
        <p:spPr>
          <a:xfrm>
            <a:off x="365760" y="3429000"/>
            <a:ext cx="512064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TRADUCIDA: fuente TI por confirmar</a:t>
            </a:r>
            <a:endParaRPr lang="en-US" sz="1000" dirty="0"/>
          </a:p>
        </p:txBody>
      </p:sp>
      <p:sp>
        <p:nvSpPr>
          <p:cNvPr id="5" name="Cuerpo"/>
          <p:cNvSpPr txBox="1"/>
          <p:nvPr/>
        </p:nvSpPr>
        <p:spPr>
          <a:xfrm>
            <a:off x="5669280" y="128016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300" dirty="0"/>
          </a:p>
        </p:txBody>
      </p:sp>
      <p:sp>
        <p:nvSpPr>
          <p:cNvPr id="6" name="Fondo mensaje"/>
          <p:cNvSpPr/>
          <p:nvPr/>
        </p:nvSpPr>
        <p:spPr>
          <a:xfrm>
            <a:off x="457200" y="3840480"/>
            <a:ext cx="8229600" cy="548640"/>
          </a:xfrm>
          <a:prstGeom prst="rect">
            <a:avLst/>
          </a:prstGeom>
          <a:solidFill>
            <a:srgbClr val="EAF1F8"/>
          </a:solidFill>
          <a:ln w="12700">
            <a:solidFill>
              <a:srgbClr val="EAF1F8"/>
            </a:solidFill>
            <a:prstDash val="solid"/>
          </a:ln>
        </p:spPr>
      </p:sp>
      <p:sp>
        <p:nvSpPr>
          <p:cNvPr id="7" name="Text 4"/>
          <p:cNvSpPr txBox="1"/>
          <p:nvPr/>
        </p:nvSpPr>
        <p:spPr>
          <a:xfrm>
            <a:off x="594360" y="3840480"/>
            <a:ext cx="7955280" cy="5486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6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Texas Instruments, material sobre sobremuestreo y conformación del ruido ΔΣ (documento exacto por confirmar); traducción al español; resumen firmado,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ADC tiene cuatro rangos de entrada, y el rango y la ganancia se eligen juntos</a:t>
            </a:r>
            <a:endParaRPr lang="en-US" sz="2400" dirty="0"/>
          </a:p>
        </p:txBody>
      </p:sp>
      <p:sp>
        <p:nvSpPr>
          <p:cNvPr id="3" name="Fondo E_lsb"/>
          <p:cNvSpPr/>
          <p:nvPr/>
        </p:nvSpPr>
        <p:spPr>
          <a:xfrm>
            <a:off x="457200" y="11887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q</m:t>
                          </m:r>
                        </m:e>
                        <m:sub>
                          <m:r>
                            <m:rPr>
                              <m:sty m:val="p"/>
                            </m:rPr>
                            <a:rPr lang="es-ES" sz="2800">
                              <a:solidFill>
                                <a:srgbClr val="1F4E79"/>
                              </a:solidFill>
                              <a:latin typeface="Cambria Math" panose="02040503050406030204" pitchFamily="18" charset="0"/>
                            </a:rPr>
                            <m:t xml:space="preserve">ADC</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m:rPr>
                                  <m:sty m:val="p"/>
                                </m:rPr>
                                <a:rPr lang="es-ES" sz="2800">
                                  <a:solidFill>
                                    <a:srgbClr val="1F4E79"/>
                                  </a:solidFill>
                                  <a:latin typeface="Cambria Math" panose="02040503050406030204" pitchFamily="18" charset="0"/>
                                </a:rPr>
                                <m:t xml:space="preserve">span</m:t>
                              </m:r>
                            </m:sub>
                          </m:sSub>
                        </m:num>
                        <m:den>
                          <m:sSup>
                            <m:sSupPr>
                              <m:ctrlPr>
                                <a:rPr lang="es-ES" sz="2800" i="1">
                                  <a:latin typeface="Cambria Math" panose="02040503050406030204" pitchFamily="18" charset="0"/>
                                </a:rPr>
                              </m:ctrlPr>
                            </m:sSupPr>
                            <m:e>
                              <m:r>
                                <a:rPr lang="es-ES" sz="2800" i="1">
                                  <a:solidFill>
                                    <a:srgbClr val="1F4E79"/>
                                  </a:solidFill>
                                  <a:latin typeface="Cambria Math" panose="02040503050406030204" pitchFamily="18" charset="0"/>
                                </a:rPr>
                                <m:t xml:space="preserve">2</m:t>
                              </m:r>
                            </m:e>
                            <m:sup>
                              <m:r>
                                <a:rPr lang="es-ES" sz="2800" i="1">
                                  <a:solidFill>
                                    <a:srgbClr val="1F4E79"/>
                                  </a:solidFill>
                                  <a:latin typeface="Cambria Math" panose="02040503050406030204" pitchFamily="18" charset="0"/>
                                </a:rPr>
                                <m:t xml:space="preserve">18</m:t>
                              </m:r>
                            </m:sup>
                          </m:sSup>
                        </m:den>
                      </m:f>
                      <m:r>
                        <a:rPr lang="es-ES" sz="2800" i="1">
                          <a:solidFill>
                            <a:srgbClr val="1F4E79"/>
                          </a:solidFill>
                          <a:latin typeface="Cambria Math" panose="02040503050406030204" pitchFamily="18" charset="0"/>
                        </a:rPr>
                        <m:t xml:space="preserve">≈19,1 </m:t>
                      </m:r>
                      <m:r>
                        <m:rPr>
                          <m:sty m:val="p"/>
                        </m:rPr>
                        <a:rPr lang="es-ES" sz="2800">
                          <a:solidFill>
                            <a:srgbClr val="1F4E79"/>
                          </a:solidFill>
                          <a:latin typeface="Cambria Math" panose="02040503050406030204" pitchFamily="18" charset="0"/>
                        </a:rPr>
                        <m:t xml:space="preserve">µV</m:t>
                      </m:r>
                    </m:oMath>
                  </m:oMathPara>
                </a14:m>
                <a:endParaRPr lang="es-ES"/>
              </a:p>
            </p:txBody>
          </p:sp>
        </mc:Choice>
        <mc:Fallback>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q_ADC = V_span / 2¹⁸ ≈ 19,1 µV</a:t>
                </a:r>
                <a:endParaRPr lang="en-US" sz="2400" dirty="0"/>
              </a:p>
            </p:txBody>
          </p:sp>
        </mc:Fallback>
      </mc:AlternateContent>
      <p:graphicFrame>
        <p:nvGraphicFramePr>
          <p:cNvPr id="78" name="Tabla de rangos"/>
          <p:cNvGraphicFramePr>
            <a:graphicFrameLocks noGrp="1"/>
          </p:cNvGraphicFramePr>
          <p:nvPr>
            <p:extLst>
              <p:ext uri="{D42A27DB-BD31-4B8C-83A1-F6EECF244321}">
                <p14:modId xmlns:p14="http://schemas.microsoft.com/office/powerpoint/2010/main" val="1579011935"/>
              </p:ext>
            </p:extLst>
          </p:nvPr>
        </p:nvGraphicFramePr>
        <p:xfrm>
          <a:off x="457200" y="2194560"/>
          <a:ext cx="4023360" cy="914400"/>
        </p:xfrm>
        <a:graphic>
          <a:graphicData uri="http://schemas.openxmlformats.org/drawingml/2006/table">
            <a:tbl>
              <a:tblPr/>
              <a:tblGrid>
                <a:gridCol w="1280160"/>
                <a:gridCol w="1463040"/>
                <a:gridCol w="128016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Rango</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Fondo de escala</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LSB nominal</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5,000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2,048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7,81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±0,625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1,250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4,77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±0,512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3,91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023360"/>
            <a:ext cx="402336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Todos a 2604 muestras/s y 18 bits nominales.</a:t>
            </a:r>
            <a:endParaRPr lang="en-US" sz="1200" dirty="0"/>
          </a:p>
        </p:txBody>
      </p:sp>
      <p:sp>
        <p:nvSpPr>
          <p:cNvPr id="7" name="Cuerpo"/>
          <p:cNvSpPr txBox="1"/>
          <p:nvPr/>
        </p:nvSpPr>
        <p:spPr>
          <a:xfrm>
            <a:off x="4754880" y="219456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el rango se elige junto con la ganancia del PGA</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documento de tesis, 04_arquitectura.tex (rangos del ADC). Los 13,8 dB son 20·log10(5/1,024),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Diezmamos con una media móvil: registros más chicos y mejor vista de las señales lentas</a:t>
            </a:r>
            <a:endParaRPr lang="en-US" sz="2400" dirty="0"/>
          </a:p>
        </p:txBody>
      </p:sp>
      <p:pic>
        <p:nvPicPr>
          <p:cNvPr id="3" name="Respuesta de la media móvil"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365760" y="1280160"/>
            <a:ext cx="4754880" cy="2694432"/>
          </a:xfrm>
          <a:prstGeom prst="rect">
            <a:avLst/>
          </a:prstGeom>
        </p:spPr>
      </p:pic>
      <p:sp>
        <p:nvSpPr>
          <p:cNvPr id="4" name="Fondo E_fsp"/>
          <p:cNvSpPr/>
          <p:nvPr/>
        </p:nvSpPr>
        <p:spPr>
          <a:xfrm>
            <a:off x="5394960" y="1280160"/>
            <a:ext cx="32918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800" i="1">
                              <a:latin typeface="Cambria Math" panose="02040503050406030204" pitchFamily="18" charset="0"/>
                            </a:rPr>
                          </m:ctrlPr>
                        </m:sSubSup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up>
                          <m:r>
                            <a:rPr lang="es-ES" sz="2800" i="1">
                              <a:solidFill>
                                <a:srgbClr val="1F4E79"/>
                              </a:solidFill>
                              <a:latin typeface="Cambria Math" panose="02040503050406030204" pitchFamily="18" charset="0"/>
                            </a:rPr>
                            <m:t xml:space="preserve">′</m:t>
                          </m:r>
                        </m:sup>
                      </m:sSubSup>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2604 </m:t>
                          </m:r>
                          <m:r>
                            <m:rPr>
                              <m:sty m:val="p"/>
                            </m:rPr>
                            <a:rPr lang="es-ES" sz="2800">
                              <a:solidFill>
                                <a:srgbClr val="1F4E79"/>
                              </a:solidFill>
                              <a:latin typeface="Cambria Math" panose="02040503050406030204" pitchFamily="18" charset="0"/>
                            </a:rPr>
                            <m:t xml:space="preserve">Hz</m:t>
                          </m:r>
                        </m:num>
                        <m:den>
                          <m:r>
                            <a:rPr lang="es-ES" sz="2800" i="1">
                              <a:solidFill>
                                <a:srgbClr val="1F4E79"/>
                              </a:solidFill>
                              <a:latin typeface="Cambria Math" panose="02040503050406030204" pitchFamily="18" charset="0"/>
                            </a:rPr>
                            <m:t xml:space="preserve">D</m:t>
                          </m:r>
                        </m:den>
                      </m:f>
                    </m:oMath>
                  </m:oMathPara>
                </a14:m>
                <a:endParaRPr lang="es-ES"/>
              </a:p>
            </p:txBody>
          </p:sp>
        </mc:Choice>
        <mc:Fallback>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 = 2604 Hz / D</a:t>
                </a:r>
                <a:endParaRPr lang="en-US" sz="2400" dirty="0"/>
              </a:p>
            </p:txBody>
          </p:sp>
        </mc:Fallback>
      </mc:AlternateContent>
      <p:sp>
        <p:nvSpPr>
          <p:cNvPr id="6" name="Cuerpo"/>
          <p:cNvSpPr txBox="1"/>
          <p:nvPr/>
        </p:nvSpPr>
        <p:spPr>
          <a:xfrm>
            <a:off x="5394960" y="2194560"/>
            <a:ext cx="3291840" cy="18288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ven mejor las señales de baja frecuencia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300" dirty="0"/>
          </a:p>
        </p:txBody>
      </p:sp>
      <p:sp>
        <p:nvSpPr>
          <p:cNvPr id="7" name="Text 4"/>
          <p:cNvSpPr txBox="1"/>
          <p:nvPr/>
        </p:nvSpPr>
        <p:spPr>
          <a:xfrm>
            <a:off x="457200" y="4114800"/>
            <a:ext cx="8229600" cy="27432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No reemplaza un antialias: se verifica para cada D elegido.</a:t>
            </a:r>
            <a:endParaRPr lang="en-US" sz="13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ec. 15; documento de tesis, 04_arquitectura.tex. Curva ilustrativa: cálculo propio de la respuesta de una media móvil.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máquina de estados en hardware dispara, cuenta y cierra la captura</a:t>
            </a:r>
            <a:endParaRPr lang="en-US" sz="2400" dirty="0"/>
          </a:p>
        </p:txBody>
      </p:sp>
      <p:pic>
        <p:nvPicPr>
          <p:cNvPr id="3" name="Máquina de estados" descr="Máquina de estados superMaquina: IDLE, ARMED, SAMPLING, DONE y ERROR, con las órdenes del firmware, los disparos de DMA y la interrupción única">    </p:cNvPr>
          <p:cNvPicPr>
            <a:picLocks noChangeAspect="1"/>
          </p:cNvPicPr>
          <p:nvPr/>
        </p:nvPicPr>
        <p:blipFill>
          <a:blip r:embed="rId1"/>
          <a:stretch>
            <a:fillRect/>
          </a:stretch>
        </p:blipFill>
        <p:spPr>
          <a:xfrm>
            <a:off x="548640" y="1097280"/>
            <a:ext cx="8046720" cy="3409159"/>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17); resumen firmado, fig. 10;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nodo guarda sus muestras en la RAM del ESP32 o, si hay tarjeta, en la SD del PSoC</a:t>
            </a:r>
            <a:endParaRPr lang="en-US" sz="2400" dirty="0"/>
          </a:p>
        </p:txBody>
      </p:sp>
      <p:pic>
        <p:nvPicPr>
          <p:cNvPr id="3" name="Secuencia de almacenamiento" descr="Secuencia PRESTART: con microSD activa el PSoC escribe secuencialmente en la tarjeta; sin microSD el ESP32 esclavo reserva páginas en la arena de RAM">    </p:cNvPr>
          <p:cNvPicPr>
            <a:picLocks noChangeAspect="1"/>
          </p:cNvPicPr>
          <p:nvPr/>
        </p:nvPicPr>
        <p:blipFill>
          <a:blip r:embed="rId1"/>
          <a:stretch>
            <a:fillRect/>
          </a:stretch>
        </p:blipFill>
        <p:spPr>
          <a:xfrm>
            <a:off x="640080" y="1188720"/>
            <a:ext cx="7863840" cy="2726977"/>
          </a:xfrm>
          <a:prstGeom prst="rect">
            <a:avLst/>
          </a:prstGeom>
        </p:spPr>
      </p:pic>
      <p:sp>
        <p:nvSpPr>
          <p:cNvPr id="4" name="Text 1"/>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500"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11); documento de tesis, 04_arquitectura.tex (jerarquía de memoria).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Sin SD, el diezmado define cuánto dura el registro, a costa de ancho de banda</a:t>
            </a:r>
            <a:endParaRPr lang="en-US" sz="2400" dirty="0"/>
          </a:p>
        </p:txBody>
      </p:sp>
      <p:graphicFrame>
        <p:nvGraphicFramePr>
          <p:cNvPr id="3" name="Chart 0" descr=""/>
          <p:cNvGraphicFramePr/>
          <p:nvPr/>
        </p:nvGraphicFramePr>
        <p:xfrm>
          <a:off x="365760" y="1234440"/>
          <a:ext cx="4297680" cy="2834640"/>
        </p:xfrm>
        <a:graphic xmlns:a="http://schemas.openxmlformats.org/drawingml/2006/main">
          <a:graphicData uri="http://schemas.openxmlformats.org/drawingml/2006/chart">
            <c:chart xmlns:c="http://schemas.openxmlformats.org/drawingml/2006/chart" r:id="rId1"/>
          </a:graphicData>
        </a:graphic>
      </p:graphicFrame>
      <p:sp>
        <p:nvSpPr>
          <p:cNvPr id="4" name="Fondo E_tmax"/>
          <p:cNvSpPr/>
          <p:nvPr/>
        </p:nvSpPr>
        <p:spPr>
          <a:xfrm>
            <a:off x="4846320" y="1234440"/>
            <a:ext cx="384048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max"/>
              <p:cNvSpPr txBox="1"/>
              <p:nvPr/>
            </p:nvSpPr>
            <p:spPr>
              <a:xfrm>
                <a:off x="4846320" y="1234440"/>
                <a:ext cx="384048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t</m:t>
                          </m:r>
                        </m:e>
                        <m:sub>
                          <m:r>
                            <m:rPr>
                              <m:sty m:val="p"/>
                            </m:rPr>
                            <a:rPr lang="es-ES" sz="2000">
                              <a:solidFill>
                                <a:srgbClr val="1F4E79"/>
                              </a:solidFill>
                              <a:latin typeface="Cambria Math" panose="02040503050406030204" pitchFamily="18" charset="0"/>
                            </a:rPr>
                            <m:t xml:space="preserve">max</m:t>
                          </m:r>
                        </m:sub>
                      </m:sSub>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r>
                            <a:rPr lang="es-ES" sz="2000" i="1">
                              <a:solidFill>
                                <a:srgbClr val="1F4E79"/>
                              </a:solidFill>
                              <a:latin typeface="Cambria Math" panose="02040503050406030204" pitchFamily="18" charset="0"/>
                            </a:rPr>
                            <m:t xml:space="preserve">512·30·D</m:t>
                          </m:r>
                        </m:num>
                        <m:den>
                          <m:r>
                            <a:rPr lang="es-ES" sz="2000" i="1">
                              <a:solidFill>
                                <a:srgbClr val="1F4E79"/>
                              </a:solidFill>
                              <a:latin typeface="Cambria Math" panose="02040503050406030204" pitchFamily="18" charset="0"/>
                            </a:rPr>
                            <m:t xml:space="preserve">2604 </m:t>
                          </m:r>
                          <m:r>
                            <m:rPr>
                              <m:sty m:val="p"/>
                            </m:rPr>
                            <a:rPr lang="es-ES" sz="2000">
                              <a:solidFill>
                                <a:srgbClr val="1F4E79"/>
                              </a:solidFill>
                              <a:latin typeface="Cambria Math" panose="02040503050406030204" pitchFamily="18" charset="0"/>
                            </a:rPr>
                            <m:t xml:space="preserve">Hz</m:t>
                          </m:r>
                        </m:den>
                      </m:f>
                      <m:r>
                        <a:rPr lang="es-ES" sz="2000" i="1">
                          <a:solidFill>
                            <a:srgbClr val="1F4E79"/>
                          </a:solidFill>
                          <a:latin typeface="Cambria Math" panose="02040503050406030204" pitchFamily="18" charset="0"/>
                        </a:rPr>
                        <m:t xml:space="preserve">≈5,9 </m:t>
                      </m:r>
                      <m:r>
                        <m:rPr>
                          <m:sty m:val="p"/>
                        </m:rPr>
                        <a:rPr lang="es-ES" sz="2000">
                          <a:solidFill>
                            <a:srgbClr val="1F4E79"/>
                          </a:solidFill>
                          <a:latin typeface="Cambria Math" panose="02040503050406030204" pitchFamily="18" charset="0"/>
                        </a:rPr>
                        <m:t xml:space="preserve">s</m:t>
                      </m:r>
                      <m:r>
                        <a:rPr lang="es-ES" sz="2000" i="1">
                          <a:solidFill>
                            <a:srgbClr val="1F4E79"/>
                          </a:solidFill>
                          <a:latin typeface="Cambria Math" panose="02040503050406030204" pitchFamily="18" charset="0"/>
                        </a:rPr>
                        <m:t xml:space="preserve">·D</m:t>
                      </m:r>
                    </m:oMath>
                  </m:oMathPara>
                </a14:m>
                <a:endParaRPr lang="es-ES"/>
              </a:p>
            </p:txBody>
          </p:sp>
        </mc:Choice>
        <mc:Fallback>
          <p:sp>
            <p:nvSpPr>
              <p:cNvPr id="5" name="Ecuación E_tmax"/>
              <p:cNvSpPr txBox="1"/>
              <p:nvPr/>
            </p:nvSpPr>
            <p:spPr>
              <a:xfrm>
                <a:off x="4846320" y="1234440"/>
                <a:ext cx="384048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t_max = 512·30·D / 2604 Hz ≈ 5,9 s · D</a:t>
                </a:r>
                <a:endParaRPr lang="en-US" sz="2400" dirty="0"/>
              </a:p>
            </p:txBody>
          </p:sp>
        </mc:Fallback>
      </mc:AlternateContent>
      <p:sp>
        <p:nvSpPr>
          <p:cNvPr id="6" name="Cuerpo"/>
          <p:cNvSpPr txBox="1"/>
          <p:nvPr/>
        </p:nvSpPr>
        <p:spPr>
          <a:xfrm>
            <a:off x="4846320" y="2240280"/>
            <a:ext cx="3840480" cy="1554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Las mismas 15 360 muestras cubren D veces más tiempo</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Pero el Nyquist baja a 1302/D Hz: duración y banda compiten</a:t>
            </a:r>
            <a:endParaRPr lang="en-US" sz="1300" dirty="0"/>
          </a:p>
        </p:txBody>
      </p:sp>
      <p:sp>
        <p:nvSpPr>
          <p:cNvPr id="7" name="Text 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11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512 lotes de 30 muestras y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f</m:t>
                        </m:r>
                      </m:e>
                      <m:sub>
                        <m:r>
                          <a:rPr lang="es-ES" sz="1200" i="1">
                            <a:solidFill>
                              <a:srgbClr val="6B6B6B"/>
                            </a:solidFill>
                            <a:latin typeface="Cambria Math" panose="02040503050406030204" pitchFamily="18" charset="0"/>
                          </a:rPr>
                          <m:t xml:space="preserve">s</m:t>
                        </m:r>
                      </m:sub>
                    </m:sSub>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2604</m:t>
                    </m:r>
                  </m:oMath>
                </a14:m>
              </mc:Choice>
              <mc:Fallback>
                <a:r>
                  <a:rPr lang="en-US" sz="1200" dirty="0">
                    <a:solidFill>
                      <a:srgbClr val="6B6B6B"/>
                    </a:solidFill>
                    <a:latin typeface="Arial" pitchFamily="34" charset="0"/>
                    <a:ea typeface="Arial" pitchFamily="34" charset="-122"/>
                    <a:cs typeface="Arial" pitchFamily="34" charset="-120"/>
                  </a:rPr>
                  <a:t>fs = 2604</a:t>
                </a:r>
              </mc:Fallback>
            </mc:AlternateContent>
            <a:r>
              <a:rPr lang="en-US" sz="1200" dirty="0">
                <a:solidFill>
                  <a:srgbClr val="6B6B6B"/>
                </a:solidFill>
                <a:latin typeface="Arial" pitchFamily="34" charset="0"/>
                <a:ea typeface="Arial" pitchFamily="34" charset="-122"/>
                <a:cs typeface="Arial" pitchFamily="34" charset="-120"/>
              </a:rPr>
              <a:t> Hz;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registro guarda sus metadatos y su integridad, y el original permanece en el nodo</a:t>
            </a:r>
            <a:endParaRPr lang="en-US" sz="2400" dirty="0"/>
          </a:p>
        </p:txBody>
      </p:sp>
      <p:sp>
        <p:nvSpPr>
          <p:cNvPr id="3" name="Cabecera Metadatos del registro"/>
          <p:cNvSpPr/>
          <p:nvPr/>
        </p:nvSpPr>
        <p:spPr>
          <a:xfrm>
            <a:off x="457200" y="1188720"/>
            <a:ext cx="402336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Metadatos del registro</a:t>
            </a:r>
            <a:endParaRPr lang="en-US" sz="1400" dirty="0"/>
          </a:p>
        </p:txBody>
      </p:sp>
      <p:sp>
        <p:nvSpPr>
          <p:cNvPr id="5" name="Tarjeta Metadatos del registro"/>
          <p:cNvSpPr/>
          <p:nvPr/>
        </p:nvSpPr>
        <p:spPr>
          <a:xfrm>
            <a:off x="457200" y="1600200"/>
            <a:ext cx="4023360" cy="2103120"/>
          </a:xfrm>
          <a:prstGeom prst="rect">
            <a:avLst/>
          </a:prstGeom>
          <a:solidFill>
            <a:srgbClr val="FFFFFF"/>
          </a:solidFill>
          <a:ln w="19050">
            <a:solidFill>
              <a:srgbClr val="1F4E79"/>
            </a:solidFill>
            <a:prstDash val="solid"/>
          </a:ln>
        </p:spPr>
      </p:sp>
      <p:sp>
        <p:nvSpPr>
          <p:cNvPr id="6" name="Text 4"/>
          <p:cNvSpPr txBox="1"/>
          <p:nvPr/>
        </p:nvSpPr>
        <p:spPr>
          <a:xfrm>
            <a:off x="56692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Identificador y posición del nodo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Frecuencia de muestreo y factor D</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Rango del ADC, ganancia y ruta de señal</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Estado del ajuste de offset</a:t>
            </a:r>
            <a:endParaRPr lang="en-US" sz="1500" dirty="0"/>
          </a:p>
        </p:txBody>
      </p:sp>
      <p:sp>
        <p:nvSpPr>
          <p:cNvPr id="7" name="Cabecera Integridad"/>
          <p:cNvSpPr/>
          <p:nvPr/>
        </p:nvSpPr>
        <p:spPr>
          <a:xfrm>
            <a:off x="4663440" y="1188720"/>
            <a:ext cx="4023360" cy="411480"/>
          </a:xfrm>
          <a:prstGeom prst="rect">
            <a:avLst/>
          </a:prstGeom>
          <a:solidFill>
            <a:srgbClr val="2E75B6"/>
          </a:solidFill>
          <a:ln w="12700">
            <a:solidFill>
              <a:srgbClr val="2E75B6"/>
            </a:solidFill>
            <a:prstDash val="solid"/>
          </a:ln>
        </p:spPr>
      </p:sp>
      <p:sp>
        <p:nvSpPr>
          <p:cNvPr id="8" name="Text 6"/>
          <p:cNvSpPr txBox="1"/>
          <p:nvPr/>
        </p:nvSpPr>
        <p:spPr>
          <a:xfrm>
            <a:off x="470916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Integridad</a:t>
            </a:r>
            <a:endParaRPr lang="en-US" sz="1400" dirty="0"/>
          </a:p>
        </p:txBody>
      </p:sp>
      <p:sp>
        <p:nvSpPr>
          <p:cNvPr id="9" name="Tarjeta Integridad"/>
          <p:cNvSpPr/>
          <p:nvPr/>
        </p:nvSpPr>
        <p:spPr>
          <a:xfrm>
            <a:off x="4663440" y="1600200"/>
            <a:ext cx="4023360" cy="2103120"/>
          </a:xfrm>
          <a:prstGeom prst="rect">
            <a:avLst/>
          </a:prstGeom>
          <a:solidFill>
            <a:srgbClr val="FFFFFF"/>
          </a:solidFill>
          <a:ln w="19050">
            <a:solidFill>
              <a:srgbClr val="2E75B6"/>
            </a:solidFill>
            <a:prstDash val="solid"/>
          </a:ln>
        </p:spPr>
      </p:sp>
      <p:sp>
        <p:nvSpPr>
          <p:cNvPr id="10" name="Text 8"/>
          <p:cNvSpPr txBox="1"/>
          <p:nvPr/>
        </p:nvSpPr>
        <p:spPr>
          <a:xfrm>
            <a:off x="477316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Versión y CRC</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Indicadores de desbordamiento o de cierre incompleto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Verificación en el servidor sin modificar el original</a:t>
            </a:r>
            <a:endParaRPr lang="en-US" sz="1500" dirty="0"/>
          </a:p>
        </p:txBody>
      </p:sp>
      <p:sp>
        <p:nvSpPr>
          <p:cNvPr id="11" name="Paso guardar"/>
          <p:cNvSpPr/>
          <p:nvPr/>
        </p:nvSpPr>
        <p:spPr>
          <a:xfrm>
            <a:off x="457200" y="3931920"/>
            <a:ext cx="2377440" cy="502920"/>
          </a:xfrm>
          <a:prstGeom prst="roundRect">
            <a:avLst>
              <a:gd name="adj" fmla="val 14545"/>
            </a:avLst>
          </a:prstGeom>
          <a:solidFill>
            <a:srgbClr val="1F4E79"/>
          </a:solidFill>
          <a:ln w="12700">
            <a:solidFill>
              <a:srgbClr val="1F4E79"/>
            </a:solidFill>
            <a:prstDash val="solid"/>
          </a:ln>
        </p:spPr>
      </p:sp>
      <p:sp>
        <p:nvSpPr>
          <p:cNvPr id="12" name="Text 10"/>
          <p:cNvSpPr txBox="1"/>
          <p:nvPr/>
        </p:nvSpPr>
        <p:spPr>
          <a:xfrm>
            <a:off x="45720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 guarda en el nodo</a:t>
            </a:r>
            <a:endParaRPr lang="en-US" sz="1300" dirty="0"/>
          </a:p>
        </p:txBody>
      </p:sp>
      <p:sp>
        <p:nvSpPr>
          <p:cNvPr id="13" name="Paso transmitir"/>
          <p:cNvSpPr/>
          <p:nvPr/>
        </p:nvSpPr>
        <p:spPr>
          <a:xfrm>
            <a:off x="3383280" y="3931920"/>
            <a:ext cx="2377440" cy="502920"/>
          </a:xfrm>
          <a:prstGeom prst="roundRect">
            <a:avLst>
              <a:gd name="adj" fmla="val 14545"/>
            </a:avLst>
          </a:prstGeom>
          <a:solidFill>
            <a:srgbClr val="2E75B6"/>
          </a:solidFill>
          <a:ln w="12700">
            <a:solidFill>
              <a:srgbClr val="2E75B6"/>
            </a:solidFill>
            <a:prstDash val="solid"/>
          </a:ln>
        </p:spPr>
      </p:sp>
      <p:sp>
        <p:nvSpPr>
          <p:cNvPr id="14" name="Text 12"/>
          <p:cNvSpPr txBox="1"/>
          <p:nvPr/>
        </p:nvSpPr>
        <p:spPr>
          <a:xfrm>
            <a:off x="338328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Lotes numerados</a:t>
            </a:r>
            <a:endParaRPr lang="en-US" sz="1300" dirty="0"/>
          </a:p>
        </p:txBody>
      </p:sp>
      <p:sp>
        <p:nvSpPr>
          <p:cNvPr id="15" name="Paso reintento"/>
          <p:cNvSpPr/>
          <p:nvPr/>
        </p:nvSpPr>
        <p:spPr>
          <a:xfrm>
            <a:off x="6309360" y="3931920"/>
            <a:ext cx="2377440" cy="502920"/>
          </a:xfrm>
          <a:prstGeom prst="roundRect">
            <a:avLst>
              <a:gd name="adj" fmla="val 14545"/>
            </a:avLst>
          </a:prstGeom>
          <a:solidFill>
            <a:srgbClr val="C55A11"/>
          </a:solidFill>
          <a:ln w="12700">
            <a:solidFill>
              <a:srgbClr val="C55A11"/>
            </a:solidFill>
            <a:prstDash val="solid"/>
          </a:ln>
        </p:spPr>
      </p:sp>
      <p:sp>
        <p:nvSpPr>
          <p:cNvPr id="16" name="Text 14"/>
          <p:cNvSpPr txBox="1"/>
          <p:nvPr/>
        </p:nvSpPr>
        <p:spPr>
          <a:xfrm>
            <a:off x="630936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Reintento si hay pérdida</a:t>
            </a:r>
            <a:endParaRPr lang="en-US" sz="1300" dirty="0"/>
          </a:p>
        </p:txBody>
      </p:sp>
      <p:sp>
        <p:nvSpPr>
          <p:cNvPr id="17" name="Shape 15"/>
          <p:cNvSpPr/>
          <p:nvPr/>
        </p:nvSpPr>
        <p:spPr>
          <a:xfrm>
            <a:off x="2852928" y="4187952"/>
            <a:ext cx="512064" cy="0"/>
          </a:xfrm>
          <a:prstGeom prst="line">
            <a:avLst/>
          </a:prstGeom>
          <a:noFill/>
          <a:ln w="31750">
            <a:solidFill>
              <a:srgbClr val="1F4E79"/>
            </a:solidFill>
            <a:prstDash val="solid"/>
            <a:tailEnd type="triangle"/>
          </a:ln>
        </p:spPr>
      </p:sp>
      <p:sp>
        <p:nvSpPr>
          <p:cNvPr id="18" name="Shape 16"/>
          <p:cNvSpPr/>
          <p:nvPr/>
        </p:nvSpPr>
        <p:spPr>
          <a:xfrm>
            <a:off x="5779008" y="4187952"/>
            <a:ext cx="512064" cy="0"/>
          </a:xfrm>
          <a:prstGeom prst="line">
            <a:avLst/>
          </a:prstGeom>
          <a:noFill/>
          <a:ln w="31750">
            <a:solidFill>
              <a:srgbClr val="1F4E79"/>
            </a:solidFill>
            <a:prstDash val="solid"/>
            <a:tailEnd type="triangle"/>
          </a:ln>
        </p:spPr>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a 4.8 (metadatos, lotes, integridad);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maestro coordina por ESP-NOW y cada nodo une su ESP32 con su PSoC</a:t>
            </a:r>
            <a:endParaRPr lang="en-US" sz="2400" dirty="0"/>
          </a:p>
        </p:txBody>
      </p:sp>
      <p:pic>
        <p:nvPicPr>
          <p:cNvPr id="3" name="Topología de red"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253163" y="1097280"/>
            <a:ext cx="6637673" cy="338328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5); resumen firmado, sec. 4.8.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ESP-NOW por costo y simplicidad, no por ser la opción más precisa</a:t>
            </a:r>
            <a:endParaRPr lang="en-US" sz="2400" dirty="0"/>
          </a:p>
        </p:txBody>
      </p:sp>
      <p:graphicFrame>
        <p:nvGraphicFramePr>
          <p:cNvPr id="85" name="Tabla de alternativa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1828800"/>
                <a:gridCol w="2286000"/>
                <a:gridCol w="2377440"/>
              </a:tblGrid>
              <a:tr h="41148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Opción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Infraestructura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Inicio coordinado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Observación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Cable de sincronismo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Tendido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Determinista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Se usó y se retiró: es el cableado que se quiere evitar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Wi-Fi con 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Variable (ACK, reintentos, CSMA/CA)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Latencia distinta en cada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LoRa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Tiempo en el aire de decenas de ms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Tasa de datos muy baja para descargar registros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GPS / PPS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Receptor y cielo abierto por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Referencia absoluta, muy buena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Lo usan equipos comerciales; costo y cobertura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ESP-NOW (broadcast)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 200–400 µs medido con 3 nodos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Sin ACK; barato y ya integrado en el ESP32</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UWB (DWM1000)</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±4 ns reportado (Korsimaa, 2025)</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Trabajo futuro, sin implementar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300"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08_trabajos_futuros.tex (UWB, Korsimaa 2025), 01_problema_modelado.tex (GPS). Wi-Fi, LoRa y GPS: propiedades generales, no medidas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desfase de tiempo entre nodos se convierte en un error de fase que crece con la frecuencia</a:t>
            </a:r>
            <a:endParaRPr lang="en-US" sz="2400" dirty="0"/>
          </a:p>
        </p:txBody>
      </p:sp>
      <p:pic>
        <p:nvPicPr>
          <p:cNvPr id="3" name="Error de fase vs desfasaje" descr="Error de fase en función del desfasaje temporal entre nodos para 20, 50 y 100 Hz, con el presupuesto de 5 grados y la observación preliminar de 400 microsegundos">    </p:cNvPr>
          <p:cNvPicPr>
            <a:picLocks noChangeAspect="1"/>
          </p:cNvPicPr>
          <p:nvPr/>
        </p:nvPicPr>
        <p:blipFill>
          <a:blip r:embed="rId1"/>
          <a:stretch>
            <a:fillRect/>
          </a:stretch>
        </p:blipFill>
        <p:spPr>
          <a:xfrm>
            <a:off x="365760" y="1188720"/>
            <a:ext cx="4406498" cy="3246120"/>
          </a:xfrm>
          <a:prstGeom prst="rect">
            <a:avLst/>
          </a:prstGeom>
        </p:spPr>
      </p:pic>
      <p:sp>
        <p:nvSpPr>
          <p:cNvPr id="4" name="Fondo E_dphi"/>
          <p:cNvSpPr/>
          <p:nvPr/>
        </p:nvSpPr>
        <p:spPr>
          <a:xfrm>
            <a:off x="5029200" y="1188720"/>
            <a:ext cx="36576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6" name="Cuerpo"/>
          <p:cNvSpPr txBox="1"/>
          <p:nvPr/>
        </p:nvSpPr>
        <p:spPr>
          <a:xfrm>
            <a:off x="5029200" y="2103120"/>
            <a:ext cx="365760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Para limitar el error a 5°: 278 µs a 50 Hz y 139 µs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7,2° a 50 Hz y 14,4°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los 5° se cumplen hasta unos 35 Hz (cálculo propio)</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ec. 18; documento de tesis, 04_arquitectura.tex y fig. sincronizacion_fase. Los 35 Hz: 5°/(360°·400 µs).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velocidad de fase, el error depende del espaciamiento entre receptores y no de la frecuencia</a:t>
            </a:r>
            <a:endParaRPr lang="en-US" sz="2400" dirty="0"/>
          </a:p>
        </p:txBody>
      </p:sp>
      <p:pic>
        <p:nvPicPr>
          <p:cNvPr id="3" name="Error de velocidad vs desalineamiento" descr="Error de velocidad de fase en porcentaje en función del desalineamiento temporal entre nodos, para velocidades de Rayleigh de 120, 150 y 200 m/s con receptores separados 2 m">    </p:cNvPr>
          <p:cNvPicPr>
            <a:picLocks noChangeAspect="1"/>
          </p:cNvPicPr>
          <p:nvPr/>
        </p:nvPicPr>
        <p:blipFill>
          <a:blip r:embed="rId1"/>
          <a:stretch>
            <a:fillRect/>
          </a:stretch>
        </p:blipFill>
        <p:spPr>
          <a:xfrm>
            <a:off x="365760" y="1234440"/>
            <a:ext cx="4754880" cy="2732471"/>
          </a:xfrm>
          <a:prstGeom prst="rect">
            <a:avLst/>
          </a:prstGeom>
        </p:spPr>
      </p:pic>
      <p:sp>
        <p:nvSpPr>
          <p:cNvPr id="4" name="Fondo E_dcc"/>
          <p:cNvSpPr/>
          <p:nvPr/>
        </p:nvSpPr>
        <p:spPr>
          <a:xfrm>
            <a:off x="5303520" y="1234440"/>
            <a:ext cx="33832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c·Δt</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c·Δt / Δx</a:t>
                </a:r>
                <a:endParaRPr lang="en-US" sz="2400" dirty="0"/>
              </a:p>
            </p:txBody>
          </p:sp>
        </mc:Fallback>
      </mc:AlternateContent>
      <p:sp>
        <p:nvSpPr>
          <p:cNvPr id="6" name="Cuerpo"/>
          <p:cNvSpPr txBox="1"/>
          <p:nvPr/>
        </p:nvSpPr>
        <p:spPr>
          <a:xfrm>
            <a:off x="5303520" y="228600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x</m:t>
                    </m:r>
                    <m:r>
                      <m:rPr>
                        <m:sty m:val="p"/>
                      </m:rPr>
                      <a:rPr lang="es-ES" sz="1300">
                        <a:solidFill>
                          <a:srgbClr val="2D2D2D"/>
                        </a:solidFill>
                        <a:latin typeface="Cambria Math" panose="02040503050406030204" pitchFamily="18" charset="0"/>
                      </a:rPr>
                      <m:t xml:space="preserve">=</m:t>
                    </m:r>
                    <m:r>
                      <m:rPr>
                        <m:sty m:val="p"/>
                      </m:rPr>
                      <a:rPr lang="es-ES" sz="1300">
                        <a:solidFill>
                          <a:srgbClr val="2D2D2D"/>
                        </a:solidFill>
                        <a:latin typeface="Cambria Math" panose="02040503050406030204" pitchFamily="18" charset="0"/>
                      </a:rPr>
                      <m:t xml:space="preserve">2</m:t>
                    </m:r>
                  </m:oMath>
                </a14:m>
              </mc:Choice>
              <mc:Fallback>
                <a:r>
                  <a:rPr lang="en-US" sz="1300" dirty="0">
                    <a:solidFill>
                      <a:srgbClr val="2D2D2D"/>
                    </a:solidFill>
                    <a:latin typeface="Arial" pitchFamily="34" charset="0"/>
                    <a:ea typeface="Arial" pitchFamily="34" charset="-122"/>
                    <a:cs typeface="Arial" pitchFamily="34" charset="-120"/>
                  </a:rPr>
                  <a:t>Δx = 2</a:t>
                </a:r>
              </mc:Fallback>
            </mc:AlternateContent>
            <a:r>
              <a:rPr lang="en-US" sz="1300" dirty="0">
                <a:solidFill>
                  <a:srgbClr val="2D2D2D"/>
                </a:solidFill>
                <a:latin typeface="Arial" pitchFamily="34" charset="0"/>
                <a:ea typeface="Arial" pitchFamily="34" charset="-122"/>
                <a:cs typeface="Arial" pitchFamily="34" charset="-120"/>
              </a:rPr>
              <a:t> m y c = 150 m/s, 5 % de error llega a 667 µs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400 µs el error sería de 3 %</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x</m:t>
                    </m:r>
                  </m:oMath>
                </a14:m>
              </mc:Choice>
              <mc:Fallback>
                <a:r>
                  <a:rPr lang="en-US" sz="1300" dirty="0">
                    <a:solidFill>
                      <a:srgbClr val="2D2D2D"/>
                    </a:solidFill>
                    <a:latin typeface="Arial" pitchFamily="34" charset="0"/>
                    <a:ea typeface="Arial" pitchFamily="34" charset="-122"/>
                    <a:cs typeface="Arial" pitchFamily="34" charset="-120"/>
                  </a:rPr>
                  <a:t>Δx</a:t>
                </a:r>
              </mc:Fallback>
            </mc:AlternateContent>
            <a:r>
              <a:rPr lang="en-US" sz="1300" dirty="0">
                <a:solidFill>
                  <a:srgbClr val="2D2D2D"/>
                </a:solidFill>
                <a:latin typeface="Arial" pitchFamily="34" charset="0"/>
                <a:ea typeface="Arial" pitchFamily="34" charset="-122"/>
                <a:cs typeface="Arial" pitchFamily="34" charset="-120"/>
              </a:rPr>
              <a:t> menor hace que el mismo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t</m:t>
                    </m:r>
                  </m:oMath>
                </a14:m>
              </mc:Choice>
              <mc:Fallback>
                <a:r>
                  <a:rPr lang="en-US" sz="1300" dirty="0">
                    <a:solidFill>
                      <a:srgbClr val="2D2D2D"/>
                    </a:solidFill>
                    <a:latin typeface="Arial" pitchFamily="34" charset="0"/>
                    <a:ea typeface="Arial" pitchFamily="34" charset="-122"/>
                    <a:cs typeface="Arial" pitchFamily="34" charset="-120"/>
                  </a:rPr>
                  <a:t>Δt</a:t>
                </a:r>
              </mc:Fallback>
            </mc:AlternateContent>
            <a:r>
              <a:rPr lang="en-US" sz="1300" dirty="0">
                <a:solidFill>
                  <a:srgbClr val="2D2D2D"/>
                </a:solidFill>
                <a:latin typeface="Arial" pitchFamily="34" charset="0"/>
                <a:ea typeface="Arial" pitchFamily="34" charset="-122"/>
                <a:cs typeface="Arial" pitchFamily="34" charset="-120"/>
              </a:rPr>
              <a:t> pese más</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Figura propia (f_presupuesto_sincronizacion). Relación derivada de c = 2πf·</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x</m:t>
                    </m:r>
                    <m:r>
                      <m:rPr>
                        <m:sty m:val="p"/>
                      </m:rPr>
                      <a:rPr lang="es-ES" sz="1200">
                        <a:solidFill>
                          <a:srgbClr val="6B6B6B"/>
                        </a:solidFill>
                        <a:latin typeface="Cambria Math" panose="02040503050406030204" pitchFamily="18" charset="0"/>
                      </a:rPr>
                      <m:t xml:space="preserve">/</m:t>
                    </m:r>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φ</m:t>
                    </m:r>
                  </m:oMath>
                </a14:m>
              </mc:Choice>
              <mc:Fallback>
                <a:r>
                  <a:rPr lang="en-US" sz="1200" dirty="0">
                    <a:solidFill>
                      <a:srgbClr val="6B6B6B"/>
                    </a:solidFill>
                    <a:latin typeface="Arial" pitchFamily="34" charset="0"/>
                    <a:ea typeface="Arial" pitchFamily="34" charset="-122"/>
                    <a:cs typeface="Arial" pitchFamily="34" charset="-120"/>
                  </a:rPr>
                  <a:t>Δx/Δφ</a:t>
                </a:r>
              </mc:Fallback>
            </mc:AlternateContent>
            <a:r>
              <a:rPr lang="en-US" sz="1200" dirty="0">
                <a:solidFill>
                  <a:srgbClr val="6B6B6B"/>
                </a:solidFill>
                <a:latin typeface="Arial" pitchFamily="34" charset="0"/>
                <a:ea typeface="Arial" pitchFamily="34" charset="-122"/>
                <a:cs typeface="Arial" pitchFamily="34" charset="-120"/>
              </a:rPr>
              <a:t>: inferencia propia, no tomada de una fuente.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se prepara en dos pasos y se ejecuta con una sola orden por broadcast</a:t>
            </a:r>
            <a:endParaRPr lang="en-US" sz="2400" dirty="0"/>
          </a:p>
        </p:txBody>
      </p:sp>
      <p:pic>
        <p:nvPicPr>
          <p:cNvPr id="3" name="Secuencia de disparo"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548640" y="1188720"/>
            <a:ext cx="8046720" cy="3259233"/>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10); resumen firmado, sec. 4.8 y fig. 12.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va por broadcast: el unicast agrega retransmisiones distintas en cada nodo</a:t>
            </a:r>
            <a:endParaRPr lang="en-US" sz="2400" dirty="0"/>
          </a:p>
        </p:txBody>
      </p:sp>
      <p:sp>
        <p:nvSpPr>
          <p:cNvPr id="3" name="Cabecera Sin ACK ni reintentos"/>
          <p:cNvSpPr/>
          <p:nvPr/>
        </p:nvSpPr>
        <p:spPr>
          <a:xfrm>
            <a:off x="457200" y="1188720"/>
            <a:ext cx="2560320" cy="45720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ACK ni reintentos</a:t>
            </a:r>
            <a:endParaRPr lang="en-US" sz="1500" dirty="0"/>
          </a:p>
        </p:txBody>
      </p:sp>
      <p:sp>
        <p:nvSpPr>
          <p:cNvPr id="5" name="Tarjeta Sin ACK ni reintentos"/>
          <p:cNvSpPr/>
          <p:nvPr/>
        </p:nvSpPr>
        <p:spPr>
          <a:xfrm>
            <a:off x="457200" y="1645920"/>
            <a:ext cx="2560320" cy="1920240"/>
          </a:xfrm>
          <a:prstGeom prst="rect">
            <a:avLst/>
          </a:prstGeom>
          <a:solidFill>
            <a:srgbClr val="FFFFFF"/>
          </a:solidFill>
          <a:ln w="19050">
            <a:solidFill>
              <a:srgbClr val="1F4E79"/>
            </a:solidFill>
            <a:prstDash val="solid"/>
          </a:ln>
        </p:spPr>
      </p:sp>
      <p:sp>
        <p:nvSpPr>
          <p:cNvPr id="6" name="Text 4"/>
          <p:cNvSpPr txBox="1"/>
          <p:nvPr/>
        </p:nvSpPr>
        <p:spPr>
          <a:xfrm>
            <a:off x="56692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300" dirty="0"/>
          </a:p>
        </p:txBody>
      </p:sp>
      <p:sp>
        <p:nvSpPr>
          <p:cNvPr id="7" name="Cabecera Una emisión, no N"/>
          <p:cNvSpPr/>
          <p:nvPr/>
        </p:nvSpPr>
        <p:spPr>
          <a:xfrm>
            <a:off x="3291840" y="1188720"/>
            <a:ext cx="2560320" cy="45720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Una emisión, no N</a:t>
            </a:r>
            <a:endParaRPr lang="en-US" sz="1500" dirty="0"/>
          </a:p>
        </p:txBody>
      </p:sp>
      <p:sp>
        <p:nvSpPr>
          <p:cNvPr id="9" name="Tarjeta Una emisión, no N"/>
          <p:cNvSpPr/>
          <p:nvPr/>
        </p:nvSpPr>
        <p:spPr>
          <a:xfrm>
            <a:off x="3291840" y="1645920"/>
            <a:ext cx="2560320" cy="1920240"/>
          </a:xfrm>
          <a:prstGeom prst="rect">
            <a:avLst/>
          </a:prstGeom>
          <a:solidFill>
            <a:srgbClr val="FFFFFF"/>
          </a:solidFill>
          <a:ln w="19050">
            <a:solidFill>
              <a:srgbClr val="2E75B6"/>
            </a:solidFill>
            <a:prstDash val="solid"/>
          </a:ln>
        </p:spPr>
      </p:sp>
      <p:sp>
        <p:nvSpPr>
          <p:cNvPr id="10" name="Text 8"/>
          <p:cNvSpPr txBox="1"/>
          <p:nvPr/>
        </p:nvSpPr>
        <p:spPr>
          <a:xfrm>
            <a:off x="340156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300" dirty="0"/>
          </a:p>
        </p:txBody>
      </p:sp>
      <p:sp>
        <p:nvSpPr>
          <p:cNvPr id="11" name="Cabecera Retardo común"/>
          <p:cNvSpPr/>
          <p:nvPr/>
        </p:nvSpPr>
        <p:spPr>
          <a:xfrm>
            <a:off x="6126480" y="1188720"/>
            <a:ext cx="2560320" cy="45720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Retardo común</a:t>
            </a:r>
            <a:endParaRPr lang="en-US" sz="1500" dirty="0"/>
          </a:p>
        </p:txBody>
      </p:sp>
      <p:sp>
        <p:nvSpPr>
          <p:cNvPr id="13" name="Tarjeta Retardo común"/>
          <p:cNvSpPr/>
          <p:nvPr/>
        </p:nvSpPr>
        <p:spPr>
          <a:xfrm>
            <a:off x="6126480" y="1645920"/>
            <a:ext cx="2560320" cy="1920240"/>
          </a:xfrm>
          <a:prstGeom prst="rect">
            <a:avLst/>
          </a:prstGeom>
          <a:solidFill>
            <a:srgbClr val="FFFFFF"/>
          </a:solidFill>
          <a:ln w="19050">
            <a:solidFill>
              <a:srgbClr val="C55A11"/>
            </a:solidFill>
            <a:prstDash val="solid"/>
          </a:ln>
        </p:spPr>
      </p:sp>
      <p:sp>
        <p:nvSpPr>
          <p:cNvPr id="14" name="Text 12"/>
          <p:cNvSpPr txBox="1"/>
          <p:nvPr/>
        </p:nvSpPr>
        <p:spPr>
          <a:xfrm>
            <a:off x="623620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300" dirty="0"/>
          </a:p>
        </p:txBody>
      </p:sp>
      <p:sp>
        <p:nvSpPr>
          <p:cNvPr id="15" name="Text 13"/>
          <p:cNvSpPr txBox="1"/>
          <p:nvPr/>
        </p:nvSpPr>
        <p:spPr>
          <a:xfrm>
            <a:off x="457200" y="3703320"/>
            <a:ext cx="8229600" cy="5029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400" dirty="0"/>
          </a:p>
        </p:txBody>
      </p:sp>
      <p:sp>
        <p:nvSpPr>
          <p:cNvPr id="16" name="Text 14"/>
          <p:cNvSpPr txBox="1"/>
          <p:nvPr/>
        </p:nvSpPr>
        <p:spPr>
          <a:xfrm>
            <a:off x="457200" y="4251960"/>
            <a:ext cx="8229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10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(sec. broadcast vs unicast); comportamiento de ACK en unicast: estándar 802.11.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jitter se mide con un disparo falso y un osciloscopio: 128 órdenes, 200 a 400 µs</a:t>
            </a:r>
            <a:endParaRPr lang="en-US" sz="2400" dirty="0"/>
          </a:p>
        </p:txBody>
      </p:sp>
      <p:sp>
        <p:nvSpPr>
          <p:cNvPr id="3" name="Cabecera Método"/>
          <p:cNvSpPr/>
          <p:nvPr/>
        </p:nvSpPr>
        <p:spPr>
          <a:xfrm>
            <a:off x="457200" y="1188720"/>
            <a:ext cx="475488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46634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Método</a:t>
            </a:r>
            <a:endParaRPr lang="en-US" sz="1500" dirty="0"/>
          </a:p>
        </p:txBody>
      </p:sp>
      <p:sp>
        <p:nvSpPr>
          <p:cNvPr id="5" name="Tarjeta Método"/>
          <p:cNvSpPr/>
          <p:nvPr/>
        </p:nvSpPr>
        <p:spPr>
          <a:xfrm>
            <a:off x="457200" y="1600200"/>
            <a:ext cx="4754880" cy="2377440"/>
          </a:xfrm>
          <a:prstGeom prst="rect">
            <a:avLst/>
          </a:prstGeom>
          <a:solidFill>
            <a:srgbClr val="FFFFFF"/>
          </a:solidFill>
          <a:ln w="19050">
            <a:solidFill>
              <a:srgbClr val="1F4E79"/>
            </a:solidFill>
            <a:prstDash val="solid"/>
          </a:ln>
        </p:spPr>
      </p:sp>
      <p:sp>
        <p:nvSpPr>
          <p:cNvPr id="6" name="Text 4"/>
          <p:cNvSpPr txBox="1"/>
          <p:nvPr/>
        </p:nvSpPr>
        <p:spPr>
          <a:xfrm>
            <a:off x="566928" y="1673352"/>
            <a:ext cx="4535424" cy="223113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SCOPE_MULTI repite el disparo 128 veces, separado 1 s</a:t>
            </a:r>
            <a:endParaRPr lang="en-US" sz="1300" dirty="0"/>
          </a:p>
        </p:txBody>
      </p:sp>
      <p:sp>
        <p:nvSpPr>
          <p:cNvPr id="7" name="Fondo resultado"/>
          <p:cNvSpPr/>
          <p:nvPr/>
        </p:nvSpPr>
        <p:spPr>
          <a:xfrm>
            <a:off x="5486400" y="1188720"/>
            <a:ext cx="3200400" cy="2788920"/>
          </a:xfrm>
          <a:prstGeom prst="rect">
            <a:avLst/>
          </a:prstGeom>
          <a:solidFill>
            <a:srgbClr val="EAF1F8"/>
          </a:solidFill>
          <a:ln w="12700">
            <a:solidFill>
              <a:srgbClr val="EAF1F8"/>
            </a:solidFill>
            <a:prstDash val="solid"/>
          </a:ln>
        </p:spPr>
      </p:sp>
      <p:sp>
        <p:nvSpPr>
          <p:cNvPr id="8" name="Text 6"/>
          <p:cNvSpPr txBox="1"/>
          <p:nvPr/>
        </p:nvSpPr>
        <p:spPr>
          <a:xfrm>
            <a:off x="5486400" y="1371600"/>
            <a:ext cx="3200400" cy="731520"/>
          </a:xfrm>
          <a:prstGeom prst="rect">
            <a:avLst/>
          </a:prstGeom>
          <a:noFill/>
          <a:ln/>
        </p:spPr>
        <p:txBody>
          <a:bodyPr wrap="square" lIns="0" tIns="0" rIns="0" bIns="0" rtlCol="0" anchor="ctr"/>
          <a:lstStyle/>
          <a:p>
            <a:pPr algn="ctr" indent="0" marL="0">
              <a:buNone/>
            </a:pPr>
            <a:r>
              <a:rPr lang="en-US" sz="3600" b="1" dirty="0">
                <a:solidFill>
                  <a:srgbClr val="1F4E79"/>
                </a:solidFill>
                <a:latin typeface="Arial" pitchFamily="34" charset="0"/>
                <a:ea typeface="Arial" pitchFamily="34" charset="-122"/>
                <a:cs typeface="Arial" pitchFamily="34" charset="-120"/>
              </a:rPr>
              <a:t>200–400 µs</a:t>
            </a:r>
            <a:endParaRPr lang="en-US" sz="3600" dirty="0"/>
          </a:p>
        </p:txBody>
      </p:sp>
      <p:sp>
        <p:nvSpPr>
          <p:cNvPr id="9" name="Text 7"/>
          <p:cNvSpPr txBox="1"/>
          <p:nvPr/>
        </p:nvSpPr>
        <p:spPr>
          <a:xfrm>
            <a:off x="5623560" y="2194560"/>
            <a:ext cx="2926080" cy="82296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300" dirty="0"/>
          </a:p>
        </p:txBody>
      </p:sp>
      <p:sp>
        <p:nvSpPr>
          <p:cNvPr id="10" name="Text 8"/>
          <p:cNvSpPr txBox="1"/>
          <p:nvPr/>
        </p:nvSpPr>
        <p:spPr>
          <a:xfrm>
            <a:off x="5623560" y="3063240"/>
            <a:ext cx="2926080" cy="82296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200" dirty="0"/>
          </a:p>
        </p:txBody>
      </p:sp>
      <p:sp>
        <p:nvSpPr>
          <p:cNvPr id="11" name="Text 9"/>
          <p:cNvSpPr txBox="1"/>
          <p:nvPr/>
        </p:nvSpPr>
        <p:spPr>
          <a:xfrm>
            <a:off x="457200" y="4114800"/>
            <a:ext cx="8229600" cy="320040"/>
          </a:xfrm>
          <a:prstGeom prst="rect">
            <a:avLst/>
          </a:prstGeom>
          <a:noFill/>
          <a:ln/>
        </p:spPr>
        <p:txBody>
          <a:bodyPr wrap="square" lIns="0" tIns="0" rIns="0" bIns="0" rtlCol="0" anchor="t"/>
          <a:lstStyle/>
          <a:p>
            <a:pPr indent="0" marL="0">
              <a:buNone/>
            </a:pPr>
            <a:r>
              <a:rPr lang="en-US" sz="1400" b="1" dirty="0">
                <a:solidFill>
                  <a:srgbClr val="C55A11"/>
                </a:solidFill>
                <a:latin typeface="Arial" pitchFamily="34" charset="0"/>
                <a:ea typeface="Arial" pitchFamily="34" charset="-122"/>
                <a:cs typeface="Arial" pitchFamily="34" charset="-120"/>
              </a:rPr>
              <a:t>Resultado preliminar: no es una especificación garantizada.</a:t>
            </a:r>
            <a:endParaRPr lang="en-US" sz="14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documento de tesis, 04_arquitectura.tex (método, resultado y límites).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Esta medición no incluye el inicio real del ADC ni la deriva posterior</a:t>
            </a:r>
            <a:endParaRPr lang="en-US" sz="2400" dirty="0"/>
          </a:p>
        </p:txBody>
      </p:sp>
      <p:sp>
        <p:nvSpPr>
          <p:cNvPr id="3" name="Cabecera Qué mid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mide</a:t>
            </a:r>
            <a:endParaRPr lang="en-US" sz="1400" dirty="0"/>
          </a:p>
        </p:txBody>
      </p:sp>
      <p:sp>
        <p:nvSpPr>
          <p:cNvPr id="5" name="Tarjeta Qué mide"/>
          <p:cNvSpPr/>
          <p:nvPr/>
        </p:nvSpPr>
        <p:spPr>
          <a:xfrm>
            <a:off x="457200" y="1600200"/>
            <a:ext cx="2560320" cy="25146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Llegada de la orden y flanco GPIO en cada ESP32</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los nodos juntos, por el alcance de las puntas</a:t>
            </a:r>
            <a:endParaRPr lang="en-US" sz="1250" dirty="0"/>
          </a:p>
        </p:txBody>
      </p:sp>
      <p:sp>
        <p:nvSpPr>
          <p:cNvPr id="7" name="Cabecera Qué fal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falta</a:t>
            </a:r>
            <a:endParaRPr lang="en-US" sz="1400" dirty="0"/>
          </a:p>
        </p:txBody>
      </p:sp>
      <p:sp>
        <p:nvSpPr>
          <p:cNvPr id="9" name="Tarjeta Qué falta"/>
          <p:cNvSpPr/>
          <p:nvPr/>
        </p:nvSpPr>
        <p:spPr>
          <a:xfrm>
            <a:off x="3291840" y="1600200"/>
            <a:ext cx="2560320" cy="251460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Deriva relativa de los relojes durante la captura</a:t>
            </a:r>
            <a:endParaRPr lang="en-US" sz="1250" dirty="0"/>
          </a:p>
        </p:txBody>
      </p:sp>
      <p:sp>
        <p:nvSpPr>
          <p:cNvPr id="11" name="Cabecera Experimentos pendientes"/>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Experimentos pendientes</a:t>
            </a:r>
            <a:endParaRPr lang="en-US" sz="1400" dirty="0"/>
          </a:p>
        </p:txBody>
      </p:sp>
      <p:sp>
        <p:nvSpPr>
          <p:cNvPr id="13" name="Tarjeta Experimentos pendientes"/>
          <p:cNvSpPr/>
          <p:nvPr/>
        </p:nvSpPr>
        <p:spPr>
          <a:xfrm>
            <a:off x="6126480" y="1600200"/>
            <a:ext cx="2560320" cy="251460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Nodos separados decenas de metros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Repetibilidad, nº de nodos, temperatura, canal Wi-Fi</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y 5; documento de tesis, 04_arquitectura.tex (limitaciones). La señal de referencia común es propuesta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Tras el disparo, cada nodo muestrea con su reloj local y la deriva se acumula</a:t>
            </a:r>
            <a:endParaRPr lang="en-US" sz="2400" dirty="0"/>
          </a:p>
        </p:txBody>
      </p:sp>
      <p:sp>
        <p:nvSpPr>
          <p:cNvPr id="3" name="Fondo E_fsi"/>
          <p:cNvSpPr/>
          <p:nvPr/>
        </p:nvSpPr>
        <p:spPr>
          <a:xfrm>
            <a:off x="45720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s,i</m:t>
                          </m:r>
                        </m:sub>
                      </m:sSub>
                      <m:r>
                        <a:rPr lang="es-ES" sz="2800" i="1">
                          <a:solidFill>
                            <a:srgbClr val="1F4E79"/>
                          </a:solidFill>
                          <a:latin typeface="Cambria Math" panose="02040503050406030204" pitchFamily="18" charset="0"/>
                        </a:rPr>
                        <m:t xml:space="preserve">=</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oMath>
                  </m:oMathPara>
                </a14:m>
                <a:endParaRPr lang="es-ES"/>
              </a:p>
            </p:txBody>
          </p:sp>
        </mc:Choice>
        <mc:Fallback>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fs,i = fs(1 + εi)</a:t>
                </a:r>
                <a:endParaRPr lang="en-US" sz="2400" dirty="0"/>
              </a:p>
            </p:txBody>
          </p:sp>
        </mc:Fallback>
      </mc:AlternateContent>
      <p:sp>
        <p:nvSpPr>
          <p:cNvPr id="5" name="Fondo E_tin"/>
          <p:cNvSpPr/>
          <p:nvPr/>
        </p:nvSpPr>
        <p:spPr>
          <a:xfrm>
            <a:off x="466344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[n]=</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0,i</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n</m:t>
                          </m:r>
                        </m:num>
                        <m:den>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den>
                      </m:f>
                    </m:oMath>
                  </m:oMathPara>
                </a14:m>
                <a:endParaRPr lang="es-ES"/>
              </a:p>
            </p:txBody>
          </p:sp>
        </mc:Choice>
        <mc:Fallback>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ti[n] = t0,i + n / (fs(1 + εi))</a:t>
                </a:r>
                <a:endParaRPr lang="en-US" sz="2400" dirty="0"/>
              </a:p>
            </p:txBody>
          </p:sp>
        </mc:Fallback>
      </mc:AlternateContent>
      <p:sp>
        <p:nvSpPr>
          <p:cNvPr id="7" name="Fondo E_drift"/>
          <p:cNvSpPr/>
          <p:nvPr/>
        </p:nvSpPr>
        <p:spPr>
          <a:xfrm>
            <a:off x="457200" y="21031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Δt=</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m:rPr>
                              <m:sty m:val="p"/>
                            </m:rPr>
                            <a:rPr lang="es-ES" sz="2800">
                              <a:solidFill>
                                <a:srgbClr val="1F4E79"/>
                              </a:solidFill>
                              <a:latin typeface="Cambria Math" panose="02040503050406030204" pitchFamily="18" charset="0"/>
                            </a:rPr>
                            <m:t xml:space="preserve">rel</m:t>
                          </m:r>
                        </m:sub>
                      </m:sSub>
                      <m:r>
                        <a:rPr lang="es-ES" sz="2800" i="1">
                          <a:solidFill>
                            <a:srgbClr val="1F4E79"/>
                          </a:solidFill>
                          <a:latin typeface="Cambria Math" panose="02040503050406030204" pitchFamily="18" charset="0"/>
                        </a:rPr>
                        <m:t xml:space="preserve">·T</m:t>
                      </m:r>
                    </m:oMath>
                  </m:oMathPara>
                </a14:m>
                <a:endParaRPr lang="es-ES"/>
              </a:p>
            </p:txBody>
          </p:sp>
        </mc:Choice>
        <mc:Fallback>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Δt = ε_rel · T</a:t>
                </a:r>
                <a:endParaRPr lang="en-US" sz="2400" dirty="0"/>
              </a:p>
            </p:txBody>
          </p:sp>
        </mc:Fallback>
      </mc:AlternateContent>
      <p:graphicFrame>
        <p:nvGraphicFramePr>
          <p:cNvPr id="92" name="Tabla de deriva"/>
          <p:cNvGraphicFramePr>
            <a:graphicFrameLocks noGrp="1"/>
          </p:cNvGraphicFramePr>
          <p:nvPr>
            <p:extLst>
              <p:ext uri="{D42A27DB-BD31-4B8C-83A1-F6EECF244321}">
                <p14:modId xmlns:p14="http://schemas.microsoft.com/office/powerpoint/2010/main" val="1579011935"/>
              </p:ext>
            </p:extLst>
          </p:nvPr>
        </p:nvGraphicFramePr>
        <p:xfrm>
          <a:off x="4663440" y="2103120"/>
          <a:ext cx="4023360" cy="914400"/>
        </p:xfrm>
        <a:graphic>
          <a:graphicData uri="http://schemas.openxmlformats.org/drawingml/2006/table">
            <a:tbl>
              <a:tblPr/>
              <a:tblGrid>
                <a:gridCol w="1280160"/>
                <a:gridCol w="1371600"/>
                <a:gridCol w="1371600"/>
              </a:tblGrid>
              <a:tr h="274320">
                <a:tc>
                  <a:txBody>
                    <a:bodyPr/>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200" i="1">
                                  <a:solidFill>
                                    <a:srgbClr val="FFFFFF"/>
                                  </a:solidFill>
                                  <a:latin typeface="Cambria Math" panose="02040503050406030204" pitchFamily="18" charset="0"/>
                                </a:rPr>
                                <m:t xml:space="preserve">ε</m:t>
                              </m:r>
                            </m:oMath>
                          </a14:m>
                        </mc:Choice>
                        <mc:Fallback>
                          <a:r>
                            <a:rPr lang="en-US" sz="1200" b="1" dirty="0">
                              <a:solidFill>
                                <a:srgbClr val="FFFFFF"/>
                              </a:solidFill>
                              <a:latin typeface="Arial" pitchFamily="34" charset="0"/>
                              <a:ea typeface="Arial" pitchFamily="34" charset="-122"/>
                              <a:cs typeface="Arial" pitchFamily="34" charset="-120"/>
                            </a:rPr>
                            <a:t>ε</a:t>
                          </a:r>
                        </mc:Fallback>
                      </mc:AlternateContent>
                      <a:r>
                        <a:rPr lang="en-US" sz="1200" b="1" dirty="0">
                          <a:solidFill>
                            <a:srgbClr val="FFFFFF"/>
                          </a:solidFill>
                          <a:latin typeface="Arial" pitchFamily="34" charset="0"/>
                          <a:ea typeface="Arial" pitchFamily="34" charset="-122"/>
                          <a:cs typeface="Arial" pitchFamily="34" charset="-120"/>
                        </a:rPr>
                        <a:t> relativo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10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0" name="Cuerpo"/>
          <p:cNvSpPr txBox="1"/>
          <p:nvPr/>
        </p:nvSpPr>
        <p:spPr>
          <a:xfrm>
            <a:off x="457200" y="338328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Dos relojes que difieren en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ε</m:t>
                    </m:r>
                  </m:oMath>
                </a14:m>
              </mc:Choice>
              <mc:Fallback>
                <a:r>
                  <a:rPr lang="en-US" sz="1400" dirty="0">
                    <a:solidFill>
                      <a:srgbClr val="2D2D2D"/>
                    </a:solidFill>
                    <a:latin typeface="Arial" pitchFamily="34" charset="0"/>
                    <a:ea typeface="Arial" pitchFamily="34" charset="-122"/>
                    <a:cs typeface="Arial" pitchFamily="34" charset="-120"/>
                  </a:rPr>
                  <a:t>ε</a:t>
                </a:r>
              </mc:Fallback>
            </mc:AlternateContent>
            <a:r>
              <a:rPr lang="en-US" sz="1400" dirty="0">
                <a:solidFill>
                  <a:srgbClr val="2D2D2D"/>
                </a:solidFill>
                <a:latin typeface="Arial" pitchFamily="34" charset="0"/>
                <a:ea typeface="Arial" pitchFamily="34" charset="-122"/>
                <a:cs typeface="Arial" pitchFamily="34" charset="-120"/>
              </a:rPr>
              <a:t> se separan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ε</m:t>
                    </m:r>
                  </m:oMath>
                </a14:m>
              </mc:Choice>
              <mc:Fallback>
                <a:r>
                  <a:rPr lang="en-US" sz="1400" dirty="0">
                    <a:solidFill>
                      <a:srgbClr val="2D2D2D"/>
                    </a:solidFill>
                    <a:latin typeface="Arial" pitchFamily="34" charset="0"/>
                    <a:ea typeface="Arial" pitchFamily="34" charset="-122"/>
                    <a:cs typeface="Arial" pitchFamily="34" charset="-120"/>
                  </a:rPr>
                  <a:t>ε</a:t>
                </a:r>
              </mc:Fallback>
            </mc:AlternateContent>
            <a:r>
              <a:rPr lang="en-US" sz="1400" dirty="0">
                <a:solidFill>
                  <a:srgbClr val="2D2D2D"/>
                </a:solidFill>
                <a:latin typeface="Arial" pitchFamily="34" charset="0"/>
                <a:ea typeface="Arial" pitchFamily="34" charset="-122"/>
                <a:cs typeface="Arial" pitchFamily="34" charset="-120"/>
              </a:rPr>
              <a:t>·T al cabo de T</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Con 50 ppm y 10 s, la deriva (500 µs) supera al jitter de inicio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400" dirty="0"/>
          </a:p>
        </p:txBody>
      </p:sp>
      <p:sp>
        <p:nvSpPr>
          <p:cNvPr id="11" name="Text 8"/>
          <p:cNvSpPr txBox="1"/>
          <p:nvPr/>
        </p:nvSpPr>
        <p:spPr>
          <a:xfrm>
            <a:off x="4663440" y="3017520"/>
            <a:ext cx="402336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TABLA ILUSTRATIVA: </a:t>
            </a:r>
            <mc:AlternateContent xmlns:mc="http://schemas.openxmlformats.org/markup-compatibility/2006">
              <mc:Choice xmlns:a14="http://schemas.microsoft.com/office/drawing/2010/main" Requires="a14">
                <a14:m>
                  <m:oMath xmlns:m="http://schemas.openxmlformats.org/officeDocument/2006/math">
                    <m:r>
                      <a:rPr lang="es-ES" sz="1000" i="1">
                        <a:solidFill>
                          <a:srgbClr val="C55A11"/>
                        </a:solidFill>
                        <a:latin typeface="Cambria Math" panose="02040503050406030204" pitchFamily="18" charset="0"/>
                      </a:rPr>
                      <m:t xml:space="preserve">ε</m:t>
                    </m:r>
                  </m:oMath>
                </a14:m>
              </mc:Choice>
              <mc:Fallback>
                <a:r>
                  <a:rPr lang="en-US" sz="1000" b="1" dirty="0">
                    <a:solidFill>
                      <a:srgbClr val="C55A11"/>
                    </a:solidFill>
                    <a:latin typeface="Arial" pitchFamily="34" charset="0"/>
                    <a:ea typeface="Arial" pitchFamily="34" charset="-122"/>
                    <a:cs typeface="Arial" pitchFamily="34" charset="-120"/>
                  </a:rPr>
                  <a:t>ε</a:t>
                </a:r>
              </mc:Fallback>
            </mc:AlternateContent>
            <a:r>
              <a:rPr lang="en-US" sz="1000" b="1" dirty="0">
                <a:solidFill>
                  <a:srgbClr val="C55A11"/>
                </a:solidFill>
                <a:latin typeface="Arial" pitchFamily="34" charset="0"/>
                <a:ea typeface="Arial" pitchFamily="34" charset="-122"/>
                <a:cs typeface="Arial" pitchFamily="34" charset="-120"/>
              </a:rPr>
              <a:t> NO MEDIDO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ec. 16 y 17. Valores de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ε</m:t>
                    </m:r>
                  </m:oMath>
                </a14:m>
              </mc:Choice>
              <mc:Fallback>
                <a:r>
                  <a:rPr lang="en-US" sz="1200" dirty="0">
                    <a:solidFill>
                      <a:srgbClr val="6B6B6B"/>
                    </a:solidFill>
                    <a:latin typeface="Arial" pitchFamily="34" charset="0"/>
                    <a:ea typeface="Arial" pitchFamily="34" charset="-122"/>
                    <a:cs typeface="Arial" pitchFamily="34" charset="-120"/>
                  </a:rPr>
                  <a:t>ε</a:t>
                </a:r>
              </mc:Fallback>
            </mc:AlternateContent>
            <a:r>
              <a:rPr lang="en-US" sz="1200" dirty="0">
                <a:solidFill>
                  <a:srgbClr val="6B6B6B"/>
                </a:solidFill>
                <a:latin typeface="Arial" pitchFamily="34" charset="0"/>
                <a:ea typeface="Arial" pitchFamily="34" charset="-122"/>
                <a:cs typeface="Arial" pitchFamily="34" charset="-120"/>
              </a:rPr>
              <a:t>: ilustrativos (cristales típicos de decenas de ppm), no medidos en el sistema.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registros se descargan en lotes numerados, con CRC y reintento si algo falla</a:t>
            </a:r>
            <a:endParaRPr lang="en-US" sz="2400" dirty="0"/>
          </a:p>
        </p:txBody>
      </p:sp>
      <p:pic>
        <p:nvPicPr>
          <p:cNvPr id="3" name="Descarga de lotes"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548640" y="1188720"/>
            <a:ext cx="8046720" cy="324018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12); resumen firmado, sec. 4.8;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número de nodos está limitado por los pares de ESP-NOW y por la descarga secuencial</a:t>
            </a:r>
            <a:endParaRPr lang="en-US" sz="2400" dirty="0"/>
          </a:p>
        </p:txBody>
      </p:sp>
      <p:sp>
        <p:nvSpPr>
          <p:cNvPr id="3" name="Cabecera Verificado"/>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Verificado</a:t>
            </a:r>
            <a:endParaRPr lang="en-US" sz="1500" dirty="0"/>
          </a:p>
        </p:txBody>
      </p:sp>
      <p:sp>
        <p:nvSpPr>
          <p:cNvPr id="5" name="Tarjeta Verificado"/>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ESP-IDF v5.5: hasta 20 pares; cifrados: hasta 17, 7 por defecto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Carga útil por trama: 250 B (v1.0) o 1470 B (v2.0)</a:t>
            </a:r>
            <a:endParaRPr lang="en-US" sz="1250" dirty="0"/>
          </a:p>
        </p:txBody>
      </p:sp>
      <p:sp>
        <p:nvSpPr>
          <p:cNvPr id="7" name="Cabecera Inferencia"/>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Inferencia</a:t>
            </a:r>
            <a:endParaRPr lang="en-US" sz="1500" dirty="0"/>
          </a:p>
        </p:txBody>
      </p:sp>
      <p:sp>
        <p:nvSpPr>
          <p:cNvPr id="9" name="Tarjeta Inferencia"/>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La descarga recorre un nodo por vez: el tiempo crece con N</a:t>
            </a:r>
            <a:endParaRPr lang="en-US" sz="1250" dirty="0"/>
          </a:p>
        </p:txBody>
      </p:sp>
      <p:sp>
        <p:nvSpPr>
          <p:cNvPr id="11" name="Cabecera Sin medir"/>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medir</a:t>
            </a:r>
            <a:endParaRPr lang="en-US" sz="1500" dirty="0"/>
          </a:p>
        </p:txBody>
      </p:sp>
      <p:sp>
        <p:nvSpPr>
          <p:cNvPr id="13" name="Tarjeta Sin medir"/>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Jitter y descarga con más de 3 nodos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Efecto de la ocupación del canal Wi-Fi</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Qué versión de ESP-NOW usa el firmware</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Espressif, ESP-IDF v5.5, API de ESP-NOW (docs.espressif.com); documento de tesis, 04_arquitectura.tex (experimentos pendientes). Inferencias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nodo HAMMER registra el impacto con un sensor ICP y el mismo firmware que los nodos GEO</a:t>
            </a:r>
            <a:endParaRPr lang="en-US" sz="2400" dirty="0"/>
          </a:p>
        </p:txBody>
      </p:sp>
      <p:pic>
        <p:nvPicPr>
          <p:cNvPr id="3" name="Principio ICP" descr="Principio de alimentación ICP: sensor de cuarzo con amplificador interno, cable, fuente de corriente constante y capacitor de desacople">    </p:cNvPr>
          <p:cNvPicPr>
            <a:picLocks noChangeAspect="1"/>
          </p:cNvPicPr>
          <p:nvPr/>
        </p:nvPicPr>
        <p:blipFill>
          <a:blip r:embed="rId1"/>
          <a:stretch>
            <a:fillRect/>
          </a:stretch>
        </p:blipFill>
        <p:spPr>
          <a:xfrm>
            <a:off x="365760" y="1234440"/>
            <a:ext cx="2011680" cy="1704899"/>
          </a:xfrm>
          <a:prstGeom prst="rect">
            <a:avLst/>
          </a:prstGeom>
        </p:spPr>
      </p:pic>
      <p:pic>
        <p:nvPicPr>
          <p:cNvPr id="4" name="Acondicionamiento del martillo" descr="Acondicionamiento del martillo en PSoC Creator: fuente de corriente con LM7805, desacople y protección, PGA, pasa-bajos y ADC delta-sigma">    </p:cNvPr>
          <p:cNvPicPr>
            <a:picLocks noChangeAspect="1"/>
          </p:cNvPicPr>
          <p:nvPr/>
        </p:nvPicPr>
        <p:blipFill>
          <a:blip r:embed="rId2"/>
          <a:stretch>
            <a:fillRect/>
          </a:stretch>
        </p:blipFill>
        <p:spPr>
          <a:xfrm>
            <a:off x="2926080" y="1234440"/>
            <a:ext cx="5669280" cy="2146767"/>
          </a:xfrm>
          <a:prstGeom prst="rect">
            <a:avLst/>
          </a:prstGeom>
        </p:spPr>
      </p:pic>
      <p:sp>
        <p:nvSpPr>
          <p:cNvPr id="5" name="Text 1"/>
          <p:cNvSpPr txBox="1"/>
          <p:nvPr/>
        </p:nvSpPr>
        <p:spPr>
          <a:xfrm>
            <a:off x="2926080" y="3401568"/>
            <a:ext cx="566928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ETIQUETAS EN INGLÉS (figuras originales)</a:t>
            </a:r>
            <a:endParaRPr lang="en-US" sz="1000" dirty="0"/>
          </a:p>
        </p:txBody>
      </p:sp>
      <p:sp>
        <p:nvSpPr>
          <p:cNvPr id="6"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4.7 y fig. 13; PCB Piezotronics (2025); documento de tesis, 03_excitacion.tex (principio ICP, esquema en PSoC Creator).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Del impacto al perfil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(z): el flujo completo del sistema</a:t>
            </a:r>
            <a:endParaRPr lang="en-US" sz="2400" dirty="0"/>
          </a:p>
        </p:txBody>
      </p:sp>
      <p:pic>
        <p:nvPicPr>
          <p:cNvPr id="3" name="Flujo completo" descr="Flujo: fuente, suelo estratificado, nodos esclavos, captura local, ESP32 maestro, navegador de campo, servidor FastAPI, control de calidad y MASW, perfil Vs de z">    </p:cNvPr>
          <p:cNvPicPr>
            <a:picLocks noChangeAspect="1"/>
          </p:cNvPicPr>
          <p:nvPr/>
        </p:nvPicPr>
        <p:blipFill>
          <a:blip r:embed="rId1"/>
          <a:stretch>
            <a:fillRect/>
          </a:stretch>
        </p:blipFill>
        <p:spPr>
          <a:xfrm>
            <a:off x="457200" y="1143000"/>
            <a:ext cx="8229600" cy="1658229"/>
          </a:xfrm>
          <a:prstGeom prst="rect">
            <a:avLst/>
          </a:prstGeom>
        </p:spPr>
      </p:pic>
      <p:sp>
        <p:nvSpPr>
          <p:cNvPr id="4" name="Cabecera En el campo"/>
          <p:cNvSpPr/>
          <p:nvPr/>
        </p:nvSpPr>
        <p:spPr>
          <a:xfrm>
            <a:off x="457200" y="2971800"/>
            <a:ext cx="2606040" cy="365760"/>
          </a:xfrm>
          <a:prstGeom prst="rect">
            <a:avLst/>
          </a:prstGeom>
          <a:solidFill>
            <a:srgbClr val="1F4E79"/>
          </a:solidFill>
          <a:ln w="12700">
            <a:solidFill>
              <a:srgbClr val="1F4E79"/>
            </a:solidFill>
            <a:prstDash val="solid"/>
          </a:ln>
        </p:spPr>
      </p:sp>
      <p:sp>
        <p:nvSpPr>
          <p:cNvPr id="5" name="Text 2"/>
          <p:cNvSpPr txBox="1"/>
          <p:nvPr/>
        </p:nvSpPr>
        <p:spPr>
          <a:xfrm>
            <a:off x="50292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 el campo</a:t>
            </a:r>
            <a:endParaRPr lang="en-US" sz="1400" dirty="0"/>
          </a:p>
        </p:txBody>
      </p:sp>
      <p:sp>
        <p:nvSpPr>
          <p:cNvPr id="6" name="Tarjeta En el campo"/>
          <p:cNvSpPr/>
          <p:nvPr/>
        </p:nvSpPr>
        <p:spPr>
          <a:xfrm>
            <a:off x="457200" y="3337560"/>
            <a:ext cx="2606040" cy="1097280"/>
          </a:xfrm>
          <a:prstGeom prst="rect">
            <a:avLst/>
          </a:prstGeom>
          <a:solidFill>
            <a:srgbClr val="FFFFFF"/>
          </a:solidFill>
          <a:ln w="19050">
            <a:solidFill>
              <a:srgbClr val="1F4E79"/>
            </a:solidFill>
            <a:prstDash val="solid"/>
          </a:ln>
        </p:spPr>
      </p:sp>
      <p:sp>
        <p:nvSpPr>
          <p:cNvPr id="7" name="Text 4"/>
          <p:cNvSpPr txBox="1"/>
          <p:nvPr/>
        </p:nvSpPr>
        <p:spPr>
          <a:xfrm>
            <a:off x="56692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Impacto, ondas Rayleigh, nodos con SM-24, AFE y ADC; captura y registro local</a:t>
            </a:r>
            <a:endParaRPr lang="en-US" sz="1300" dirty="0"/>
          </a:p>
        </p:txBody>
      </p:sp>
      <p:sp>
        <p:nvSpPr>
          <p:cNvPr id="8" name="Cabecera En el camino"/>
          <p:cNvSpPr/>
          <p:nvPr/>
        </p:nvSpPr>
        <p:spPr>
          <a:xfrm>
            <a:off x="3268980" y="2971800"/>
            <a:ext cx="2606040" cy="365760"/>
          </a:xfrm>
          <a:prstGeom prst="rect">
            <a:avLst/>
          </a:prstGeom>
          <a:solidFill>
            <a:srgbClr val="2E75B6"/>
          </a:solidFill>
          <a:ln w="12700">
            <a:solidFill>
              <a:srgbClr val="2E75B6"/>
            </a:solidFill>
            <a:prstDash val="solid"/>
          </a:ln>
        </p:spPr>
      </p:sp>
      <p:sp>
        <p:nvSpPr>
          <p:cNvPr id="9" name="Text 6"/>
          <p:cNvSpPr txBox="1"/>
          <p:nvPr/>
        </p:nvSpPr>
        <p:spPr>
          <a:xfrm>
            <a:off x="331470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 el camino</a:t>
            </a:r>
            <a:endParaRPr lang="en-US" sz="1400" dirty="0"/>
          </a:p>
        </p:txBody>
      </p:sp>
      <p:sp>
        <p:nvSpPr>
          <p:cNvPr id="10" name="Tarjeta En el camino"/>
          <p:cNvSpPr/>
          <p:nvPr/>
        </p:nvSpPr>
        <p:spPr>
          <a:xfrm>
            <a:off x="3268980" y="3337560"/>
            <a:ext cx="2606040" cy="1097280"/>
          </a:xfrm>
          <a:prstGeom prst="rect">
            <a:avLst/>
          </a:prstGeom>
          <a:solidFill>
            <a:srgbClr val="FFFFFF"/>
          </a:solidFill>
          <a:ln w="19050">
            <a:solidFill>
              <a:srgbClr val="2E75B6"/>
            </a:solidFill>
            <a:prstDash val="solid"/>
          </a:ln>
        </p:spPr>
      </p:sp>
      <p:sp>
        <p:nvSpPr>
          <p:cNvPr id="11" name="Text 8"/>
          <p:cNvSpPr txBox="1"/>
          <p:nvPr/>
        </p:nvSpPr>
        <p:spPr>
          <a:xfrm>
            <a:off x="337870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maestro reensambla las trazas; el navegador arma un ZIP y lo envía por Tailscale</a:t>
            </a:r>
            <a:endParaRPr lang="en-US" sz="1300" dirty="0"/>
          </a:p>
        </p:txBody>
      </p:sp>
      <p:sp>
        <p:nvSpPr>
          <p:cNvPr id="12" name="Cabecera Análisis (en parte pendiente)"/>
          <p:cNvSpPr/>
          <p:nvPr/>
        </p:nvSpPr>
        <p:spPr>
          <a:xfrm>
            <a:off x="6080760" y="2971800"/>
            <a:ext cx="2606040" cy="365760"/>
          </a:xfrm>
          <a:prstGeom prst="rect">
            <a:avLst/>
          </a:prstGeom>
          <a:solidFill>
            <a:srgbClr val="C55A11"/>
          </a:solidFill>
          <a:ln w="12700">
            <a:solidFill>
              <a:srgbClr val="C55A11"/>
            </a:solidFill>
            <a:prstDash val="solid"/>
          </a:ln>
        </p:spPr>
      </p:sp>
      <p:sp>
        <p:nvSpPr>
          <p:cNvPr id="13" name="Text 10"/>
          <p:cNvSpPr txBox="1"/>
          <p:nvPr/>
        </p:nvSpPr>
        <p:spPr>
          <a:xfrm>
            <a:off x="612648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Análisis (en parte pendiente)</a:t>
            </a:r>
            <a:endParaRPr lang="en-US" sz="1400" dirty="0"/>
          </a:p>
        </p:txBody>
      </p:sp>
      <p:sp>
        <p:nvSpPr>
          <p:cNvPr id="14" name="Tarjeta Análisis (en parte pendiente)"/>
          <p:cNvSpPr/>
          <p:nvPr/>
        </p:nvSpPr>
        <p:spPr>
          <a:xfrm>
            <a:off x="6080760" y="3337560"/>
            <a:ext cx="2606040" cy="1097280"/>
          </a:xfrm>
          <a:prstGeom prst="rect">
            <a:avLst/>
          </a:prstGeom>
          <a:solidFill>
            <a:srgbClr val="FFFFFF"/>
          </a:solidFill>
          <a:ln w="19050">
            <a:solidFill>
              <a:srgbClr val="C55A11"/>
            </a:solidFill>
            <a:prstDash val="solid"/>
          </a:ln>
        </p:spPr>
      </p:sp>
      <p:sp>
        <p:nvSpPr>
          <p:cNvPr id="15" name="Text 12"/>
          <p:cNvSpPr txBox="1"/>
          <p:nvPr/>
        </p:nvSpPr>
        <p:spPr>
          <a:xfrm>
            <a:off x="619048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Servidor, alineación, apilado y dispersión están diseñados; picking e inversión son trabajo futuro</a:t>
            </a:r>
            <a:endParaRPr lang="en-US" sz="13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 resumen firmado, sec. 4.9 y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interfaz web del maestro configura, revisa y decide cada captura</a:t>
            </a:r>
            <a:endParaRPr lang="en-US" sz="2400" dirty="0"/>
          </a:p>
        </p:txBody>
      </p:sp>
      <p:pic>
        <p:nvPicPr>
          <p:cNvPr id="3" name="Interfaz web del maestro" descr="Interfaz web Gephone Scope: configuración de captura, gráficas de las señales del HAMMER y del geófono, y botones para guardar o subir al servidor">    </p:cNvPr>
          <p:cNvPicPr>
            <a:picLocks noChangeAspect="1"/>
          </p:cNvPicPr>
          <p:nvPr/>
        </p:nvPicPr>
        <p:blipFill>
          <a:blip r:embed="rId1"/>
          <a:stretch>
            <a:fillRect/>
          </a:stretch>
        </p:blipFill>
        <p:spPr>
          <a:xfrm>
            <a:off x="365760" y="1188720"/>
            <a:ext cx="5029200" cy="2830664"/>
          </a:xfrm>
          <a:prstGeom prst="rect">
            <a:avLst/>
          </a:prstGeom>
        </p:spPr>
      </p:pic>
      <p:sp>
        <p:nvSpPr>
          <p:cNvPr id="4" name="Cuerpo"/>
          <p:cNvSpPr txBox="1"/>
          <p:nvPr/>
        </p:nvSpPr>
        <p:spPr>
          <a:xfrm>
            <a:off x="5623560" y="118872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Se configuran ganancia, rango del ADC, duración y ruta de señal</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Se preparan los nodos, se inicia la captura y se ven las señales del HAMMER y del geófono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Cada captura se conserva, se descarta o se envía</a:t>
            </a:r>
            <a:endParaRPr lang="en-US" sz="14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detecta mal acople, impactos múltiples o ruido antes de mover el receptor.</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fig. 15.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sesión de campo: del navegador al servidor, con el maestro en el medio</a:t>
            </a:r>
            <a:endParaRPr lang="en-US" sz="2400" dirty="0"/>
          </a:p>
        </p:txBody>
      </p:sp>
      <p:pic>
        <p:nvPicPr>
          <p:cNvPr id="3" name="Flujo operativo de una sesión" descr="Diagrama de carriles: usuario o navegador, ESP32 maestro, nodos esclavos y servidor de análisis, desde iniciar el punto de acceso hasta publicar la captura como raw aceptado">    </p:cNvPr>
          <p:cNvPicPr>
            <a:picLocks noChangeAspect="1"/>
          </p:cNvPicPr>
          <p:nvPr/>
        </p:nvPicPr>
        <p:blipFill>
          <a:blip r:embed="rId1"/>
          <a:stretch>
            <a:fillRect/>
          </a:stretch>
        </p:blipFill>
        <p:spPr>
          <a:xfrm>
            <a:off x="365760" y="1143000"/>
            <a:ext cx="5542290" cy="3337560"/>
          </a:xfrm>
          <a:prstGeom prst="rect">
            <a:avLst/>
          </a:prstGeom>
        </p:spPr>
      </p:pic>
      <p:sp>
        <p:nvSpPr>
          <p:cNvPr id="4" name="Cuerpo"/>
          <p:cNvSpPr txBox="1"/>
          <p:nvPr/>
        </p:nvSpPr>
        <p:spPr>
          <a:xfrm>
            <a:off x="6080760" y="1188720"/>
            <a:ext cx="26517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maestro crea su propio punto de acceso: no hace falta infraestructura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Calibración y captura se coordinan por ESP-NOW</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revisa, se decide y recién entonces se envía por la red del cliente y Tailscale</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fig. 14; diagrama propio (drawio, 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arreglo: 21 posiciones del receptor, un HAMMER fijo y 40 m de apertura</a:t>
            </a:r>
            <a:endParaRPr lang="en-US" sz="2400" dirty="0"/>
          </a:p>
        </p:txBody>
      </p:sp>
      <p:pic>
        <p:nvPicPr>
          <p:cNvPr id="3" name="Geometría del arreglo" descr="Esquema de la línea de medición: fuente y HAMMER en el origen, 21 posiciones del receptor GEO entre 10 y 50 m con paso de 2 metros y apertura de 40 metros">    </p:cNvPr>
          <p:cNvPicPr>
            <a:picLocks noChangeAspect="1"/>
          </p:cNvPicPr>
          <p:nvPr/>
        </p:nvPicPr>
        <p:blipFill>
          <a:blip r:embed="rId1"/>
          <a:stretch>
            <a:fillRect/>
          </a:stretch>
        </p:blipFill>
        <p:spPr>
          <a:xfrm>
            <a:off x="640080" y="1143000"/>
            <a:ext cx="7863840" cy="2468880"/>
          </a:xfrm>
          <a:prstGeom prst="rect">
            <a:avLst/>
          </a:prstGeom>
        </p:spPr>
      </p:pic>
      <p:sp>
        <p:nvSpPr>
          <p:cNvPr id="4" name="Text 1"/>
          <p:cNvSpPr txBox="1"/>
          <p:nvPr/>
        </p:nvSpPr>
        <p:spPr>
          <a:xfrm>
            <a:off x="5029200" y="3593592"/>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MÍA, A REGENERAR EN EL REPO</a:t>
            </a:r>
            <a:endParaRPr lang="en-US" sz="1000" dirty="0"/>
          </a:p>
        </p:txBody>
      </p:sp>
      <p:sp>
        <p:nvSpPr>
          <p:cNvPr id="5" name="Fondo E_lap"/>
          <p:cNvSpPr/>
          <p:nvPr/>
        </p:nvSpPr>
        <p:spPr>
          <a:xfrm>
            <a:off x="457200" y="3886200"/>
            <a:ext cx="3291840" cy="5486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lap"/>
              <p:cNvSpPr txBox="1"/>
              <p:nvPr/>
            </p:nvSpPr>
            <p:spPr>
              <a:xfrm>
                <a:off x="457200" y="3886200"/>
                <a:ext cx="3291840" cy="5486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L=(</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N</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−1)·Δx</m:t>
                      </m:r>
                    </m:oMath>
                  </m:oMathPara>
                </a14:m>
                <a:endParaRPr lang="es-ES"/>
              </a:p>
            </p:txBody>
          </p:sp>
        </mc:Choice>
        <mc:Fallback>
          <p:sp>
            <p:nvSpPr>
              <p:cNvPr id="6" name="Ecuación E_lap"/>
              <p:cNvSpPr txBox="1"/>
              <p:nvPr/>
            </p:nvSpPr>
            <p:spPr>
              <a:xfrm>
                <a:off x="457200" y="3886200"/>
                <a:ext cx="3291840" cy="5486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L = (Nr − 1)·Δx</a:t>
                </a:r>
                <a:endParaRPr lang="en-US" sz="2400" dirty="0"/>
              </a:p>
            </p:txBody>
          </p:sp>
        </mc:Fallback>
      </mc:AlternateContent>
      <p:sp>
        <p:nvSpPr>
          <p:cNvPr id="7" name="Cuerpo"/>
          <p:cNvSpPr txBox="1"/>
          <p:nvPr/>
        </p:nvSpPr>
        <p:spPr>
          <a:xfrm>
            <a:off x="3931920" y="3886200"/>
            <a:ext cx="4754880"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Nr = 21 posiciones, </a:t>
            </a:r>
            <mc:AlternateContent xmlns:mc="http://schemas.openxmlformats.org/markup-compatibility/2006">
              <mc:Choice xmlns:a14="http://schemas.microsoft.com/office/drawing/2010/main" Requires="a14">
                <a14:m>
                  <m:oMath xmlns:m="http://schemas.openxmlformats.org/officeDocument/2006/math">
                    <m:r>
                      <a:rPr lang="es-ES" sz="1200" i="1">
                        <a:solidFill>
                          <a:srgbClr val="2D2D2D"/>
                        </a:solidFill>
                        <a:latin typeface="Cambria Math" panose="02040503050406030204" pitchFamily="18" charset="0"/>
                      </a:rPr>
                      <m:t xml:space="preserve">Δ</m:t>
                    </m:r>
                    <m:r>
                      <a:rPr lang="es-ES" sz="1200" i="1">
                        <a:solidFill>
                          <a:srgbClr val="2D2D2D"/>
                        </a:solidFill>
                        <a:latin typeface="Cambria Math" panose="02040503050406030204" pitchFamily="18" charset="0"/>
                      </a:rPr>
                      <m:t xml:space="preserve">x</m:t>
                    </m:r>
                    <m:r>
                      <m:rPr>
                        <m:sty m:val="p"/>
                      </m:rPr>
                      <a:rPr lang="es-ES" sz="1200">
                        <a:solidFill>
                          <a:srgbClr val="2D2D2D"/>
                        </a:solidFill>
                        <a:latin typeface="Cambria Math" panose="02040503050406030204" pitchFamily="18" charset="0"/>
                      </a:rPr>
                      <m:t xml:space="preserve">=</m:t>
                    </m:r>
                    <m:r>
                      <m:rPr>
                        <m:sty m:val="p"/>
                      </m:rPr>
                      <a:rPr lang="es-ES" sz="1200">
                        <a:solidFill>
                          <a:srgbClr val="2D2D2D"/>
                        </a:solidFill>
                        <a:latin typeface="Cambria Math" panose="02040503050406030204" pitchFamily="18" charset="0"/>
                      </a:rPr>
                      <m:t xml:space="preserve">2</m:t>
                    </m:r>
                  </m:oMath>
                </a14:m>
              </mc:Choice>
              <mc:Fallback>
                <a:r>
                  <a:rPr lang="en-US" sz="1200" dirty="0">
                    <a:solidFill>
                      <a:srgbClr val="2D2D2D"/>
                    </a:solidFill>
                    <a:latin typeface="Arial" pitchFamily="34" charset="0"/>
                    <a:ea typeface="Arial" pitchFamily="34" charset="-122"/>
                    <a:cs typeface="Arial" pitchFamily="34" charset="-120"/>
                  </a:rPr>
                  <a:t>Δx = 2</a:t>
                </a:r>
              </mc:Fallback>
            </mc:AlternateContent>
            <a:r>
              <a:rPr lang="en-US" sz="1200" dirty="0">
                <a:solidFill>
                  <a:srgbClr val="2D2D2D"/>
                </a:solidFill>
                <a:latin typeface="Arial" pitchFamily="34" charset="0"/>
                <a:ea typeface="Arial" pitchFamily="34" charset="-122"/>
                <a:cs typeface="Arial" pitchFamily="34" charset="-120"/>
              </a:rPr>
              <a:t> m: L = 40 m</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conservaron coordenadas ni azimut de los extremos</a:t>
            </a:r>
            <a:endParaRPr lang="en-US" sz="12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4.10.2; documento de tesis, 04_validacion.tex (campaña) y 02_requerimientos.tex (ec. de apertura). Esquema: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separación y la apertura fijan las longitudes de onda que se pueden medir</a:t>
            </a:r>
            <a:endParaRPr lang="en-US" sz="2400" dirty="0"/>
          </a:p>
        </p:txBody>
      </p:sp>
      <p:sp>
        <p:nvSpPr>
          <p:cNvPr id="3" name="Fondo E_lmin"/>
          <p:cNvSpPr/>
          <p:nvPr/>
        </p:nvSpPr>
        <p:spPr>
          <a:xfrm>
            <a:off x="457200" y="1143000"/>
            <a:ext cx="3474720" cy="5943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min"/>
              <p:cNvSpPr txBox="1"/>
              <p:nvPr/>
            </p:nvSpPr>
            <p:spPr>
              <a:xfrm>
                <a:off x="457200" y="1143000"/>
                <a:ext cx="3474720" cy="5943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λ</m:t>
                          </m:r>
                        </m:e>
                        <m:sub>
                          <m:r>
                            <a:rPr lang="es-ES" sz="2800" i="1">
                              <a:solidFill>
                                <a:srgbClr val="1F4E79"/>
                              </a:solidFill>
                              <a:latin typeface="Cambria Math" panose="02040503050406030204" pitchFamily="18" charset="0"/>
                            </a:rPr>
                            <m:t xml:space="preserve">mín</m:t>
                          </m:r>
                        </m:sub>
                      </m:sSub>
                      <m:r>
                        <a:rPr lang="es-ES" sz="2800" i="1">
                          <a:solidFill>
                            <a:srgbClr val="1F4E79"/>
                          </a:solidFill>
                          <a:latin typeface="Cambria Math" panose="02040503050406030204" pitchFamily="18" charset="0"/>
                        </a:rPr>
                        <m:t xml:space="preserve">≳2Δx</m:t>
                      </m:r>
                    </m:oMath>
                  </m:oMathPara>
                </a14:m>
                <a:endParaRPr lang="es-ES"/>
              </a:p>
            </p:txBody>
          </p:sp>
        </mc:Choice>
        <mc:Fallback>
          <p:sp>
            <p:nvSpPr>
              <p:cNvPr id="4" name="Ecuación E_lmin"/>
              <p:cNvSpPr txBox="1"/>
              <p:nvPr/>
            </p:nvSpPr>
            <p:spPr>
              <a:xfrm>
                <a:off x="457200" y="1143000"/>
                <a:ext cx="3474720" cy="5943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λmín ≳ 2Δx</a:t>
                </a:r>
                <a:endParaRPr lang="en-US" sz="2400" dirty="0"/>
              </a:p>
            </p:txBody>
          </p:sp>
        </mc:Fallback>
      </mc:AlternateContent>
      <p:sp>
        <p:nvSpPr>
          <p:cNvPr id="5" name="Text 3"/>
          <p:cNvSpPr txBox="1"/>
          <p:nvPr/>
        </p:nvSpPr>
        <p:spPr>
          <a:xfrm>
            <a:off x="457200" y="1764792"/>
            <a:ext cx="3474720" cy="274320"/>
          </a:xfrm>
          <a:prstGeom prst="rect">
            <a:avLst/>
          </a:prstGeom>
          <a:noFill/>
          <a:ln/>
        </p:spPr>
        <p:txBody>
          <a:bodyPr wrap="square" lIns="0" tIns="0" rIns="0" bIns="0" rtlCol="0" anchor="t"/>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x</m:t>
                    </m:r>
                  </m:oMath>
                </a14:m>
              </mc:Choice>
              <mc:Fallback>
                <a:r>
                  <a:rPr lang="en-US" sz="1200" dirty="0">
                    <a:solidFill>
                      <a:srgbClr val="6B6B6B"/>
                    </a:solidFill>
                    <a:latin typeface="Arial" pitchFamily="34" charset="0"/>
                    <a:ea typeface="Arial" pitchFamily="34" charset="-122"/>
                    <a:cs typeface="Arial" pitchFamily="34" charset="-120"/>
                  </a:rPr>
                  <a:t>Δx</a:t>
                </a:r>
              </mc:Fallback>
            </mc:AlternateContent>
            <a:r>
              <a:rPr lang="en-US" sz="1200" dirty="0">
                <a:solidFill>
                  <a:srgbClr val="6B6B6B"/>
                </a:solidFill>
                <a:latin typeface="Arial" pitchFamily="34" charset="0"/>
                <a:ea typeface="Arial" pitchFamily="34" charset="-122"/>
                <a:cs typeface="Arial" pitchFamily="34" charset="-120"/>
              </a:rPr>
              <a:t> corto: sin aliasing espacial</a:t>
            </a:r>
            <a:endParaRPr lang="en-US" sz="1200" dirty="0"/>
          </a:p>
        </p:txBody>
      </p:sp>
      <p:sp>
        <p:nvSpPr>
          <p:cNvPr id="6" name="Fondo E_lmax"/>
          <p:cNvSpPr/>
          <p:nvPr/>
        </p:nvSpPr>
        <p:spPr>
          <a:xfrm>
            <a:off x="457200" y="2103120"/>
            <a:ext cx="3474720" cy="5943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lmax"/>
              <p:cNvSpPr txBox="1"/>
              <p:nvPr/>
            </p:nvSpPr>
            <p:spPr>
              <a:xfrm>
                <a:off x="457200" y="2103120"/>
                <a:ext cx="3474720" cy="5943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L≳</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λ</m:t>
                          </m:r>
                        </m:e>
                        <m:sub>
                          <m:r>
                            <a:rPr lang="es-ES" sz="2800" i="1">
                              <a:solidFill>
                                <a:srgbClr val="1F4E79"/>
                              </a:solidFill>
                              <a:latin typeface="Cambria Math" panose="02040503050406030204" pitchFamily="18" charset="0"/>
                            </a:rPr>
                            <m:t xml:space="preserve">máx</m:t>
                          </m:r>
                        </m:sub>
                      </m:sSub>
                    </m:oMath>
                  </m:oMathPara>
                </a14:m>
                <a:endParaRPr lang="es-ES"/>
              </a:p>
            </p:txBody>
          </p:sp>
        </mc:Choice>
        <mc:Fallback>
          <p:sp>
            <p:nvSpPr>
              <p:cNvPr id="7" name="Ecuación E_lmax"/>
              <p:cNvSpPr txBox="1"/>
              <p:nvPr/>
            </p:nvSpPr>
            <p:spPr>
              <a:xfrm>
                <a:off x="457200" y="2103120"/>
                <a:ext cx="3474720" cy="5943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L ≳ λmáx</a:t>
                </a:r>
                <a:endParaRPr lang="en-US" sz="2400" dirty="0"/>
              </a:p>
            </p:txBody>
          </p:sp>
        </mc:Fallback>
      </mc:AlternateContent>
      <p:sp>
        <p:nvSpPr>
          <p:cNvPr id="8" name="Text 6"/>
          <p:cNvSpPr txBox="1"/>
          <p:nvPr/>
        </p:nvSpPr>
        <p:spPr>
          <a:xfrm>
            <a:off x="457200" y="2724912"/>
            <a:ext cx="347472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L largo: se resuelven ondas largas</a:t>
            </a:r>
            <a:endParaRPr lang="en-US" sz="1200" dirty="0"/>
          </a:p>
        </p:txBody>
      </p:sp>
      <p:sp>
        <p:nvSpPr>
          <p:cNvPr id="9" name="Cuerpo"/>
          <p:cNvSpPr txBox="1"/>
          <p:nvPr/>
        </p:nvSpPr>
        <p:spPr>
          <a:xfrm>
            <a:off x="457200" y="3090672"/>
            <a:ext cx="3566160" cy="1417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Δ</m:t>
                    </m:r>
                    <m:r>
                      <a:rPr lang="es-ES" sz="1150" i="1">
                        <a:solidFill>
                          <a:srgbClr val="2D2D2D"/>
                        </a:solidFill>
                        <a:latin typeface="Cambria Math" panose="02040503050406030204" pitchFamily="18" charset="0"/>
                      </a:rPr>
                      <m:t xml:space="preserve">x</m:t>
                    </m:r>
                    <m:r>
                      <m:rPr>
                        <m:sty m:val="p"/>
                      </m:rPr>
                      <a:rPr lang="es-ES" sz="1150">
                        <a:solidFill>
                          <a:srgbClr val="2D2D2D"/>
                        </a:solidFill>
                        <a:latin typeface="Cambria Math" panose="02040503050406030204" pitchFamily="18" charset="0"/>
                      </a:rPr>
                      <m:t xml:space="preserve">=</m:t>
                    </m:r>
                    <m:r>
                      <m:rPr>
                        <m:sty m:val="p"/>
                      </m:rPr>
                      <a:rPr lang="es-ES" sz="1150">
                        <a:solidFill>
                          <a:srgbClr val="2D2D2D"/>
                        </a:solidFill>
                        <a:latin typeface="Cambria Math" panose="02040503050406030204" pitchFamily="18" charset="0"/>
                      </a:rPr>
                      <m:t xml:space="preserve">2</m:t>
                    </m:r>
                  </m:oMath>
                </a14:m>
              </mc:Choice>
              <mc:Fallback>
                <a:r>
                  <a:rPr lang="en-US" sz="1150" dirty="0">
                    <a:solidFill>
                      <a:srgbClr val="2D2D2D"/>
                    </a:solidFill>
                    <a:latin typeface="Arial" pitchFamily="34" charset="0"/>
                    <a:ea typeface="Arial" pitchFamily="34" charset="-122"/>
                    <a:cs typeface="Arial" pitchFamily="34" charset="-120"/>
                  </a:rPr>
                  <a:t>Δx = 2</a:t>
                </a:r>
              </mc:Fallback>
            </mc:AlternateContent>
            <a:r>
              <a:rPr lang="en-US" sz="1150" dirty="0">
                <a:solidFill>
                  <a:srgbClr val="2D2D2D"/>
                </a:solidFill>
                <a:latin typeface="Arial" pitchFamily="34" charset="0"/>
                <a:ea typeface="Arial" pitchFamily="34" charset="-122"/>
                <a:cs typeface="Arial" pitchFamily="34" charset="-120"/>
              </a:rPr>
              <a:t> m: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λ</m:t>
                    </m:r>
                  </m:oMath>
                </a14:m>
              </mc:Choice>
              <mc:Fallback>
                <a:r>
                  <a:rPr lang="en-US" sz="1150" dirty="0">
                    <a:solidFill>
                      <a:srgbClr val="2D2D2D"/>
                    </a:solidFill>
                    <a:latin typeface="Arial" pitchFamily="34" charset="0"/>
                    <a:ea typeface="Arial" pitchFamily="34" charset="-122"/>
                    <a:cs typeface="Arial" pitchFamily="34" charset="-120"/>
                  </a:rPr>
                  <a:t>λ</a:t>
                </a:r>
              </mc:Fallback>
            </mc:AlternateContent>
            <a:r>
              <a:rPr lang="en-US" sz="1150" dirty="0">
                <a:solidFill>
                  <a:srgbClr val="2D2D2D"/>
                </a:solidFill>
                <a:latin typeface="Arial" pitchFamily="34" charset="0"/>
                <a:ea typeface="Arial" pitchFamily="34" charset="-122"/>
                <a:cs typeface="Arial" pitchFamily="34" charset="-120"/>
              </a:rPr>
              <a:t> ≳ 4 m; a c = 150 m/s, sin aliasing hasta 37,5 Hz</a:t>
            </a:r>
            <a:endParaRPr lang="en-US" sz="1150" dirty="0"/>
          </a:p>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Con L = 40 m y L ≳ 1,5·λmáx: f ≳ 5,6 Hz a c = 150 m/s</a:t>
            </a:r>
            <a:endParaRPr lang="en-US" sz="1150" dirty="0"/>
          </a:p>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Subarreglo de 22 a 42 m (L = 20 m): 8 Hz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λ</m:t>
                    </m:r>
                    <m:r>
                      <m:rPr>
                        <m:sty m:val="p"/>
                      </m:rPr>
                      <a:rPr lang="es-ES" sz="1150">
                        <a:solidFill>
                          <a:srgbClr val="2D2D2D"/>
                        </a:solidFill>
                        <a:latin typeface="Cambria Math" panose="02040503050406030204" pitchFamily="18" charset="0"/>
                      </a:rPr>
                      <m:t xml:space="preserve">=</m:t>
                    </m:r>
                    <m:r>
                      <m:rPr>
                        <m:sty m:val="p"/>
                      </m:rPr>
                      <a:rPr lang="es-ES" sz="1150">
                        <a:solidFill>
                          <a:srgbClr val="2D2D2D"/>
                        </a:solidFill>
                        <a:latin typeface="Cambria Math" panose="02040503050406030204" pitchFamily="18" charset="0"/>
                      </a:rPr>
                      <m:t xml:space="preserve">21,5</m:t>
                    </m:r>
                  </m:oMath>
                </a14:m>
              </mc:Choice>
              <mc:Fallback>
                <a:r>
                  <a:rPr lang="en-US" sz="1150" dirty="0">
                    <a:solidFill>
                      <a:srgbClr val="2D2D2D"/>
                    </a:solidFill>
                    <a:latin typeface="Arial" pitchFamily="34" charset="0"/>
                    <a:ea typeface="Arial" pitchFamily="34" charset="-122"/>
                    <a:cs typeface="Arial" pitchFamily="34" charset="-120"/>
                  </a:rPr>
                  <a:t>λ = 21,5</a:t>
                </a:r>
              </mc:Fallback>
            </mc:AlternateContent>
            <a:r>
              <a:rPr lang="en-US" sz="1150" dirty="0">
                <a:solidFill>
                  <a:srgbClr val="2D2D2D"/>
                </a:solidFill>
                <a:latin typeface="Arial" pitchFamily="34" charset="0"/>
                <a:ea typeface="Arial" pitchFamily="34" charset="-122"/>
                <a:cs typeface="Arial" pitchFamily="34" charset="-120"/>
              </a:rPr>
              <a:t> m) ya es comparable con L</a:t>
            </a:r>
            <a:endParaRPr lang="en-US" sz="1150" dirty="0"/>
          </a:p>
        </p:txBody>
      </p:sp>
      <p:pic>
        <p:nvPicPr>
          <p:cNvPr id="10" name="Región válida de la geometría" descr="Plano frecuencia y velocidad de fase: la región válida queda entre la recta de aliasing espacial c igual a 2 Δx f y las rectas de apertura, para Δx de 2 metros y L de 40 metros">    </p:cNvPr>
          <p:cNvPicPr>
            <a:picLocks noChangeAspect="1"/>
          </p:cNvPicPr>
          <p:nvPr/>
        </p:nvPicPr>
        <p:blipFill>
          <a:blip r:embed="rId1"/>
          <a:stretch>
            <a:fillRect/>
          </a:stretch>
        </p:blipFill>
        <p:spPr>
          <a:xfrm>
            <a:off x="4206240" y="1143000"/>
            <a:ext cx="4843849" cy="3200400"/>
          </a:xfrm>
          <a:prstGeom prst="rect">
            <a:avLst/>
          </a:prstGeom>
        </p:spPr>
      </p:pic>
      <p:sp>
        <p:nvSpPr>
          <p:cNvPr id="11" name="Text 8"/>
          <p:cNvSpPr txBox="1"/>
          <p:nvPr/>
        </p:nvSpPr>
        <p:spPr>
          <a:xfrm>
            <a:off x="5669280" y="4370832"/>
            <a:ext cx="30175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MÍA (CÁLCULO PROPIO)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02_requerimientos.tex y 04_validacion.tex (atribuye a Foti et al., 2018: L ≳ λmáx y L ≳ 1,5·λmáx; L ≳ 2·λmáx es criterio de la tesis). Cálculos con c = 150 m/s.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receptor móvil sintetiza el registro; no equivale a un MASW simultáneo</a:t>
            </a:r>
            <a:endParaRPr lang="en-US" sz="2400" dirty="0"/>
          </a:p>
        </p:txBody>
      </p:sp>
      <p:sp>
        <p:nvSpPr>
          <p:cNvPr id="3" name="Cabecera Qué se hac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se hace</a:t>
            </a:r>
            <a:endParaRPr lang="en-US" sz="1500" dirty="0"/>
          </a:p>
        </p:txBody>
      </p:sp>
      <p:sp>
        <p:nvSpPr>
          <p:cNvPr id="5" name="Tarjeta Qué se hace"/>
          <p:cNvSpPr/>
          <p:nvPr/>
        </p:nvSpPr>
        <p:spPr>
          <a:xfrm>
            <a:off x="457200" y="1600200"/>
            <a:ext cx="2560320" cy="233172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Un nodo GEO recorre la línea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HAMMER fijo registra cada impacto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Se alinea por el HAMMER y se promedia por posición</a:t>
            </a:r>
            <a:endParaRPr lang="en-US" sz="1300" dirty="0"/>
          </a:p>
        </p:txBody>
      </p:sp>
      <p:sp>
        <p:nvSpPr>
          <p:cNvPr id="7" name="Cabecera Qué supone"/>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supone</a:t>
            </a:r>
            <a:endParaRPr lang="en-US" sz="1500" dirty="0"/>
          </a:p>
        </p:txBody>
      </p:sp>
      <p:sp>
        <p:nvSpPr>
          <p:cNvPr id="9" name="Tarjeta Qué supone"/>
          <p:cNvSpPr/>
          <p:nvPr/>
        </p:nvSpPr>
        <p:spPr>
          <a:xfrm>
            <a:off x="3291840" y="1600200"/>
            <a:ext cx="2560320" cy="233172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Fuente repetible entre golpes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Terreno estable durante la campaña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Posiciones conocidas</a:t>
            </a:r>
            <a:endParaRPr lang="en-US" sz="1300" dirty="0"/>
          </a:p>
        </p:txBody>
      </p:sp>
      <p:sp>
        <p:nvSpPr>
          <p:cNvPr id="11" name="Cabecera Qué no demuestra"/>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no demuestra</a:t>
            </a:r>
            <a:endParaRPr lang="en-US" sz="1500" dirty="0"/>
          </a:p>
        </p:txBody>
      </p:sp>
      <p:sp>
        <p:nvSpPr>
          <p:cNvPr id="13" name="Tarjeta Qué no demuestra"/>
          <p:cNvSpPr/>
          <p:nvPr/>
        </p:nvSpPr>
        <p:spPr>
          <a:xfrm>
            <a:off x="6126480" y="1600200"/>
            <a:ext cx="2560320" cy="233172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Captura simultánea de varios canales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Sincronización entre nodos en campo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Igual fase y magnitud entre placas</a:t>
            </a:r>
            <a:endParaRPr lang="en-US" sz="1300" dirty="0"/>
          </a:p>
        </p:txBody>
      </p:sp>
      <p:sp>
        <p:nvSpPr>
          <p:cNvPr id="1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Lin y Ashlock (2016) fijan el receptor y mueven la fuente; acá es al revés.</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 y 4.10; documento de tesis, 04_validacion.tex (Lin y Ashlock, 2016).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captura real: el impacto del HAMMER marca el tiempo y el geófono lo sigue</a:t>
            </a:r>
            <a:endParaRPr lang="en-US" sz="2400" dirty="0"/>
          </a:p>
        </p:txBody>
      </p:sp>
      <p:pic>
        <p:nvPicPr>
          <p:cNvPr id="3" name="Captura real a 24 m" descr="Ejemplo de adquisición real a 24 metros: canal crudo del HAMMER con el impacto, registro del geófono con su nivel de continua y vista de trabajo centrada y filtrada">    </p:cNvPr>
          <p:cNvPicPr>
            <a:picLocks noChangeAspect="1"/>
          </p:cNvPicPr>
          <p:nvPr/>
        </p:nvPicPr>
        <p:blipFill>
          <a:blip r:embed="rId1"/>
          <a:stretch>
            <a:fillRect/>
          </a:stretch>
        </p:blipFill>
        <p:spPr>
          <a:xfrm>
            <a:off x="365760" y="1188720"/>
            <a:ext cx="5303520" cy="3227734"/>
          </a:xfrm>
          <a:prstGeom prst="rect">
            <a:avLst/>
          </a:prstGeom>
        </p:spPr>
      </p:pic>
      <p:sp>
        <p:nvSpPr>
          <p:cNvPr id="4" name="Cuerpo"/>
          <p:cNvSpPr txBox="1"/>
          <p:nvPr/>
        </p:nvSpPr>
        <p:spPr>
          <a:xfrm>
            <a:off x="5852160" y="1188720"/>
            <a:ext cx="28346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Arriba: el HAMMER; su pico fija el instante del impacto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Medio: el geófono crudo, con su nivel de continua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Abajo: la vista de trabajo, centrada y filtrada, para alinear</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06_metodologia_validacion.tex (ejemplo de adquisición real, 24 m). Figura del repo; no está en el resumen firmado.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posición se alinea con el HAMMER y se promedia traza por traza</a:t>
            </a:r>
            <a:endParaRPr lang="en-US" sz="2400" dirty="0"/>
          </a:p>
        </p:txBody>
      </p:sp>
      <p:pic>
        <p:nvPicPr>
          <p:cNvPr id="3" name="Interfaz de procesamiento" descr="Interfaz de escritorio de procesamiento: lista de capturas con distancia y disparo, señal del martillo con el disparo detectado y respuesta del geófono alineada, superpuesta a las demás capturas de la misma posición">    </p:cNvPr>
          <p:cNvPicPr>
            <a:picLocks noChangeAspect="1"/>
          </p:cNvPicPr>
          <p:nvPr/>
        </p:nvPicPr>
        <p:blipFill>
          <a:blip r:embed="rId1"/>
          <a:stretch>
            <a:fillRect/>
          </a:stretch>
        </p:blipFill>
        <p:spPr>
          <a:xfrm>
            <a:off x="365760" y="1188720"/>
            <a:ext cx="4480560" cy="2807818"/>
          </a:xfrm>
          <a:prstGeom prst="rect">
            <a:avLst/>
          </a:prstGeom>
        </p:spPr>
      </p:pic>
      <p:sp>
        <p:nvSpPr>
          <p:cNvPr id="4" name="Pasos"/>
          <p:cNvSpPr txBox="1"/>
          <p:nvPr/>
        </p:nvSpPr>
        <p:spPr>
          <a:xfrm>
            <a:off x="5120640" y="1188720"/>
            <a:ext cx="3566160" cy="23774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aceptan las capturas revisadas</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alinean con el impacto del HAMMER</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llevan a una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f</m:t>
                        </m:r>
                      </m:e>
                      <m:sub>
                        <m:r>
                          <a:rPr lang="es-ES" sz="1500" i="1">
                            <a:solidFill>
                              <a:srgbClr val="2D2D2D"/>
                            </a:solidFill>
                            <a:latin typeface="Cambria Math" panose="02040503050406030204" pitchFamily="18" charset="0"/>
                          </a:rPr>
                          <m:t xml:space="preserve">s</m:t>
                        </m:r>
                      </m:sub>
                    </m:sSub>
                  </m:oMath>
                </a14:m>
              </mc:Choice>
              <mc:Fallback>
                <a:r>
                  <a:rPr lang="en-US" sz="1500" dirty="0">
                    <a:solidFill>
                      <a:srgbClr val="2D2D2D"/>
                    </a:solidFill>
                    <a:latin typeface="Arial" pitchFamily="34" charset="0"/>
                    <a:ea typeface="Arial" pitchFamily="34" charset="-122"/>
                    <a:cs typeface="Arial" pitchFamily="34" charset="-120"/>
                  </a:rPr>
                  <a:t>fs</a:t>
                </a:r>
              </mc:Fallback>
            </mc:AlternateContent>
            <a:r>
              <a:rPr lang="en-US" sz="1500" dirty="0">
                <a:solidFill>
                  <a:srgbClr val="2D2D2D"/>
                </a:solidFill>
                <a:latin typeface="Arial" pitchFamily="34" charset="0"/>
                <a:ea typeface="Arial" pitchFamily="34" charset="-122"/>
                <a:cs typeface="Arial" pitchFamily="34" charset="-120"/>
              </a:rPr>
              <a:t> común</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promedian muestra a muestra</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ordenan por distancia</a:t>
            </a:r>
            <a:endParaRPr lang="en-US" sz="15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La mediana fue de unos 30 golpes por posición; se descartaron 9 de 607 registros.</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4.10.2, fig. 16; documento de tesis, 04_validacion.tex (607 candidatos, 598 procesados, mediana de ~30 golpes).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resultado: un registro espacio–tiempo de 21 trazas promediadas</a:t>
            </a:r>
            <a:endParaRPr lang="en-US" sz="2400" dirty="0"/>
          </a:p>
        </p:txBody>
      </p:sp>
      <p:pic>
        <p:nvPicPr>
          <p:cNvPr id="3" name="Registro espacio-tiempo de 21 posiciones" descr="Registro espacio tiempo con 21 trazas entre 10 y 50 metros, primeros 4 segundos después del impacto, cada traza normalizada">    </p:cNvPr>
          <p:cNvPicPr>
            <a:picLocks noChangeAspect="1"/>
          </p:cNvPicPr>
          <p:nvPr/>
        </p:nvPicPr>
        <p:blipFill>
          <a:blip r:embed="rId1"/>
          <a:stretch>
            <a:fillRect/>
          </a:stretch>
        </p:blipFill>
        <p:spPr>
          <a:xfrm>
            <a:off x="365760" y="1188720"/>
            <a:ext cx="5029200" cy="2779749"/>
          </a:xfrm>
          <a:prstGeom prst="rect">
            <a:avLst/>
          </a:prstGeom>
        </p:spPr>
      </p:pic>
      <p:sp>
        <p:nvSpPr>
          <p:cNvPr id="4" name="Cuerpo"/>
          <p:cNvSpPr txBox="1"/>
          <p:nvPr/>
        </p:nvSpPr>
        <p:spPr>
          <a:xfrm>
            <a:off x="5577840" y="118872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tren de ondas llega más tarde al aumentar la distancia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Cada traza está normalizada por su máximo: no se comparan amplitudes</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Primeros 4 s tras el impacto</a:t>
            </a:r>
            <a:endParaRPr lang="en-US" sz="14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Demuestra adquisición secuencial; la curva de dispersión y la inversión siguen pendientes.</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4.10.2 y fig. 17b.</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error en la posición de los receptores se paga en velocidad de fase</a:t>
            </a:r>
            <a:endParaRPr lang="en-US" sz="2400" dirty="0"/>
          </a:p>
        </p:txBody>
      </p:sp>
      <p:sp>
        <p:nvSpPr>
          <p:cNvPr id="3" name="Fondo E_dcx"/>
          <p:cNvSpPr/>
          <p:nvPr/>
        </p:nvSpPr>
        <p:spPr>
          <a:xfrm>
            <a:off x="457200" y="1188720"/>
            <a:ext cx="39319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dcx"/>
              <p:cNvSpPr txBox="1"/>
              <p:nvPr/>
            </p:nvSpPr>
            <p:spPr>
              <a:xfrm>
                <a:off x="457200" y="1188720"/>
                <a:ext cx="39319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δ(Δx)</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4" name="Ecuación E_dcx"/>
              <p:cNvSpPr txBox="1"/>
              <p:nvPr/>
            </p:nvSpPr>
            <p:spPr>
              <a:xfrm>
                <a:off x="457200" y="1188720"/>
                <a:ext cx="39319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δ(Δx)/Δx</a:t>
                </a:r>
                <a:endParaRPr lang="en-US" sz="2400" dirty="0"/>
              </a:p>
            </p:txBody>
          </p:sp>
        </mc:Fallback>
      </mc:AlternateContent>
      <p:sp>
        <p:nvSpPr>
          <p:cNvPr id="5" name="Text 3"/>
          <p:cNvSpPr txBox="1"/>
          <p:nvPr/>
        </p:nvSpPr>
        <p:spPr>
          <a:xfrm>
            <a:off x="457200" y="2148840"/>
            <a:ext cx="3931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INFERENCIA PROPIA</a:t>
            </a:r>
            <a:endParaRPr lang="en-US" sz="1000" dirty="0"/>
          </a:p>
        </p:txBody>
      </p:sp>
      <p:sp>
        <p:nvSpPr>
          <p:cNvPr id="6" name="Cuerpo"/>
          <p:cNvSpPr txBox="1"/>
          <p:nvPr/>
        </p:nvSpPr>
        <p:spPr>
          <a:xfrm>
            <a:off x="4663440" y="1188720"/>
            <a:ext cx="402336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Δ</m:t>
                    </m:r>
                    <m:r>
                      <a:rPr lang="es-ES" sz="1400" i="1">
                        <a:solidFill>
                          <a:srgbClr val="2D2D2D"/>
                        </a:solidFill>
                        <a:latin typeface="Cambria Math" panose="02040503050406030204" pitchFamily="18" charset="0"/>
                      </a:rPr>
                      <m:t xml:space="preserve">x</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2</m:t>
                    </m:r>
                  </m:oMath>
                </a14:m>
              </mc:Choice>
              <mc:Fallback>
                <a:r>
                  <a:rPr lang="en-US" sz="1400" dirty="0">
                    <a:solidFill>
                      <a:srgbClr val="2D2D2D"/>
                    </a:solidFill>
                    <a:latin typeface="Arial" pitchFamily="34" charset="0"/>
                    <a:ea typeface="Arial" pitchFamily="34" charset="-122"/>
                    <a:cs typeface="Arial" pitchFamily="34" charset="-120"/>
                  </a:rPr>
                  <a:t>Δx = 2</a:t>
                </a:r>
              </mc:Fallback>
            </mc:AlternateContent>
            <a:r>
              <a:rPr lang="en-US" sz="1400" dirty="0">
                <a:solidFill>
                  <a:srgbClr val="2D2D2D"/>
                </a:solidFill>
                <a:latin typeface="Arial" pitchFamily="34" charset="0"/>
                <a:ea typeface="Arial" pitchFamily="34" charset="-122"/>
                <a:cs typeface="Arial" pitchFamily="34" charset="-120"/>
              </a:rPr>
              <a:t> m, un error de 10 cm es un 5 % en c</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Un error aleatorio se promedia al ajustar 21 posiciones; uno sistemático, como una cinta mal calibrada, no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Hoy las posiciones se miden con cinta y se anotan a mano; no se conservaron coordenadas ni azimut</a:t>
            </a:r>
            <a:endParaRPr lang="en-US" sz="1400" dirty="0"/>
          </a:p>
        </p:txBody>
      </p:sp>
      <p:sp>
        <p:nvSpPr>
          <p:cNvPr id="7" name="Cabecera Para verificarlo"/>
          <p:cNvSpPr/>
          <p:nvPr/>
        </p:nvSpPr>
        <p:spPr>
          <a:xfrm>
            <a:off x="457200" y="2606040"/>
            <a:ext cx="3931920" cy="365760"/>
          </a:xfrm>
          <a:prstGeom prst="rect">
            <a:avLst/>
          </a:prstGeom>
          <a:solidFill>
            <a:srgbClr val="2E75B6"/>
          </a:solidFill>
          <a:ln w="12700">
            <a:solidFill>
              <a:srgbClr val="2E75B6"/>
            </a:solidFill>
            <a:prstDash val="solid"/>
          </a:ln>
        </p:spPr>
      </p:sp>
      <p:sp>
        <p:nvSpPr>
          <p:cNvPr id="8" name="Text 6"/>
          <p:cNvSpPr txBox="1"/>
          <p:nvPr/>
        </p:nvSpPr>
        <p:spPr>
          <a:xfrm>
            <a:off x="502920" y="2606040"/>
            <a:ext cx="38404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Para verificarlo</a:t>
            </a:r>
            <a:endParaRPr lang="en-US" sz="1400" dirty="0"/>
          </a:p>
        </p:txBody>
      </p:sp>
      <p:sp>
        <p:nvSpPr>
          <p:cNvPr id="9" name="Tarjeta Para verificarlo"/>
          <p:cNvSpPr/>
          <p:nvPr/>
        </p:nvSpPr>
        <p:spPr>
          <a:xfrm>
            <a:off x="457200" y="2971800"/>
            <a:ext cx="3931920" cy="914400"/>
          </a:xfrm>
          <a:prstGeom prst="rect">
            <a:avLst/>
          </a:prstGeom>
          <a:solidFill>
            <a:srgbClr val="FFFFFF"/>
          </a:solidFill>
          <a:ln w="19050">
            <a:solidFill>
              <a:srgbClr val="2E75B6"/>
            </a:solidFill>
            <a:prstDash val="solid"/>
          </a:ln>
        </p:spPr>
      </p:sp>
      <p:sp>
        <p:nvSpPr>
          <p:cNvPr id="10" name="Text 8"/>
          <p:cNvSpPr txBox="1"/>
          <p:nvPr/>
        </p:nvSpPr>
        <p:spPr>
          <a:xfrm>
            <a:off x="566928" y="3044952"/>
            <a:ext cx="3712464" cy="76809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Medir las posiciones con cinta y con otro método, tres veces, y propagar la incertidumbre a la curva de dispersión</a:t>
            </a:r>
            <a:endParaRPr lang="en-US" sz="1250" dirty="0"/>
          </a:p>
        </p:txBody>
      </p:sp>
      <p:sp>
        <p:nvSpPr>
          <p:cNvPr id="11"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12" name="Text 10"/>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Antes de invertir un perfil hay que declarar la incertidumbre de la geometría.</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Relación SASW: documento de tesis, 01_contexto.tex (c = 2πfΔx/Δφ); campaña: 04_validacion.tex y sec. de limitaciones. Propagación: derivación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servidor conserva el original y procesa copias derivadas</a:t>
            </a:r>
            <a:endParaRPr lang="en-US" sz="2400" dirty="0"/>
          </a:p>
        </p:txBody>
      </p:sp>
      <p:pic>
        <p:nvPicPr>
          <p:cNvPr id="3" name="Pipeline del servidor" descr="Pipeline del servidor: ZIP v4, validación de ingesta, SHA-256, raw inmutable, AnalysisJob, preprocesamiento, organización de trazas, productos intermedios y picking con inversión">    </p:cNvPr>
          <p:cNvPicPr>
            <a:picLocks noChangeAspect="1"/>
          </p:cNvPicPr>
          <p:nvPr/>
        </p:nvPicPr>
        <p:blipFill>
          <a:blip r:embed="rId1"/>
          <a:stretch>
            <a:fillRect/>
          </a:stretch>
        </p:blipFill>
        <p:spPr>
          <a:xfrm>
            <a:off x="914400" y="1143000"/>
            <a:ext cx="7315200" cy="2469099"/>
          </a:xfrm>
          <a:prstGeom prst="rect">
            <a:avLst/>
          </a:prstGeom>
        </p:spPr>
      </p:pic>
      <p:sp>
        <p:nvSpPr>
          <p:cNvPr id="4"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 valida el paquete y se publica el original sin modificarlo (SHA-256, escritura atómica)</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El procesamiento corre en una cola independiente, sobre copias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Picking e inversión: por hacer</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documento de tesis, 03_diseno.tex (fig. d_servidor_ingesta); drawio, p. 20. Los detalles SHA-256 y AnalysisJob no están en el resumen.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SNR aparente compara la energía después del impacto con la de antes</a:t>
            </a:r>
            <a:endParaRPr lang="en-US" sz="2400" dirty="0"/>
          </a:p>
        </p:txBody>
      </p:sp>
      <p:sp>
        <p:nvSpPr>
          <p:cNvPr id="3" name="Fondo E_snr"/>
          <p:cNvSpPr/>
          <p:nvPr/>
        </p:nvSpPr>
        <p:spPr>
          <a:xfrm>
            <a:off x="457200" y="118872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snr"/>
              <p:cNvSpPr txBox="1"/>
              <p:nvPr/>
            </p:nvSpPr>
            <p:spPr>
              <a:xfrm>
                <a:off x="457200" y="118872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SNR</m:t>
                          </m:r>
                        </m:e>
                        <m:sub>
                          <m:r>
                            <a:rPr lang="es-ES" sz="2600" i="1">
                              <a:solidFill>
                                <a:srgbClr val="1F4E79"/>
                              </a:solidFill>
                              <a:latin typeface="Cambria Math" panose="02040503050406030204" pitchFamily="18" charset="0"/>
                            </a:rPr>
                            <m:t xml:space="preserve">ap</m:t>
                          </m:r>
                        </m:sub>
                      </m:sSub>
                      <m:r>
                        <a:rPr lang="es-ES" sz="2600" i="1">
                          <a:solidFill>
                            <a:srgbClr val="1F4E79"/>
                          </a:solidFill>
                          <a:latin typeface="Cambria Math" panose="02040503050406030204" pitchFamily="18" charset="0"/>
                        </a:rPr>
                        <m:t xml:space="preserve">(f)=10·log</m:t>
                      </m:r>
                      <m:r>
                        <a:rPr lang="es-ES" sz="2600" i="1">
                          <a:solidFill>
                            <a:srgbClr val="1F4E79"/>
                          </a:solidFill>
                          <a:latin typeface="Cambria Math" panose="02040503050406030204" pitchFamily="18" charset="0"/>
                        </a:rPr>
                        <m:t xml:space="preserve">(</m:t>
                      </m:r>
                      <m:f>
                        <m:fPr>
                          <m:ctrlPr>
                            <a:rPr lang="es-ES" sz="2600" i="1">
                              <a:latin typeface="Cambria Math" panose="02040503050406030204" pitchFamily="18" charset="0"/>
                            </a:rPr>
                          </m:ctrlPr>
                        </m:fPr>
                        <m:num>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P</m:t>
                              </m:r>
                            </m:e>
                            <m:sub>
                              <m:r>
                                <a:rPr lang="es-ES" sz="2600" i="1">
                                  <a:solidFill>
                                    <a:srgbClr val="1F4E79"/>
                                  </a:solidFill>
                                  <a:latin typeface="Cambria Math" panose="02040503050406030204" pitchFamily="18" charset="0"/>
                                </a:rPr>
                                <m:t xml:space="preserve">post</m:t>
                              </m:r>
                            </m:sub>
                          </m:sSub>
                          <m:r>
                            <a:rPr lang="es-ES" sz="2600" i="1">
                              <a:solidFill>
                                <a:srgbClr val="1F4E79"/>
                              </a:solidFill>
                              <a:latin typeface="Cambria Math" panose="02040503050406030204" pitchFamily="18" charset="0"/>
                            </a:rPr>
                            <m:t xml:space="preserve">(f)</m:t>
                          </m:r>
                        </m:num>
                        <m:den>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P</m:t>
                              </m:r>
                            </m:e>
                            <m:sub>
                              <m:r>
                                <a:rPr lang="es-ES" sz="2600" i="1">
                                  <a:solidFill>
                                    <a:srgbClr val="1F4E79"/>
                                  </a:solidFill>
                                  <a:latin typeface="Cambria Math" panose="02040503050406030204" pitchFamily="18" charset="0"/>
                                </a:rPr>
                                <m:t xml:space="preserve">pre</m:t>
                              </m:r>
                            </m:sub>
                          </m:sSub>
                          <m:r>
                            <a:rPr lang="es-ES" sz="2600" i="1">
                              <a:solidFill>
                                <a:srgbClr val="1F4E79"/>
                              </a:solidFill>
                              <a:latin typeface="Cambria Math" panose="02040503050406030204" pitchFamily="18" charset="0"/>
                            </a:rPr>
                            <m:t xml:space="preserve">(f)</m:t>
                          </m:r>
                        </m:den>
                      </m:f>
                      <m:r>
                        <a:rPr lang="es-ES" sz="2600" i="1">
                          <a:solidFill>
                            <a:srgbClr val="1F4E79"/>
                          </a:solidFill>
                          <a:latin typeface="Cambria Math" panose="02040503050406030204" pitchFamily="18" charset="0"/>
                        </a:rPr>
                        <m:t xml:space="preserve">)</m:t>
                      </m:r>
                    </m:oMath>
                  </m:oMathPara>
                </a14:m>
                <a:endParaRPr lang="es-ES"/>
              </a:p>
            </p:txBody>
          </p:sp>
        </mc:Choice>
        <mc:Fallback>
          <p:sp>
            <p:nvSpPr>
              <p:cNvPr id="4" name="Ecuación E_snr"/>
              <p:cNvSpPr txBox="1"/>
              <p:nvPr/>
            </p:nvSpPr>
            <p:spPr>
              <a:xfrm>
                <a:off x="457200" y="118872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SNRap(f) = 10·log10( Ppost(f) / Ppre(f) )</a:t>
                </a:r>
                <a:endParaRPr lang="en-US" sz="2400" dirty="0"/>
              </a:p>
            </p:txBody>
          </p:sp>
        </mc:Fallback>
      </mc:AlternateContent>
      <p:sp>
        <p:nvSpPr>
          <p:cNvPr id="5" name="Cuerpo"/>
          <p:cNvSpPr txBox="1"/>
          <p:nvPr/>
        </p:nvSpPr>
        <p:spPr>
          <a:xfrm>
            <a:off x="457200" y="2286000"/>
            <a:ext cx="822960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Ventanas de 1 s antes y después de cada impacto, sin valor medio y con ventana Hann</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Mediana de los espectros previos y posteriores en cada distancia</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Un valor cercano a 0 dB: después del impacto la energía apenas se distingue de la previa</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Resolución espectral de unos 1 Hz: se analizan bandas, no picos aislados</a:t>
            </a:r>
            <a:endParaRPr lang="en-US" sz="1500" dirty="0"/>
          </a:p>
        </p:txBody>
      </p:sp>
      <p:sp>
        <p:nvSpPr>
          <p:cNvPr id="6"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7" name="Text 5"/>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Es “aparente”: la ventana posterior contiene a la vez la respuesta y el ruido.</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ec. 19.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10 Hz la señal apenas se distingue del ruido; arriba, la SNR es alta</a:t>
            </a:r>
            <a:endParaRPr lang="en-US" sz="2400" dirty="0"/>
          </a:p>
        </p:txBody>
      </p:sp>
      <p:pic>
        <p:nvPicPr>
          <p:cNvPr id="3" name="Espectro y SNR aparente" descr="Densidad espectral y SNR aparente de las capturas por distancia entre 10 y 50 metros; banda baja de interés sombreada y frecuencia natural del SM-24 a 10 Hz">    </p:cNvPr>
          <p:cNvPicPr>
            <a:picLocks noChangeAspect="1"/>
          </p:cNvPicPr>
          <p:nvPr/>
        </p:nvPicPr>
        <p:blipFill>
          <a:blip r:embed="rId1"/>
          <a:stretch>
            <a:fillRect/>
          </a:stretch>
        </p:blipFill>
        <p:spPr>
          <a:xfrm>
            <a:off x="365760" y="1188720"/>
            <a:ext cx="4297680" cy="3104593"/>
          </a:xfrm>
          <a:prstGeom prst="rect">
            <a:avLst/>
          </a:prstGeom>
        </p:spPr>
      </p:pic>
      <p:graphicFrame>
        <p:nvGraphicFramePr>
          <p:cNvPr id="108" name="Tabla SNR por banda"/>
          <p:cNvGraphicFramePr>
            <a:graphicFrameLocks noGrp="1"/>
          </p:cNvGraphicFramePr>
          <p:nvPr>
            <p:extLst>
              <p:ext uri="{D42A27DB-BD31-4B8C-83A1-F6EECF244321}">
                <p14:modId xmlns:p14="http://schemas.microsoft.com/office/powerpoint/2010/main" val="1579011935"/>
              </p:ext>
            </p:extLst>
          </p:nvPr>
        </p:nvGraphicFramePr>
        <p:xfrm>
          <a:off x="4937760" y="1188720"/>
          <a:ext cx="3749040" cy="914400"/>
        </p:xfrm>
        <a:graphic>
          <a:graphicData uri="http://schemas.openxmlformats.org/drawingml/2006/table">
            <a:tbl>
              <a:tblPr/>
              <a:tblGrid>
                <a:gridCol w="1463040"/>
                <a:gridCol w="2286000"/>
              </a:tblGrid>
              <a:tr h="31089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Banda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SNR aparente (mediana)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1–5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55A11"/>
                          </a:solidFill>
                          <a:latin typeface="Arial" pitchFamily="34" charset="0"/>
                          <a:ea typeface="Arial" pitchFamily="34" charset="-122"/>
                          <a:cs typeface="Arial" pitchFamily="34" charset="-120"/>
                        </a:rPr>
                        <a:t>0,5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5–10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55A11"/>
                          </a:solidFill>
                          <a:latin typeface="Arial" pitchFamily="34" charset="0"/>
                          <a:ea typeface="Arial" pitchFamily="34" charset="-122"/>
                          <a:cs typeface="Arial" pitchFamily="34" charset="-120"/>
                        </a:rPr>
                        <a:t>2,1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10–20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4E79"/>
                          </a:solidFill>
                          <a:latin typeface="Arial" pitchFamily="34" charset="0"/>
                          <a:ea typeface="Arial" pitchFamily="34" charset="-122"/>
                          <a:cs typeface="Arial" pitchFamily="34" charset="-120"/>
                        </a:rPr>
                        <a:t>16,7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20–50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4E79"/>
                          </a:solidFill>
                          <a:latin typeface="Arial" pitchFamily="34" charset="0"/>
                          <a:ea typeface="Arial" pitchFamily="34" charset="-122"/>
                          <a:cs typeface="Arial" pitchFamily="34" charset="-120"/>
                        </a:rPr>
                        <a:t>24,4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5" name="Cuerpo"/>
          <p:cNvSpPr txBox="1"/>
          <p:nvPr/>
        </p:nvSpPr>
        <p:spPr>
          <a:xfrm>
            <a:off x="4937760" y="2926080"/>
            <a:ext cx="374904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265 impactos en 15 distancias con al menos 3 registros utilizables</a:t>
            </a:r>
            <a:endParaRPr lang="en-US" sz="1300" dirty="0"/>
          </a:p>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Ninguna distancia superó 10 dB de mediana bajo 10 Hz</a:t>
            </a:r>
            <a:endParaRPr lang="en-US" sz="13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fig. 17a.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 se puede atribuir la baja SNR a un solo elemento: cómo separar las causas</a:t>
            </a:r>
            <a:endParaRPr lang="en-US" sz="2400" dirty="0"/>
          </a:p>
        </p:txBody>
      </p:sp>
      <p:sp>
        <p:nvSpPr>
          <p:cNvPr id="3" name="Cabecera Fuent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Fuente</a:t>
            </a:r>
            <a:endParaRPr lang="en-US" sz="1500" dirty="0"/>
          </a:p>
        </p:txBody>
      </p:sp>
      <p:sp>
        <p:nvSpPr>
          <p:cNvPr id="5" name="Tarjeta Fuente"/>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la maza manual entrega poca energía bajo 10 Hz</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excitador de mayor energía y repetibilidad, misma geometría (resumen)</a:t>
            </a:r>
            <a:endParaRPr lang="en-US" sz="1250" dirty="0"/>
          </a:p>
        </p:txBody>
      </p:sp>
      <p:sp>
        <p:nvSpPr>
          <p:cNvPr id="7" name="Cabecera Acople y terreno"/>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Acople y terreno</a:t>
            </a:r>
            <a:endParaRPr lang="en-US" sz="1500" dirty="0"/>
          </a:p>
        </p:txBody>
      </p:sp>
      <p:sp>
        <p:nvSpPr>
          <p:cNvPr id="9" name="Tarjeta Acople y terreno"/>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ruido ambiente o acople del geófono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piso de ruido sin golpear, con el geófono acoplado y desacoplado (propuesta mía)</a:t>
            </a:r>
            <a:endParaRPr lang="en-US" sz="1250" dirty="0"/>
          </a:p>
        </p:txBody>
      </p:sp>
      <p:sp>
        <p:nvSpPr>
          <p:cNvPr id="11" name="Cabecera Geófono y electrónica"/>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Geófono y electrónica</a:t>
            </a:r>
            <a:endParaRPr lang="en-US" sz="1500" dirty="0"/>
          </a:p>
        </p:txBody>
      </p:sp>
      <p:sp>
        <p:nvSpPr>
          <p:cNvPr id="13" name="Tarjeta Geófono y electrónica"/>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el SM-24 pierde sensibilidad bajo 10 Hz y el ruido del AFE no está medido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entrada terminada para aislar la electrónica; comparar con un geófono de 4,5 Hz (propuesta mía)</a:t>
            </a:r>
            <a:endParaRPr lang="en-US" sz="1250" dirty="0"/>
          </a:p>
        </p:txBody>
      </p:sp>
      <p:sp>
        <p:nvSpPr>
          <p:cNvPr id="15" name="Franja"/>
          <p:cNvSpPr/>
          <p:nvPr/>
        </p:nvSpPr>
        <p:spPr>
          <a:xfrm>
            <a:off x="457200" y="416052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16052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El resultado integra excitador, acople, propagación, geófono y electrónica.</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y 5. Las pruebas de acople y de entrada terminada son propuestas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Qué está demostrado y qué falta, por nivel de evidencia</a:t>
            </a:r>
            <a:endParaRPr lang="en-US" sz="2400" dirty="0"/>
          </a:p>
        </p:txBody>
      </p:sp>
      <p:graphicFrame>
        <p:nvGraphicFramePr>
          <p:cNvPr id="110" name="Tabla de evidencia"/>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291840"/>
                <a:gridCol w="3108960"/>
              </a:tblGrid>
              <a:tr h="38404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Componente</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Evidencia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Qué falta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Geófono SM-24</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Modelo con parámetros nominales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Respuesta extremo a extremo en bajas frecuencias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AFE PGA–ADC</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Medido: barridos de magnitud y fase contra el modelo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Extensión al conjunto con el geófono: hoy es predicción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Calibración de offset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Medido: converge, por configuración de ganancia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Variación con el tiempo y las condiciones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Sincronización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Parcial: flancos GPIO, 3 nodos, 200–400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Inicio efectivo del ADC y deriva de relojes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Campo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21 posiciones secuenciales con un receptor móvil</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Adquisición simultánea; fuente más repetible; SNR bajo 10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Dispersión e inversión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Sin hacer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4D5D0"/>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Curvas, modos, perfil </a:t>
                      </a:r>
                      <mc:AlternateContent xmlns:mc="http://schemas.openxmlformats.org/markup-compatibility/2006">
                        <mc:Choice xmlns:a14="http://schemas.microsoft.com/office/drawing/2010/main" Requires="a14">
                          <a14:m>
                            <m:oMath xmlns:m="http://schemas.openxmlformats.org/officeDocument/2006/math">
                              <m:sSub>
                                <m:sSubPr>
                                  <m:ctrlPr>
                                    <a:rPr lang="es-ES" sz="1100" i="1">
                                      <a:latin typeface="Cambria Math" panose="02040503050406030204" pitchFamily="18" charset="0"/>
                                    </a:rPr>
                                  </m:ctrlPr>
                                </m:sSubPr>
                                <m:e>
                                  <m:r>
                                    <a:rPr lang="es-ES" sz="1100" i="1">
                                      <a:solidFill>
                                        <a:srgbClr val="2D2D2D"/>
                                      </a:solidFill>
                                      <a:latin typeface="Cambria Math" panose="02040503050406030204" pitchFamily="18" charset="0"/>
                                    </a:rPr>
                                    <m:t xml:space="preserve">V</m:t>
                                  </m:r>
                                </m:e>
                                <m:sub>
                                  <m:r>
                                    <a:rPr lang="es-ES" sz="1100" i="1">
                                      <a:solidFill>
                                        <a:srgbClr val="2D2D2D"/>
                                      </a:solidFill>
                                      <a:latin typeface="Cambria Math" panose="02040503050406030204" pitchFamily="18" charset="0"/>
                                    </a:rPr>
                                    <m:t xml:space="preserve">s</m:t>
                                  </m:r>
                                </m:sub>
                              </m:sSub>
                            </m:oMath>
                          </a14:m>
                        </mc:Choice>
                        <mc:Fallback>
                          <a:r>
                            <a:rPr lang="en-US" sz="1100" dirty="0">
                              <a:solidFill>
                                <a:srgbClr val="2D2D2D"/>
                              </a:solidFill>
                              <a:latin typeface="Arial" pitchFamily="34" charset="0"/>
                              <a:ea typeface="Arial" pitchFamily="34" charset="-122"/>
                              <a:cs typeface="Arial" pitchFamily="34" charset="-120"/>
                            </a:rPr>
                            <a:t>Vs</a:t>
                          </a:r>
                        </mc:Fallback>
                      </mc:AlternateContent>
                      <a:r>
                        <a:rPr lang="en-US" sz="1100" dirty="0">
                          <a:solidFill>
                            <a:srgbClr val="2D2D2D"/>
                          </a:solidFill>
                          <a:latin typeface="Arial" pitchFamily="34" charset="0"/>
                          <a:ea typeface="Arial" pitchFamily="34" charset="-122"/>
                          <a:cs typeface="Arial" pitchFamily="34" charset="-120"/>
                        </a:rPr>
                        <a:t> y contraste con SPT o con el SEV 01</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Verde: medido. Naranja: modelo o medición parcial. Rojo: pendiente.</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4.10 y 5; documento de tesis, 08_trabajos_futuros.tex (SEV 01 y SPT).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Trabajo futuro: cinco pasos desde la adquisición hacia la caracterización del suelo</a:t>
            </a:r>
            <a:endParaRPr lang="en-US" sz="2400" dirty="0"/>
          </a:p>
        </p:txBody>
      </p:sp>
      <p:graphicFrame>
        <p:nvGraphicFramePr>
          <p:cNvPr id="111" name="Tabla de trabajo futuro"/>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657600"/>
                <a:gridCol w="457200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Excitador de mayor energía y repetibilidad</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Extender la banda útil bajo 10 Hz y evaluar el aprovechamiento de la compensación del SM-24</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Medir el inicio efectivo del ADC y la deriva de relojes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Cuantificar el error de fase por frecuencia y la banda de coherencia temporal</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Caracterizar el offset residual en el tiempo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Precisar el margen dinámico de cada ganancia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Más nodos GEO y adquisición simultánea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Acercarse al MASW convencional (depende de financiamiento)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Curvas de dispersión, modos e inversión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Pasar de verificar la adquisición a estimar </a:t>
                      </a:r>
                      <mc:AlternateContent xmlns:mc="http://schemas.openxmlformats.org/markup-compatibility/2006">
                        <mc:Choice xmlns:a14="http://schemas.microsoft.com/office/drawing/2010/main" Requires="a14">
                          <a14:m>
                            <m:oMath xmlns:m="http://schemas.openxmlformats.org/officeDocument/2006/math">
                              <m:sSub>
                                <m:sSubPr>
                                  <m:ctrlPr>
                                    <a:rPr lang="es-ES" sz="1100" i="1">
                                      <a:latin typeface="Cambria Math" panose="02040503050406030204" pitchFamily="18" charset="0"/>
                                    </a:rPr>
                                  </m:ctrlPr>
                                </m:sSubPr>
                                <m:e>
                                  <m:r>
                                    <a:rPr lang="es-ES" sz="1100" i="1">
                                      <a:solidFill>
                                        <a:srgbClr val="2D2D2D"/>
                                      </a:solidFill>
                                      <a:latin typeface="Cambria Math" panose="02040503050406030204" pitchFamily="18" charset="0"/>
                                    </a:rPr>
                                    <m:t xml:space="preserve">V</m:t>
                                  </m:r>
                                </m:e>
                                <m:sub>
                                  <m:r>
                                    <a:rPr lang="es-ES" sz="1100" i="1">
                                      <a:solidFill>
                                        <a:srgbClr val="2D2D2D"/>
                                      </a:solidFill>
                                      <a:latin typeface="Cambria Math" panose="02040503050406030204" pitchFamily="18" charset="0"/>
                                    </a:rPr>
                                    <m:t xml:space="preserve">s</m:t>
                                  </m:r>
                                </m:sub>
                              </m:sSub>
                            </m:oMath>
                          </a14:m>
                        </mc:Choice>
                        <mc:Fallback>
                          <a:r>
                            <a:rPr lang="en-US" sz="1100" dirty="0">
                              <a:solidFill>
                                <a:srgbClr val="2D2D2D"/>
                              </a:solidFill>
                              <a:latin typeface="Arial" pitchFamily="34" charset="0"/>
                              <a:ea typeface="Arial" pitchFamily="34" charset="-122"/>
                              <a:cs typeface="Arial" pitchFamily="34" charset="-120"/>
                            </a:rPr>
                            <a:t>Vs</a:t>
                          </a:r>
                        </mc:Fallback>
                      </mc:AlternateContent>
                      <a:r>
                        <a:rPr lang="en-US" sz="1100" dirty="0">
                          <a:solidFill>
                            <a:srgbClr val="2D2D2D"/>
                          </a:solidFill>
                          <a:latin typeface="Arial" pitchFamily="34" charset="0"/>
                          <a:ea typeface="Arial" pitchFamily="34" charset="-122"/>
                          <a:cs typeface="Arial" pitchFamily="34" charset="-120"/>
                        </a:rPr>
                        <a:t> con la profundidad</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5; documento de tesis, 08_trabajos_futuros.tex.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ESP-NOW no alcanza, UWB es un candidato fundado, no una prestación disponible</a:t>
            </a:r>
            <a:endParaRPr lang="en-US" sz="2400" dirty="0"/>
          </a:p>
        </p:txBody>
      </p:sp>
      <p:sp>
        <p:nvSpPr>
          <p:cNvPr id="3" name="Cabecera Korsimaa et al., 2025"/>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Korsimaa et al., 2025</a:t>
            </a:r>
            <a:endParaRPr lang="en-US" sz="1400" dirty="0"/>
          </a:p>
        </p:txBody>
      </p:sp>
      <p:sp>
        <p:nvSpPr>
          <p:cNvPr id="5" name="Tarjeta Korsimaa et al., 2025"/>
          <p:cNvSpPr/>
          <p:nvPr/>
        </p:nvSpPr>
        <p:spPr>
          <a:xfrm>
            <a:off x="457200" y="1600200"/>
            <a:ext cx="2560320" cy="18288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DWM1000 de bajo costo: jitter de ±4 ns (IC 95 %) en un millón de transmisiones, hasta 25 m</a:t>
            </a:r>
            <a:endParaRPr lang="en-US" sz="1300" dirty="0"/>
          </a:p>
        </p:txBody>
      </p:sp>
      <p:sp>
        <p:nvSpPr>
          <p:cNvPr id="7" name="Cabecera Wicsync (Xue, 2021)"/>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Wicsync (Xue, 2021)</a:t>
            </a:r>
            <a:endParaRPr lang="en-US" sz="1400" dirty="0"/>
          </a:p>
        </p:txBody>
      </p:sp>
      <p:sp>
        <p:nvSpPr>
          <p:cNvPr id="9" name="Tarjeta Wicsync (Xue, 2021)"/>
          <p:cNvSpPr/>
          <p:nvPr/>
        </p:nvSpPr>
        <p:spPr>
          <a:xfrm>
            <a:off x="3291840" y="1600200"/>
            <a:ext cx="2560320" cy="182880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Menos de 3 ns con 10 nodos hasta 75 m, pero con DW1000, FPGA, DAC y VC-TCXO</a:t>
            </a:r>
            <a:endParaRPr lang="en-US" sz="1300" dirty="0"/>
          </a:p>
        </p:txBody>
      </p:sp>
      <p:sp>
        <p:nvSpPr>
          <p:cNvPr id="11" name="Cabecera Pérez-Solano, 2022"/>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Pérez-Solano, 2022</a:t>
            </a:r>
            <a:endParaRPr lang="en-US" sz="1400" dirty="0"/>
          </a:p>
        </p:txBody>
      </p:sp>
      <p:sp>
        <p:nvSpPr>
          <p:cNvPr id="13" name="Tarjeta Pérez-Solano, 2022"/>
          <p:cNvSpPr/>
          <p:nvPr/>
        </p:nvSpPr>
        <p:spPr>
          <a:xfrm>
            <a:off x="6126480" y="1600200"/>
            <a:ext cx="2560320" cy="182880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0,14 ns con marcas internas del transceptor; ≈31 ns al pasar al temporizador del microcontrolador</a:t>
            </a:r>
            <a:endParaRPr lang="en-US" sz="1300" dirty="0"/>
          </a:p>
        </p:txBody>
      </p:sp>
      <p:sp>
        <p:nvSpPr>
          <p:cNvPr id="15" name="Text 13"/>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UWB además mide distancias entre nodos: atacaría a la vez el error de sincronización y el de posición.</a:t>
            </a:r>
            <a:endParaRPr lang="en-US" sz="1400" dirty="0"/>
          </a:p>
        </p:txBody>
      </p:sp>
      <p:sp>
        <p:nvSpPr>
          <p:cNvPr id="16"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17" name="Text 15"/>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Debe medirse hasta el inicio del ADC, no por la resolución nominal del radio.</a:t>
            </a:r>
            <a:endParaRPr lang="en-US" sz="1400" dirty="0"/>
          </a:p>
        </p:txBody>
      </p:sp>
      <p:sp>
        <p:nvSpPr>
          <p:cNvPr id="1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Korsimaa et al. (2025), HardwareX 24, e00713; Xue et al. (2021), Measurement 183, 109760; Pérez-Solano et al. (2022), Comput. Commun. 186, 80–89; documento de tesis, 08_trabajos_futuros.tex.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Riesgo conocido: un rearranque por watchdog puede ocultar una falla de sincronismo</a:t>
            </a:r>
            <a:endParaRPr lang="en-US" sz="2400" dirty="0"/>
          </a:p>
        </p:txBody>
      </p:sp>
      <p:sp>
        <p:nvSpPr>
          <p:cNvPr id="3" name="Cabecera Qué pasa"/>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pasa</a:t>
            </a:r>
            <a:endParaRPr lang="en-US" sz="1500" dirty="0"/>
          </a:p>
        </p:txBody>
      </p:sp>
      <p:sp>
        <p:nvSpPr>
          <p:cNvPr id="5" name="Tarjeta Qué pasa"/>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Si pasan el tiempo de captura más 2,5 s y el esclavo no recibió ningún lote del PSoC, el watchdog ejecuta START_NOW</a:t>
            </a:r>
            <a:endParaRPr lang="en-US" sz="1300" dirty="0"/>
          </a:p>
        </p:txBody>
      </p:sp>
      <p:sp>
        <p:nvSpPr>
          <p:cNvPr id="7" name="Cabecera Por qué impor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Por qué importa</a:t>
            </a:r>
            <a:endParaRPr lang="en-US" sz="1500" dirty="0"/>
          </a:p>
        </p:txBody>
      </p:sp>
      <p:sp>
        <p:nvSpPr>
          <p:cNvPr id="9" name="Tarjeta Por qué importa"/>
          <p:cNvSpPr/>
          <p:nvPr/>
        </p:nvSpPr>
        <p:spPr>
          <a:xfrm>
            <a:off x="3291840" y="1600200"/>
            <a:ext cx="2560320" cy="246888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Conserva la marca temporal del disparo original: los datos parecen completos pero empezaron segundos tarde y no sirven para fase</a:t>
            </a:r>
            <a:endParaRPr lang="en-US" sz="1300" dirty="0"/>
          </a:p>
        </p:txBody>
      </p:sp>
      <p:sp>
        <p:nvSpPr>
          <p:cNvPr id="11" name="Cabecera Corrección pendiente"/>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Corrección pendiente</a:t>
            </a:r>
            <a:endParaRPr lang="en-US" sz="1500" dirty="0"/>
          </a:p>
        </p:txBody>
      </p:sp>
      <p:sp>
        <p:nvSpPr>
          <p:cNvPr id="13" name="Tarjeta Corrección pendiente"/>
          <p:cNvSpPr/>
          <p:nvPr/>
        </p:nvSpPr>
        <p:spPr>
          <a:xfrm>
            <a:off x="6126480" y="1600200"/>
            <a:ext cx="2560320" cy="246888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Quitar START_NOW de todo flujo sincronizado; ante CAPTURE_SYNC_STALL, abortar y enviar NACK; agregar prueba de regresión</a:t>
            </a:r>
            <a:endParaRPr lang="en-US" sz="1300" dirty="0"/>
          </a:p>
        </p:txBody>
      </p:sp>
      <p:sp>
        <p:nvSpPr>
          <p:cNvPr id="15" name="Franja"/>
          <p:cNvSpPr/>
          <p:nvPr/>
        </p:nvSpPr>
        <p:spPr>
          <a:xfrm>
            <a:off x="457200" y="416052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16052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No afecta las capturas que arrancan bien; oculta un fallo excepcional.</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08_trabajos_futuros.tex (sincronización). No figura en el resumen firmado.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Conclusiones: la adquisición secuencial es viable; falta validar el MASW multicanal</a:t>
            </a:r>
            <a:endParaRPr lang="en-US" sz="2400" dirty="0"/>
          </a:p>
        </p:txBody>
      </p:sp>
      <p:sp>
        <p:nvSpPr>
          <p:cNvPr id="3" name="Conclusiones"/>
          <p:cNvSpPr txBox="1"/>
          <p:nvPr/>
        </p:nvSpPr>
        <p:spPr>
          <a:xfrm>
            <a:off x="457200" y="1188720"/>
            <a:ext cx="82296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Se diseñó una plataforma distribuida: nodos GEO, un excitador instrumentado (HAMMER) y un maestro inalámbrico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El AFE del SM-24 compensa su respuesta en bajas frecuencias y calibra el offset con un ajuste automático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En campo se obtuvo un registro espacio–tiempo de 21 posiciones con un receptor móvil</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Bajo 10 Hz la SNR aparente es de 0,5 a 2,1 dB: la banda baja sigue sin resolverse</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Falta cuantificar la sincronización efectiva, verificar la respuesta extremo a extremo y adquirir en simultáneo</a:t>
            </a:r>
            <a:endParaRPr lang="en-US" sz="1600" dirty="0"/>
          </a:p>
        </p:txBody>
      </p:sp>
      <p:sp>
        <p:nvSpPr>
          <p:cNvPr id="4"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5" name="Text 3"/>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verificó la adquisición; la caracterización geotécnica es la etapa siguiente.</a:t>
            </a:r>
            <a:endParaRPr lang="en-US" sz="14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resumen, sec. 4.10 y 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731520" y="1737360"/>
            <a:ext cx="768096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Preguntas</a:t>
            </a:r>
            <a:endParaRPr lang="en-US" sz="4400" dirty="0"/>
          </a:p>
        </p:txBody>
      </p:sp>
      <p:sp>
        <p:nvSpPr>
          <p:cNvPr id="3" name="Text 1"/>
          <p:cNvSpPr txBox="1"/>
          <p:nvPr/>
        </p:nvSpPr>
        <p:spPr>
          <a:xfrm>
            <a:off x="731520" y="2834640"/>
            <a:ext cx="7680960" cy="457200"/>
          </a:xfrm>
          <a:prstGeom prst="rect">
            <a:avLst/>
          </a:prstGeom>
          <a:noFill/>
          <a:ln/>
        </p:spPr>
        <p:txBody>
          <a:bodyPr wrap="square" lIns="0" tIns="0" rIns="0" bIns="0" rtlCol="0" anchor="t"/>
          <a:lstStyle/>
          <a:p>
            <a:pPr algn="ctr" indent="0" marL="0">
              <a:buNone/>
            </a:pPr>
            <a:r>
              <a:rPr lang="en-US" sz="1600" dirty="0">
                <a:solidFill>
                  <a:srgbClr val="CADCFC"/>
                </a:solidFill>
                <a:latin typeface="Arial" pitchFamily="34" charset="0"/>
                <a:ea typeface="Arial" pitchFamily="34" charset="-122"/>
                <a:cs typeface="Arial" pitchFamily="34" charset="-120"/>
              </a:rPr>
              <a:t>Elías David Álvarez · Tutor: Dr. Enrique A. Vargas Cabral</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Referencias (1 de 2)</a:t>
            </a:r>
            <a:endParaRPr lang="en-US" sz="2400" dirty="0"/>
          </a:p>
        </p:txBody>
      </p:sp>
      <p:sp>
        <p:nvSpPr>
          <p:cNvPr id="3" name="Referencias"/>
          <p:cNvSpPr txBox="1"/>
          <p:nvPr/>
        </p:nvSpPr>
        <p:spPr>
          <a:xfrm>
            <a:off x="457200" y="1005840"/>
            <a:ext cx="8229600" cy="3474720"/>
          </a:xfrm>
          <a:prstGeom prst="rect">
            <a:avLst/>
          </a:prstGeom>
          <a:noFill/>
          <a:ln/>
        </p:spPr>
        <p:txBody>
          <a:bodyPr wrap="square" lIns="0" tIns="0" rIns="0" bIns="0" rtlCol="0" anchor="t"/>
          <a:lstStyle/>
          <a:p>
            <a:pPr indent="0" marL="0">
              <a:spcAft>
                <a:spcPts val="500"/>
              </a:spcAft>
              <a:buNone/>
            </a:pPr>
            <a:r>
              <a:rPr lang="en-US" sz="1050" dirty="0">
                <a:solidFill>
                  <a:srgbClr val="2D2D2D"/>
                </a:solidFill>
                <a:latin typeface="Arial" pitchFamily="34" charset="0"/>
                <a:ea typeface="Arial" pitchFamily="34" charset="-122"/>
                <a:cs typeface="Arial" pitchFamily="34" charset="-120"/>
              </a:rPr>
              <a:t>Bangash, A. A., Khan, K. A. y Akhter, G. (2017). Spreadsheets for understanding seismic energy partitioning equations. Computer Applications in Engineering Education, 25(3), 441–448.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Espressif Systems (s. f.). ESP-NOW: ESP-IDF programming guide, ESP32. docs.espressif.com.</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Foti, S., Lai, C. G., Rix, G. J. y Strobbia, C. (2014). Surface Wave Methods for Near-Surface Site Characterization. CRC Press. doi:10.1201/b17268.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Foti, S. et al. (2018). Guidelines for the good practice of surface wave analysis: a product of the InterPACIFIC project. Bull. Earthquake Eng., 16(6), 2367–2420. doi:10.1007/s10518-017-0206-7.</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Infineon Technologies (2024). PSoC 5LP: CY8C58LP family datasheet. Doc. 001-84932, Rev. *O.</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Kafadar, O. (2020). A geophone-based and low-cost data acquisition and analysis system designed for microtremor measurements. Geosci. Instrum. Method. Data Syst., 9, 365–373.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Korsimaa, J., Weber, P., Häggström, E. y Salmi, A. (2025). Wireless trigger distribution with nanosecond jitter based on ultra-wideband. HardwareX, 24, e00713.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Kramer, S. L. (1996). Geotechnical Earthquake Engineering. Prentice Hall.</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Lin, S. y Ashlock, J. C. (2016). Surface-wave testing of soil sites using multichannel simulation with one-receiver. Soil Dyn. Earthquake Eng., 87, 82–92. doi:10.1016/j.soildyn.2016.04.013.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Llorens, C. D. et al. (2016). Development and programming of Geophonino. Computers &amp; Geosciences, 94, 1–10.</a:t>
            </a:r>
            <a:endParaRPr lang="en-US" sz="1050" dirty="0"/>
          </a:p>
        </p:txBody>
      </p:sp>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Lista a completar y verificar contra los PDF: faltan por confirmar las fuentes marcadas “por confirmar” en las slides.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Referencias (2 de 2)</a:t>
            </a:r>
            <a:endParaRPr lang="en-US" sz="2400" dirty="0"/>
          </a:p>
        </p:txBody>
      </p:sp>
      <p:sp>
        <p:nvSpPr>
          <p:cNvPr id="3" name="Referencias"/>
          <p:cNvSpPr txBox="1"/>
          <p:nvPr/>
        </p:nvSpPr>
        <p:spPr>
          <a:xfrm>
            <a:off x="457200" y="1005840"/>
            <a:ext cx="8229600" cy="3474720"/>
          </a:xfrm>
          <a:prstGeom prst="rect">
            <a:avLst/>
          </a:prstGeom>
          <a:noFill/>
          <a:ln/>
        </p:spPr>
        <p:txBody>
          <a:bodyPr wrap="square" lIns="0" tIns="0" rIns="0" bIns="0" rtlCol="0" anchor="t"/>
          <a:lstStyle/>
          <a:p>
            <a:pPr indent="0" marL="0">
              <a:spcAft>
                <a:spcPts val="500"/>
              </a:spcAft>
              <a:buNone/>
            </a:pPr>
            <a:r>
              <a:rPr lang="en-US" sz="1050" dirty="0">
                <a:solidFill>
                  <a:srgbClr val="2D2D2D"/>
                </a:solidFill>
                <a:latin typeface="Arial" pitchFamily="34" charset="0"/>
                <a:ea typeface="Arial" pitchFamily="34" charset="-122"/>
                <a:cs typeface="Arial" pitchFamily="34" charset="-120"/>
              </a:rPr>
              <a:t>Ma, K., Wu, J., Ma, Y., Xu, B., Qi, S. y Jiang, X. (2023). An effective method for improving low-frequency response of geophone. Sensors, 23(6), 3082. doi:10.3390/s23063082.</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Miller, R. D. y Xia, J. (1998). Imaging dispersion curves of surface waves on multi-channel record. SEG Expanded Abstracts, 1377–1380.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Miller, R. D. y Xia, J. (1999). Multichannel analysis of surface waves. Geophysics, 64(3), 800–808. doi:10.1190/1.1444590.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Richter, J., Rodrigues, R. y Cirone, A. (2018). MASW applications for road construction and maintenance. The Leading Edge, 37(10), 724–730.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PCB Piezotronics (2025). Model 086D20 ICP impact hammer: specification sheet, rev. J.</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Pérez-Solano, J. J., Felici-Castell, S., Soriano-Asensi, A. y Segura, J. (2022). Time synchronization enhancements in wireless networks with ultra wide band communications. Comput. Commun., 186, 80–89.</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Samtani, N. C. y Nowatzki, E. A. (2006). Soils and Foundations Reference Manual, vol. I. FHWA-NHI-06-088.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Sensor Nederland B.V. (2006). SM-24 Geophone Element. Product brochure.</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Tailscale Inc. (2026). What is Tailscale? Documentación técnica.</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Xue, B., Li, Z., Lei, P., Wang, Y. y Zou, X. (2021). Wicsync: a wireless multi-node clock synchronization solution based on optimized UWB. Measurement, 183, 109760.</a:t>
            </a:r>
            <a:endParaRPr lang="en-US" sz="1050" dirty="0"/>
          </a:p>
        </p:txBody>
      </p:sp>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Faltan: Pazos et al. (2005), Hakimitoroghi et al. (2017), Zhang (2025), Álvarez, González y Vargas (URUCON), Texas Instruments (ΔΣ), Wood y Cox (2012), Comina et al. (2011), Socco y Strobbia (2004), Xia et al. (1999).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116</Slides>
  <Notes>116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116</vt:i4>
      </vt:variant>
    </vt:vector>
  </HeadingPairs>
  <TitlesOfParts>
    <vt:vector size="1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2026-10-13T08:25:26Z</dcterms:created>
  <dcterms:modified xsi:type="dcterms:W3CDTF">2026-10-13T08:25:26Z</dcterms:modified>
</cp:coreProperties>
</file>