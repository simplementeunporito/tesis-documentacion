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5.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6.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notesMasterIdLst>
    <p:notesMasterId r:id="rId9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6B6B"/>
                    </a:solidFill>
                    <a:latin typeface="Arial"/>
                  </a:defRPr>
                </a:pPr>
                <a:r>
                  <a:rPr sz="1000"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1000" b="0" i="0" u="none" strike="noStrike">
                    <a:solidFill>
                      <a:srgbClr val="6B6B6B"/>
                    </a:solidFill>
                    <a:latin typeface="Arial"/>
                  </a:defRPr>
                </a:pPr>
                <a:r>
                  <a:rPr sz="1000"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Duración máxima sin SD (s)</c:v>
                </c:pt>
              </c:strCache>
            </c:strRef>
          </c:tx>
          <c:spPr>
            <a:solidFill>
              <a:srgbClr val="1F4E79"/>
            </a:solidFill>
            <a:effectLst/>
          </c:spPr>
          <c:invertIfNegative val="0"/>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1
2604 Hz</c:v>
                  </c:pt>
                  <c:pt idx="1">
                    <c:v>2
1302 Hz</c:v>
                  </c:pt>
                  <c:pt idx="2">
                    <c:v>5
521 Hz</c:v>
                  </c:pt>
                  <c:pt idx="3">
                    <c:v>10
260 Hz</c:v>
                  </c:pt>
                  <c:pt idx="4">
                    <c:v>20
130 Hz</c:v>
                  </c:pt>
                  <c:pt idx="5">
                    <c:v>50
52 Hz</c:v>
                  </c:pt>
                  <c:pt idx="6">
                    <c:v>100
26 Hz</c:v>
                  </c:pt>
                </c:lvl>
              </c:multiLvlStrCache>
            </c:multiLvlStrRef>
          </c:cat>
          <c:val>
            <c:numRef>
              <c:f>Sheet1!$B$2:$B$8</c:f>
              <c:numCache>
                <c:formatCode>General</c:formatCode>
                <c:ptCount val="7"/>
                <c:pt idx="0">
                  <c:v>5.9</c:v>
                </c:pt>
                <c:pt idx="1">
                  <c:v>11.8</c:v>
                </c:pt>
                <c:pt idx="2">
                  <c:v>29.5</c:v>
                </c:pt>
                <c:pt idx="3">
                  <c:v>59</c:v>
                </c:pt>
                <c:pt idx="4">
                  <c:v>118</c:v>
                </c:pt>
                <c:pt idx="5">
                  <c:v>294.9</c:v>
                </c:pt>
                <c:pt idx="6">
                  <c:v>589.9</c:v>
                </c:pt>
              </c:numCache>
            </c:numRef>
          </c:val>
        </c:ser>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6B6B"/>
                    </a:solidFill>
                    <a:latin typeface="Arial"/>
                  </a:defRPr>
                </a:pPr>
                <a:r>
                  <a:rPr sz="1000" b="0" i="0" u="none" strike="noStrike">
                    <a:solidFill>
                      <a:srgbClr val="6B6B6B"/>
                    </a:solidFill>
                    <a:latin typeface="Arial"/>
                  </a:rPr>
                  <a:t>Factor de diezmado D y frecuencia efectiva fs′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6350" cap="flat">
              <a:solidFill>
                <a:srgbClr val="E0E0E0"/>
              </a:solidFill>
              <a:prstDash val="solid"/>
              <a:round/>
            </a:ln>
          </c:spPr>
        </c:majorGridlines>
        <c:title>
          <c:tx>
            <c:rich>
              <a:bodyPr/>
              <a:lstStyle/>
              <a:p>
                <a:pPr>
                  <a:defRPr sz="1000" b="0" i="0" u="none" strike="noStrike">
                    <a:solidFill>
                      <a:srgbClr val="6B6B6B"/>
                    </a:solidFill>
                    <a:latin typeface="Arial"/>
                  </a:defRPr>
                </a:pPr>
                <a:r>
                  <a:rPr sz="1000" b="0" i="0" u="none" strike="noStrike">
                    <a:solidFill>
                      <a:srgbClr val="6B6B6B"/>
                    </a:solidFill>
                    <a:latin typeface="Arial"/>
                  </a:rPr>
                  <a:t>Duración máxima (s)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el corte interno es de Breslin (2020), que lo acredita a DESY; falta el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cuatro familias de técnicas para mejorar la respuesta de un geófono por debajo de su frecuencia natural. Primera: modificar la carga del sensor; Pazos usa un capacitor en serie con la resistencia de carga para correr la frecuencia de esquina. Es barato y simple,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de Pazos verifiqué el artículo y la técnica, que Ma describe como un capacitor en serie con la resistencia de derivación; no pude confirmar un factor de extensión, así que no lo pongo. Hakimitoroghi y Zhang salen de mis notas; confirmar año y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de Ma es distinta: no intentar recuperar un hertz con un inversor de cuarenta decibeles, sino atenuar de forma selectiva la región dominante alrededor de la resonancia y después recuperar el nivel global con ganancia. En la figura, la curva naranja es el geófono, con su pico cerca de diez hertz. La gris punteada es el compensador ideal sin ganancia, mucho más baja pero con una banda mucho más ancha. Y la azul es esa misma respuesta con la ganancia aplicada. El pasabanda se ensancha, pero sigue siendo un pasabanda: a un hertz pasamos de menos veinte decibeles a cero. Ma y colaboradores reportan 17,52 decibeles más de SNR a diez hertz que el método cero polo, con su geófono JF-20DX; el documento de tesis cita además 1,51 decibeles a un hertz y 21,28 a veinte hertz. Nota para mí: los dos últimos valores salen del documento de tesis; en la versión abierta del paper solo pude confirmar el de 17,52. Curvas propias, regenerables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Es más complejo que la solución de Pazos, pero de complejidad razonable, porque tiene un manejo mucho más simple de hasta dónde podemos compensar, lo que permite ser más agresivos, algo bueno cuando el geófono está tan lejos de donde queremos que esté. Su única desventaja es la pérdida de ganancia, que requiere más ganancia en la cadena, y la vamos a redistribuir entre las etapas de la mejor manera posible. Nota para mí: lo de estabilidad y ruido es una inferencia mía a partir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usa un pasabanda Sallen-Key. Nosotros usamos un amplificador inversor, con Z f sobre Z in: un polo en la entrada, formado por R in y C in, y otro en la realimentación, formado por R f y C f. Cada quiebre depende de un solo par RC, así que f bajo y f alto quedan desacoplados, y como los quiebres están muy separados el factor de calidad requerido es bajo. Un Sallen-Key no aporta nada en ese régimen y reparte cada polo entre más componentes, una desventaja frente a las tolerancias. En los experimentos esto dio mejores resultados. Atención: la menor sensibilidad a tolerancias es un argumento analítico y una observación experimental; si preguntan, tener a mano un análisis de sensibilidad o un barrido Monte 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sin sumar etapas. Nota para mí: el polo está en unos 393 hertz según el documento de tesis, pero no lo mostramos.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antialias se decidió un filtro Bessel, que tiene fase casi lineal. El polo real del sumador se aprovecha para completar un Bessel de tercer orden con un filtro MFB de segundo orden. Y elegimos MFB porque aprovecha mejor el ancho de banda, ya limitado, del operacional del PSoC: permite ganar más en esta etapa sin perder rendimiento. Nota para mí: los valores de frecuencia y amortiguamiento del MFB están en el documento de tesis; no los mostramos.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frente analógico final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el problema que generamos con estas ganancias.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 izquierda, 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El residuo de 0,24 volts del PGA corresponde a la banda muerta elegida, no a inestabilidad. A la derecha, el resultado en la entrada del ADC: sin calibrar, el offset residual iba de 2,9 a 45,8 por ciento del fondo de escala según la configuración; con la calibración, de 0,4 a 3,9. Se probó en dos placas y ocho configuraciones. Si preguntan por el alcance: es una prueba de factibilidad con dos placas, con diez reinicios pareados y un test del signo, y los detalles están en el resumen. Nota para mí: las cifras salen del artículo y del documento de tesis, no del resumen firmado. Pendiente: eje en inglés de la figura de la izquierda.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ver el circuito, qué le pedimos a la parte digital. Que arranque la captura al mismo tiempo en todos los nodos, que muestree a un ritmo fijo, que lleve cada muestra a memoria sin perder ninguna y que guarde el registro para entregarlo después. Y por qué no lo resuelve el procesador: la latencia de una interrupción varía, y en un arreglo de varios nodos esa variación en el tiempo se convierte en error de fase, con Δφ igual a 360 grados por frecuencia por Δt, y por lo tanto en error en la velocidad de fase. Por eso el criterio de reparto es simple: va a hardware toda decisión cuyo timing entre en el presupuesto de jitter, y queda en software lo que es lento pero complejo. El hardware decide cuándo ocurren las cosas y el software decide qué valores toman. Eso permite afirmar que el error temporal residual no depende del código C, y esa afirmación hay que sostenerla con la medición de jitter que viene en la parte de sincronización. Nota para mí: la lista completa de qué va dónde está en 04_arquitectura.tex; coordinación, ESP-NOW y la interfaz web viven en el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ve la implementación en PSoC Creator. Arriba, el hardware digital: el SignalController, que es la máquina de estados en lógica programable, los tres canales DMA, el filtro digital, los temporizadores y la EEPROM. Abajo a la izquierda, lo auxiliar, con el SPI de la tarjeta SD. Abajo a la derecha, la interfaz con el ESP32 y la entrada SYNC_IN. Las etiquetas están en inglés porque son los nombres de los componentes del propio entorno. En la siguiente slide va el mismo camino dibujado en forma lógica.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vista completa del PSoC. Arriba, el acondicionamiento y la conversión: el AFE seleccionado por hardware, el multiplexor, el ADC delta sigma de 18 bits a 2604 hertz y la calibración con PI y EEPROM. En el medio, el camino digital de muestras: la ruta cruda, que va del ADC a la RAM por DMA, y la ruta con FIR, que pasa por el filtro digital antes de llegar a la RAM, con la tarjeta SD drenando en paralelo. Abajo, el control: el firmware en el Cortex-M3, la superMaquina, que es la máquina de estados en lógica programable, los temporizadores, el SYNC_IN y el enlace con el ESP32. Las próximas slides recorren ese camino en orden: el ADC, el diezmado, la máquina de estados y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conversor es un delta sigma. Muestrea mucho más rápido de lo que necesita la señal y empuja el ruido de cuantización hacia las frecuencias altas, fuera de la banda de interés; el filtro digital descarta ese ruido y queda más resolución en la banda útil. Frente a un SAR, el delta sigma gana en resolución y pierde en velocidad. Como nuestras señales son lentas, la velocidad no es un límite y nos beneficiamos del sobremuestreo. Es la regla general; la comparación con el SAR es literatura estándar, no una medición nuestra. Nota para mí: la figura es la traducción de una diapositiva de Texas Instruments; falta el documento exacto y la licencia. Muestra un filtro Sinc3 como ejemplo: no afirmo que el filtro interno del PSoC sea Sinc3, eso hay que confirmarlo en la hoja de datos del componente.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conversor es de 18 bits nominales, a 2604 muestras por segundo; priorizamos resolución sobre velocidad y la tasa sale de la configuración de reloj del PSoC. Hay cuatro rangos bipolares, de más menos 2,5 volts a más menos 0,512, y el LSB nominal va de 19 a casi 4 microvolts. Pasar al rango más estrecho da unos 13,8 decibeles sobre señales pequeñas sin agregar una etapa analógica, o sea sin ruido ni offset adicionales. El costo es que el margen antes de saturar se divide por cinco, y trabajamos cerca del fondo de escala, así que el rango y la ganancia del PGA se eligen en conjunto. Cuidado con lo que podemos afirmar: el LSB es nominal; el ruido referido a la entrada y los bits efectivos todavía no están medidos, y si me preguntan, ese es el dato que falta. Nota para mí: el repositorio habla de 13,7 dB y yo calculo 13,8; es redondeo. El repositorio dice también que cambiar de rango invalida la calibración de offset y que la EEPROM se indexa por ganancia y rango; me dijiste que eso es falso, así que no lo puse. Hay que corregir 04_arquitectura.tex, líneas 251 y 296.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Sobre el ADC podemos diezmar la señal, y de paso aplicamos una media móvil. Eso reduce el tamaño del archivo y deja ver mejor las señales de más baja frecuencia, y seguimos aprovechando el sobremuestreo que tenemos: promediar baja el ruido incorrelado. La frecuencia efectiva es 2604 sobre D. Una advertencia, por si preguntan: la media móvil no es un antialias ideal. En la frecuencia de Nyquist atenúa unos 4 decibeles, y lo que está por encima se pliega con poca atenuación; el repositorio lo advierte igual, y el rechazo de alias hay que verificarlo para las configuraciones de campo. La curva es ilustrativa, para cualquier D grande, y no es una medición.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firmware prepara la captura y envía pulsos de control; la máquina de estados, que es lógica sintetizada en los UDB, hace el resto. En IDLE reinicia contadores y acepta la configuración. Con ARM pasa a ARMED: espera el flanco de SYNC_IN y mantiene el FIR caliente, sin contar ni interrumpir. Con el flanco, o con START_NOW, pasa a SAMPLING, donde habilita los DMA, cuenta 30 muestras por lote y N lotes. Al llegar a N pasa a DONE y emite una interrupción final. Un STOP o un estado inválido llevan a ERROR, y CLEAR_FLAGS devuelve a IDLE. Durante el muestreo la única interrupción normal es la de cada muestra aceptada; los eventos de los temporizadores se consultan por polling. Una vez iniciada la captura, la posición temporal de las muestras la fija el reloj local de cada nodo.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recibir PRESTART, el nodo elige dónde va a guardar. Si hay una microSD activa, el PSoC escribe los lotes de forma secuencial en la tarjeta. Si no, el ESP32 esclavo reserva páginas en una arena de RAM y guarda ahí cada lote que le entrega el PSoC. Sin tarjeta, el límite es fijo: 512 lotes de 30 muestras. Con tarjeta, el límite lo fija el tamaño de la tarjeta, así que no lo uso como dato del sistema. Que la SD resida en el PSoC y no en el ESP32 mantiene el almacenamiento del lado determinista de la cadena. Nota para mí: en el repositorio hay además un nivel intermedio, el encadenado en RAM del PSoC al superar los 512 lotes; el diagrama no lo muestra, confirmar si sigue vigente. La regla de que más de 512 lotes exige SD habilitada sale de la línea 602 de 04_arquitectura.tex; 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tarjeta, el límite de memoria es constante: 512 lotes de 30 muestras, o sea 15 mil 360 muestras. A 2604 hertz eso son unos 5,9 segundos. Si diezmamos por D, la tasa baja y las mismas muestras cubren D veces más tiempo: la duración máxima es 5,9 segundos por D. El costo es el ancho de banda: el Nyquist pasa a ser 1302 sobre D hertz, de modo que con D igual a 100 queda en 13 hertz, y para MASW eso es poco. Duración y banda compiten, y el D se elige según el sitio y la longitud de onda que se quiere resolver. Con tarjeta SD el límite lo fija el tamaño de la tarjeta y por eso no lo muestro. Nota para mí: supongo que el límite de 512 lotes cuenta muestras ya diezmadas, porque los metadatos guardan fs′ y D; es una inferencia que hay que confirmar en el firmware.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registro se guarda en el nodo con sus metadatos: identificador y posición, frecuencia efectiva y factor de diezmado, rango del ADC, ganancia, ruta de señal, número de muestras y estado del ajuste de offset. Con eso se reconstruye el eje temporal sin depender de la interfaz de descarga. La integridad la dan la versión, el CRC, el número de muestras y los indicadores de desbordamiento o de cierre incompleto. El registro se transmite después de la captura, en lotes numerados que pueden pedirse de nuevo ante pérdidas, y el original permanece en el nodo, así que una pérdida o demora en el enlace no modifica las muestras adquiridas. El servidor valida y preserva los originales, y el procesamiento se hace sobre copias. El detalle del enlace viene en la sección de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maestro es un ESP32 que no adquiere: aloja la interfaz web y coordina. Se comunica por ESP-NOW con los nodos esclavos, sin un punto de acceso intermedio. Cada nodo, GEO o HAMMER, tiene un ESP32 esclavo conectado a su PSoC con un enlace asimétrico: UART para los comandos del ESP al PSoC, I2C para las muestras del PSoC al ESP, y una línea local de sincronismo que dispara la captura. Los datos se guardan en el nodo, en la arena de RAM del ESP32 o en la microSD del PSoC, y viajan al maestro después de la captura. El navegador solo habla con el maestro. En paralelo, el maestro levanta un punto de acceso Wi-Fi propio solo para la interfaz de operador; no interviene en el disparo.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Fernando va a preguntar por qué ESP-NOW. La respuesta honesta es que no es la opción más precisa. El cable de sincronismo es determinista, pero lo usamos y lo retiramos, porque el tendido es justamente lo que queremos evitar. Wi-Fi con punto de acceso agrega acuses, reintentos y acceso al medio, con una latencia distinta en cada nodo. LoRa tiene tiempos en el aire de decenas de milisegundos y una tasa muy baja para descargar registros. GPS da una referencia absoluta muy buena y lo usan equipos comerciales, pero pide receptor y cielo abierto en cada nodo. ESP-NOW no necesita infraestructura, es barato y viene en el ESP32, y con broadcast se midieron entre 200 y 400 microsegundos con tres nodos. Eso consume el presupuesto: para 5 grados a 50 hertz hacen falta 278 microsegundos. Por eso UWB aparece como trabajo futuro: Korsimaa publica más menos 4 nanosegundos con módulos DWM1000 de bajo costo. Nota para mí: las propiedades de Wi-Fi, LoRa y GPS son conocimiento general, no salen de una medición nuestra ni de una referencia citada en el repositorio; si me piden números, buscar una fuente. Los 4 nanosegundos y los demás datos de UWB salen de 08_trabajos_futuros.tex.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importa para MASW no es el retardo en sí, sino lo que hace con la fase. Un desfase de tiempo Δt entre nodos produce un error de fase de 360 grados por frecuencia por Δt, y crece con la frecuencia. Si fijamos 5 grados como error máximo, el presupuesto es de 278 microsegundos a 50 hertz y de 139 a 100 hertz. Con 400 microsegundos tendríamos 7,2 grados a 50 hertz y 14,4 a 100. Dicho de otra forma, con 400 microsegundos los 5 grados se cumplen solo hasta unos 35 hertz. Ese número lo calculé yo, no sale del resumen. El resumen dice 3 grados a 20 hertz y 7 a 50. La aceptación hay que evaluarla contra la banda efectivamente usada, no contra un umbral de tiempo aislado. El criterio de 5 grados es una elección de diseño, no una norma.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Vicente va a preferir ver el efecto en velocidad. Si dos receptores separados Δx miden el mismo frente, la velocidad de fase sale de c igual a 2π f Δx sobre Δφ. Un error de tiempo Δt entre canales agrega un error de fase 2π f Δt, y al dividir por la fase esperada la frecuencia se cancela: el error relativo de velocidad es c por Δt sobre Δx. Con receptores a 2 metros y c de 150 metros por segundo, un 5 por ciento llega recién a 667 microsegundos, y 400 microsegundos darían 3 por ciento. Una advertencia: esto trata el Δt como un desfase sistemático entre dos canales vecinos. Si el desfase cambia de captura a captura, entra como ruido en la curva de dispersión, y el promedio de varias capturas lo reduce. Nota para mí: la deducción es mía; la figura viene del repositorio, pero no está en el resumen firmado.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secuencia tiene preparación y ejecución. ARM verifica que los nodos estén disponibles y reserva recursos. PRESTART configura la longitud de la captura, reinicia contadores y deja el PSoC armado. El maestro espera la confirmación de todos y recién ahí difunde una única orden START por broadcast. Cada esclavo, al recibirla, eleva de inmediato su línea SYNC_TO_PSOC, y ese flanco local inicia la máquina de estados del PSoC. Entre el armado y el disparo los esclavos quedan en silencio de radio, y durante el muestreo no envían confirmación del START. La orden única busca reducir la dispersión de inicio respecto de órdenes independientes por canal. Abajo, el retorno: lo capturado se guarda en el nodo y se descarga después. El GPIO15 del maestro es solo un marcador para el osciloscopio.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comando de disparo se emite en broadcast, no como envíos dirigidos a cada esclavo. Tres razones. Primera: un envío unicast espera confirmación y retransmite si no la recibe, y esa retransmisión es la mayor fuente de varianza, porque es distinta en cada nodo. El broadcast no tiene acuse ni reintento: se emite una vez o no llega. Segunda: con unicast el maestro transmite N veces en secuencia, y el último nodo recibe después del primero; con broadcast hay una sola trama que todos demodulan del mismo evento en el aire, y el error no crece con el número de nodos. Tercera: la latencia entre que el firmware manda y la antena emite no es determinista, pero en broadcast ocurre una sola vez y del lado del emisor, así que es común y se cancela entre canales. Lo que degrada el MASW es el jitter relativo entre canales, no el absoluto. Nota para mí: el repositorio dice que en las pruebas cualquier variante distinta del broadcast desincronizaba a los esclavos, pero no tengo la medición comparativa; Fernando la va a pedir y conviene hacerla con SCOPE_MULTI. Además, la documentación de ESP-IDF no describe el acuse de capa de enlace en unicast; el comportamiento es el del estándar 802.11.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jitter usamos un disparo falso. El comando CMD_SCOPE_START hace que cada nodo emita un pulso de un milisegundo por un GPIO dedicado, sin iniciar el muestreo ni responder por radio. Con el osciloscopio se mide la separación entre los flancos del maestro y de los esclavos, y esa separación es directamente la latencia de sincronización. El estado SCOPE_MULTI repite el disparo 128 veces, separado un segundo, y así se acumula la estadística sin operador. En el ensayo con tres nodos y 128 órdenes START por broadcast, los flancos quedaron separados entre 200 y 400 microsegundos. Se ensayaron distintas posiciones relativas entre maestro y esclavos y no se encontró relación con la posición, que es lo esperable: a estas distancias el tiempo de vuelo, de nanosegundos, es despreciable frente a la latencia de despacho. Es un resultado preliminar. Nota para mí: el resumen habla de 200 a 400 microsegundos y el repositorio de menos de unos 400, con el maestro a unos 5 metros; son compatibles. No tengo la distribución, los percentiles ni el peor caso, y eso es lo que Fernando va a pedir.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que declarar lo que esta medición no dice. Mide la llegada de la orden y el flanco GPIO en cada ESP32, con los nodos cerca entre sí porque las puntas del osciloscopio tienen alcance limitado. No mide el inicio efectivo de los ADC ni la deriva posterior de sus relojes. Al entrar en muestreo se reinicia el modulador delta sigma, lo que introduce un retardo de grupo que es fijo e igual en todos los nodos, así que no agrega jitter relativo, pero nunca se calibró y desplaza el t igual a cero real respecto del flanco de sincronismo. Es un sesgo común, y se puede corregir en cuanto se mida. Faltan también repetibilidad entre encendidos, dependencia con el número de nodos, la temperatura y la ocupación del canal Wi-Fi. El experimento que cierra lo esencial, y es una propuesta mía, es inyectar una señal de referencia común a todos los nodos, por ejemplo una senoidal, y medir la fase relativa entre las trazas: eso incluye el inicio del ADC y la deriva, de punta a punta.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vez iniciada la captura, la posición temporal de cada muestra la fija el reloj local de cada nodo. Para el nodo i, la frecuencia efectiva es fs por uno más ε i, y el instante de la muestra n es t0 i más n sobre fs por uno más ε i. Dos nodos cuyos relojes difieren en ε relativo se separan ε por T al cabo de T segundos. Con 10 partes por millón, un registro de 10 segundos acumula 100 microsegundos; con 50 partes por millón, 500, que es más que el jitter de inicio medido. Esos valores son ilustrativos, porque no medimos ε. La pregunta que hay que contestar es de dónde sale el reloj del ADC: si es un cristal, hablamos de decenas de ppm; si fuera el oscilador interno del PSoC, la tolerancia sería mucho peor y la deriva dominaría. Mide el resumen en trabajos futuros: medir el inicio efectivo de los ADC y la deriva relativa durante la captura. Nota para mí: verificar la fuente del reloj del ADC en el proyecto del PSoC antes de la defensa.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Terminada la captura, los datos se descargan con un esquema de solicitud de lotes, uno por vez, nodo por nodo. El maestro pide el lote con su número de secuencia; el esclavo lo recupera de la microSD o de la arena de RAM y lo envía con nodo, secuencia, marca de tiempo y CRC. El maestro confirma con un acuse y pasa a la siguiente secuencia. Si hay tiempo de espera agotado o un rechazo, se repite el mismo par nodo y secuencia. El original permanece en el nodo, de modo que una pérdida o demora del enlace no modifica las muestras adquiridas. La descarga se pausa y se reanuda según la presencia del cliente WebSocket.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Escalabilidad. Lo que está verificado en la documentación de ESP-IDF 5.5 es que ESP-NOW admite hasta 20 dispositivos emparejados, y hasta 17 con cifrado, 7 por defecto, y que la carga útil por trama es de 250 bytes en la versión 1 y de 1470 en la versión 2. Lo que infiero: si el maestro necesita un par para el broadcast y uno por cada nodo, quedarían del orden de 19 nodos; para un arreglo de 24 canales habría que reorganizar. Y como la descarga recorre un nodo por vez, el tiempo total crece con el número de nodos. Lo que no medimos: jitter y descarga con más de tres nodos, el efecto del canal Wi-Fi, y qué versión de ESP-NOW usa nuestro firmware. Nota para mí: el límite de pares y de cifrados depende de la configuración del SDK; verificar en el firmware si usa cifrado y si el par de broadcast cuenta contra los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nodo HAMMER usa el mismo firmware que el nodo GEO. El martillo lleva un sensor de impacto PCB 086D20, que se alimenta con corriente constante, el esquema ICP. La señal se desacopla y se protege antes de entrar a la cadena, y atraviesa una etapa de ganancia programable y un pasa-bajos antes del ADC. Su función es doble: da el instante de disparo y la forma del impacto. Con eso se alinean las trazas de posiciones sucesivas, se evalúa la repetibilidad y se detectan rebotes o contactos múltiples para aceptar o rechazar capturas. Nota para mí: la figura de la izquierda es el principio ICP de PCB, con etiquetas en inglés, y la de la derecha es nuestro esquema en PSoC Creator; ambas están marcadas.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72-1.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1.xml"/><Relationship Id="rId4"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fig. 1.1 (cap. 1;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18288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p:txBody>
      </p:sp>
      <p:sp>
        <p:nvSpPr>
          <p:cNvPr id="5" name="Fondo Vs"/>
          <p:cNvSpPr/>
          <p:nvPr/>
        </p:nvSpPr>
        <p:spPr>
          <a:xfrm>
            <a:off x="5669280" y="324612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dx"/>
              <p:cNvSpPr txBox="1"/>
              <p:nvPr/>
            </p:nvSpPr>
            <p:spPr>
              <a:xfrm>
                <a:off x="5669280" y="324612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Δx</m:t>
                          </m:r>
                        </m:num>
                        <m:den>
                          <m:r>
                            <a:rPr lang="es-ES" sz="2800" i="1">
                              <a:solidFill>
                                <a:srgbClr val="1F4E79"/>
                              </a:solidFill>
                              <a:latin typeface="Cambria Math" panose="02040503050406030204" pitchFamily="18" charset="0"/>
                            </a:rPr>
                            <m:t xml:space="preserve">Δt</m:t>
                          </m:r>
                        </m:den>
                      </m:f>
                    </m:oMath>
                  </m:oMathPara>
                </a14:m>
                <a:endParaRPr lang="es-ES"/>
              </a:p>
            </p:txBody>
          </p:sp>
        </mc:Choice>
        <mc:Fallback>
          <p:sp>
            <p:nvSpPr>
              <p:cNvPr id="6" name="Ecuación E_vsdx"/>
              <p:cNvSpPr txBox="1"/>
              <p:nvPr/>
            </p:nvSpPr>
            <p:spPr>
              <a:xfrm>
                <a:off x="5669280" y="324612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Δx / Δt</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recreación a partir de Wikimedia Commons, «Refraction dia.jpg» (L. Antiga, 2010); fidelidad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577840" y="1280160"/>
            <a:ext cx="3108960" cy="32004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ondas de cuerpo (P y S) viajan por el interior del terreno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Parte de la energía se refleja y parte se transmite</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caso de una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a la superficie libre, la onda S se clasifica en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28016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Referencia: el plano de la superficie libre</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onda S puede moverse de dos formas respecto a él</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SV: oscila en el plano vertical que contiene el rayo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SH: oscila en horizontal, perpendicular a ese plano</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Vale para P, SV y SH: V es Vp para P y Vs para SV y SH</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Vs &lt; Vp,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Vs1 &lt; Vs2</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cR ≈ 0,9·Vs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6400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6400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6400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1965960"/>
            <a:ext cx="374904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1965960"/>
                <a:ext cx="374904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1965960"/>
                <a:ext cx="374904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2880360"/>
            <a:ext cx="3749040" cy="914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cR / Vs va de 0,86 a 0,95 según ν</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No hay dispersión: todas las frecuencias van a la misma cR</a:t>
            </a:r>
            <a:endParaRPr lang="en-US" sz="1400" dirty="0"/>
          </a:p>
        </p:txBody>
      </p:sp>
      <p:sp>
        <p:nvSpPr>
          <p:cNvPr id="9" name="Fondo Vs cR"/>
          <p:cNvSpPr/>
          <p:nvPr/>
        </p:nvSpPr>
        <p:spPr>
          <a:xfrm>
            <a:off x="4937760" y="3840480"/>
            <a:ext cx="3749040" cy="6400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vsc"/>
              <p:cNvSpPr txBox="1"/>
              <p:nvPr/>
            </p:nvSpPr>
            <p:spPr>
              <a:xfrm>
                <a:off x="4937760" y="3840480"/>
                <a:ext cx="3749040" cy="6400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num>
                        <m:den>
                          <m:r>
                            <a:rPr lang="es-ES" sz="2800" i="1">
                              <a:solidFill>
                                <a:srgbClr val="1F4E79"/>
                              </a:solidFill>
                              <a:latin typeface="Cambria Math" panose="02040503050406030204" pitchFamily="18" charset="0"/>
                            </a:rPr>
                            <m:t xml:space="preserve">0,9</m:t>
                          </m:r>
                        </m:den>
                      </m:f>
                    </m:oMath>
                  </m:oMathPara>
                </a14:m>
                <a:endParaRPr lang="es-ES"/>
              </a:p>
            </p:txBody>
          </p:sp>
        </mc:Choice>
        <mc:Fallback>
          <p:sp>
            <p:nvSpPr>
              <p:cNvPr id="10" name="Ecuación E_vsc"/>
              <p:cNvSpPr txBox="1"/>
              <p:nvPr/>
            </p:nvSpPr>
            <p:spPr>
              <a:xfrm>
                <a:off x="4937760" y="3840480"/>
                <a:ext cx="3749040" cy="6400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cR / 0,9</a:t>
                </a:r>
                <a:endParaRPr lang="en-US" sz="2400" dirty="0"/>
              </a:p>
            </p:txBody>
          </p:sp>
        </mc:Fallback>
      </mc:AlternateContent>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terreno estratificado, la rigidez y la velocidad de corte cambian con la profundidad</a:t>
            </a:r>
            <a:endParaRPr lang="en-US" sz="2400" dirty="0"/>
          </a:p>
        </p:txBody>
      </p:sp>
      <p:pic>
        <p:nvPicPr>
          <p:cNvPr id="3" name="Perfil Vs" descr="Perfil de Vs en escalones: 150, 250 y 450 m/s con la profundidad">    </p:cNvPr>
          <p:cNvPicPr>
            <a:picLocks noChangeAspect="1"/>
          </p:cNvPicPr>
          <p:nvPr/>
        </p:nvPicPr>
        <p:blipFill>
          <a:blip r:embed="rId1"/>
          <a:stretch>
            <a:fillRect/>
          </a:stretch>
        </p:blipFill>
        <p:spPr>
          <a:xfrm>
            <a:off x="457200" y="1280160"/>
            <a:ext cx="4023360" cy="3108960"/>
          </a:xfrm>
          <a:prstGeom prst="rect">
            <a:avLst/>
          </a:prstGeom>
        </p:spPr>
      </p:pic>
      <p:sp>
        <p:nvSpPr>
          <p:cNvPr id="4" name="Cuerpo"/>
          <p:cNvSpPr txBox="1"/>
          <p:nvPr/>
        </p:nvSpPr>
        <p:spPr>
          <a:xfrm>
            <a:off x="4754880" y="123444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densidad ρ suele variar poco en comparación con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Si conocemos Vs(z), estimamos el módulo de corte máximo:</a:t>
            </a:r>
            <a:endParaRPr lang="en-US" sz="1600" dirty="0"/>
          </a:p>
        </p:txBody>
      </p:sp>
      <p:sp>
        <p:nvSpPr>
          <p:cNvPr id="5" name="Fondo Gmax"/>
          <p:cNvSpPr/>
          <p:nvPr/>
        </p:nvSpPr>
        <p:spPr>
          <a:xfrm>
            <a:off x="4754880" y="3840480"/>
            <a:ext cx="393192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(z)=ρ(z)·</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Gmax(z) = ρ(z) · Vs²(z)</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de ejemplo propio (ilustrativo): 3 capas, ν = 0,3. Variación de ρ: Kramer (1996), por confirmar página.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longitud de onda «ve» una profundidad distinta del terreno</a:t>
            </a:r>
            <a:endParaRPr lang="en-US" sz="2400" dirty="0"/>
          </a:p>
        </p:txBody>
      </p:sp>
      <p:pic>
        <p:nvPicPr>
          <p:cNvPr id="3" name="Desplazamiento vs profundidad" descr="Desplazamiento vertical de la onda Rayleigh en función de la profundidad: a 15 Hz queda en la capa superior; a 9,5 Hz llega hasta unos 25 m">    </p:cNvPr>
          <p:cNvPicPr>
            <a:picLocks noChangeAspect="1"/>
          </p:cNvPicPr>
          <p:nvPr/>
        </p:nvPicPr>
        <p:blipFill>
          <a:blip r:embed="rId1"/>
          <a:stretch>
            <a:fillRect/>
          </a:stretch>
        </p:blipFill>
        <p:spPr>
          <a:xfrm>
            <a:off x="365760" y="1234440"/>
            <a:ext cx="5120640" cy="3319272"/>
          </a:xfrm>
          <a:prstGeom prst="rect">
            <a:avLst/>
          </a:prstGeom>
        </p:spPr>
      </p:pic>
      <p:sp>
        <p:nvSpPr>
          <p:cNvPr id="4" name="Fondo lambda"/>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λ=</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m:t>
                          </m:r>
                        </m:num>
                        <m:den>
                          <m:r>
                            <a:rPr lang="es-ES" sz="2800" i="1">
                              <a:solidFill>
                                <a:srgbClr val="1F4E79"/>
                              </a:solidFill>
                              <a:latin typeface="Cambria Math" panose="02040503050406030204" pitchFamily="18" charset="0"/>
                            </a:rPr>
                            <m:t xml:space="preserve">f</m:t>
                          </m:r>
                        </m:den>
                      </m:f>
                    </m:oMath>
                  </m:oMathPara>
                </a14:m>
                <a:endParaRPr lang="es-ES"/>
              </a:p>
            </p:txBody>
          </p:sp>
        </mc:Choice>
        <mc:Fallback>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λ = c / f</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Baja frecuencia: λ larga, el movimiento llega a capas más profundas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 Idea: Foti et al. (2014), fig. 2.13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2400" dirty="0"/>
          </a:p>
        </p:txBody>
      </p:sp>
      <p:graphicFrame>
        <p:nvGraphicFramePr>
          <p:cNvPr id="3" name="Chart 0" descr=""/>
          <p:cNvGraphicFramePr/>
          <p:nvPr/>
        </p:nvGraphicFramePr>
        <p:xfrm>
          <a:off x="457200" y="128016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Este fenómeno se llama dispersión</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dispersión permite reconstruir un modelo estratificado compatible con las mediciones de campo</a:t>
            </a:r>
            <a:endParaRPr lang="en-US" sz="2400" dirty="0"/>
          </a:p>
        </p:txBody>
      </p:sp>
      <p:sp>
        <p:nvSpPr>
          <p:cNvPr id="3" name="Registros"/>
          <p:cNvSpPr/>
          <p:nvPr/>
        </p:nvSpPr>
        <p:spPr>
          <a:xfrm>
            <a:off x="457200" y="1371600"/>
            <a:ext cx="1828800" cy="868680"/>
          </a:xfrm>
          <a:prstGeom prst="roundRect">
            <a:avLst>
              <a:gd name="adj" fmla="val 8421"/>
            </a:avLst>
          </a:prstGeom>
          <a:solidFill>
            <a:srgbClr val="2E75B6"/>
          </a:solidFill>
          <a:ln w="12700">
            <a:solidFill>
              <a:srgbClr val="2E75B6"/>
            </a:solidFill>
            <a:prstDash val="solid"/>
          </a:ln>
        </p:spPr>
      </p:sp>
      <p:sp>
        <p:nvSpPr>
          <p:cNvPr id="4" name="Text 2"/>
          <p:cNvSpPr txBox="1"/>
          <p:nvPr/>
        </p:nvSpPr>
        <p:spPr>
          <a:xfrm>
            <a:off x="457200" y="13716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Registros de campo</a:t>
            </a:r>
            <a:endParaRPr lang="en-US" sz="1600" dirty="0"/>
          </a:p>
        </p:txBody>
      </p:sp>
      <p:sp>
        <p:nvSpPr>
          <p:cNvPr id="5" name="Curva experimental"/>
          <p:cNvSpPr/>
          <p:nvPr/>
        </p:nvSpPr>
        <p:spPr>
          <a:xfrm>
            <a:off x="2743200" y="1371600"/>
            <a:ext cx="2194560" cy="868680"/>
          </a:xfrm>
          <a:prstGeom prst="roundRect">
            <a:avLst>
              <a:gd name="adj" fmla="val 8421"/>
            </a:avLst>
          </a:prstGeom>
          <a:solidFill>
            <a:srgbClr val="2E75B6"/>
          </a:solidFill>
          <a:ln w="12700">
            <a:solidFill>
              <a:srgbClr val="2E75B6"/>
            </a:solidFill>
            <a:prstDash val="solid"/>
          </a:ln>
        </p:spPr>
      </p:sp>
      <p:sp>
        <p:nvSpPr>
          <p:cNvPr id="6" name="Text 4"/>
          <p:cNvSpPr txBox="1"/>
          <p:nvPr/>
        </p:nvSpPr>
        <p:spPr>
          <a:xfrm>
            <a:off x="2743200" y="13716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de dispersión experimental</a:t>
            </a:r>
            <a:endParaRPr lang="en-US" sz="1600" dirty="0"/>
          </a:p>
        </p:txBody>
      </p:sp>
      <p:sp>
        <p:nvSpPr>
          <p:cNvPr id="7" name="Comparar"/>
          <p:cNvSpPr/>
          <p:nvPr/>
        </p:nvSpPr>
        <p:spPr>
          <a:xfrm>
            <a:off x="5394960" y="1371600"/>
            <a:ext cx="1554480" cy="868680"/>
          </a:xfrm>
          <a:prstGeom prst="roundRect">
            <a:avLst>
              <a:gd name="adj" fmla="val 8421"/>
            </a:avLst>
          </a:prstGeom>
          <a:solidFill>
            <a:srgbClr val="1F4E79"/>
          </a:solidFill>
          <a:ln w="12700">
            <a:solidFill>
              <a:srgbClr val="1F4E79"/>
            </a:solidFill>
            <a:prstDash val="solid"/>
          </a:ln>
        </p:spPr>
      </p:sp>
      <p:sp>
        <p:nvSpPr>
          <p:cNvPr id="8" name="Text 6"/>
          <p:cNvSpPr txBox="1"/>
          <p:nvPr/>
        </p:nvSpPr>
        <p:spPr>
          <a:xfrm>
            <a:off x="5394960" y="1371600"/>
            <a:ext cx="15544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Comparar</a:t>
            </a:r>
            <a:endParaRPr lang="en-US" sz="1600" dirty="0"/>
          </a:p>
        </p:txBody>
      </p:sp>
      <p:sp>
        <p:nvSpPr>
          <p:cNvPr id="9" name="Perfil final"/>
          <p:cNvSpPr/>
          <p:nvPr/>
        </p:nvSpPr>
        <p:spPr>
          <a:xfrm>
            <a:off x="7315200" y="1371600"/>
            <a:ext cx="1371600" cy="868680"/>
          </a:xfrm>
          <a:prstGeom prst="roundRect">
            <a:avLst>
              <a:gd name="adj" fmla="val 8421"/>
            </a:avLst>
          </a:prstGeom>
          <a:solidFill>
            <a:srgbClr val="C55A11"/>
          </a:solidFill>
          <a:ln w="12700">
            <a:solidFill>
              <a:srgbClr val="C55A11"/>
            </a:solidFill>
            <a:prstDash val="solid"/>
          </a:ln>
        </p:spPr>
      </p:sp>
      <p:sp>
        <p:nvSpPr>
          <p:cNvPr id="10" name="Text 8"/>
          <p:cNvSpPr txBox="1"/>
          <p:nvPr/>
        </p:nvSpPr>
        <p:spPr>
          <a:xfrm>
            <a:off x="7315200" y="1371600"/>
            <a:ext cx="13716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Perfil Vs(z)</a:t>
            </a:r>
            <a:endParaRPr lang="en-US" sz="1600" dirty="0"/>
          </a:p>
        </p:txBody>
      </p:sp>
      <p:sp>
        <p:nvSpPr>
          <p:cNvPr id="11" name="Shape 9"/>
          <p:cNvSpPr/>
          <p:nvPr/>
        </p:nvSpPr>
        <p:spPr>
          <a:xfrm>
            <a:off x="2286000" y="1805940"/>
            <a:ext cx="457200" cy="0"/>
          </a:xfrm>
          <a:prstGeom prst="line">
            <a:avLst/>
          </a:prstGeom>
          <a:noFill/>
          <a:ln w="31750">
            <a:solidFill>
              <a:srgbClr val="1F4E79"/>
            </a:solidFill>
            <a:prstDash val="solid"/>
            <a:tailEnd type="triangle"/>
          </a:ln>
        </p:spPr>
      </p:sp>
      <p:sp>
        <p:nvSpPr>
          <p:cNvPr id="12" name="Shape 10"/>
          <p:cNvSpPr/>
          <p:nvPr/>
        </p:nvSpPr>
        <p:spPr>
          <a:xfrm>
            <a:off x="4937760" y="1805940"/>
            <a:ext cx="457200" cy="0"/>
          </a:xfrm>
          <a:prstGeom prst="line">
            <a:avLst/>
          </a:prstGeom>
          <a:noFill/>
          <a:ln w="31750">
            <a:solidFill>
              <a:srgbClr val="1F4E79"/>
            </a:solidFill>
            <a:prstDash val="solid"/>
            <a:tailEnd type="triangle"/>
          </a:ln>
        </p:spPr>
      </p:sp>
      <p:sp>
        <p:nvSpPr>
          <p:cNvPr id="13" name="Shape 11"/>
          <p:cNvSpPr/>
          <p:nvPr/>
        </p:nvSpPr>
        <p:spPr>
          <a:xfrm>
            <a:off x="6949440" y="1805940"/>
            <a:ext cx="365760" cy="0"/>
          </a:xfrm>
          <a:prstGeom prst="line">
            <a:avLst/>
          </a:prstGeom>
          <a:noFill/>
          <a:ln w="31750">
            <a:solidFill>
              <a:srgbClr val="C55A11"/>
            </a:solidFill>
            <a:prstDash val="solid"/>
            <a:tailEnd type="triangle"/>
          </a:ln>
        </p:spPr>
      </p:sp>
      <p:sp>
        <p:nvSpPr>
          <p:cNvPr id="14" name="Text 12"/>
          <p:cNvSpPr txBox="1"/>
          <p:nvPr/>
        </p:nvSpPr>
        <p:spPr>
          <a:xfrm>
            <a:off x="6812280" y="1051560"/>
            <a:ext cx="1097280" cy="274320"/>
          </a:xfrm>
          <a:prstGeom prst="rect">
            <a:avLst/>
          </a:prstGeom>
          <a:noFill/>
          <a:ln/>
        </p:spPr>
        <p:txBody>
          <a:bodyPr wrap="square" lIns="0" tIns="0" rIns="0" bIns="0" rtlCol="0" anchor="t"/>
          <a:lstStyle/>
          <a:p>
            <a:pPr algn="ctr" indent="0" marL="0">
              <a:buNone/>
            </a:pPr>
            <a:r>
              <a:rPr lang="en-US" sz="1400" dirty="0">
                <a:solidFill>
                  <a:srgbClr val="C55A11"/>
                </a:solidFill>
                <a:latin typeface="Arial" pitchFamily="34" charset="0"/>
                <a:ea typeface="Arial" pitchFamily="34" charset="-122"/>
                <a:cs typeface="Arial" pitchFamily="34" charset="-120"/>
              </a:rPr>
              <a:t>coinciden</a:t>
            </a:r>
            <a:endParaRPr lang="en-US" sz="1400" dirty="0"/>
          </a:p>
        </p:txBody>
      </p:sp>
      <p:sp>
        <p:nvSpPr>
          <p:cNvPr id="15" name="Modelo"/>
          <p:cNvSpPr/>
          <p:nvPr/>
        </p:nvSpPr>
        <p:spPr>
          <a:xfrm>
            <a:off x="457200" y="2971800"/>
            <a:ext cx="1828800" cy="868680"/>
          </a:xfrm>
          <a:prstGeom prst="roundRect">
            <a:avLst>
              <a:gd name="adj" fmla="val 8421"/>
            </a:avLst>
          </a:prstGeom>
          <a:solidFill>
            <a:srgbClr val="6B6B6B"/>
          </a:solidFill>
          <a:ln w="12700">
            <a:solidFill>
              <a:srgbClr val="6B6B6B"/>
            </a:solidFill>
            <a:prstDash val="solid"/>
          </a:ln>
        </p:spPr>
      </p:sp>
      <p:sp>
        <p:nvSpPr>
          <p:cNvPr id="16" name="Text 14"/>
          <p:cNvSpPr txBox="1"/>
          <p:nvPr/>
        </p:nvSpPr>
        <p:spPr>
          <a:xfrm>
            <a:off x="457200" y="29718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Modelo Vs(z) propuesto</a:t>
            </a:r>
            <a:endParaRPr lang="en-US" sz="1600" dirty="0"/>
          </a:p>
        </p:txBody>
      </p:sp>
      <p:sp>
        <p:nvSpPr>
          <p:cNvPr id="17" name="Curva teórica"/>
          <p:cNvSpPr/>
          <p:nvPr/>
        </p:nvSpPr>
        <p:spPr>
          <a:xfrm>
            <a:off x="2743200" y="2971800"/>
            <a:ext cx="2194560" cy="868680"/>
          </a:xfrm>
          <a:prstGeom prst="roundRect">
            <a:avLst>
              <a:gd name="adj" fmla="val 8421"/>
            </a:avLst>
          </a:prstGeom>
          <a:solidFill>
            <a:srgbClr val="6B6B6B"/>
          </a:solidFill>
          <a:ln w="12700">
            <a:solidFill>
              <a:srgbClr val="6B6B6B"/>
            </a:solidFill>
            <a:prstDash val="solid"/>
          </a:ln>
        </p:spPr>
      </p:sp>
      <p:sp>
        <p:nvSpPr>
          <p:cNvPr id="18" name="Text 16"/>
          <p:cNvSpPr txBox="1"/>
          <p:nvPr/>
        </p:nvSpPr>
        <p:spPr>
          <a:xfrm>
            <a:off x="2743200" y="29718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teórica del modelo</a:t>
            </a:r>
            <a:endParaRPr lang="en-US" sz="1600" dirty="0"/>
          </a:p>
        </p:txBody>
      </p:sp>
      <p:sp>
        <p:nvSpPr>
          <p:cNvPr id="19" name="Shape 17"/>
          <p:cNvSpPr/>
          <p:nvPr/>
        </p:nvSpPr>
        <p:spPr>
          <a:xfrm>
            <a:off x="2286000" y="3406140"/>
            <a:ext cx="457200" cy="0"/>
          </a:xfrm>
          <a:prstGeom prst="line">
            <a:avLst/>
          </a:prstGeom>
          <a:noFill/>
          <a:ln w="31750">
            <a:solidFill>
              <a:srgbClr val="6B6B6B"/>
            </a:solidFill>
            <a:prstDash val="solid"/>
            <a:tailEnd type="triangle"/>
          </a:ln>
        </p:spPr>
      </p:sp>
      <p:sp>
        <p:nvSpPr>
          <p:cNvPr id="20" name="Shape 18"/>
          <p:cNvSpPr/>
          <p:nvPr/>
        </p:nvSpPr>
        <p:spPr>
          <a:xfrm>
            <a:off x="4937760" y="3406140"/>
            <a:ext cx="640080" cy="0"/>
          </a:xfrm>
          <a:prstGeom prst="line">
            <a:avLst/>
          </a:prstGeom>
          <a:noFill/>
          <a:ln w="31750">
            <a:solidFill>
              <a:srgbClr val="6B6B6B"/>
            </a:solidFill>
            <a:prstDash val="solid"/>
          </a:ln>
        </p:spPr>
      </p:sp>
      <p:sp>
        <p:nvSpPr>
          <p:cNvPr id="21" name="Shape 19"/>
          <p:cNvSpPr/>
          <p:nvPr/>
        </p:nvSpPr>
        <p:spPr>
          <a:xfrm flipV="1">
            <a:off x="5577840" y="2240280"/>
            <a:ext cx="0" cy="1165860"/>
          </a:xfrm>
          <a:prstGeom prst="line">
            <a:avLst/>
          </a:prstGeom>
          <a:noFill/>
          <a:ln w="31750">
            <a:solidFill>
              <a:srgbClr val="6B6B6B"/>
            </a:solidFill>
            <a:prstDash val="solid"/>
            <a:tailEnd type="triangle"/>
          </a:ln>
        </p:spPr>
      </p:sp>
      <p:sp>
        <p:nvSpPr>
          <p:cNvPr id="22" name="Text 20"/>
          <p:cNvSpPr txBox="1"/>
          <p:nvPr/>
        </p:nvSpPr>
        <p:spPr>
          <a:xfrm>
            <a:off x="1371600" y="4297680"/>
            <a:ext cx="5303520" cy="27432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No coinciden: se modifica Vs(z)</a:t>
            </a:r>
            <a:endParaRPr lang="en-US" sz="1600" dirty="0"/>
          </a:p>
        </p:txBody>
      </p:sp>
      <p:sp>
        <p:nvSpPr>
          <p:cNvPr id="23" name="Shape 21"/>
          <p:cNvSpPr/>
          <p:nvPr/>
        </p:nvSpPr>
        <p:spPr>
          <a:xfrm>
            <a:off x="6675120" y="2240280"/>
            <a:ext cx="0" cy="2011680"/>
          </a:xfrm>
          <a:prstGeom prst="line">
            <a:avLst/>
          </a:prstGeom>
          <a:noFill/>
          <a:ln w="31750">
            <a:solidFill>
              <a:srgbClr val="C55A11"/>
            </a:solidFill>
            <a:prstDash val="solid"/>
          </a:ln>
        </p:spPr>
      </p:sp>
      <p:sp>
        <p:nvSpPr>
          <p:cNvPr id="24" name="Shape 22"/>
          <p:cNvSpPr/>
          <p:nvPr/>
        </p:nvSpPr>
        <p:spPr>
          <a:xfrm>
            <a:off x="1371600" y="4251960"/>
            <a:ext cx="5303520" cy="0"/>
          </a:xfrm>
          <a:prstGeom prst="line">
            <a:avLst/>
          </a:prstGeom>
          <a:noFill/>
          <a:ln w="31750">
            <a:solidFill>
              <a:srgbClr val="C55A11"/>
            </a:solidFill>
            <a:prstDash val="solid"/>
          </a:ln>
        </p:spPr>
      </p:sp>
      <p:sp>
        <p:nvSpPr>
          <p:cNvPr id="25" name="Shape 23"/>
          <p:cNvSpPr/>
          <p:nvPr/>
        </p:nvSpPr>
        <p:spPr>
          <a:xfrm>
            <a:off x="1371600" y="3840480"/>
            <a:ext cx="0" cy="411480"/>
          </a:xfrm>
          <a:prstGeom prst="line">
            <a:avLst/>
          </a:prstGeom>
          <a:noFill/>
          <a:ln w="31750">
            <a:solidFill>
              <a:srgbClr val="C55A11"/>
            </a:solidFill>
            <a:prstDash val="solid"/>
            <a:headEnd type="triangle"/>
          </a:ln>
        </p:spPr>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procedimiento general de inversión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inversión tiene límites: depende de supuestos y se apoya en otras mediciones</a:t>
            </a:r>
            <a:endParaRPr lang="en-US" sz="2400" dirty="0"/>
          </a:p>
        </p:txBody>
      </p:sp>
      <p:sp>
        <p:nvSpPr>
          <p:cNvPr id="3" name="Cabecera Capas profundas"/>
          <p:cNvSpPr/>
          <p:nvPr/>
        </p:nvSpPr>
        <p:spPr>
          <a:xfrm>
            <a:off x="457200" y="1325880"/>
            <a:ext cx="4023360" cy="457200"/>
          </a:xfrm>
          <a:prstGeom prst="rect">
            <a:avLst/>
          </a:prstGeom>
          <a:solidFill>
            <a:srgbClr val="1F4E79"/>
          </a:solidFill>
          <a:ln w="12700">
            <a:solidFill>
              <a:srgbClr val="1F4E79"/>
            </a:solidFill>
            <a:prstDash val="solid"/>
          </a:ln>
        </p:spPr>
      </p:sp>
      <p:sp>
        <p:nvSpPr>
          <p:cNvPr id="4" name="Text 2"/>
          <p:cNvSpPr txBox="1"/>
          <p:nvPr/>
        </p:nvSpPr>
        <p:spPr>
          <a:xfrm>
            <a:off x="45720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Capas profundas</a:t>
            </a:r>
            <a:endParaRPr lang="en-US" sz="2000" dirty="0"/>
          </a:p>
        </p:txBody>
      </p:sp>
      <p:sp>
        <p:nvSpPr>
          <p:cNvPr id="5" name="Tarjeta Capas profundas"/>
          <p:cNvSpPr/>
          <p:nvPr/>
        </p:nvSpPr>
        <p:spPr>
          <a:xfrm>
            <a:off x="457200" y="1783080"/>
            <a:ext cx="4023360" cy="914400"/>
          </a:xfrm>
          <a:prstGeom prst="rect">
            <a:avLst/>
          </a:prstGeom>
          <a:solidFill>
            <a:srgbClr val="FFFFFF"/>
          </a:solidFill>
          <a:ln w="19050">
            <a:solidFill>
              <a:srgbClr val="1F4E79"/>
            </a:solidFill>
            <a:prstDash val="solid"/>
          </a:ln>
        </p:spPr>
      </p:sp>
      <p:sp>
        <p:nvSpPr>
          <p:cNvPr id="6" name="Text 4"/>
          <p:cNvSpPr txBox="1"/>
          <p:nvPr/>
        </p:nvSpPr>
        <p:spPr>
          <a:xfrm>
            <a:off x="59436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Dependen de las bajas frecuencias y se resuelven peor</a:t>
            </a:r>
            <a:endParaRPr lang="en-US" sz="1800" dirty="0"/>
          </a:p>
        </p:txBody>
      </p:sp>
      <p:sp>
        <p:nvSpPr>
          <p:cNvPr id="7" name="Cabecera Supuestos"/>
          <p:cNvSpPr/>
          <p:nvPr/>
        </p:nvSpPr>
        <p:spPr>
          <a:xfrm>
            <a:off x="4663440" y="1325880"/>
            <a:ext cx="4023360" cy="457200"/>
          </a:xfrm>
          <a:prstGeom prst="rect">
            <a:avLst/>
          </a:prstGeom>
          <a:solidFill>
            <a:srgbClr val="1F4E79"/>
          </a:solidFill>
          <a:ln w="12700">
            <a:solidFill>
              <a:srgbClr val="1F4E79"/>
            </a:solidFill>
            <a:prstDash val="solid"/>
          </a:ln>
        </p:spPr>
      </p:sp>
      <p:sp>
        <p:nvSpPr>
          <p:cNvPr id="8" name="Text 6"/>
          <p:cNvSpPr txBox="1"/>
          <p:nvPr/>
        </p:nvSpPr>
        <p:spPr>
          <a:xfrm>
            <a:off x="466344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Supuestos</a:t>
            </a:r>
            <a:endParaRPr lang="en-US" sz="2000" dirty="0"/>
          </a:p>
        </p:txBody>
      </p:sp>
      <p:sp>
        <p:nvSpPr>
          <p:cNvPr id="9" name="Tarjeta Supuestos"/>
          <p:cNvSpPr/>
          <p:nvPr/>
        </p:nvSpPr>
        <p:spPr>
          <a:xfrm>
            <a:off x="4663440" y="1783080"/>
            <a:ext cx="4023360" cy="914400"/>
          </a:xfrm>
          <a:prstGeom prst="rect">
            <a:avLst/>
          </a:prstGeom>
          <a:solidFill>
            <a:srgbClr val="FFFFFF"/>
          </a:solidFill>
          <a:ln w="19050">
            <a:solidFill>
              <a:srgbClr val="1F4E79"/>
            </a:solidFill>
            <a:prstDash val="solid"/>
          </a:ln>
        </p:spPr>
      </p:sp>
      <p:sp>
        <p:nvSpPr>
          <p:cNvPr id="10" name="Text 8"/>
          <p:cNvSpPr txBox="1"/>
          <p:nvPr/>
        </p:nvSpPr>
        <p:spPr>
          <a:xfrm>
            <a:off x="480060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Densidad ρ, número de capas y modelo inicial se suponen</a:t>
            </a:r>
            <a:endParaRPr lang="en-US" sz="1800" dirty="0"/>
          </a:p>
        </p:txBody>
      </p:sp>
      <p:sp>
        <p:nvSpPr>
          <p:cNvPr id="11" name="Cabecera No unicidad"/>
          <p:cNvSpPr/>
          <p:nvPr/>
        </p:nvSpPr>
        <p:spPr>
          <a:xfrm>
            <a:off x="457200" y="2880360"/>
            <a:ext cx="4023360" cy="457200"/>
          </a:xfrm>
          <a:prstGeom prst="rect">
            <a:avLst/>
          </a:prstGeom>
          <a:solidFill>
            <a:srgbClr val="1F4E79"/>
          </a:solidFill>
          <a:ln w="12700">
            <a:solidFill>
              <a:srgbClr val="1F4E79"/>
            </a:solidFill>
            <a:prstDash val="solid"/>
          </a:ln>
        </p:spPr>
      </p:sp>
      <p:sp>
        <p:nvSpPr>
          <p:cNvPr id="12" name="Text 10"/>
          <p:cNvSpPr txBox="1"/>
          <p:nvPr/>
        </p:nvSpPr>
        <p:spPr>
          <a:xfrm>
            <a:off x="45720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No unicidad</a:t>
            </a:r>
            <a:endParaRPr lang="en-US" sz="2000" dirty="0"/>
          </a:p>
        </p:txBody>
      </p:sp>
      <p:sp>
        <p:nvSpPr>
          <p:cNvPr id="13" name="Tarjeta No unicidad"/>
          <p:cNvSpPr/>
          <p:nvPr/>
        </p:nvSpPr>
        <p:spPr>
          <a:xfrm>
            <a:off x="457200" y="3337560"/>
            <a:ext cx="4023360" cy="914400"/>
          </a:xfrm>
          <a:prstGeom prst="rect">
            <a:avLst/>
          </a:prstGeom>
          <a:solidFill>
            <a:srgbClr val="FFFFFF"/>
          </a:solidFill>
          <a:ln w="19050">
            <a:solidFill>
              <a:srgbClr val="1F4E79"/>
            </a:solidFill>
            <a:prstDash val="solid"/>
          </a:ln>
        </p:spPr>
      </p:sp>
      <p:sp>
        <p:nvSpPr>
          <p:cNvPr id="14" name="Text 12"/>
          <p:cNvSpPr txBox="1"/>
          <p:nvPr/>
        </p:nvSpPr>
        <p:spPr>
          <a:xfrm>
            <a:off x="59436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Perfiles distintos pueden dar curvas casi iguales</a:t>
            </a:r>
            <a:endParaRPr lang="en-US" sz="1800" dirty="0"/>
          </a:p>
        </p:txBody>
      </p:sp>
      <p:sp>
        <p:nvSpPr>
          <p:cNvPr id="15" name="Cabecera Otras mediciones"/>
          <p:cNvSpPr/>
          <p:nvPr/>
        </p:nvSpPr>
        <p:spPr>
          <a:xfrm>
            <a:off x="4663440" y="2880360"/>
            <a:ext cx="4023360" cy="457200"/>
          </a:xfrm>
          <a:prstGeom prst="rect">
            <a:avLst/>
          </a:prstGeom>
          <a:solidFill>
            <a:srgbClr val="C55A11"/>
          </a:solidFill>
          <a:ln w="12700">
            <a:solidFill>
              <a:srgbClr val="C55A11"/>
            </a:solidFill>
            <a:prstDash val="solid"/>
          </a:ln>
        </p:spPr>
      </p:sp>
      <p:sp>
        <p:nvSpPr>
          <p:cNvPr id="16" name="Text 14"/>
          <p:cNvSpPr txBox="1"/>
          <p:nvPr/>
        </p:nvSpPr>
        <p:spPr>
          <a:xfrm>
            <a:off x="466344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Otras mediciones</a:t>
            </a:r>
            <a:endParaRPr lang="en-US" sz="2000" dirty="0"/>
          </a:p>
        </p:txBody>
      </p:sp>
      <p:sp>
        <p:nvSpPr>
          <p:cNvPr id="17" name="Tarjeta Otras mediciones"/>
          <p:cNvSpPr/>
          <p:nvPr/>
        </p:nvSpPr>
        <p:spPr>
          <a:xfrm>
            <a:off x="4663440" y="3337560"/>
            <a:ext cx="4023360" cy="914400"/>
          </a:xfrm>
          <a:prstGeom prst="rect">
            <a:avLst/>
          </a:prstGeom>
          <a:solidFill>
            <a:srgbClr val="FFFFFF"/>
          </a:solidFill>
          <a:ln w="19050">
            <a:solidFill>
              <a:srgbClr val="C55A11"/>
            </a:solidFill>
            <a:prstDash val="solid"/>
          </a:ln>
        </p:spPr>
      </p:sp>
      <p:sp>
        <p:nvSpPr>
          <p:cNvPr id="18" name="Text 16"/>
          <p:cNvSpPr txBox="1"/>
          <p:nvPr/>
        </p:nvSpPr>
        <p:spPr>
          <a:xfrm>
            <a:off x="480060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8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capítulo de inversión (a confirmar); Socco y Strobbia (2004); Xia et al. (1999), p. 694 (ρ supuesta conocida).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la diferencia de fase entre dos receptores da la velocidad de fase</a:t>
            </a:r>
            <a:endParaRPr lang="en-US" sz="2400" dirty="0"/>
          </a:p>
        </p:txBody>
      </p:sp>
      <p:pic>
        <p:nvPicPr>
          <p:cNvPr id="3" name="Figura SASW" descr="Arreglo SASW: fuente vertical y dos receptores separados una distancia d">    </p:cNvPr>
          <p:cNvPicPr>
            <a:picLocks noChangeAspect="1"/>
          </p:cNvPicPr>
          <p:nvPr/>
        </p:nvPicPr>
        <p:blipFill>
          <a:blip r:embed="rId1"/>
          <a:stretch>
            <a:fillRect/>
          </a:stretch>
        </p:blipFill>
        <p:spPr>
          <a:xfrm>
            <a:off x="457200" y="1234440"/>
            <a:ext cx="5120640" cy="2255151"/>
          </a:xfrm>
          <a:prstGeom prst="rect">
            <a:avLst/>
          </a:prstGeom>
        </p:spPr>
      </p:pic>
      <p:sp>
        <p:nvSpPr>
          <p:cNvPr id="4" name="Fondo SASW"/>
          <p:cNvSpPr/>
          <p:nvPr/>
        </p:nvSpPr>
        <p:spPr>
          <a:xfrm>
            <a:off x="457200" y="3657600"/>
            <a:ext cx="51206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(f)=</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2πf·d</m:t>
                          </m:r>
                        </m:num>
                        <m:den>
                          <m:r>
                            <a:rPr lang="es-ES" sz="24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cR(f) = 2π·f·d / Δφ(f)</a:t>
                </a:r>
                <a:endParaRPr lang="en-US" sz="2400" dirty="0"/>
              </a:p>
            </p:txBody>
          </p:sp>
        </mc:Fallback>
      </mc:AlternateContent>
      <p:sp>
        <p:nvSpPr>
          <p:cNvPr id="6"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Fuente vertical y dos receptores separados una distancia d</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De Δφ(f) sale la velocidad de fase cR(f)</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Resumen firmado, sec. 4;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es simple, pero deja ambigüedades y poca redundancia espacial</a:t>
            </a:r>
            <a:endParaRPr lang="en-US" sz="2400" dirty="0"/>
          </a:p>
        </p:txBody>
      </p:sp>
      <p:sp>
        <p:nvSpPr>
          <p:cNvPr id="3" name="Cabecera Ventaja"/>
          <p:cNvSpPr/>
          <p:nvPr/>
        </p:nvSpPr>
        <p:spPr>
          <a:xfrm>
            <a:off x="457200" y="132588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a:t>
            </a:r>
            <a:endParaRPr lang="en-US" sz="2000" dirty="0"/>
          </a:p>
        </p:txBody>
      </p:sp>
      <p:sp>
        <p:nvSpPr>
          <p:cNvPr id="5" name="Tarjeta Ventaja"/>
          <p:cNvSpPr/>
          <p:nvPr/>
        </p:nvSpPr>
        <p:spPr>
          <a:xfrm>
            <a:off x="457200" y="1828800"/>
            <a:ext cx="3931920" cy="2743200"/>
          </a:xfrm>
          <a:prstGeom prst="rect">
            <a:avLst/>
          </a:prstGeom>
          <a:solidFill>
            <a:srgbClr val="FFFFFF"/>
          </a:solidFill>
          <a:ln w="19050">
            <a:solidFill>
              <a:srgbClr val="1F4E79"/>
            </a:solidFill>
            <a:prstDash val="solid"/>
          </a:ln>
        </p:spPr>
      </p:sp>
      <p:sp>
        <p:nvSpPr>
          <p:cNvPr id="6" name="Text 4"/>
          <p:cNvSpPr txBox="1"/>
          <p:nvPr/>
        </p:nvSpPr>
        <p:spPr>
          <a:xfrm>
            <a:off x="594360" y="1874520"/>
            <a:ext cx="3657600" cy="26517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Instrumentación sencilla: solo dos receptores</a:t>
            </a:r>
            <a:endParaRPr lang="en-US" sz="1800" dirty="0"/>
          </a:p>
        </p:txBody>
      </p:sp>
      <p:sp>
        <p:nvSpPr>
          <p:cNvPr id="7" name="Cabecera Limitaciones"/>
          <p:cNvSpPr/>
          <p:nvPr/>
        </p:nvSpPr>
        <p:spPr>
          <a:xfrm>
            <a:off x="4754880" y="132588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828800"/>
            <a:ext cx="3931920" cy="2743200"/>
          </a:xfrm>
          <a:prstGeom prst="rect">
            <a:avLst/>
          </a:prstGeom>
          <a:solidFill>
            <a:srgbClr val="FFFFFF"/>
          </a:solidFill>
          <a:ln w="19050">
            <a:solidFill>
              <a:srgbClr val="C55A11"/>
            </a:solidFill>
            <a:prstDash val="solid"/>
          </a:ln>
        </p:spPr>
      </p:sp>
      <p:sp>
        <p:nvSpPr>
          <p:cNvPr id="10" name="Text 8"/>
          <p:cNvSpPr txBox="1"/>
          <p:nvPr/>
        </p:nvSpPr>
        <p:spPr>
          <a:xfrm>
            <a:off x="4892040" y="1874520"/>
            <a:ext cx="3657600" cy="2651760"/>
          </a:xfrm>
          <a:prstGeom prst="rect">
            <a:avLst/>
          </a:prstGeom>
          <a:noFill/>
          <a:ln/>
        </p:spPr>
        <p:txBody>
          <a:bodyPr wrap="square" lIns="0" tIns="0" rIns="0" bIns="0" rtlCol="0" anchor="ctr"/>
          <a:lstStyle/>
          <a:p>
            <a:pPr indent="0" marL="0">
              <a:buNone/>
            </a:pPr>
            <a:endParaRPr lang="en-US" sz="1800" dirty="0"/>
          </a:p>
        </p:txBody>
      </p:sp>
      <p:sp>
        <p:nvSpPr>
          <p:cNvPr id="11" name="Cuerpo limitaciones"/>
          <p:cNvSpPr txBox="1"/>
          <p:nvPr/>
        </p:nvSpPr>
        <p:spPr>
          <a:xfrm>
            <a:off x="4937760" y="1920240"/>
            <a:ext cx="356616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fase se conoce salvo ciclos enteros: Δφ + 2πN</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redundancia para separar contribuciones superpuestas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Se repite con distintas separaciones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MASW extiende el principio a múltiples posiciones a lo largo del terreno</a:t>
            </a:r>
            <a:endParaRPr lang="en-US" sz="2400" dirty="0"/>
          </a:p>
        </p:txBody>
      </p:sp>
      <p:pic>
        <p:nvPicPr>
          <p:cNvPr id="3" name="Figura MASW" descr="Arreglo MASW: fuente y una línea de geófonos con espaciamiento dx">    </p:cNvPr>
          <p:cNvPicPr>
            <a:picLocks noChangeAspect="1"/>
          </p:cNvPicPr>
          <p:nvPr/>
        </p:nvPicPr>
        <p:blipFill>
          <a:blip r:embed="rId1"/>
          <a:stretch>
            <a:fillRect/>
          </a:stretch>
        </p:blipFill>
        <p:spPr>
          <a:xfrm>
            <a:off x="457200" y="1234440"/>
            <a:ext cx="5120640" cy="2399996"/>
          </a:xfrm>
          <a:prstGeom prst="rect">
            <a:avLst/>
          </a:prstGeom>
        </p:spPr>
      </p:pic>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Un transductor y un canal por posición</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La redundancia espacial permite reconocer patrones coherentes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distinguen contribuciones superpuestas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Park et al. (1998, 1999); Foti et al. (2018).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registro MASW es una matriz espacio–tiempo: una traza por posición</a:t>
            </a:r>
            <a:endParaRPr lang="en-US" sz="2400" dirty="0"/>
          </a:p>
        </p:txBody>
      </p:sp>
      <p:pic>
        <p:nvPicPr>
          <p:cNvPr id="3" name="Registro espacio-tiempo" descr="Registro sintético: trazas por posición, con el tiempo de llegada creciendo con la distancia">    </p:cNvPr>
          <p:cNvPicPr>
            <a:picLocks noChangeAspect="1"/>
          </p:cNvPicPr>
          <p:nvPr/>
        </p:nvPicPr>
        <p:blipFill>
          <a:blip r:embed="rId1"/>
          <a:stretch>
            <a:fillRect/>
          </a:stretch>
        </p:blipFill>
        <p:spPr>
          <a:xfrm>
            <a:off x="457200" y="1280160"/>
            <a:ext cx="4937760" cy="3108960"/>
          </a:xfrm>
          <a:prstGeom prst="rect">
            <a:avLst/>
          </a:prstGeom>
        </p:spPr>
      </p:pic>
      <p:sp>
        <p:nvSpPr>
          <p:cNvPr id="4" name="Fondo U"/>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z</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U[m, n] = uz(xm, tn)</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fila es la traza de una posición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conjunto es un registro espacio–tiempo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Registro sintético propio (ilustrativo), con la curva de la slide 41. Resumen firmado, ec. (6).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dimensión espacial puede sintetizarse con adquisiciones sucesivas</a:t>
            </a:r>
            <a:endParaRPr lang="en-US" sz="2400" dirty="0"/>
          </a:p>
        </p:txBody>
      </p:sp>
      <p:pic>
        <p:nvPicPr>
          <p:cNvPr id="3" name="Figura dimensión sintetizada" descr="Arreglo convencional con un receptor por posición y arreglo sintetizado con un receptor fijo y la fuente en posiciones sucesivas">    </p:cNvPr>
          <p:cNvPicPr>
            <a:picLocks noChangeAspect="1"/>
          </p:cNvPicPr>
          <p:nvPr/>
        </p:nvPicPr>
        <p:blipFill>
          <a:blip r:embed="rId1"/>
          <a:stretch>
            <a:fillRect/>
          </a:stretch>
        </p:blipFill>
        <p:spPr>
          <a:xfrm>
            <a:off x="457200" y="1280160"/>
            <a:ext cx="5486400" cy="2914650"/>
          </a:xfrm>
          <a:prstGeom prst="rect">
            <a:avLst/>
          </a:prstGeom>
        </p:spPr>
      </p:pic>
      <p:sp>
        <p:nvSpPr>
          <p:cNvPr id="4" name="Cuerpo"/>
          <p:cNvSpPr txBox="1"/>
          <p:nvPr/>
        </p:nvSpPr>
        <p:spPr>
          <a:xfrm>
            <a:off x="6126480" y="1371600"/>
            <a:ext cx="2560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Reduce el costo instrumental: menos canales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 la configuración recíproca de mover el receptor</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Lin y Ashlock (2016), según el resumen firmado (a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medición MASW fija tres requerimientos de adquisición</a:t>
            </a:r>
            <a:endParaRPr lang="en-US" sz="2400" dirty="0"/>
          </a:p>
        </p:txBody>
      </p:sp>
      <p:sp>
        <p:nvSpPr>
          <p:cNvPr id="3" name="Cabecera Tiempo y posición"/>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Tiempo y posición</a:t>
            </a:r>
            <a:endParaRPr lang="en-US" sz="1800" dirty="0"/>
          </a:p>
        </p:txBody>
      </p:sp>
      <p:sp>
        <p:nvSpPr>
          <p:cNvPr id="5" name="Tarjeta Tiempo y posición"/>
          <p:cNvSpPr/>
          <p:nvPr/>
        </p:nvSpPr>
        <p:spPr>
          <a:xfrm>
            <a:off x="457200" y="1874520"/>
            <a:ext cx="2651760" cy="1737360"/>
          </a:xfrm>
          <a:prstGeom prst="rect">
            <a:avLst/>
          </a:prstGeom>
          <a:solidFill>
            <a:srgbClr val="FFFFFF"/>
          </a:solidFill>
          <a:ln w="19050">
            <a:solidFill>
              <a:srgbClr val="1F4E79"/>
            </a:solidFill>
            <a:prstDash val="solid"/>
          </a:ln>
        </p:spPr>
      </p:sp>
      <p:sp>
        <p:nvSpPr>
          <p:cNvPr id="6" name="Text 4"/>
          <p:cNvSpPr txBox="1"/>
          <p:nvPr/>
        </p:nvSpPr>
        <p:spPr>
          <a:xfrm>
            <a:off x="59436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Conservar la información temporal y espacial de cada traza</a:t>
            </a:r>
            <a:endParaRPr lang="en-US" sz="1700" dirty="0"/>
          </a:p>
        </p:txBody>
      </p:sp>
      <p:sp>
        <p:nvSpPr>
          <p:cNvPr id="7" name="Cabecera Referencia temporal"/>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4612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Referencia temporal</a:t>
            </a:r>
            <a:endParaRPr lang="en-US" sz="1800" dirty="0"/>
          </a:p>
        </p:txBody>
      </p:sp>
      <p:sp>
        <p:nvSpPr>
          <p:cNvPr id="9" name="Tarjeta Referencia temporal"/>
          <p:cNvSpPr/>
          <p:nvPr/>
        </p:nvSpPr>
        <p:spPr>
          <a:xfrm>
            <a:off x="3246120" y="1874520"/>
            <a:ext cx="2651760" cy="1737360"/>
          </a:xfrm>
          <a:prstGeom prst="rect">
            <a:avLst/>
          </a:prstGeom>
          <a:solidFill>
            <a:srgbClr val="FFFFFF"/>
          </a:solidFill>
          <a:ln w="19050">
            <a:solidFill>
              <a:srgbClr val="1F4E79"/>
            </a:solidFill>
            <a:prstDash val="solid"/>
          </a:ln>
        </p:spPr>
      </p:sp>
      <p:sp>
        <p:nvSpPr>
          <p:cNvPr id="10" name="Text 8"/>
          <p:cNvSpPr txBox="1"/>
          <p:nvPr/>
        </p:nvSpPr>
        <p:spPr>
          <a:xfrm>
            <a:off x="338328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Mantener una referencia temporal entre registros</a:t>
            </a:r>
            <a:endParaRPr lang="en-US" sz="1700" dirty="0"/>
          </a:p>
        </p:txBody>
      </p:sp>
      <p:sp>
        <p:nvSpPr>
          <p:cNvPr id="11" name="Cabecera Forma de onda"/>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3504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Forma de onda</a:t>
            </a:r>
            <a:endParaRPr lang="en-US" sz="1800" dirty="0"/>
          </a:p>
        </p:txBody>
      </p:sp>
      <p:sp>
        <p:nvSpPr>
          <p:cNvPr id="13" name="Tarjeta Forma de onda"/>
          <p:cNvSpPr/>
          <p:nvPr/>
        </p:nvSpPr>
        <p:spPr>
          <a:xfrm>
            <a:off x="6035040" y="1874520"/>
            <a:ext cx="2651760" cy="1737360"/>
          </a:xfrm>
          <a:prstGeom prst="rect">
            <a:avLst/>
          </a:prstGeom>
          <a:solidFill>
            <a:srgbClr val="FFFFFF"/>
          </a:solidFill>
          <a:ln w="19050">
            <a:solidFill>
              <a:srgbClr val="1F4E79"/>
            </a:solidFill>
            <a:prstDash val="solid"/>
          </a:ln>
        </p:spPr>
      </p:sp>
      <p:sp>
        <p:nvSpPr>
          <p:cNvPr id="14" name="Text 12"/>
          <p:cNvSpPr txBox="1"/>
          <p:nvPr/>
        </p:nvSpPr>
        <p:spPr>
          <a:xfrm>
            <a:off x="617220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Preservar la forma de la onda</a:t>
            </a:r>
            <a:endParaRPr lang="en-US" sz="1700" dirty="0"/>
          </a:p>
        </p:txBody>
      </p:sp>
      <p:sp>
        <p:nvSpPr>
          <p:cNvPr id="15" name="Mensaje"/>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8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Esos requerimientos se traducen en cinco condiciones de diseño del sistema</a:t>
            </a:r>
            <a:endParaRPr lang="en-US" sz="2400" dirty="0"/>
          </a:p>
        </p:txBody>
      </p:sp>
      <p:sp>
        <p:nvSpPr>
          <p:cNvPr id="3" name="Cabecera Banda y fase"/>
          <p:cNvSpPr/>
          <p:nvPr/>
        </p:nvSpPr>
        <p:spPr>
          <a:xfrm>
            <a:off x="457200" y="1234440"/>
            <a:ext cx="2651760" cy="502920"/>
          </a:xfrm>
          <a:prstGeom prst="rect">
            <a:avLst/>
          </a:prstGeom>
          <a:solidFill>
            <a:srgbClr val="1F4E79"/>
          </a:solidFill>
          <a:ln w="12700">
            <a:solidFill>
              <a:srgbClr val="1F4E79"/>
            </a:solidFill>
            <a:prstDash val="solid"/>
          </a:ln>
        </p:spPr>
      </p:sp>
      <p:sp>
        <p:nvSpPr>
          <p:cNvPr id="4" name="Text 2"/>
          <p:cNvSpPr txBox="1"/>
          <p:nvPr/>
        </p:nvSpPr>
        <p:spPr>
          <a:xfrm>
            <a:off x="45720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Banda y fase</a:t>
            </a:r>
            <a:endParaRPr lang="en-US" sz="1600" dirty="0"/>
          </a:p>
        </p:txBody>
      </p:sp>
      <p:sp>
        <p:nvSpPr>
          <p:cNvPr id="5" name="Tarjeta Banda y fase"/>
          <p:cNvSpPr/>
          <p:nvPr/>
        </p:nvSpPr>
        <p:spPr>
          <a:xfrm>
            <a:off x="457200" y="1737360"/>
            <a:ext cx="2651760" cy="1280160"/>
          </a:xfrm>
          <a:prstGeom prst="rect">
            <a:avLst/>
          </a:prstGeom>
          <a:solidFill>
            <a:srgbClr val="FFFFFF"/>
          </a:solidFill>
          <a:ln w="19050">
            <a:solidFill>
              <a:srgbClr val="1F4E79"/>
            </a:solidFill>
            <a:prstDash val="solid"/>
          </a:ln>
        </p:spPr>
      </p:sp>
      <p:sp>
        <p:nvSpPr>
          <p:cNvPr id="6" name="Text 4"/>
          <p:cNvSpPr txBox="1"/>
          <p:nvPr/>
        </p:nvSpPr>
        <p:spPr>
          <a:xfrm>
            <a:off x="59436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600" dirty="0"/>
          </a:p>
        </p:txBody>
      </p:sp>
      <p:sp>
        <p:nvSpPr>
          <p:cNvPr id="7" name="Cabecera Margen dinámico"/>
          <p:cNvSpPr/>
          <p:nvPr/>
        </p:nvSpPr>
        <p:spPr>
          <a:xfrm>
            <a:off x="3246120" y="1234440"/>
            <a:ext cx="2651760" cy="502920"/>
          </a:xfrm>
          <a:prstGeom prst="rect">
            <a:avLst/>
          </a:prstGeom>
          <a:solidFill>
            <a:srgbClr val="1F4E79"/>
          </a:solidFill>
          <a:ln w="12700">
            <a:solidFill>
              <a:srgbClr val="1F4E79"/>
            </a:solidFill>
            <a:prstDash val="solid"/>
          </a:ln>
        </p:spPr>
      </p:sp>
      <p:sp>
        <p:nvSpPr>
          <p:cNvPr id="8" name="Text 6"/>
          <p:cNvSpPr txBox="1"/>
          <p:nvPr/>
        </p:nvSpPr>
        <p:spPr>
          <a:xfrm>
            <a:off x="324612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Margen dinámico</a:t>
            </a:r>
            <a:endParaRPr lang="en-US" sz="1600" dirty="0"/>
          </a:p>
        </p:txBody>
      </p:sp>
      <p:sp>
        <p:nvSpPr>
          <p:cNvPr id="9" name="Tarjeta Margen dinámico"/>
          <p:cNvSpPr/>
          <p:nvPr/>
        </p:nvSpPr>
        <p:spPr>
          <a:xfrm>
            <a:off x="3246120" y="1737360"/>
            <a:ext cx="2651760" cy="1280160"/>
          </a:xfrm>
          <a:prstGeom prst="rect">
            <a:avLst/>
          </a:prstGeom>
          <a:solidFill>
            <a:srgbClr val="FFFFFF"/>
          </a:solidFill>
          <a:ln w="19050">
            <a:solidFill>
              <a:srgbClr val="1F4E79"/>
            </a:solidFill>
            <a:prstDash val="solid"/>
          </a:ln>
        </p:spPr>
      </p:sp>
      <p:sp>
        <p:nvSpPr>
          <p:cNvPr id="10" name="Text 8"/>
          <p:cNvSpPr txBox="1"/>
          <p:nvPr/>
        </p:nvSpPr>
        <p:spPr>
          <a:xfrm>
            <a:off x="338328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600" dirty="0"/>
          </a:p>
        </p:txBody>
      </p:sp>
      <p:sp>
        <p:nvSpPr>
          <p:cNvPr id="11" name="Cabecera Sincronización temporal"/>
          <p:cNvSpPr/>
          <p:nvPr/>
        </p:nvSpPr>
        <p:spPr>
          <a:xfrm>
            <a:off x="6035040" y="1234440"/>
            <a:ext cx="2651760" cy="502920"/>
          </a:xfrm>
          <a:prstGeom prst="rect">
            <a:avLst/>
          </a:prstGeom>
          <a:solidFill>
            <a:srgbClr val="1F4E79"/>
          </a:solidFill>
          <a:ln w="12700">
            <a:solidFill>
              <a:srgbClr val="1F4E79"/>
            </a:solidFill>
            <a:prstDash val="solid"/>
          </a:ln>
        </p:spPr>
      </p:sp>
      <p:sp>
        <p:nvSpPr>
          <p:cNvPr id="12" name="Text 10"/>
          <p:cNvSpPr txBox="1"/>
          <p:nvPr/>
        </p:nvSpPr>
        <p:spPr>
          <a:xfrm>
            <a:off x="603504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Sincronización temporal</a:t>
            </a:r>
            <a:endParaRPr lang="en-US" sz="1600" dirty="0"/>
          </a:p>
        </p:txBody>
      </p:sp>
      <p:sp>
        <p:nvSpPr>
          <p:cNvPr id="13" name="Tarjeta Sincronización temporal"/>
          <p:cNvSpPr/>
          <p:nvPr/>
        </p:nvSpPr>
        <p:spPr>
          <a:xfrm>
            <a:off x="6035040" y="1737360"/>
            <a:ext cx="2651760" cy="1280160"/>
          </a:xfrm>
          <a:prstGeom prst="rect">
            <a:avLst/>
          </a:prstGeom>
          <a:solidFill>
            <a:srgbClr val="FFFFFF"/>
          </a:solidFill>
          <a:ln w="19050">
            <a:solidFill>
              <a:srgbClr val="1F4E79"/>
            </a:solidFill>
            <a:prstDash val="solid"/>
          </a:ln>
        </p:spPr>
      </p:sp>
      <p:sp>
        <p:nvSpPr>
          <p:cNvPr id="14" name="Text 12"/>
          <p:cNvSpPr txBox="1"/>
          <p:nvPr/>
        </p:nvSpPr>
        <p:spPr>
          <a:xfrm>
            <a:off x="617220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Referencia de tiempo común entre nodos y con la excitación</a:t>
            </a:r>
            <a:endParaRPr lang="en-US" sz="1600" dirty="0"/>
          </a:p>
        </p:txBody>
      </p:sp>
      <p:sp>
        <p:nvSpPr>
          <p:cNvPr id="15" name="Cabecera Geometría"/>
          <p:cNvSpPr/>
          <p:nvPr/>
        </p:nvSpPr>
        <p:spPr>
          <a:xfrm>
            <a:off x="457200" y="3200400"/>
            <a:ext cx="4023360" cy="457200"/>
          </a:xfrm>
          <a:prstGeom prst="rect">
            <a:avLst/>
          </a:prstGeom>
          <a:solidFill>
            <a:srgbClr val="1F4E79"/>
          </a:solidFill>
          <a:ln w="12700">
            <a:solidFill>
              <a:srgbClr val="1F4E79"/>
            </a:solidFill>
            <a:prstDash val="solid"/>
          </a:ln>
        </p:spPr>
      </p:sp>
      <p:sp>
        <p:nvSpPr>
          <p:cNvPr id="16" name="Text 14"/>
          <p:cNvSpPr txBox="1"/>
          <p:nvPr/>
        </p:nvSpPr>
        <p:spPr>
          <a:xfrm>
            <a:off x="45720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Geometría</a:t>
            </a:r>
            <a:endParaRPr lang="en-US" sz="2000" dirty="0"/>
          </a:p>
        </p:txBody>
      </p:sp>
      <p:sp>
        <p:nvSpPr>
          <p:cNvPr id="17" name="Tarjeta Geometría"/>
          <p:cNvSpPr/>
          <p:nvPr/>
        </p:nvSpPr>
        <p:spPr>
          <a:xfrm>
            <a:off x="457200" y="3657600"/>
            <a:ext cx="4023360" cy="868680"/>
          </a:xfrm>
          <a:prstGeom prst="rect">
            <a:avLst/>
          </a:prstGeom>
          <a:solidFill>
            <a:srgbClr val="FFFFFF"/>
          </a:solidFill>
          <a:ln w="19050">
            <a:solidFill>
              <a:srgbClr val="1F4E79"/>
            </a:solidFill>
            <a:prstDash val="solid"/>
          </a:ln>
        </p:spPr>
      </p:sp>
      <p:sp>
        <p:nvSpPr>
          <p:cNvPr id="18" name="Text 16"/>
          <p:cNvSpPr txBox="1"/>
          <p:nvPr/>
        </p:nvSpPr>
        <p:spPr>
          <a:xfrm>
            <a:off x="59436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Posición conocida de cada traza respecto de la fuente</a:t>
            </a:r>
            <a:endParaRPr lang="en-US" sz="1800" dirty="0"/>
          </a:p>
        </p:txBody>
      </p:sp>
      <p:sp>
        <p:nvSpPr>
          <p:cNvPr id="19" name="Cabecera Operación en campo"/>
          <p:cNvSpPr/>
          <p:nvPr/>
        </p:nvSpPr>
        <p:spPr>
          <a:xfrm>
            <a:off x="4663440" y="3200400"/>
            <a:ext cx="4023360" cy="457200"/>
          </a:xfrm>
          <a:prstGeom prst="rect">
            <a:avLst/>
          </a:prstGeom>
          <a:solidFill>
            <a:srgbClr val="1F4E79"/>
          </a:solidFill>
          <a:ln w="12700">
            <a:solidFill>
              <a:srgbClr val="1F4E79"/>
            </a:solidFill>
            <a:prstDash val="solid"/>
          </a:ln>
        </p:spPr>
      </p:sp>
      <p:sp>
        <p:nvSpPr>
          <p:cNvPr id="20" name="Text 18"/>
          <p:cNvSpPr txBox="1"/>
          <p:nvPr/>
        </p:nvSpPr>
        <p:spPr>
          <a:xfrm>
            <a:off x="466344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Operación en campo</a:t>
            </a:r>
            <a:endParaRPr lang="en-US" sz="2000" dirty="0"/>
          </a:p>
        </p:txBody>
      </p:sp>
      <p:sp>
        <p:nvSpPr>
          <p:cNvPr id="21" name="Tarjeta Operación en campo"/>
          <p:cNvSpPr/>
          <p:nvPr/>
        </p:nvSpPr>
        <p:spPr>
          <a:xfrm>
            <a:off x="4663440" y="3657600"/>
            <a:ext cx="4023360" cy="868680"/>
          </a:xfrm>
          <a:prstGeom prst="rect">
            <a:avLst/>
          </a:prstGeom>
          <a:solidFill>
            <a:srgbClr val="FFFFFF"/>
          </a:solidFill>
          <a:ln w="19050">
            <a:solidFill>
              <a:srgbClr val="1F4E79"/>
            </a:solidFill>
            <a:prstDash val="solid"/>
          </a:ln>
        </p:spPr>
      </p:sp>
      <p:sp>
        <p:nvSpPr>
          <p:cNvPr id="22" name="Text 20"/>
          <p:cNvSpPr txBox="1"/>
          <p:nvPr/>
        </p:nvSpPr>
        <p:spPr>
          <a:xfrm>
            <a:off x="480060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8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plataforma consta de un maestro y de nodos independientes que se comunican por ESP-NOW</a:t>
            </a:r>
            <a:endParaRPr lang="en-US" sz="2400" dirty="0"/>
          </a:p>
        </p:txBody>
      </p:sp>
      <p:pic>
        <p:nvPicPr>
          <p:cNvPr id="3" name="Arquitectura" descr="Arquitectura del sistema: navegador, maestro ESP32, nodos GEO y nodo HAMMER, cada uno con ESP32 y PSoC 5LP">    </p:cNvPr>
          <p:cNvPicPr>
            <a:picLocks noChangeAspect="1"/>
          </p:cNvPicPr>
          <p:nvPr/>
        </p:nvPicPr>
        <p:blipFill>
          <a:blip r:embed="rId1"/>
          <a:stretch>
            <a:fillRect/>
          </a:stretch>
        </p:blipFill>
        <p:spPr>
          <a:xfrm>
            <a:off x="548640" y="1234440"/>
            <a:ext cx="8046720" cy="2951220"/>
          </a:xfrm>
          <a:prstGeom prst="rect">
            <a:avLst/>
          </a:prstGeom>
        </p:spPr>
      </p:pic>
      <p:sp>
        <p:nvSpPr>
          <p:cNvPr id="4" name="Text 1"/>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50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fig. 11 del resumen firmado (sec. 4.7).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SM-24 es un geófono vertical pasivo de bobina móvil, y su amortiguamiento depende de la carga</a:t>
            </a:r>
            <a:endParaRPr lang="en-US" sz="2400" dirty="0"/>
          </a:p>
        </p:txBody>
      </p:sp>
      <p:pic>
        <p:nvPicPr>
          <p:cNvPr id="3" name="Foto SM-24" descr="Foto del geófono SM-24 con carcasa amarilla y punta">    </p:cNvPr>
          <p:cNvPicPr>
            <a:picLocks noChangeAspect="1"/>
          </p:cNvPicPr>
          <p:nvPr/>
        </p:nvPicPr>
        <p:blipFill>
          <a:blip r:embed="rId1"/>
          <a:stretch>
            <a:fillRect/>
          </a:stretch>
        </p:blipFill>
        <p:spPr>
          <a:xfrm>
            <a:off x="457200" y="1280160"/>
            <a:ext cx="1691640" cy="1691640"/>
          </a:xfrm>
          <a:prstGeom prst="rect">
            <a:avLst/>
          </a:prstGeom>
        </p:spPr>
      </p:pic>
      <p:pic>
        <p:nvPicPr>
          <p:cNvPr id="4" name="Corte geófono" descr="Corte interno de un geófono de bobina móvil: carcasa, resortes, imán y bobinas">    </p:cNvPr>
          <p:cNvPicPr>
            <a:picLocks noChangeAspect="1"/>
          </p:cNvPicPr>
          <p:nvPr/>
        </p:nvPicPr>
        <p:blipFill>
          <a:blip r:embed="rId2"/>
          <a:stretch>
            <a:fillRect/>
          </a:stretch>
        </p:blipFill>
        <p:spPr>
          <a:xfrm>
            <a:off x="2240280" y="1280160"/>
            <a:ext cx="2240280" cy="1692242"/>
          </a:xfrm>
          <a:prstGeom prst="rect">
            <a:avLst/>
          </a:prstGeom>
        </p:spPr>
      </p:pic>
      <p:sp>
        <p:nvSpPr>
          <p:cNvPr id="5" name="Cuerpo"/>
          <p:cNvSpPr txBox="1"/>
          <p:nvPr/>
        </p:nvSpPr>
        <p:spPr>
          <a:xfrm>
            <a:off x="4754880" y="1280160"/>
            <a:ext cx="39319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Mide el movimiento vertical del suelo</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Frecuencia natural: 10 Hz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Sensibilidad: 28,8 V·s/m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En circuito abierto: ζ ≈ 0,25; con 1339 Ω de carga: ζ = 0,60</a:t>
            </a:r>
            <a:endParaRPr lang="en-US" sz="1400" dirty="0"/>
          </a:p>
        </p:txBody>
      </p:sp>
      <p:sp>
        <p:nvSpPr>
          <p:cNvPr id="6" name="Fondo E_zeta"/>
          <p:cNvSpPr/>
          <p:nvPr/>
        </p:nvSpPr>
        <p:spPr>
          <a:xfrm>
            <a:off x="457200" y="324612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c</m:t>
                          </m:r>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den>
                      </m:f>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c/(2mωn) + G0²/(2mωn(Ri + RL))</a:t>
                </a:r>
                <a:endParaRPr lang="en-US" sz="2400" dirty="0"/>
              </a:p>
            </p:txBody>
          </p:sp>
        </mc:Fallback>
      </mc:AlternateContent>
      <p:sp>
        <p:nvSpPr>
          <p:cNvPr id="8" name="Text 4"/>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ζ: factor de amortiguamiento. Ri: resistencia de la bobina (375 Ω). RL: carga del frente analógico, que también amortigua al sensor.</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Sensor Nederland B.V. (2006), hoja de datos SM-24; resumen firmado, sec. 4.2, ec. (8). Corte: Breslin (2020), crédito DESY, original sin verificar.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masa suspendida se mueve respecto de la carcasa, y ese movimiento relativo genera la tensión</a:t>
            </a:r>
            <a:endParaRPr lang="en-US" sz="2400" dirty="0"/>
          </a:p>
        </p:txBody>
      </p:sp>
      <p:sp>
        <p:nvSpPr>
          <p:cNvPr id="3" name="Fondo E_urel"/>
          <p:cNvSpPr/>
          <p:nvPr/>
        </p:nvSpPr>
        <p:spPr>
          <a:xfrm>
            <a:off x="457200" y="1325880"/>
            <a:ext cx="274320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xm − xg</a:t>
                </a:r>
                <a:endParaRPr lang="en-US" sz="2400" dirty="0"/>
              </a:p>
            </p:txBody>
          </p:sp>
        </mc:Fallback>
      </mc:AlternateContent>
      <p:sp>
        <p:nvSpPr>
          <p:cNvPr id="5" name="Fondo E_mech"/>
          <p:cNvSpPr/>
          <p:nvPr/>
        </p:nvSpPr>
        <p:spPr>
          <a:xfrm>
            <a:off x="3383280" y="1325880"/>
            <a:ext cx="53035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m</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+c</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+ku=−m</m:t>
                      </m:r>
                      <m:sSub>
                        <m:sSubPr>
                          <m:ctrlPr>
                            <a:rPr lang="es-ES" sz="2400" i="1">
                              <a:latin typeface="Cambria Math" panose="02040503050406030204" pitchFamily="18" charset="0"/>
                            </a:rPr>
                          </m:ctrlPr>
                        </m:sSubPr>
                        <m:e>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x</m:t>
                              </m:r>
                            </m:e>
                          </m:acc>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m ü + c u̇ + k u = −m ẍg</a:t>
                </a:r>
                <a:endParaRPr lang="en-US" sz="2400" dirty="0"/>
              </a:p>
            </p:txBody>
          </p:sp>
        </mc:Fallback>
      </mc:AlternateContent>
      <p:sp>
        <p:nvSpPr>
          <p:cNvPr id="7" name="Cuerpo"/>
          <p:cNvSpPr txBox="1"/>
          <p:nvPr/>
        </p:nvSpPr>
        <p:spPr>
          <a:xfrm>
            <a:off x="457200" y="2286000"/>
            <a:ext cx="822960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600" dirty="0"/>
          </a:p>
        </p:txBody>
      </p:sp>
      <p:sp>
        <p:nvSpPr>
          <p:cNvPr id="8" name="Fondo E_vo"/>
          <p:cNvSpPr/>
          <p:nvPr/>
        </p:nvSpPr>
        <p:spPr>
          <a:xfrm>
            <a:off x="2743200" y="3749040"/>
            <a:ext cx="365760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m:rPr>
                              <m:sty m:val="p"/>
                            </m:rPr>
                            <a:rPr lang="es-ES" sz="2400">
                              <a:solidFill>
                                <a:srgbClr val="1F4E79"/>
                              </a:solidFill>
                              <a:latin typeface="Cambria Math" panose="02040503050406030204" pitchFamily="18" charset="0"/>
                            </a:rPr>
                            <m:t xml:space="preserve">o</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oMath>
                  </m:oMathPara>
                </a14:m>
                <a:endParaRPr lang="es-ES"/>
              </a:p>
            </p:txBody>
          </p:sp>
        </mc:Choice>
        <mc:Fallback>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Vo = G0 u̇</a:t>
                </a:r>
                <a:endParaRPr lang="en-US" sz="2400" dirty="0"/>
              </a:p>
            </p:txBody>
          </p:sp>
        </mc:Fallback>
      </mc:AlternateContent>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ec. (7)–(9).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Por debajo de su frecuencia natural, la tensión del SM-24 cae rápido: a 1 Hz, unos 40 dB</a:t>
            </a:r>
            <a:endParaRPr lang="en-US" sz="2400" dirty="0"/>
          </a:p>
        </p:txBody>
      </p:sp>
      <p:pic>
        <p:nvPicPr>
          <p:cNvPr id="3" name="Respuesta SM-24" descr="Respuesta nominal del SM-24 referida a velocidad y a aceleración del terreno, con frecuencia natural de 10 Hz">    </p:cNvPr>
          <p:cNvPicPr>
            <a:picLocks noChangeAspect="1"/>
          </p:cNvPicPr>
          <p:nvPr/>
        </p:nvPicPr>
        <p:blipFill>
          <a:blip r:embed="rId1"/>
          <a:stretch>
            <a:fillRect/>
          </a:stretch>
        </p:blipFill>
        <p:spPr>
          <a:xfrm>
            <a:off x="1188720" y="1188720"/>
            <a:ext cx="6766560" cy="2470158"/>
          </a:xfrm>
          <a:prstGeom prst="rect">
            <a:avLst/>
          </a:prstGeom>
        </p:spPr>
      </p:pic>
      <p:sp>
        <p:nvSpPr>
          <p:cNvPr id="4" name="Fondo E_ha"/>
          <p:cNvSpPr/>
          <p:nvPr/>
        </p:nvSpPr>
        <p:spPr>
          <a:xfrm>
            <a:off x="2011680" y="3749040"/>
            <a:ext cx="51206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a:rPr lang="es-ES" sz="2400" i="1">
                              <a:solidFill>
                                <a:srgbClr val="1F4E79"/>
                              </a:solidFill>
                              <a:latin typeface="Cambria Math" panose="02040503050406030204" pitchFamily="18" charset="0"/>
                            </a:rPr>
                            <m:t xml:space="preserve">a</m:t>
                          </m:r>
                        </m:sub>
                      </m:sSub>
                      <m:r>
                        <a:rPr lang="es-ES" sz="2400" i="1">
                          <a:solidFill>
                            <a:srgbClr val="1F4E79"/>
                          </a:solidFill>
                          <a:latin typeface="Cambria Math" panose="02040503050406030204" pitchFamily="18" charset="0"/>
                        </a:rPr>
                        <m:t xml:space="preserve">(s)=−</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s</m:t>
                          </m:r>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Ha(s) = −G0·s / (s² + 2ζωn·s + ωn²)</a:t>
                </a:r>
                <a:endParaRPr lang="en-US" sz="2400" dirty="0"/>
              </a:p>
            </p:txBody>
          </p:sp>
        </mc:Fallback>
      </mc:AlternateContent>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propio a partir de Sensor Nederland B.V. (2006), circuito abierto; resumen firmado, fig. 4 y ec. (9).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pérdida cae justo en las bajas frecuencias, que son las que llegan más profundo</a:t>
            </a:r>
            <a:endParaRPr lang="en-US" sz="2400" dirty="0"/>
          </a:p>
        </p:txBody>
      </p:sp>
      <p:sp>
        <p:nvSpPr>
          <p:cNvPr id="3" name="Cabecera Geófono de 4,5 Hz"/>
          <p:cNvSpPr/>
          <p:nvPr/>
        </p:nvSpPr>
        <p:spPr>
          <a:xfrm>
            <a:off x="457200" y="1325880"/>
            <a:ext cx="2011680" cy="502920"/>
          </a:xfrm>
          <a:prstGeom prst="rect">
            <a:avLst/>
          </a:prstGeom>
          <a:solidFill>
            <a:srgbClr val="6B6B6B"/>
          </a:solidFill>
          <a:ln w="12700">
            <a:solidFill>
              <a:srgbClr val="6B6B6B"/>
            </a:solidFill>
            <a:prstDash val="solid"/>
          </a:ln>
        </p:spPr>
      </p:sp>
      <p:sp>
        <p:nvSpPr>
          <p:cNvPr id="4" name="Text 2"/>
          <p:cNvSpPr txBox="1"/>
          <p:nvPr/>
        </p:nvSpPr>
        <p:spPr>
          <a:xfrm>
            <a:off x="45720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Geófono de 4,5 Hz</a:t>
            </a:r>
            <a:endParaRPr lang="en-US" sz="1600" dirty="0"/>
          </a:p>
        </p:txBody>
      </p:sp>
      <p:sp>
        <p:nvSpPr>
          <p:cNvPr id="5" name="Tarjeta Geófono de 4,5 Hz"/>
          <p:cNvSpPr/>
          <p:nvPr/>
        </p:nvSpPr>
        <p:spPr>
          <a:xfrm>
            <a:off x="457200" y="1828800"/>
            <a:ext cx="2011680" cy="1097280"/>
          </a:xfrm>
          <a:prstGeom prst="rect">
            <a:avLst/>
          </a:prstGeom>
          <a:solidFill>
            <a:srgbClr val="FFFFFF"/>
          </a:solidFill>
          <a:ln w="19050">
            <a:solidFill>
              <a:srgbClr val="6B6B6B"/>
            </a:solidFill>
            <a:prstDash val="solid"/>
          </a:ln>
        </p:spPr>
      </p:sp>
      <p:sp>
        <p:nvSpPr>
          <p:cNvPr id="6" name="Text 4"/>
          <p:cNvSpPr txBox="1"/>
          <p:nvPr/>
        </p:nvSpPr>
        <p:spPr>
          <a:xfrm>
            <a:off x="54864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92 a 154 USD por canal</a:t>
            </a:r>
            <a:endParaRPr lang="en-US" sz="1800" dirty="0"/>
          </a:p>
        </p:txBody>
      </p:sp>
      <p:sp>
        <p:nvSpPr>
          <p:cNvPr id="7" name="Cabecera SM-24 de 10 Hz"/>
          <p:cNvSpPr/>
          <p:nvPr/>
        </p:nvSpPr>
        <p:spPr>
          <a:xfrm>
            <a:off x="2606040" y="1325880"/>
            <a:ext cx="2011680" cy="502920"/>
          </a:xfrm>
          <a:prstGeom prst="rect">
            <a:avLst/>
          </a:prstGeom>
          <a:solidFill>
            <a:srgbClr val="1F4E79"/>
          </a:solidFill>
          <a:ln w="12700">
            <a:solidFill>
              <a:srgbClr val="1F4E79"/>
            </a:solidFill>
            <a:prstDash val="solid"/>
          </a:ln>
        </p:spPr>
      </p:sp>
      <p:sp>
        <p:nvSpPr>
          <p:cNvPr id="8" name="Text 6"/>
          <p:cNvSpPr txBox="1"/>
          <p:nvPr/>
        </p:nvSpPr>
        <p:spPr>
          <a:xfrm>
            <a:off x="260604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SM-24 de 10 Hz</a:t>
            </a:r>
            <a:endParaRPr lang="en-US" sz="1600" dirty="0"/>
          </a:p>
        </p:txBody>
      </p:sp>
      <p:sp>
        <p:nvSpPr>
          <p:cNvPr id="9" name="Tarjeta SM-24 de 10 Hz"/>
          <p:cNvSpPr/>
          <p:nvPr/>
        </p:nvSpPr>
        <p:spPr>
          <a:xfrm>
            <a:off x="2606040" y="1828800"/>
            <a:ext cx="2011680" cy="1097280"/>
          </a:xfrm>
          <a:prstGeom prst="rect">
            <a:avLst/>
          </a:prstGeom>
          <a:solidFill>
            <a:srgbClr val="FFFFFF"/>
          </a:solidFill>
          <a:ln w="19050">
            <a:solidFill>
              <a:srgbClr val="1F4E79"/>
            </a:solidFill>
            <a:prstDash val="solid"/>
          </a:ln>
        </p:spPr>
      </p:sp>
      <p:sp>
        <p:nvSpPr>
          <p:cNvPr id="10" name="Text 8"/>
          <p:cNvSpPr txBox="1"/>
          <p:nvPr/>
        </p:nvSpPr>
        <p:spPr>
          <a:xfrm>
            <a:off x="269748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unos 70 USD por canal</a:t>
            </a:r>
            <a:endParaRPr lang="en-US" sz="1800" dirty="0"/>
          </a:p>
        </p:txBody>
      </p:sp>
      <p:sp>
        <p:nvSpPr>
          <p:cNvPr id="11" name="Cuerpo"/>
          <p:cNvSpPr txBox="1"/>
          <p:nvPr/>
        </p:nvSpPr>
        <p:spPr>
          <a:xfrm>
            <a:off x="4846320" y="1325880"/>
            <a:ext cx="384048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Menor frecuencia: mayor longitud de onda y mayor profundidad</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800" dirty="0"/>
          </a:p>
        </p:txBody>
      </p:sp>
      <p:sp>
        <p:nvSpPr>
          <p:cNvPr id="12" name="Text 10"/>
          <p:cNvSpPr txBox="1"/>
          <p:nvPr/>
        </p:nvSpPr>
        <p:spPr>
          <a:xfrm>
            <a:off x="457200" y="3108960"/>
            <a:ext cx="4114800" cy="45720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Precios de referencia consultados por el autor en 2026.</a:t>
            </a:r>
            <a:endParaRPr lang="en-US" sz="1400" dirty="0"/>
          </a:p>
        </p:txBody>
      </p:sp>
      <p:sp>
        <p:nvSpPr>
          <p:cNvPr id="1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SparkFun Electronics (2026); R. T. Clark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Existen cuatro familias de técnicas para mejorar la respuesta en baja frecuencia de un geófono</a:t>
            </a:r>
            <a:endParaRPr lang="en-US" sz="2400" dirty="0"/>
          </a:p>
        </p:txBody>
      </p:sp>
      <p:sp>
        <p:nvSpPr>
          <p:cNvPr id="3" name="Cabecera Modificar la carga del sensor"/>
          <p:cNvSpPr/>
          <p:nvPr/>
        </p:nvSpPr>
        <p:spPr>
          <a:xfrm>
            <a:off x="457200" y="1325880"/>
            <a:ext cx="1965960" cy="777240"/>
          </a:xfrm>
          <a:prstGeom prst="rect">
            <a:avLst/>
          </a:prstGeom>
          <a:solidFill>
            <a:srgbClr val="6B6B6B"/>
          </a:solidFill>
          <a:ln w="12700">
            <a:solidFill>
              <a:srgbClr val="6B6B6B"/>
            </a:solidFill>
            <a:prstDash val="solid"/>
          </a:ln>
        </p:spPr>
      </p:sp>
      <p:sp>
        <p:nvSpPr>
          <p:cNvPr id="4" name="Text 2"/>
          <p:cNvSpPr txBox="1"/>
          <p:nvPr/>
        </p:nvSpPr>
        <p:spPr>
          <a:xfrm>
            <a:off x="50292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Modificar la carga del sensor</a:t>
            </a:r>
            <a:endParaRPr lang="en-US" sz="1300" dirty="0"/>
          </a:p>
        </p:txBody>
      </p:sp>
      <p:sp>
        <p:nvSpPr>
          <p:cNvPr id="5" name="Tarjeta Modificar la carga del sensor"/>
          <p:cNvSpPr/>
          <p:nvPr/>
        </p:nvSpPr>
        <p:spPr>
          <a:xfrm>
            <a:off x="457200" y="2103120"/>
            <a:ext cx="1965960" cy="1965960"/>
          </a:xfrm>
          <a:prstGeom prst="rect">
            <a:avLst/>
          </a:prstGeom>
          <a:solidFill>
            <a:srgbClr val="FFFFFF"/>
          </a:solidFill>
          <a:ln w="19050">
            <a:solidFill>
              <a:srgbClr val="6B6B6B"/>
            </a:solidFill>
            <a:prstDash val="solid"/>
          </a:ln>
        </p:spPr>
      </p:sp>
      <p:sp>
        <p:nvSpPr>
          <p:cNvPr id="6" name="Text 4"/>
          <p:cNvSpPr txBox="1"/>
          <p:nvPr/>
        </p:nvSpPr>
        <p:spPr>
          <a:xfrm>
            <a:off x="56692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Un capacitor en serie con la resistencia de carga desplaza la frecuencia de esquina (Pazos et al.). Es barato y simple, pero de alcance limitado.</a:t>
            </a:r>
            <a:endParaRPr lang="en-US" sz="1200" dirty="0"/>
          </a:p>
        </p:txBody>
      </p:sp>
      <p:sp>
        <p:nvSpPr>
          <p:cNvPr id="7" name="Cabecera Compensación inversa (cero–polo)"/>
          <p:cNvSpPr/>
          <p:nvPr/>
        </p:nvSpPr>
        <p:spPr>
          <a:xfrm>
            <a:off x="2560320" y="1325880"/>
            <a:ext cx="1965960" cy="777240"/>
          </a:xfrm>
          <a:prstGeom prst="rect">
            <a:avLst/>
          </a:prstGeom>
          <a:solidFill>
            <a:srgbClr val="6B6B6B"/>
          </a:solidFill>
          <a:ln w="12700">
            <a:solidFill>
              <a:srgbClr val="6B6B6B"/>
            </a:solidFill>
            <a:prstDash val="solid"/>
          </a:ln>
        </p:spPr>
      </p:sp>
      <p:sp>
        <p:nvSpPr>
          <p:cNvPr id="8" name="Text 6"/>
          <p:cNvSpPr txBox="1"/>
          <p:nvPr/>
        </p:nvSpPr>
        <p:spPr>
          <a:xfrm>
            <a:off x="260604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Compensación inversa (cero–polo)</a:t>
            </a:r>
            <a:endParaRPr lang="en-US" sz="1300" dirty="0"/>
          </a:p>
        </p:txBody>
      </p:sp>
      <p:sp>
        <p:nvSpPr>
          <p:cNvPr id="9" name="Tarjeta Compensación inversa (cero–polo)"/>
          <p:cNvSpPr/>
          <p:nvPr/>
        </p:nvSpPr>
        <p:spPr>
          <a:xfrm>
            <a:off x="2560320" y="2103120"/>
            <a:ext cx="1965960" cy="1965960"/>
          </a:xfrm>
          <a:prstGeom prst="rect">
            <a:avLst/>
          </a:prstGeom>
          <a:solidFill>
            <a:srgbClr val="FFFFFF"/>
          </a:solidFill>
          <a:ln w="19050">
            <a:solidFill>
              <a:srgbClr val="6B6B6B"/>
            </a:solidFill>
            <a:prstDash val="solid"/>
          </a:ln>
        </p:spPr>
      </p:sp>
      <p:sp>
        <p:nvSpPr>
          <p:cNvPr id="10" name="Text 8"/>
          <p:cNvSpPr txBox="1"/>
          <p:nvPr/>
        </p:nvSpPr>
        <p:spPr>
          <a:xfrm>
            <a:off x="267004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200" dirty="0"/>
          </a:p>
        </p:txBody>
      </p:sp>
      <p:sp>
        <p:nvSpPr>
          <p:cNvPr id="11" name="Cabecera Resistencia negativa y balance de fuerza"/>
          <p:cNvSpPr/>
          <p:nvPr/>
        </p:nvSpPr>
        <p:spPr>
          <a:xfrm>
            <a:off x="4663440" y="1325880"/>
            <a:ext cx="1965960" cy="777240"/>
          </a:xfrm>
          <a:prstGeom prst="rect">
            <a:avLst/>
          </a:prstGeom>
          <a:solidFill>
            <a:srgbClr val="6B6B6B"/>
          </a:solidFill>
          <a:ln w="12700">
            <a:solidFill>
              <a:srgbClr val="6B6B6B"/>
            </a:solidFill>
            <a:prstDash val="solid"/>
          </a:ln>
        </p:spPr>
      </p:sp>
      <p:sp>
        <p:nvSpPr>
          <p:cNvPr id="12" name="Text 10"/>
          <p:cNvSpPr txBox="1"/>
          <p:nvPr/>
        </p:nvSpPr>
        <p:spPr>
          <a:xfrm>
            <a:off x="470916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Resistencia negativa y balance de fuerza</a:t>
            </a:r>
            <a:endParaRPr lang="en-US" sz="1300" dirty="0"/>
          </a:p>
        </p:txBody>
      </p:sp>
      <p:sp>
        <p:nvSpPr>
          <p:cNvPr id="13" name="Tarjeta Resistencia negativa y balance de fuerza"/>
          <p:cNvSpPr/>
          <p:nvPr/>
        </p:nvSpPr>
        <p:spPr>
          <a:xfrm>
            <a:off x="4663440" y="2103120"/>
            <a:ext cx="1965960" cy="1965960"/>
          </a:xfrm>
          <a:prstGeom prst="rect">
            <a:avLst/>
          </a:prstGeom>
          <a:solidFill>
            <a:srgbClr val="FFFFFF"/>
          </a:solidFill>
          <a:ln w="19050">
            <a:solidFill>
              <a:srgbClr val="6B6B6B"/>
            </a:solidFill>
            <a:prstDash val="solid"/>
          </a:ln>
        </p:spPr>
      </p:sp>
      <p:sp>
        <p:nvSpPr>
          <p:cNvPr id="14" name="Text 12"/>
          <p:cNvSpPr txBox="1"/>
          <p:nvPr/>
        </p:nvSpPr>
        <p:spPr>
          <a:xfrm>
            <a:off x="477316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200" dirty="0"/>
          </a:p>
        </p:txBody>
      </p:sp>
      <p:sp>
        <p:nvSpPr>
          <p:cNvPr id="15" name="Cabecera Modificar la forma de la respuesta"/>
          <p:cNvSpPr/>
          <p:nvPr/>
        </p:nvSpPr>
        <p:spPr>
          <a:xfrm>
            <a:off x="6766560" y="1325880"/>
            <a:ext cx="1965960" cy="777240"/>
          </a:xfrm>
          <a:prstGeom prst="rect">
            <a:avLst/>
          </a:prstGeom>
          <a:solidFill>
            <a:srgbClr val="2E75B6"/>
          </a:solidFill>
          <a:ln w="12700">
            <a:solidFill>
              <a:srgbClr val="2E75B6"/>
            </a:solidFill>
            <a:prstDash val="solid"/>
          </a:ln>
        </p:spPr>
      </p:sp>
      <p:sp>
        <p:nvSpPr>
          <p:cNvPr id="16" name="Text 14"/>
          <p:cNvSpPr txBox="1"/>
          <p:nvPr/>
        </p:nvSpPr>
        <p:spPr>
          <a:xfrm>
            <a:off x="681228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Modificar la forma de la respuesta</a:t>
            </a:r>
            <a:endParaRPr lang="en-US" sz="1300" dirty="0"/>
          </a:p>
        </p:txBody>
      </p:sp>
      <p:sp>
        <p:nvSpPr>
          <p:cNvPr id="17" name="Tarjeta Modificar la forma de la respuesta"/>
          <p:cNvSpPr/>
          <p:nvPr/>
        </p:nvSpPr>
        <p:spPr>
          <a:xfrm>
            <a:off x="6766560" y="2103120"/>
            <a:ext cx="1965960" cy="1965960"/>
          </a:xfrm>
          <a:prstGeom prst="rect">
            <a:avLst/>
          </a:prstGeom>
          <a:solidFill>
            <a:srgbClr val="FFFFFF"/>
          </a:solidFill>
          <a:ln w="19050">
            <a:solidFill>
              <a:srgbClr val="2E75B6"/>
            </a:solidFill>
            <a:prstDash val="solid"/>
          </a:ln>
        </p:spPr>
      </p:sp>
      <p:sp>
        <p:nvSpPr>
          <p:cNvPr id="18" name="Text 16"/>
          <p:cNvSpPr txBox="1"/>
          <p:nvPr/>
        </p:nvSpPr>
        <p:spPr>
          <a:xfrm>
            <a:off x="687628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200" dirty="0"/>
          </a:p>
        </p:txBody>
      </p:sp>
      <p:sp>
        <p:nvSpPr>
          <p:cNvPr id="19" name="Text 17"/>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Pazos, Alguacil y Davila (2005), BSSA 95(5), 1940–1946, según Ma et al. (2023), Sensors 23(6), 3082; Hakimitoroghi et al. (2017) y Zhang (2025):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Invertir la respuesta del sensor exige muchísima ganancia cerca de continua</a:t>
            </a:r>
            <a:endParaRPr lang="en-US" sz="2400" dirty="0"/>
          </a:p>
        </p:txBody>
      </p:sp>
      <p:sp>
        <p:nvSpPr>
          <p:cNvPr id="3" name="Cuerpo"/>
          <p:cNvSpPr txBox="1"/>
          <p:nvPr/>
        </p:nvSpPr>
        <p:spPr>
          <a:xfrm>
            <a:off x="457200" y="1325880"/>
            <a:ext cx="484632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Altísima ganancia cerca de DC</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Offsets y bias pueden llevarla a saturación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Amplifica el ruido de baja frecuencia fuera de banda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800" dirty="0"/>
          </a:p>
        </p:txBody>
      </p:sp>
      <p:sp>
        <p:nvSpPr>
          <p:cNvPr id="4" name="Cabecera ganancia"/>
          <p:cNvSpPr/>
          <p:nvPr/>
        </p:nvSpPr>
        <p:spPr>
          <a:xfrm>
            <a:off x="5669280" y="1371600"/>
            <a:ext cx="3017520" cy="457200"/>
          </a:xfrm>
          <a:prstGeom prst="rect">
            <a:avLst/>
          </a:prstGeom>
          <a:solidFill>
            <a:srgbClr val="C55A11"/>
          </a:solidFill>
          <a:ln w="12700">
            <a:solidFill>
              <a:srgbClr val="C55A11"/>
            </a:solidFill>
            <a:prstDash val="solid"/>
          </a:ln>
        </p:spPr>
      </p:sp>
      <p:sp>
        <p:nvSpPr>
          <p:cNvPr id="5" name="Text 3"/>
          <p:cNvSpPr txBox="1"/>
          <p:nvPr/>
        </p:nvSpPr>
        <p:spPr>
          <a:xfrm>
            <a:off x="5669280" y="1371600"/>
            <a:ext cx="30175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Ganancia necesaria a 1 Hz</a:t>
            </a:r>
            <a:endParaRPr lang="en-US" sz="1500" dirty="0"/>
          </a:p>
        </p:txBody>
      </p:sp>
      <p:sp>
        <p:nvSpPr>
          <p:cNvPr id="6" name="Tarjeta ganancia"/>
          <p:cNvSpPr/>
          <p:nvPr/>
        </p:nvSpPr>
        <p:spPr>
          <a:xfrm>
            <a:off x="5669280" y="1828800"/>
            <a:ext cx="3017520" cy="1554480"/>
          </a:xfrm>
          <a:prstGeom prst="rect">
            <a:avLst/>
          </a:prstGeom>
          <a:solidFill>
            <a:srgbClr val="FFFFFF"/>
          </a:solidFill>
          <a:ln w="19050">
            <a:solidFill>
              <a:srgbClr val="C55A11"/>
            </a:solidFill>
            <a:prstDash val="solid"/>
          </a:ln>
        </p:spPr>
      </p:sp>
      <p:sp>
        <p:nvSpPr>
          <p:cNvPr id="7" name="Text 5"/>
          <p:cNvSpPr txBox="1"/>
          <p:nvPr/>
        </p:nvSpPr>
        <p:spPr>
          <a:xfrm>
            <a:off x="5669280" y="1874520"/>
            <a:ext cx="3017520" cy="822960"/>
          </a:xfrm>
          <a:prstGeom prst="rect">
            <a:avLst/>
          </a:prstGeom>
          <a:noFill/>
          <a:ln/>
        </p:spPr>
        <p:txBody>
          <a:bodyPr wrap="square" lIns="0" tIns="0" rIns="0" bIns="0" rtlCol="0" anchor="ctr"/>
          <a:lstStyle/>
          <a:p>
            <a:pPr algn="ctr" indent="0" marL="0">
              <a:buNone/>
            </a:pPr>
            <a:r>
              <a:rPr lang="en-US" sz="3600" b="1" dirty="0">
                <a:solidFill>
                  <a:srgbClr val="C55A11"/>
                </a:solidFill>
                <a:latin typeface="Arial" pitchFamily="34" charset="0"/>
                <a:ea typeface="Arial" pitchFamily="34" charset="-122"/>
                <a:cs typeface="Arial" pitchFamily="34" charset="-120"/>
              </a:rPr>
              <a:t>≈ +40 dB</a:t>
            </a:r>
            <a:endParaRPr lang="en-US" sz="3600" dirty="0"/>
          </a:p>
        </p:txBody>
      </p:sp>
      <p:sp>
        <p:nvSpPr>
          <p:cNvPr id="8" name="Text 6"/>
          <p:cNvSpPr txBox="1"/>
          <p:nvPr/>
        </p:nvSpPr>
        <p:spPr>
          <a:xfrm>
            <a:off x="5806440" y="2697480"/>
            <a:ext cx="2743200" cy="64008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respecto de la zona plana (modelo del SM-24, ζ = 0,25, referido a velocidad)</a:t>
            </a:r>
            <a:endParaRPr lang="en-US" sz="1200" dirty="0"/>
          </a:p>
        </p:txBody>
      </p:sp>
      <p:sp>
        <p:nvSpPr>
          <p:cNvPr id="9" name="Text 7"/>
          <p:cNvSpPr txBox="1"/>
          <p:nvPr/>
        </p:nvSpPr>
        <p:spPr>
          <a:xfrm>
            <a:off x="457200" y="4023360"/>
            <a:ext cx="8229600" cy="50292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4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Zhang (2025); Hakimitoroghi et al. (2017); modelo propio (slide 54).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2400" dirty="0"/>
          </a:p>
        </p:txBody>
      </p:sp>
      <p:sp>
        <p:nvSpPr>
          <p:cNvPr id="3" name="Fondo E_zeta2"/>
          <p:cNvSpPr/>
          <p:nvPr/>
        </p:nvSpPr>
        <p:spPr>
          <a:xfrm>
            <a:off x="457200" y="1325880"/>
            <a:ext cx="8229600" cy="8686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zeta2"/>
              <p:cNvSpPr txBox="1"/>
              <p:nvPr/>
            </p:nvSpPr>
            <p:spPr>
              <a:xfrm>
                <a:off x="457200" y="1325880"/>
                <a:ext cx="8229600" cy="8686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e>
                            <m:sup>
                              <m:r>
                                <a:rPr lang="es-ES" sz="2400" i="1">
                                  <a:solidFill>
                                    <a:srgbClr val="1F4E79"/>
                                  </a:solidFill>
                                  <a:latin typeface="Cambria Math" panose="02040503050406030204" pitchFamily="18" charset="0"/>
                                </a:rPr>
                                <m:t xml:space="preserve">2</m:t>
                              </m:r>
                            </m:sup>
                          </m:sSup>
                        </m:num>
                        <m:den>
                          <m:r>
                            <a:rPr lang="es-ES" sz="2400" i="1">
                              <a:solidFill>
                                <a:srgbClr val="1F4E79"/>
                              </a:solidFill>
                              <a:latin typeface="Cambria Math" panose="02040503050406030204" pitchFamily="18" charset="0"/>
                            </a:rPr>
                            <m:t xml:space="preserve">2m</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a:rPr lang="es-ES" sz="2400" i="1">
                                  <a:solidFill>
                                    <a:srgbClr val="1F4E79"/>
                                  </a:solidFill>
                                  <a:latin typeface="Cambria Math" panose="02040503050406030204" pitchFamily="18" charset="0"/>
                                </a:rPr>
                                <m:t xml:space="preserve">L</m:t>
                              </m:r>
                            </m:sub>
                          </m:sSub>
                          <m:r>
                            <a:rPr lang="es-ES" sz="2400" i="1">
                              <a:solidFill>
                                <a:srgbClr val="1F4E79"/>
                              </a:solidFill>
                              <a:latin typeface="Cambria Math" panose="02040503050406030204" pitchFamily="18" charset="0"/>
                            </a:rPr>
                            <m:t xml:space="preserve">)</m:t>
                          </m:r>
                        </m:den>
                      </m:f>
                    </m:oMath>
                  </m:oMathPara>
                </a14:m>
                <a:endParaRPr lang="es-ES"/>
              </a:p>
            </p:txBody>
          </p:sp>
        </mc:Choice>
        <mc:Fallback>
          <p:sp>
            <p:nvSpPr>
              <p:cNvPr id="4" name="Ecuación E_zeta2"/>
              <p:cNvSpPr txBox="1"/>
              <p:nvPr/>
            </p:nvSpPr>
            <p:spPr>
              <a:xfrm>
                <a:off x="457200" y="1325880"/>
                <a:ext cx="8229600" cy="8686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ζ0 + G0² / (2mωn(Ri + RL))</a:t>
                </a:r>
                <a:endParaRPr lang="en-US" sz="2400" dirty="0"/>
              </a:p>
            </p:txBody>
          </p:sp>
        </mc:Fallback>
      </mc:AlternateContent>
      <p:sp>
        <p:nvSpPr>
          <p:cNvPr id="5" name="Cuerpo"/>
          <p:cNvSpPr txBox="1"/>
          <p:nvPr/>
        </p:nvSpPr>
        <p:spPr>
          <a:xfrm>
            <a:off x="457200" y="2377440"/>
            <a:ext cx="822960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El lazo activo interactúa directamente con el transductor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600" dirty="0"/>
          </a:p>
        </p:txBody>
      </p:sp>
      <p:sp>
        <p:nvSpPr>
          <p:cNvPr id="6" name="Text 4"/>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Zhang (2025), circuito de resistencia negativa; resumen firmado, sec. 4.2, ec. (8).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idea de Ma et al.: no levantar el fondo, bajar el pico</a:t>
            </a:r>
            <a:endParaRPr lang="en-US" sz="2400" dirty="0"/>
          </a:p>
        </p:txBody>
      </p:sp>
      <p:pic>
        <p:nvPicPr>
          <p:cNvPr id="3" name="Curvas del compensador" descr="Respuesta referida a aceleración: geófono, compensador ideal sin ganancia y compensador ideal con ganancia">    </p:cNvPr>
          <p:cNvPicPr>
            <a:picLocks noChangeAspect="1"/>
          </p:cNvPicPr>
          <p:nvPr/>
        </p:nvPicPr>
        <p:blipFill>
          <a:blip r:embed="rId1"/>
          <a:stretch>
            <a:fillRect/>
          </a:stretch>
        </p:blipFill>
        <p:spPr>
          <a:xfrm>
            <a:off x="365760" y="1234440"/>
            <a:ext cx="5120640" cy="2906309"/>
          </a:xfrm>
          <a:prstGeom prst="rect">
            <a:avLst/>
          </a:prstGeom>
        </p:spPr>
      </p:pic>
      <p:sp>
        <p:nvSpPr>
          <p:cNvPr id="4" name="Cuerpo"/>
          <p:cNvSpPr txBox="1"/>
          <p:nvPr/>
        </p:nvSpPr>
        <p:spPr>
          <a:xfrm>
            <a:off x="5669280" y="1325880"/>
            <a:ext cx="3017520" cy="3108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Se atenúa la zona de la resonancia</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Después se recupera el nivel con ganancia global</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El pasabanda se ensancha, pero sigue siendo un pasabanda</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Ma et al. reportan más SNR que cero–polo: +17,5 dB a 10 Hz (geófono JF-20DX); la tesis cita además +1,5 dB a 1 Hz y +21,3 dB a 20 Hz</a:t>
            </a:r>
            <a:endParaRPr lang="en-US" sz="1300" dirty="0"/>
          </a:p>
        </p:txBody>
      </p:sp>
      <p:sp>
        <p:nvSpPr>
          <p:cNvPr id="5" name="Text 2"/>
          <p:cNvSpPr txBox="1"/>
          <p:nvPr/>
        </p:nvSpPr>
        <p:spPr>
          <a:xfrm>
            <a:off x="457200" y="4224528"/>
            <a:ext cx="5120640" cy="27432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Compensador ideal</a:t>
            </a:r>
            <a:endParaRPr lang="en-US" sz="12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Sensors 23(6), 3082; documento de tesis (03b_topologias.tex); curvas propias.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Elegimos el método de Ma et al. porque es estable, simple y no amplifica ruido</a:t>
            </a:r>
            <a:endParaRPr lang="en-US" sz="2400" dirty="0"/>
          </a:p>
        </p:txBody>
      </p:sp>
      <p:sp>
        <p:nvSpPr>
          <p:cNvPr id="3" name="Cabecera Estable"/>
          <p:cNvSpPr/>
          <p:nvPr/>
        </p:nvSpPr>
        <p:spPr>
          <a:xfrm>
            <a:off x="457200" y="1280160"/>
            <a:ext cx="2651760" cy="457200"/>
          </a:xfrm>
          <a:prstGeom prst="rect">
            <a:avLst/>
          </a:prstGeom>
          <a:solidFill>
            <a:srgbClr val="1F4E79"/>
          </a:solidFill>
          <a:ln w="12700">
            <a:solidFill>
              <a:srgbClr val="1F4E79"/>
            </a:solidFill>
            <a:prstDash val="solid"/>
          </a:ln>
        </p:spPr>
      </p:sp>
      <p:sp>
        <p:nvSpPr>
          <p:cNvPr id="4" name="Text 2"/>
          <p:cNvSpPr txBox="1"/>
          <p:nvPr/>
        </p:nvSpPr>
        <p:spPr>
          <a:xfrm>
            <a:off x="50292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Estable</a:t>
            </a:r>
            <a:endParaRPr lang="en-US" sz="1600" dirty="0"/>
          </a:p>
        </p:txBody>
      </p:sp>
      <p:sp>
        <p:nvSpPr>
          <p:cNvPr id="5" name="Tarjeta Estable"/>
          <p:cNvSpPr/>
          <p:nvPr/>
        </p:nvSpPr>
        <p:spPr>
          <a:xfrm>
            <a:off x="457200" y="1737360"/>
            <a:ext cx="2651760" cy="1097280"/>
          </a:xfrm>
          <a:prstGeom prst="rect">
            <a:avLst/>
          </a:prstGeom>
          <a:solidFill>
            <a:srgbClr val="FFFFFF"/>
          </a:solidFill>
          <a:ln w="19050">
            <a:solidFill>
              <a:srgbClr val="1F4E79"/>
            </a:solidFill>
            <a:prstDash val="solid"/>
          </a:ln>
        </p:spPr>
      </p:sp>
      <p:sp>
        <p:nvSpPr>
          <p:cNvPr id="6" name="Text 4"/>
          <p:cNvSpPr txBox="1"/>
          <p:nvPr/>
        </p:nvSpPr>
        <p:spPr>
          <a:xfrm>
            <a:off x="56692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300" dirty="0"/>
          </a:p>
        </p:txBody>
      </p:sp>
      <p:sp>
        <p:nvSpPr>
          <p:cNvPr id="7" name="Cabecera Simple"/>
          <p:cNvSpPr/>
          <p:nvPr/>
        </p:nvSpPr>
        <p:spPr>
          <a:xfrm>
            <a:off x="3246120" y="1280160"/>
            <a:ext cx="2651760" cy="457200"/>
          </a:xfrm>
          <a:prstGeom prst="rect">
            <a:avLst/>
          </a:prstGeom>
          <a:solidFill>
            <a:srgbClr val="1F4E79"/>
          </a:solidFill>
          <a:ln w="12700">
            <a:solidFill>
              <a:srgbClr val="1F4E79"/>
            </a:solidFill>
            <a:prstDash val="solid"/>
          </a:ln>
        </p:spPr>
      </p:sp>
      <p:sp>
        <p:nvSpPr>
          <p:cNvPr id="8" name="Text 6"/>
          <p:cNvSpPr txBox="1"/>
          <p:nvPr/>
        </p:nvSpPr>
        <p:spPr>
          <a:xfrm>
            <a:off x="329184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Simple</a:t>
            </a:r>
            <a:endParaRPr lang="en-US" sz="1600" dirty="0"/>
          </a:p>
        </p:txBody>
      </p:sp>
      <p:sp>
        <p:nvSpPr>
          <p:cNvPr id="9" name="Tarjeta Simple"/>
          <p:cNvSpPr/>
          <p:nvPr/>
        </p:nvSpPr>
        <p:spPr>
          <a:xfrm>
            <a:off x="3246120" y="1737360"/>
            <a:ext cx="2651760" cy="1097280"/>
          </a:xfrm>
          <a:prstGeom prst="rect">
            <a:avLst/>
          </a:prstGeom>
          <a:solidFill>
            <a:srgbClr val="FFFFFF"/>
          </a:solidFill>
          <a:ln w="19050">
            <a:solidFill>
              <a:srgbClr val="1F4E79"/>
            </a:solidFill>
            <a:prstDash val="solid"/>
          </a:ln>
        </p:spPr>
      </p:sp>
      <p:sp>
        <p:nvSpPr>
          <p:cNvPr id="10" name="Text 8"/>
          <p:cNvSpPr txBox="1"/>
          <p:nvPr/>
        </p:nvSpPr>
        <p:spPr>
          <a:xfrm>
            <a:off x="335584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Su implementación requiere pocos componentes.</a:t>
            </a:r>
            <a:endParaRPr lang="en-US" sz="1300" dirty="0"/>
          </a:p>
        </p:txBody>
      </p:sp>
      <p:sp>
        <p:nvSpPr>
          <p:cNvPr id="11" name="Cabecera No amplifica ruido"/>
          <p:cNvSpPr/>
          <p:nvPr/>
        </p:nvSpPr>
        <p:spPr>
          <a:xfrm>
            <a:off x="6035040" y="1280160"/>
            <a:ext cx="2651760" cy="457200"/>
          </a:xfrm>
          <a:prstGeom prst="rect">
            <a:avLst/>
          </a:prstGeom>
          <a:solidFill>
            <a:srgbClr val="1F4E79"/>
          </a:solidFill>
          <a:ln w="12700">
            <a:solidFill>
              <a:srgbClr val="1F4E79"/>
            </a:solidFill>
            <a:prstDash val="solid"/>
          </a:ln>
        </p:spPr>
      </p:sp>
      <p:sp>
        <p:nvSpPr>
          <p:cNvPr id="12" name="Text 10"/>
          <p:cNvSpPr txBox="1"/>
          <p:nvPr/>
        </p:nvSpPr>
        <p:spPr>
          <a:xfrm>
            <a:off x="608076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No amplifica ruido</a:t>
            </a:r>
            <a:endParaRPr lang="en-US" sz="1600" dirty="0"/>
          </a:p>
        </p:txBody>
      </p:sp>
      <p:sp>
        <p:nvSpPr>
          <p:cNvPr id="13" name="Tarjeta No amplifica ruido"/>
          <p:cNvSpPr/>
          <p:nvPr/>
        </p:nvSpPr>
        <p:spPr>
          <a:xfrm>
            <a:off x="6035040" y="1737360"/>
            <a:ext cx="2651760" cy="1097280"/>
          </a:xfrm>
          <a:prstGeom prst="rect">
            <a:avLst/>
          </a:prstGeom>
          <a:solidFill>
            <a:srgbClr val="FFFFFF"/>
          </a:solidFill>
          <a:ln w="19050">
            <a:solidFill>
              <a:srgbClr val="1F4E79"/>
            </a:solidFill>
            <a:prstDash val="solid"/>
          </a:ln>
        </p:spPr>
      </p:sp>
      <p:sp>
        <p:nvSpPr>
          <p:cNvPr id="14" name="Text 12"/>
          <p:cNvSpPr txBox="1"/>
          <p:nvPr/>
        </p:nvSpPr>
        <p:spPr>
          <a:xfrm>
            <a:off x="614476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300" dirty="0"/>
          </a:p>
        </p:txBody>
      </p:sp>
      <p:sp>
        <p:nvSpPr>
          <p:cNvPr id="15" name="Fondo complejidad"/>
          <p:cNvSpPr/>
          <p:nvPr/>
        </p:nvSpPr>
        <p:spPr>
          <a:xfrm>
            <a:off x="457200" y="2880360"/>
            <a:ext cx="8229600" cy="777240"/>
          </a:xfrm>
          <a:prstGeom prst="rect">
            <a:avLst/>
          </a:prstGeom>
          <a:solidFill>
            <a:srgbClr val="EAF1F8"/>
          </a:solidFill>
          <a:ln w="12700">
            <a:solidFill>
              <a:srgbClr val="EAF1F8"/>
            </a:solidFill>
            <a:prstDash val="solid"/>
          </a:ln>
        </p:spPr>
      </p:sp>
      <p:sp>
        <p:nvSpPr>
          <p:cNvPr id="16" name="Text 14"/>
          <p:cNvSpPr txBox="1"/>
          <p:nvPr/>
        </p:nvSpPr>
        <p:spPr>
          <a:xfrm>
            <a:off x="594360" y="2880360"/>
            <a:ext cx="7955280" cy="777240"/>
          </a:xfrm>
          <a:prstGeom prst="rect">
            <a:avLst/>
          </a:prstGeom>
          <a:noFill/>
          <a:ln/>
        </p:spPr>
        <p:txBody>
          <a:bodyPr wrap="square" lIns="0" tIns="0" rIns="0" bIns="0" rtlCol="0" anchor="ctr"/>
          <a:lstStyle/>
          <a:p>
            <a:pPr indent="0" marL="0">
              <a:buNone/>
            </a:pPr>
            <a:r>
              <a:rPr lang="en-US" sz="1400" dirty="0">
                <a:solidFill>
                  <a:srgbClr val="1F4E79"/>
                </a:solidFill>
                <a:latin typeface="Arial" pitchFamily="34" charset="0"/>
                <a:ea typeface="Arial" pitchFamily="34" charset="-122"/>
                <a:cs typeface="Arial" pitchFamily="34" charset="-120"/>
              </a:rPr>
              <a:t>Es más complejo que la solución de Pazos, pero de complejidad razonable: permite controlar con mucha más facilidad hasta dónde se compensa, y ser más agresivo cuando el geófono está lejos de donde queremos que esté.</a:t>
            </a:r>
            <a:endParaRPr lang="en-US" sz="1400" dirty="0"/>
          </a:p>
        </p:txBody>
      </p:sp>
      <p:sp>
        <p:nvSpPr>
          <p:cNvPr id="17" name="Fondo desventaja"/>
          <p:cNvSpPr/>
          <p:nvPr/>
        </p:nvSpPr>
        <p:spPr>
          <a:xfrm>
            <a:off x="457200" y="3749040"/>
            <a:ext cx="8229600" cy="640080"/>
          </a:xfrm>
          <a:prstGeom prst="rect">
            <a:avLst/>
          </a:prstGeom>
          <a:solidFill>
            <a:srgbClr val="FBE9DD"/>
          </a:solidFill>
          <a:ln w="12700">
            <a:solidFill>
              <a:srgbClr val="FBE9DD"/>
            </a:solidFill>
            <a:prstDash val="solid"/>
          </a:ln>
        </p:spPr>
      </p:sp>
      <p:sp>
        <p:nvSpPr>
          <p:cNvPr id="18" name="Text 16"/>
          <p:cNvSpPr txBox="1"/>
          <p:nvPr/>
        </p:nvSpPr>
        <p:spPr>
          <a:xfrm>
            <a:off x="594360" y="3749040"/>
            <a:ext cx="7955280" cy="640080"/>
          </a:xfrm>
          <a:prstGeom prst="rect">
            <a:avLst/>
          </a:prstGeom>
          <a:noFill/>
          <a:ln/>
        </p:spPr>
        <p:txBody>
          <a:bodyPr wrap="square" lIns="0" tIns="0" rIns="0" bIns="0" rtlCol="0" anchor="ctr"/>
          <a:lstStyle/>
          <a:p>
            <a:pPr indent="0" marL="0">
              <a:buNone/>
            </a:pPr>
            <a:r>
              <a:rPr lang="en-US" sz="1500"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5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Sensors 23(6), 3082; Pazos et al. (2005); estabilidad y ruido: inferencia propia,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compensador sube el amortiguamiento del conjunto: es un camino directo menos un pasabanda</a:t>
            </a:r>
            <a:endParaRPr lang="en-US" sz="2400" dirty="0"/>
          </a:p>
        </p:txBody>
      </p:sp>
      <p:sp>
        <p:nvSpPr>
          <p:cNvPr id="3" name="Text 1"/>
          <p:cNvSpPr txBox="1"/>
          <p:nvPr/>
        </p:nvSpPr>
        <p:spPr>
          <a:xfrm>
            <a:off x="457200" y="1234440"/>
            <a:ext cx="8229600" cy="274320"/>
          </a:xfrm>
          <a:prstGeom prst="rect">
            <a:avLst/>
          </a:prstGeom>
          <a:noFill/>
          <a:ln/>
        </p:spPr>
        <p:txBody>
          <a:bodyPr wrap="square" lIns="0" tIns="0" rIns="0" bIns="0" rtlCol="0" anchor="t"/>
          <a:lstStyle/>
          <a:p>
            <a:pPr indent="0" marL="0">
              <a:buNone/>
            </a:pPr>
            <a:r>
              <a:rPr lang="en-US" sz="1400" dirty="0">
                <a:solidFill>
                  <a:srgbClr val="2D2D2D"/>
                </a:solidFill>
                <a:latin typeface="Arial" pitchFamily="34" charset="0"/>
                <a:ea typeface="Arial" pitchFamily="34" charset="-122"/>
                <a:cs typeface="Arial" pitchFamily="34" charset="-120"/>
              </a:rPr>
              <a:t>Buscamos que el conjunto tenga amortiguamiento ζ1 &gt; ζ0, con la misma frecuencia natural:</a:t>
            </a:r>
            <a:endParaRPr lang="en-US" sz="1400" dirty="0"/>
          </a:p>
        </p:txBody>
      </p:sp>
      <p:sp>
        <p:nvSpPr>
          <p:cNvPr id="4" name="Fondo E_hc1"/>
          <p:cNvSpPr/>
          <p:nvPr/>
        </p:nvSpPr>
        <p:spPr>
          <a:xfrm>
            <a:off x="457200" y="1600200"/>
            <a:ext cx="8229600" cy="11430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c1"/>
              <p:cNvSpPr txBox="1"/>
              <p:nvPr/>
            </p:nvSpPr>
            <p:spPr>
              <a:xfrm>
                <a:off x="457200" y="1600200"/>
                <a:ext cx="8229600" cy="11430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H</m:t>
                          </m:r>
                        </m:e>
                        <m:sub>
                          <m:r>
                            <m:rPr>
                              <m:sty m:val="p"/>
                            </m:rPr>
                            <a:rPr lang="es-ES" sz="3000">
                              <a:solidFill>
                                <a:srgbClr val="1F4E79"/>
                              </a:solidFill>
                              <a:latin typeface="Cambria Math" panose="02040503050406030204" pitchFamily="18" charset="0"/>
                            </a:rPr>
                            <m:t xml:space="preserve">comp</m:t>
                          </m:r>
                        </m:sub>
                      </m:sSub>
                      <m:r>
                        <a:rPr lang="es-ES" sz="3000" i="1">
                          <a:solidFill>
                            <a:srgbClr val="1F4E79"/>
                          </a:solidFill>
                          <a:latin typeface="Cambria Math" panose="02040503050406030204" pitchFamily="18" charset="0"/>
                        </a:rPr>
                        <m:t xml:space="preserve">(s)=</m:t>
                      </m:r>
                      <m:f>
                        <m:fPr>
                          <m:ctrlPr>
                            <a:rPr lang="es-ES" sz="3000" i="1">
                              <a:latin typeface="Cambria Math" panose="02040503050406030204" pitchFamily="18" charset="0"/>
                            </a:rPr>
                          </m:ctrlPr>
                        </m:fPr>
                        <m:num>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0</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num>
                        <m:den>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c1"/>
              <p:cNvSpPr txBox="1"/>
              <p:nvPr/>
            </p:nvSpPr>
            <p:spPr>
              <a:xfrm>
                <a:off x="457200" y="1600200"/>
                <a:ext cx="8229600" cy="11430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(s² + 2ζ0ωn·s + ωn²) / (s² + 2ζ1ωn·s + ωn²)</a:t>
                </a:r>
                <a:endParaRPr lang="en-US" sz="2400" dirty="0"/>
              </a:p>
            </p:txBody>
          </p:sp>
        </mc:Fallback>
      </mc:AlternateContent>
      <p:sp>
        <p:nvSpPr>
          <p:cNvPr id="6" name="Text 4"/>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1500" dirty="0">
                <a:solidFill>
                  <a:srgbClr val="2D2D2D"/>
                </a:solidFill>
                <a:latin typeface="Arial" pitchFamily="34" charset="0"/>
                <a:ea typeface="Arial" pitchFamily="34" charset="-122"/>
                <a:cs typeface="Arial" pitchFamily="34" charset="-120"/>
              </a:rPr>
              <a:t>Separando el término constante, el segundo término es un pasabanda, HBP(s):</a:t>
            </a:r>
            <a:endParaRPr lang="en-US" sz="1500" dirty="0"/>
          </a:p>
        </p:txBody>
      </p:sp>
      <p:sp>
        <p:nvSpPr>
          <p:cNvPr id="7" name="Fondo E_hc2"/>
          <p:cNvSpPr/>
          <p:nvPr/>
        </p:nvSpPr>
        <p:spPr>
          <a:xfrm>
            <a:off x="457200" y="3246120"/>
            <a:ext cx="8229600" cy="11887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hc2"/>
              <p:cNvSpPr txBox="1"/>
              <p:nvPr/>
            </p:nvSpPr>
            <p:spPr>
              <a:xfrm>
                <a:off x="457200" y="3246120"/>
                <a:ext cx="8229600" cy="11887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H</m:t>
                          </m:r>
                        </m:e>
                        <m:sub>
                          <m:r>
                            <m:rPr>
                              <m:sty m:val="p"/>
                            </m:rPr>
                            <a:rPr lang="es-ES" sz="3000">
                              <a:solidFill>
                                <a:srgbClr val="1F4E79"/>
                              </a:solidFill>
                              <a:latin typeface="Cambria Math" panose="02040503050406030204" pitchFamily="18" charset="0"/>
                            </a:rPr>
                            <m:t xml:space="preserve">comp</m:t>
                          </m:r>
                        </m:sub>
                      </m:sSub>
                      <m:r>
                        <a:rPr lang="es-ES" sz="3000" i="1">
                          <a:solidFill>
                            <a:srgbClr val="1F4E79"/>
                          </a:solidFill>
                          <a:latin typeface="Cambria Math" panose="02040503050406030204" pitchFamily="18" charset="0"/>
                        </a:rPr>
                        <m:t xml:space="preserve">(s)=1−</m:t>
                      </m:r>
                      <m:f>
                        <m:fPr>
                          <m:ctrlPr>
                            <a:rPr lang="es-ES" sz="3000" i="1">
                              <a:latin typeface="Cambria Math" panose="02040503050406030204" pitchFamily="18" charset="0"/>
                            </a:rPr>
                          </m:ctrlPr>
                        </m:fPr>
                        <m:num>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r>
                            <a:rPr lang="es-ES" sz="3000" i="1">
                              <a:solidFill>
                                <a:srgbClr val="1F4E79"/>
                              </a:solidFill>
                              <a:latin typeface="Cambria Math" panose="02040503050406030204" pitchFamily="18" charset="0"/>
                            </a:rPr>
                            <m:t xml:space="preserve">−</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0</m:t>
                              </m:r>
                            </m:sub>
                          </m:sSub>
                          <m:r>
                            <a:rPr lang="es-ES" sz="3000" i="1">
                              <a:solidFill>
                                <a:srgbClr val="1F4E79"/>
                              </a:solidFill>
                              <a:latin typeface="Cambria Math" panose="02040503050406030204" pitchFamily="18" charset="0"/>
                            </a:rPr>
                            <m:t xml:space="preserve">)</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num>
                        <m:den>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den>
                      </m:f>
                    </m:oMath>
                  </m:oMathPara>
                </a14:m>
                <a:endParaRPr lang="es-ES"/>
              </a:p>
            </p:txBody>
          </p:sp>
        </mc:Choice>
        <mc:Fallback>
          <p:sp>
            <p:nvSpPr>
              <p:cNvPr id="8" name="Ecuación E_hc2"/>
              <p:cNvSpPr txBox="1"/>
              <p:nvPr/>
            </p:nvSpPr>
            <p:spPr>
              <a:xfrm>
                <a:off x="457200" y="3246120"/>
                <a:ext cx="8229600" cy="11887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1 − 2(ζ1 − ζ0)ωn·s / (s² + 2ζ1ωn·s + ωn²)</a:t>
                </a:r>
                <a:endParaRPr lang="en-US" sz="2400" dirty="0"/>
              </a:p>
            </p:txBody>
          </p:sp>
        </mc:Fallback>
      </mc:AlternateContent>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ec. (comp-afe); se usan ζ0, ζ1, ωn (en Ma: γ0, γ1, ω0).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Implementación: la ganancia se reparte entre las etapas para recuperar la atenuación del compensador</a:t>
            </a:r>
            <a:endParaRPr lang="en-US" sz="2400" dirty="0"/>
          </a:p>
        </p:txBody>
      </p:sp>
      <p:sp>
        <p:nvSpPr>
          <p:cNvPr id="3" name="Geófono"/>
          <p:cNvSpPr/>
          <p:nvPr/>
        </p:nvSpPr>
        <p:spPr>
          <a:xfrm>
            <a:off x="457200" y="1508760"/>
            <a:ext cx="118872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508760"/>
            <a:ext cx="118872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Geófono</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SM-24</a:t>
            </a:r>
            <a:endParaRPr lang="en-US" sz="1300" dirty="0"/>
          </a:p>
        </p:txBody>
      </p:sp>
      <p:sp>
        <p:nvSpPr>
          <p:cNvPr id="5" name="PGA"/>
          <p:cNvSpPr/>
          <p:nvPr/>
        </p:nvSpPr>
        <p:spPr>
          <a:xfrm>
            <a:off x="1920240" y="1508760"/>
            <a:ext cx="1371600" cy="640080"/>
          </a:xfrm>
          <a:prstGeom prst="roundRect">
            <a:avLst>
              <a:gd name="adj" fmla="val 11429"/>
            </a:avLst>
          </a:prstGeom>
          <a:solidFill>
            <a:srgbClr val="2E75B6"/>
          </a:solidFill>
          <a:ln w="12700">
            <a:solidFill>
              <a:srgbClr val="2E75B6"/>
            </a:solidFill>
            <a:prstDash val="solid"/>
          </a:ln>
        </p:spPr>
      </p:sp>
      <p:sp>
        <p:nvSpPr>
          <p:cNvPr id="6" name="Text 4"/>
          <p:cNvSpPr txBox="1"/>
          <p:nvPr/>
        </p:nvSpPr>
        <p:spPr>
          <a:xfrm>
            <a:off x="1920240" y="1508760"/>
            <a:ext cx="13716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Entrada dif.</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 PGA</a:t>
            </a:r>
            <a:endParaRPr lang="en-US" sz="1300" dirty="0"/>
          </a:p>
        </p:txBody>
      </p:sp>
      <p:sp>
        <p:nvSpPr>
          <p:cNvPr id="7" name="Pasabanda"/>
          <p:cNvSpPr/>
          <p:nvPr/>
        </p:nvSpPr>
        <p:spPr>
          <a:xfrm>
            <a:off x="3749040" y="2194560"/>
            <a:ext cx="1463040" cy="640080"/>
          </a:xfrm>
          <a:prstGeom prst="roundRect">
            <a:avLst>
              <a:gd name="adj" fmla="val 11429"/>
            </a:avLst>
          </a:prstGeom>
          <a:solidFill>
            <a:srgbClr val="C55A11"/>
          </a:solidFill>
          <a:ln w="12700">
            <a:solidFill>
              <a:srgbClr val="C55A11"/>
            </a:solidFill>
            <a:prstDash val="solid"/>
          </a:ln>
        </p:spPr>
      </p:sp>
      <p:sp>
        <p:nvSpPr>
          <p:cNvPr id="8" name="Text 6"/>
          <p:cNvSpPr txBox="1"/>
          <p:nvPr/>
        </p:nvSpPr>
        <p:spPr>
          <a:xfrm>
            <a:off x="3749040" y="2194560"/>
            <a:ext cx="14630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Pasabanda</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inversor</a:t>
            </a:r>
            <a:endParaRPr lang="en-US" sz="1300" dirty="0"/>
          </a:p>
        </p:txBody>
      </p:sp>
      <p:sp>
        <p:nvSpPr>
          <p:cNvPr id="9" name="Sumador"/>
          <p:cNvSpPr/>
          <p:nvPr/>
        </p:nvSpPr>
        <p:spPr>
          <a:xfrm>
            <a:off x="5239512" y="1581912"/>
            <a:ext cx="493776" cy="493776"/>
          </a:xfrm>
          <a:prstGeom prst="ellipse">
            <a:avLst/>
          </a:prstGeom>
          <a:solidFill>
            <a:srgbClr val="1F4E79"/>
          </a:solidFill>
          <a:ln w="12700">
            <a:solidFill>
              <a:srgbClr val="1F4E79"/>
            </a:solidFill>
            <a:prstDash val="solid"/>
          </a:ln>
        </p:spPr>
      </p:sp>
      <p:sp>
        <p:nvSpPr>
          <p:cNvPr id="10" name="Text 8"/>
          <p:cNvSpPr txBox="1"/>
          <p:nvPr/>
        </p:nvSpPr>
        <p:spPr>
          <a:xfrm>
            <a:off x="5239512" y="15819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Σ</a:t>
            </a:r>
            <a:endParaRPr lang="en-US" sz="1800" dirty="0"/>
          </a:p>
        </p:txBody>
      </p:sp>
      <p:sp>
        <p:nvSpPr>
          <p:cNvPr id="11" name="Pasa-bajos"/>
          <p:cNvSpPr/>
          <p:nvPr/>
        </p:nvSpPr>
        <p:spPr>
          <a:xfrm>
            <a:off x="6263640" y="1508760"/>
            <a:ext cx="114300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6263640" y="1508760"/>
            <a:ext cx="11430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Pasa-bajos</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antialias</a:t>
            </a:r>
            <a:endParaRPr lang="en-US" sz="1300" dirty="0"/>
          </a:p>
        </p:txBody>
      </p:sp>
      <p:sp>
        <p:nvSpPr>
          <p:cNvPr id="13" name="ADC"/>
          <p:cNvSpPr/>
          <p:nvPr/>
        </p:nvSpPr>
        <p:spPr>
          <a:xfrm>
            <a:off x="7680960" y="1508760"/>
            <a:ext cx="1005840" cy="640080"/>
          </a:xfrm>
          <a:prstGeom prst="roundRect">
            <a:avLst>
              <a:gd name="adj" fmla="val 11429"/>
            </a:avLst>
          </a:prstGeom>
          <a:solidFill>
            <a:srgbClr val="1F4E79"/>
          </a:solidFill>
          <a:ln w="12700">
            <a:solidFill>
              <a:srgbClr val="1F4E79"/>
            </a:solidFill>
            <a:prstDash val="solid"/>
          </a:ln>
        </p:spPr>
      </p:sp>
      <p:sp>
        <p:nvSpPr>
          <p:cNvPr id="14" name="Text 12"/>
          <p:cNvSpPr txBox="1"/>
          <p:nvPr/>
        </p:nvSpPr>
        <p:spPr>
          <a:xfrm>
            <a:off x="7680960" y="1508760"/>
            <a:ext cx="10058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ADC</a:t>
            </a:r>
            <a:endParaRPr lang="en-US" sz="1300" dirty="0"/>
          </a:p>
        </p:txBody>
      </p:sp>
      <p:sp>
        <p:nvSpPr>
          <p:cNvPr id="15" name="Shape 13"/>
          <p:cNvSpPr/>
          <p:nvPr/>
        </p:nvSpPr>
        <p:spPr>
          <a:xfrm>
            <a:off x="1645920" y="1828800"/>
            <a:ext cx="274320" cy="0"/>
          </a:xfrm>
          <a:prstGeom prst="line">
            <a:avLst/>
          </a:prstGeom>
          <a:noFill/>
          <a:ln w="31750">
            <a:solidFill>
              <a:srgbClr val="1F4E79"/>
            </a:solidFill>
            <a:prstDash val="solid"/>
            <a:tailEnd type="triangle"/>
          </a:ln>
        </p:spPr>
      </p:sp>
      <p:sp>
        <p:nvSpPr>
          <p:cNvPr id="16" name="Shape 14"/>
          <p:cNvSpPr/>
          <p:nvPr/>
        </p:nvSpPr>
        <p:spPr>
          <a:xfrm>
            <a:off x="3291840" y="1828800"/>
            <a:ext cx="1947672" cy="0"/>
          </a:xfrm>
          <a:prstGeom prst="line">
            <a:avLst/>
          </a:prstGeom>
          <a:noFill/>
          <a:ln w="31750">
            <a:solidFill>
              <a:srgbClr val="1F4E79"/>
            </a:solidFill>
            <a:prstDash val="solid"/>
            <a:tailEnd type="triangle"/>
          </a:ln>
        </p:spPr>
      </p:sp>
      <p:sp>
        <p:nvSpPr>
          <p:cNvPr id="17" name="Nodo de derivación"/>
          <p:cNvSpPr/>
          <p:nvPr/>
        </p:nvSpPr>
        <p:spPr>
          <a:xfrm>
            <a:off x="3474720" y="1783080"/>
            <a:ext cx="91440" cy="91440"/>
          </a:xfrm>
          <a:prstGeom prst="ellipse">
            <a:avLst/>
          </a:prstGeom>
          <a:solidFill>
            <a:srgbClr val="1F4E79"/>
          </a:solidFill>
          <a:ln w="12700">
            <a:solidFill>
              <a:srgbClr val="1F4E79"/>
            </a:solidFill>
            <a:prstDash val="solid"/>
          </a:ln>
        </p:spPr>
      </p:sp>
      <p:sp>
        <p:nvSpPr>
          <p:cNvPr id="18" name="Shape 16"/>
          <p:cNvSpPr/>
          <p:nvPr/>
        </p:nvSpPr>
        <p:spPr>
          <a:xfrm>
            <a:off x="3520440" y="1828800"/>
            <a:ext cx="0" cy="685800"/>
          </a:xfrm>
          <a:prstGeom prst="line">
            <a:avLst/>
          </a:prstGeom>
          <a:noFill/>
          <a:ln w="31750">
            <a:solidFill>
              <a:srgbClr val="C55A11"/>
            </a:solidFill>
            <a:prstDash val="solid"/>
          </a:ln>
        </p:spPr>
      </p:sp>
      <p:sp>
        <p:nvSpPr>
          <p:cNvPr id="19" name="Shape 17"/>
          <p:cNvSpPr/>
          <p:nvPr/>
        </p:nvSpPr>
        <p:spPr>
          <a:xfrm>
            <a:off x="3520440" y="2514600"/>
            <a:ext cx="228600" cy="0"/>
          </a:xfrm>
          <a:prstGeom prst="line">
            <a:avLst/>
          </a:prstGeom>
          <a:noFill/>
          <a:ln w="31750">
            <a:solidFill>
              <a:srgbClr val="C55A11"/>
            </a:solidFill>
            <a:prstDash val="solid"/>
            <a:tailEnd type="triangle"/>
          </a:ln>
        </p:spPr>
      </p:sp>
      <p:sp>
        <p:nvSpPr>
          <p:cNvPr id="20" name="Shape 18"/>
          <p:cNvSpPr/>
          <p:nvPr/>
        </p:nvSpPr>
        <p:spPr>
          <a:xfrm>
            <a:off x="5212080" y="2514600"/>
            <a:ext cx="274320" cy="0"/>
          </a:xfrm>
          <a:prstGeom prst="line">
            <a:avLst/>
          </a:prstGeom>
          <a:noFill/>
          <a:ln w="31750">
            <a:solidFill>
              <a:srgbClr val="C55A11"/>
            </a:solidFill>
            <a:prstDash val="solid"/>
          </a:ln>
        </p:spPr>
      </p:sp>
      <p:sp>
        <p:nvSpPr>
          <p:cNvPr id="21" name="Shape 19"/>
          <p:cNvSpPr/>
          <p:nvPr/>
        </p:nvSpPr>
        <p:spPr>
          <a:xfrm flipV="1">
            <a:off x="5486400" y="2075688"/>
            <a:ext cx="0" cy="438912"/>
          </a:xfrm>
          <a:prstGeom prst="line">
            <a:avLst/>
          </a:prstGeom>
          <a:noFill/>
          <a:ln w="31750">
            <a:solidFill>
              <a:srgbClr val="C55A11"/>
            </a:solidFill>
            <a:prstDash val="solid"/>
            <a:tailEnd type="triangle"/>
          </a:ln>
        </p:spPr>
      </p:sp>
      <p:sp>
        <p:nvSpPr>
          <p:cNvPr id="22" name="Shape 20"/>
          <p:cNvSpPr/>
          <p:nvPr/>
        </p:nvSpPr>
        <p:spPr>
          <a:xfrm>
            <a:off x="5733288" y="1828800"/>
            <a:ext cx="530352" cy="0"/>
          </a:xfrm>
          <a:prstGeom prst="line">
            <a:avLst/>
          </a:prstGeom>
          <a:noFill/>
          <a:ln w="31750">
            <a:solidFill>
              <a:srgbClr val="1F4E79"/>
            </a:solidFill>
            <a:prstDash val="solid"/>
            <a:tailEnd type="triangle"/>
          </a:ln>
        </p:spPr>
      </p:sp>
      <p:sp>
        <p:nvSpPr>
          <p:cNvPr id="23" name="Shape 21"/>
          <p:cNvSpPr/>
          <p:nvPr/>
        </p:nvSpPr>
        <p:spPr>
          <a:xfrm>
            <a:off x="7406640" y="1828800"/>
            <a:ext cx="274320" cy="0"/>
          </a:xfrm>
          <a:prstGeom prst="line">
            <a:avLst/>
          </a:prstGeom>
          <a:noFill/>
          <a:ln w="31750">
            <a:solidFill>
              <a:srgbClr val="1F4E79"/>
            </a:solidFill>
            <a:prstDash val="solid"/>
            <a:tailEnd type="triangle"/>
          </a:ln>
        </p:spPr>
      </p:sp>
      <p:sp>
        <p:nvSpPr>
          <p:cNvPr id="24" name="Text 22"/>
          <p:cNvSpPr txBox="1"/>
          <p:nvPr/>
        </p:nvSpPr>
        <p:spPr>
          <a:xfrm>
            <a:off x="4892040" y="1444752"/>
            <a:ext cx="274320" cy="27432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a:t>
            </a:r>
            <a:endParaRPr lang="en-US" sz="1600" dirty="0"/>
          </a:p>
        </p:txBody>
      </p:sp>
      <p:sp>
        <p:nvSpPr>
          <p:cNvPr id="25" name="Text 23"/>
          <p:cNvSpPr txBox="1"/>
          <p:nvPr/>
        </p:nvSpPr>
        <p:spPr>
          <a:xfrm>
            <a:off x="5577840" y="2130552"/>
            <a:ext cx="274320" cy="274320"/>
          </a:xfrm>
          <a:prstGeom prst="rect">
            <a:avLst/>
          </a:prstGeom>
          <a:noFill/>
          <a:ln/>
        </p:spPr>
        <p:txBody>
          <a:bodyPr wrap="square" lIns="0" tIns="0" rIns="0" bIns="0" rtlCol="0" anchor="t"/>
          <a:lstStyle/>
          <a:p>
            <a:pPr algn="ctr" indent="0" marL="0">
              <a:buNone/>
            </a:pPr>
            <a:r>
              <a:rPr lang="en-US" sz="2000" b="1" dirty="0">
                <a:solidFill>
                  <a:srgbClr val="C55A11"/>
                </a:solidFill>
                <a:latin typeface="Arial" pitchFamily="34" charset="0"/>
                <a:ea typeface="Arial" pitchFamily="34" charset="-122"/>
                <a:cs typeface="Arial" pitchFamily="34" charset="-120"/>
              </a:rPr>
              <a:t>+</a:t>
            </a:r>
            <a:endParaRPr lang="en-US" sz="2000" dirty="0"/>
          </a:p>
        </p:txBody>
      </p:sp>
      <p:sp>
        <p:nvSpPr>
          <p:cNvPr id="26" name="Cuerpo"/>
          <p:cNvSpPr txBox="1"/>
          <p:nvPr/>
        </p:nvSpPr>
        <p:spPr>
          <a:xfrm>
            <a:off x="457200" y="3246120"/>
            <a:ext cx="8229600" cy="1188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500" dirty="0"/>
          </a:p>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Con ζ1 ≈ 938, el compensador atenúa 2ζ1 ≈ 1876 veces: la ganancia lo recupera</a:t>
            </a:r>
            <a:endParaRPr lang="en-US" sz="1500" dirty="0"/>
          </a:p>
        </p:txBody>
      </p:sp>
      <p:sp>
        <p:nvSpPr>
          <p:cNvPr id="2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latex-15p-review, sec. 3 (acondicionamiento); 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entrada es instrumental, con dos operacionales, para rechazar el ruido de red</a:t>
            </a:r>
            <a:endParaRPr lang="en-US" sz="2400" dirty="0"/>
          </a:p>
        </p:txBody>
      </p:sp>
      <p:pic>
        <p:nvPicPr>
          <p:cNvPr id="3" name="Entrada diferencial" descr="Amplificador diferencial de dos operacionales con entradas V1 y V2">    </p:cNvPr>
          <p:cNvPicPr>
            <a:picLocks noChangeAspect="1"/>
          </p:cNvPicPr>
          <p:nvPr/>
        </p:nvPicPr>
        <p:blipFill>
          <a:blip r:embed="rId1"/>
          <a:stretch>
            <a:fillRect/>
          </a:stretch>
        </p:blipFill>
        <p:spPr>
          <a:xfrm>
            <a:off x="365760" y="1280160"/>
            <a:ext cx="4754880" cy="2377440"/>
          </a:xfrm>
          <a:prstGeom prst="rect">
            <a:avLst/>
          </a:prstGeom>
        </p:spPr>
      </p:pic>
      <p:sp>
        <p:nvSpPr>
          <p:cNvPr id="4" name="Cuerpo"/>
          <p:cNvSpPr txBox="1"/>
          <p:nvPr/>
        </p:nvSpPr>
        <p:spPr>
          <a:xfrm>
            <a:off x="5394960" y="1371600"/>
            <a:ext cx="32918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ruido de red está muy presente en el geófono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entrada diferencial lo rechaza como señal de modo común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Aporta una ganancia de ×2</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genérico aportado por el autor (fuente por confirmar); ganancia: documento de tesis,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pasabanda es un inversor con dos quiebres desacoplados, en lugar de un Sallen-Key</a:t>
            </a:r>
            <a:endParaRPr lang="en-US" sz="2400" dirty="0"/>
          </a:p>
        </p:txBody>
      </p:sp>
      <p:pic>
        <p:nvPicPr>
          <p:cNvPr id="3" name="Sallen-Key" descr="Filtro pasabanda Sallen-Key con admitancias Y1 a Y5">    </p:cNvPr>
          <p:cNvPicPr>
            <a:picLocks noChangeAspect="1"/>
          </p:cNvPicPr>
          <p:nvPr/>
        </p:nvPicPr>
        <p:blipFill>
          <a:blip r:embed="rId1"/>
          <a:stretch>
            <a:fillRect/>
          </a:stretch>
        </p:blipFill>
        <p:spPr>
          <a:xfrm>
            <a:off x="548640" y="1234440"/>
            <a:ext cx="2926080" cy="2194560"/>
          </a:xfrm>
          <a:prstGeom prst="rect">
            <a:avLst/>
          </a:prstGeom>
        </p:spPr>
      </p:pic>
      <p:pic>
        <p:nvPicPr>
          <p:cNvPr id="4" name="Pasabanda inversor" descr="Amplificador inversor con Cin y Rin en la entrada y Rf en paralelo con Cf en la realimentación">    </p:cNvPr>
          <p:cNvPicPr>
            <a:picLocks noChangeAspect="1"/>
          </p:cNvPicPr>
          <p:nvPr/>
        </p:nvPicPr>
        <p:blipFill>
          <a:blip r:embed="rId2"/>
          <a:stretch>
            <a:fillRect/>
          </a:stretch>
        </p:blipFill>
        <p:spPr>
          <a:xfrm>
            <a:off x="4480560" y="1234440"/>
            <a:ext cx="3840480" cy="1920240"/>
          </a:xfrm>
          <a:prstGeom prst="rect">
            <a:avLst/>
          </a:prstGeom>
        </p:spPr>
      </p:pic>
      <p:sp>
        <p:nvSpPr>
          <p:cNvPr id="5" name="Text 1"/>
          <p:cNvSpPr txBox="1"/>
          <p:nvPr/>
        </p:nvSpPr>
        <p:spPr>
          <a:xfrm>
            <a:off x="457200" y="3520440"/>
            <a:ext cx="3108960" cy="274320"/>
          </a:xfrm>
          <a:prstGeom prst="rect">
            <a:avLst/>
          </a:prstGeom>
          <a:noFill/>
          <a:ln/>
        </p:spPr>
        <p:txBody>
          <a:bodyPr wrap="square" lIns="0" tIns="0" rIns="0" bIns="0" rtlCol="0" anchor="t"/>
          <a:lstStyle/>
          <a:p>
            <a:pPr algn="ctr" indent="0" marL="0">
              <a:buNone/>
            </a:pPr>
            <a:r>
              <a:rPr lang="en-US" sz="1400" b="1" dirty="0">
                <a:solidFill>
                  <a:srgbClr val="6B6B6B"/>
                </a:solidFill>
                <a:latin typeface="Arial" pitchFamily="34" charset="0"/>
                <a:ea typeface="Arial" pitchFamily="34" charset="-122"/>
                <a:cs typeface="Arial" pitchFamily="34" charset="-120"/>
              </a:rPr>
              <a:t>Ma et al.: Sallen-Key</a:t>
            </a:r>
            <a:endParaRPr lang="en-US" sz="1400" dirty="0"/>
          </a:p>
        </p:txBody>
      </p:sp>
      <p:sp>
        <p:nvSpPr>
          <p:cNvPr id="6" name="Text 2"/>
          <p:cNvSpPr txBox="1"/>
          <p:nvPr/>
        </p:nvSpPr>
        <p:spPr>
          <a:xfrm>
            <a:off x="4297680" y="3200400"/>
            <a:ext cx="4389120" cy="274320"/>
          </a:xfrm>
          <a:prstGeom prst="rect">
            <a:avLst/>
          </a:prstGeom>
          <a:noFill/>
          <a:ln/>
        </p:spPr>
        <p:txBody>
          <a:bodyPr wrap="square" lIns="0" tIns="0" rIns="0" bIns="0" rtlCol="0" anchor="t"/>
          <a:lstStyle/>
          <a:p>
            <a:pPr algn="ctr" indent="0" marL="0">
              <a:buNone/>
            </a:pPr>
            <a:r>
              <a:rPr lang="en-US" sz="1400" b="1" dirty="0">
                <a:solidFill>
                  <a:srgbClr val="1F4E79"/>
                </a:solidFill>
                <a:latin typeface="Arial" pitchFamily="34" charset="0"/>
                <a:ea typeface="Arial" pitchFamily="34" charset="-122"/>
                <a:cs typeface="Arial" pitchFamily="34" charset="-120"/>
              </a:rPr>
              <a:t>Este trabajo: inversor, −Zf/Zin</a:t>
            </a:r>
            <a:endParaRPr lang="en-US" sz="1400" dirty="0"/>
          </a:p>
        </p:txBody>
      </p:sp>
      <p:sp>
        <p:nvSpPr>
          <p:cNvPr id="7" name="Text 3"/>
          <p:cNvSpPr txBox="1"/>
          <p:nvPr/>
        </p:nvSpPr>
        <p:spPr>
          <a:xfrm>
            <a:off x="457200" y="3840480"/>
            <a:ext cx="3108960" cy="457200"/>
          </a:xfrm>
          <a:prstGeom prst="rect">
            <a:avLst/>
          </a:prstGeom>
          <a:noFill/>
          <a:ln/>
        </p:spPr>
        <p:txBody>
          <a:bodyPr wrap="square" lIns="0" tIns="0" rIns="0" bIns="0" rtlCol="0" anchor="t"/>
          <a:lstStyle/>
          <a:p>
            <a:pPr algn="ctr" indent="0" marL="0">
              <a:buNone/>
            </a:pPr>
            <a:r>
              <a:rPr lang="en-US" sz="1300" dirty="0">
                <a:solidFill>
                  <a:srgbClr val="6B6B6B"/>
                </a:solidFill>
                <a:latin typeface="Arial" pitchFamily="34" charset="0"/>
                <a:ea typeface="Arial" pitchFamily="34" charset="-122"/>
                <a:cs typeface="Arial" pitchFamily="34" charset="-120"/>
              </a:rPr>
              <a:t>Cada polo se reparte entre varios componentes</a:t>
            </a:r>
            <a:endParaRPr lang="en-US" sz="1300" dirty="0"/>
          </a:p>
        </p:txBody>
      </p:sp>
      <p:sp>
        <p:nvSpPr>
          <p:cNvPr id="8" name="Fondo E_flow"/>
          <p:cNvSpPr/>
          <p:nvPr/>
        </p:nvSpPr>
        <p:spPr>
          <a:xfrm>
            <a:off x="4297680" y="3520440"/>
            <a:ext cx="4389120" cy="5029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flow"/>
              <p:cNvSpPr txBox="1"/>
              <p:nvPr/>
            </p:nvSpPr>
            <p:spPr>
              <a:xfrm>
                <a:off x="4297680" y="3520440"/>
                <a:ext cx="4389120" cy="5029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m:rPr>
                              <m:sty m:val="p"/>
                            </m:rPr>
                            <a:rPr lang="es-ES" sz="2400">
                              <a:solidFill>
                                <a:srgbClr val="1F4E79"/>
                              </a:solidFill>
                              <a:latin typeface="Cambria Math" panose="02040503050406030204" pitchFamily="18" charset="0"/>
                            </a:rPr>
                            <m:t xml:space="preserve">low</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1</m:t>
                          </m:r>
                        </m:num>
                        <m:den>
                          <m:r>
                            <a:rPr lang="es-ES" sz="2400" i="1">
                              <a:solidFill>
                                <a:srgbClr val="1F4E79"/>
                              </a:solidFill>
                              <a:latin typeface="Cambria Math" panose="02040503050406030204" pitchFamily="18" charset="0"/>
                            </a:rPr>
                            <m:t xml:space="preserve">2π</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m:rPr>
                                  <m:sty m:val="p"/>
                                </m:rPr>
                                <a:rPr lang="es-ES" sz="2400">
                                  <a:solidFill>
                                    <a:srgbClr val="1F4E79"/>
                                  </a:solidFill>
                                  <a:latin typeface="Cambria Math" panose="02040503050406030204" pitchFamily="18" charset="0"/>
                                </a:rPr>
                                <m:t xml:space="preserve">in</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m:rPr>
                                  <m:sty m:val="p"/>
                                </m:rPr>
                                <a:rPr lang="es-ES" sz="2400">
                                  <a:solidFill>
                                    <a:srgbClr val="1F4E79"/>
                                  </a:solidFill>
                                  <a:latin typeface="Cambria Math" panose="02040503050406030204" pitchFamily="18" charset="0"/>
                                </a:rPr>
                                <m:t xml:space="preserve">in</m:t>
                              </m:r>
                            </m:sub>
                          </m:sSub>
                        </m:den>
                      </m:f>
                    </m:oMath>
                  </m:oMathPara>
                </a14:m>
                <a:endParaRPr lang="es-ES"/>
              </a:p>
            </p:txBody>
          </p:sp>
        </mc:Choice>
        <mc:Fallback>
          <p:sp>
            <p:nvSpPr>
              <p:cNvPr id="9" name="Ecuación E_flow"/>
              <p:cNvSpPr txBox="1"/>
              <p:nvPr/>
            </p:nvSpPr>
            <p:spPr>
              <a:xfrm>
                <a:off x="4297680" y="3520440"/>
                <a:ext cx="4389120" cy="5029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f_low = 1 / (2π Rin Cin)</a:t>
                </a:r>
                <a:endParaRPr lang="en-US" sz="2400" dirty="0"/>
              </a:p>
            </p:txBody>
          </p:sp>
        </mc:Fallback>
      </mc:AlternateContent>
      <p:sp>
        <p:nvSpPr>
          <p:cNvPr id="10" name="Fondo E_fhigh"/>
          <p:cNvSpPr/>
          <p:nvPr/>
        </p:nvSpPr>
        <p:spPr>
          <a:xfrm>
            <a:off x="4297680" y="4069080"/>
            <a:ext cx="4389120" cy="5029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1" name="Ecuación E_fhigh"/>
              <p:cNvSpPr txBox="1"/>
              <p:nvPr/>
            </p:nvSpPr>
            <p:spPr>
              <a:xfrm>
                <a:off x="4297680" y="4069080"/>
                <a:ext cx="4389120" cy="5029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m:rPr>
                              <m:sty m:val="p"/>
                            </m:rPr>
                            <a:rPr lang="es-ES" sz="2400">
                              <a:solidFill>
                                <a:srgbClr val="1F4E79"/>
                              </a:solidFill>
                              <a:latin typeface="Cambria Math" panose="02040503050406030204" pitchFamily="18" charset="0"/>
                            </a:rPr>
                            <m:t xml:space="preserve">high</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1</m:t>
                          </m:r>
                        </m:num>
                        <m:den>
                          <m:r>
                            <a:rPr lang="es-ES" sz="2400" i="1">
                              <a:solidFill>
                                <a:srgbClr val="1F4E79"/>
                              </a:solidFill>
                              <a:latin typeface="Cambria Math" panose="02040503050406030204" pitchFamily="18" charset="0"/>
                            </a:rPr>
                            <m:t xml:space="preserve">2π</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m:rPr>
                                  <m:sty m:val="p"/>
                                </m:rPr>
                                <a:rPr lang="es-ES" sz="2400">
                                  <a:solidFill>
                                    <a:srgbClr val="1F4E79"/>
                                  </a:solidFill>
                                  <a:latin typeface="Cambria Math" panose="02040503050406030204" pitchFamily="18" charset="0"/>
                                </a:rPr>
                                <m:t xml:space="preserve">f</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m:rPr>
                                  <m:sty m:val="p"/>
                                </m:rPr>
                                <a:rPr lang="es-ES" sz="2400">
                                  <a:solidFill>
                                    <a:srgbClr val="1F4E79"/>
                                  </a:solidFill>
                                  <a:latin typeface="Cambria Math" panose="02040503050406030204" pitchFamily="18" charset="0"/>
                                </a:rPr>
                                <m:t xml:space="preserve">f</m:t>
                              </m:r>
                            </m:sub>
                          </m:sSub>
                        </m:den>
                      </m:f>
                    </m:oMath>
                  </m:oMathPara>
                </a14:m>
                <a:endParaRPr lang="es-ES"/>
              </a:p>
            </p:txBody>
          </p:sp>
        </mc:Choice>
        <mc:Fallback>
          <p:sp>
            <p:nvSpPr>
              <p:cNvPr id="11" name="Ecuación E_fhigh"/>
              <p:cNvSpPr txBox="1"/>
              <p:nvPr/>
            </p:nvSpPr>
            <p:spPr>
              <a:xfrm>
                <a:off x="4297680" y="4069080"/>
                <a:ext cx="4389120" cy="5029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f_high = 1 / (2π Rf Cf)</a:t>
                </a:r>
                <a:endParaRPr lang="en-US" sz="2400" dirty="0"/>
              </a:p>
            </p:txBody>
          </p:sp>
        </mc:Fallback>
      </mc:AlternateContent>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latex-15p-review, sec. 3. Imágenes aportadas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el pasabanda ya invierte la fase, un sumador reemplaza al amplificador diferencial</a:t>
            </a:r>
            <a:endParaRPr lang="en-US" sz="2400" dirty="0"/>
          </a:p>
        </p:txBody>
      </p:sp>
      <p:pic>
        <p:nvPicPr>
          <p:cNvPr id="3" name="Diferencial de Ma" descr="Amplificador diferencial de un operacional con R1 a R4">    </p:cNvPr>
          <p:cNvPicPr>
            <a:picLocks noChangeAspect="1"/>
          </p:cNvPicPr>
          <p:nvPr/>
        </p:nvPicPr>
        <p:blipFill>
          <a:blip r:embed="rId1"/>
          <a:stretch>
            <a:fillRect/>
          </a:stretch>
        </p:blipFill>
        <p:spPr>
          <a:xfrm>
            <a:off x="457200" y="1188720"/>
            <a:ext cx="2834640" cy="2125980"/>
          </a:xfrm>
          <a:prstGeom prst="rect">
            <a:avLst/>
          </a:prstGeom>
        </p:spPr>
      </p:pic>
      <p:pic>
        <p:nvPicPr>
          <p:cNvPr id="4" name="Sumador inversor" descr="Sumador inversor con Rf en paralelo con Cf">    </p:cNvPr>
          <p:cNvPicPr>
            <a:picLocks noChangeAspect="1"/>
          </p:cNvPicPr>
          <p:nvPr/>
        </p:nvPicPr>
        <p:blipFill>
          <a:blip r:embed="rId2"/>
          <a:stretch>
            <a:fillRect/>
          </a:stretch>
        </p:blipFill>
        <p:spPr>
          <a:xfrm>
            <a:off x="4297680" y="1188720"/>
            <a:ext cx="2834640" cy="2125980"/>
          </a:xfrm>
          <a:prstGeom prst="rect">
            <a:avLst/>
          </a:prstGeom>
        </p:spPr>
      </p:pic>
      <p:sp>
        <p:nvSpPr>
          <p:cNvPr id="5" name="Text 1"/>
          <p:cNvSpPr txBox="1"/>
          <p:nvPr/>
        </p:nvSpPr>
        <p:spPr>
          <a:xfrm>
            <a:off x="457200" y="3383280"/>
            <a:ext cx="3108960" cy="274320"/>
          </a:xfrm>
          <a:prstGeom prst="rect">
            <a:avLst/>
          </a:prstGeom>
          <a:noFill/>
          <a:ln/>
        </p:spPr>
        <p:txBody>
          <a:bodyPr wrap="square" lIns="0" tIns="0" rIns="0" bIns="0" rtlCol="0" anchor="t"/>
          <a:lstStyle/>
          <a:p>
            <a:pPr indent="0" marL="0">
              <a:buNone/>
            </a:pPr>
            <a:r>
              <a:rPr lang="en-US" sz="1400" b="1" dirty="0">
                <a:solidFill>
                  <a:srgbClr val="6B6B6B"/>
                </a:solidFill>
                <a:latin typeface="Arial" pitchFamily="34" charset="0"/>
                <a:ea typeface="Arial" pitchFamily="34" charset="-122"/>
                <a:cs typeface="Arial" pitchFamily="34" charset="-120"/>
              </a:rPr>
              <a:t>Ma et al.: amplificador diferencial</a:t>
            </a:r>
            <a:endParaRPr lang="en-US" sz="1400" dirty="0"/>
          </a:p>
        </p:txBody>
      </p:sp>
      <p:sp>
        <p:nvSpPr>
          <p:cNvPr id="6" name="Text 2"/>
          <p:cNvSpPr txBox="1"/>
          <p:nvPr/>
        </p:nvSpPr>
        <p:spPr>
          <a:xfrm>
            <a:off x="4297680" y="3383280"/>
            <a:ext cx="4389120" cy="274320"/>
          </a:xfrm>
          <a:prstGeom prst="rect">
            <a:avLst/>
          </a:prstGeom>
          <a:noFill/>
          <a:ln/>
        </p:spPr>
        <p:txBody>
          <a:bodyPr wrap="square" lIns="0" tIns="0" rIns="0" bIns="0" rtlCol="0" anchor="t"/>
          <a:lstStyle/>
          <a:p>
            <a:pPr indent="0" marL="0">
              <a:buNone/>
            </a:pPr>
            <a:r>
              <a:rPr lang="en-US" sz="1400" b="1" dirty="0">
                <a:solidFill>
                  <a:srgbClr val="1F4E79"/>
                </a:solidFill>
                <a:latin typeface="Arial" pitchFamily="34" charset="0"/>
                <a:ea typeface="Arial" pitchFamily="34" charset="-122"/>
                <a:cs typeface="Arial" pitchFamily="34" charset="-120"/>
              </a:rPr>
              <a:t>Este trabajo: sumador inversor</a:t>
            </a:r>
            <a:endParaRPr lang="en-US" sz="1400" dirty="0"/>
          </a:p>
        </p:txBody>
      </p:sp>
      <p:sp>
        <p:nvSpPr>
          <p:cNvPr id="7" name="Text 3"/>
          <p:cNvSpPr txBox="1"/>
          <p:nvPr/>
        </p:nvSpPr>
        <p:spPr>
          <a:xfrm>
            <a:off x="457200" y="3703320"/>
            <a:ext cx="3108960" cy="45720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Exige resistencias pareadas</a:t>
            </a:r>
            <a:endParaRPr lang="en-US" sz="1300" dirty="0"/>
          </a:p>
        </p:txBody>
      </p:sp>
      <p:sp>
        <p:nvSpPr>
          <p:cNvPr id="8" name="Cuerpo"/>
          <p:cNvSpPr txBox="1"/>
          <p:nvPr/>
        </p:nvSpPr>
        <p:spPr>
          <a:xfrm>
            <a:off x="4297680" y="3657600"/>
            <a:ext cx="4389120" cy="868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2D2D2D"/>
                </a:solidFill>
                <a:latin typeface="Arial" pitchFamily="34" charset="0"/>
                <a:ea typeface="Arial" pitchFamily="34" charset="-122"/>
                <a:cs typeface="Arial" pitchFamily="34" charset="-120"/>
              </a:rPr>
              <a:t>Menos componentes y menos dependencia de tolerancias</a:t>
            </a:r>
            <a:endParaRPr lang="en-US" sz="1300" dirty="0"/>
          </a:p>
          <a:p>
            <a:pPr marL="342900" indent="-342900">
              <a:spcAft>
                <a:spcPts val="400"/>
              </a:spcAft>
              <a:buSzPct val="100000"/>
              <a:buChar char="•"/>
            </a:pPr>
            <a:r>
              <a:rPr lang="en-US" sz="1300" dirty="0">
                <a:solidFill>
                  <a:srgbClr val="2D2D2D"/>
                </a:solidFill>
                <a:latin typeface="Arial" pitchFamily="34" charset="0"/>
                <a:ea typeface="Arial" pitchFamily="34" charset="-122"/>
                <a:cs typeface="Arial" pitchFamily="34" charset="-120"/>
              </a:rPr>
              <a:t>Cf en paralelo con Rf agrega un polo pasa-bajos</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latex-15p-review, sec. 3. Imágenes aportadas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antialias es un Bessel de tercer orden que aprovecha el polo del sumador</a:t>
            </a:r>
            <a:endParaRPr lang="en-US" sz="2400" dirty="0"/>
          </a:p>
        </p:txBody>
      </p:sp>
      <p:pic>
        <p:nvPicPr>
          <p:cNvPr id="3" name="MFB" descr="Filtro pasabajos de realimentación múltiple (MFB) con R1, R3, R4, C2 y C5">    </p:cNvPr>
          <p:cNvPicPr>
            <a:picLocks noChangeAspect="1"/>
          </p:cNvPicPr>
          <p:nvPr/>
        </p:nvPicPr>
        <p:blipFill>
          <a:blip r:embed="rId1"/>
          <a:stretch>
            <a:fillRect/>
          </a:stretch>
        </p:blipFill>
        <p:spPr>
          <a:xfrm>
            <a:off x="365760" y="1234440"/>
            <a:ext cx="4480560" cy="3360420"/>
          </a:xfrm>
          <a:prstGeom prst="rect">
            <a:avLst/>
          </a:prstGeom>
        </p:spPr>
      </p:pic>
      <p:sp>
        <p:nvSpPr>
          <p:cNvPr id="4" name="Cuerpo"/>
          <p:cNvSpPr txBox="1"/>
          <p:nvPr/>
        </p:nvSpPr>
        <p:spPr>
          <a:xfrm>
            <a:off x="5029200" y="1325880"/>
            <a:ext cx="365760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Se decidió que sea Bessel, de fase casi lineal</a:t>
            </a:r>
            <a:endParaRPr lang="en-US" sz="1500" dirty="0"/>
          </a:p>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El polo del sumador se aprovecha para completar un Bessel de tercer orden con un MFB de segundo orden</a:t>
            </a:r>
            <a:endParaRPr lang="en-US" sz="1500" dirty="0"/>
          </a:p>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El MFB aprovecha mejor el ancho de banda ya limitado del operacional del PSoC: permite ganar más en esta etapa sin perder rendimiento</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latex-15p-review sec. 3 y latex/03b_topologias.tex. Imagen aportada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AFE final</a:t>
            </a:r>
            <a:endParaRPr lang="en-US" sz="2400" dirty="0"/>
          </a:p>
        </p:txBody>
      </p:sp>
      <p:pic>
        <p:nvPicPr>
          <p:cNvPr id="3" name="Esquema AFE" descr="Esquema del frente analógico en PSoC Creator: entrada diferencial, ganancia programable, rama pasabanda, sumador, pasa-bajos, referencias VDAC y ADC">    </p:cNvPr>
          <p:cNvPicPr>
            <a:picLocks noChangeAspect="1"/>
          </p:cNvPicPr>
          <p:nvPr/>
        </p:nvPicPr>
        <p:blipFill>
          <a:blip r:embed="rId1"/>
          <a:stretch>
            <a:fillRect/>
          </a:stretch>
        </p:blipFill>
        <p:spPr>
          <a:xfrm>
            <a:off x="640080" y="868680"/>
            <a:ext cx="7863840" cy="3545281"/>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en PSoC Creator (resumen firmado, fig. 5 y sec. 4.3).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ruta PGA–ADC se midió con barridos y el geófono se tomó con su modelo nominal</a:t>
            </a:r>
            <a:endParaRPr lang="en-US" sz="2400" dirty="0"/>
          </a:p>
        </p:txBody>
      </p:sp>
      <p:pic>
        <p:nvPicPr>
          <p:cNvPr id="3" name="Respuesta PGA-ADC" descr="Respuesta PGA–ADC medida: magnitud, fase y coherencia, junto al modelo, sus tolerancias y el rango del potenciómetro">    </p:cNvPr>
          <p:cNvPicPr>
            <a:picLocks noChangeAspect="1"/>
          </p:cNvPicPr>
          <p:nvPr/>
        </p:nvPicPr>
        <p:blipFill>
          <a:blip r:embed="rId1"/>
          <a:stretch>
            <a:fillRect/>
          </a:stretch>
        </p:blipFill>
        <p:spPr>
          <a:xfrm>
            <a:off x="365760" y="1234440"/>
            <a:ext cx="4023360" cy="3156310"/>
          </a:xfrm>
          <a:prstGeom prst="rect">
            <a:avLst/>
          </a:prstGeom>
        </p:spPr>
      </p:pic>
      <p:sp>
        <p:nvSpPr>
          <p:cNvPr id="4" name="Cuerpo"/>
          <p:cNvSpPr txBox="1"/>
          <p:nvPr/>
        </p:nvSpPr>
        <p:spPr>
          <a:xfrm>
            <a:off x="4572000" y="1280160"/>
            <a:ext cx="411480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4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4.5, fig. 9; figura propia; Sensor Nederland B.V. (2006).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offset se acumula en la cadena y recorta la señal; no se puede filtrar en continua</a:t>
            </a:r>
            <a:endParaRPr lang="en-US" sz="2400" dirty="0"/>
          </a:p>
        </p:txBody>
      </p:sp>
      <p:pic>
        <p:nvPicPr>
          <p:cNvPr id="3" name="Ilustración de recorte" descr="Ilustración: salida de una etapa con offset, recortada en el límite de alimentación, y la misma salida con ajuste previo">    </p:cNvPr>
          <p:cNvPicPr>
            <a:picLocks noChangeAspect="1"/>
          </p:cNvPicPr>
          <p:nvPr/>
        </p:nvPicPr>
        <p:blipFill>
          <a:blip r:embed="rId1"/>
          <a:stretch>
            <a:fillRect/>
          </a:stretch>
        </p:blipFill>
        <p:spPr>
          <a:xfrm>
            <a:off x="1097280" y="1143000"/>
            <a:ext cx="6583680" cy="2194560"/>
          </a:xfrm>
          <a:prstGeom prst="rect">
            <a:avLst/>
          </a:prstGeom>
        </p:spPr>
      </p:pic>
      <p:sp>
        <p:nvSpPr>
          <p:cNvPr id="4" name="Cuerpo"/>
          <p:cNvSpPr txBox="1"/>
          <p:nvPr/>
        </p:nvSpPr>
        <p:spPr>
          <a:xfrm>
            <a:off x="457200" y="3383280"/>
            <a:ext cx="822960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2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Ilustración propia (esquemática); 21,8 %: Álvarez, González y Vargas, DA-AFE (URUCON); 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continua de cada etapa depende de las anteriores, por eso el ajuste se hace en orden</a:t>
            </a:r>
            <a:endParaRPr lang="en-US" sz="2400" dirty="0"/>
          </a:p>
        </p:txBody>
      </p:sp>
      <p:sp>
        <p:nvSpPr>
          <p:cNvPr id="3" name="Fondo E_off"/>
          <p:cNvSpPr/>
          <p:nvPr/>
        </p:nvSpPr>
        <p:spPr>
          <a:xfrm>
            <a:off x="457200" y="1325880"/>
            <a:ext cx="8229600" cy="10058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i</m:t>
                          </m:r>
                        </m:sub>
                        <m:sup>
                          <m:r>
                            <m:rPr>
                              <m:sty m:val="p"/>
                            </m:rPr>
                            <a:rPr lang="es-ES" sz="2400">
                              <a:solidFill>
                                <a:srgbClr val="1F4E79"/>
                              </a:solidFill>
                              <a:latin typeface="Cambria Math" panose="02040503050406030204" pitchFamily="18" charset="0"/>
                            </a:rPr>
                            <m:t xml:space="preserve">DC</m:t>
                          </m:r>
                        </m:sup>
                      </m:sSubSup>
                      <m:r>
                        <a:rPr lang="es-ES" sz="2400" i="1">
                          <a:solidFill>
                            <a:srgbClr val="1F4E79"/>
                          </a:solidFill>
                          <a:latin typeface="Cambria Math" panose="02040503050406030204" pitchFamily="18" charset="0"/>
                        </a:rPr>
                        <m:t xml:space="preserve">=</m:t>
                      </m:r>
                      <m:nary>
                        <m:naryPr>
                          <m:chr m:val="∑"/>
                          <m:limLoc m:val="undOvr"/>
                          <m:supHide m:val="1"/>
                          <m:ctrlPr>
                            <a:rPr lang="es-ES" sz="2400" i="1">
                              <a:latin typeface="Cambria Math" panose="02040503050406030204" pitchFamily="18" charset="0"/>
                            </a:rPr>
                          </m:ctrlPr>
                        </m:naryPr>
                        <m:sub>
                          <m:r>
                            <a:rPr lang="es-ES" sz="2400" i="1">
                              <a:solidFill>
                                <a:srgbClr val="1F4E79"/>
                              </a:solidFill>
                              <a:latin typeface="Cambria Math" panose="02040503050406030204" pitchFamily="18" charset="0"/>
                            </a:rPr>
                            <m:t xml:space="preserve">j&lt;i</m:t>
                          </m:r>
                        </m:sub>
                        <m:sup/>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A</m:t>
                              </m:r>
                            </m:e>
                            <m:sub>
                              <m:r>
                                <a:rPr lang="es-ES" sz="2400" i="1">
                                  <a:solidFill>
                                    <a:srgbClr val="1F4E79"/>
                                  </a:solidFill>
                                  <a:latin typeface="Cambria Math" panose="02040503050406030204" pitchFamily="18" charset="0"/>
                                </a:rPr>
                                <m:t xml:space="preserve">ij</m:t>
                              </m:r>
                            </m:sub>
                          </m:sSub>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j</m:t>
                              </m:r>
                            </m:sub>
                            <m:sup>
                              <m:r>
                                <m:rPr>
                                  <m:sty m:val="p"/>
                                </m:rPr>
                                <a:rPr lang="es-ES" sz="2400">
                                  <a:solidFill>
                                    <a:srgbClr val="1F4E79"/>
                                  </a:solidFill>
                                  <a:latin typeface="Cambria Math" panose="02040503050406030204" pitchFamily="18" charset="0"/>
                                </a:rPr>
                                <m:t xml:space="preserve">DC</m:t>
                              </m:r>
                            </m:sup>
                          </m:sSubSup>
                        </m:e>
                      </m:nary>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b</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K</m:t>
                          </m:r>
                        </m:e>
                        <m:sub>
                          <m:r>
                            <a:rPr lang="es-ES" sz="2400" i="1">
                              <a:solidFill>
                                <a:srgbClr val="1F4E79"/>
                              </a:solidFill>
                              <a:latin typeface="Cambria Math" panose="02040503050406030204" pitchFamily="18" charset="0"/>
                            </a:rPr>
                            <m:t xml:space="preserve">i</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yi(DC) = Σ(j&lt;i) Aij · yj(DC) + bi + Ki · ui</a:t>
                </a:r>
                <a:endParaRPr lang="en-US" sz="2400" dirty="0"/>
              </a:p>
            </p:txBody>
          </p:sp>
        </mc:Fallback>
      </mc:AlternateContent>
      <p:sp>
        <p:nvSpPr>
          <p:cNvPr id="5" name="Fondo E_Aij"/>
          <p:cNvSpPr/>
          <p:nvPr/>
        </p:nvSpPr>
        <p:spPr>
          <a:xfrm>
            <a:off x="457200" y="256032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Aij"/>
              <p:cNvSpPr txBox="1"/>
              <p:nvPr/>
            </p:nvSpPr>
            <p:spPr>
              <a:xfrm>
                <a:off x="457200" y="256032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A</m:t>
                          </m:r>
                        </m:e>
                        <m:sub>
                          <m:r>
                            <a:rPr lang="es-ES" sz="2400" i="1">
                              <a:solidFill>
                                <a:srgbClr val="1F4E79"/>
                              </a:solidFill>
                              <a:latin typeface="Cambria Math" panose="02040503050406030204" pitchFamily="18" charset="0"/>
                            </a:rPr>
                            <m:t xml:space="preserve">ij</m:t>
                          </m:r>
                        </m:sub>
                      </m:sSub>
                    </m:oMath>
                  </m:oMathPara>
                </a14:m>
                <a:endParaRPr lang="es-ES"/>
              </a:p>
            </p:txBody>
          </p:sp>
        </mc:Choice>
        <mc:Fallback>
          <p:sp>
            <p:nvSpPr>
              <p:cNvPr id="6" name="Ecuación E_Aij"/>
              <p:cNvSpPr txBox="1"/>
              <p:nvPr/>
            </p:nvSpPr>
            <p:spPr>
              <a:xfrm>
                <a:off x="457200" y="256032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Aij</a:t>
                </a:r>
                <a:endParaRPr lang="en-US" sz="2400" dirty="0"/>
              </a:p>
            </p:txBody>
          </p:sp>
        </mc:Fallback>
      </mc:AlternateContent>
      <p:sp>
        <p:nvSpPr>
          <p:cNvPr id="7" name="Text 5"/>
          <p:cNvSpPr txBox="1"/>
          <p:nvPr/>
        </p:nvSpPr>
        <p:spPr>
          <a:xfrm>
            <a:off x="2011680" y="256032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transferencia de continua de la etapa j a la etapa i</a:t>
            </a:r>
            <a:endParaRPr lang="en-US" sz="1600" dirty="0"/>
          </a:p>
        </p:txBody>
      </p:sp>
      <p:sp>
        <p:nvSpPr>
          <p:cNvPr id="8" name="Fondo E_bi"/>
          <p:cNvSpPr/>
          <p:nvPr/>
        </p:nvSpPr>
        <p:spPr>
          <a:xfrm>
            <a:off x="457200" y="310896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bi"/>
              <p:cNvSpPr txBox="1"/>
              <p:nvPr/>
            </p:nvSpPr>
            <p:spPr>
              <a:xfrm>
                <a:off x="457200" y="310896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b</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9" name="Ecuación E_bi"/>
              <p:cNvSpPr txBox="1"/>
              <p:nvPr/>
            </p:nvSpPr>
            <p:spPr>
              <a:xfrm>
                <a:off x="457200" y="310896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bi</a:t>
                </a:r>
                <a:endParaRPr lang="en-US" sz="2400" dirty="0"/>
              </a:p>
            </p:txBody>
          </p:sp>
        </mc:Fallback>
      </mc:AlternateContent>
      <p:sp>
        <p:nvSpPr>
          <p:cNvPr id="10" name="Text 8"/>
          <p:cNvSpPr txBox="1"/>
          <p:nvPr/>
        </p:nvSpPr>
        <p:spPr>
          <a:xfrm>
            <a:off x="2011680" y="310896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offset propio de la etapa i</a:t>
            </a:r>
            <a:endParaRPr lang="en-US" sz="1600" dirty="0"/>
          </a:p>
        </p:txBody>
      </p:sp>
      <p:sp>
        <p:nvSpPr>
          <p:cNvPr id="11" name="Fondo E_Kiui"/>
          <p:cNvSpPr/>
          <p:nvPr/>
        </p:nvSpPr>
        <p:spPr>
          <a:xfrm>
            <a:off x="457200" y="365760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2" name="Ecuación E_Kiui"/>
              <p:cNvSpPr txBox="1"/>
              <p:nvPr/>
            </p:nvSpPr>
            <p:spPr>
              <a:xfrm>
                <a:off x="457200" y="365760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K</m:t>
                          </m:r>
                        </m:e>
                        <m:sub>
                          <m:r>
                            <a:rPr lang="es-ES" sz="2400" i="1">
                              <a:solidFill>
                                <a:srgbClr val="1F4E79"/>
                              </a:solidFill>
                              <a:latin typeface="Cambria Math" panose="02040503050406030204" pitchFamily="18" charset="0"/>
                            </a:rPr>
                            <m:t xml:space="preserve">i</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12" name="Ecuación E_Kiui"/>
              <p:cNvSpPr txBox="1"/>
              <p:nvPr/>
            </p:nvSpPr>
            <p:spPr>
              <a:xfrm>
                <a:off x="457200" y="365760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Ki·ui</a:t>
                </a:r>
                <a:endParaRPr lang="en-US" sz="2400" dirty="0"/>
              </a:p>
            </p:txBody>
          </p:sp>
        </mc:Fallback>
      </mc:AlternateContent>
      <p:sp>
        <p:nvSpPr>
          <p:cNvPr id="13" name="Text 11"/>
          <p:cNvSpPr txBox="1"/>
          <p:nvPr/>
        </p:nvSpPr>
        <p:spPr>
          <a:xfrm>
            <a:off x="2011680" y="365760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corrección aplicada con el VDAC de la etapa i</a:t>
            </a:r>
            <a:endParaRPr lang="en-US" sz="1600" dirty="0"/>
          </a:p>
        </p:txBody>
      </p:sp>
      <p:sp>
        <p:nvSpPr>
          <p:cNvPr id="14" name="Text 12"/>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5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documento de tesis, sec. 3. Notación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2400" dirty="0"/>
          </a:p>
        </p:txBody>
      </p:sp>
      <p:pic>
        <p:nvPicPr>
          <p:cNvPr id="3" name="Flujo de calibración" descr="Diagrama de flujo de la calibración en primer plano: verificación de códigos guardados, ajuste secuencial y adquisición">    </p:cNvPr>
          <p:cNvPicPr>
            <a:picLocks noChangeAspect="1"/>
          </p:cNvPicPr>
          <p:nvPr/>
        </p:nvPicPr>
        <p:blipFill>
          <a:blip r:embed="rId1"/>
          <a:stretch>
            <a:fillRect/>
          </a:stretch>
        </p:blipFill>
        <p:spPr>
          <a:xfrm>
            <a:off x="2011680" y="1188720"/>
            <a:ext cx="5120640" cy="3276199"/>
          </a:xfrm>
          <a:prstGeom prst="rect">
            <a:avLst/>
          </a:prstGeom>
        </p:spPr>
      </p:pic>
      <p:sp>
        <p:nvSpPr>
          <p:cNvPr id="4" name="Text 1"/>
          <p:cNvSpPr txBox="1"/>
          <p:nvPr/>
        </p:nvSpPr>
        <p:spPr>
          <a:xfrm>
            <a:off x="3474720" y="4480560"/>
            <a:ext cx="365760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FIGURA EN INGLÉS: traducir desde el repo</a:t>
            </a:r>
            <a:endParaRPr lang="en-US" sz="1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fig. 2; 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converge y baja el offset residual en el ADC de 2,9–45,8 % a 0,4–3,9 % del fondo de escala</a:t>
            </a:r>
            <a:endParaRPr lang="en-US" sz="2400" dirty="0"/>
          </a:p>
        </p:txBody>
      </p:sp>
      <p:pic>
        <p:nvPicPr>
          <p:cNvPr id="3" name="Ejemplo de calibración" descr="Trayectorias de calibración de las etapas PGA, BP, SUM y LP en función del tiempo">    </p:cNvPr>
          <p:cNvPicPr>
            <a:picLocks noChangeAspect="1"/>
          </p:cNvPicPr>
          <p:nvPr/>
        </p:nvPicPr>
        <p:blipFill>
          <a:blip r:embed="rId1"/>
          <a:stretch>
            <a:fillRect/>
          </a:stretch>
        </p:blipFill>
        <p:spPr>
          <a:xfrm>
            <a:off x="365760" y="1188720"/>
            <a:ext cx="2606040" cy="3071613"/>
          </a:xfrm>
          <a:prstGeom prst="rect">
            <a:avLst/>
          </a:prstGeom>
        </p:spPr>
      </p:pic>
      <p:graphicFrame>
        <p:nvGraphicFramePr>
          <p:cNvPr id="4" name="Chart 0" descr=""/>
          <p:cNvGraphicFramePr/>
          <p:nvPr/>
        </p:nvGraphicFramePr>
        <p:xfrm>
          <a:off x="3291840" y="1188720"/>
          <a:ext cx="5394960" cy="2423160"/>
        </p:xfrm>
        <a:graphic xmlns:a="http://schemas.openxmlformats.org/drawingml/2006/main">
          <a:graphicData uri="http://schemas.openxmlformats.org/drawingml/2006/chart">
            <c:chart xmlns:c="http://schemas.openxmlformats.org/drawingml/2006/chart" r:id="rId2"/>
          </a:graphicData>
        </a:graphic>
      </p:graphicFrame>
      <p:sp>
        <p:nvSpPr>
          <p:cNvPr id="5" name="Cuerpo"/>
          <p:cNvSpPr txBox="1"/>
          <p:nvPr/>
        </p:nvSpPr>
        <p:spPr>
          <a:xfrm>
            <a:off x="3291840" y="3657600"/>
            <a:ext cx="5394960" cy="8686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Izquierda: ejemplo a ganancia ×16 (×32 diferencial total). Gris: osciloscopio; color: reconstrucción con el FIR de 128 coeficientes</a:t>
            </a:r>
            <a:endParaRPr lang="en-US" sz="1100" dirty="0"/>
          </a:p>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El residuo de 0,24 V en el PGA es la banda muerta elegida (ΔPGA = 18, ±288 mV), no inestabilidad</a:t>
            </a:r>
            <a:endParaRPr lang="en-US" sz="1100" dirty="0"/>
          </a:p>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Derecha: 2 placas y 8 configuraciones placa–ganancia</a:t>
            </a:r>
            <a:endParaRPr lang="en-US" sz="1100" dirty="0"/>
          </a:p>
        </p:txBody>
      </p:sp>
      <p:sp>
        <p:nvSpPr>
          <p:cNvPr id="6" name="Text 2"/>
          <p:cNvSpPr txBox="1"/>
          <p:nvPr/>
        </p:nvSpPr>
        <p:spPr>
          <a:xfrm>
            <a:off x="182880" y="4297680"/>
            <a:ext cx="278892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EJE EN INGLÉS: traducir desde el repo</a:t>
            </a:r>
            <a:endParaRPr lang="en-US" sz="10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fig. 4; documento de tesis (00_resumen.tex).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Reparto de tareas digitales entre la máquina de estados y el procesador</a:t>
            </a:r>
            <a:endParaRPr lang="en-US" sz="2400" dirty="0"/>
          </a:p>
        </p:txBody>
      </p:sp>
      <p:sp>
        <p:nvSpPr>
          <p:cNvPr id="3" name="Cabecera Qué se espera del sistema digital"/>
          <p:cNvSpPr/>
          <p:nvPr/>
        </p:nvSpPr>
        <p:spPr>
          <a:xfrm>
            <a:off x="457200" y="1188720"/>
            <a:ext cx="4023360" cy="365760"/>
          </a:xfrm>
          <a:prstGeom prst="rect">
            <a:avLst/>
          </a:prstGeom>
          <a:solidFill>
            <a:srgbClr val="1F4E79"/>
          </a:solidFill>
          <a:ln w="12700">
            <a:solidFill>
              <a:srgbClr val="1F4E79"/>
            </a:solidFill>
            <a:prstDash val="solid"/>
          </a:ln>
        </p:spPr>
      </p:sp>
      <p:sp>
        <p:nvSpPr>
          <p:cNvPr id="4" name="Text 2"/>
          <p:cNvSpPr txBox="1"/>
          <p:nvPr/>
        </p:nvSpPr>
        <p:spPr>
          <a:xfrm>
            <a:off x="502920" y="1188720"/>
            <a:ext cx="39319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Qué se espera del sistema digital</a:t>
            </a:r>
            <a:endParaRPr lang="en-US" sz="1400" dirty="0"/>
          </a:p>
        </p:txBody>
      </p:sp>
      <p:sp>
        <p:nvSpPr>
          <p:cNvPr id="5" name="Tarjeta Qué se espera del sistema digital"/>
          <p:cNvSpPr/>
          <p:nvPr/>
        </p:nvSpPr>
        <p:spPr>
          <a:xfrm>
            <a:off x="457200" y="1554480"/>
            <a:ext cx="4023360" cy="1417320"/>
          </a:xfrm>
          <a:prstGeom prst="rect">
            <a:avLst/>
          </a:prstGeom>
          <a:solidFill>
            <a:srgbClr val="FFFFFF"/>
          </a:solidFill>
          <a:ln w="19050">
            <a:solidFill>
              <a:srgbClr val="1F4E79"/>
            </a:solidFill>
            <a:prstDash val="solid"/>
          </a:ln>
        </p:spPr>
      </p:sp>
      <p:sp>
        <p:nvSpPr>
          <p:cNvPr id="6" name="Text 4"/>
          <p:cNvSpPr txBox="1"/>
          <p:nvPr/>
        </p:nvSpPr>
        <p:spPr>
          <a:xfrm>
            <a:off x="566928" y="1627632"/>
            <a:ext cx="3803904" cy="1271016"/>
          </a:xfrm>
          <a:prstGeom prst="rect">
            <a:avLst/>
          </a:prstGeom>
          <a:noFill/>
          <a:ln/>
        </p:spPr>
        <p:txBody>
          <a:bodyPr wrap="square" lIns="0" tIns="0" rIns="0" bIns="0" rtlCol="0" anchor="t"/>
          <a:lstStyle/>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Arrancar la captura al mismo tiempo en todos los nodos</a:t>
            </a:r>
            <a:endParaRPr lang="en-US" sz="1300" dirty="0"/>
          </a:p>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Muestrear a un ritmo fijo</a:t>
            </a:r>
            <a:endParaRPr lang="en-US" sz="1300" dirty="0"/>
          </a:p>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Llevar cada muestra a memoria sin perder ninguna</a:t>
            </a:r>
            <a:endParaRPr lang="en-US" sz="1300" dirty="0"/>
          </a:p>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Guardar el registro y entregarlo después</a:t>
            </a:r>
            <a:endParaRPr lang="en-US" sz="1300" dirty="0"/>
          </a:p>
        </p:txBody>
      </p:sp>
      <p:sp>
        <p:nvSpPr>
          <p:cNvPr id="7" name="Cabecera Por qué no lo decide el procesador"/>
          <p:cNvSpPr/>
          <p:nvPr/>
        </p:nvSpPr>
        <p:spPr>
          <a:xfrm>
            <a:off x="4663440" y="1188720"/>
            <a:ext cx="4023360" cy="365760"/>
          </a:xfrm>
          <a:prstGeom prst="rect">
            <a:avLst/>
          </a:prstGeom>
          <a:solidFill>
            <a:srgbClr val="C55A11"/>
          </a:solidFill>
          <a:ln w="12700">
            <a:solidFill>
              <a:srgbClr val="C55A11"/>
            </a:solidFill>
            <a:prstDash val="solid"/>
          </a:ln>
        </p:spPr>
      </p:sp>
      <p:sp>
        <p:nvSpPr>
          <p:cNvPr id="8" name="Text 6"/>
          <p:cNvSpPr txBox="1"/>
          <p:nvPr/>
        </p:nvSpPr>
        <p:spPr>
          <a:xfrm>
            <a:off x="4709160" y="1188720"/>
            <a:ext cx="39319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Por qué no lo decide el procesador</a:t>
            </a:r>
            <a:endParaRPr lang="en-US" sz="1400" dirty="0"/>
          </a:p>
        </p:txBody>
      </p:sp>
      <p:sp>
        <p:nvSpPr>
          <p:cNvPr id="9" name="Tarjeta Por qué no lo decide el procesador"/>
          <p:cNvSpPr/>
          <p:nvPr/>
        </p:nvSpPr>
        <p:spPr>
          <a:xfrm>
            <a:off x="4663440" y="1554480"/>
            <a:ext cx="4023360" cy="1417320"/>
          </a:xfrm>
          <a:prstGeom prst="rect">
            <a:avLst/>
          </a:prstGeom>
          <a:solidFill>
            <a:srgbClr val="FFFFFF"/>
          </a:solidFill>
          <a:ln w="19050">
            <a:solidFill>
              <a:srgbClr val="C55A11"/>
            </a:solidFill>
            <a:prstDash val="solid"/>
          </a:ln>
        </p:spPr>
      </p:sp>
      <p:sp>
        <p:nvSpPr>
          <p:cNvPr id="10" name="Text 8"/>
          <p:cNvSpPr txBox="1"/>
          <p:nvPr/>
        </p:nvSpPr>
        <p:spPr>
          <a:xfrm>
            <a:off x="4773168" y="1627632"/>
            <a:ext cx="3803904" cy="1271016"/>
          </a:xfrm>
          <a:prstGeom prst="rect">
            <a:avLst/>
          </a:prstGeom>
          <a:noFill/>
          <a:ln/>
        </p:spPr>
        <p:txBody>
          <a:bodyPr wrap="square" lIns="0" tIns="0" rIns="0" bIns="0" rtlCol="0" anchor="t"/>
          <a:lstStyle/>
          <a:p>
            <a:pPr algn="l" indent="0" marL="0">
              <a:buNone/>
            </a:pPr>
            <a:endParaRPr lang="en-US" sz="1300" dirty="0"/>
          </a:p>
        </p:txBody>
      </p:sp>
      <p:sp>
        <p:nvSpPr>
          <p:cNvPr id="11" name="Text 9"/>
          <p:cNvSpPr txBox="1"/>
          <p:nvPr/>
        </p:nvSpPr>
        <p:spPr>
          <a:xfrm>
            <a:off x="4773168" y="1627632"/>
            <a:ext cx="3803904" cy="502920"/>
          </a:xfrm>
          <a:prstGeom prst="rect">
            <a:avLst/>
          </a:prstGeom>
          <a:noFill/>
          <a:ln/>
        </p:spPr>
        <p:txBody>
          <a:bodyPr wrap="square" lIns="0" tIns="0" rIns="0" bIns="0" rtlCol="0" anchor="t"/>
          <a:lstStyle/>
          <a:p>
            <a:pPr indent="0" marL="0">
              <a:buNone/>
            </a:pPr>
            <a:r>
              <a:rPr lang="en-US" sz="1200" dirty="0">
                <a:solidFill>
                  <a:srgbClr val="2D2D2D"/>
                </a:solidFill>
                <a:latin typeface="Arial" pitchFamily="34" charset="0"/>
                <a:ea typeface="Arial" pitchFamily="34" charset="-122"/>
                <a:cs typeface="Arial" pitchFamily="34" charset="-120"/>
              </a:rPr>
              <a:t>La latencia de una interrupción varía. En un arreglo de nodos, esa variación se vuelve error de fase:</a:t>
            </a:r>
            <a:endParaRPr lang="en-US" sz="1200" dirty="0"/>
          </a:p>
        </p:txBody>
      </p:sp>
      <p:sp>
        <p:nvSpPr>
          <p:cNvPr id="12" name="Fondo E_dphi"/>
          <p:cNvSpPr/>
          <p:nvPr/>
        </p:nvSpPr>
        <p:spPr>
          <a:xfrm>
            <a:off x="4937760" y="2176272"/>
            <a:ext cx="329184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dphi"/>
              <p:cNvSpPr txBox="1"/>
              <p:nvPr/>
            </p:nvSpPr>
            <p:spPr>
              <a:xfrm>
                <a:off x="4937760" y="2176272"/>
                <a:ext cx="329184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Δφ=360°·f·Δt</m:t>
                      </m:r>
                    </m:oMath>
                  </m:oMathPara>
                </a14:m>
                <a:endParaRPr lang="es-ES"/>
              </a:p>
            </p:txBody>
          </p:sp>
        </mc:Choice>
        <mc:Fallback>
          <p:sp>
            <p:nvSpPr>
              <p:cNvPr id="13" name="Ecuación E_dphi"/>
              <p:cNvSpPr txBox="1"/>
              <p:nvPr/>
            </p:nvSpPr>
            <p:spPr>
              <a:xfrm>
                <a:off x="4937760" y="2176272"/>
                <a:ext cx="329184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Δφ = 360° · f · Δt</a:t>
                </a:r>
                <a:endParaRPr lang="en-US" sz="2400" dirty="0"/>
              </a:p>
            </p:txBody>
          </p:sp>
        </mc:Fallback>
      </mc:AlternateContent>
      <p:sp>
        <p:nvSpPr>
          <p:cNvPr id="14" name="Text 12"/>
          <p:cNvSpPr txBox="1"/>
          <p:nvPr/>
        </p:nvSpPr>
        <p:spPr>
          <a:xfrm>
            <a:off x="4773168" y="2679192"/>
            <a:ext cx="3803904" cy="22860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y, con ella, error en la velocidad de fase</a:t>
            </a:r>
            <a:endParaRPr lang="en-US" sz="1200" dirty="0"/>
          </a:p>
        </p:txBody>
      </p:sp>
      <p:sp>
        <p:nvSpPr>
          <p:cNvPr id="15" name="Cabecera Hardware: decide cuándo"/>
          <p:cNvSpPr/>
          <p:nvPr/>
        </p:nvSpPr>
        <p:spPr>
          <a:xfrm>
            <a:off x="457200" y="3108960"/>
            <a:ext cx="4023360" cy="320040"/>
          </a:xfrm>
          <a:prstGeom prst="rect">
            <a:avLst/>
          </a:prstGeom>
          <a:solidFill>
            <a:srgbClr val="1F4E79"/>
          </a:solidFill>
          <a:ln w="12700">
            <a:solidFill>
              <a:srgbClr val="1F4E79"/>
            </a:solidFill>
            <a:prstDash val="solid"/>
          </a:ln>
        </p:spPr>
      </p:sp>
      <p:sp>
        <p:nvSpPr>
          <p:cNvPr id="16" name="Text 14"/>
          <p:cNvSpPr txBox="1"/>
          <p:nvPr/>
        </p:nvSpPr>
        <p:spPr>
          <a:xfrm>
            <a:off x="502920" y="3108960"/>
            <a:ext cx="393192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Hardware: decide cuándo</a:t>
            </a:r>
            <a:endParaRPr lang="en-US" sz="1300" dirty="0"/>
          </a:p>
        </p:txBody>
      </p:sp>
      <p:sp>
        <p:nvSpPr>
          <p:cNvPr id="17" name="Tarjeta Hardware: decide cuándo"/>
          <p:cNvSpPr/>
          <p:nvPr/>
        </p:nvSpPr>
        <p:spPr>
          <a:xfrm>
            <a:off x="457200" y="3429000"/>
            <a:ext cx="4023360" cy="1051560"/>
          </a:xfrm>
          <a:prstGeom prst="rect">
            <a:avLst/>
          </a:prstGeom>
          <a:solidFill>
            <a:srgbClr val="FFFFFF"/>
          </a:solidFill>
          <a:ln w="19050">
            <a:solidFill>
              <a:srgbClr val="1F4E79"/>
            </a:solidFill>
            <a:prstDash val="solid"/>
          </a:ln>
        </p:spPr>
      </p:sp>
      <p:sp>
        <p:nvSpPr>
          <p:cNvPr id="18" name="Text 16"/>
          <p:cNvSpPr txBox="1"/>
          <p:nvPr/>
        </p:nvSpPr>
        <p:spPr>
          <a:xfrm>
            <a:off x="566928" y="3502152"/>
            <a:ext cx="3803904" cy="905256"/>
          </a:xfrm>
          <a:prstGeom prst="rect">
            <a:avLst/>
          </a:prstGeom>
          <a:noFill/>
          <a:ln/>
        </p:spPr>
        <p:txBody>
          <a:bodyPr wrap="square" lIns="0" tIns="0" rIns="0" bIns="0" rtlCol="0" anchor="t"/>
          <a:lstStyle/>
          <a:p>
            <a:pPr algn="l" indent="0" marL="0">
              <a:buNone/>
            </a:pPr>
            <a:r>
              <a:rPr lang="en-US" sz="1250" dirty="0">
                <a:solidFill>
                  <a:srgbClr val="2D2D2D"/>
                </a:solidFill>
                <a:latin typeface="Arial" pitchFamily="34" charset="0"/>
                <a:ea typeface="Arial" pitchFamily="34" charset="-122"/>
                <a:cs typeface="Arial" pitchFamily="34" charset="-120"/>
              </a:rPr>
              <a:t>Arranque con SYNC_IN, conteo de lotes, enrutado de DMA, máscara de interrupciones y filtro FIR por DMA</a:t>
            </a:r>
            <a:endParaRPr lang="en-US" sz="1250" dirty="0"/>
          </a:p>
        </p:txBody>
      </p:sp>
      <p:sp>
        <p:nvSpPr>
          <p:cNvPr id="19" name="Cabecera Software: decide qué valores"/>
          <p:cNvSpPr/>
          <p:nvPr/>
        </p:nvSpPr>
        <p:spPr>
          <a:xfrm>
            <a:off x="4663440" y="3108960"/>
            <a:ext cx="4023360" cy="320040"/>
          </a:xfrm>
          <a:prstGeom prst="rect">
            <a:avLst/>
          </a:prstGeom>
          <a:solidFill>
            <a:srgbClr val="2E75B6"/>
          </a:solidFill>
          <a:ln w="12700">
            <a:solidFill>
              <a:srgbClr val="2E75B6"/>
            </a:solidFill>
            <a:prstDash val="solid"/>
          </a:ln>
        </p:spPr>
      </p:sp>
      <p:sp>
        <p:nvSpPr>
          <p:cNvPr id="20" name="Text 18"/>
          <p:cNvSpPr txBox="1"/>
          <p:nvPr/>
        </p:nvSpPr>
        <p:spPr>
          <a:xfrm>
            <a:off x="4709160" y="3108960"/>
            <a:ext cx="393192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Software: decide qué valores</a:t>
            </a:r>
            <a:endParaRPr lang="en-US" sz="1300" dirty="0"/>
          </a:p>
        </p:txBody>
      </p:sp>
      <p:sp>
        <p:nvSpPr>
          <p:cNvPr id="21" name="Tarjeta Software: decide qué valores"/>
          <p:cNvSpPr/>
          <p:nvPr/>
        </p:nvSpPr>
        <p:spPr>
          <a:xfrm>
            <a:off x="4663440" y="3429000"/>
            <a:ext cx="4023360" cy="1051560"/>
          </a:xfrm>
          <a:prstGeom prst="rect">
            <a:avLst/>
          </a:prstGeom>
          <a:solidFill>
            <a:srgbClr val="FFFFFF"/>
          </a:solidFill>
          <a:ln w="19050">
            <a:solidFill>
              <a:srgbClr val="2E75B6"/>
            </a:solidFill>
            <a:prstDash val="solid"/>
          </a:ln>
        </p:spPr>
      </p:sp>
      <p:sp>
        <p:nvSpPr>
          <p:cNvPr id="22" name="Text 20"/>
          <p:cNvSpPr txBox="1"/>
          <p:nvPr/>
        </p:nvSpPr>
        <p:spPr>
          <a:xfrm>
            <a:off x="4773168" y="3502152"/>
            <a:ext cx="3803904" cy="905256"/>
          </a:xfrm>
          <a:prstGeom prst="rect">
            <a:avLst/>
          </a:prstGeom>
          <a:noFill/>
          <a:ln/>
        </p:spPr>
        <p:txBody>
          <a:bodyPr wrap="square" lIns="0" tIns="0" rIns="0" bIns="0" rtlCol="0" anchor="t"/>
          <a:lstStyle/>
          <a:p>
            <a:pPr algn="l" indent="0" marL="0">
              <a:buNone/>
            </a:pPr>
            <a:r>
              <a:rPr lang="en-US" sz="1250" dirty="0">
                <a:solidFill>
                  <a:srgbClr val="2D2D2D"/>
                </a:solidFill>
                <a:latin typeface="Arial" pitchFamily="34" charset="0"/>
                <a:ea typeface="Arial" pitchFamily="34" charset="-122"/>
                <a:cs typeface="Arial" pitchFamily="34" charset="-120"/>
              </a:rPr>
              <a:t>Calibración PI, EEPROM con CRC, comandos y estado, memoria y tarjeta SD, supervisión con watchdog</a:t>
            </a:r>
            <a:endParaRPr lang="en-US" sz="125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04_arquitectura.tex (criterio de reparto); resumen firmado, sec. 4.6. Δφ = 360°·f·Δt: relación estándar entre retardo y fase.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Camino digital en PSoC Creator</a:t>
            </a:r>
            <a:endParaRPr lang="en-US" sz="2400" dirty="0"/>
          </a:p>
        </p:txBody>
      </p:sp>
      <p:pic>
        <p:nvPicPr>
          <p:cNvPr id="3" name="Camino digital en PSoC Creator" descr="Captura de PSoC Creator del camino digital: SignalController en lógica programable, tres canales DMA, filtro digital, temporizadores, EEPROM, SPI para la tarjeta SD y la interfaz con los ESP32">    </p:cNvPr>
          <p:cNvPicPr>
            <a:picLocks noChangeAspect="1"/>
          </p:cNvPicPr>
          <p:nvPr/>
        </p:nvPicPr>
        <p:blipFill>
          <a:blip r:embed="rId1"/>
          <a:stretch>
            <a:fillRect/>
          </a:stretch>
        </p:blipFill>
        <p:spPr>
          <a:xfrm>
            <a:off x="640080" y="1097280"/>
            <a:ext cx="7863840" cy="3420770"/>
          </a:xfrm>
          <a:prstGeom prst="rect">
            <a:avLst/>
          </a:prstGeom>
        </p:spPr>
      </p:pic>
      <p:sp>
        <p:nvSpPr>
          <p:cNvPr id="4" name="Text 1"/>
          <p:cNvSpPr txBox="1"/>
          <p:nvPr/>
        </p:nvSpPr>
        <p:spPr>
          <a:xfrm>
            <a:off x="5029200" y="4434840"/>
            <a:ext cx="365760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CAPTURA CON ETIQUETAS EN INGLÉS (PSoC Creator)</a:t>
            </a:r>
            <a:endParaRPr lang="en-US" sz="1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en PSoC Creator (resumen firmado, fig. 10 y sec. 4.6).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Camino lógico de los datos y del control en el PSoC</a:t>
            </a:r>
            <a:endParaRPr lang="en-US" sz="2400" dirty="0"/>
          </a:p>
        </p:txBody>
      </p:sp>
      <p:pic>
        <p:nvPicPr>
          <p:cNvPr id="3" name="Vista del PSoC" descr="Vista del PSoC 5LP: acondicionamiento y conversión, camino digital de muestras por DMA con ruta cruda y ruta FIR, control con superMaquina y enlace con el ESP32 esclavo">    </p:cNvPr>
          <p:cNvPicPr>
            <a:picLocks noChangeAspect="1"/>
          </p:cNvPicPr>
          <p:nvPr/>
        </p:nvPicPr>
        <p:blipFill>
          <a:blip r:embed="rId1"/>
          <a:stretch>
            <a:fillRect/>
          </a:stretch>
        </p:blipFill>
        <p:spPr>
          <a:xfrm>
            <a:off x="1009403" y="777240"/>
            <a:ext cx="7125195" cy="3657600"/>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18); resumen firmado, sec. 4.6 y fig. 10.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Selección del tipo de ADC: por qué delta-sigma</a:t>
            </a:r>
            <a:endParaRPr lang="en-US" sz="2400" dirty="0"/>
          </a:p>
        </p:txBody>
      </p:sp>
      <p:pic>
        <p:nvPicPr>
          <p:cNvPr id="3" name="Conformación del ruido" descr="Sobremuestreo y conformación del ruido delta-sigma: el ruido de cuantización sube con la frecuencia y el filtro digital rechaza la mayor parte">    </p:cNvPr>
          <p:cNvPicPr>
            <a:picLocks noChangeAspect="1"/>
          </p:cNvPicPr>
          <p:nvPr/>
        </p:nvPicPr>
        <p:blipFill>
          <a:blip r:embed="rId1"/>
          <a:stretch>
            <a:fillRect/>
          </a:stretch>
        </p:blipFill>
        <p:spPr>
          <a:xfrm>
            <a:off x="365760" y="1234440"/>
            <a:ext cx="5120640" cy="2153324"/>
          </a:xfrm>
          <a:prstGeom prst="rect">
            <a:avLst/>
          </a:prstGeom>
        </p:spPr>
      </p:pic>
      <p:sp>
        <p:nvSpPr>
          <p:cNvPr id="4" name="Text 1"/>
          <p:cNvSpPr txBox="1"/>
          <p:nvPr/>
        </p:nvSpPr>
        <p:spPr>
          <a:xfrm>
            <a:off x="365760" y="3429000"/>
            <a:ext cx="512064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FIGURA TRADUCIDA: fuente TI por confirmar</a:t>
            </a:r>
            <a:endParaRPr lang="en-US" sz="1000" dirty="0"/>
          </a:p>
        </p:txBody>
      </p:sp>
      <p:sp>
        <p:nvSpPr>
          <p:cNvPr id="5" name="Cuerpo"/>
          <p:cNvSpPr txBox="1"/>
          <p:nvPr/>
        </p:nvSpPr>
        <p:spPr>
          <a:xfrm>
            <a:off x="5669280" y="1280160"/>
            <a:ext cx="301752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Muestrea mucho más rápido de lo necesario y empuja el ruido de cuantización hacia frecuencias altas</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El filtro digital elimina ese ruido y deja la banda útil con más resolución</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Un SAR conviene cuando hace falta velocidad; en señales lentas, el ΔΣ da más resolución</a:t>
            </a:r>
            <a:endParaRPr lang="en-US" sz="1300" dirty="0"/>
          </a:p>
        </p:txBody>
      </p:sp>
      <p:sp>
        <p:nvSpPr>
          <p:cNvPr id="6" name="Fondo mensaje"/>
          <p:cNvSpPr/>
          <p:nvPr/>
        </p:nvSpPr>
        <p:spPr>
          <a:xfrm>
            <a:off x="457200" y="3840480"/>
            <a:ext cx="8229600" cy="548640"/>
          </a:xfrm>
          <a:prstGeom prst="rect">
            <a:avLst/>
          </a:prstGeom>
          <a:solidFill>
            <a:srgbClr val="EAF1F8"/>
          </a:solidFill>
          <a:ln w="12700">
            <a:solidFill>
              <a:srgbClr val="EAF1F8"/>
            </a:solidFill>
            <a:prstDash val="solid"/>
          </a:ln>
        </p:spPr>
      </p:sp>
      <p:sp>
        <p:nvSpPr>
          <p:cNvPr id="7" name="Text 4"/>
          <p:cNvSpPr txBox="1"/>
          <p:nvPr/>
        </p:nvSpPr>
        <p:spPr>
          <a:xfrm>
            <a:off x="594360" y="3840480"/>
            <a:ext cx="7955280" cy="548640"/>
          </a:xfrm>
          <a:prstGeom prst="rect">
            <a:avLst/>
          </a:prstGeom>
          <a:noFill/>
          <a:ln/>
        </p:spPr>
        <p:txBody>
          <a:bodyPr wrap="square" lIns="0" tIns="0" rIns="0" bIns="0" rtlCol="0" anchor="ctr"/>
          <a:lstStyle/>
          <a:p>
            <a:pPr indent="0" marL="0">
              <a:buNone/>
            </a:pPr>
            <a:r>
              <a:rPr lang="en-US" sz="1600" b="1" dirty="0">
                <a:solidFill>
                  <a:srgbClr val="1F4E79"/>
                </a:solidFill>
                <a:latin typeface="Arial" pitchFamily="34" charset="0"/>
                <a:ea typeface="Arial" pitchFamily="34" charset="-122"/>
                <a:cs typeface="Arial" pitchFamily="34" charset="-120"/>
              </a:rPr>
              <a:t>Nuestras señales son lentas: la velocidad no es el límite, la resolución sí.</a:t>
            </a:r>
            <a:endParaRPr lang="en-US" sz="1600" dirty="0"/>
          </a:p>
        </p:txBody>
      </p:sp>
      <p:sp>
        <p:nvSpPr>
          <p:cNvPr id="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Texas Instruments, material sobre sobremuestreo y conformación del ruido ΔΣ (documento exacto por confirmar); traducción al español; resumen firmado, sec. 4.6.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ADC tiene cuatro rangos de entrada, y el rango y la ganancia se eligen juntos</a:t>
            </a:r>
            <a:endParaRPr lang="en-US" sz="2400" dirty="0"/>
          </a:p>
        </p:txBody>
      </p:sp>
      <p:sp>
        <p:nvSpPr>
          <p:cNvPr id="3" name="Fondo E_lsb"/>
          <p:cNvSpPr/>
          <p:nvPr/>
        </p:nvSpPr>
        <p:spPr>
          <a:xfrm>
            <a:off x="457200" y="118872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lsb"/>
              <p:cNvSpPr txBox="1"/>
              <p:nvPr/>
            </p:nvSpPr>
            <p:spPr>
              <a:xfrm>
                <a:off x="457200" y="118872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q</m:t>
                          </m:r>
                        </m:e>
                        <m:sub>
                          <m:r>
                            <m:rPr>
                              <m:sty m:val="p"/>
                            </m:rPr>
                            <a:rPr lang="es-ES" sz="2800">
                              <a:solidFill>
                                <a:srgbClr val="1F4E79"/>
                              </a:solidFill>
                              <a:latin typeface="Cambria Math" panose="02040503050406030204" pitchFamily="18" charset="0"/>
                            </a:rPr>
                            <m:t xml:space="preserve">ADC</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m:rPr>
                                  <m:sty m:val="p"/>
                                </m:rPr>
                                <a:rPr lang="es-ES" sz="2800">
                                  <a:solidFill>
                                    <a:srgbClr val="1F4E79"/>
                                  </a:solidFill>
                                  <a:latin typeface="Cambria Math" panose="02040503050406030204" pitchFamily="18" charset="0"/>
                                </a:rPr>
                                <m:t xml:space="preserve">span</m:t>
                              </m:r>
                            </m:sub>
                          </m:sSub>
                        </m:num>
                        <m:den>
                          <m:sSup>
                            <m:sSupPr>
                              <m:ctrlPr>
                                <a:rPr lang="es-ES" sz="2800" i="1">
                                  <a:latin typeface="Cambria Math" panose="02040503050406030204" pitchFamily="18" charset="0"/>
                                </a:rPr>
                              </m:ctrlPr>
                            </m:sSupPr>
                            <m:e>
                              <m:r>
                                <a:rPr lang="es-ES" sz="2800" i="1">
                                  <a:solidFill>
                                    <a:srgbClr val="1F4E79"/>
                                  </a:solidFill>
                                  <a:latin typeface="Cambria Math" panose="02040503050406030204" pitchFamily="18" charset="0"/>
                                </a:rPr>
                                <m:t xml:space="preserve">2</m:t>
                              </m:r>
                            </m:e>
                            <m:sup>
                              <m:r>
                                <a:rPr lang="es-ES" sz="2800" i="1">
                                  <a:solidFill>
                                    <a:srgbClr val="1F4E79"/>
                                  </a:solidFill>
                                  <a:latin typeface="Cambria Math" panose="02040503050406030204" pitchFamily="18" charset="0"/>
                                </a:rPr>
                                <m:t xml:space="preserve">18</m:t>
                              </m:r>
                            </m:sup>
                          </m:sSup>
                        </m:den>
                      </m:f>
                      <m:r>
                        <a:rPr lang="es-ES" sz="2800" i="1">
                          <a:solidFill>
                            <a:srgbClr val="1F4E79"/>
                          </a:solidFill>
                          <a:latin typeface="Cambria Math" panose="02040503050406030204" pitchFamily="18" charset="0"/>
                        </a:rPr>
                        <m:t xml:space="preserve">≈19,1 </m:t>
                      </m:r>
                      <m:r>
                        <m:rPr>
                          <m:sty m:val="p"/>
                        </m:rPr>
                        <a:rPr lang="es-ES" sz="2800">
                          <a:solidFill>
                            <a:srgbClr val="1F4E79"/>
                          </a:solidFill>
                          <a:latin typeface="Cambria Math" panose="02040503050406030204" pitchFamily="18" charset="0"/>
                        </a:rPr>
                        <m:t xml:space="preserve">µV</m:t>
                      </m:r>
                    </m:oMath>
                  </m:oMathPara>
                </a14:m>
                <a:endParaRPr lang="es-ES"/>
              </a:p>
            </p:txBody>
          </p:sp>
        </mc:Choice>
        <mc:Fallback>
          <p:sp>
            <p:nvSpPr>
              <p:cNvPr id="4" name="Ecuación E_lsb"/>
              <p:cNvSpPr txBox="1"/>
              <p:nvPr/>
            </p:nvSpPr>
            <p:spPr>
              <a:xfrm>
                <a:off x="457200" y="118872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q_ADC = V_span / 2¹⁸ ≈ 19,1 µV</a:t>
                </a:r>
                <a:endParaRPr lang="en-US" sz="2400" dirty="0"/>
              </a:p>
            </p:txBody>
          </p:sp>
        </mc:Fallback>
      </mc:AlternateContent>
      <p:graphicFrame>
        <p:nvGraphicFramePr>
          <p:cNvPr id="78" name="Tabla de rangos"/>
          <p:cNvGraphicFramePr>
            <a:graphicFrameLocks noGrp="1"/>
          </p:cNvGraphicFramePr>
          <p:nvPr>
            <p:extLst>
              <p:ext uri="{D42A27DB-BD31-4B8C-83A1-F6EECF244321}">
                <p14:modId xmlns:p14="http://schemas.microsoft.com/office/powerpoint/2010/main" val="1579011935"/>
              </p:ext>
            </p:extLst>
          </p:nvPr>
        </p:nvGraphicFramePr>
        <p:xfrm>
          <a:off x="457200" y="2194560"/>
          <a:ext cx="4023360" cy="914400"/>
        </p:xfrm>
        <a:graphic>
          <a:graphicData uri="http://schemas.openxmlformats.org/drawingml/2006/table">
            <a:tbl>
              <a:tblPr/>
              <a:tblGrid>
                <a:gridCol w="1280160"/>
                <a:gridCol w="1463040"/>
                <a:gridCol w="1280160"/>
              </a:tblGrid>
              <a:tr h="34747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Rango</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Fondo de escala</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LSB nominal</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47472">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±2,5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5,000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19,1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47472">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±1,024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2,048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7,81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47472">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±0,625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1,250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4,77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47472">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±0,512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1,024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3,91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ext 3"/>
          <p:cNvSpPr txBox="1"/>
          <p:nvPr/>
        </p:nvSpPr>
        <p:spPr>
          <a:xfrm>
            <a:off x="457200" y="4023360"/>
            <a:ext cx="402336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Todos a 2604 muestras/s y 18 bits nominales.</a:t>
            </a:r>
            <a:endParaRPr lang="en-US" sz="1200" dirty="0"/>
          </a:p>
        </p:txBody>
      </p:sp>
      <p:sp>
        <p:nvSpPr>
          <p:cNvPr id="7" name="Cuerpo"/>
          <p:cNvSpPr txBox="1"/>
          <p:nvPr/>
        </p:nvSpPr>
        <p:spPr>
          <a:xfrm>
            <a:off x="4754880" y="219456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Pasar de ±2,5 V a ±0,512 V reduce el LSB casi cinco veces, unos 13,8 dB, sin agregar etapas: no suma ruido ni offset</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El mismo cambio divide por cinco la tensión que satura el conversor</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Por eso el rango se elige junto con la ganancia del PGA</a:t>
            </a:r>
            <a:endParaRPr lang="en-US" sz="1400" dirty="0"/>
          </a:p>
        </p:txBody>
      </p:sp>
      <p:sp>
        <p:nvSpPr>
          <p:cNvPr id="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documento de tesis, 04_arquitectura.tex (rangos del ADC). Los 13,8 dB son 20·log10(5/1,024), cálculo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Diezmamos con una media móvil: registros más chicos y mejor vista de las señales lentas</a:t>
            </a:r>
            <a:endParaRPr lang="en-US" sz="2400" dirty="0"/>
          </a:p>
        </p:txBody>
      </p:sp>
      <p:pic>
        <p:nvPicPr>
          <p:cNvPr id="3" name="Respuesta de la media móvil" descr="Respuesta de una media móvil en función de la frecuencia relativa a la frecuencia de muestreo diezmada, con la banda de interés y el Nyquist marcados">    </p:cNvPr>
          <p:cNvPicPr>
            <a:picLocks noChangeAspect="1"/>
          </p:cNvPicPr>
          <p:nvPr/>
        </p:nvPicPr>
        <p:blipFill>
          <a:blip r:embed="rId1"/>
          <a:stretch>
            <a:fillRect/>
          </a:stretch>
        </p:blipFill>
        <p:spPr>
          <a:xfrm>
            <a:off x="365760" y="1280160"/>
            <a:ext cx="4754880" cy="2694432"/>
          </a:xfrm>
          <a:prstGeom prst="rect">
            <a:avLst/>
          </a:prstGeom>
        </p:spPr>
      </p:pic>
      <p:sp>
        <p:nvSpPr>
          <p:cNvPr id="4" name="Fondo E_fsp"/>
          <p:cNvSpPr/>
          <p:nvPr/>
        </p:nvSpPr>
        <p:spPr>
          <a:xfrm>
            <a:off x="5394960" y="1280160"/>
            <a:ext cx="32918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fsp"/>
              <p:cNvSpPr txBox="1"/>
              <p:nvPr/>
            </p:nvSpPr>
            <p:spPr>
              <a:xfrm>
                <a:off x="5394960" y="1280160"/>
                <a:ext cx="32918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800" i="1">
                              <a:latin typeface="Cambria Math" panose="02040503050406030204" pitchFamily="18" charset="0"/>
                            </a:rPr>
                          </m:ctrlPr>
                        </m:sSubSupPr>
                        <m:e>
                          <m:r>
                            <a:rPr lang="es-ES" sz="2800" i="1">
                              <a:solidFill>
                                <a:srgbClr val="1F4E79"/>
                              </a:solidFill>
                              <a:latin typeface="Cambria Math" panose="02040503050406030204" pitchFamily="18" charset="0"/>
                            </a:rPr>
                            <m:t xml:space="preserve">f</m:t>
                          </m:r>
                        </m:e>
                        <m:sub>
                          <m:r>
                            <a:rPr lang="es-ES" sz="2800" i="1">
                              <a:solidFill>
                                <a:srgbClr val="1F4E79"/>
                              </a:solidFill>
                              <a:latin typeface="Cambria Math" panose="02040503050406030204" pitchFamily="18" charset="0"/>
                            </a:rPr>
                            <m:t xml:space="preserve">s</m:t>
                          </m:r>
                        </m:sub>
                        <m:sup>
                          <m:r>
                            <a:rPr lang="es-ES" sz="2800" i="1">
                              <a:solidFill>
                                <a:srgbClr val="1F4E79"/>
                              </a:solidFill>
                              <a:latin typeface="Cambria Math" panose="02040503050406030204" pitchFamily="18" charset="0"/>
                            </a:rPr>
                            <m:t xml:space="preserve">′</m:t>
                          </m:r>
                        </m:sup>
                      </m:sSubSup>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2604 </m:t>
                          </m:r>
                          <m:r>
                            <m:rPr>
                              <m:sty m:val="p"/>
                            </m:rPr>
                            <a:rPr lang="es-ES" sz="2800">
                              <a:solidFill>
                                <a:srgbClr val="1F4E79"/>
                              </a:solidFill>
                              <a:latin typeface="Cambria Math" panose="02040503050406030204" pitchFamily="18" charset="0"/>
                            </a:rPr>
                            <m:t xml:space="preserve">Hz</m:t>
                          </m:r>
                        </m:num>
                        <m:den>
                          <m:r>
                            <a:rPr lang="es-ES" sz="2800" i="1">
                              <a:solidFill>
                                <a:srgbClr val="1F4E79"/>
                              </a:solidFill>
                              <a:latin typeface="Cambria Math" panose="02040503050406030204" pitchFamily="18" charset="0"/>
                            </a:rPr>
                            <m:t xml:space="preserve">D</m:t>
                          </m:r>
                        </m:den>
                      </m:f>
                    </m:oMath>
                  </m:oMathPara>
                </a14:m>
                <a:endParaRPr lang="es-ES"/>
              </a:p>
            </p:txBody>
          </p:sp>
        </mc:Choice>
        <mc:Fallback>
          <p:sp>
            <p:nvSpPr>
              <p:cNvPr id="5" name="Ecuación E_fsp"/>
              <p:cNvSpPr txBox="1"/>
              <p:nvPr/>
            </p:nvSpPr>
            <p:spPr>
              <a:xfrm>
                <a:off x="5394960" y="1280160"/>
                <a:ext cx="32918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fs′ = 2604 Hz / D</a:t>
                </a:r>
                <a:endParaRPr lang="en-US" sz="2400" dirty="0"/>
              </a:p>
            </p:txBody>
          </p:sp>
        </mc:Fallback>
      </mc:AlternateContent>
      <p:sp>
        <p:nvSpPr>
          <p:cNvPr id="6" name="Cuerpo"/>
          <p:cNvSpPr txBox="1"/>
          <p:nvPr/>
        </p:nvSpPr>
        <p:spPr>
          <a:xfrm>
            <a:off x="5394960" y="2194560"/>
            <a:ext cx="3291840" cy="182880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2D2D2D"/>
                </a:solidFill>
                <a:latin typeface="Arial" pitchFamily="34" charset="0"/>
                <a:ea typeface="Arial" pitchFamily="34" charset="-122"/>
                <a:cs typeface="Arial" pitchFamily="34" charset="-120"/>
              </a:rPr>
              <a:t>Se promedian D muestras y se conserva una: la tasa baja y el archivo se achica</a:t>
            </a:r>
            <a:endParaRPr lang="en-US" sz="1300" dirty="0"/>
          </a:p>
          <a:p>
            <a:pPr marL="342900" indent="-342900">
              <a:spcAft>
                <a:spcPts val="700"/>
              </a:spcAft>
              <a:buSzPct val="100000"/>
              <a:buChar char="•"/>
            </a:pPr>
            <a:r>
              <a:rPr lang="en-US" sz="1300" dirty="0">
                <a:solidFill>
                  <a:srgbClr val="2D2D2D"/>
                </a:solidFill>
                <a:latin typeface="Arial" pitchFamily="34" charset="0"/>
                <a:ea typeface="Arial" pitchFamily="34" charset="-122"/>
                <a:cs typeface="Arial" pitchFamily="34" charset="-120"/>
              </a:rPr>
              <a:t>Se ven mejor las señales de baja frecuencia</a:t>
            </a:r>
            <a:endParaRPr lang="en-US" sz="1300" dirty="0"/>
          </a:p>
          <a:p>
            <a:pPr marL="342900" indent="-342900">
              <a:spcAft>
                <a:spcPts val="700"/>
              </a:spcAft>
              <a:buSzPct val="100000"/>
              <a:buChar char="•"/>
            </a:pPr>
            <a:r>
              <a:rPr lang="en-US" sz="1300" dirty="0">
                <a:solidFill>
                  <a:srgbClr val="2D2D2D"/>
                </a:solidFill>
                <a:latin typeface="Arial" pitchFamily="34" charset="0"/>
                <a:ea typeface="Arial" pitchFamily="34" charset="-122"/>
                <a:cs typeface="Arial" pitchFamily="34" charset="-120"/>
              </a:rPr>
              <a:t>Seguimos aprovechando el sobremuestreo del ΔΣ: el promedio reduce el ruido incorrelado</a:t>
            </a:r>
            <a:endParaRPr lang="en-US" sz="1300" dirty="0"/>
          </a:p>
        </p:txBody>
      </p:sp>
      <p:sp>
        <p:nvSpPr>
          <p:cNvPr id="7" name="Text 4"/>
          <p:cNvSpPr txBox="1"/>
          <p:nvPr/>
        </p:nvSpPr>
        <p:spPr>
          <a:xfrm>
            <a:off x="457200" y="4114800"/>
            <a:ext cx="8229600" cy="27432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No reemplaza un antialias: se verifica para cada D elegido.</a:t>
            </a:r>
            <a:endParaRPr lang="en-US" sz="1300" dirty="0"/>
          </a:p>
        </p:txBody>
      </p:sp>
      <p:sp>
        <p:nvSpPr>
          <p:cNvPr id="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ec. 15; documento de tesis, 04_arquitectura.tex. Curva ilustrativa: cálculo propio de la respuesta de una media móvil.</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máquina de estados en hardware dispara, cuenta y cierra la captura</a:t>
            </a:r>
            <a:endParaRPr lang="en-US" sz="2400" dirty="0"/>
          </a:p>
        </p:txBody>
      </p:sp>
      <p:pic>
        <p:nvPicPr>
          <p:cNvPr id="3" name="Máquina de estados" descr="Máquina de estados superMaquina: IDLE, ARMED, SAMPLING, DONE y ERROR, con las órdenes del firmware, los disparos de DMA y la interrupción única">    </p:cNvPr>
          <p:cNvPicPr>
            <a:picLocks noChangeAspect="1"/>
          </p:cNvPicPr>
          <p:nvPr/>
        </p:nvPicPr>
        <p:blipFill>
          <a:blip r:embed="rId1"/>
          <a:stretch>
            <a:fillRect/>
          </a:stretch>
        </p:blipFill>
        <p:spPr>
          <a:xfrm>
            <a:off x="548640" y="1097280"/>
            <a:ext cx="8046720" cy="3409159"/>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17); resumen firmado, fig. 10; documento de tesis, 04_arquitectura.tex.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nodo guarda sus muestras en la RAM del ESP32 o, si hay tarjeta, en la SD del PSoC</a:t>
            </a:r>
            <a:endParaRPr lang="en-US" sz="2400" dirty="0"/>
          </a:p>
        </p:txBody>
      </p:sp>
      <p:pic>
        <p:nvPicPr>
          <p:cNvPr id="3" name="Secuencia de almacenamiento" descr="Secuencia PRESTART: con microSD activa el PSoC escribe secuencialmente en la tarjeta; sin microSD el ESP32 esclavo reserva páginas en la arena de RAM">    </p:cNvPr>
          <p:cNvPicPr>
            <a:picLocks noChangeAspect="1"/>
          </p:cNvPicPr>
          <p:nvPr/>
        </p:nvPicPr>
        <p:blipFill>
          <a:blip r:embed="rId1"/>
          <a:stretch>
            <a:fillRect/>
          </a:stretch>
        </p:blipFill>
        <p:spPr>
          <a:xfrm>
            <a:off x="640080" y="1188720"/>
            <a:ext cx="7863840" cy="2726977"/>
          </a:xfrm>
          <a:prstGeom prst="rect">
            <a:avLst/>
          </a:prstGeom>
        </p:spPr>
      </p:pic>
      <p:sp>
        <p:nvSpPr>
          <p:cNvPr id="4" name="Text 1"/>
          <p:cNvSpPr txBox="1"/>
          <p:nvPr/>
        </p:nvSpPr>
        <p:spPr>
          <a:xfrm>
            <a:off x="457200" y="4069080"/>
            <a:ext cx="8229600" cy="320040"/>
          </a:xfrm>
          <a:prstGeom prst="rect">
            <a:avLst/>
          </a:prstGeom>
          <a:noFill/>
          <a:ln/>
        </p:spPr>
        <p:txBody>
          <a:bodyPr wrap="square" lIns="0" tIns="0" rIns="0" bIns="0" rtlCol="0" anchor="t"/>
          <a:lstStyle/>
          <a:p>
            <a:pPr indent="0" marL="0">
              <a:buNone/>
            </a:pPr>
            <a:r>
              <a:rPr lang="en-US" sz="1500" b="1" dirty="0">
                <a:solidFill>
                  <a:srgbClr val="1F4E79"/>
                </a:solidFill>
                <a:latin typeface="Arial" pitchFamily="34" charset="0"/>
                <a:ea typeface="Arial" pitchFamily="34" charset="-122"/>
                <a:cs typeface="Arial" pitchFamily="34" charset="-120"/>
              </a:rPr>
              <a:t>Sin SD el límite es fijo: 512 lotes de 30 muestras. Con SD lo fija el tamaño de la tarjeta.</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11); documento de tesis, 04_arquitectura.tex (jerarquía de memoria).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Sin SD, el diezmado define cuánto dura el registro, a costa de ancho de banda</a:t>
            </a:r>
            <a:endParaRPr lang="en-US" sz="2400" dirty="0"/>
          </a:p>
        </p:txBody>
      </p:sp>
      <p:graphicFrame>
        <p:nvGraphicFramePr>
          <p:cNvPr id="3" name="Chart 0" descr=""/>
          <p:cNvGraphicFramePr/>
          <p:nvPr/>
        </p:nvGraphicFramePr>
        <p:xfrm>
          <a:off x="365760" y="1234440"/>
          <a:ext cx="5120640" cy="2834640"/>
        </p:xfrm>
        <a:graphic xmlns:a="http://schemas.openxmlformats.org/drawingml/2006/main">
          <a:graphicData uri="http://schemas.openxmlformats.org/drawingml/2006/chart">
            <c:chart xmlns:c="http://schemas.openxmlformats.org/drawingml/2006/chart" r:id="rId1"/>
          </a:graphicData>
        </a:graphic>
      </p:graphicFrame>
      <p:sp>
        <p:nvSpPr>
          <p:cNvPr id="4" name="Fondo E_tmax"/>
          <p:cNvSpPr/>
          <p:nvPr/>
        </p:nvSpPr>
        <p:spPr>
          <a:xfrm>
            <a:off x="5669280" y="1234440"/>
            <a:ext cx="30175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max"/>
              <p:cNvSpPr txBox="1"/>
              <p:nvPr/>
            </p:nvSpPr>
            <p:spPr>
              <a:xfrm>
                <a:off x="5669280" y="1234440"/>
                <a:ext cx="30175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512·30·D</m:t>
                          </m:r>
                        </m:num>
                        <m:den>
                          <m:r>
                            <a:rPr lang="es-ES" sz="2400" i="1">
                              <a:solidFill>
                                <a:srgbClr val="1F4E79"/>
                              </a:solidFill>
                              <a:latin typeface="Cambria Math" panose="02040503050406030204" pitchFamily="18" charset="0"/>
                            </a:rPr>
                            <m:t xml:space="preserve">2604 </m:t>
                          </m:r>
                          <m:r>
                            <m:rPr>
                              <m:sty m:val="p"/>
                            </m:rPr>
                            <a:rPr lang="es-ES" sz="2400">
                              <a:solidFill>
                                <a:srgbClr val="1F4E79"/>
                              </a:solidFill>
                              <a:latin typeface="Cambria Math" panose="02040503050406030204" pitchFamily="18" charset="0"/>
                            </a:rPr>
                            <m:t xml:space="preserve">Hz</m:t>
                          </m:r>
                        </m:den>
                      </m:f>
                      <m:r>
                        <a:rPr lang="es-ES" sz="2400" i="1">
                          <a:solidFill>
                            <a:srgbClr val="1F4E79"/>
                          </a:solidFill>
                          <a:latin typeface="Cambria Math" panose="02040503050406030204" pitchFamily="18" charset="0"/>
                        </a:rPr>
                        <m:t xml:space="preserve">≈5,9 </m:t>
                      </m:r>
                      <m:r>
                        <m:rPr>
                          <m:sty m:val="p"/>
                        </m:rPr>
                        <a:rPr lang="es-ES" sz="2400">
                          <a:solidFill>
                            <a:srgbClr val="1F4E79"/>
                          </a:solidFill>
                          <a:latin typeface="Cambria Math" panose="02040503050406030204" pitchFamily="18" charset="0"/>
                        </a:rPr>
                        <m:t xml:space="preserve">s</m:t>
                      </m:r>
                      <m:r>
                        <a:rPr lang="es-ES" sz="2400" i="1">
                          <a:solidFill>
                            <a:srgbClr val="1F4E79"/>
                          </a:solidFill>
                          <a:latin typeface="Cambria Math" panose="02040503050406030204" pitchFamily="18" charset="0"/>
                        </a:rPr>
                        <m:t xml:space="preserve">·D</m:t>
                      </m:r>
                    </m:oMath>
                  </m:oMathPara>
                </a14:m>
                <a:endParaRPr lang="es-ES"/>
              </a:p>
            </p:txBody>
          </p:sp>
        </mc:Choice>
        <mc:Fallback>
          <p:sp>
            <p:nvSpPr>
              <p:cNvPr id="5" name="Ecuación E_tmax"/>
              <p:cNvSpPr txBox="1"/>
              <p:nvPr/>
            </p:nvSpPr>
            <p:spPr>
              <a:xfrm>
                <a:off x="5669280" y="1234440"/>
                <a:ext cx="30175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t_max = 512·30·D / 2604 Hz ≈ 5,9 s · D</a:t>
                </a:r>
                <a:endParaRPr lang="en-US" sz="2400" dirty="0"/>
              </a:p>
            </p:txBody>
          </p:sp>
        </mc:Fallback>
      </mc:AlternateContent>
      <p:sp>
        <p:nvSpPr>
          <p:cNvPr id="6" name="Cuerpo"/>
          <p:cNvSpPr txBox="1"/>
          <p:nvPr/>
        </p:nvSpPr>
        <p:spPr>
          <a:xfrm>
            <a:off x="5669280" y="2194560"/>
            <a:ext cx="3017520" cy="15544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Las mismas 15 360 muestras cubren D veces más tiempo</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Pero el Nyquist baja a 1302/D Hz: duración y banda compiten</a:t>
            </a:r>
            <a:endParaRPr lang="en-US" sz="1300" dirty="0"/>
          </a:p>
        </p:txBody>
      </p:sp>
      <p:sp>
        <p:nvSpPr>
          <p:cNvPr id="7" name="Text 4"/>
          <p:cNvSpPr txBox="1"/>
          <p:nvPr/>
        </p:nvSpPr>
        <p:spPr>
          <a:xfrm>
            <a:off x="457200" y="4160520"/>
            <a:ext cx="8229600" cy="274320"/>
          </a:xfrm>
          <a:prstGeom prst="rect">
            <a:avLst/>
          </a:prstGeom>
          <a:noFill/>
          <a:ln/>
        </p:spPr>
        <p:txBody>
          <a:bodyPr wrap="square" lIns="0" tIns="0" rIns="0" bIns="0" rtlCol="0" anchor="t"/>
          <a:lstStyle/>
          <a:p>
            <a:pPr indent="0" marL="0">
              <a:buNone/>
            </a:pPr>
            <a:r>
              <a:rPr lang="en-US" sz="1100" dirty="0">
                <a:solidFill>
                  <a:srgbClr val="6B6B6B"/>
                </a:solidFill>
                <a:latin typeface="Arial" pitchFamily="34" charset="0"/>
                <a:ea typeface="Arial" pitchFamily="34" charset="-122"/>
                <a:cs typeface="Arial" pitchFamily="34" charset="-120"/>
              </a:rPr>
              <a:t>Supone que el límite de 512 lotes cuenta muestras ya diezmadas (por confirmar en el firmware).</a:t>
            </a:r>
            <a:endParaRPr lang="en-US" sz="1100" dirty="0"/>
          </a:p>
        </p:txBody>
      </p:sp>
      <p:sp>
        <p:nvSpPr>
          <p:cNvPr id="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512 lotes de 30 muestras y fs = 2604 Hz; documento de tesis, 04_arquitectura.tex.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registro guarda sus metadatos y su integridad, y el original permanece en el nodo</a:t>
            </a:r>
            <a:endParaRPr lang="en-US" sz="2400" dirty="0"/>
          </a:p>
        </p:txBody>
      </p:sp>
      <p:sp>
        <p:nvSpPr>
          <p:cNvPr id="3" name="Cabecera Metadatos del registro"/>
          <p:cNvSpPr/>
          <p:nvPr/>
        </p:nvSpPr>
        <p:spPr>
          <a:xfrm>
            <a:off x="457200" y="1188720"/>
            <a:ext cx="4023360" cy="411480"/>
          </a:xfrm>
          <a:prstGeom prst="rect">
            <a:avLst/>
          </a:prstGeom>
          <a:solidFill>
            <a:srgbClr val="1F4E79"/>
          </a:solidFill>
          <a:ln w="12700">
            <a:solidFill>
              <a:srgbClr val="1F4E79"/>
            </a:solidFill>
            <a:prstDash val="solid"/>
          </a:ln>
        </p:spPr>
      </p:sp>
      <p:sp>
        <p:nvSpPr>
          <p:cNvPr id="4" name="Text 2"/>
          <p:cNvSpPr txBox="1"/>
          <p:nvPr/>
        </p:nvSpPr>
        <p:spPr>
          <a:xfrm>
            <a:off x="502920" y="1188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Metadatos del registro</a:t>
            </a:r>
            <a:endParaRPr lang="en-US" sz="1400" dirty="0"/>
          </a:p>
        </p:txBody>
      </p:sp>
      <p:sp>
        <p:nvSpPr>
          <p:cNvPr id="5" name="Tarjeta Metadatos del registro"/>
          <p:cNvSpPr/>
          <p:nvPr/>
        </p:nvSpPr>
        <p:spPr>
          <a:xfrm>
            <a:off x="457200" y="1600200"/>
            <a:ext cx="4023360" cy="2103120"/>
          </a:xfrm>
          <a:prstGeom prst="rect">
            <a:avLst/>
          </a:prstGeom>
          <a:solidFill>
            <a:srgbClr val="FFFFFF"/>
          </a:solidFill>
          <a:ln w="19050">
            <a:solidFill>
              <a:srgbClr val="1F4E79"/>
            </a:solidFill>
            <a:prstDash val="solid"/>
          </a:ln>
        </p:spPr>
      </p:sp>
      <p:sp>
        <p:nvSpPr>
          <p:cNvPr id="6" name="Text 4"/>
          <p:cNvSpPr txBox="1"/>
          <p:nvPr/>
        </p:nvSpPr>
        <p:spPr>
          <a:xfrm>
            <a:off x="566928" y="1673352"/>
            <a:ext cx="3803904" cy="1956816"/>
          </a:xfrm>
          <a:prstGeom prst="rect">
            <a:avLst/>
          </a:prstGeom>
          <a:noFill/>
          <a:ln/>
        </p:spPr>
        <p:txBody>
          <a:bodyPr wrap="square" lIns="0" tIns="0" rIns="0" bIns="0" rtlCol="0" anchor="t"/>
          <a:lstStyle/>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Identificador y posición del nodo</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Frecuencia de muestreo y factor D</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Rango del ADC, ganancia y ruta de señal</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Número de muestras</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Estado del ajuste de offset</a:t>
            </a:r>
            <a:endParaRPr lang="en-US" sz="1500" dirty="0"/>
          </a:p>
        </p:txBody>
      </p:sp>
      <p:sp>
        <p:nvSpPr>
          <p:cNvPr id="7" name="Cabecera Integridad"/>
          <p:cNvSpPr/>
          <p:nvPr/>
        </p:nvSpPr>
        <p:spPr>
          <a:xfrm>
            <a:off x="4663440" y="1188720"/>
            <a:ext cx="4023360" cy="411480"/>
          </a:xfrm>
          <a:prstGeom prst="rect">
            <a:avLst/>
          </a:prstGeom>
          <a:solidFill>
            <a:srgbClr val="2E75B6"/>
          </a:solidFill>
          <a:ln w="12700">
            <a:solidFill>
              <a:srgbClr val="2E75B6"/>
            </a:solidFill>
            <a:prstDash val="solid"/>
          </a:ln>
        </p:spPr>
      </p:sp>
      <p:sp>
        <p:nvSpPr>
          <p:cNvPr id="8" name="Text 6"/>
          <p:cNvSpPr txBox="1"/>
          <p:nvPr/>
        </p:nvSpPr>
        <p:spPr>
          <a:xfrm>
            <a:off x="4709160" y="1188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Integridad</a:t>
            </a:r>
            <a:endParaRPr lang="en-US" sz="1400" dirty="0"/>
          </a:p>
        </p:txBody>
      </p:sp>
      <p:sp>
        <p:nvSpPr>
          <p:cNvPr id="9" name="Tarjeta Integridad"/>
          <p:cNvSpPr/>
          <p:nvPr/>
        </p:nvSpPr>
        <p:spPr>
          <a:xfrm>
            <a:off x="4663440" y="1600200"/>
            <a:ext cx="4023360" cy="2103120"/>
          </a:xfrm>
          <a:prstGeom prst="rect">
            <a:avLst/>
          </a:prstGeom>
          <a:solidFill>
            <a:srgbClr val="FFFFFF"/>
          </a:solidFill>
          <a:ln w="19050">
            <a:solidFill>
              <a:srgbClr val="2E75B6"/>
            </a:solidFill>
            <a:prstDash val="solid"/>
          </a:ln>
        </p:spPr>
      </p:sp>
      <p:sp>
        <p:nvSpPr>
          <p:cNvPr id="10" name="Text 8"/>
          <p:cNvSpPr txBox="1"/>
          <p:nvPr/>
        </p:nvSpPr>
        <p:spPr>
          <a:xfrm>
            <a:off x="4773168" y="1673352"/>
            <a:ext cx="3803904" cy="1956816"/>
          </a:xfrm>
          <a:prstGeom prst="rect">
            <a:avLst/>
          </a:prstGeom>
          <a:noFill/>
          <a:ln/>
        </p:spPr>
        <p:txBody>
          <a:bodyPr wrap="square" lIns="0" tIns="0" rIns="0" bIns="0" rtlCol="0" anchor="t"/>
          <a:lstStyle/>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Versión y CRC</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Número de muestras</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Indicadores de desbordamiento o de cierre incompleto</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Verificación en el servidor sin modificar el original</a:t>
            </a:r>
            <a:endParaRPr lang="en-US" sz="1500" dirty="0"/>
          </a:p>
        </p:txBody>
      </p:sp>
      <p:sp>
        <p:nvSpPr>
          <p:cNvPr id="11" name="Paso guardar"/>
          <p:cNvSpPr/>
          <p:nvPr/>
        </p:nvSpPr>
        <p:spPr>
          <a:xfrm>
            <a:off x="457200" y="3931920"/>
            <a:ext cx="2377440" cy="502920"/>
          </a:xfrm>
          <a:prstGeom prst="roundRect">
            <a:avLst>
              <a:gd name="adj" fmla="val 14545"/>
            </a:avLst>
          </a:prstGeom>
          <a:solidFill>
            <a:srgbClr val="1F4E79"/>
          </a:solidFill>
          <a:ln w="12700">
            <a:solidFill>
              <a:srgbClr val="1F4E79"/>
            </a:solidFill>
            <a:prstDash val="solid"/>
          </a:ln>
        </p:spPr>
      </p:sp>
      <p:sp>
        <p:nvSpPr>
          <p:cNvPr id="12" name="Text 10"/>
          <p:cNvSpPr txBox="1"/>
          <p:nvPr/>
        </p:nvSpPr>
        <p:spPr>
          <a:xfrm>
            <a:off x="45720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 guarda en el nodo</a:t>
            </a:r>
            <a:endParaRPr lang="en-US" sz="1300" dirty="0"/>
          </a:p>
        </p:txBody>
      </p:sp>
      <p:sp>
        <p:nvSpPr>
          <p:cNvPr id="13" name="Paso transmitir"/>
          <p:cNvSpPr/>
          <p:nvPr/>
        </p:nvSpPr>
        <p:spPr>
          <a:xfrm>
            <a:off x="3383280" y="3931920"/>
            <a:ext cx="2377440" cy="502920"/>
          </a:xfrm>
          <a:prstGeom prst="roundRect">
            <a:avLst>
              <a:gd name="adj" fmla="val 14545"/>
            </a:avLst>
          </a:prstGeom>
          <a:solidFill>
            <a:srgbClr val="2E75B6"/>
          </a:solidFill>
          <a:ln w="12700">
            <a:solidFill>
              <a:srgbClr val="2E75B6"/>
            </a:solidFill>
            <a:prstDash val="solid"/>
          </a:ln>
        </p:spPr>
      </p:sp>
      <p:sp>
        <p:nvSpPr>
          <p:cNvPr id="14" name="Text 12"/>
          <p:cNvSpPr txBox="1"/>
          <p:nvPr/>
        </p:nvSpPr>
        <p:spPr>
          <a:xfrm>
            <a:off x="338328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Lotes numerados</a:t>
            </a:r>
            <a:endParaRPr lang="en-US" sz="1300" dirty="0"/>
          </a:p>
        </p:txBody>
      </p:sp>
      <p:sp>
        <p:nvSpPr>
          <p:cNvPr id="15" name="Paso reintento"/>
          <p:cNvSpPr/>
          <p:nvPr/>
        </p:nvSpPr>
        <p:spPr>
          <a:xfrm>
            <a:off x="6309360" y="3931920"/>
            <a:ext cx="2377440" cy="502920"/>
          </a:xfrm>
          <a:prstGeom prst="roundRect">
            <a:avLst>
              <a:gd name="adj" fmla="val 14545"/>
            </a:avLst>
          </a:prstGeom>
          <a:solidFill>
            <a:srgbClr val="C55A11"/>
          </a:solidFill>
          <a:ln w="12700">
            <a:solidFill>
              <a:srgbClr val="C55A11"/>
            </a:solidFill>
            <a:prstDash val="solid"/>
          </a:ln>
        </p:spPr>
      </p:sp>
      <p:sp>
        <p:nvSpPr>
          <p:cNvPr id="16" name="Text 14"/>
          <p:cNvSpPr txBox="1"/>
          <p:nvPr/>
        </p:nvSpPr>
        <p:spPr>
          <a:xfrm>
            <a:off x="630936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Reintento si hay pérdida</a:t>
            </a:r>
            <a:endParaRPr lang="en-US" sz="1300" dirty="0"/>
          </a:p>
        </p:txBody>
      </p:sp>
      <p:sp>
        <p:nvSpPr>
          <p:cNvPr id="17" name="Shape 15"/>
          <p:cNvSpPr/>
          <p:nvPr/>
        </p:nvSpPr>
        <p:spPr>
          <a:xfrm>
            <a:off x="2852928" y="4187952"/>
            <a:ext cx="512064" cy="0"/>
          </a:xfrm>
          <a:prstGeom prst="line">
            <a:avLst/>
          </a:prstGeom>
          <a:noFill/>
          <a:ln w="31750">
            <a:solidFill>
              <a:srgbClr val="1F4E79"/>
            </a:solidFill>
            <a:prstDash val="solid"/>
            <a:tailEnd type="triangle"/>
          </a:ln>
        </p:spPr>
      </p:sp>
      <p:sp>
        <p:nvSpPr>
          <p:cNvPr id="18" name="Shape 16"/>
          <p:cNvSpPr/>
          <p:nvPr/>
        </p:nvSpPr>
        <p:spPr>
          <a:xfrm>
            <a:off x="5779008" y="4187952"/>
            <a:ext cx="512064" cy="0"/>
          </a:xfrm>
          <a:prstGeom prst="line">
            <a:avLst/>
          </a:prstGeom>
          <a:noFill/>
          <a:ln w="31750">
            <a:solidFill>
              <a:srgbClr val="1F4E79"/>
            </a:solidFill>
            <a:prstDash val="solid"/>
            <a:tailEnd type="triangle"/>
          </a:ln>
        </p:spPr>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a 4.8 (metadatos, lotes, integridad); documento de tesis, 04_arquitectura.tex.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maestro coordina por ESP-NOW y cada nodo une su ESP32 con su PSoC</a:t>
            </a:r>
            <a:endParaRPr lang="en-US" sz="2400" dirty="0"/>
          </a:p>
        </p:txBody>
      </p:sp>
      <p:pic>
        <p:nvPicPr>
          <p:cNvPr id="3" name="Topología de red" descr="Esquema del maestro ESP32 con su página web, coordinador y transporte ESP-NOW, y de los nodos GEO y HAMMER, cada uno con ESP32 esclavo, PSoC, arena de RAM y microSD">    </p:cNvPr>
          <p:cNvPicPr>
            <a:picLocks noChangeAspect="1"/>
          </p:cNvPicPr>
          <p:nvPr/>
        </p:nvPicPr>
        <p:blipFill>
          <a:blip r:embed="rId1"/>
          <a:stretch>
            <a:fillRect/>
          </a:stretch>
        </p:blipFill>
        <p:spPr>
          <a:xfrm>
            <a:off x="1253163" y="1097280"/>
            <a:ext cx="6637673" cy="3383280"/>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5); resumen firmado, sec. 4.8.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Elegimos ESP-NOW por costo y simplicidad, no por ser la opción más precisa</a:t>
            </a:r>
            <a:endParaRPr lang="en-US" sz="2400" dirty="0"/>
          </a:p>
        </p:txBody>
      </p:sp>
      <p:graphicFrame>
        <p:nvGraphicFramePr>
          <p:cNvPr id="85" name="Tabla de alternativas"/>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737360"/>
                <a:gridCol w="1828800"/>
                <a:gridCol w="2286000"/>
                <a:gridCol w="2377440"/>
              </a:tblGrid>
              <a:tr h="41148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Opción</a:t>
                      </a:r>
                      <a:endParaRPr lang="en-US" sz="12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Infraestructura</a:t>
                      </a:r>
                      <a:endParaRPr lang="en-US" sz="12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Inicio coordinado</a:t>
                      </a:r>
                      <a:endParaRPr lang="en-US" sz="12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Observación</a:t>
                      </a:r>
                      <a:endParaRPr lang="en-US" sz="12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411480">
                <a:tc>
                  <a:txBody>
                    <a:bodyPr/>
                    <a:lstStyle/>
                    <a:p>
                      <a:pPr algn="l" indent="0" marL="0">
                        <a:buNone/>
                      </a:pPr>
                      <a:r>
                        <a:rPr lang="en-US" sz="1100" b="1" dirty="0">
                          <a:solidFill>
                            <a:srgbClr val="2D2D2D"/>
                          </a:solidFill>
                          <a:latin typeface="Arial" pitchFamily="34" charset="0"/>
                          <a:ea typeface="Arial" pitchFamily="34" charset="-122"/>
                          <a:cs typeface="Arial" pitchFamily="34" charset="-120"/>
                        </a:rPr>
                        <a:t>Cable de sincronismo</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Tendido</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Determinista</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Se usó y se retiró: es el cableado que se quiere evitar</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2D2D2D"/>
                          </a:solidFill>
                          <a:latin typeface="Arial" pitchFamily="34" charset="0"/>
                          <a:ea typeface="Arial" pitchFamily="34" charset="-122"/>
                          <a:cs typeface="Arial" pitchFamily="34" charset="-120"/>
                        </a:rPr>
                        <a:t>Wi-Fi con punto de acceso</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Punto de acceso</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Variable (ACK, reintentos, CSMA/CA)</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Latencia distinta en cada nodo</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2D2D2D"/>
                          </a:solidFill>
                          <a:latin typeface="Arial" pitchFamily="34" charset="0"/>
                          <a:ea typeface="Arial" pitchFamily="34" charset="-122"/>
                          <a:cs typeface="Arial" pitchFamily="34" charset="-120"/>
                        </a:rPr>
                        <a:t>LoRa</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Ninguna</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Tiempo en el aire de decenas de ms</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Tasa de datos muy baja para descargar registros</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2D2D2D"/>
                          </a:solidFill>
                          <a:latin typeface="Arial" pitchFamily="34" charset="0"/>
                          <a:ea typeface="Arial" pitchFamily="34" charset="-122"/>
                          <a:cs typeface="Arial" pitchFamily="34" charset="-120"/>
                        </a:rPr>
                        <a:t>GPS / PPS</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Receptor y cielo abierto por nodo</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Referencia absoluta, muy buena</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Lo usan equipos comerciales; costo y cobertura</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F4E79"/>
                          </a:solidFill>
                          <a:latin typeface="Arial" pitchFamily="34" charset="0"/>
                          <a:ea typeface="Arial" pitchFamily="34" charset="-122"/>
                          <a:cs typeface="Arial" pitchFamily="34" charset="-120"/>
                        </a:rPr>
                        <a:t>ESP-NOW (broadcast)</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4E79"/>
                          </a:solidFill>
                          <a:latin typeface="Arial" pitchFamily="34" charset="0"/>
                          <a:ea typeface="Arial" pitchFamily="34" charset="-122"/>
                          <a:cs typeface="Arial" pitchFamily="34" charset="-120"/>
                        </a:rPr>
                        <a:t>Ninguna</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F4E79"/>
                          </a:solidFill>
                          <a:latin typeface="Arial" pitchFamily="34" charset="0"/>
                          <a:ea typeface="Arial" pitchFamily="34" charset="-122"/>
                          <a:cs typeface="Arial" pitchFamily="34" charset="-120"/>
                        </a:rPr>
                        <a:t>≈ 200–400 µs medido con 3 nodos</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4E79"/>
                          </a:solidFill>
                          <a:latin typeface="Arial" pitchFamily="34" charset="0"/>
                          <a:ea typeface="Arial" pitchFamily="34" charset="-122"/>
                          <a:cs typeface="Arial" pitchFamily="34" charset="-120"/>
                        </a:rPr>
                        <a:t>Sin ACK; barato y ya integrado en el ESP32</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2D2D2D"/>
                          </a:solidFill>
                          <a:latin typeface="Arial" pitchFamily="34" charset="0"/>
                          <a:ea typeface="Arial" pitchFamily="34" charset="-122"/>
                          <a:cs typeface="Arial" pitchFamily="34" charset="-120"/>
                        </a:rPr>
                        <a:t>UWB (DWM1000)</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Ninguna</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±4 ns reportado (Korsimaa, 2025)</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D2D2D"/>
                          </a:solidFill>
                          <a:latin typeface="Arial" pitchFamily="34" charset="0"/>
                          <a:ea typeface="Arial" pitchFamily="34" charset="-122"/>
                          <a:cs typeface="Arial" pitchFamily="34" charset="-120"/>
                        </a:rPr>
                        <a:t>Trabajo futuro, sin implementar</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b="1" dirty="0">
                <a:solidFill>
                  <a:srgbClr val="C55A11"/>
                </a:solidFill>
                <a:latin typeface="Arial" pitchFamily="34" charset="0"/>
                <a:ea typeface="Arial" pitchFamily="34" charset="-122"/>
                <a:cs typeface="Arial" pitchFamily="34" charset="-120"/>
              </a:rPr>
              <a:t>Con 400 µs el presupuesto de 5° a 50 Hz (278 µs) no se cumple: es la razón del trabajo futuro con UWB.</a:t>
            </a:r>
            <a:endParaRPr lang="en-US" sz="13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04_arquitectura.tex, 08_trabajos_futuros.tex (UWB, Korsimaa 2025), 01_problema_modelado.tex (GPS). Wi-Fi, LoRa y GPS: propiedades generales, no medidas propias.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 desfase de tiempo entre nodos se convierte en un error de fase que crece con la frecuencia</a:t>
            </a:r>
            <a:endParaRPr lang="en-US" sz="2400" dirty="0"/>
          </a:p>
        </p:txBody>
      </p:sp>
      <p:pic>
        <p:nvPicPr>
          <p:cNvPr id="3" name="Error de fase vs desfasaje" descr="Error de fase en función del desfasaje temporal entre nodos para 20, 50 y 100 Hz, con el presupuesto de 5 grados y la observación preliminar de 400 microsegundos">    </p:cNvPr>
          <p:cNvPicPr>
            <a:picLocks noChangeAspect="1"/>
          </p:cNvPicPr>
          <p:nvPr/>
        </p:nvPicPr>
        <p:blipFill>
          <a:blip r:embed="rId1"/>
          <a:stretch>
            <a:fillRect/>
          </a:stretch>
        </p:blipFill>
        <p:spPr>
          <a:xfrm>
            <a:off x="365760" y="1188720"/>
            <a:ext cx="4406498" cy="3246120"/>
          </a:xfrm>
          <a:prstGeom prst="rect">
            <a:avLst/>
          </a:prstGeom>
        </p:spPr>
      </p:pic>
      <p:sp>
        <p:nvSpPr>
          <p:cNvPr id="4" name="Fondo E_dphi"/>
          <p:cNvSpPr/>
          <p:nvPr/>
        </p:nvSpPr>
        <p:spPr>
          <a:xfrm>
            <a:off x="5029200" y="1188720"/>
            <a:ext cx="365760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dphi"/>
              <p:cNvSpPr txBox="1"/>
              <p:nvPr/>
            </p:nvSpPr>
            <p:spPr>
              <a:xfrm>
                <a:off x="5029200" y="1188720"/>
                <a:ext cx="365760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Δφ=360°·f·Δt</m:t>
                      </m:r>
                    </m:oMath>
                  </m:oMathPara>
                </a14:m>
                <a:endParaRPr lang="es-ES"/>
              </a:p>
            </p:txBody>
          </p:sp>
        </mc:Choice>
        <mc:Fallback>
          <p:sp>
            <p:nvSpPr>
              <p:cNvPr id="5" name="Ecuación E_dphi"/>
              <p:cNvSpPr txBox="1"/>
              <p:nvPr/>
            </p:nvSpPr>
            <p:spPr>
              <a:xfrm>
                <a:off x="5029200" y="1188720"/>
                <a:ext cx="365760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Δφ = 360° · f · Δt</a:t>
                </a:r>
                <a:endParaRPr lang="en-US" sz="2400" dirty="0"/>
              </a:p>
            </p:txBody>
          </p:sp>
        </mc:Fallback>
      </mc:AlternateContent>
      <p:sp>
        <p:nvSpPr>
          <p:cNvPr id="6" name="Cuerpo"/>
          <p:cNvSpPr txBox="1"/>
          <p:nvPr/>
        </p:nvSpPr>
        <p:spPr>
          <a:xfrm>
            <a:off x="5029200" y="2103120"/>
            <a:ext cx="365760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Para limitar el error a 5°: 278 µs a 50 Hz y 139 µs a 100 Hz</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Con 400 µs: 7,2° a 50 Hz y 14,4° a 100 Hz</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Con 400 µs, los 5° se cumplen hasta unos 35 Hz (cálculo propio)</a:t>
            </a:r>
            <a:endParaRPr lang="en-US" sz="14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4.10, ec. 18; documento de tesis, 04_arquitectura.tex y fig. sincronizacion_fase. Los 35 Hz: 5°/(360°·400 µs).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velocidad de fase, el error depende del espaciamiento entre receptores y no de la frecuencia</a:t>
            </a:r>
            <a:endParaRPr lang="en-US" sz="2400" dirty="0"/>
          </a:p>
        </p:txBody>
      </p:sp>
      <p:pic>
        <p:nvPicPr>
          <p:cNvPr id="3" name="Error de velocidad vs desalineamiento" descr="Error de velocidad de fase en porcentaje en función del desalineamiento temporal entre nodos, para velocidades de Rayleigh de 120, 150 y 200 m/s con receptores separados 2 m">    </p:cNvPr>
          <p:cNvPicPr>
            <a:picLocks noChangeAspect="1"/>
          </p:cNvPicPr>
          <p:nvPr/>
        </p:nvPicPr>
        <p:blipFill>
          <a:blip r:embed="rId1"/>
          <a:stretch>
            <a:fillRect/>
          </a:stretch>
        </p:blipFill>
        <p:spPr>
          <a:xfrm>
            <a:off x="365760" y="1234440"/>
            <a:ext cx="4754880" cy="2732471"/>
          </a:xfrm>
          <a:prstGeom prst="rect">
            <a:avLst/>
          </a:prstGeom>
        </p:spPr>
      </p:pic>
      <p:sp>
        <p:nvSpPr>
          <p:cNvPr id="4" name="Fondo E_dcc"/>
          <p:cNvSpPr/>
          <p:nvPr/>
        </p:nvSpPr>
        <p:spPr>
          <a:xfrm>
            <a:off x="5303520" y="1234440"/>
            <a:ext cx="33832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dcc"/>
              <p:cNvSpPr txBox="1"/>
              <p:nvPr/>
            </p:nvSpPr>
            <p:spPr>
              <a:xfrm>
                <a:off x="5303520" y="1234440"/>
                <a:ext cx="33832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Δc</m:t>
                          </m:r>
                        </m:num>
                        <m:den>
                          <m:r>
                            <a:rPr lang="es-ES" sz="2800" i="1">
                              <a:solidFill>
                                <a:srgbClr val="1F4E79"/>
                              </a:solidFill>
                              <a:latin typeface="Cambria Math" panose="02040503050406030204" pitchFamily="18" charset="0"/>
                            </a:rPr>
                            <m:t xml:space="preserve">c</m:t>
                          </m:r>
                        </m:den>
                      </m:f>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c·Δt</m:t>
                          </m:r>
                        </m:num>
                        <m:den>
                          <m:r>
                            <a:rPr lang="es-ES" sz="2800" i="1">
                              <a:solidFill>
                                <a:srgbClr val="1F4E79"/>
                              </a:solidFill>
                              <a:latin typeface="Cambria Math" panose="02040503050406030204" pitchFamily="18" charset="0"/>
                            </a:rPr>
                            <m:t xml:space="preserve">Δx</m:t>
                          </m:r>
                        </m:den>
                      </m:f>
                    </m:oMath>
                  </m:oMathPara>
                </a14:m>
                <a:endParaRPr lang="es-ES"/>
              </a:p>
            </p:txBody>
          </p:sp>
        </mc:Choice>
        <mc:Fallback>
          <p:sp>
            <p:nvSpPr>
              <p:cNvPr id="5" name="Ecuación E_dcc"/>
              <p:cNvSpPr txBox="1"/>
              <p:nvPr/>
            </p:nvSpPr>
            <p:spPr>
              <a:xfrm>
                <a:off x="5303520" y="1234440"/>
                <a:ext cx="33832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Δc/c = c·Δt / Δx</a:t>
                </a:r>
                <a:endParaRPr lang="en-US" sz="2400" dirty="0"/>
              </a:p>
            </p:txBody>
          </p:sp>
        </mc:Fallback>
      </mc:AlternateContent>
      <p:sp>
        <p:nvSpPr>
          <p:cNvPr id="6" name="Cuerpo"/>
          <p:cNvSpPr txBox="1"/>
          <p:nvPr/>
        </p:nvSpPr>
        <p:spPr>
          <a:xfrm>
            <a:off x="5303520" y="228600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Con Δx = 2 m y c = 150 m/s, 5 % de error llega a 667 µs</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Con 400 µs el error sería de 3 %</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Un Δx menor hace que el mismo Δt pese más</a:t>
            </a:r>
            <a:endParaRPr lang="en-US" sz="13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Figura propia (f_presupuesto_sincronizacion). Relación derivada de c = 2πf·Δx/Δφ: inferencia propia, no tomada de una fuente.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disparo se prepara en dos pasos y se ejecuta con una sola orden por broadcast</a:t>
            </a:r>
            <a:endParaRPr lang="en-US" sz="2400" dirty="0"/>
          </a:p>
        </p:txBody>
      </p:sp>
      <p:pic>
        <p:nvPicPr>
          <p:cNvPr id="3" name="Secuencia de disparo" descr="Secuencia de adquisición: ARM, PRESTART, espera de confirmaciones y CMD_START por broadcast que eleva el flanco SYNC_TO_PSOC, con retorno store-and-forward">    </p:cNvPr>
          <p:cNvPicPr>
            <a:picLocks noChangeAspect="1"/>
          </p:cNvPicPr>
          <p:nvPr/>
        </p:nvPicPr>
        <p:blipFill>
          <a:blip r:embed="rId1"/>
          <a:stretch>
            <a:fillRect/>
          </a:stretch>
        </p:blipFill>
        <p:spPr>
          <a:xfrm>
            <a:off x="548640" y="1188720"/>
            <a:ext cx="8046720" cy="3259233"/>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10); resumen firmado, sec. 4.8 y fig. 12.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disparo va por broadcast: el unicast agrega retransmisiones distintas en cada nodo</a:t>
            </a:r>
            <a:endParaRPr lang="en-US" sz="2400" dirty="0"/>
          </a:p>
        </p:txBody>
      </p:sp>
      <p:sp>
        <p:nvSpPr>
          <p:cNvPr id="3" name="Cabecera Sin ACK ni reintentos"/>
          <p:cNvSpPr/>
          <p:nvPr/>
        </p:nvSpPr>
        <p:spPr>
          <a:xfrm>
            <a:off x="457200" y="1188720"/>
            <a:ext cx="2560320" cy="457200"/>
          </a:xfrm>
          <a:prstGeom prst="rect">
            <a:avLst/>
          </a:prstGeom>
          <a:solidFill>
            <a:srgbClr val="1F4E79"/>
          </a:solidFill>
          <a:ln w="12700">
            <a:solidFill>
              <a:srgbClr val="1F4E79"/>
            </a:solidFill>
            <a:prstDash val="solid"/>
          </a:ln>
        </p:spPr>
      </p:sp>
      <p:sp>
        <p:nvSpPr>
          <p:cNvPr id="4" name="Text 2"/>
          <p:cNvSpPr txBox="1"/>
          <p:nvPr/>
        </p:nvSpPr>
        <p:spPr>
          <a:xfrm>
            <a:off x="502920" y="1188720"/>
            <a:ext cx="24688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Sin ACK ni reintentos</a:t>
            </a:r>
            <a:endParaRPr lang="en-US" sz="1500" dirty="0"/>
          </a:p>
        </p:txBody>
      </p:sp>
      <p:sp>
        <p:nvSpPr>
          <p:cNvPr id="5" name="Tarjeta Sin ACK ni reintentos"/>
          <p:cNvSpPr/>
          <p:nvPr/>
        </p:nvSpPr>
        <p:spPr>
          <a:xfrm>
            <a:off x="457200" y="1645920"/>
            <a:ext cx="2560320" cy="1920240"/>
          </a:xfrm>
          <a:prstGeom prst="rect">
            <a:avLst/>
          </a:prstGeom>
          <a:solidFill>
            <a:srgbClr val="FFFFFF"/>
          </a:solidFill>
          <a:ln w="19050">
            <a:solidFill>
              <a:srgbClr val="1F4E79"/>
            </a:solidFill>
            <a:prstDash val="solid"/>
          </a:ln>
        </p:spPr>
      </p:sp>
      <p:sp>
        <p:nvSpPr>
          <p:cNvPr id="6" name="Text 4"/>
          <p:cNvSpPr txBox="1"/>
          <p:nvPr/>
        </p:nvSpPr>
        <p:spPr>
          <a:xfrm>
            <a:off x="566928" y="1719072"/>
            <a:ext cx="2340864" cy="1773936"/>
          </a:xfrm>
          <a:prstGeom prst="rect">
            <a:avLst/>
          </a:prstGeom>
          <a:noFill/>
          <a:ln/>
        </p:spPr>
        <p:txBody>
          <a:bodyPr wrap="square" lIns="0" tIns="0" rIns="0" bIns="0" rtlCol="0" anchor="t"/>
          <a:lstStyle/>
          <a:p>
            <a:pPr algn="l" indent="0" marL="0">
              <a:buNone/>
            </a:pPr>
            <a:r>
              <a:rPr lang="en-US" sz="1300" dirty="0">
                <a:solidFill>
                  <a:srgbClr val="2D2D2D"/>
                </a:solidFill>
                <a:latin typeface="Arial" pitchFamily="34" charset="0"/>
                <a:ea typeface="Arial" pitchFamily="34" charset="-122"/>
                <a:cs typeface="Arial" pitchFamily="34" charset="-120"/>
              </a:rPr>
              <a:t>El unicast espera confirmación y reintenta, y el reintento es distinto en cada nodo. El broadcast se emite una vez, o no llega.</a:t>
            </a:r>
            <a:endParaRPr lang="en-US" sz="1300" dirty="0"/>
          </a:p>
        </p:txBody>
      </p:sp>
      <p:sp>
        <p:nvSpPr>
          <p:cNvPr id="7" name="Cabecera Una emisión, no N"/>
          <p:cNvSpPr/>
          <p:nvPr/>
        </p:nvSpPr>
        <p:spPr>
          <a:xfrm>
            <a:off x="3291840" y="1188720"/>
            <a:ext cx="2560320" cy="457200"/>
          </a:xfrm>
          <a:prstGeom prst="rect">
            <a:avLst/>
          </a:prstGeom>
          <a:solidFill>
            <a:srgbClr val="2E75B6"/>
          </a:solidFill>
          <a:ln w="12700">
            <a:solidFill>
              <a:srgbClr val="2E75B6"/>
            </a:solidFill>
            <a:prstDash val="solid"/>
          </a:ln>
        </p:spPr>
      </p:sp>
      <p:sp>
        <p:nvSpPr>
          <p:cNvPr id="8" name="Text 6"/>
          <p:cNvSpPr txBox="1"/>
          <p:nvPr/>
        </p:nvSpPr>
        <p:spPr>
          <a:xfrm>
            <a:off x="3337560" y="1188720"/>
            <a:ext cx="24688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Una emisión, no N</a:t>
            </a:r>
            <a:endParaRPr lang="en-US" sz="1500" dirty="0"/>
          </a:p>
        </p:txBody>
      </p:sp>
      <p:sp>
        <p:nvSpPr>
          <p:cNvPr id="9" name="Tarjeta Una emisión, no N"/>
          <p:cNvSpPr/>
          <p:nvPr/>
        </p:nvSpPr>
        <p:spPr>
          <a:xfrm>
            <a:off x="3291840" y="1645920"/>
            <a:ext cx="2560320" cy="1920240"/>
          </a:xfrm>
          <a:prstGeom prst="rect">
            <a:avLst/>
          </a:prstGeom>
          <a:solidFill>
            <a:srgbClr val="FFFFFF"/>
          </a:solidFill>
          <a:ln w="19050">
            <a:solidFill>
              <a:srgbClr val="2E75B6"/>
            </a:solidFill>
            <a:prstDash val="solid"/>
          </a:ln>
        </p:spPr>
      </p:sp>
      <p:sp>
        <p:nvSpPr>
          <p:cNvPr id="10" name="Text 8"/>
          <p:cNvSpPr txBox="1"/>
          <p:nvPr/>
        </p:nvSpPr>
        <p:spPr>
          <a:xfrm>
            <a:off x="3401568" y="1719072"/>
            <a:ext cx="2340864" cy="1773936"/>
          </a:xfrm>
          <a:prstGeom prst="rect">
            <a:avLst/>
          </a:prstGeom>
          <a:noFill/>
          <a:ln/>
        </p:spPr>
        <p:txBody>
          <a:bodyPr wrap="square" lIns="0" tIns="0" rIns="0" bIns="0" rtlCol="0" anchor="t"/>
          <a:lstStyle/>
          <a:p>
            <a:pPr algn="l" indent="0" marL="0">
              <a:buNone/>
            </a:pPr>
            <a:r>
              <a:rPr lang="en-US" sz="1300" dirty="0">
                <a:solidFill>
                  <a:srgbClr val="2D2D2D"/>
                </a:solidFill>
                <a:latin typeface="Arial" pitchFamily="34" charset="0"/>
                <a:ea typeface="Arial" pitchFamily="34" charset="-122"/>
                <a:cs typeface="Arial" pitchFamily="34" charset="-120"/>
              </a:rPr>
              <a:t>Con unicast el último nodo recibe después del primero. El broadcast es un solo evento en el aire para todos los receptores.</a:t>
            </a:r>
            <a:endParaRPr lang="en-US" sz="1300" dirty="0"/>
          </a:p>
        </p:txBody>
      </p:sp>
      <p:sp>
        <p:nvSpPr>
          <p:cNvPr id="11" name="Cabecera Retardo común"/>
          <p:cNvSpPr/>
          <p:nvPr/>
        </p:nvSpPr>
        <p:spPr>
          <a:xfrm>
            <a:off x="6126480" y="1188720"/>
            <a:ext cx="2560320" cy="457200"/>
          </a:xfrm>
          <a:prstGeom prst="rect">
            <a:avLst/>
          </a:prstGeom>
          <a:solidFill>
            <a:srgbClr val="C55A11"/>
          </a:solidFill>
          <a:ln w="12700">
            <a:solidFill>
              <a:srgbClr val="C55A11"/>
            </a:solidFill>
            <a:prstDash val="solid"/>
          </a:ln>
        </p:spPr>
      </p:sp>
      <p:sp>
        <p:nvSpPr>
          <p:cNvPr id="12" name="Text 10"/>
          <p:cNvSpPr txBox="1"/>
          <p:nvPr/>
        </p:nvSpPr>
        <p:spPr>
          <a:xfrm>
            <a:off x="6172200" y="1188720"/>
            <a:ext cx="24688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Retardo común</a:t>
            </a:r>
            <a:endParaRPr lang="en-US" sz="1500" dirty="0"/>
          </a:p>
        </p:txBody>
      </p:sp>
      <p:sp>
        <p:nvSpPr>
          <p:cNvPr id="13" name="Tarjeta Retardo común"/>
          <p:cNvSpPr/>
          <p:nvPr/>
        </p:nvSpPr>
        <p:spPr>
          <a:xfrm>
            <a:off x="6126480" y="1645920"/>
            <a:ext cx="2560320" cy="1920240"/>
          </a:xfrm>
          <a:prstGeom prst="rect">
            <a:avLst/>
          </a:prstGeom>
          <a:solidFill>
            <a:srgbClr val="FFFFFF"/>
          </a:solidFill>
          <a:ln w="19050">
            <a:solidFill>
              <a:srgbClr val="C55A11"/>
            </a:solidFill>
            <a:prstDash val="solid"/>
          </a:ln>
        </p:spPr>
      </p:sp>
      <p:sp>
        <p:nvSpPr>
          <p:cNvPr id="14" name="Text 12"/>
          <p:cNvSpPr txBox="1"/>
          <p:nvPr/>
        </p:nvSpPr>
        <p:spPr>
          <a:xfrm>
            <a:off x="6236208" y="1719072"/>
            <a:ext cx="2340864" cy="1773936"/>
          </a:xfrm>
          <a:prstGeom prst="rect">
            <a:avLst/>
          </a:prstGeom>
          <a:noFill/>
          <a:ln/>
        </p:spPr>
        <p:txBody>
          <a:bodyPr wrap="square" lIns="0" tIns="0" rIns="0" bIns="0" rtlCol="0" anchor="t"/>
          <a:lstStyle/>
          <a:p>
            <a:pPr algn="l" indent="0" marL="0">
              <a:buNone/>
            </a:pPr>
            <a:r>
              <a:rPr lang="en-US" sz="1300" dirty="0">
                <a:solidFill>
                  <a:srgbClr val="2D2D2D"/>
                </a:solidFill>
                <a:latin typeface="Arial" pitchFamily="34" charset="0"/>
                <a:ea typeface="Arial" pitchFamily="34" charset="-122"/>
                <a:cs typeface="Arial" pitchFamily="34" charset="-120"/>
              </a:rPr>
              <a:t>La latencia entre el código y la antena varía, pero ocurre una vez en el emisor y es igual para todos: se cancela entre canales.</a:t>
            </a:r>
            <a:endParaRPr lang="en-US" sz="1300" dirty="0"/>
          </a:p>
        </p:txBody>
      </p:sp>
      <p:sp>
        <p:nvSpPr>
          <p:cNvPr id="15" name="Text 13"/>
          <p:cNvSpPr txBox="1"/>
          <p:nvPr/>
        </p:nvSpPr>
        <p:spPr>
          <a:xfrm>
            <a:off x="457200" y="3703320"/>
            <a:ext cx="8229600" cy="502920"/>
          </a:xfrm>
          <a:prstGeom prst="rect">
            <a:avLst/>
          </a:prstGeom>
          <a:noFill/>
          <a:ln/>
        </p:spPr>
        <p:txBody>
          <a:bodyPr wrap="square" lIns="0" tIns="0" rIns="0" bIns="0" rtlCol="0" anchor="t"/>
          <a:lstStyle/>
          <a:p>
            <a:pPr indent="0" marL="0">
              <a:buNone/>
            </a:pPr>
            <a:r>
              <a:rPr lang="en-US" sz="1400" b="1" dirty="0">
                <a:solidFill>
                  <a:srgbClr val="1F4E79"/>
                </a:solidFill>
                <a:latin typeface="Arial" pitchFamily="34" charset="0"/>
                <a:ea typeface="Arial" pitchFamily="34" charset="-122"/>
                <a:cs typeface="Arial" pitchFamily="34" charset="-120"/>
              </a:rPr>
              <a:t>Se cambia fiabilidad por determinismo: una captura que no dispara se repite; una desalineada da un perfil erróneo sin avisar.</a:t>
            </a:r>
            <a:endParaRPr lang="en-US" sz="1400" dirty="0"/>
          </a:p>
        </p:txBody>
      </p:sp>
      <p:sp>
        <p:nvSpPr>
          <p:cNvPr id="16" name="Text 14"/>
          <p:cNvSpPr txBox="1"/>
          <p:nvPr/>
        </p:nvSpPr>
        <p:spPr>
          <a:xfrm>
            <a:off x="457200" y="4251960"/>
            <a:ext cx="822960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Evidencia: pruebas de banco, sin medición comparativa publicada</a:t>
            </a:r>
            <a:endParaRPr lang="en-US" sz="1000" dirty="0"/>
          </a:p>
        </p:txBody>
      </p:sp>
      <p:sp>
        <p:nvSpPr>
          <p:cNvPr id="1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04_arquitectura.tex (sec. broadcast vs unicast); comportamiento de ACK en unicast: estándar 802.11.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jitter se mide con un disparo falso y un osciloscopio: 128 órdenes, 200 a 400 µs</a:t>
            </a:r>
            <a:endParaRPr lang="en-US" sz="2400" dirty="0"/>
          </a:p>
        </p:txBody>
      </p:sp>
      <p:sp>
        <p:nvSpPr>
          <p:cNvPr id="3" name="Cabecera Método"/>
          <p:cNvSpPr/>
          <p:nvPr/>
        </p:nvSpPr>
        <p:spPr>
          <a:xfrm>
            <a:off x="457200" y="1188720"/>
            <a:ext cx="4754880" cy="411480"/>
          </a:xfrm>
          <a:prstGeom prst="rect">
            <a:avLst/>
          </a:prstGeom>
          <a:solidFill>
            <a:srgbClr val="1F4E79"/>
          </a:solidFill>
          <a:ln w="12700">
            <a:solidFill>
              <a:srgbClr val="1F4E79"/>
            </a:solidFill>
            <a:prstDash val="solid"/>
          </a:ln>
        </p:spPr>
      </p:sp>
      <p:sp>
        <p:nvSpPr>
          <p:cNvPr id="4" name="Text 2"/>
          <p:cNvSpPr txBox="1"/>
          <p:nvPr/>
        </p:nvSpPr>
        <p:spPr>
          <a:xfrm>
            <a:off x="502920" y="1188720"/>
            <a:ext cx="466344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Método</a:t>
            </a:r>
            <a:endParaRPr lang="en-US" sz="1500" dirty="0"/>
          </a:p>
        </p:txBody>
      </p:sp>
      <p:sp>
        <p:nvSpPr>
          <p:cNvPr id="5" name="Tarjeta Método"/>
          <p:cNvSpPr/>
          <p:nvPr/>
        </p:nvSpPr>
        <p:spPr>
          <a:xfrm>
            <a:off x="457200" y="1600200"/>
            <a:ext cx="4754880" cy="2377440"/>
          </a:xfrm>
          <a:prstGeom prst="rect">
            <a:avLst/>
          </a:prstGeom>
          <a:solidFill>
            <a:srgbClr val="FFFFFF"/>
          </a:solidFill>
          <a:ln w="19050">
            <a:solidFill>
              <a:srgbClr val="1F4E79"/>
            </a:solidFill>
            <a:prstDash val="solid"/>
          </a:ln>
        </p:spPr>
      </p:sp>
      <p:sp>
        <p:nvSpPr>
          <p:cNvPr id="6" name="Text 4"/>
          <p:cNvSpPr txBox="1"/>
          <p:nvPr/>
        </p:nvSpPr>
        <p:spPr>
          <a:xfrm>
            <a:off x="566928" y="1673352"/>
            <a:ext cx="4535424" cy="2231136"/>
          </a:xfrm>
          <a:prstGeom prst="rect">
            <a:avLst/>
          </a:prstGeom>
          <a:noFill/>
          <a:ln/>
        </p:spPr>
        <p:txBody>
          <a:bodyPr wrap="square" lIns="0" tIns="0" rIns="0" bIns="0" rtlCol="0" anchor="t"/>
          <a:lstStyle/>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CMD_SCOPE_START: cada nodo emite un pulso de 1 ms por un GPIO, sin muestrear ni responder por radio</a:t>
            </a:r>
            <a:endParaRPr lang="en-US" sz="1300" dirty="0"/>
          </a:p>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El osciloscopio mide la separación entre los flancos del maestro y de los esclavos</a:t>
            </a:r>
            <a:endParaRPr lang="en-US" sz="1300" dirty="0"/>
          </a:p>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SCOPE_MULTI repite el disparo 128 veces, separado 1 s</a:t>
            </a:r>
            <a:endParaRPr lang="en-US" sz="1300" dirty="0"/>
          </a:p>
        </p:txBody>
      </p:sp>
      <p:sp>
        <p:nvSpPr>
          <p:cNvPr id="7" name="Fondo resultado"/>
          <p:cNvSpPr/>
          <p:nvPr/>
        </p:nvSpPr>
        <p:spPr>
          <a:xfrm>
            <a:off x="5486400" y="1188720"/>
            <a:ext cx="3200400" cy="2788920"/>
          </a:xfrm>
          <a:prstGeom prst="rect">
            <a:avLst/>
          </a:prstGeom>
          <a:solidFill>
            <a:srgbClr val="EAF1F8"/>
          </a:solidFill>
          <a:ln w="12700">
            <a:solidFill>
              <a:srgbClr val="EAF1F8"/>
            </a:solidFill>
            <a:prstDash val="solid"/>
          </a:ln>
        </p:spPr>
      </p:sp>
      <p:sp>
        <p:nvSpPr>
          <p:cNvPr id="8" name="Text 6"/>
          <p:cNvSpPr txBox="1"/>
          <p:nvPr/>
        </p:nvSpPr>
        <p:spPr>
          <a:xfrm>
            <a:off x="5486400" y="1371600"/>
            <a:ext cx="3200400" cy="731520"/>
          </a:xfrm>
          <a:prstGeom prst="rect">
            <a:avLst/>
          </a:prstGeom>
          <a:noFill/>
          <a:ln/>
        </p:spPr>
        <p:txBody>
          <a:bodyPr wrap="square" lIns="0" tIns="0" rIns="0" bIns="0" rtlCol="0" anchor="ctr"/>
          <a:lstStyle/>
          <a:p>
            <a:pPr algn="ctr" indent="0" marL="0">
              <a:buNone/>
            </a:pPr>
            <a:r>
              <a:rPr lang="en-US" sz="3600" b="1" dirty="0">
                <a:solidFill>
                  <a:srgbClr val="1F4E79"/>
                </a:solidFill>
                <a:latin typeface="Arial" pitchFamily="34" charset="0"/>
                <a:ea typeface="Arial" pitchFamily="34" charset="-122"/>
                <a:cs typeface="Arial" pitchFamily="34" charset="-120"/>
              </a:rPr>
              <a:t>200–400 µs</a:t>
            </a:r>
            <a:endParaRPr lang="en-US" sz="3600" dirty="0"/>
          </a:p>
        </p:txBody>
      </p:sp>
      <p:sp>
        <p:nvSpPr>
          <p:cNvPr id="9" name="Text 7"/>
          <p:cNvSpPr txBox="1"/>
          <p:nvPr/>
        </p:nvSpPr>
        <p:spPr>
          <a:xfrm>
            <a:off x="5623560" y="2194560"/>
            <a:ext cx="2926080" cy="822960"/>
          </a:xfrm>
          <a:prstGeom prst="rect">
            <a:avLst/>
          </a:prstGeom>
          <a:noFill/>
          <a:ln/>
        </p:spPr>
        <p:txBody>
          <a:bodyPr wrap="square" lIns="0" tIns="0" rIns="0" bIns="0" rtlCol="0" anchor="t"/>
          <a:lstStyle/>
          <a:p>
            <a:pPr algn="ctr" indent="0" marL="0">
              <a:buNone/>
            </a:pPr>
            <a:r>
              <a:rPr lang="en-US" sz="1300" dirty="0">
                <a:solidFill>
                  <a:srgbClr val="2D2D2D"/>
                </a:solidFill>
                <a:latin typeface="Arial" pitchFamily="34" charset="0"/>
                <a:ea typeface="Arial" pitchFamily="34" charset="-122"/>
                <a:cs typeface="Arial" pitchFamily="34" charset="-120"/>
              </a:rPr>
              <a:t>separación entre flancos GPIO, 3 nodos, 128 órdenes START por broadcast</a:t>
            </a:r>
            <a:endParaRPr lang="en-US" sz="1300" dirty="0"/>
          </a:p>
        </p:txBody>
      </p:sp>
      <p:sp>
        <p:nvSpPr>
          <p:cNvPr id="10" name="Text 8"/>
          <p:cNvSpPr txBox="1"/>
          <p:nvPr/>
        </p:nvSpPr>
        <p:spPr>
          <a:xfrm>
            <a:off x="5623560" y="3063240"/>
            <a:ext cx="2926080" cy="82296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Sin relación con la posición relativa entre maestro y esclavos (maestro a ≈ 5 m)</a:t>
            </a:r>
            <a:endParaRPr lang="en-US" sz="1200" dirty="0"/>
          </a:p>
        </p:txBody>
      </p:sp>
      <p:sp>
        <p:nvSpPr>
          <p:cNvPr id="11" name="Text 9"/>
          <p:cNvSpPr txBox="1"/>
          <p:nvPr/>
        </p:nvSpPr>
        <p:spPr>
          <a:xfrm>
            <a:off x="457200" y="4114800"/>
            <a:ext cx="8229600" cy="320040"/>
          </a:xfrm>
          <a:prstGeom prst="rect">
            <a:avLst/>
          </a:prstGeom>
          <a:noFill/>
          <a:ln/>
        </p:spPr>
        <p:txBody>
          <a:bodyPr wrap="square" lIns="0" tIns="0" rIns="0" bIns="0" rtlCol="0" anchor="t"/>
          <a:lstStyle/>
          <a:p>
            <a:pPr indent="0" marL="0">
              <a:buNone/>
            </a:pPr>
            <a:r>
              <a:rPr lang="en-US" sz="1400" b="1" dirty="0">
                <a:solidFill>
                  <a:srgbClr val="C55A11"/>
                </a:solidFill>
                <a:latin typeface="Arial" pitchFamily="34" charset="0"/>
                <a:ea typeface="Arial" pitchFamily="34" charset="-122"/>
                <a:cs typeface="Arial" pitchFamily="34" charset="-120"/>
              </a:rPr>
              <a:t>Resultado preliminar: no es una especificación garantizada.</a:t>
            </a:r>
            <a:endParaRPr lang="en-US" sz="14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4.10; documento de tesis, 04_arquitectura.tex (método, resultado y límites).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Esta medición no incluye el inicio real del ADC ni la deriva posterior</a:t>
            </a:r>
            <a:endParaRPr lang="en-US" sz="2400" dirty="0"/>
          </a:p>
        </p:txBody>
      </p:sp>
      <p:sp>
        <p:nvSpPr>
          <p:cNvPr id="3" name="Cabecera Qué mide"/>
          <p:cNvSpPr/>
          <p:nvPr/>
        </p:nvSpPr>
        <p:spPr>
          <a:xfrm>
            <a:off x="457200" y="1188720"/>
            <a:ext cx="2560320" cy="411480"/>
          </a:xfrm>
          <a:prstGeom prst="rect">
            <a:avLst/>
          </a:prstGeom>
          <a:solidFill>
            <a:srgbClr val="1F4E79"/>
          </a:solidFill>
          <a:ln w="12700">
            <a:solidFill>
              <a:srgbClr val="1F4E79"/>
            </a:solidFill>
            <a:prstDash val="solid"/>
          </a:ln>
        </p:spPr>
      </p:sp>
      <p:sp>
        <p:nvSpPr>
          <p:cNvPr id="4" name="Text 2"/>
          <p:cNvSpPr txBox="1"/>
          <p:nvPr/>
        </p:nvSpPr>
        <p:spPr>
          <a:xfrm>
            <a:off x="502920" y="1188720"/>
            <a:ext cx="24688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Qué mide</a:t>
            </a:r>
            <a:endParaRPr lang="en-US" sz="1400" dirty="0"/>
          </a:p>
        </p:txBody>
      </p:sp>
      <p:sp>
        <p:nvSpPr>
          <p:cNvPr id="5" name="Tarjeta Qué mide"/>
          <p:cNvSpPr/>
          <p:nvPr/>
        </p:nvSpPr>
        <p:spPr>
          <a:xfrm>
            <a:off x="457200" y="1600200"/>
            <a:ext cx="2560320" cy="2514600"/>
          </a:xfrm>
          <a:prstGeom prst="rect">
            <a:avLst/>
          </a:prstGeom>
          <a:solidFill>
            <a:srgbClr val="FFFFFF"/>
          </a:solidFill>
          <a:ln w="19050">
            <a:solidFill>
              <a:srgbClr val="1F4E79"/>
            </a:solidFill>
            <a:prstDash val="solid"/>
          </a:ln>
        </p:spPr>
      </p:sp>
      <p:sp>
        <p:nvSpPr>
          <p:cNvPr id="6" name="Text 4"/>
          <p:cNvSpPr txBox="1"/>
          <p:nvPr/>
        </p:nvSpPr>
        <p:spPr>
          <a:xfrm>
            <a:off x="566928" y="1673352"/>
            <a:ext cx="2340864" cy="2368296"/>
          </a:xfrm>
          <a:prstGeom prst="rect">
            <a:avLst/>
          </a:prstGeom>
          <a:noFill/>
          <a:ln/>
        </p:spPr>
        <p:txBody>
          <a:bodyPr wrap="square" lIns="0" tIns="0" rIns="0" bIns="0" rtlCol="0" anchor="t"/>
          <a:lstStyle/>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Llegada de la orden y flanco GPIO en cada ESP32</a:t>
            </a:r>
            <a:endParaRPr lang="en-US" sz="1250" dirty="0"/>
          </a:p>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Con los nodos juntos, por el alcance de las puntas</a:t>
            </a:r>
            <a:endParaRPr lang="en-US" sz="1250" dirty="0"/>
          </a:p>
        </p:txBody>
      </p:sp>
      <p:sp>
        <p:nvSpPr>
          <p:cNvPr id="7" name="Cabecera Qué falta"/>
          <p:cNvSpPr/>
          <p:nvPr/>
        </p:nvSpPr>
        <p:spPr>
          <a:xfrm>
            <a:off x="3291840" y="1188720"/>
            <a:ext cx="2560320" cy="411480"/>
          </a:xfrm>
          <a:prstGeom prst="rect">
            <a:avLst/>
          </a:prstGeom>
          <a:solidFill>
            <a:srgbClr val="C55A11"/>
          </a:solidFill>
          <a:ln w="12700">
            <a:solidFill>
              <a:srgbClr val="C55A11"/>
            </a:solidFill>
            <a:prstDash val="solid"/>
          </a:ln>
        </p:spPr>
      </p:sp>
      <p:sp>
        <p:nvSpPr>
          <p:cNvPr id="8" name="Text 6"/>
          <p:cNvSpPr txBox="1"/>
          <p:nvPr/>
        </p:nvSpPr>
        <p:spPr>
          <a:xfrm>
            <a:off x="3337560" y="1188720"/>
            <a:ext cx="24688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Qué falta</a:t>
            </a:r>
            <a:endParaRPr lang="en-US" sz="1400" dirty="0"/>
          </a:p>
        </p:txBody>
      </p:sp>
      <p:sp>
        <p:nvSpPr>
          <p:cNvPr id="9" name="Tarjeta Qué falta"/>
          <p:cNvSpPr/>
          <p:nvPr/>
        </p:nvSpPr>
        <p:spPr>
          <a:xfrm>
            <a:off x="3291840" y="1600200"/>
            <a:ext cx="2560320" cy="2514600"/>
          </a:xfrm>
          <a:prstGeom prst="rect">
            <a:avLst/>
          </a:prstGeom>
          <a:solidFill>
            <a:srgbClr val="FFFFFF"/>
          </a:solidFill>
          <a:ln w="19050">
            <a:solidFill>
              <a:srgbClr val="C55A11"/>
            </a:solidFill>
            <a:prstDash val="solid"/>
          </a:ln>
        </p:spPr>
      </p:sp>
      <p:sp>
        <p:nvSpPr>
          <p:cNvPr id="10" name="Text 8"/>
          <p:cNvSpPr txBox="1"/>
          <p:nvPr/>
        </p:nvSpPr>
        <p:spPr>
          <a:xfrm>
            <a:off x="3401568" y="1673352"/>
            <a:ext cx="2340864" cy="2368296"/>
          </a:xfrm>
          <a:prstGeom prst="rect">
            <a:avLst/>
          </a:prstGeom>
          <a:noFill/>
          <a:ln/>
        </p:spPr>
        <p:txBody>
          <a:bodyPr wrap="square" lIns="0" tIns="0" rIns="0" bIns="0" rtlCol="0" anchor="t"/>
          <a:lstStyle/>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Inicio efectivo del ADC: al entrar en muestreo se reinicia el modulador ΔΣ, con un retardo fijo y común nunca calibrado</a:t>
            </a:r>
            <a:endParaRPr lang="en-US" sz="1250" dirty="0"/>
          </a:p>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Deriva relativa de los relojes durante la captura</a:t>
            </a:r>
            <a:endParaRPr lang="en-US" sz="1250" dirty="0"/>
          </a:p>
        </p:txBody>
      </p:sp>
      <p:sp>
        <p:nvSpPr>
          <p:cNvPr id="11" name="Cabecera Experimentos pendientes"/>
          <p:cNvSpPr/>
          <p:nvPr/>
        </p:nvSpPr>
        <p:spPr>
          <a:xfrm>
            <a:off x="6126480" y="1188720"/>
            <a:ext cx="2560320" cy="411480"/>
          </a:xfrm>
          <a:prstGeom prst="rect">
            <a:avLst/>
          </a:prstGeom>
          <a:solidFill>
            <a:srgbClr val="2E75B6"/>
          </a:solidFill>
          <a:ln w="12700">
            <a:solidFill>
              <a:srgbClr val="2E75B6"/>
            </a:solidFill>
            <a:prstDash val="solid"/>
          </a:ln>
        </p:spPr>
      </p:sp>
      <p:sp>
        <p:nvSpPr>
          <p:cNvPr id="12" name="Text 10"/>
          <p:cNvSpPr txBox="1"/>
          <p:nvPr/>
        </p:nvSpPr>
        <p:spPr>
          <a:xfrm>
            <a:off x="6172200" y="1188720"/>
            <a:ext cx="24688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Experimentos pendientes</a:t>
            </a:r>
            <a:endParaRPr lang="en-US" sz="1400" dirty="0"/>
          </a:p>
        </p:txBody>
      </p:sp>
      <p:sp>
        <p:nvSpPr>
          <p:cNvPr id="13" name="Tarjeta Experimentos pendientes"/>
          <p:cNvSpPr/>
          <p:nvPr/>
        </p:nvSpPr>
        <p:spPr>
          <a:xfrm>
            <a:off x="6126480" y="1600200"/>
            <a:ext cx="2560320" cy="2514600"/>
          </a:xfrm>
          <a:prstGeom prst="rect">
            <a:avLst/>
          </a:prstGeom>
          <a:solidFill>
            <a:srgbClr val="FFFFFF"/>
          </a:solidFill>
          <a:ln w="19050">
            <a:solidFill>
              <a:srgbClr val="2E75B6"/>
            </a:solidFill>
            <a:prstDash val="solid"/>
          </a:ln>
        </p:spPr>
      </p:sp>
      <p:sp>
        <p:nvSpPr>
          <p:cNvPr id="14" name="Text 12"/>
          <p:cNvSpPr txBox="1"/>
          <p:nvPr/>
        </p:nvSpPr>
        <p:spPr>
          <a:xfrm>
            <a:off x="6236208" y="1673352"/>
            <a:ext cx="2340864" cy="2368296"/>
          </a:xfrm>
          <a:prstGeom prst="rect">
            <a:avLst/>
          </a:prstGeom>
          <a:noFill/>
          <a:ln/>
        </p:spPr>
        <p:txBody>
          <a:bodyPr wrap="square" lIns="0" tIns="0" rIns="0" bIns="0" rtlCol="0" anchor="t"/>
          <a:lstStyle/>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Señal de referencia común a todos los nodos y fase relativa entre trazas</a:t>
            </a:r>
            <a:endParaRPr lang="en-US" sz="1250" dirty="0"/>
          </a:p>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Nodos separados decenas de metros</a:t>
            </a:r>
            <a:endParaRPr lang="en-US" sz="1250" dirty="0"/>
          </a:p>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Repetibilidad, nº de nodos, temperatura, canal Wi-Fi</a:t>
            </a:r>
            <a:endParaRPr lang="en-US" sz="125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4.10 y 5; documento de tesis, 04_arquitectura.tex (limitaciones). La señal de referencia común es propuesta propia.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Tras el disparo, cada nodo muestrea con su reloj local y la deriva se acumula</a:t>
            </a:r>
            <a:endParaRPr lang="en-US" sz="2400" dirty="0"/>
          </a:p>
        </p:txBody>
      </p:sp>
      <p:sp>
        <p:nvSpPr>
          <p:cNvPr id="3" name="Fondo E_fsi"/>
          <p:cNvSpPr/>
          <p:nvPr/>
        </p:nvSpPr>
        <p:spPr>
          <a:xfrm>
            <a:off x="457200" y="1188720"/>
            <a:ext cx="402336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fsi"/>
              <p:cNvSpPr txBox="1"/>
              <p:nvPr/>
            </p:nvSpPr>
            <p:spPr>
              <a:xfrm>
                <a:off x="457200" y="1188720"/>
                <a:ext cx="402336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f</m:t>
                          </m:r>
                        </m:e>
                        <m:sub>
                          <m:r>
                            <a:rPr lang="es-ES" sz="2800" i="1">
                              <a:solidFill>
                                <a:srgbClr val="1F4E79"/>
                              </a:solidFill>
                              <a:latin typeface="Cambria Math" panose="02040503050406030204" pitchFamily="18" charset="0"/>
                            </a:rPr>
                            <m:t xml:space="preserve">s,i</m:t>
                          </m:r>
                        </m:sub>
                      </m:sSub>
                      <m:r>
                        <a:rPr lang="es-ES" sz="2800" i="1">
                          <a:solidFill>
                            <a:srgbClr val="1F4E79"/>
                          </a:solidFill>
                          <a:latin typeface="Cambria Math" panose="02040503050406030204" pitchFamily="18" charset="0"/>
                        </a:rPr>
                        <m:t xml:space="preserve">=</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f</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(1+</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ε</m:t>
                          </m:r>
                        </m:e>
                        <m:sub>
                          <m:r>
                            <a:rPr lang="es-ES" sz="2800" i="1">
                              <a:solidFill>
                                <a:srgbClr val="1F4E79"/>
                              </a:solidFill>
                              <a:latin typeface="Cambria Math" panose="02040503050406030204" pitchFamily="18" charset="0"/>
                            </a:rPr>
                            <m:t xml:space="preserve">i</m:t>
                          </m:r>
                        </m:sub>
                      </m:sSub>
                      <m:r>
                        <a:rPr lang="es-ES" sz="2800" i="1">
                          <a:solidFill>
                            <a:srgbClr val="1F4E79"/>
                          </a:solidFill>
                          <a:latin typeface="Cambria Math" panose="02040503050406030204" pitchFamily="18" charset="0"/>
                        </a:rPr>
                        <m:t xml:space="preserve">)</m:t>
                      </m:r>
                    </m:oMath>
                  </m:oMathPara>
                </a14:m>
                <a:endParaRPr lang="es-ES"/>
              </a:p>
            </p:txBody>
          </p:sp>
        </mc:Choice>
        <mc:Fallback>
          <p:sp>
            <p:nvSpPr>
              <p:cNvPr id="4" name="Ecuación E_fsi"/>
              <p:cNvSpPr txBox="1"/>
              <p:nvPr/>
            </p:nvSpPr>
            <p:spPr>
              <a:xfrm>
                <a:off x="457200" y="1188720"/>
                <a:ext cx="402336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fs,i = fs(1 + εi)</a:t>
                </a:r>
                <a:endParaRPr lang="en-US" sz="2400" dirty="0"/>
              </a:p>
            </p:txBody>
          </p:sp>
        </mc:Fallback>
      </mc:AlternateContent>
      <p:sp>
        <p:nvSpPr>
          <p:cNvPr id="5" name="Fondo E_tin"/>
          <p:cNvSpPr/>
          <p:nvPr/>
        </p:nvSpPr>
        <p:spPr>
          <a:xfrm>
            <a:off x="4663440" y="1188720"/>
            <a:ext cx="402336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tin"/>
              <p:cNvSpPr txBox="1"/>
              <p:nvPr/>
            </p:nvSpPr>
            <p:spPr>
              <a:xfrm>
                <a:off x="4663440" y="1188720"/>
                <a:ext cx="402336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t</m:t>
                          </m:r>
                        </m:e>
                        <m:sub>
                          <m:r>
                            <a:rPr lang="es-ES" sz="2800" i="1">
                              <a:solidFill>
                                <a:srgbClr val="1F4E79"/>
                              </a:solidFill>
                              <a:latin typeface="Cambria Math" panose="02040503050406030204" pitchFamily="18" charset="0"/>
                            </a:rPr>
                            <m:t xml:space="preserve">i</m:t>
                          </m:r>
                        </m:sub>
                      </m:sSub>
                      <m:r>
                        <a:rPr lang="es-ES" sz="2800" i="1">
                          <a:solidFill>
                            <a:srgbClr val="1F4E79"/>
                          </a:solidFill>
                          <a:latin typeface="Cambria Math" panose="02040503050406030204" pitchFamily="18" charset="0"/>
                        </a:rPr>
                        <m:t xml:space="preserve">[n]=</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t</m:t>
                          </m:r>
                        </m:e>
                        <m:sub>
                          <m:r>
                            <a:rPr lang="es-ES" sz="2800" i="1">
                              <a:solidFill>
                                <a:srgbClr val="1F4E79"/>
                              </a:solidFill>
                              <a:latin typeface="Cambria Math" panose="02040503050406030204" pitchFamily="18" charset="0"/>
                            </a:rPr>
                            <m:t xml:space="preserve">0,i</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n</m:t>
                          </m:r>
                        </m:num>
                        <m:den>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f</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(1+</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ε</m:t>
                              </m:r>
                            </m:e>
                            <m:sub>
                              <m:r>
                                <a:rPr lang="es-ES" sz="2800" i="1">
                                  <a:solidFill>
                                    <a:srgbClr val="1F4E79"/>
                                  </a:solidFill>
                                  <a:latin typeface="Cambria Math" panose="02040503050406030204" pitchFamily="18" charset="0"/>
                                </a:rPr>
                                <m:t xml:space="preserve">i</m:t>
                              </m:r>
                            </m:sub>
                          </m:sSub>
                          <m:r>
                            <a:rPr lang="es-ES" sz="2800" i="1">
                              <a:solidFill>
                                <a:srgbClr val="1F4E79"/>
                              </a:solidFill>
                              <a:latin typeface="Cambria Math" panose="02040503050406030204" pitchFamily="18" charset="0"/>
                            </a:rPr>
                            <m:t xml:space="preserve">)</m:t>
                          </m:r>
                        </m:den>
                      </m:f>
                    </m:oMath>
                  </m:oMathPara>
                </a14:m>
                <a:endParaRPr lang="es-ES"/>
              </a:p>
            </p:txBody>
          </p:sp>
        </mc:Choice>
        <mc:Fallback>
          <p:sp>
            <p:nvSpPr>
              <p:cNvPr id="6" name="Ecuación E_tin"/>
              <p:cNvSpPr txBox="1"/>
              <p:nvPr/>
            </p:nvSpPr>
            <p:spPr>
              <a:xfrm>
                <a:off x="4663440" y="1188720"/>
                <a:ext cx="402336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ti[n] = t0,i + n / (fs(1 + εi))</a:t>
                </a:r>
                <a:endParaRPr lang="en-US" sz="2400" dirty="0"/>
              </a:p>
            </p:txBody>
          </p:sp>
        </mc:Fallback>
      </mc:AlternateContent>
      <p:sp>
        <p:nvSpPr>
          <p:cNvPr id="7" name="Fondo E_drift"/>
          <p:cNvSpPr/>
          <p:nvPr/>
        </p:nvSpPr>
        <p:spPr>
          <a:xfrm>
            <a:off x="457200" y="2103120"/>
            <a:ext cx="402336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drift"/>
              <p:cNvSpPr txBox="1"/>
              <p:nvPr/>
            </p:nvSpPr>
            <p:spPr>
              <a:xfrm>
                <a:off x="457200" y="2103120"/>
                <a:ext cx="402336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Δt=</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ε</m:t>
                          </m:r>
                        </m:e>
                        <m:sub>
                          <m:r>
                            <m:rPr>
                              <m:sty m:val="p"/>
                            </m:rPr>
                            <a:rPr lang="es-ES" sz="2800">
                              <a:solidFill>
                                <a:srgbClr val="1F4E79"/>
                              </a:solidFill>
                              <a:latin typeface="Cambria Math" panose="02040503050406030204" pitchFamily="18" charset="0"/>
                            </a:rPr>
                            <m:t xml:space="preserve">rel</m:t>
                          </m:r>
                        </m:sub>
                      </m:sSub>
                      <m:r>
                        <a:rPr lang="es-ES" sz="2800" i="1">
                          <a:solidFill>
                            <a:srgbClr val="1F4E79"/>
                          </a:solidFill>
                          <a:latin typeface="Cambria Math" panose="02040503050406030204" pitchFamily="18" charset="0"/>
                        </a:rPr>
                        <m:t xml:space="preserve">·T</m:t>
                      </m:r>
                    </m:oMath>
                  </m:oMathPara>
                </a14:m>
                <a:endParaRPr lang="es-ES"/>
              </a:p>
            </p:txBody>
          </p:sp>
        </mc:Choice>
        <mc:Fallback>
          <p:sp>
            <p:nvSpPr>
              <p:cNvPr id="8" name="Ecuación E_drift"/>
              <p:cNvSpPr txBox="1"/>
              <p:nvPr/>
            </p:nvSpPr>
            <p:spPr>
              <a:xfrm>
                <a:off x="457200" y="2103120"/>
                <a:ext cx="402336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Δt = ε_rel · T</a:t>
                </a:r>
                <a:endParaRPr lang="en-US" sz="2400" dirty="0"/>
              </a:p>
            </p:txBody>
          </p:sp>
        </mc:Fallback>
      </mc:AlternateContent>
      <p:graphicFrame>
        <p:nvGraphicFramePr>
          <p:cNvPr id="92" name="Tabla de deriva"/>
          <p:cNvGraphicFramePr>
            <a:graphicFrameLocks noGrp="1"/>
          </p:cNvGraphicFramePr>
          <p:nvPr>
            <p:extLst>
              <p:ext uri="{D42A27DB-BD31-4B8C-83A1-F6EECF244321}">
                <p14:modId xmlns:p14="http://schemas.microsoft.com/office/powerpoint/2010/main" val="1579011935"/>
              </p:ext>
            </p:extLst>
          </p:nvPr>
        </p:nvGraphicFramePr>
        <p:xfrm>
          <a:off x="4663440" y="2103120"/>
          <a:ext cx="4023360" cy="914400"/>
        </p:xfrm>
        <a:graphic>
          <a:graphicData uri="http://schemas.openxmlformats.org/drawingml/2006/table">
            <a:tbl>
              <a:tblPr/>
              <a:tblGrid>
                <a:gridCol w="1280160"/>
                <a:gridCol w="1371600"/>
                <a:gridCol w="137160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ε relativo</a:t>
                      </a:r>
                      <a:endParaRPr lang="en-US" sz="12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 = 1 s</a:t>
                      </a:r>
                      <a:endParaRPr lang="en-US" sz="12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 = 10 s</a:t>
                      </a:r>
                      <a:endParaRPr lang="en-US" sz="12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74320">
                <a:tc>
                  <a:txBody>
                    <a:bodyPr/>
                    <a:lstStyle/>
                    <a:p>
                      <a:pPr algn="ctr" indent="0" marL="0">
                        <a:buNone/>
                      </a:pPr>
                      <a:r>
                        <a:rPr lang="en-US" sz="1100" dirty="0">
                          <a:solidFill>
                            <a:srgbClr val="2D2D2D"/>
                          </a:solidFill>
                          <a:latin typeface="Arial" pitchFamily="34" charset="0"/>
                          <a:ea typeface="Arial" pitchFamily="34" charset="-122"/>
                          <a:cs typeface="Arial" pitchFamily="34" charset="-120"/>
                        </a:rPr>
                        <a:t>10 ppm</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100" dirty="0">
                          <a:solidFill>
                            <a:srgbClr val="2D2D2D"/>
                          </a:solidFill>
                          <a:latin typeface="Arial" pitchFamily="34" charset="0"/>
                          <a:ea typeface="Arial" pitchFamily="34" charset="-122"/>
                          <a:cs typeface="Arial" pitchFamily="34" charset="-120"/>
                        </a:rPr>
                        <a:t>10 µs</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100" dirty="0">
                          <a:solidFill>
                            <a:srgbClr val="2D2D2D"/>
                          </a:solidFill>
                          <a:latin typeface="Arial" pitchFamily="34" charset="0"/>
                          <a:ea typeface="Arial" pitchFamily="34" charset="-122"/>
                          <a:cs typeface="Arial" pitchFamily="34" charset="-120"/>
                        </a:rPr>
                        <a:t>100 µs</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algn="ctr" indent="0" marL="0">
                        <a:buNone/>
                      </a:pPr>
                      <a:r>
                        <a:rPr lang="en-US" sz="1100" dirty="0">
                          <a:solidFill>
                            <a:srgbClr val="2D2D2D"/>
                          </a:solidFill>
                          <a:latin typeface="Arial" pitchFamily="34" charset="0"/>
                          <a:ea typeface="Arial" pitchFamily="34" charset="-122"/>
                          <a:cs typeface="Arial" pitchFamily="34" charset="-120"/>
                        </a:rPr>
                        <a:t>50 ppm</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100" dirty="0">
                          <a:solidFill>
                            <a:srgbClr val="2D2D2D"/>
                          </a:solidFill>
                          <a:latin typeface="Arial" pitchFamily="34" charset="0"/>
                          <a:ea typeface="Arial" pitchFamily="34" charset="-122"/>
                          <a:cs typeface="Arial" pitchFamily="34" charset="-120"/>
                        </a:rPr>
                        <a:t>50 µs</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100" dirty="0">
                          <a:solidFill>
                            <a:srgbClr val="2D2D2D"/>
                          </a:solidFill>
                          <a:latin typeface="Arial" pitchFamily="34" charset="0"/>
                          <a:ea typeface="Arial" pitchFamily="34" charset="-122"/>
                          <a:cs typeface="Arial" pitchFamily="34" charset="-120"/>
                        </a:rPr>
                        <a:t>500 µs</a:t>
                      </a:r>
                      <a:endParaRPr lang="en-US" sz="110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0" name="Cuerpo"/>
          <p:cNvSpPr txBox="1"/>
          <p:nvPr/>
        </p:nvSpPr>
        <p:spPr>
          <a:xfrm>
            <a:off x="457200" y="3383280"/>
            <a:ext cx="8229600" cy="1097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Dos relojes que difieren en ε se separan ε·T al cabo de T</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Con 50 ppm y 10 s, la deriva (500 µs) supera al jitter de inicio</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Falta saber si el reloj del ADC es un cristal o el oscilador interno</a:t>
            </a:r>
            <a:endParaRPr lang="en-US" sz="1400" dirty="0"/>
          </a:p>
        </p:txBody>
      </p:sp>
      <p:sp>
        <p:nvSpPr>
          <p:cNvPr id="11" name="Text 8"/>
          <p:cNvSpPr txBox="1"/>
          <p:nvPr/>
        </p:nvSpPr>
        <p:spPr>
          <a:xfrm>
            <a:off x="4663440" y="3017520"/>
            <a:ext cx="402336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TABLA ILUSTRATIVA: ε NO MEDIDO</a:t>
            </a:r>
            <a:endParaRPr lang="en-US" sz="10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ec. 16 y 17. Valores de ε: ilustrativos (cristales típicos de decenas de ppm), no medidos en el sistema.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registros se descargan en lotes numerados, con CRC y reintento si algo falla</a:t>
            </a:r>
            <a:endParaRPr lang="en-US" sz="2400" dirty="0"/>
          </a:p>
        </p:txBody>
      </p:sp>
      <p:pic>
        <p:nvPicPr>
          <p:cNvPr id="3" name="Descarga de lotes" descr="Descarga de lotes: el maestro pide cada lote por nodo y secuencia, el esclavo lo recupera de la microSD o de la arena de RAM y lo envía con CRC; sin acuse se repite">    </p:cNvPr>
          <p:cNvPicPr>
            <a:picLocks noChangeAspect="1"/>
          </p:cNvPicPr>
          <p:nvPr/>
        </p:nvPicPr>
        <p:blipFill>
          <a:blip r:embed="rId1"/>
          <a:stretch>
            <a:fillRect/>
          </a:stretch>
        </p:blipFill>
        <p:spPr>
          <a:xfrm>
            <a:off x="548640" y="1188720"/>
            <a:ext cx="8046720" cy="324018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12); resumen firmado, sec. 4.8; documento de tesis, 04_arquitectura.tex.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número de nodos está limitado por los pares de ESP-NOW y por la descarga secuencial</a:t>
            </a:r>
            <a:endParaRPr lang="en-US" sz="2400" dirty="0"/>
          </a:p>
        </p:txBody>
      </p:sp>
      <p:sp>
        <p:nvSpPr>
          <p:cNvPr id="3" name="Cabecera Verificado"/>
          <p:cNvSpPr/>
          <p:nvPr/>
        </p:nvSpPr>
        <p:spPr>
          <a:xfrm>
            <a:off x="457200" y="1188720"/>
            <a:ext cx="2560320" cy="411480"/>
          </a:xfrm>
          <a:prstGeom prst="rect">
            <a:avLst/>
          </a:prstGeom>
          <a:solidFill>
            <a:srgbClr val="1F4E79"/>
          </a:solidFill>
          <a:ln w="12700">
            <a:solidFill>
              <a:srgbClr val="1F4E79"/>
            </a:solidFill>
            <a:prstDash val="solid"/>
          </a:ln>
        </p:spPr>
      </p:sp>
      <p:sp>
        <p:nvSpPr>
          <p:cNvPr id="4" name="Text 2"/>
          <p:cNvSpPr txBox="1"/>
          <p:nvPr/>
        </p:nvSpPr>
        <p:spPr>
          <a:xfrm>
            <a:off x="502920" y="1188720"/>
            <a:ext cx="24688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Verificado</a:t>
            </a:r>
            <a:endParaRPr lang="en-US" sz="1500" dirty="0"/>
          </a:p>
        </p:txBody>
      </p:sp>
      <p:sp>
        <p:nvSpPr>
          <p:cNvPr id="5" name="Tarjeta Verificado"/>
          <p:cNvSpPr/>
          <p:nvPr/>
        </p:nvSpPr>
        <p:spPr>
          <a:xfrm>
            <a:off x="457200" y="1600200"/>
            <a:ext cx="2560320" cy="2468880"/>
          </a:xfrm>
          <a:prstGeom prst="rect">
            <a:avLst/>
          </a:prstGeom>
          <a:solidFill>
            <a:srgbClr val="FFFFFF"/>
          </a:solidFill>
          <a:ln w="19050">
            <a:solidFill>
              <a:srgbClr val="1F4E79"/>
            </a:solidFill>
            <a:prstDash val="solid"/>
          </a:ln>
        </p:spPr>
      </p:sp>
      <p:sp>
        <p:nvSpPr>
          <p:cNvPr id="6" name="Text 4"/>
          <p:cNvSpPr txBox="1"/>
          <p:nvPr/>
        </p:nvSpPr>
        <p:spPr>
          <a:xfrm>
            <a:off x="566928" y="1673352"/>
            <a:ext cx="2340864" cy="2322576"/>
          </a:xfrm>
          <a:prstGeom prst="rect">
            <a:avLst/>
          </a:prstGeom>
          <a:noFill/>
          <a:ln/>
        </p:spPr>
        <p:txBody>
          <a:bodyPr wrap="square" lIns="0" tIns="0" rIns="0" bIns="0" rtlCol="0" anchor="t"/>
          <a:lstStyle/>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ESP-IDF v5.5: hasta 20 pares; cifrados: hasta 17, 7 por defecto</a:t>
            </a:r>
            <a:endParaRPr lang="en-US" sz="1250" dirty="0"/>
          </a:p>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Carga útil por trama: 250 B (v1.0) o 1470 B (v2.0)</a:t>
            </a:r>
            <a:endParaRPr lang="en-US" sz="1250" dirty="0"/>
          </a:p>
        </p:txBody>
      </p:sp>
      <p:sp>
        <p:nvSpPr>
          <p:cNvPr id="7" name="Cabecera Inferencia"/>
          <p:cNvSpPr/>
          <p:nvPr/>
        </p:nvSpPr>
        <p:spPr>
          <a:xfrm>
            <a:off x="3291840" y="1188720"/>
            <a:ext cx="2560320" cy="411480"/>
          </a:xfrm>
          <a:prstGeom prst="rect">
            <a:avLst/>
          </a:prstGeom>
          <a:solidFill>
            <a:srgbClr val="2E75B6"/>
          </a:solidFill>
          <a:ln w="12700">
            <a:solidFill>
              <a:srgbClr val="2E75B6"/>
            </a:solidFill>
            <a:prstDash val="solid"/>
          </a:ln>
        </p:spPr>
      </p:sp>
      <p:sp>
        <p:nvSpPr>
          <p:cNvPr id="8" name="Text 6"/>
          <p:cNvSpPr txBox="1"/>
          <p:nvPr/>
        </p:nvSpPr>
        <p:spPr>
          <a:xfrm>
            <a:off x="3337560" y="1188720"/>
            <a:ext cx="24688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Inferencia</a:t>
            </a:r>
            <a:endParaRPr lang="en-US" sz="1500" dirty="0"/>
          </a:p>
        </p:txBody>
      </p:sp>
      <p:sp>
        <p:nvSpPr>
          <p:cNvPr id="9" name="Tarjeta Inferencia"/>
          <p:cNvSpPr/>
          <p:nvPr/>
        </p:nvSpPr>
        <p:spPr>
          <a:xfrm>
            <a:off x="3291840" y="1600200"/>
            <a:ext cx="2560320" cy="2468880"/>
          </a:xfrm>
          <a:prstGeom prst="rect">
            <a:avLst/>
          </a:prstGeom>
          <a:solidFill>
            <a:srgbClr val="FFFFFF"/>
          </a:solidFill>
          <a:ln w="19050">
            <a:solidFill>
              <a:srgbClr val="2E75B6"/>
            </a:solidFill>
            <a:prstDash val="solid"/>
          </a:ln>
        </p:spPr>
      </p:sp>
      <p:sp>
        <p:nvSpPr>
          <p:cNvPr id="10" name="Text 8"/>
          <p:cNvSpPr txBox="1"/>
          <p:nvPr/>
        </p:nvSpPr>
        <p:spPr>
          <a:xfrm>
            <a:off x="3401568" y="1673352"/>
            <a:ext cx="2340864" cy="2322576"/>
          </a:xfrm>
          <a:prstGeom prst="rect">
            <a:avLst/>
          </a:prstGeom>
          <a:noFill/>
          <a:ln/>
        </p:spPr>
        <p:txBody>
          <a:bodyPr wrap="square" lIns="0" tIns="0" rIns="0" bIns="0" rtlCol="0" anchor="t"/>
          <a:lstStyle/>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Con un par para el broadcast, quedarían unos 19 nodos por maestro</a:t>
            </a:r>
            <a:endParaRPr lang="en-US" sz="1250" dirty="0"/>
          </a:p>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La descarga recorre un nodo por vez: el tiempo crece con N</a:t>
            </a:r>
            <a:endParaRPr lang="en-US" sz="1250" dirty="0"/>
          </a:p>
        </p:txBody>
      </p:sp>
      <p:sp>
        <p:nvSpPr>
          <p:cNvPr id="11" name="Cabecera Sin medir"/>
          <p:cNvSpPr/>
          <p:nvPr/>
        </p:nvSpPr>
        <p:spPr>
          <a:xfrm>
            <a:off x="6126480" y="1188720"/>
            <a:ext cx="2560320" cy="411480"/>
          </a:xfrm>
          <a:prstGeom prst="rect">
            <a:avLst/>
          </a:prstGeom>
          <a:solidFill>
            <a:srgbClr val="C55A11"/>
          </a:solidFill>
          <a:ln w="12700">
            <a:solidFill>
              <a:srgbClr val="C55A11"/>
            </a:solidFill>
            <a:prstDash val="solid"/>
          </a:ln>
        </p:spPr>
      </p:sp>
      <p:sp>
        <p:nvSpPr>
          <p:cNvPr id="12" name="Text 10"/>
          <p:cNvSpPr txBox="1"/>
          <p:nvPr/>
        </p:nvSpPr>
        <p:spPr>
          <a:xfrm>
            <a:off x="6172200" y="1188720"/>
            <a:ext cx="24688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Sin medir</a:t>
            </a:r>
            <a:endParaRPr lang="en-US" sz="1500" dirty="0"/>
          </a:p>
        </p:txBody>
      </p:sp>
      <p:sp>
        <p:nvSpPr>
          <p:cNvPr id="13" name="Tarjeta Sin medir"/>
          <p:cNvSpPr/>
          <p:nvPr/>
        </p:nvSpPr>
        <p:spPr>
          <a:xfrm>
            <a:off x="6126480" y="1600200"/>
            <a:ext cx="2560320" cy="2468880"/>
          </a:xfrm>
          <a:prstGeom prst="rect">
            <a:avLst/>
          </a:prstGeom>
          <a:solidFill>
            <a:srgbClr val="FFFFFF"/>
          </a:solidFill>
          <a:ln w="19050">
            <a:solidFill>
              <a:srgbClr val="C55A11"/>
            </a:solidFill>
            <a:prstDash val="solid"/>
          </a:ln>
        </p:spPr>
      </p:sp>
      <p:sp>
        <p:nvSpPr>
          <p:cNvPr id="14" name="Text 12"/>
          <p:cNvSpPr txBox="1"/>
          <p:nvPr/>
        </p:nvSpPr>
        <p:spPr>
          <a:xfrm>
            <a:off x="6236208" y="1673352"/>
            <a:ext cx="2340864" cy="2322576"/>
          </a:xfrm>
          <a:prstGeom prst="rect">
            <a:avLst/>
          </a:prstGeom>
          <a:noFill/>
          <a:ln/>
        </p:spPr>
        <p:txBody>
          <a:bodyPr wrap="square" lIns="0" tIns="0" rIns="0" bIns="0" rtlCol="0" anchor="t"/>
          <a:lstStyle/>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Jitter y descarga con más de 3 nodos</a:t>
            </a:r>
            <a:endParaRPr lang="en-US" sz="1250" dirty="0"/>
          </a:p>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Efecto de la ocupación del canal Wi-Fi</a:t>
            </a:r>
            <a:endParaRPr lang="en-US" sz="1250" dirty="0"/>
          </a:p>
          <a:p>
            <a:pPr algn="l" marL="342900" indent="-342900">
              <a:buSzPct val="100000"/>
              <a:buChar char="•"/>
            </a:pPr>
            <a:r>
              <a:rPr lang="en-US" sz="1250" dirty="0">
                <a:solidFill>
                  <a:srgbClr val="2D2D2D"/>
                </a:solidFill>
                <a:latin typeface="Arial" pitchFamily="34" charset="0"/>
                <a:ea typeface="Arial" pitchFamily="34" charset="-122"/>
                <a:cs typeface="Arial" pitchFamily="34" charset="-120"/>
              </a:rPr>
              <a:t>Qué versión de ESP-NOW usa el firmware</a:t>
            </a:r>
            <a:endParaRPr lang="en-US" sz="125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Espressif, ESP-IDF v5.5, API de ESP-NOW (docs.espressif.com); documento de tesis, 04_arquitectura.tex (experimentos pendientes). Inferencias propias.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nodo HAMMER registra el impacto con un sensor ICP y el mismo firmware que los nodos GEO</a:t>
            </a:r>
            <a:endParaRPr lang="en-US" sz="2400" dirty="0"/>
          </a:p>
        </p:txBody>
      </p:sp>
      <p:pic>
        <p:nvPicPr>
          <p:cNvPr id="3" name="Principio ICP" descr="Principio de alimentación ICP: sensor de cuarzo con amplificador interno, cable, fuente de corriente constante y capacitor de desacople">    </p:cNvPr>
          <p:cNvPicPr>
            <a:picLocks noChangeAspect="1"/>
          </p:cNvPicPr>
          <p:nvPr/>
        </p:nvPicPr>
        <p:blipFill>
          <a:blip r:embed="rId1"/>
          <a:stretch>
            <a:fillRect/>
          </a:stretch>
        </p:blipFill>
        <p:spPr>
          <a:xfrm>
            <a:off x="365760" y="1234440"/>
            <a:ext cx="2011680" cy="1704899"/>
          </a:xfrm>
          <a:prstGeom prst="rect">
            <a:avLst/>
          </a:prstGeom>
        </p:spPr>
      </p:pic>
      <p:pic>
        <p:nvPicPr>
          <p:cNvPr id="4" name="Acondicionamiento del martillo" descr="Acondicionamiento del martillo en PSoC Creator: fuente de corriente con LM7805, desacople y protección, PGA, pasa-bajos y ADC delta-sigma">    </p:cNvPr>
          <p:cNvPicPr>
            <a:picLocks noChangeAspect="1"/>
          </p:cNvPicPr>
          <p:nvPr/>
        </p:nvPicPr>
        <p:blipFill>
          <a:blip r:embed="rId2"/>
          <a:stretch>
            <a:fillRect/>
          </a:stretch>
        </p:blipFill>
        <p:spPr>
          <a:xfrm>
            <a:off x="2926080" y="1234440"/>
            <a:ext cx="5669280" cy="2146767"/>
          </a:xfrm>
          <a:prstGeom prst="rect">
            <a:avLst/>
          </a:prstGeom>
        </p:spPr>
      </p:pic>
      <p:sp>
        <p:nvSpPr>
          <p:cNvPr id="5" name="Text 1"/>
          <p:cNvSpPr txBox="1"/>
          <p:nvPr/>
        </p:nvSpPr>
        <p:spPr>
          <a:xfrm>
            <a:off x="2926080" y="3401568"/>
            <a:ext cx="566928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ETIQUETAS EN INGLÉS (figuras originales)</a:t>
            </a:r>
            <a:endParaRPr lang="en-US" sz="1000" dirty="0"/>
          </a:p>
        </p:txBody>
      </p:sp>
      <p:sp>
        <p:nvSpPr>
          <p:cNvPr id="6" name="Cuerpo"/>
          <p:cNvSpPr txBox="1"/>
          <p:nvPr/>
        </p:nvSpPr>
        <p:spPr>
          <a:xfrm>
            <a:off x="457200" y="3657600"/>
            <a:ext cx="8229600" cy="82296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rgbClr val="2D2D2D"/>
                </a:solidFill>
                <a:latin typeface="Arial" pitchFamily="34" charset="0"/>
                <a:ea typeface="Arial" pitchFamily="34" charset="-122"/>
                <a:cs typeface="Arial" pitchFamily="34" charset="-120"/>
              </a:rPr>
              <a:t>Sensor de impacto PCB 086D20, alimentado con corriente constante; luego desacople, protección, PGA, pasa-bajos y ADC</a:t>
            </a:r>
            <a:endParaRPr lang="en-US" sz="1300" dirty="0"/>
          </a:p>
          <a:p>
            <a:pPr marL="342900" indent="-342900">
              <a:spcAft>
                <a:spcPts val="300"/>
              </a:spcAft>
              <a:buSzPct val="100000"/>
              <a:buChar char="•"/>
            </a:pPr>
            <a:r>
              <a:rPr lang="en-US" sz="1300" dirty="0">
                <a:solidFill>
                  <a:srgbClr val="2D2D2D"/>
                </a:solidFill>
                <a:latin typeface="Arial" pitchFamily="34" charset="0"/>
                <a:ea typeface="Arial" pitchFamily="34" charset="-122"/>
                <a:cs typeface="Arial" pitchFamily="34" charset="-120"/>
              </a:rPr>
              <a:t>Da el instante y la forma del impacto: alinea trazas, mide repetibilidad y detecta rebotes</a:t>
            </a:r>
            <a:endParaRPr lang="en-US" sz="1300" dirty="0"/>
          </a:p>
          <a:p>
            <a:pPr marL="342900" indent="-342900">
              <a:spcAft>
                <a:spcPts val="300"/>
              </a:spcAft>
              <a:buSzPct val="100000"/>
              <a:buChar char="•"/>
            </a:pPr>
            <a:r>
              <a:rPr lang="en-US" sz="1300" dirty="0">
                <a:solidFill>
                  <a:srgbClr val="2D2D2D"/>
                </a:solidFill>
                <a:latin typeface="Arial" pitchFamily="34" charset="0"/>
                <a:ea typeface="Arial" pitchFamily="34" charset="-122"/>
                <a:cs typeface="Arial" pitchFamily="34" charset="-120"/>
              </a:rPr>
              <a:t>Misma estructura de control, adquisición y almacenamiento que el nodo GEO</a:t>
            </a:r>
            <a:endParaRPr lang="en-US" sz="13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4.7 y fig. 13; PCB Piezotronics (2025); documento de tesis, 03_excitacion.tex (principio ICP, esquema en PSoC Creator).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2026-10-13T07:02:41Z</dcterms:created>
  <dcterms:modified xsi:type="dcterms:W3CDTF">2026-10-13T07:02:41Z</dcterms:modified>
</cp:coreProperties>
</file>