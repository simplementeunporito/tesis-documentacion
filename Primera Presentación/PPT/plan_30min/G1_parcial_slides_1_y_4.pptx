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Buenas. Soy Elías Álvarez y les voy a mostrar cómo avanza mi proyecto final de carrera: una plataforma electrónica para medir el suelo con ondas sísmicas. Es la primera de dos presentaciones. Hoy me concentro en el estado del arte, la idea general y los resultados parciales; la validación completa queda para diciembre.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Entonces la pregunta es cómo medir. Necesitamos captar algo del terreno, convertirlo en señal eléctrica, acondicionarla, digitalizarla y procesarla hasta sacar información que sirva. Ese recorrido es justo lo que construí: la plataforma electrónica. Vamos a ir en este orden: primero los métodos que existen, después cómo se propagan las ondas en el terreno, luego MASW, y recién ahí la plataforma y los resultados parciales.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B6B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B6B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4E7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 txBox="1"/>
          <p:nvPr/>
        </p:nvSpPr>
        <p:spPr>
          <a:xfrm>
            <a:off x="640080" y="502920"/>
            <a:ext cx="78638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Diseño e implementación de un sistema electrónico multicanal del tipo IoT para caracterización geotécnica del suelo mediante ondas sísmicas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60604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Proyecto final de carrera · Primera presentación</a:t>
            </a:r>
            <a:endParaRPr lang="en-US" sz="1800" dirty="0"/>
          </a:p>
        </p:txBody>
      </p:sp>
      <p:sp>
        <p:nvSpPr>
          <p:cNvPr id="4" name="Autoría"/>
          <p:cNvSpPr txBox="1"/>
          <p:nvPr/>
        </p:nvSpPr>
        <p:spPr>
          <a:xfrm>
            <a:off x="640080" y="3291840"/>
            <a:ext cx="78638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Elías David Álvarez Martínez · Matrícula Y24127</a:t>
            </a:r>
            <a:endParaRPr lang="en-US" sz="16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Ingeniería Electrónica</a:t>
            </a:r>
            <a:endParaRPr lang="en-US" sz="16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Tutor: Enrique A. Vargas Cabral, Ph.D.</a:t>
            </a:r>
            <a:endParaRPr lang="en-US" sz="16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Universidad Católica «Nuestra Señora de la Asunción»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 txBox="1"/>
          <p:nvPr/>
        </p:nvSpPr>
        <p:spPr>
          <a:xfrm>
            <a:off x="457200" y="274320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Necesitamos medir el terreno y, con procesamiento analógico y digital, extraer información útil</a:t>
            </a:r>
            <a:endParaRPr lang="en-US" sz="2400" dirty="0"/>
          </a:p>
        </p:txBody>
      </p:sp>
      <p:sp>
        <p:nvSpPr>
          <p:cNvPr id="3" name="Marco plataforma"/>
          <p:cNvSpPr/>
          <p:nvPr/>
        </p:nvSpPr>
        <p:spPr>
          <a:xfrm>
            <a:off x="2068830" y="1325880"/>
            <a:ext cx="5006340" cy="1280160"/>
          </a:xfrm>
          <a:prstGeom prst="roundRect">
            <a:avLst>
              <a:gd name="adj" fmla="val 5714"/>
            </a:avLst>
          </a:prstGeom>
          <a:solidFill>
            <a:srgbClr val="FFFFFF">
              <a:alpha val="0"/>
            </a:srgbClr>
          </a:solidFill>
          <a:ln w="25400">
            <a:solidFill>
              <a:srgbClr val="C55A11"/>
            </a:solidFill>
            <a:prstDash val="solid"/>
          </a:ln>
        </p:spPr>
      </p:sp>
      <p:sp>
        <p:nvSpPr>
          <p:cNvPr id="4" name="Caja 1"/>
          <p:cNvSpPr/>
          <p:nvPr/>
        </p:nvSpPr>
        <p:spPr>
          <a:xfrm>
            <a:off x="457200" y="1417320"/>
            <a:ext cx="1417320" cy="1097280"/>
          </a:xfrm>
          <a:prstGeom prst="rect">
            <a:avLst/>
          </a:prstGeom>
          <a:solidFill>
            <a:srgbClr val="EAF1F8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417320"/>
            <a:ext cx="1417320" cy="109728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Fenómeno físico del terreno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1892808" y="1965960"/>
            <a:ext cx="246888" cy="0"/>
          </a:xfrm>
          <a:prstGeom prst="line">
            <a:avLst/>
          </a:prstGeom>
          <a:noFill/>
          <a:ln w="25400">
            <a:solidFill>
              <a:srgbClr val="1F4E79"/>
            </a:solidFill>
            <a:prstDash val="solid"/>
            <a:tailEnd type="triangle"/>
          </a:ln>
        </p:spPr>
      </p:sp>
      <p:sp>
        <p:nvSpPr>
          <p:cNvPr id="7" name="Caja 2"/>
          <p:cNvSpPr/>
          <p:nvPr/>
        </p:nvSpPr>
        <p:spPr>
          <a:xfrm>
            <a:off x="2160270" y="1417320"/>
            <a:ext cx="1417320" cy="1097280"/>
          </a:xfrm>
          <a:prstGeom prst="rect">
            <a:avLst/>
          </a:prstGeom>
          <a:solidFill>
            <a:srgbClr val="EAF1F8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160270" y="1417320"/>
            <a:ext cx="1417320" cy="109728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Sensor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595878" y="1965960"/>
            <a:ext cx="246888" cy="0"/>
          </a:xfrm>
          <a:prstGeom prst="line">
            <a:avLst/>
          </a:prstGeom>
          <a:noFill/>
          <a:ln w="25400">
            <a:solidFill>
              <a:srgbClr val="1F4E79"/>
            </a:solidFill>
            <a:prstDash val="solid"/>
            <a:tailEnd type="triangle"/>
          </a:ln>
        </p:spPr>
      </p:sp>
      <p:sp>
        <p:nvSpPr>
          <p:cNvPr id="10" name="Caja 3"/>
          <p:cNvSpPr/>
          <p:nvPr/>
        </p:nvSpPr>
        <p:spPr>
          <a:xfrm>
            <a:off x="3863340" y="1417320"/>
            <a:ext cx="1417320" cy="1097280"/>
          </a:xfrm>
          <a:prstGeom prst="rect">
            <a:avLst/>
          </a:prstGeom>
          <a:solidFill>
            <a:srgbClr val="EAF1F8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863340" y="1417320"/>
            <a:ext cx="1417320" cy="109728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Electrónica analógica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298948" y="1965960"/>
            <a:ext cx="246888" cy="0"/>
          </a:xfrm>
          <a:prstGeom prst="line">
            <a:avLst/>
          </a:prstGeom>
          <a:noFill/>
          <a:ln w="25400">
            <a:solidFill>
              <a:srgbClr val="1F4E79"/>
            </a:solidFill>
            <a:prstDash val="solid"/>
            <a:tailEnd type="triangle"/>
          </a:ln>
        </p:spPr>
      </p:sp>
      <p:sp>
        <p:nvSpPr>
          <p:cNvPr id="13" name="Caja 4"/>
          <p:cNvSpPr/>
          <p:nvPr/>
        </p:nvSpPr>
        <p:spPr>
          <a:xfrm>
            <a:off x="5566410" y="1417320"/>
            <a:ext cx="1417320" cy="1097280"/>
          </a:xfrm>
          <a:prstGeom prst="rect">
            <a:avLst/>
          </a:prstGeom>
          <a:solidFill>
            <a:srgbClr val="EAF1F8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566410" y="1417320"/>
            <a:ext cx="1417320" cy="109728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Electrónica digital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7002018" y="1965960"/>
            <a:ext cx="246888" cy="0"/>
          </a:xfrm>
          <a:prstGeom prst="line">
            <a:avLst/>
          </a:prstGeom>
          <a:noFill/>
          <a:ln w="25400">
            <a:solidFill>
              <a:srgbClr val="1F4E79"/>
            </a:solidFill>
            <a:prstDash val="solid"/>
            <a:tailEnd type="triangle"/>
          </a:ln>
        </p:spPr>
      </p:sp>
      <p:sp>
        <p:nvSpPr>
          <p:cNvPr id="16" name="Caja 5"/>
          <p:cNvSpPr/>
          <p:nvPr/>
        </p:nvSpPr>
        <p:spPr>
          <a:xfrm>
            <a:off x="7269480" y="1417320"/>
            <a:ext cx="1417320" cy="1097280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269480" y="1417320"/>
            <a:ext cx="1417320" cy="109728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Información útil del terreno</a:t>
            </a:r>
            <a:endParaRPr lang="en-US" sz="1600" dirty="0"/>
          </a:p>
        </p:txBody>
      </p:sp>
      <p:sp>
        <p:nvSpPr>
          <p:cNvPr id="18" name="Etiqueta plataforma"/>
          <p:cNvSpPr txBox="1"/>
          <p:nvPr/>
        </p:nvSpPr>
        <p:spPr>
          <a:xfrm>
            <a:off x="2068830" y="2670048"/>
            <a:ext cx="50063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55A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que construye este trabajo: la plataforma electrónica que realiza esa medición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32461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Hoja de ruta</a:t>
            </a:r>
            <a:endParaRPr lang="en-US" sz="2000" dirty="0"/>
          </a:p>
        </p:txBody>
      </p:sp>
      <p:sp>
        <p:nvSpPr>
          <p:cNvPr id="20" name="Hoja de ruta 1"/>
          <p:cNvSpPr/>
          <p:nvPr/>
        </p:nvSpPr>
        <p:spPr>
          <a:xfrm>
            <a:off x="457200" y="3657600"/>
            <a:ext cx="1417320" cy="731520"/>
          </a:xfrm>
          <a:prstGeom prst="rect">
            <a:avLst/>
          </a:prstGeom>
          <a:solidFill>
            <a:srgbClr val="FFFFFF"/>
          </a:solidFill>
          <a:ln w="15875">
            <a:solidFill>
              <a:srgbClr val="2E75B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57200" y="3657600"/>
            <a:ext cx="1417320" cy="7315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Métodos de medición</a:t>
            </a:r>
            <a:endParaRPr lang="en-US" sz="1600" dirty="0"/>
          </a:p>
        </p:txBody>
      </p:sp>
      <p:sp>
        <p:nvSpPr>
          <p:cNvPr id="22" name="Hoja de ruta 2"/>
          <p:cNvSpPr/>
          <p:nvPr/>
        </p:nvSpPr>
        <p:spPr>
          <a:xfrm>
            <a:off x="2160270" y="3657600"/>
            <a:ext cx="1417320" cy="731520"/>
          </a:xfrm>
          <a:prstGeom prst="rect">
            <a:avLst/>
          </a:prstGeom>
          <a:solidFill>
            <a:srgbClr val="FFFFFF"/>
          </a:solidFill>
          <a:ln w="15875">
            <a:solidFill>
              <a:srgbClr val="2E75B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2160270" y="3657600"/>
            <a:ext cx="1417320" cy="7315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Ondas en el terreno</a:t>
            </a:r>
            <a:endParaRPr lang="en-US" sz="1600" dirty="0"/>
          </a:p>
        </p:txBody>
      </p:sp>
      <p:sp>
        <p:nvSpPr>
          <p:cNvPr id="24" name="Hoja de ruta 3"/>
          <p:cNvSpPr/>
          <p:nvPr/>
        </p:nvSpPr>
        <p:spPr>
          <a:xfrm>
            <a:off x="3863340" y="3657600"/>
            <a:ext cx="1417320" cy="731520"/>
          </a:xfrm>
          <a:prstGeom prst="rect">
            <a:avLst/>
          </a:prstGeom>
          <a:solidFill>
            <a:srgbClr val="FFFFFF"/>
          </a:solidFill>
          <a:ln w="15875">
            <a:solidFill>
              <a:srgbClr val="2E75B6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3863340" y="3657600"/>
            <a:ext cx="1417320" cy="7315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MASW</a:t>
            </a:r>
            <a:endParaRPr lang="en-US" sz="1600" dirty="0"/>
          </a:p>
        </p:txBody>
      </p:sp>
      <p:sp>
        <p:nvSpPr>
          <p:cNvPr id="26" name="Hoja de ruta 4"/>
          <p:cNvSpPr/>
          <p:nvPr/>
        </p:nvSpPr>
        <p:spPr>
          <a:xfrm>
            <a:off x="5566410" y="3657600"/>
            <a:ext cx="1417320" cy="731520"/>
          </a:xfrm>
          <a:prstGeom prst="rect">
            <a:avLst/>
          </a:prstGeom>
          <a:solidFill>
            <a:srgbClr val="FFFFFF"/>
          </a:solidFill>
          <a:ln w="15875">
            <a:solidFill>
              <a:srgbClr val="2E75B6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566410" y="3657600"/>
            <a:ext cx="1417320" cy="7315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Plataforma propuesta</a:t>
            </a:r>
            <a:endParaRPr lang="en-US" sz="1600" dirty="0"/>
          </a:p>
        </p:txBody>
      </p:sp>
      <p:sp>
        <p:nvSpPr>
          <p:cNvPr id="28" name="Hoja de ruta 5"/>
          <p:cNvSpPr/>
          <p:nvPr/>
        </p:nvSpPr>
        <p:spPr>
          <a:xfrm>
            <a:off x="7269480" y="3657600"/>
            <a:ext cx="1417320" cy="731520"/>
          </a:xfrm>
          <a:prstGeom prst="rect">
            <a:avLst/>
          </a:prstGeom>
          <a:solidFill>
            <a:srgbClr val="FFFFFF"/>
          </a:solidFill>
          <a:ln w="15875">
            <a:solidFill>
              <a:srgbClr val="2E75B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7269480" y="3657600"/>
            <a:ext cx="1417320" cy="7315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Resultados parciales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B6B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Primera presentación - Grupo 1</dc:title>
  <dc:subject>PptxGenJS Presentation</dc:subject>
  <dc:creator>Elías David Álvarez Martínez</dc:creator>
  <cp:lastModifiedBy>Elías David Álvarez Martínez</cp:lastModifiedBy>
  <cp:revision>1</cp:revision>
  <dcterms:created xsi:type="dcterms:W3CDTF">2026-10-13T01:49:45Z</dcterms:created>
  <dcterms:modified xsi:type="dcterms:W3CDTF">2026-10-13T01:49:45Z</dcterms:modified>
</cp:coreProperties>
</file>