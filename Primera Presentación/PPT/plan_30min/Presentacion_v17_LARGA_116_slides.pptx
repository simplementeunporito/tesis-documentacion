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6.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cR / Vs va de 0,86 a 0,95 según ν</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cR</a:t>
            </a:r>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Vs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ρ suele variar poco en comparación con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Vs(z),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 Variación de ρ: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ρ,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(ρ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Δφ(f) sale la velocidad de fase cR(f)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Δφ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ζ ≈ 0,25; con 1339 Ω de carga: ζ = 0,60</a:t>
            </a:r>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ζ: factor de amortiguamiento. Ri: resistencia de la bobina (375 Ω). RL: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ζ = 0,25,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ζ1 &gt; ζ0,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HBP(s):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ζ0, ζ1, ωn (en Ma: γ0, γ1, ω0).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ζ1 ≈ 938,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Cf en paralelo con Rf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Reparto de tareas digitales entre la máquina de estados y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Δφ = 360°·f·Δt: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en PSoC Creator</a:t>
            </a:r>
            <a:endParaRPr lang="en-US" sz="2400" dirty="0"/>
          </a:p>
        </p:txBody>
      </p:sp>
      <p:pic>
        <p:nvPicPr>
          <p:cNvPr id="3" name="Camino digital en PSoC Creator"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640080" y="1097280"/>
            <a:ext cx="7863840" cy="3420770"/>
          </a:xfrm>
          <a:prstGeom prst="rect">
            <a:avLst/>
          </a:prstGeom>
        </p:spPr>
      </p:pic>
      <p:sp>
        <p:nvSpPr>
          <p:cNvPr id="4" name="Text 1"/>
          <p:cNvSpPr txBox="1"/>
          <p:nvPr/>
        </p:nvSpPr>
        <p:spPr>
          <a:xfrm>
            <a:off x="5029200" y="443484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lógico de los datos y del control en el PSoC</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Selección del tipo de ADC: por qué delta-sigma</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8"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5669280" y="1234440"/>
            <a:ext cx="30175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512·30·D</m:t>
                          </m:r>
                        </m:num>
                        <m:den>
                          <m:r>
                            <a:rPr lang="es-ES" sz="2400" i="1">
                              <a:solidFill>
                                <a:srgbClr val="1F4E79"/>
                              </a:solidFill>
                              <a:latin typeface="Cambria Math" panose="02040503050406030204" pitchFamily="18" charset="0"/>
                            </a:rPr>
                            <m:t xml:space="preserve">2604 </m:t>
                          </m:r>
                          <m:r>
                            <m:rPr>
                              <m:sty m:val="p"/>
                            </m:rPr>
                            <a:rPr lang="es-ES" sz="2400">
                              <a:solidFill>
                                <a:srgbClr val="1F4E79"/>
                              </a:solidFill>
                              <a:latin typeface="Cambria Math" panose="02040503050406030204" pitchFamily="18" charset="0"/>
                            </a:rPr>
                            <m:t xml:space="preserve">Hz</m:t>
                          </m:r>
                        </m:den>
                      </m:f>
                      <m:r>
                        <a:rPr lang="es-ES" sz="2400" i="1">
                          <a:solidFill>
                            <a:srgbClr val="1F4E79"/>
                          </a:solidFill>
                          <a:latin typeface="Cambria Math" panose="02040503050406030204" pitchFamily="18" charset="0"/>
                        </a:rPr>
                        <m:t xml:space="preserve">≈5,9 </m:t>
                      </m:r>
                      <m:r>
                        <m:rPr>
                          <m:sty m:val="p"/>
                        </m:rPr>
                        <a:rPr lang="es-ES" sz="2400">
                          <a:solidFill>
                            <a:srgbClr val="1F4E79"/>
                          </a:solidFill>
                          <a:latin typeface="Cambria Math" panose="02040503050406030204" pitchFamily="18" charset="0"/>
                        </a:rPr>
                        <m:t xml:space="preserve">s</m:t>
                      </m:r>
                      <m:r>
                        <a:rPr lang="es-ES" sz="24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5669280" y="2194560"/>
            <a:ext cx="301752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fs = 2604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maestro coordina por ESP-NOW y cada nodo une su ESP32 con su PSoC</a:t>
            </a:r>
            <a:endParaRPr lang="en-US" sz="2400" dirty="0"/>
          </a:p>
        </p:txBody>
      </p:sp>
      <p:pic>
        <p:nvPicPr>
          <p:cNvPr id="3" name="Topología de red"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253163" y="1097280"/>
            <a:ext cx="6637673" cy="338328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5); resumen firmado, sec. 4.8.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ESP-NOW por costo y simplicidad, no por ser la opción más precisa</a:t>
            </a:r>
            <a:endParaRPr lang="en-US" sz="2400" dirty="0"/>
          </a:p>
        </p:txBody>
      </p:sp>
      <p:graphicFrame>
        <p:nvGraphicFramePr>
          <p:cNvPr id="85" name="Tabla de alternativa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828800"/>
                <a:gridCol w="2286000"/>
                <a:gridCol w="23774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Infraestructura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Inicio coordinado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Observación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Cable de sincronismo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Tendido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Determinista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Se usó y se retiró: es el cableado que se quiere evitar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Wi-Fi con 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Variable (ACK, reintentos, CSMA/CA)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Latencia distinta en cada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LoRa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Tiempo en el aire de decenas de ms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Tasa de datos muy baja para descargar registros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GPS / PPS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Receptor y cielo abierto por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Referencia absoluta, muy buena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Lo usan equipos comerciales; costo y cobertura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ESP-NOW (broadcast)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 200–400 µs medido con 3 nodos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Sin ACK; barato y ya integrado en el ESP32</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UWB (DWM1000)</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±4 ns reportado (Korsimaa, 2025)</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Trabajo futuro, sin implementar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08_trabajos_futuros.tex (UWB, Korsimaa 2025), 01_problema_modelado.tex (GPS). Wi-Fi, LoRa y GPS: propiedades generales, no medidas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desfase de tiempo entre nodos se convierte en un error de fase que crece con la frecuencia</a:t>
            </a:r>
            <a:endParaRPr lang="en-US" sz="2400" dirty="0"/>
          </a:p>
        </p:txBody>
      </p:sp>
      <p:pic>
        <p:nvPicPr>
          <p:cNvPr id="3" name="Error de fase vs desfasaje" descr="Error de fase en función del desfasaje temporal entre nodos para 20, 50 y 100 Hz, con el presupuesto de 5 grados y la observación preliminar de 400 microsegundos">    </p:cNvPr>
          <p:cNvPicPr>
            <a:picLocks noChangeAspect="1"/>
          </p:cNvPicPr>
          <p:nvPr/>
        </p:nvPicPr>
        <p:blipFill>
          <a:blip r:embed="rId1"/>
          <a:stretch>
            <a:fillRect/>
          </a:stretch>
        </p:blipFill>
        <p:spPr>
          <a:xfrm>
            <a:off x="365760" y="1188720"/>
            <a:ext cx="4406498" cy="3246120"/>
          </a:xfrm>
          <a:prstGeom prst="rect">
            <a:avLst/>
          </a:prstGeom>
        </p:spPr>
      </p:pic>
      <p:sp>
        <p:nvSpPr>
          <p:cNvPr id="4" name="Fondo E_dphi"/>
          <p:cNvSpPr/>
          <p:nvPr/>
        </p:nvSpPr>
        <p:spPr>
          <a:xfrm>
            <a:off x="5029200" y="1188720"/>
            <a:ext cx="36576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6" name="Cuerpo"/>
          <p:cNvSpPr txBox="1"/>
          <p:nvPr/>
        </p:nvSpPr>
        <p:spPr>
          <a:xfrm>
            <a:off x="5029200" y="2103120"/>
            <a:ext cx="3657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Para limitar el error a 5°: 278 µs a 50 Hz y 139 µs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7,2° a 50 Hz y 14,4°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los 5° se cumplen hasta unos 35 Hz (cálculo propio)</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ec. 18; documento de tesis, 04_arquitectura.tex y fig. sincronizacion_fase. Los 35 Hz: 5°/(360°·400 µs).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velocidad de fase, el error depende del espaciamiento entre receptores y no de la frecuencia</a:t>
            </a:r>
            <a:endParaRPr lang="en-US" sz="2400" dirty="0"/>
          </a:p>
        </p:txBody>
      </p:sp>
      <p:pic>
        <p:nvPicPr>
          <p:cNvPr id="3" name="Error de velocidad vs desalineamiento" descr="Error de velocidad de fase en porcentaje en función del desalineamiento temporal entre nodos, para velocidades de Rayleigh de 120, 150 y 200 m/s con receptores separados 2 m">    </p:cNvPr>
          <p:cNvPicPr>
            <a:picLocks noChangeAspect="1"/>
          </p:cNvPicPr>
          <p:nvPr/>
        </p:nvPicPr>
        <p:blipFill>
          <a:blip r:embed="rId1"/>
          <a:stretch>
            <a:fillRect/>
          </a:stretch>
        </p:blipFill>
        <p:spPr>
          <a:xfrm>
            <a:off x="365760" y="1234440"/>
            <a:ext cx="4754880" cy="2732471"/>
          </a:xfrm>
          <a:prstGeom prst="rect">
            <a:avLst/>
          </a:prstGeom>
        </p:spPr>
      </p:pic>
      <p:sp>
        <p:nvSpPr>
          <p:cNvPr id="4" name="Fondo E_dcc"/>
          <p:cNvSpPr/>
          <p:nvPr/>
        </p:nvSpPr>
        <p:spPr>
          <a:xfrm>
            <a:off x="5303520" y="1234440"/>
            <a:ext cx="33832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c·Δt</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c·Δt / Δx</a:t>
                </a:r>
                <a:endParaRPr lang="en-US" sz="2400" dirty="0"/>
              </a:p>
            </p:txBody>
          </p:sp>
        </mc:Fallback>
      </mc:AlternateContent>
      <p:sp>
        <p:nvSpPr>
          <p:cNvPr id="6" name="Cuerpo"/>
          <p:cNvSpPr txBox="1"/>
          <p:nvPr/>
        </p:nvSpPr>
        <p:spPr>
          <a:xfrm>
            <a:off x="5303520" y="22860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Δx = 2 m y c = 150 m/s, 5 % de error llega a 667 µs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400 µs el error sería de 3 %</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Δx menor hace que el mismo Δt pese más</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Figura propia (f_presupuesto_sincronizacion). Relación derivada de c = 2πf·Δx/Δφ: inferencia propia, no tomada de una fuente.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se prepara en dos pasos y se ejecuta con una sola orden por broadcast</a:t>
            </a:r>
            <a:endParaRPr lang="en-US" sz="2400" dirty="0"/>
          </a:p>
        </p:txBody>
      </p:sp>
      <p:pic>
        <p:nvPicPr>
          <p:cNvPr id="3" name="Secuencia de disparo"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548640" y="1188720"/>
            <a:ext cx="8046720" cy="3259233"/>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10); resumen firmado, sec. 4.8 y fig. 12.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va por broadcast: el unicast agrega retransmisiones distintas en cada nodo</a:t>
            </a:r>
            <a:endParaRPr lang="en-US" sz="2400" dirty="0"/>
          </a:p>
        </p:txBody>
      </p:sp>
      <p:sp>
        <p:nvSpPr>
          <p:cNvPr id="3" name="Cabecera Sin ACK ni reintentos"/>
          <p:cNvSpPr/>
          <p:nvPr/>
        </p:nvSpPr>
        <p:spPr>
          <a:xfrm>
            <a:off x="457200" y="1188720"/>
            <a:ext cx="2560320" cy="45720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ACK ni reintentos</a:t>
            </a:r>
            <a:endParaRPr lang="en-US" sz="1500" dirty="0"/>
          </a:p>
        </p:txBody>
      </p:sp>
      <p:sp>
        <p:nvSpPr>
          <p:cNvPr id="5" name="Tarjeta Sin ACK ni reintentos"/>
          <p:cNvSpPr/>
          <p:nvPr/>
        </p:nvSpPr>
        <p:spPr>
          <a:xfrm>
            <a:off x="457200" y="1645920"/>
            <a:ext cx="2560320" cy="1920240"/>
          </a:xfrm>
          <a:prstGeom prst="rect">
            <a:avLst/>
          </a:prstGeom>
          <a:solidFill>
            <a:srgbClr val="FFFFFF"/>
          </a:solidFill>
          <a:ln w="19050">
            <a:solidFill>
              <a:srgbClr val="1F4E79"/>
            </a:solidFill>
            <a:prstDash val="solid"/>
          </a:ln>
        </p:spPr>
      </p:sp>
      <p:sp>
        <p:nvSpPr>
          <p:cNvPr id="6" name="Text 4"/>
          <p:cNvSpPr txBox="1"/>
          <p:nvPr/>
        </p:nvSpPr>
        <p:spPr>
          <a:xfrm>
            <a:off x="56692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300" dirty="0"/>
          </a:p>
        </p:txBody>
      </p:sp>
      <p:sp>
        <p:nvSpPr>
          <p:cNvPr id="7" name="Cabecera Una emisión, no N"/>
          <p:cNvSpPr/>
          <p:nvPr/>
        </p:nvSpPr>
        <p:spPr>
          <a:xfrm>
            <a:off x="3291840" y="1188720"/>
            <a:ext cx="2560320" cy="45720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Una emisión, no N</a:t>
            </a:r>
            <a:endParaRPr lang="en-US" sz="1500" dirty="0"/>
          </a:p>
        </p:txBody>
      </p:sp>
      <p:sp>
        <p:nvSpPr>
          <p:cNvPr id="9" name="Tarjeta Una emisión, no N"/>
          <p:cNvSpPr/>
          <p:nvPr/>
        </p:nvSpPr>
        <p:spPr>
          <a:xfrm>
            <a:off x="3291840" y="1645920"/>
            <a:ext cx="2560320" cy="1920240"/>
          </a:xfrm>
          <a:prstGeom prst="rect">
            <a:avLst/>
          </a:prstGeom>
          <a:solidFill>
            <a:srgbClr val="FFFFFF"/>
          </a:solidFill>
          <a:ln w="19050">
            <a:solidFill>
              <a:srgbClr val="2E75B6"/>
            </a:solidFill>
            <a:prstDash val="solid"/>
          </a:ln>
        </p:spPr>
      </p:sp>
      <p:sp>
        <p:nvSpPr>
          <p:cNvPr id="10" name="Text 8"/>
          <p:cNvSpPr txBox="1"/>
          <p:nvPr/>
        </p:nvSpPr>
        <p:spPr>
          <a:xfrm>
            <a:off x="340156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300" dirty="0"/>
          </a:p>
        </p:txBody>
      </p:sp>
      <p:sp>
        <p:nvSpPr>
          <p:cNvPr id="11" name="Cabecera Retardo común"/>
          <p:cNvSpPr/>
          <p:nvPr/>
        </p:nvSpPr>
        <p:spPr>
          <a:xfrm>
            <a:off x="6126480" y="1188720"/>
            <a:ext cx="2560320" cy="45720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Retardo común</a:t>
            </a:r>
            <a:endParaRPr lang="en-US" sz="1500" dirty="0"/>
          </a:p>
        </p:txBody>
      </p:sp>
      <p:sp>
        <p:nvSpPr>
          <p:cNvPr id="13" name="Tarjeta Retardo común"/>
          <p:cNvSpPr/>
          <p:nvPr/>
        </p:nvSpPr>
        <p:spPr>
          <a:xfrm>
            <a:off x="6126480" y="1645920"/>
            <a:ext cx="2560320" cy="1920240"/>
          </a:xfrm>
          <a:prstGeom prst="rect">
            <a:avLst/>
          </a:prstGeom>
          <a:solidFill>
            <a:srgbClr val="FFFFFF"/>
          </a:solidFill>
          <a:ln w="19050">
            <a:solidFill>
              <a:srgbClr val="C55A11"/>
            </a:solidFill>
            <a:prstDash val="solid"/>
          </a:ln>
        </p:spPr>
      </p:sp>
      <p:sp>
        <p:nvSpPr>
          <p:cNvPr id="14" name="Text 12"/>
          <p:cNvSpPr txBox="1"/>
          <p:nvPr/>
        </p:nvSpPr>
        <p:spPr>
          <a:xfrm>
            <a:off x="623620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300" dirty="0"/>
          </a:p>
        </p:txBody>
      </p:sp>
      <p:sp>
        <p:nvSpPr>
          <p:cNvPr id="15" name="Text 13"/>
          <p:cNvSpPr txBox="1"/>
          <p:nvPr/>
        </p:nvSpPr>
        <p:spPr>
          <a:xfrm>
            <a:off x="457200" y="3703320"/>
            <a:ext cx="8229600" cy="5029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400" dirty="0"/>
          </a:p>
        </p:txBody>
      </p:sp>
      <p:sp>
        <p:nvSpPr>
          <p:cNvPr id="16" name="Text 14"/>
          <p:cNvSpPr txBox="1"/>
          <p:nvPr/>
        </p:nvSpPr>
        <p:spPr>
          <a:xfrm>
            <a:off x="457200" y="4251960"/>
            <a:ext cx="8229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10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(sec. broadcast vs unicast); comportamiento de ACK en unicast: estándar 802.11.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jitter se mide con un disparo falso y un osciloscopio: 128 órdenes, 200 a 400 µs</a:t>
            </a:r>
            <a:endParaRPr lang="en-US" sz="2400" dirty="0"/>
          </a:p>
        </p:txBody>
      </p:sp>
      <p:sp>
        <p:nvSpPr>
          <p:cNvPr id="3" name="Cabecera Método"/>
          <p:cNvSpPr/>
          <p:nvPr/>
        </p:nvSpPr>
        <p:spPr>
          <a:xfrm>
            <a:off x="457200" y="1188720"/>
            <a:ext cx="475488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46634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p>
        </p:txBody>
      </p:sp>
      <p:sp>
        <p:nvSpPr>
          <p:cNvPr id="5" name="Tarjeta Método"/>
          <p:cNvSpPr/>
          <p:nvPr/>
        </p:nvSpPr>
        <p:spPr>
          <a:xfrm>
            <a:off x="457200" y="1600200"/>
            <a:ext cx="4754880" cy="2377440"/>
          </a:xfrm>
          <a:prstGeom prst="rect">
            <a:avLst/>
          </a:prstGeom>
          <a:solidFill>
            <a:srgbClr val="FFFFFF"/>
          </a:solidFill>
          <a:ln w="19050">
            <a:solidFill>
              <a:srgbClr val="1F4E79"/>
            </a:solidFill>
            <a:prstDash val="solid"/>
          </a:ln>
        </p:spPr>
      </p:sp>
      <p:sp>
        <p:nvSpPr>
          <p:cNvPr id="6" name="Text 4"/>
          <p:cNvSpPr txBox="1"/>
          <p:nvPr/>
        </p:nvSpPr>
        <p:spPr>
          <a:xfrm>
            <a:off x="566928" y="1673352"/>
            <a:ext cx="4535424" cy="223113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SCOPE_MULTI repite el disparo 128 veces, separado 1 s</a:t>
            </a:r>
            <a:endParaRPr lang="en-US" sz="1300" dirty="0"/>
          </a:p>
        </p:txBody>
      </p:sp>
      <p:sp>
        <p:nvSpPr>
          <p:cNvPr id="7" name="Fondo resultado"/>
          <p:cNvSpPr/>
          <p:nvPr/>
        </p:nvSpPr>
        <p:spPr>
          <a:xfrm>
            <a:off x="5486400" y="1188720"/>
            <a:ext cx="3200400" cy="2788920"/>
          </a:xfrm>
          <a:prstGeom prst="rect">
            <a:avLst/>
          </a:prstGeom>
          <a:solidFill>
            <a:srgbClr val="EAF1F8"/>
          </a:solidFill>
          <a:ln w="12700">
            <a:solidFill>
              <a:srgbClr val="EAF1F8"/>
            </a:solidFill>
            <a:prstDash val="solid"/>
          </a:ln>
        </p:spPr>
      </p:sp>
      <p:sp>
        <p:nvSpPr>
          <p:cNvPr id="8" name="Text 6"/>
          <p:cNvSpPr txBox="1"/>
          <p:nvPr/>
        </p:nvSpPr>
        <p:spPr>
          <a:xfrm>
            <a:off x="5486400" y="1371600"/>
            <a:ext cx="3200400" cy="73152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200–400 µs</a:t>
            </a:r>
            <a:endParaRPr lang="en-US" sz="3600" dirty="0"/>
          </a:p>
        </p:txBody>
      </p:sp>
      <p:sp>
        <p:nvSpPr>
          <p:cNvPr id="9" name="Text 7"/>
          <p:cNvSpPr txBox="1"/>
          <p:nvPr/>
        </p:nvSpPr>
        <p:spPr>
          <a:xfrm>
            <a:off x="5623560" y="2194560"/>
            <a:ext cx="2926080" cy="82296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300" dirty="0"/>
          </a:p>
        </p:txBody>
      </p:sp>
      <p:sp>
        <p:nvSpPr>
          <p:cNvPr id="10" name="Text 8"/>
          <p:cNvSpPr txBox="1"/>
          <p:nvPr/>
        </p:nvSpPr>
        <p:spPr>
          <a:xfrm>
            <a:off x="5623560" y="3063240"/>
            <a:ext cx="2926080" cy="82296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200" dirty="0"/>
          </a:p>
        </p:txBody>
      </p:sp>
      <p:sp>
        <p:nvSpPr>
          <p:cNvPr id="11" name="Text 9"/>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400" b="1" dirty="0">
                <a:solidFill>
                  <a:srgbClr val="C55A11"/>
                </a:solidFill>
                <a:latin typeface="Arial" pitchFamily="34" charset="0"/>
                <a:ea typeface="Arial" pitchFamily="34" charset="-122"/>
                <a:cs typeface="Arial" pitchFamily="34" charset="-120"/>
              </a:rPr>
              <a:t>Resultado preliminar: no es una especificación garantizada.</a:t>
            </a:r>
            <a:endParaRPr lang="en-US" sz="14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documento de tesis, 04_arquitectura.tex (método, resultado y límites).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Esta medición no incluye el inicio real del ADC ni la deriva posterior</a:t>
            </a:r>
            <a:endParaRPr lang="en-US" sz="2400" dirty="0"/>
          </a:p>
        </p:txBody>
      </p:sp>
      <p:sp>
        <p:nvSpPr>
          <p:cNvPr id="3" name="Cabecera Qué mid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mide</a:t>
            </a:r>
            <a:endParaRPr lang="en-US" sz="1400" dirty="0"/>
          </a:p>
        </p:txBody>
      </p:sp>
      <p:sp>
        <p:nvSpPr>
          <p:cNvPr id="5" name="Tarjeta Qué mide"/>
          <p:cNvSpPr/>
          <p:nvPr/>
        </p:nvSpPr>
        <p:spPr>
          <a:xfrm>
            <a:off x="457200" y="1600200"/>
            <a:ext cx="2560320" cy="25146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Llegada de la orden y flanco GPIO en cada ESP32</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los nodos juntos, por el alcance de las puntas</a:t>
            </a:r>
            <a:endParaRPr lang="en-US" sz="1250" dirty="0"/>
          </a:p>
        </p:txBody>
      </p:sp>
      <p:sp>
        <p:nvSpPr>
          <p:cNvPr id="7" name="Cabecera Qué fal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falta</a:t>
            </a:r>
            <a:endParaRPr lang="en-US" sz="1400" dirty="0"/>
          </a:p>
        </p:txBody>
      </p:sp>
      <p:sp>
        <p:nvSpPr>
          <p:cNvPr id="9" name="Tarjeta Qué falta"/>
          <p:cNvSpPr/>
          <p:nvPr/>
        </p:nvSpPr>
        <p:spPr>
          <a:xfrm>
            <a:off x="3291840" y="1600200"/>
            <a:ext cx="2560320" cy="251460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Deriva relativa de los relojes durante la captura</a:t>
            </a:r>
            <a:endParaRPr lang="en-US" sz="1250" dirty="0"/>
          </a:p>
        </p:txBody>
      </p:sp>
      <p:sp>
        <p:nvSpPr>
          <p:cNvPr id="11" name="Cabecera Experimentos pendientes"/>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Experimentos pendientes</a:t>
            </a:r>
            <a:endParaRPr lang="en-US" sz="1400" dirty="0"/>
          </a:p>
        </p:txBody>
      </p:sp>
      <p:sp>
        <p:nvSpPr>
          <p:cNvPr id="13" name="Tarjeta Experimentos pendientes"/>
          <p:cNvSpPr/>
          <p:nvPr/>
        </p:nvSpPr>
        <p:spPr>
          <a:xfrm>
            <a:off x="6126480" y="1600200"/>
            <a:ext cx="2560320" cy="251460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Nodos separados decenas de metros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Repetibilidad, nº de nodos, temperatura, canal Wi-Fi</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y 5; documento de tesis, 04_arquitectura.tex (limitaciones). La señal de referencia común es propuesta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Tras el disparo, cada nodo muestrea con su reloj local y la deriva se acumula</a:t>
            </a:r>
            <a:endParaRPr lang="en-US" sz="2400" dirty="0"/>
          </a:p>
        </p:txBody>
      </p:sp>
      <p:sp>
        <p:nvSpPr>
          <p:cNvPr id="3" name="Fondo E_fsi"/>
          <p:cNvSpPr/>
          <p:nvPr/>
        </p:nvSpPr>
        <p:spPr>
          <a:xfrm>
            <a:off x="45720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s,i</m:t>
                          </m:r>
                        </m:sub>
                      </m:sSub>
                      <m:r>
                        <a:rPr lang="es-ES" sz="2800" i="1">
                          <a:solidFill>
                            <a:srgbClr val="1F4E79"/>
                          </a:solidFill>
                          <a:latin typeface="Cambria Math" panose="02040503050406030204" pitchFamily="18" charset="0"/>
                        </a:rPr>
                        <m:t xml:space="preserve">=</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oMath>
                  </m:oMathPara>
                </a14:m>
                <a:endParaRPr lang="es-ES"/>
              </a:p>
            </p:txBody>
          </p:sp>
        </mc:Choice>
        <mc:Fallback>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fs,i = fs(1 + εi)</a:t>
                </a:r>
                <a:endParaRPr lang="en-US" sz="2400" dirty="0"/>
              </a:p>
            </p:txBody>
          </p:sp>
        </mc:Fallback>
      </mc:AlternateContent>
      <p:sp>
        <p:nvSpPr>
          <p:cNvPr id="5" name="Fondo E_tin"/>
          <p:cNvSpPr/>
          <p:nvPr/>
        </p:nvSpPr>
        <p:spPr>
          <a:xfrm>
            <a:off x="466344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[n]=</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0,i</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n</m:t>
                          </m:r>
                        </m:num>
                        <m:den>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den>
                      </m:f>
                    </m:oMath>
                  </m:oMathPara>
                </a14:m>
                <a:endParaRPr lang="es-ES"/>
              </a:p>
            </p:txBody>
          </p:sp>
        </mc:Choice>
        <mc:Fallback>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ti[n] = t0,i + n / (fs(1 + εi))</a:t>
                </a:r>
                <a:endParaRPr lang="en-US" sz="2400" dirty="0"/>
              </a:p>
            </p:txBody>
          </p:sp>
        </mc:Fallback>
      </mc:AlternateContent>
      <p:sp>
        <p:nvSpPr>
          <p:cNvPr id="7" name="Fondo E_drift"/>
          <p:cNvSpPr/>
          <p:nvPr/>
        </p:nvSpPr>
        <p:spPr>
          <a:xfrm>
            <a:off x="457200" y="21031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Δt=</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m:rPr>
                              <m:sty m:val="p"/>
                            </m:rPr>
                            <a:rPr lang="es-ES" sz="2800">
                              <a:solidFill>
                                <a:srgbClr val="1F4E79"/>
                              </a:solidFill>
                              <a:latin typeface="Cambria Math" panose="02040503050406030204" pitchFamily="18" charset="0"/>
                            </a:rPr>
                            <m:t xml:space="preserve">rel</m:t>
                          </m:r>
                        </m:sub>
                      </m:sSub>
                      <m:r>
                        <a:rPr lang="es-ES" sz="2800" i="1">
                          <a:solidFill>
                            <a:srgbClr val="1F4E79"/>
                          </a:solidFill>
                          <a:latin typeface="Cambria Math" panose="02040503050406030204" pitchFamily="18" charset="0"/>
                        </a:rPr>
                        <m:t xml:space="preserve">·T</m:t>
                      </m:r>
                    </m:oMath>
                  </m:oMathPara>
                </a14:m>
                <a:endParaRPr lang="es-ES"/>
              </a:p>
            </p:txBody>
          </p:sp>
        </mc:Choice>
        <mc:Fallback>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Δt = ε_rel · T</a:t>
                </a:r>
                <a:endParaRPr lang="en-US" sz="2400" dirty="0"/>
              </a:p>
            </p:txBody>
          </p:sp>
        </mc:Fallback>
      </mc:AlternateContent>
      <p:graphicFrame>
        <p:nvGraphicFramePr>
          <p:cNvPr id="92" name="Tabla de deriva"/>
          <p:cNvGraphicFramePr>
            <a:graphicFrameLocks noGrp="1"/>
          </p:cNvGraphicFramePr>
          <p:nvPr>
            <p:extLst>
              <p:ext uri="{D42A27DB-BD31-4B8C-83A1-F6EECF244321}">
                <p14:modId xmlns:p14="http://schemas.microsoft.com/office/powerpoint/2010/main" val="1579011935"/>
              </p:ext>
            </p:extLst>
          </p:nvPr>
        </p:nvGraphicFramePr>
        <p:xfrm>
          <a:off x="4663440" y="2103120"/>
          <a:ext cx="4023360" cy="914400"/>
        </p:xfrm>
        <a:graphic>
          <a:graphicData uri="http://schemas.openxmlformats.org/drawingml/2006/table">
            <a:tbl>
              <a:tblPr/>
              <a:tblGrid>
                <a:gridCol w="1280160"/>
                <a:gridCol w="1371600"/>
                <a:gridCol w="1371600"/>
              </a:tblGrid>
              <a:tr h="2743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ε relativo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10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uerpo"/>
          <p:cNvSpPr txBox="1"/>
          <p:nvPr/>
        </p:nvSpPr>
        <p:spPr>
          <a:xfrm>
            <a:off x="457200" y="338328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Dos relojes que difieren en ε se separan ε·T al cabo de 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Con 50 ppm y 10 s, la deriva (500 µs) supera al jitter de inicio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400" dirty="0"/>
          </a:p>
        </p:txBody>
      </p:sp>
      <p:sp>
        <p:nvSpPr>
          <p:cNvPr id="11" name="Text 8"/>
          <p:cNvSpPr txBox="1"/>
          <p:nvPr/>
        </p:nvSpPr>
        <p:spPr>
          <a:xfrm>
            <a:off x="4663440" y="3017520"/>
            <a:ext cx="402336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TABLA ILUSTRATIVA: ε NO MEDIDO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ec. 16 y 17. Valores de ε: ilustrativos (cristales típicos de decenas de ppm), no medidos en el sistema.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registros se descargan en lotes numerados, con CRC y reintento si algo falla</a:t>
            </a:r>
            <a:endParaRPr lang="en-US" sz="2400" dirty="0"/>
          </a:p>
        </p:txBody>
      </p:sp>
      <p:pic>
        <p:nvPicPr>
          <p:cNvPr id="3" name="Descarga de lotes"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548640" y="1188720"/>
            <a:ext cx="8046720" cy="324018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12); resumen firmado, sec. 4.8;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número de nodos está limitado por los pares de ESP-NOW y por la descarga secuencial</a:t>
            </a:r>
            <a:endParaRPr lang="en-US" sz="2400" dirty="0"/>
          </a:p>
        </p:txBody>
      </p:sp>
      <p:sp>
        <p:nvSpPr>
          <p:cNvPr id="3" name="Cabecera Verificado"/>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Verificado</a:t>
            </a:r>
            <a:endParaRPr lang="en-US" sz="1500" dirty="0"/>
          </a:p>
        </p:txBody>
      </p:sp>
      <p:sp>
        <p:nvSpPr>
          <p:cNvPr id="5" name="Tarjeta Verificado"/>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ESP-IDF v5.5: hasta 20 pares; cifrados: hasta 17, 7 por defecto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Carga útil por trama: 250 B (v1.0) o 1470 B (v2.0)</a:t>
            </a:r>
            <a:endParaRPr lang="en-US" sz="1250" dirty="0"/>
          </a:p>
        </p:txBody>
      </p:sp>
      <p:sp>
        <p:nvSpPr>
          <p:cNvPr id="7" name="Cabecera Inferencia"/>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Inferencia</a:t>
            </a:r>
            <a:endParaRPr lang="en-US" sz="1500" dirty="0"/>
          </a:p>
        </p:txBody>
      </p:sp>
      <p:sp>
        <p:nvSpPr>
          <p:cNvPr id="9" name="Tarjeta Inferencia"/>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La descarga recorre un nodo por vez: el tiempo crece con N</a:t>
            </a:r>
            <a:endParaRPr lang="en-US" sz="1250" dirty="0"/>
          </a:p>
        </p:txBody>
      </p:sp>
      <p:sp>
        <p:nvSpPr>
          <p:cNvPr id="11" name="Cabecera Sin medir"/>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medir</a:t>
            </a:r>
            <a:endParaRPr lang="en-US" sz="1500" dirty="0"/>
          </a:p>
        </p:txBody>
      </p:sp>
      <p:sp>
        <p:nvSpPr>
          <p:cNvPr id="13" name="Tarjeta Sin medir"/>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Jitter y descarga con más de 3 nodos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Efecto de la ocupación del canal Wi-Fi</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Qué versión de ESP-NOW usa el firmware</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Espressif, ESP-IDF v5.5, API de ESP-NOW (docs.espressif.com); documento de tesis, 04_arquitectura.tex (experimentos pendientes). Inferencias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nodo HAMMER registra el impacto con un sensor ICP y el mismo firmware que los nodos GEO</a:t>
            </a:r>
            <a:endParaRPr lang="en-US" sz="2400" dirty="0"/>
          </a:p>
        </p:txBody>
      </p:sp>
      <p:pic>
        <p:nvPicPr>
          <p:cNvPr id="3" name="Principio ICP" descr="Principio de alimentación ICP: sensor de cuarzo con amplificador interno, cable, fuente de corriente constante y capacitor de desacople">    </p:cNvPr>
          <p:cNvPicPr>
            <a:picLocks noChangeAspect="1"/>
          </p:cNvPicPr>
          <p:nvPr/>
        </p:nvPicPr>
        <p:blipFill>
          <a:blip r:embed="rId1"/>
          <a:stretch>
            <a:fillRect/>
          </a:stretch>
        </p:blipFill>
        <p:spPr>
          <a:xfrm>
            <a:off x="365760" y="1234440"/>
            <a:ext cx="2011680" cy="1704899"/>
          </a:xfrm>
          <a:prstGeom prst="rect">
            <a:avLst/>
          </a:prstGeom>
        </p:spPr>
      </p:pic>
      <p:pic>
        <p:nvPicPr>
          <p:cNvPr id="4" name="Acondicionamiento del martillo" descr="Acondicionamiento del martillo en PSoC Creator: fuente de corriente con LM7805, desacople y protección, PGA, pasa-bajos y ADC delta-sigma">    </p:cNvPr>
          <p:cNvPicPr>
            <a:picLocks noChangeAspect="1"/>
          </p:cNvPicPr>
          <p:nvPr/>
        </p:nvPicPr>
        <p:blipFill>
          <a:blip r:embed="rId2"/>
          <a:stretch>
            <a:fillRect/>
          </a:stretch>
        </p:blipFill>
        <p:spPr>
          <a:xfrm>
            <a:off x="2926080" y="1234440"/>
            <a:ext cx="5669280" cy="2146767"/>
          </a:xfrm>
          <a:prstGeom prst="rect">
            <a:avLst/>
          </a:prstGeom>
        </p:spPr>
      </p:pic>
      <p:sp>
        <p:nvSpPr>
          <p:cNvPr id="5" name="Text 1"/>
          <p:cNvSpPr txBox="1"/>
          <p:nvPr/>
        </p:nvSpPr>
        <p:spPr>
          <a:xfrm>
            <a:off x="2926080" y="3401568"/>
            <a:ext cx="566928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ETIQUETAS EN INGLÉS (figuras originales)</a:t>
            </a:r>
            <a:endParaRPr lang="en-US" sz="1000" dirty="0"/>
          </a:p>
        </p:txBody>
      </p:sp>
      <p:sp>
        <p:nvSpPr>
          <p:cNvPr id="6"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4.7 y fig. 13; PCB Piezotronics (2025); documento de tesis, 03_excitacion.tex (principio ICP, esquema en PSoC Creator).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Del impacto al perfil Vs(z): el flujo completo del sistema</a:t>
            </a:r>
            <a:endParaRPr lang="en-US" sz="2400" dirty="0"/>
          </a:p>
        </p:txBody>
      </p:sp>
      <p:pic>
        <p:nvPicPr>
          <p:cNvPr id="3" name="Flujo completo"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457200" y="1143000"/>
            <a:ext cx="8229600" cy="1658229"/>
          </a:xfrm>
          <a:prstGeom prst="rect">
            <a:avLst/>
          </a:prstGeom>
        </p:spPr>
      </p:pic>
      <p:sp>
        <p:nvSpPr>
          <p:cNvPr id="4" name="Cabecera En el campo"/>
          <p:cNvSpPr/>
          <p:nvPr/>
        </p:nvSpPr>
        <p:spPr>
          <a:xfrm>
            <a:off x="457200" y="2971800"/>
            <a:ext cx="2606040" cy="365760"/>
          </a:xfrm>
          <a:prstGeom prst="rect">
            <a:avLst/>
          </a:prstGeom>
          <a:solidFill>
            <a:srgbClr val="1F4E79"/>
          </a:solidFill>
          <a:ln w="12700">
            <a:solidFill>
              <a:srgbClr val="1F4E79"/>
            </a:solidFill>
            <a:prstDash val="solid"/>
          </a:ln>
        </p:spPr>
      </p:sp>
      <p:sp>
        <p:nvSpPr>
          <p:cNvPr id="5" name="Text 2"/>
          <p:cNvSpPr txBox="1"/>
          <p:nvPr/>
        </p:nvSpPr>
        <p:spPr>
          <a:xfrm>
            <a:off x="50292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campo</a:t>
            </a:r>
            <a:endParaRPr lang="en-US" sz="1400" dirty="0"/>
          </a:p>
        </p:txBody>
      </p:sp>
      <p:sp>
        <p:nvSpPr>
          <p:cNvPr id="6" name="Tarjeta En el campo"/>
          <p:cNvSpPr/>
          <p:nvPr/>
        </p:nvSpPr>
        <p:spPr>
          <a:xfrm>
            <a:off x="457200" y="3337560"/>
            <a:ext cx="2606040" cy="1097280"/>
          </a:xfrm>
          <a:prstGeom prst="rect">
            <a:avLst/>
          </a:prstGeom>
          <a:solidFill>
            <a:srgbClr val="FFFFFF"/>
          </a:solidFill>
          <a:ln w="19050">
            <a:solidFill>
              <a:srgbClr val="1F4E79"/>
            </a:solidFill>
            <a:prstDash val="solid"/>
          </a:ln>
        </p:spPr>
      </p:sp>
      <p:sp>
        <p:nvSpPr>
          <p:cNvPr id="7" name="Text 4"/>
          <p:cNvSpPr txBox="1"/>
          <p:nvPr/>
        </p:nvSpPr>
        <p:spPr>
          <a:xfrm>
            <a:off x="56692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300" dirty="0"/>
          </a:p>
        </p:txBody>
      </p:sp>
      <p:sp>
        <p:nvSpPr>
          <p:cNvPr id="8" name="Cabecera En el camino"/>
          <p:cNvSpPr/>
          <p:nvPr/>
        </p:nvSpPr>
        <p:spPr>
          <a:xfrm>
            <a:off x="3268980" y="2971800"/>
            <a:ext cx="2606040" cy="365760"/>
          </a:xfrm>
          <a:prstGeom prst="rect">
            <a:avLst/>
          </a:prstGeom>
          <a:solidFill>
            <a:srgbClr val="2E75B6"/>
          </a:solidFill>
          <a:ln w="12700">
            <a:solidFill>
              <a:srgbClr val="2E75B6"/>
            </a:solidFill>
            <a:prstDash val="solid"/>
          </a:ln>
        </p:spPr>
      </p:sp>
      <p:sp>
        <p:nvSpPr>
          <p:cNvPr id="9" name="Text 6"/>
          <p:cNvSpPr txBox="1"/>
          <p:nvPr/>
        </p:nvSpPr>
        <p:spPr>
          <a:xfrm>
            <a:off x="331470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camino</a:t>
            </a:r>
            <a:endParaRPr lang="en-US" sz="1400" dirty="0"/>
          </a:p>
        </p:txBody>
      </p:sp>
      <p:sp>
        <p:nvSpPr>
          <p:cNvPr id="10" name="Tarjeta En el camino"/>
          <p:cNvSpPr/>
          <p:nvPr/>
        </p:nvSpPr>
        <p:spPr>
          <a:xfrm>
            <a:off x="3268980" y="3337560"/>
            <a:ext cx="2606040" cy="1097280"/>
          </a:xfrm>
          <a:prstGeom prst="rect">
            <a:avLst/>
          </a:prstGeom>
          <a:solidFill>
            <a:srgbClr val="FFFFFF"/>
          </a:solidFill>
          <a:ln w="19050">
            <a:solidFill>
              <a:srgbClr val="2E75B6"/>
            </a:solidFill>
            <a:prstDash val="solid"/>
          </a:ln>
        </p:spPr>
      </p:sp>
      <p:sp>
        <p:nvSpPr>
          <p:cNvPr id="11" name="Text 8"/>
          <p:cNvSpPr txBox="1"/>
          <p:nvPr/>
        </p:nvSpPr>
        <p:spPr>
          <a:xfrm>
            <a:off x="337870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300" dirty="0"/>
          </a:p>
        </p:txBody>
      </p:sp>
      <p:sp>
        <p:nvSpPr>
          <p:cNvPr id="12" name="Cabecera Análisis (en parte pendiente)"/>
          <p:cNvSpPr/>
          <p:nvPr/>
        </p:nvSpPr>
        <p:spPr>
          <a:xfrm>
            <a:off x="6080760" y="2971800"/>
            <a:ext cx="2606040" cy="365760"/>
          </a:xfrm>
          <a:prstGeom prst="rect">
            <a:avLst/>
          </a:prstGeom>
          <a:solidFill>
            <a:srgbClr val="C55A11"/>
          </a:solidFill>
          <a:ln w="12700">
            <a:solidFill>
              <a:srgbClr val="C55A11"/>
            </a:solidFill>
            <a:prstDash val="solid"/>
          </a:ln>
        </p:spPr>
      </p:sp>
      <p:sp>
        <p:nvSpPr>
          <p:cNvPr id="13" name="Text 10"/>
          <p:cNvSpPr txBox="1"/>
          <p:nvPr/>
        </p:nvSpPr>
        <p:spPr>
          <a:xfrm>
            <a:off x="612648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Análisis (en parte pendiente)</a:t>
            </a:r>
            <a:endParaRPr lang="en-US" sz="1400" dirty="0"/>
          </a:p>
        </p:txBody>
      </p:sp>
      <p:sp>
        <p:nvSpPr>
          <p:cNvPr id="14" name="Tarjeta Análisis (en parte pendiente)"/>
          <p:cNvSpPr/>
          <p:nvPr/>
        </p:nvSpPr>
        <p:spPr>
          <a:xfrm>
            <a:off x="6080760" y="3337560"/>
            <a:ext cx="2606040" cy="1097280"/>
          </a:xfrm>
          <a:prstGeom prst="rect">
            <a:avLst/>
          </a:prstGeom>
          <a:solidFill>
            <a:srgbClr val="FFFFFF"/>
          </a:solidFill>
          <a:ln w="19050">
            <a:solidFill>
              <a:srgbClr val="C55A11"/>
            </a:solidFill>
            <a:prstDash val="solid"/>
          </a:ln>
        </p:spPr>
      </p:sp>
      <p:sp>
        <p:nvSpPr>
          <p:cNvPr id="15" name="Text 12"/>
          <p:cNvSpPr txBox="1"/>
          <p:nvPr/>
        </p:nvSpPr>
        <p:spPr>
          <a:xfrm>
            <a:off x="619048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3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 resumen firmado, sec. 4.9 y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interfaz web del maestro configura, revisa y decide cada captura</a:t>
            </a:r>
            <a:endParaRPr lang="en-US" sz="2400" dirty="0"/>
          </a:p>
        </p:txBody>
      </p:sp>
      <p:pic>
        <p:nvPicPr>
          <p:cNvPr id="3" name="Interfaz web del maestro" descr="Interfaz web Gephone Scope: configuración de captura, gráficas de las señales del HAMMER y del geófono, y botones para guardar o subir al servidor">    </p:cNvPr>
          <p:cNvPicPr>
            <a:picLocks noChangeAspect="1"/>
          </p:cNvPicPr>
          <p:nvPr/>
        </p:nvPicPr>
        <p:blipFill>
          <a:blip r:embed="rId1"/>
          <a:stretch>
            <a:fillRect/>
          </a:stretch>
        </p:blipFill>
        <p:spPr>
          <a:xfrm>
            <a:off x="365760" y="1188720"/>
            <a:ext cx="5029200" cy="2830664"/>
          </a:xfrm>
          <a:prstGeom prst="rect">
            <a:avLst/>
          </a:prstGeom>
        </p:spPr>
      </p:pic>
      <p:sp>
        <p:nvSpPr>
          <p:cNvPr id="4" name="Cuerpo"/>
          <p:cNvSpPr txBox="1"/>
          <p:nvPr/>
        </p:nvSpPr>
        <p:spPr>
          <a:xfrm>
            <a:off x="562356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configuran ganancia, rango del ADC, duración y ruta de señal</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captura se conserva, se descarta o se envía</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sesión de campo: del navegador al servidor, con el maestro en el medio</a:t>
            </a:r>
            <a:endParaRPr lang="en-US" sz="2400" dirty="0"/>
          </a:p>
        </p:txBody>
      </p:sp>
      <p:pic>
        <p:nvPicPr>
          <p:cNvPr id="3" name="Flujo operativo de una sesión" descr="Diagrama de carriles: usuario o navegador, ESP32 maestro, nodos esclavos y servidor de análisis, desde iniciar el punto de acceso hasta publicar la captura como raw aceptado">    </p:cNvPr>
          <p:cNvPicPr>
            <a:picLocks noChangeAspect="1"/>
          </p:cNvPicPr>
          <p:nvPr/>
        </p:nvPicPr>
        <p:blipFill>
          <a:blip r:embed="rId1"/>
          <a:stretch>
            <a:fillRect/>
          </a:stretch>
        </p:blipFill>
        <p:spPr>
          <a:xfrm>
            <a:off x="365760" y="1143000"/>
            <a:ext cx="5542290" cy="3337560"/>
          </a:xfrm>
          <a:prstGeom prst="rect">
            <a:avLst/>
          </a:prstGeom>
        </p:spPr>
      </p:pic>
      <p:sp>
        <p:nvSpPr>
          <p:cNvPr id="4" name="Cuerpo"/>
          <p:cNvSpPr txBox="1"/>
          <p:nvPr/>
        </p:nvSpPr>
        <p:spPr>
          <a:xfrm>
            <a:off x="6080760" y="1188720"/>
            <a:ext cx="26517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Calibración y captura se coordinan por ESP-NOW</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14; diagrama propio (drawio, 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arreglo: 21 posiciones del receptor, un HAMMER fijo y 40 m de apertura</a:t>
            </a:r>
            <a:endParaRPr lang="en-US" sz="2400" dirty="0"/>
          </a:p>
        </p:txBody>
      </p:sp>
      <p:pic>
        <p:nvPicPr>
          <p:cNvPr id="3" name="Geometría del arreglo"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640080" y="1143000"/>
            <a:ext cx="7863840" cy="2468880"/>
          </a:xfrm>
          <a:prstGeom prst="rect">
            <a:avLst/>
          </a:prstGeom>
        </p:spPr>
      </p:pic>
      <p:sp>
        <p:nvSpPr>
          <p:cNvPr id="4" name="Text 1"/>
          <p:cNvSpPr txBox="1"/>
          <p:nvPr/>
        </p:nvSpPr>
        <p:spPr>
          <a:xfrm>
            <a:off x="5029200" y="3593592"/>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A REGENERAR EN EL REPO</a:t>
            </a:r>
            <a:endParaRPr lang="en-US" sz="1000" dirty="0"/>
          </a:p>
        </p:txBody>
      </p:sp>
      <p:sp>
        <p:nvSpPr>
          <p:cNvPr id="5" name="Fondo E_lap"/>
          <p:cNvSpPr/>
          <p:nvPr/>
        </p:nvSpPr>
        <p:spPr>
          <a:xfrm>
            <a:off x="457200" y="3886200"/>
            <a:ext cx="3291840" cy="5486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N</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−1)·Δx</m:t>
                      </m:r>
                    </m:oMath>
                  </m:oMathPara>
                </a14:m>
                <a:endParaRPr lang="es-ES"/>
              </a:p>
            </p:txBody>
          </p:sp>
        </mc:Choice>
        <mc:Fallback>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(Nr − 1)·Δx</a:t>
                </a:r>
                <a:endParaRPr lang="en-US" sz="2400" dirty="0"/>
              </a:p>
            </p:txBody>
          </p:sp>
        </mc:Fallback>
      </mc:AlternateContent>
      <p:sp>
        <p:nvSpPr>
          <p:cNvPr id="7" name="Cuerpo"/>
          <p:cNvSpPr txBox="1"/>
          <p:nvPr/>
        </p:nvSpPr>
        <p:spPr>
          <a:xfrm>
            <a:off x="3931920" y="3886200"/>
            <a:ext cx="475488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Nr = 21 posiciones, Δx = 2 m: L = 40 m</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conservaron coordenadas ni azimut de los extremos</a:t>
            </a:r>
            <a:endParaRPr lang="en-US" sz="12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documento de tesis, 04_validacion.tex (campaña) y 02_requerimientos.tex (ec. de apertura). Esquema: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separación y la apertura fijan las longitudes de onda que se pueden medir</a:t>
            </a:r>
            <a:endParaRPr lang="en-US" sz="2400" dirty="0"/>
          </a:p>
        </p:txBody>
      </p:sp>
      <p:sp>
        <p:nvSpPr>
          <p:cNvPr id="3" name="Fondo E_lmin"/>
          <p:cNvSpPr/>
          <p:nvPr/>
        </p:nvSpPr>
        <p:spPr>
          <a:xfrm>
            <a:off x="457200" y="114300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mín</m:t>
                          </m:r>
                        </m:sub>
                      </m:sSub>
                      <m:r>
                        <a:rPr lang="es-ES" sz="2800" i="1">
                          <a:solidFill>
                            <a:srgbClr val="1F4E79"/>
                          </a:solidFill>
                          <a:latin typeface="Cambria Math" panose="02040503050406030204" pitchFamily="18" charset="0"/>
                        </a:rPr>
                        <m:t xml:space="preserve">≳2Δx</m:t>
                      </m:r>
                    </m:oMath>
                  </m:oMathPara>
                </a14:m>
                <a:endParaRPr lang="es-ES"/>
              </a:p>
            </p:txBody>
          </p:sp>
        </mc:Choice>
        <mc:Fallback>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λmín ≳ 2Δx</a:t>
                </a:r>
                <a:endParaRPr lang="en-US" sz="2400" dirty="0"/>
              </a:p>
            </p:txBody>
          </p:sp>
        </mc:Fallback>
      </mc:AlternateContent>
      <p:sp>
        <p:nvSpPr>
          <p:cNvPr id="5" name="Text 3"/>
          <p:cNvSpPr txBox="1"/>
          <p:nvPr/>
        </p:nvSpPr>
        <p:spPr>
          <a:xfrm>
            <a:off x="457200" y="1764792"/>
            <a:ext cx="347472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Δx corto: sin aliasing espacial</a:t>
            </a:r>
            <a:endParaRPr lang="en-US" sz="1200" dirty="0"/>
          </a:p>
        </p:txBody>
      </p:sp>
      <p:sp>
        <p:nvSpPr>
          <p:cNvPr id="6" name="Fondo E_lmax"/>
          <p:cNvSpPr/>
          <p:nvPr/>
        </p:nvSpPr>
        <p:spPr>
          <a:xfrm>
            <a:off x="457200" y="210312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máx</m:t>
                          </m:r>
                        </m:sub>
                      </m:sSub>
                    </m:oMath>
                  </m:oMathPara>
                </a14:m>
                <a:endParaRPr lang="es-ES"/>
              </a:p>
            </p:txBody>
          </p:sp>
        </mc:Choice>
        <mc:Fallback>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λmáx</a:t>
                </a:r>
                <a:endParaRPr lang="en-US" sz="2400" dirty="0"/>
              </a:p>
            </p:txBody>
          </p:sp>
        </mc:Fallback>
      </mc:AlternateContent>
      <p:sp>
        <p:nvSpPr>
          <p:cNvPr id="8" name="Text 6"/>
          <p:cNvSpPr txBox="1"/>
          <p:nvPr/>
        </p:nvSpPr>
        <p:spPr>
          <a:xfrm>
            <a:off x="457200" y="2724912"/>
            <a:ext cx="347472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L largo: se resuelven ondas largas</a:t>
            </a:r>
            <a:endParaRPr lang="en-US" sz="1200" dirty="0"/>
          </a:p>
        </p:txBody>
      </p:sp>
      <p:sp>
        <p:nvSpPr>
          <p:cNvPr id="9" name="Cuerpo"/>
          <p:cNvSpPr txBox="1"/>
          <p:nvPr/>
        </p:nvSpPr>
        <p:spPr>
          <a:xfrm>
            <a:off x="457200" y="3090672"/>
            <a:ext cx="3566160" cy="1417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Δx = 2 m: λ ≳ 4 m; a c = 150 m/s, sin aliasing hasta 37,5 Hz</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L = 40 m y L ≳ 1,5·λmáx: f ≳ 5,6 Hz a c = 150 m/s</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Subarreglo de 22 a 42 m (L = 20 m): 8 Hz (λ = 21,5 m) ya es comparable con L</a:t>
            </a:r>
            <a:endParaRPr lang="en-US" sz="1150" dirty="0"/>
          </a:p>
        </p:txBody>
      </p:sp>
      <p:pic>
        <p:nvPicPr>
          <p:cNvPr id="10" name="Región válida de la geometría" descr="Plano frecuencia y velocidad de fase: la región válida queda entre la recta de aliasing espacial c igual a 2 Δx f y las rectas de apertura, para Δx de 2 metros y L de 40 metros">    </p:cNvPr>
          <p:cNvPicPr>
            <a:picLocks noChangeAspect="1"/>
          </p:cNvPicPr>
          <p:nvPr/>
        </p:nvPicPr>
        <p:blipFill>
          <a:blip r:embed="rId1"/>
          <a:stretch>
            <a:fillRect/>
          </a:stretch>
        </p:blipFill>
        <p:spPr>
          <a:xfrm>
            <a:off x="4206240" y="1143000"/>
            <a:ext cx="4843849" cy="3200400"/>
          </a:xfrm>
          <a:prstGeom prst="rect">
            <a:avLst/>
          </a:prstGeom>
        </p:spPr>
      </p:pic>
      <p:sp>
        <p:nvSpPr>
          <p:cNvPr id="11" name="Text 8"/>
          <p:cNvSpPr txBox="1"/>
          <p:nvPr/>
        </p:nvSpPr>
        <p:spPr>
          <a:xfrm>
            <a:off x="5669280" y="4370832"/>
            <a:ext cx="30175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(CÁLCULO PROPIO)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02_requerimientos.tex y 04_validacion.tex (atribuye a Foti et al., 2018: L ≳ λmáx y L ≳ 1,5·λmáx; L ≳ 2·λmáx es criterio de la tesis). Cálculos con c = 150 m/s.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receptor móvil sintetiza el registro; no equivale a un MASW simultáneo</a:t>
            </a:r>
            <a:endParaRPr lang="en-US" sz="2400" dirty="0"/>
          </a:p>
        </p:txBody>
      </p:sp>
      <p:sp>
        <p:nvSpPr>
          <p:cNvPr id="3" name="Cabecera Qué se hac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se hace</a:t>
            </a:r>
            <a:endParaRPr lang="en-US" sz="1500" dirty="0"/>
          </a:p>
        </p:txBody>
      </p:sp>
      <p:sp>
        <p:nvSpPr>
          <p:cNvPr id="5" name="Tarjeta Qué se hace"/>
          <p:cNvSpPr/>
          <p:nvPr/>
        </p:nvSpPr>
        <p:spPr>
          <a:xfrm>
            <a:off x="457200" y="1600200"/>
            <a:ext cx="2560320" cy="233172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Un nodo GEO recorre la línea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HAMMER fijo registra cada impacto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Se alinea por el HAMMER y se promedia por posición</a:t>
            </a:r>
            <a:endParaRPr lang="en-US" sz="1300" dirty="0"/>
          </a:p>
        </p:txBody>
      </p:sp>
      <p:sp>
        <p:nvSpPr>
          <p:cNvPr id="7" name="Cabecera Qué supone"/>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supone</a:t>
            </a:r>
            <a:endParaRPr lang="en-US" sz="1500" dirty="0"/>
          </a:p>
        </p:txBody>
      </p:sp>
      <p:sp>
        <p:nvSpPr>
          <p:cNvPr id="9" name="Tarjeta Qué supone"/>
          <p:cNvSpPr/>
          <p:nvPr/>
        </p:nvSpPr>
        <p:spPr>
          <a:xfrm>
            <a:off x="3291840" y="1600200"/>
            <a:ext cx="2560320" cy="233172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Fuente repetible entre golpes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Terreno estable durante la campaña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Posiciones conocidas</a:t>
            </a:r>
            <a:endParaRPr lang="en-US" sz="1300" dirty="0"/>
          </a:p>
        </p:txBody>
      </p:sp>
      <p:sp>
        <p:nvSpPr>
          <p:cNvPr id="11" name="Cabecera Qué no demuestr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no demuestra</a:t>
            </a:r>
            <a:endParaRPr lang="en-US" sz="1500" dirty="0"/>
          </a:p>
        </p:txBody>
      </p:sp>
      <p:sp>
        <p:nvSpPr>
          <p:cNvPr id="13" name="Tarjeta Qué no demuestra"/>
          <p:cNvSpPr/>
          <p:nvPr/>
        </p:nvSpPr>
        <p:spPr>
          <a:xfrm>
            <a:off x="6126480" y="1600200"/>
            <a:ext cx="2560320" cy="233172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Captura simultánea de varios canales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Sincronización entre nodos en campo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Igual fase y magnitud entre placas</a:t>
            </a:r>
            <a:endParaRPr lang="en-US" sz="1300" dirty="0"/>
          </a:p>
        </p:txBody>
      </p:sp>
      <p:sp>
        <p:nvSpPr>
          <p:cNvPr id="1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 y 4.10; documento de tesis, 04_validacion.tex (Lin y Ashlock, 2016).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captura real: el impacto del HAMMER marca el tiempo y el geófono lo sigue</a:t>
            </a:r>
            <a:endParaRPr lang="en-US" sz="2400" dirty="0"/>
          </a:p>
        </p:txBody>
      </p:sp>
      <p:pic>
        <p:nvPicPr>
          <p:cNvPr id="3" name="Captura real a 24 m"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365760" y="1188720"/>
            <a:ext cx="5303520" cy="3227734"/>
          </a:xfrm>
          <a:prstGeom prst="rect">
            <a:avLst/>
          </a:prstGeom>
        </p:spPr>
      </p:pic>
      <p:sp>
        <p:nvSpPr>
          <p:cNvPr id="4" name="Cuerpo"/>
          <p:cNvSpPr txBox="1"/>
          <p:nvPr/>
        </p:nvSpPr>
        <p:spPr>
          <a:xfrm>
            <a:off x="5852160" y="1188720"/>
            <a:ext cx="28346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Arriba: el HAMMER; su pico fija el instante del impacto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Medio: el geófono crudo, con su nivel de continua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Abajo: la vista de trabajo, centrada y filtrada, para alinear</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06_metodologia_validacion.tex (ejemplo de adquisición real, 24 m). Figura del repo; no está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posición se alinea con el HAMMER y se promedia traza por traza</a:t>
            </a:r>
            <a:endParaRPr lang="en-US" sz="2400" dirty="0"/>
          </a:p>
        </p:txBody>
      </p:sp>
      <p:pic>
        <p:nvPicPr>
          <p:cNvPr id="3" name="Interfaz de procesamiento"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1"/>
          <a:stretch>
            <a:fillRect/>
          </a:stretch>
        </p:blipFill>
        <p:spPr>
          <a:xfrm>
            <a:off x="365760" y="1188720"/>
            <a:ext cx="4480560" cy="2807818"/>
          </a:xfrm>
          <a:prstGeom prst="rect">
            <a:avLst/>
          </a:prstGeom>
        </p:spPr>
      </p:pic>
      <p:sp>
        <p:nvSpPr>
          <p:cNvPr id="4" name="Pasos"/>
          <p:cNvSpPr txBox="1"/>
          <p:nvPr/>
        </p:nvSpPr>
        <p:spPr>
          <a:xfrm>
            <a:off x="5120640" y="1188720"/>
            <a:ext cx="35661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aceptan las capturas revisadas</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alinean con el impacto del HAMMER</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llevan a una fs común</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promedian muestra a muestra</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ordenan por distancia</a:t>
            </a:r>
            <a:endParaRPr lang="en-US" sz="15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4.10.2, fig. 16; documento de tesis, 04_validacion.tex (607 candidatos, 598 procesados, mediana de ~30 golpes).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resultado: un registro espacio–tiempo de 21 trazas promediadas</a:t>
            </a:r>
            <a:endParaRPr lang="en-US" sz="2400" dirty="0"/>
          </a:p>
        </p:txBody>
      </p:sp>
      <p:pic>
        <p:nvPicPr>
          <p:cNvPr id="3" name="Registro espacio-tiempo de 21 posiciones" descr="Registro espacio tiempo con 21 trazas entre 10 y 50 metros, primeros 4 segundos después del impacto, cada traza normalizada">    </p:cNvPr>
          <p:cNvPicPr>
            <a:picLocks noChangeAspect="1"/>
          </p:cNvPicPr>
          <p:nvPr/>
        </p:nvPicPr>
        <p:blipFill>
          <a:blip r:embed="rId1"/>
          <a:stretch>
            <a:fillRect/>
          </a:stretch>
        </p:blipFill>
        <p:spPr>
          <a:xfrm>
            <a:off x="365760" y="1188720"/>
            <a:ext cx="5029200" cy="2779749"/>
          </a:xfrm>
          <a:prstGeom prst="rect">
            <a:avLst/>
          </a:prstGeom>
        </p:spPr>
      </p:pic>
      <p:sp>
        <p:nvSpPr>
          <p:cNvPr id="4" name="Cuerpo"/>
          <p:cNvSpPr txBox="1"/>
          <p:nvPr/>
        </p:nvSpPr>
        <p:spPr>
          <a:xfrm>
            <a:off x="557784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tren de ondas llega más tarde al aumentar la distancia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Primeros 4 s tras el impacto</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y fig. 17b.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error en la posición de los receptores se paga en velocidad de fase</a:t>
            </a:r>
            <a:endParaRPr lang="en-US" sz="2400" dirty="0"/>
          </a:p>
        </p:txBody>
      </p:sp>
      <p:sp>
        <p:nvSpPr>
          <p:cNvPr id="3" name="Fondo E_dcx"/>
          <p:cNvSpPr/>
          <p:nvPr/>
        </p:nvSpPr>
        <p:spPr>
          <a:xfrm>
            <a:off x="457200" y="1188720"/>
            <a:ext cx="39319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δ(Δx)</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δ(Δx)/Δx</a:t>
                </a:r>
                <a:endParaRPr lang="en-US" sz="2400" dirty="0"/>
              </a:p>
            </p:txBody>
          </p:sp>
        </mc:Fallback>
      </mc:AlternateContent>
      <p:sp>
        <p:nvSpPr>
          <p:cNvPr id="5" name="Text 3"/>
          <p:cNvSpPr txBox="1"/>
          <p:nvPr/>
        </p:nvSpPr>
        <p:spPr>
          <a:xfrm>
            <a:off x="457200" y="2148840"/>
            <a:ext cx="3931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INFERENCIA PROPIA</a:t>
            </a:r>
            <a:endParaRPr lang="en-US" sz="1000" dirty="0"/>
          </a:p>
        </p:txBody>
      </p:sp>
      <p:sp>
        <p:nvSpPr>
          <p:cNvPr id="6" name="Cuerpo"/>
          <p:cNvSpPr txBox="1"/>
          <p:nvPr/>
        </p:nvSpPr>
        <p:spPr>
          <a:xfrm>
            <a:off x="4663440" y="1188720"/>
            <a:ext cx="40233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Δx = 2 m, un error de 10 cm es un 5 % en c</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400" dirty="0"/>
          </a:p>
        </p:txBody>
      </p:sp>
      <p:sp>
        <p:nvSpPr>
          <p:cNvPr id="7" name="Cabecera Para verificarlo"/>
          <p:cNvSpPr/>
          <p:nvPr/>
        </p:nvSpPr>
        <p:spPr>
          <a:xfrm>
            <a:off x="457200" y="2606040"/>
            <a:ext cx="3931920" cy="365760"/>
          </a:xfrm>
          <a:prstGeom prst="rect">
            <a:avLst/>
          </a:prstGeom>
          <a:solidFill>
            <a:srgbClr val="2E75B6"/>
          </a:solidFill>
          <a:ln w="12700">
            <a:solidFill>
              <a:srgbClr val="2E75B6"/>
            </a:solidFill>
            <a:prstDash val="solid"/>
          </a:ln>
        </p:spPr>
      </p:sp>
      <p:sp>
        <p:nvSpPr>
          <p:cNvPr id="8" name="Text 6"/>
          <p:cNvSpPr txBox="1"/>
          <p:nvPr/>
        </p:nvSpPr>
        <p:spPr>
          <a:xfrm>
            <a:off x="502920" y="260604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Para verificarlo</a:t>
            </a:r>
            <a:endParaRPr lang="en-US" sz="1400" dirty="0"/>
          </a:p>
        </p:txBody>
      </p:sp>
      <p:sp>
        <p:nvSpPr>
          <p:cNvPr id="9" name="Tarjeta Para verificarlo"/>
          <p:cNvSpPr/>
          <p:nvPr/>
        </p:nvSpPr>
        <p:spPr>
          <a:xfrm>
            <a:off x="457200" y="2971800"/>
            <a:ext cx="3931920" cy="914400"/>
          </a:xfrm>
          <a:prstGeom prst="rect">
            <a:avLst/>
          </a:prstGeom>
          <a:solidFill>
            <a:srgbClr val="FFFFFF"/>
          </a:solidFill>
          <a:ln w="19050">
            <a:solidFill>
              <a:srgbClr val="2E75B6"/>
            </a:solidFill>
            <a:prstDash val="solid"/>
          </a:ln>
        </p:spPr>
      </p:sp>
      <p:sp>
        <p:nvSpPr>
          <p:cNvPr id="10" name="Text 8"/>
          <p:cNvSpPr txBox="1"/>
          <p:nvPr/>
        </p:nvSpPr>
        <p:spPr>
          <a:xfrm>
            <a:off x="566928" y="3044952"/>
            <a:ext cx="3712464" cy="76809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250" dirty="0"/>
          </a:p>
        </p:txBody>
      </p:sp>
      <p:sp>
        <p:nvSpPr>
          <p:cNvPr id="11"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2" name="Text 10"/>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Relación SASW: documento de tesis, 01_contexto.tex (c = 2πfΔx/Δφ); campaña: 04_validacion.tex y sec. de limitaciones. Propagación: derivación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servidor conserva el original y procesa copias derivadas</a:t>
            </a:r>
            <a:endParaRPr lang="en-US" sz="2400" dirty="0"/>
          </a:p>
        </p:txBody>
      </p:sp>
      <p:pic>
        <p:nvPicPr>
          <p:cNvPr id="3" name="Pipeline del servidor" descr="Pipeline del servidor: ZIP v4, validación de ingesta, SHA-256, raw inmutable, AnalysisJob, preprocesamiento, organización de trazas, productos intermedios y picking con inversión">    </p:cNvPr>
          <p:cNvPicPr>
            <a:picLocks noChangeAspect="1"/>
          </p:cNvPicPr>
          <p:nvPr/>
        </p:nvPicPr>
        <p:blipFill>
          <a:blip r:embed="rId1"/>
          <a:stretch>
            <a:fillRect/>
          </a:stretch>
        </p:blipFill>
        <p:spPr>
          <a:xfrm>
            <a:off x="914400" y="1143000"/>
            <a:ext cx="7315200" cy="2469099"/>
          </a:xfrm>
          <a:prstGeom prst="rect">
            <a:avLst/>
          </a:prstGeom>
        </p:spPr>
      </p:pic>
      <p:sp>
        <p:nvSpPr>
          <p:cNvPr id="4"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El procesamiento corre en una cola independiente, sobre copias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Picking e inversión: por hacer</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documento de tesis, 03_diseno.tex (fig. d_servidor_ingesta); drawio, p. 20. Los detalles SHA-256 y AnalysisJob no están en el resumen.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SNR aparente compara la energía después del impacto con la de antes</a:t>
            </a:r>
            <a:endParaRPr lang="en-US" sz="2400" dirty="0"/>
          </a:p>
        </p:txBody>
      </p:sp>
      <p:sp>
        <p:nvSpPr>
          <p:cNvPr id="3" name="Fondo E_snr"/>
          <p:cNvSpPr/>
          <p:nvPr/>
        </p:nvSpPr>
        <p:spPr>
          <a:xfrm>
            <a:off x="457200" y="118872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SNR</m:t>
                          </m:r>
                        </m:e>
                        <m:sub>
                          <m:r>
                            <a:rPr lang="es-ES" sz="2600" i="1">
                              <a:solidFill>
                                <a:srgbClr val="1F4E79"/>
                              </a:solidFill>
                              <a:latin typeface="Cambria Math" panose="02040503050406030204" pitchFamily="18" charset="0"/>
                            </a:rPr>
                            <m:t xml:space="preserve">ap</m:t>
                          </m:r>
                        </m:sub>
                      </m:sSub>
                      <m:r>
                        <a:rPr lang="es-ES" sz="2600" i="1">
                          <a:solidFill>
                            <a:srgbClr val="1F4E79"/>
                          </a:solidFill>
                          <a:latin typeface="Cambria Math" panose="02040503050406030204" pitchFamily="18" charset="0"/>
                        </a:rPr>
                        <m:t xml:space="preserve">(f)=10·log</m:t>
                      </m:r>
                      <m:r>
                        <a:rPr lang="es-ES" sz="2600" i="1">
                          <a:solidFill>
                            <a:srgbClr val="1F4E79"/>
                          </a:solidFill>
                          <a:latin typeface="Cambria Math" panose="02040503050406030204" pitchFamily="18" charset="0"/>
                        </a:rPr>
                        <m:t xml:space="preserve">(</m:t>
                      </m:r>
                      <m:f>
                        <m:fPr>
                          <m:ctrlPr>
                            <a:rPr lang="es-ES" sz="2600" i="1">
                              <a:latin typeface="Cambria Math" panose="02040503050406030204" pitchFamily="18" charset="0"/>
                            </a:rPr>
                          </m:ctrlPr>
                        </m:fPr>
                        <m:num>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post</m:t>
                              </m:r>
                            </m:sub>
                          </m:sSub>
                          <m:r>
                            <a:rPr lang="es-ES" sz="2600" i="1">
                              <a:solidFill>
                                <a:srgbClr val="1F4E79"/>
                              </a:solidFill>
                              <a:latin typeface="Cambria Math" panose="02040503050406030204" pitchFamily="18" charset="0"/>
                            </a:rPr>
                            <m:t xml:space="preserve">(f)</m:t>
                          </m:r>
                        </m:num>
                        <m:den>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pre</m:t>
                              </m:r>
                            </m:sub>
                          </m:sSub>
                          <m:r>
                            <a:rPr lang="es-ES" sz="2600" i="1">
                              <a:solidFill>
                                <a:srgbClr val="1F4E79"/>
                              </a:solidFill>
                              <a:latin typeface="Cambria Math" panose="02040503050406030204" pitchFamily="18" charset="0"/>
                            </a:rPr>
                            <m:t xml:space="preserve">(f)</m:t>
                          </m:r>
                        </m:den>
                      </m:f>
                      <m:r>
                        <a:rPr lang="es-ES" sz="2600" i="1">
                          <a:solidFill>
                            <a:srgbClr val="1F4E79"/>
                          </a:solidFill>
                          <a:latin typeface="Cambria Math" panose="02040503050406030204" pitchFamily="18" charset="0"/>
                        </a:rPr>
                        <m:t xml:space="preserve">)</m:t>
                      </m:r>
                    </m:oMath>
                  </m:oMathPara>
                </a14:m>
                <a:endParaRPr lang="es-ES"/>
              </a:p>
            </p:txBody>
          </p:sp>
        </mc:Choice>
        <mc:Fallback>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SNRap(f) = 10·log10( Ppost(f) / Ppre(f) )</a:t>
                </a:r>
                <a:endParaRPr lang="en-US" sz="2400" dirty="0"/>
              </a:p>
            </p:txBody>
          </p:sp>
        </mc:Fallback>
      </mc:AlternateContent>
      <p:sp>
        <p:nvSpPr>
          <p:cNvPr id="5" name="Cuerpo"/>
          <p:cNvSpPr txBox="1"/>
          <p:nvPr/>
        </p:nvSpPr>
        <p:spPr>
          <a:xfrm>
            <a:off x="457200" y="228600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500" dirty="0"/>
          </a:p>
        </p:txBody>
      </p:sp>
      <p:sp>
        <p:nvSpPr>
          <p:cNvPr id="6"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7" name="Text 5"/>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ec. 19.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10 Hz la señal apenas se distingue del ruido; arriba, la SNR es alta</a:t>
            </a:r>
            <a:endParaRPr lang="en-US" sz="2400" dirty="0"/>
          </a:p>
        </p:txBody>
      </p:sp>
      <p:pic>
        <p:nvPicPr>
          <p:cNvPr id="3" name="Espectro y SNR aparente"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365760" y="1188720"/>
            <a:ext cx="4297680" cy="3104593"/>
          </a:xfrm>
          <a:prstGeom prst="rect">
            <a:avLst/>
          </a:prstGeom>
        </p:spPr>
      </p:pic>
      <p:graphicFrame>
        <p:nvGraphicFramePr>
          <p:cNvPr id="108" name="Tabla SNR por banda"/>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1463040"/>
                <a:gridCol w="228600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Banda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SNR aparente (mediana)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1–5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0,5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2,1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10–20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16,7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20–50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24,4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Cuerpo"/>
          <p:cNvSpPr txBox="1"/>
          <p:nvPr/>
        </p:nvSpPr>
        <p:spPr>
          <a:xfrm>
            <a:off x="4937760" y="29260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Ninguna distancia superó 10 dB de mediana bajo 10 Hz</a:t>
            </a:r>
            <a:endParaRPr lang="en-US" sz="13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fig. 17a.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 se puede atribuir la baja SNR a un solo elemento: cómo separar las causas</a:t>
            </a:r>
            <a:endParaRPr lang="en-US" sz="2400" dirty="0"/>
          </a:p>
        </p:txBody>
      </p:sp>
      <p:sp>
        <p:nvSpPr>
          <p:cNvPr id="3" name="Cabecera Fuent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Fuente</a:t>
            </a:r>
            <a:endParaRPr lang="en-US" sz="1500" dirty="0"/>
          </a:p>
        </p:txBody>
      </p:sp>
      <p:sp>
        <p:nvSpPr>
          <p:cNvPr id="5" name="Tarjeta Fuente"/>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la maza manual entrega poca energía bajo 10 Hz</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250" dirty="0"/>
          </a:p>
        </p:txBody>
      </p:sp>
      <p:sp>
        <p:nvSpPr>
          <p:cNvPr id="7" name="Cabecera Acople y terreno"/>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Acople y terreno</a:t>
            </a:r>
            <a:endParaRPr lang="en-US" sz="1500" dirty="0"/>
          </a:p>
        </p:txBody>
      </p:sp>
      <p:sp>
        <p:nvSpPr>
          <p:cNvPr id="9" name="Tarjeta Acople y terreno"/>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ruido ambiente o acople del geófono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250" dirty="0"/>
          </a:p>
        </p:txBody>
      </p:sp>
      <p:sp>
        <p:nvSpPr>
          <p:cNvPr id="11" name="Cabecera Geófono y electrónic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Geófono y electrónica</a:t>
            </a:r>
            <a:endParaRPr lang="en-US" sz="1500" dirty="0"/>
          </a:p>
        </p:txBody>
      </p:sp>
      <p:sp>
        <p:nvSpPr>
          <p:cNvPr id="13" name="Tarjeta Geófono y electrónica"/>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25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y 5. Las pruebas de acople y de entrada terminada son propuestas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Qué está demostrado y qué falta, por nivel de evidencia</a:t>
            </a:r>
            <a:endParaRPr lang="en-US" sz="2400" dirty="0"/>
          </a:p>
        </p:txBody>
      </p:sp>
      <p:graphicFrame>
        <p:nvGraphicFramePr>
          <p:cNvPr id="110" name="Tabla de evidencia"/>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91840"/>
                <a:gridCol w="310896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Qué falta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Geófono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Modelo con parámetros nominales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Respuesta extremo a extremo en bajas frecuencias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AFE PGA–ADC</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barridos de magnitud y fase contra el modelo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Extensión al conjunto con el geófono: hoy es predicción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Calibración de offset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converge, por configuración de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Variación con el tiempo y las condiciones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Sincronización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Parcial: flancos GPIO, 3 nodos, 200–400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Inicio efectivo del ADC y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21 posiciones secuenciales con un receptor móvil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Adquisición simultánea; fuente más repetible; SNR bajo 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Dispersión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 hacer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Curvas, modos, perfil Vs y contraste con SPT o con el SEV 01</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Verde: medido. Naranja: modelo o medición parcial. Rojo: pendiente.</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4.10 y 5; documento de tesis, 08_trabajos_futuros.tex (SEV 01 y SPT).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Trabajo futuro: cinco pasos desde la adquisición hacia la caracterización del suelo</a:t>
            </a:r>
            <a:endParaRPr lang="en-US" sz="2400" dirty="0"/>
          </a:p>
        </p:txBody>
      </p:sp>
      <p:graphicFrame>
        <p:nvGraphicFramePr>
          <p:cNvPr id="111" name="Tabla de trabajo futuro"/>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0"/>
                <a:gridCol w="457200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Excitador de mayor energía y repetibilidad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Medir el inicio efectivo del ADC y la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Caracterizar el offset residual en el tiempo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Precisar el margen dinámico de cada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Más nodos GEO y adquisición simultánea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Acercarse al MASW convencional (depende de financiamiento)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Curvas de dispersión, modos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Pasar de verificar la adquisición a estimar Vs con la profundidad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5;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ESP-NOW no alcanza, UWB es un candidato fundado, no una prestación disponible</a:t>
            </a:r>
            <a:endParaRPr lang="en-US" sz="2400" dirty="0"/>
          </a:p>
        </p:txBody>
      </p:sp>
      <p:sp>
        <p:nvSpPr>
          <p:cNvPr id="3" name="Cabecera Korsimaa et al., 2025"/>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Korsimaa et al., 2025</a:t>
            </a:r>
            <a:endParaRPr lang="en-US" sz="1400" dirty="0"/>
          </a:p>
        </p:txBody>
      </p:sp>
      <p:sp>
        <p:nvSpPr>
          <p:cNvPr id="5" name="Tarjeta Korsimaa et al., 2025"/>
          <p:cNvSpPr/>
          <p:nvPr/>
        </p:nvSpPr>
        <p:spPr>
          <a:xfrm>
            <a:off x="457200" y="1600200"/>
            <a:ext cx="2560320" cy="18288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300" dirty="0"/>
          </a:p>
        </p:txBody>
      </p:sp>
      <p:sp>
        <p:nvSpPr>
          <p:cNvPr id="7" name="Cabecera Wicsync (Xue, 2021)"/>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Wicsync (Xue, 2021)</a:t>
            </a:r>
            <a:endParaRPr lang="en-US" sz="1400" dirty="0"/>
          </a:p>
        </p:txBody>
      </p:sp>
      <p:sp>
        <p:nvSpPr>
          <p:cNvPr id="9" name="Tarjeta Wicsync (Xue, 2021)"/>
          <p:cNvSpPr/>
          <p:nvPr/>
        </p:nvSpPr>
        <p:spPr>
          <a:xfrm>
            <a:off x="3291840" y="1600200"/>
            <a:ext cx="2560320" cy="182880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300" dirty="0"/>
          </a:p>
        </p:txBody>
      </p:sp>
      <p:sp>
        <p:nvSpPr>
          <p:cNvPr id="11" name="Cabecera Pérez-Solano, 2022"/>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Pérez-Solano, 2022</a:t>
            </a:r>
            <a:endParaRPr lang="en-US" sz="1400" dirty="0"/>
          </a:p>
        </p:txBody>
      </p:sp>
      <p:sp>
        <p:nvSpPr>
          <p:cNvPr id="13" name="Tarjeta Pérez-Solano, 2022"/>
          <p:cNvSpPr/>
          <p:nvPr/>
        </p:nvSpPr>
        <p:spPr>
          <a:xfrm>
            <a:off x="6126480" y="1600200"/>
            <a:ext cx="2560320" cy="182880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300" dirty="0"/>
          </a:p>
        </p:txBody>
      </p:sp>
      <p:sp>
        <p:nvSpPr>
          <p:cNvPr id="15" name="Text 13"/>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400" dirty="0"/>
          </a:p>
        </p:txBody>
      </p:sp>
      <p:sp>
        <p:nvSpPr>
          <p:cNvPr id="16"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17" name="Text 15"/>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400" dirty="0"/>
          </a:p>
        </p:txBody>
      </p:sp>
      <p:sp>
        <p:nvSpPr>
          <p:cNvPr id="1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Korsimaa et al. (2025), HardwareX 24, e00713; Xue et al. (2021), Measurement 183, 109760; Pérez-Solano et al. (2022), Comput. Commun. 186, 80–89;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Riesgo conocido: un rearranque por watchdog puede ocultar una falla de sincronismo</a:t>
            </a:r>
            <a:endParaRPr lang="en-US" sz="2400" dirty="0"/>
          </a:p>
        </p:txBody>
      </p:sp>
      <p:sp>
        <p:nvSpPr>
          <p:cNvPr id="3" name="Cabecera Qué pasa"/>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pasa</a:t>
            </a:r>
            <a:endParaRPr lang="en-US" sz="1500" dirty="0"/>
          </a:p>
        </p:txBody>
      </p:sp>
      <p:sp>
        <p:nvSpPr>
          <p:cNvPr id="5" name="Tarjeta Qué pasa"/>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300" dirty="0"/>
          </a:p>
        </p:txBody>
      </p:sp>
      <p:sp>
        <p:nvSpPr>
          <p:cNvPr id="7" name="Cabecera Por qué impor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Por qué importa</a:t>
            </a:r>
            <a:endParaRPr lang="en-US" sz="1500" dirty="0"/>
          </a:p>
        </p:txBody>
      </p:sp>
      <p:sp>
        <p:nvSpPr>
          <p:cNvPr id="9" name="Tarjeta Por qué importa"/>
          <p:cNvSpPr/>
          <p:nvPr/>
        </p:nvSpPr>
        <p:spPr>
          <a:xfrm>
            <a:off x="3291840" y="1600200"/>
            <a:ext cx="2560320" cy="246888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300" dirty="0"/>
          </a:p>
        </p:txBody>
      </p:sp>
      <p:sp>
        <p:nvSpPr>
          <p:cNvPr id="11" name="Cabecera Corrección pendiente"/>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Corrección pendiente</a:t>
            </a:r>
            <a:endParaRPr lang="en-US" sz="1500" dirty="0"/>
          </a:p>
        </p:txBody>
      </p:sp>
      <p:sp>
        <p:nvSpPr>
          <p:cNvPr id="13" name="Tarjeta Corrección pendiente"/>
          <p:cNvSpPr/>
          <p:nvPr/>
        </p:nvSpPr>
        <p:spPr>
          <a:xfrm>
            <a:off x="6126480" y="1600200"/>
            <a:ext cx="2560320" cy="246888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30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08_trabajos_futuros.tex (sincronización). No figura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(1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Lista a completar y verificar contra los PDF: faltan por confirmar las fuentes marcadas “por confirmar” en las slides.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(2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Sensor Nederland B.V. (2006). SM-24 Geophone Element. Product brochure.</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Tailscale Inc. (2026). What is Tailscale? Documentación técnica.</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Faltan: Pazos et al. (2005), Hakimitoroghi et al. (2017), Zhang (2025), Álvarez, González y Vargas (URUCON), Texas Instruments (ΔΣ), Wood y Cox (2012), Comina et al. (2011), Socco y Strobbia (2004), Xia et al. (1999).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2026-10-13T07:15:33Z</dcterms:created>
  <dcterms:modified xsi:type="dcterms:W3CDTF">2026-10-13T07:15:33Z</dcterms:modified>
</cp:coreProperties>
</file>