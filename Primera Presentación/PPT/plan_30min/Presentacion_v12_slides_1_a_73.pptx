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5.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B6B6B"/>
                    </a:solidFill>
                    <a:latin typeface="Arial"/>
                  </a:defRPr>
                </a:pPr>
                <a:r>
                  <a:rPr sz="11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1100" b="0" i="0" u="none" strike="noStrike">
                    <a:solidFill>
                      <a:srgbClr val="6B6B6B"/>
                    </a:solidFill>
                    <a:latin typeface="Arial"/>
                  </a:defRPr>
                </a:pPr>
                <a:r>
                  <a:rPr sz="11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pedir la fuente del corte interno.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familias de técnicas para mejorar la respuesta de un geófono por debajo de su frecuencia natural. Primera: modificar la carga del sensor; Pazos usa un RC en serie con la resistencia de carga para correr la frecuencia de esquina, y reporta una extensión de unas cuatro veces. Es barato,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los datos de Pazos, Hakimitoroghi y Zhang salen de mis notas; confirmar año y página de cada paper antes de proyectar.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de Ma es distinta: no intentar recuperar un hertz con un inversor de cuarenta decibeles, sino atenuar de forma selectiva la región dominante alrededor de la resonancia y después recuperar el nivel global con ganancia. En la figura, la curva naranja es el geófono solo, con su pico cerca de diez hertz. La gris punteada es la respuesta compensada, mucho más baja pero plana. Y la azul es esa misma respuesta con la ganancia aplicada. A un hertz pasamos de menos veinte decibeles a cero. Ma y colaboradores reportan una respuesta plana entre uno y cien hertz y diecisiete coma cincuenta y dos decibeles más de SNR a diez hertz frente al método cero polo, con su geófono JF-20DX. Atención: la figura es un modelo ideal, con el amortiguamiento ζ uno de nuestro diseño, cerca de 938. No es una medición. Nota para mí: figura mía, regenerable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Su única desventaja es la pérdida de ganancia, que requiere más ganancia en la cadena, y la vamos a redistribuir entre las etapas de la mejor manera posible. Nota para mí: lo de estabilidad y ruido es una inferencia mía a partir del esquema; confirmarlo en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Y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usa un pasabanda Sallen-Key. Nosotros usamos un amplificador inversor, con Z f sobre Z in: un polo en la entrada, formado por R in y C in, y otro en la realimentación, formado por R f y C f. Cada quiebre depende de un solo par RC, así que f bajo y f alto quedan desacoplados, y como en el diseño los quiebres están muy separados el factor de calidad requerido es bajo. Un Sallen-Key no aporta nada en ese régimen y reparte cada polo entre más componentes, que es una desventaja frente a las tolerancias. En los experimentos esto dio mejores resultados. Atención: la menor sensibilidad a tolerancias es un argumento analítico y una observación experimental; si preguntan, tener a mano un análisis de sensibilidad o el barrido Monte 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de unos 393 hertz, sin sumar etapas. Nota para mí: el valor de 393 hertz sale del documento de 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antialias usamos un filtro de realimentación múltiple, o MFB. El polo real del sumador más el par conjugado del MFB, con frecuencia de 300 hertz y amortiguamiento de 0,691, forman un antialias Bessel de tercer orden con un solo componente más. Elegimos Bessel por su fase aproximadamente lineal. Y elegimos MFB y no Sallen-Key porque atenúa mejor en alta frecuencia: el Sallen-Key puede repuntar cuando el operacional pierde ganancia de lazo, y los operacionales del PSoC no son precisamente los mejores. Nota para mí: el argumento del repunte sale de la sección de topologías del documento de 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de fondo.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la de suma y la de pasa-bajos cruzan hacia cero. El residuo de 0,24 volts del PGA corresponde a la banda muerta elegida, de unos más menos 288 milivolts, no a una inestabilidad del controlador. Pendiente: la figura tiene el eje en inglés; traducir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en la salida del pasa-bajos, que es la entrada del ADC. Sin calibrar, el offset residual iba de 2,9 a 45,8 por ciento del fondo de escala según la configuración; con la calibración, de 0,4 a 3,9. Se probó en dos placas y ocho configuraciones de placa y ganancia. Si preguntan por el alcance: es una prueba de factibilidad con dos placas, con diez reinicios pareados y un test del signo, y los detalles estadísticos están en el resumen. Nota para mí: las cifras salen del artículo y del documento de tesis, no del resumen firmado; verificar contra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ρ suele variar poco en comparación con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Vs(z),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 Variación de ρ: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(ρ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pic>
        <p:nvPicPr>
          <p:cNvPr id="3" name="Arquitectura" descr="Arquitectura del sistema: navegador, maestro ESP32, nodos GEO y nodo HAMMER, cada uno con ESP32 y PSoC 5LP">    </p:cNvPr>
          <p:cNvPicPr>
            <a:picLocks noChangeAspect="1"/>
          </p:cNvPicPr>
          <p:nvPr/>
        </p:nvPicPr>
        <p:blipFill>
          <a:blip r:embed="rId1"/>
          <a:stretch>
            <a:fillRect/>
          </a:stretch>
        </p:blipFill>
        <p:spPr>
          <a:xfrm>
            <a:off x="548640" y="1234440"/>
            <a:ext cx="8046720" cy="2951220"/>
          </a:xfrm>
          <a:prstGeom prst="rect">
            <a:avLst/>
          </a:prstGeom>
        </p:spPr>
      </p:pic>
      <p:sp>
        <p:nvSpPr>
          <p:cNvPr id="4" name="Text 1"/>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 y su amortiguamiento depende de la carga</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457200" y="1280160"/>
            <a:ext cx="1691640" cy="169164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240280" y="1280160"/>
            <a:ext cx="2240280" cy="1692242"/>
          </a:xfrm>
          <a:prstGeom prst="rect">
            <a:avLst/>
          </a:prstGeom>
        </p:spPr>
      </p:pic>
      <p:sp>
        <p:nvSpPr>
          <p:cNvPr id="5" name="Cuerpo"/>
          <p:cNvSpPr txBox="1"/>
          <p:nvPr/>
        </p:nvSpPr>
        <p:spPr>
          <a:xfrm>
            <a:off x="4754880" y="1280160"/>
            <a:ext cx="39319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Mide el movimiento vertical del suelo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Frecuencia natural: 10 Hz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Sensibilidad: 28,8 V·s/m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En circuito abierto: ζ ≈ 0,25; con 1339 Ω de carga: ζ = 0,60</a:t>
            </a:r>
            <a:endParaRPr lang="en-US" sz="1400" dirty="0"/>
          </a:p>
        </p:txBody>
      </p:sp>
      <p:sp>
        <p:nvSpPr>
          <p:cNvPr id="6" name="Fondo E_zeta"/>
          <p:cNvSpPr/>
          <p:nvPr/>
        </p:nvSpPr>
        <p:spPr>
          <a:xfrm>
            <a:off x="457200" y="32461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8" name="Text 4"/>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hoja de datos SM-24; resumen firmado, sec. 4.2, ec. (8). Imágenes: origen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Existen cuatro familias de técnicas para mejorar la respuesta en baja frecuencia de un geófono</a:t>
            </a:r>
            <a:endParaRPr lang="en-US" sz="2400" dirty="0"/>
          </a:p>
        </p:txBody>
      </p:sp>
      <p:sp>
        <p:nvSpPr>
          <p:cNvPr id="3" name="Cabecera Modificar la carga del sensor"/>
          <p:cNvSpPr/>
          <p:nvPr/>
        </p:nvSpPr>
        <p:spPr>
          <a:xfrm>
            <a:off x="457200" y="1325880"/>
            <a:ext cx="1965960" cy="777240"/>
          </a:xfrm>
          <a:prstGeom prst="rect">
            <a:avLst/>
          </a:prstGeom>
          <a:solidFill>
            <a:srgbClr val="6B6B6B"/>
          </a:solidFill>
          <a:ln w="12700">
            <a:solidFill>
              <a:srgbClr val="6B6B6B"/>
            </a:solidFill>
            <a:prstDash val="solid"/>
          </a:ln>
        </p:spPr>
      </p:sp>
      <p:sp>
        <p:nvSpPr>
          <p:cNvPr id="4" name="Text 2"/>
          <p:cNvSpPr txBox="1"/>
          <p:nvPr/>
        </p:nvSpPr>
        <p:spPr>
          <a:xfrm>
            <a:off x="50292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carga del sensor</a:t>
            </a:r>
            <a:endParaRPr lang="en-US" sz="1300" dirty="0"/>
          </a:p>
        </p:txBody>
      </p:sp>
      <p:sp>
        <p:nvSpPr>
          <p:cNvPr id="5" name="Tarjeta Modificar la carga del sensor"/>
          <p:cNvSpPr/>
          <p:nvPr/>
        </p:nvSpPr>
        <p:spPr>
          <a:xfrm>
            <a:off x="457200" y="2103120"/>
            <a:ext cx="1965960" cy="1965960"/>
          </a:xfrm>
          <a:prstGeom prst="rect">
            <a:avLst/>
          </a:prstGeom>
          <a:solidFill>
            <a:srgbClr val="FFFFFF"/>
          </a:solidFill>
          <a:ln w="19050">
            <a:solidFill>
              <a:srgbClr val="6B6B6B"/>
            </a:solidFill>
            <a:prstDash val="solid"/>
          </a:ln>
        </p:spPr>
      </p:sp>
      <p:sp>
        <p:nvSpPr>
          <p:cNvPr id="6" name="Text 4"/>
          <p:cNvSpPr txBox="1"/>
          <p:nvPr/>
        </p:nvSpPr>
        <p:spPr>
          <a:xfrm>
            <a:off x="56692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Un RC en serie con la carga desplaza la frecuencia de esquina. Pazos reporta una extensión de unas ×4. Es barato y elegante, pero de alcance limitado.</a:t>
            </a:r>
            <a:endParaRPr lang="en-US" sz="1200" dirty="0"/>
          </a:p>
        </p:txBody>
      </p:sp>
      <p:sp>
        <p:nvSpPr>
          <p:cNvPr id="7" name="Cabecera Compensación inversa (cero–polo)"/>
          <p:cNvSpPr/>
          <p:nvPr/>
        </p:nvSpPr>
        <p:spPr>
          <a:xfrm>
            <a:off x="2560320" y="1325880"/>
            <a:ext cx="1965960" cy="777240"/>
          </a:xfrm>
          <a:prstGeom prst="rect">
            <a:avLst/>
          </a:prstGeom>
          <a:solidFill>
            <a:srgbClr val="6B6B6B"/>
          </a:solidFill>
          <a:ln w="12700">
            <a:solidFill>
              <a:srgbClr val="6B6B6B"/>
            </a:solidFill>
            <a:prstDash val="solid"/>
          </a:ln>
        </p:spPr>
      </p:sp>
      <p:sp>
        <p:nvSpPr>
          <p:cNvPr id="8" name="Text 6"/>
          <p:cNvSpPr txBox="1"/>
          <p:nvPr/>
        </p:nvSpPr>
        <p:spPr>
          <a:xfrm>
            <a:off x="260604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Compensación inversa (cero–polo)</a:t>
            </a:r>
            <a:endParaRPr lang="en-US" sz="1300" dirty="0"/>
          </a:p>
        </p:txBody>
      </p:sp>
      <p:sp>
        <p:nvSpPr>
          <p:cNvPr id="9" name="Tarjeta Compensación inversa (cero–polo)"/>
          <p:cNvSpPr/>
          <p:nvPr/>
        </p:nvSpPr>
        <p:spPr>
          <a:xfrm>
            <a:off x="2560320" y="2103120"/>
            <a:ext cx="1965960" cy="1965960"/>
          </a:xfrm>
          <a:prstGeom prst="rect">
            <a:avLst/>
          </a:prstGeom>
          <a:solidFill>
            <a:srgbClr val="FFFFFF"/>
          </a:solidFill>
          <a:ln w="19050">
            <a:solidFill>
              <a:srgbClr val="6B6B6B"/>
            </a:solidFill>
            <a:prstDash val="solid"/>
          </a:ln>
        </p:spPr>
      </p:sp>
      <p:sp>
        <p:nvSpPr>
          <p:cNvPr id="10" name="Text 8"/>
          <p:cNvSpPr txBox="1"/>
          <p:nvPr/>
        </p:nvSpPr>
        <p:spPr>
          <a:xfrm>
            <a:off x="267004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200" dirty="0"/>
          </a:p>
        </p:txBody>
      </p:sp>
      <p:sp>
        <p:nvSpPr>
          <p:cNvPr id="11" name="Cabecera Resistencia negativa y balance de fuerza"/>
          <p:cNvSpPr/>
          <p:nvPr/>
        </p:nvSpPr>
        <p:spPr>
          <a:xfrm>
            <a:off x="4663440" y="1325880"/>
            <a:ext cx="1965960" cy="777240"/>
          </a:xfrm>
          <a:prstGeom prst="rect">
            <a:avLst/>
          </a:prstGeom>
          <a:solidFill>
            <a:srgbClr val="6B6B6B"/>
          </a:solidFill>
          <a:ln w="12700">
            <a:solidFill>
              <a:srgbClr val="6B6B6B"/>
            </a:solidFill>
            <a:prstDash val="solid"/>
          </a:ln>
        </p:spPr>
      </p:sp>
      <p:sp>
        <p:nvSpPr>
          <p:cNvPr id="12" name="Text 10"/>
          <p:cNvSpPr txBox="1"/>
          <p:nvPr/>
        </p:nvSpPr>
        <p:spPr>
          <a:xfrm>
            <a:off x="470916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Resistencia negativa y balance de fuerza</a:t>
            </a:r>
            <a:endParaRPr lang="en-US" sz="1300" dirty="0"/>
          </a:p>
        </p:txBody>
      </p:sp>
      <p:sp>
        <p:nvSpPr>
          <p:cNvPr id="13" name="Tarjeta Resistencia negativa y balance de fuerza"/>
          <p:cNvSpPr/>
          <p:nvPr/>
        </p:nvSpPr>
        <p:spPr>
          <a:xfrm>
            <a:off x="4663440" y="2103120"/>
            <a:ext cx="1965960" cy="1965960"/>
          </a:xfrm>
          <a:prstGeom prst="rect">
            <a:avLst/>
          </a:prstGeom>
          <a:solidFill>
            <a:srgbClr val="FFFFFF"/>
          </a:solidFill>
          <a:ln w="19050">
            <a:solidFill>
              <a:srgbClr val="6B6B6B"/>
            </a:solidFill>
            <a:prstDash val="solid"/>
          </a:ln>
        </p:spPr>
      </p:sp>
      <p:sp>
        <p:nvSpPr>
          <p:cNvPr id="14" name="Text 12"/>
          <p:cNvSpPr txBox="1"/>
          <p:nvPr/>
        </p:nvSpPr>
        <p:spPr>
          <a:xfrm>
            <a:off x="477316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200" dirty="0"/>
          </a:p>
        </p:txBody>
      </p:sp>
      <p:sp>
        <p:nvSpPr>
          <p:cNvPr id="15" name="Cabecera Modificar la forma de la respuesta"/>
          <p:cNvSpPr/>
          <p:nvPr/>
        </p:nvSpPr>
        <p:spPr>
          <a:xfrm>
            <a:off x="6766560" y="1325880"/>
            <a:ext cx="1965960" cy="777240"/>
          </a:xfrm>
          <a:prstGeom prst="rect">
            <a:avLst/>
          </a:prstGeom>
          <a:solidFill>
            <a:srgbClr val="2E75B6"/>
          </a:solidFill>
          <a:ln w="12700">
            <a:solidFill>
              <a:srgbClr val="2E75B6"/>
            </a:solidFill>
            <a:prstDash val="solid"/>
          </a:ln>
        </p:spPr>
      </p:sp>
      <p:sp>
        <p:nvSpPr>
          <p:cNvPr id="16" name="Text 14"/>
          <p:cNvSpPr txBox="1"/>
          <p:nvPr/>
        </p:nvSpPr>
        <p:spPr>
          <a:xfrm>
            <a:off x="681228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forma de la respuesta</a:t>
            </a:r>
            <a:endParaRPr lang="en-US" sz="1300" dirty="0"/>
          </a:p>
        </p:txBody>
      </p:sp>
      <p:sp>
        <p:nvSpPr>
          <p:cNvPr id="17" name="Tarjeta Modificar la forma de la respuesta"/>
          <p:cNvSpPr/>
          <p:nvPr/>
        </p:nvSpPr>
        <p:spPr>
          <a:xfrm>
            <a:off x="6766560" y="2103120"/>
            <a:ext cx="1965960" cy="1965960"/>
          </a:xfrm>
          <a:prstGeom prst="rect">
            <a:avLst/>
          </a:prstGeom>
          <a:solidFill>
            <a:srgbClr val="FFFFFF"/>
          </a:solidFill>
          <a:ln w="19050">
            <a:solidFill>
              <a:srgbClr val="2E75B6"/>
            </a:solidFill>
            <a:prstDash val="solid"/>
          </a:ln>
        </p:spPr>
      </p:sp>
      <p:sp>
        <p:nvSpPr>
          <p:cNvPr id="18" name="Text 16"/>
          <p:cNvSpPr txBox="1"/>
          <p:nvPr/>
        </p:nvSpPr>
        <p:spPr>
          <a:xfrm>
            <a:off x="687628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200" dirty="0"/>
          </a:p>
        </p:txBody>
      </p:sp>
      <p:sp>
        <p:nvSpPr>
          <p:cNvPr id="19" name="Text 17"/>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Pazos, «A simple technique to extend the bandwidth of electromagnetic sensors»; Hakimitoroghi et al. (2017); Zhang (2025); Ma et al. (2023). Años y páginas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Invertir la respuesta del sensor exige muchísima ganancia cerca de continua</a:t>
            </a:r>
            <a:endParaRPr lang="en-US" sz="2400" dirty="0"/>
          </a:p>
        </p:txBody>
      </p:sp>
      <p:sp>
        <p:nvSpPr>
          <p:cNvPr id="3" name="Cuerpo"/>
          <p:cNvSpPr txBox="1"/>
          <p:nvPr/>
        </p:nvSpPr>
        <p:spPr>
          <a:xfrm>
            <a:off x="457200" y="1325880"/>
            <a:ext cx="484632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Altísima ganancia cerca de DC</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Offsets y bias pueden llevarla a saturación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Amplifica el ruido de baja frecuencia fuera de banda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800" dirty="0"/>
          </a:p>
        </p:txBody>
      </p:sp>
      <p:sp>
        <p:nvSpPr>
          <p:cNvPr id="4" name="Cabecera ganancia"/>
          <p:cNvSpPr/>
          <p:nvPr/>
        </p:nvSpPr>
        <p:spPr>
          <a:xfrm>
            <a:off x="5669280" y="1371600"/>
            <a:ext cx="3017520" cy="457200"/>
          </a:xfrm>
          <a:prstGeom prst="rect">
            <a:avLst/>
          </a:prstGeom>
          <a:solidFill>
            <a:srgbClr val="C55A11"/>
          </a:solidFill>
          <a:ln w="12700">
            <a:solidFill>
              <a:srgbClr val="C55A11"/>
            </a:solidFill>
            <a:prstDash val="solid"/>
          </a:ln>
        </p:spPr>
      </p:sp>
      <p:sp>
        <p:nvSpPr>
          <p:cNvPr id="5" name="Text 3"/>
          <p:cNvSpPr txBox="1"/>
          <p:nvPr/>
        </p:nvSpPr>
        <p:spPr>
          <a:xfrm>
            <a:off x="5669280" y="1371600"/>
            <a:ext cx="30175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Ganancia necesaria a 1 Hz</a:t>
            </a:r>
            <a:endParaRPr lang="en-US" sz="1500" dirty="0"/>
          </a:p>
        </p:txBody>
      </p:sp>
      <p:sp>
        <p:nvSpPr>
          <p:cNvPr id="6" name="Tarjeta ganancia"/>
          <p:cNvSpPr/>
          <p:nvPr/>
        </p:nvSpPr>
        <p:spPr>
          <a:xfrm>
            <a:off x="5669280" y="1828800"/>
            <a:ext cx="3017520" cy="1554480"/>
          </a:xfrm>
          <a:prstGeom prst="rect">
            <a:avLst/>
          </a:prstGeom>
          <a:solidFill>
            <a:srgbClr val="FFFFFF"/>
          </a:solidFill>
          <a:ln w="19050">
            <a:solidFill>
              <a:srgbClr val="C55A11"/>
            </a:solidFill>
            <a:prstDash val="solid"/>
          </a:ln>
        </p:spPr>
      </p:sp>
      <p:sp>
        <p:nvSpPr>
          <p:cNvPr id="7" name="Text 5"/>
          <p:cNvSpPr txBox="1"/>
          <p:nvPr/>
        </p:nvSpPr>
        <p:spPr>
          <a:xfrm>
            <a:off x="5669280" y="1874520"/>
            <a:ext cx="3017520" cy="822960"/>
          </a:xfrm>
          <a:prstGeom prst="rect">
            <a:avLst/>
          </a:prstGeom>
          <a:noFill/>
          <a:ln/>
        </p:spPr>
        <p:txBody>
          <a:bodyPr wrap="square" lIns="0" tIns="0" rIns="0" bIns="0" rtlCol="0" anchor="ctr"/>
          <a:lstStyle/>
          <a:p>
            <a:pPr algn="ctr" indent="0" marL="0">
              <a:buNone/>
            </a:pPr>
            <a:r>
              <a:rPr lang="en-US" sz="3600" b="1" dirty="0">
                <a:solidFill>
                  <a:srgbClr val="C55A11"/>
                </a:solidFill>
                <a:latin typeface="Arial" pitchFamily="34" charset="0"/>
                <a:ea typeface="Arial" pitchFamily="34" charset="-122"/>
                <a:cs typeface="Arial" pitchFamily="34" charset="-120"/>
              </a:rPr>
              <a:t>≈ +40 dB</a:t>
            </a:r>
            <a:endParaRPr lang="en-US" sz="3600" dirty="0"/>
          </a:p>
        </p:txBody>
      </p:sp>
      <p:sp>
        <p:nvSpPr>
          <p:cNvPr id="8" name="Text 6"/>
          <p:cNvSpPr txBox="1"/>
          <p:nvPr/>
        </p:nvSpPr>
        <p:spPr>
          <a:xfrm>
            <a:off x="5806440" y="2697480"/>
            <a:ext cx="2743200" cy="64008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respecto de la zona plana (modelo del SM-24, ζ = 0,25, referido a velocidad)</a:t>
            </a:r>
            <a:endParaRPr lang="en-US" sz="1200" dirty="0"/>
          </a:p>
        </p:txBody>
      </p:sp>
      <p:sp>
        <p:nvSpPr>
          <p:cNvPr id="9" name="Text 7"/>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4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Hakimitoroghi et al. (2017); modelo propio (slide 54).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2400" dirty="0"/>
          </a:p>
        </p:txBody>
      </p:sp>
      <p:sp>
        <p:nvSpPr>
          <p:cNvPr id="3" name="Fondo E_zeta2"/>
          <p:cNvSpPr/>
          <p:nvPr/>
        </p:nvSpPr>
        <p:spPr>
          <a:xfrm>
            <a:off x="457200" y="1325880"/>
            <a:ext cx="8229600" cy="8686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e>
                            <m:sup>
                              <m:r>
                                <a:rPr lang="es-ES" sz="2400" i="1">
                                  <a:solidFill>
                                    <a:srgbClr val="1F4E79"/>
                                  </a:solidFill>
                                  <a:latin typeface="Cambria Math" panose="02040503050406030204" pitchFamily="18" charset="0"/>
                                </a:rPr>
                                <m:t xml:space="preserve">2</m:t>
                              </m:r>
                            </m:sup>
                          </m:sSup>
                        </m:num>
                        <m:den>
                          <m:r>
                            <a:rPr lang="es-ES" sz="2400" i="1">
                              <a:solidFill>
                                <a:srgbClr val="1F4E79"/>
                              </a:solidFill>
                              <a:latin typeface="Cambria Math" panose="02040503050406030204" pitchFamily="18" charset="0"/>
                            </a:rPr>
                            <m:t xml:space="preserve">2m</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L</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ζ0 + G0² / (2mωn(Ri + RL))</a:t>
                </a:r>
                <a:endParaRPr lang="en-US" sz="2400" dirty="0"/>
              </a:p>
            </p:txBody>
          </p:sp>
        </mc:Fallback>
      </mc:AlternateContent>
      <p:sp>
        <p:nvSpPr>
          <p:cNvPr id="5" name="Cuerpo"/>
          <p:cNvSpPr txBox="1"/>
          <p:nvPr/>
        </p:nvSpPr>
        <p:spPr>
          <a:xfrm>
            <a:off x="457200" y="2377440"/>
            <a:ext cx="82296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lazo activo interactúa directamente con el transductor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600" dirty="0"/>
          </a:p>
        </p:txBody>
      </p:sp>
      <p:sp>
        <p:nvSpPr>
          <p:cNvPr id="6" name="Text 4"/>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circuito de resistencia negativa; resumen firmado, sec. 4.2, ec. (8).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idea de Ma et al.: no levantar el fondo, bajar el pico</a:t>
            </a:r>
            <a:endParaRPr lang="en-US" sz="2400" dirty="0"/>
          </a:p>
        </p:txBody>
      </p:sp>
      <p:pic>
        <p:nvPicPr>
          <p:cNvPr id="3" name="Curvas del compensador" descr="Respuesta referida a aceleración: geófono solo, compensado sin ganancia y compensado con ganancia">    </p:cNvPr>
          <p:cNvPicPr>
            <a:picLocks noChangeAspect="1"/>
          </p:cNvPicPr>
          <p:nvPr/>
        </p:nvPicPr>
        <p:blipFill>
          <a:blip r:embed="rId1"/>
          <a:stretch>
            <a:fillRect/>
          </a:stretch>
        </p:blipFill>
        <p:spPr>
          <a:xfrm>
            <a:off x="365760" y="1234440"/>
            <a:ext cx="5120640" cy="2906309"/>
          </a:xfrm>
          <a:prstGeom prst="rect">
            <a:avLst/>
          </a:prstGeom>
        </p:spPr>
      </p:pic>
      <p:sp>
        <p:nvSpPr>
          <p:cNvPr id="4" name="Cuerpo"/>
          <p:cNvSpPr txBox="1"/>
          <p:nvPr/>
        </p:nvSpPr>
        <p:spPr>
          <a:xfrm>
            <a:off x="5669280" y="1325880"/>
            <a:ext cx="301752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Se atenúa la zona de la resonancia</a:t>
            </a:r>
            <a:endParaRPr lang="en-US" sz="1400" dirty="0"/>
          </a:p>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Después se recupera el nivel con ganancia global</a:t>
            </a:r>
            <a:endParaRPr lang="en-US" sz="1400" dirty="0"/>
          </a:p>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Ma et al.: respuesta plana de 1 a 100 Hz y +17,52 dB de SNR a 10 Hz frente a cero–polo (geófono JF-20DX)</a:t>
            </a:r>
            <a:endParaRPr lang="en-US" sz="1400" dirty="0"/>
          </a:p>
        </p:txBody>
      </p:sp>
      <p:sp>
        <p:nvSpPr>
          <p:cNvPr id="5" name="Text 2"/>
          <p:cNvSpPr txBox="1"/>
          <p:nvPr/>
        </p:nvSpPr>
        <p:spPr>
          <a:xfrm>
            <a:off x="457200" y="4224528"/>
            <a:ext cx="5120640" cy="27432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Modelo ideal del SM-24 con ζ1 ≈ 938, no una medición</a:t>
            </a:r>
            <a:endParaRPr lang="en-US" sz="12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(03b_topologias.tex); curvas propias a partir del modelo.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el método de Ma et al. porque es estable, simple y no amplifica ruido</a:t>
            </a:r>
            <a:endParaRPr lang="en-US" sz="2400" dirty="0"/>
          </a:p>
        </p:txBody>
      </p:sp>
      <p:sp>
        <p:nvSpPr>
          <p:cNvPr id="3" name="Cabecera Estable"/>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50292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Estable</a:t>
            </a:r>
            <a:endParaRPr lang="en-US" sz="1700" dirty="0"/>
          </a:p>
        </p:txBody>
      </p:sp>
      <p:sp>
        <p:nvSpPr>
          <p:cNvPr id="5" name="Tarjeta Estable"/>
          <p:cNvSpPr/>
          <p:nvPr/>
        </p:nvSpPr>
        <p:spPr>
          <a:xfrm>
            <a:off x="457200" y="1874520"/>
            <a:ext cx="2651760" cy="1371600"/>
          </a:xfrm>
          <a:prstGeom prst="rect">
            <a:avLst/>
          </a:prstGeom>
          <a:solidFill>
            <a:srgbClr val="FFFFFF"/>
          </a:solidFill>
          <a:ln w="19050">
            <a:solidFill>
              <a:srgbClr val="1F4E79"/>
            </a:solidFill>
            <a:prstDash val="solid"/>
          </a:ln>
        </p:spPr>
      </p:sp>
      <p:sp>
        <p:nvSpPr>
          <p:cNvPr id="6" name="Text 4"/>
          <p:cNvSpPr txBox="1"/>
          <p:nvPr/>
        </p:nvSpPr>
        <p:spPr>
          <a:xfrm>
            <a:off x="56692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400" dirty="0"/>
          </a:p>
        </p:txBody>
      </p:sp>
      <p:sp>
        <p:nvSpPr>
          <p:cNvPr id="7" name="Cabecera Simple"/>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Simple</a:t>
            </a:r>
            <a:endParaRPr lang="en-US" sz="1700" dirty="0"/>
          </a:p>
        </p:txBody>
      </p:sp>
      <p:sp>
        <p:nvSpPr>
          <p:cNvPr id="9" name="Tarjeta Simple"/>
          <p:cNvSpPr/>
          <p:nvPr/>
        </p:nvSpPr>
        <p:spPr>
          <a:xfrm>
            <a:off x="3246120" y="1874520"/>
            <a:ext cx="2651760" cy="1371600"/>
          </a:xfrm>
          <a:prstGeom prst="rect">
            <a:avLst/>
          </a:prstGeom>
          <a:solidFill>
            <a:srgbClr val="FFFFFF"/>
          </a:solidFill>
          <a:ln w="19050">
            <a:solidFill>
              <a:srgbClr val="1F4E79"/>
            </a:solidFill>
            <a:prstDash val="solid"/>
          </a:ln>
        </p:spPr>
      </p:sp>
      <p:sp>
        <p:nvSpPr>
          <p:cNvPr id="10" name="Text 8"/>
          <p:cNvSpPr txBox="1"/>
          <p:nvPr/>
        </p:nvSpPr>
        <p:spPr>
          <a:xfrm>
            <a:off x="335584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Su implementación requiere pocos componentes.</a:t>
            </a:r>
            <a:endParaRPr lang="en-US" sz="1400" dirty="0"/>
          </a:p>
        </p:txBody>
      </p:sp>
      <p:sp>
        <p:nvSpPr>
          <p:cNvPr id="11" name="Cabecera No amplifica ruido"/>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8076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No amplifica ruido</a:t>
            </a:r>
            <a:endParaRPr lang="en-US" sz="1700" dirty="0"/>
          </a:p>
        </p:txBody>
      </p:sp>
      <p:sp>
        <p:nvSpPr>
          <p:cNvPr id="13" name="Tarjeta No amplifica ruido"/>
          <p:cNvSpPr/>
          <p:nvPr/>
        </p:nvSpPr>
        <p:spPr>
          <a:xfrm>
            <a:off x="6035040" y="1874520"/>
            <a:ext cx="2651760" cy="1371600"/>
          </a:xfrm>
          <a:prstGeom prst="rect">
            <a:avLst/>
          </a:prstGeom>
          <a:solidFill>
            <a:srgbClr val="FFFFFF"/>
          </a:solidFill>
          <a:ln w="19050">
            <a:solidFill>
              <a:srgbClr val="1F4E79"/>
            </a:solidFill>
            <a:prstDash val="solid"/>
          </a:ln>
        </p:spPr>
      </p:sp>
      <p:sp>
        <p:nvSpPr>
          <p:cNvPr id="14" name="Text 12"/>
          <p:cNvSpPr txBox="1"/>
          <p:nvPr/>
        </p:nvSpPr>
        <p:spPr>
          <a:xfrm>
            <a:off x="614476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400" dirty="0"/>
          </a:p>
        </p:txBody>
      </p:sp>
      <p:sp>
        <p:nvSpPr>
          <p:cNvPr id="15" name="Fondo desventaja"/>
          <p:cNvSpPr/>
          <p:nvPr/>
        </p:nvSpPr>
        <p:spPr>
          <a:xfrm>
            <a:off x="457200" y="3474720"/>
            <a:ext cx="8229600" cy="822960"/>
          </a:xfrm>
          <a:prstGeom prst="rect">
            <a:avLst/>
          </a:prstGeom>
          <a:solidFill>
            <a:srgbClr val="FBE9DD"/>
          </a:solidFill>
          <a:ln w="12700">
            <a:solidFill>
              <a:srgbClr val="FBE9DD"/>
            </a:solidFill>
            <a:prstDash val="solid"/>
          </a:ln>
        </p:spPr>
      </p:sp>
      <p:sp>
        <p:nvSpPr>
          <p:cNvPr id="16" name="Text 14"/>
          <p:cNvSpPr txBox="1"/>
          <p:nvPr/>
        </p:nvSpPr>
        <p:spPr>
          <a:xfrm>
            <a:off x="594360" y="3474720"/>
            <a:ext cx="7955280" cy="822960"/>
          </a:xfrm>
          <a:prstGeom prst="rect">
            <a:avLst/>
          </a:prstGeom>
          <a:noFill/>
          <a:ln/>
        </p:spPr>
        <p:txBody>
          <a:bodyPr wrap="square" lIns="0" tIns="0" rIns="0" bIns="0" rtlCol="0" anchor="ctr"/>
          <a:lstStyle/>
          <a:p>
            <a:pPr indent="0" marL="0">
              <a:buNone/>
            </a:pPr>
            <a:r>
              <a:rPr lang="en-US" sz="1600"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600" dirty="0"/>
          </a:p>
        </p:txBody>
      </p:sp>
      <p:sp>
        <p:nvSpPr>
          <p:cNvPr id="1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estabilidad y ruido: inferencia propia a partir del esquema, por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compensador sube el amortiguamiento del conjunto: es un camino directo menos un pasabanda</a:t>
            </a:r>
            <a:endParaRPr lang="en-US" sz="2400" dirty="0"/>
          </a:p>
        </p:txBody>
      </p:sp>
      <p:sp>
        <p:nvSpPr>
          <p:cNvPr id="3" name="Text 1"/>
          <p:cNvSpPr txBox="1"/>
          <p:nvPr/>
        </p:nvSpPr>
        <p:spPr>
          <a:xfrm>
            <a:off x="457200" y="1188720"/>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Buscamos que sensor y compensador tengan amortiguamiento ζ1 &gt; ζ0 con la misma frecuencia natural:</a:t>
            </a:r>
            <a:endParaRPr lang="en-US" sz="1400" dirty="0"/>
          </a:p>
        </p:txBody>
      </p:sp>
      <p:sp>
        <p:nvSpPr>
          <p:cNvPr id="4" name="Fondo E_hc1"/>
          <p:cNvSpPr/>
          <p:nvPr/>
        </p:nvSpPr>
        <p:spPr>
          <a:xfrm>
            <a:off x="457200" y="150876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c1"/>
              <p:cNvSpPr txBox="1"/>
              <p:nvPr/>
            </p:nvSpPr>
            <p:spPr>
              <a:xfrm>
                <a:off x="457200" y="150876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m:rPr>
                              <m:sty m:val="p"/>
                            </m:rPr>
                            <a:rPr lang="es-ES" sz="2400">
                              <a:solidFill>
                                <a:srgbClr val="1F4E79"/>
                              </a:solidFill>
                              <a:latin typeface="Cambria Math" panose="02040503050406030204" pitchFamily="18" charset="0"/>
                            </a:rPr>
                            <m:t xml:space="preserve">comp</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1</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c1"/>
              <p:cNvSpPr txBox="1"/>
              <p:nvPr/>
            </p:nvSpPr>
            <p:spPr>
              <a:xfrm>
                <a:off x="457200" y="150876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(s² + 2ζ0ωn·s + ωn²) / (s² + 2ζ1ωn·s + ωn²)</a:t>
                </a:r>
                <a:endParaRPr lang="en-US" sz="2400" dirty="0"/>
              </a:p>
            </p:txBody>
          </p:sp>
        </mc:Fallback>
      </mc:AlternateContent>
      <p:sp>
        <p:nvSpPr>
          <p:cNvPr id="6" name="Text 4"/>
          <p:cNvSpPr txBox="1"/>
          <p:nvPr/>
        </p:nvSpPr>
        <p:spPr>
          <a:xfrm>
            <a:off x="457200" y="2359152"/>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Separando el término constante:</a:t>
            </a:r>
            <a:endParaRPr lang="en-US" sz="1400" dirty="0"/>
          </a:p>
        </p:txBody>
      </p:sp>
      <p:sp>
        <p:nvSpPr>
          <p:cNvPr id="7" name="Fondo E_hc2"/>
          <p:cNvSpPr/>
          <p:nvPr/>
        </p:nvSpPr>
        <p:spPr>
          <a:xfrm>
            <a:off x="457200" y="2670048"/>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hc2"/>
              <p:cNvSpPr txBox="1"/>
              <p:nvPr/>
            </p:nvSpPr>
            <p:spPr>
              <a:xfrm>
                <a:off x="457200" y="2670048"/>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m:rPr>
                              <m:sty m:val="p"/>
                            </m:rPr>
                            <a:rPr lang="es-ES" sz="2400">
                              <a:solidFill>
                                <a:srgbClr val="1F4E79"/>
                              </a:solidFill>
                              <a:latin typeface="Cambria Math" panose="02040503050406030204" pitchFamily="18" charset="0"/>
                            </a:rPr>
                            <m:t xml:space="preserve">comp</m:t>
                          </m:r>
                        </m:sub>
                      </m:sSub>
                      <m:r>
                        <a:rPr lang="es-ES" sz="2400" i="1">
                          <a:solidFill>
                            <a:srgbClr val="1F4E79"/>
                          </a:solidFill>
                          <a:latin typeface="Cambria Math" panose="02040503050406030204" pitchFamily="18" charset="0"/>
                        </a:rPr>
                        <m:t xml:space="preserve">(s)=1−</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1</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1</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8" name="Ecuación E_hc2"/>
              <p:cNvSpPr txBox="1"/>
              <p:nvPr/>
            </p:nvSpPr>
            <p:spPr>
              <a:xfrm>
                <a:off x="457200" y="2670048"/>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1 − 2(ζ1 − ζ0)ωn·s / (s² + 2ζ1ωn·s + ωn²)</a:t>
                </a:r>
                <a:endParaRPr lang="en-US" sz="2400" dirty="0"/>
              </a:p>
            </p:txBody>
          </p:sp>
        </mc:Fallback>
      </mc:AlternateContent>
      <p:sp>
        <p:nvSpPr>
          <p:cNvPr id="9" name="Text 7"/>
          <p:cNvSpPr txBox="1"/>
          <p:nvPr/>
        </p:nvSpPr>
        <p:spPr>
          <a:xfrm>
            <a:off x="457200" y="3520440"/>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El segundo término es un pasabanda, HBP(s). Con él, el conjunto queda:</a:t>
            </a:r>
            <a:endParaRPr lang="en-US" sz="1400" dirty="0"/>
          </a:p>
        </p:txBody>
      </p:sp>
      <p:sp>
        <p:nvSpPr>
          <p:cNvPr id="10" name="Fondo E_tot"/>
          <p:cNvSpPr/>
          <p:nvPr/>
        </p:nvSpPr>
        <p:spPr>
          <a:xfrm>
            <a:off x="457200" y="3822192"/>
            <a:ext cx="8229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1" name="Ecuación E_tot"/>
              <p:cNvSpPr txBox="1"/>
              <p:nvPr/>
            </p:nvSpPr>
            <p:spPr>
              <a:xfrm>
                <a:off x="457200" y="3822192"/>
                <a:ext cx="8229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m:rPr>
                              <m:sty m:val="p"/>
                            </m:rPr>
                            <a:rPr lang="es-ES" sz="2400">
                              <a:solidFill>
                                <a:srgbClr val="1F4E79"/>
                              </a:solidFill>
                              <a:latin typeface="Cambria Math" panose="02040503050406030204" pitchFamily="18" charset="0"/>
                            </a:rPr>
                            <m:t xml:space="preserve">comp</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1</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11" name="Ecuación E_tot"/>
              <p:cNvSpPr txBox="1"/>
              <p:nvPr/>
            </p:nvSpPr>
            <p:spPr>
              <a:xfrm>
                <a:off x="457200" y="3822192"/>
                <a:ext cx="8229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Ha(s)·Hcomp(s) = −G0·s / (s² + 2ζ1ωn·s + ωn²)</a:t>
                </a:r>
                <a:endParaRPr lang="en-US" sz="2400" dirty="0"/>
              </a:p>
            </p:txBody>
          </p:sp>
        </mc:Fallback>
      </mc:AlternateContent>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ec. (comp-afe); se usan ζ0, ζ1, ωn (en Ma: γ0, γ1, ω0).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Implementación: la ganancia se reparte entre las etapas para recuperar la atenuación del compensador</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Entrada dif.</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 PGA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inversor</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antialias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Cuerpo"/>
          <p:cNvSpPr txBox="1"/>
          <p:nvPr/>
        </p:nvSpPr>
        <p:spPr>
          <a:xfrm>
            <a:off x="457200" y="3246120"/>
            <a:ext cx="822960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Con ζ1 ≈ 938, el compensador atenúa 2ζ1 ≈ 1876 veces: la ganancia lo recupera</a:t>
            </a:r>
            <a:endParaRPr lang="en-US" sz="1500" dirty="0"/>
          </a:p>
        </p:txBody>
      </p:sp>
      <p:sp>
        <p:nvSpPr>
          <p:cNvPr id="2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(acondicionamiento);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entrada es instrumental, con dos operacionales, para rechazar el ruido de red</a:t>
            </a:r>
            <a:endParaRPr lang="en-US" sz="2400" dirty="0"/>
          </a:p>
        </p:txBody>
      </p:sp>
      <p:pic>
        <p:nvPicPr>
          <p:cNvPr id="3" name="Entrada diferencial" descr="Amplificador diferencial de dos operacionales con entradas V1 y V2">    </p:cNvPr>
          <p:cNvPicPr>
            <a:picLocks noChangeAspect="1"/>
          </p:cNvPicPr>
          <p:nvPr/>
        </p:nvPicPr>
        <p:blipFill>
          <a:blip r:embed="rId1"/>
          <a:stretch>
            <a:fillRect/>
          </a:stretch>
        </p:blipFill>
        <p:spPr>
          <a:xfrm>
            <a:off x="365760" y="1280160"/>
            <a:ext cx="4754880" cy="2377440"/>
          </a:xfrm>
          <a:prstGeom prst="rect">
            <a:avLst/>
          </a:prstGeom>
        </p:spPr>
      </p:pic>
      <p:sp>
        <p:nvSpPr>
          <p:cNvPr id="4" name="Cuerpo"/>
          <p:cNvSpPr txBox="1"/>
          <p:nvPr/>
        </p:nvSpPr>
        <p:spPr>
          <a:xfrm>
            <a:off x="5394960" y="137160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ruido de red está muy presente en el geófono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entrada diferencial lo rechaza como señal de modo común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Aporta una ganancia de ×2</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genérico aportado por el autor (fuente por confirmar); ganancia: documento de tesis,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pasabanda es un inversor con dos quiebres desacoplados, en lugar de un Sallen-Key</a:t>
            </a:r>
            <a:endParaRPr lang="en-US" sz="2400" dirty="0"/>
          </a:p>
        </p:txBody>
      </p:sp>
      <p:pic>
        <p:nvPicPr>
          <p:cNvPr id="3" name="Sallen-Key" descr="Filtro pasabanda Sallen-Key con admitancias Y1 a Y5">    </p:cNvPr>
          <p:cNvPicPr>
            <a:picLocks noChangeAspect="1"/>
          </p:cNvPicPr>
          <p:nvPr/>
        </p:nvPicPr>
        <p:blipFill>
          <a:blip r:embed="rId1"/>
          <a:stretch>
            <a:fillRect/>
          </a:stretch>
        </p:blipFill>
        <p:spPr>
          <a:xfrm>
            <a:off x="457200" y="1188720"/>
            <a:ext cx="2834640" cy="2125980"/>
          </a:xfrm>
          <a:prstGeom prst="rect">
            <a:avLst/>
          </a:prstGeom>
        </p:spPr>
      </p:pic>
      <p:pic>
        <p:nvPicPr>
          <p:cNvPr id="4" name="Pasabanda inversor" descr="Amplificador inversor con Cin y Rin en la entrada y Rf en paralelo con Cf en la realimentación">    </p:cNvPr>
          <p:cNvPicPr>
            <a:picLocks noChangeAspect="1"/>
          </p:cNvPicPr>
          <p:nvPr/>
        </p:nvPicPr>
        <p:blipFill>
          <a:blip r:embed="rId2"/>
          <a:stretch>
            <a:fillRect/>
          </a:stretch>
        </p:blipFill>
        <p:spPr>
          <a:xfrm>
            <a:off x="4297680" y="1188720"/>
            <a:ext cx="4389120" cy="2194560"/>
          </a:xfrm>
          <a:prstGeom prst="rect">
            <a:avLst/>
          </a:prstGeom>
        </p:spPr>
      </p:pic>
      <p:sp>
        <p:nvSpPr>
          <p:cNvPr id="5" name="Text 1"/>
          <p:cNvSpPr txBox="1"/>
          <p:nvPr/>
        </p:nvSpPr>
        <p:spPr>
          <a:xfrm>
            <a:off x="457200" y="3383280"/>
            <a:ext cx="2834640" cy="274320"/>
          </a:xfrm>
          <a:prstGeom prst="rect">
            <a:avLst/>
          </a:prstGeom>
          <a:noFill/>
          <a:ln/>
        </p:spPr>
        <p:txBody>
          <a:bodyPr wrap="square" lIns="0" tIns="0" rIns="0" bIns="0" rtlCol="0" anchor="t"/>
          <a:lstStyle/>
          <a:p>
            <a:pPr algn="ctr" indent="0" marL="0">
              <a:buNone/>
            </a:pPr>
            <a:r>
              <a:rPr lang="en-US" sz="1400" b="1" dirty="0">
                <a:solidFill>
                  <a:srgbClr val="6B6B6B"/>
                </a:solidFill>
                <a:latin typeface="Arial" pitchFamily="34" charset="0"/>
                <a:ea typeface="Arial" pitchFamily="34" charset="-122"/>
                <a:cs typeface="Arial" pitchFamily="34" charset="-120"/>
              </a:rPr>
              <a:t>Ma et al.: Sallen-Key</a:t>
            </a:r>
            <a:endParaRPr lang="en-US" sz="1400" dirty="0"/>
          </a:p>
        </p:txBody>
      </p:sp>
      <p:sp>
        <p:nvSpPr>
          <p:cNvPr id="6" name="Text 2"/>
          <p:cNvSpPr txBox="1"/>
          <p:nvPr/>
        </p:nvSpPr>
        <p:spPr>
          <a:xfrm>
            <a:off x="4297680" y="3383280"/>
            <a:ext cx="4389120" cy="274320"/>
          </a:xfrm>
          <a:prstGeom prst="rect">
            <a:avLst/>
          </a:prstGeom>
          <a:noFill/>
          <a:ln/>
        </p:spPr>
        <p:txBody>
          <a:bodyPr wrap="square" lIns="0" tIns="0" rIns="0" bIns="0" rtlCol="0" anchor="t"/>
          <a:lstStyle/>
          <a:p>
            <a:pPr algn="ctr" indent="0" marL="0">
              <a:buNone/>
            </a:pPr>
            <a:r>
              <a:rPr lang="en-US" sz="1400" b="1" dirty="0">
                <a:solidFill>
                  <a:srgbClr val="1F4E79"/>
                </a:solidFill>
                <a:latin typeface="Arial" pitchFamily="34" charset="0"/>
                <a:ea typeface="Arial" pitchFamily="34" charset="-122"/>
                <a:cs typeface="Arial" pitchFamily="34" charset="-120"/>
              </a:rPr>
              <a:t>Este trabajo: inversor, −Zf/Zin</a:t>
            </a:r>
            <a:endParaRPr lang="en-US" sz="1400" dirty="0"/>
          </a:p>
        </p:txBody>
      </p:sp>
      <p:sp>
        <p:nvSpPr>
          <p:cNvPr id="7" name="Text 3"/>
          <p:cNvSpPr txBox="1"/>
          <p:nvPr/>
        </p:nvSpPr>
        <p:spPr>
          <a:xfrm>
            <a:off x="457200" y="3703320"/>
            <a:ext cx="2834640" cy="54864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Cada polo se reparte entre varios componentes</a:t>
            </a:r>
            <a:endParaRPr lang="en-US" sz="1200" dirty="0"/>
          </a:p>
        </p:txBody>
      </p:sp>
      <p:sp>
        <p:nvSpPr>
          <p:cNvPr id="8" name="Fondo E_flow"/>
          <p:cNvSpPr/>
          <p:nvPr/>
        </p:nvSpPr>
        <p:spPr>
          <a:xfrm>
            <a:off x="4297680" y="3703320"/>
            <a:ext cx="2148840" cy="5943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flow"/>
              <p:cNvSpPr txBox="1"/>
              <p:nvPr/>
            </p:nvSpPr>
            <p:spPr>
              <a:xfrm>
                <a:off x="4297680" y="3703320"/>
                <a:ext cx="2148840" cy="5943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f</m:t>
                          </m:r>
                        </m:e>
                        <m:sub>
                          <m:r>
                            <m:rPr>
                              <m:sty m:val="p"/>
                            </m:rPr>
                            <a:rPr lang="es-ES" sz="2000">
                              <a:solidFill>
                                <a:srgbClr val="1F4E79"/>
                              </a:solidFill>
                              <a:latin typeface="Cambria Math" panose="02040503050406030204" pitchFamily="18" charset="0"/>
                            </a:rPr>
                            <m:t xml:space="preserve">low</m:t>
                          </m:r>
                        </m:sub>
                      </m:sSub>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1</m:t>
                          </m:r>
                        </m:num>
                        <m:den>
                          <m:r>
                            <a:rPr lang="es-ES" sz="2000" i="1">
                              <a:solidFill>
                                <a:srgbClr val="1F4E79"/>
                              </a:solidFill>
                              <a:latin typeface="Cambria Math" panose="02040503050406030204" pitchFamily="18" charset="0"/>
                            </a:rPr>
                            <m:t xml:space="preserve">2π</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m:rPr>
                                  <m:sty m:val="p"/>
                                </m:rPr>
                                <a:rPr lang="es-ES" sz="2000">
                                  <a:solidFill>
                                    <a:srgbClr val="1F4E79"/>
                                  </a:solidFill>
                                  <a:latin typeface="Cambria Math" panose="02040503050406030204" pitchFamily="18" charset="0"/>
                                </a:rPr>
                                <m:t xml:space="preserve">in</m:t>
                              </m:r>
                            </m:sub>
                          </m:sSub>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C</m:t>
                              </m:r>
                            </m:e>
                            <m:sub>
                              <m:r>
                                <m:rPr>
                                  <m:sty m:val="p"/>
                                </m:rPr>
                                <a:rPr lang="es-ES" sz="2000">
                                  <a:solidFill>
                                    <a:srgbClr val="1F4E79"/>
                                  </a:solidFill>
                                  <a:latin typeface="Cambria Math" panose="02040503050406030204" pitchFamily="18" charset="0"/>
                                </a:rPr>
                                <m:t xml:space="preserve">in</m:t>
                              </m:r>
                            </m:sub>
                          </m:sSub>
                        </m:den>
                      </m:f>
                    </m:oMath>
                  </m:oMathPara>
                </a14:m>
                <a:endParaRPr lang="es-ES"/>
              </a:p>
            </p:txBody>
          </p:sp>
        </mc:Choice>
        <mc:Fallback>
          <p:sp>
            <p:nvSpPr>
              <p:cNvPr id="9" name="Ecuación E_flow"/>
              <p:cNvSpPr txBox="1"/>
              <p:nvPr/>
            </p:nvSpPr>
            <p:spPr>
              <a:xfrm>
                <a:off x="4297680" y="3703320"/>
                <a:ext cx="2148840" cy="5943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f_low = 1 / (2π Rin Cin)</a:t>
                </a:r>
                <a:endParaRPr lang="en-US" sz="2400" dirty="0"/>
              </a:p>
            </p:txBody>
          </p:sp>
        </mc:Fallback>
      </mc:AlternateContent>
      <p:sp>
        <p:nvSpPr>
          <p:cNvPr id="10" name="Fondo E_fhigh"/>
          <p:cNvSpPr/>
          <p:nvPr/>
        </p:nvSpPr>
        <p:spPr>
          <a:xfrm>
            <a:off x="6537960" y="3703320"/>
            <a:ext cx="2148840" cy="5943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1" name="Ecuación E_fhigh"/>
              <p:cNvSpPr txBox="1"/>
              <p:nvPr/>
            </p:nvSpPr>
            <p:spPr>
              <a:xfrm>
                <a:off x="6537960" y="3703320"/>
                <a:ext cx="2148840" cy="5943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f</m:t>
                          </m:r>
                        </m:e>
                        <m:sub>
                          <m:r>
                            <m:rPr>
                              <m:sty m:val="p"/>
                            </m:rPr>
                            <a:rPr lang="es-ES" sz="2000">
                              <a:solidFill>
                                <a:srgbClr val="1F4E79"/>
                              </a:solidFill>
                              <a:latin typeface="Cambria Math" panose="02040503050406030204" pitchFamily="18" charset="0"/>
                            </a:rPr>
                            <m:t xml:space="preserve">high</m:t>
                          </m:r>
                        </m:sub>
                      </m:sSub>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1</m:t>
                          </m:r>
                        </m:num>
                        <m:den>
                          <m:r>
                            <a:rPr lang="es-ES" sz="2000" i="1">
                              <a:solidFill>
                                <a:srgbClr val="1F4E79"/>
                              </a:solidFill>
                              <a:latin typeface="Cambria Math" panose="02040503050406030204" pitchFamily="18" charset="0"/>
                            </a:rPr>
                            <m:t xml:space="preserve">2π</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m:rPr>
                                  <m:sty m:val="p"/>
                                </m:rPr>
                                <a:rPr lang="es-ES" sz="2000">
                                  <a:solidFill>
                                    <a:srgbClr val="1F4E79"/>
                                  </a:solidFill>
                                  <a:latin typeface="Cambria Math" panose="02040503050406030204" pitchFamily="18" charset="0"/>
                                </a:rPr>
                                <m:t xml:space="preserve">f</m:t>
                              </m:r>
                            </m:sub>
                          </m:sSub>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C</m:t>
                              </m:r>
                            </m:e>
                            <m:sub>
                              <m:r>
                                <m:rPr>
                                  <m:sty m:val="p"/>
                                </m:rPr>
                                <a:rPr lang="es-ES" sz="2000">
                                  <a:solidFill>
                                    <a:srgbClr val="1F4E79"/>
                                  </a:solidFill>
                                  <a:latin typeface="Cambria Math" panose="02040503050406030204" pitchFamily="18" charset="0"/>
                                </a:rPr>
                                <m:t xml:space="preserve">f</m:t>
                              </m:r>
                            </m:sub>
                          </m:sSub>
                        </m:den>
                      </m:f>
                    </m:oMath>
                  </m:oMathPara>
                </a14:m>
                <a:endParaRPr lang="es-ES"/>
              </a:p>
            </p:txBody>
          </p:sp>
        </mc:Choice>
        <mc:Fallback>
          <p:sp>
            <p:nvSpPr>
              <p:cNvPr id="11" name="Ecuación E_fhigh"/>
              <p:cNvSpPr txBox="1"/>
              <p:nvPr/>
            </p:nvSpPr>
            <p:spPr>
              <a:xfrm>
                <a:off x="6537960" y="3703320"/>
                <a:ext cx="2148840" cy="5943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f_high = 1 / (2π Rf Cf)</a:t>
                </a:r>
                <a:endParaRPr lang="en-US" sz="2400" dirty="0"/>
              </a:p>
            </p:txBody>
          </p:sp>
        </mc:Fallback>
      </mc:AlternateContent>
      <p:sp>
        <p:nvSpPr>
          <p:cNvPr id="12" name="Text 8"/>
          <p:cNvSpPr txBox="1"/>
          <p:nvPr/>
        </p:nvSpPr>
        <p:spPr>
          <a:xfrm>
            <a:off x="4297680" y="4315968"/>
            <a:ext cx="4389120" cy="256032"/>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Cada quiebre depende de un solo par RC: menos sensible a las tolerancias</a:t>
            </a:r>
            <a:endParaRPr lang="en-US" sz="12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el pasabanda ya invierte la fase, un sumador reemplaza al amplificador diferencial</a:t>
            </a:r>
            <a:endParaRPr lang="en-US" sz="2400" dirty="0"/>
          </a:p>
        </p:txBody>
      </p:sp>
      <p:pic>
        <p:nvPicPr>
          <p:cNvPr id="3" name="Diferencial de Ma" descr="Amplificador diferencial de un operacional con R1 a R4">    </p:cNvPr>
          <p:cNvPicPr>
            <a:picLocks noChangeAspect="1"/>
          </p:cNvPicPr>
          <p:nvPr/>
        </p:nvPicPr>
        <p:blipFill>
          <a:blip r:embed="rId1"/>
          <a:stretch>
            <a:fillRect/>
          </a:stretch>
        </p:blipFill>
        <p:spPr>
          <a:xfrm>
            <a:off x="457200" y="1188720"/>
            <a:ext cx="2834640" cy="2125980"/>
          </a:xfrm>
          <a:prstGeom prst="rect">
            <a:avLst/>
          </a:prstGeom>
        </p:spPr>
      </p:pic>
      <p:pic>
        <p:nvPicPr>
          <p:cNvPr id="4" name="Sumador inversor" descr="Sumador inversor con Rf en paralelo con Cf">    </p:cNvPr>
          <p:cNvPicPr>
            <a:picLocks noChangeAspect="1"/>
          </p:cNvPicPr>
          <p:nvPr/>
        </p:nvPicPr>
        <p:blipFill>
          <a:blip r:embed="rId2"/>
          <a:stretch>
            <a:fillRect/>
          </a:stretch>
        </p:blipFill>
        <p:spPr>
          <a:xfrm>
            <a:off x="4297680" y="1188720"/>
            <a:ext cx="2834640" cy="2125980"/>
          </a:xfrm>
          <a:prstGeom prst="rect">
            <a:avLst/>
          </a:prstGeom>
        </p:spPr>
      </p:pic>
      <p:sp>
        <p:nvSpPr>
          <p:cNvPr id="5" name="Text 1"/>
          <p:cNvSpPr txBox="1"/>
          <p:nvPr/>
        </p:nvSpPr>
        <p:spPr>
          <a:xfrm>
            <a:off x="457200" y="3383280"/>
            <a:ext cx="3108960" cy="274320"/>
          </a:xfrm>
          <a:prstGeom prst="rect">
            <a:avLst/>
          </a:prstGeom>
          <a:noFill/>
          <a:ln/>
        </p:spPr>
        <p:txBody>
          <a:bodyPr wrap="square" lIns="0" tIns="0" rIns="0" bIns="0" rtlCol="0" anchor="t"/>
          <a:lstStyle/>
          <a:p>
            <a:pPr indent="0" marL="0">
              <a:buNone/>
            </a:pPr>
            <a:r>
              <a:rPr lang="en-US" sz="1400" b="1" dirty="0">
                <a:solidFill>
                  <a:srgbClr val="6B6B6B"/>
                </a:solidFill>
                <a:latin typeface="Arial" pitchFamily="34" charset="0"/>
                <a:ea typeface="Arial" pitchFamily="34" charset="-122"/>
                <a:cs typeface="Arial" pitchFamily="34" charset="-120"/>
              </a:rPr>
              <a:t>Ma et al.: amplificador diferencial</a:t>
            </a:r>
            <a:endParaRPr lang="en-US" sz="1400" dirty="0"/>
          </a:p>
        </p:txBody>
      </p:sp>
      <p:sp>
        <p:nvSpPr>
          <p:cNvPr id="6" name="Text 2"/>
          <p:cNvSpPr txBox="1"/>
          <p:nvPr/>
        </p:nvSpPr>
        <p:spPr>
          <a:xfrm>
            <a:off x="4297680" y="3383280"/>
            <a:ext cx="4389120" cy="274320"/>
          </a:xfrm>
          <a:prstGeom prst="rect">
            <a:avLst/>
          </a:prstGeom>
          <a:noFill/>
          <a:ln/>
        </p:spPr>
        <p:txBody>
          <a:bodyPr wrap="square" lIns="0" tIns="0" rIns="0" bIns="0" rtlCol="0" anchor="t"/>
          <a:lstStyle/>
          <a:p>
            <a:pPr indent="0" marL="0">
              <a:buNone/>
            </a:pPr>
            <a:r>
              <a:rPr lang="en-US" sz="1400" b="1" dirty="0">
                <a:solidFill>
                  <a:srgbClr val="1F4E79"/>
                </a:solidFill>
                <a:latin typeface="Arial" pitchFamily="34" charset="0"/>
                <a:ea typeface="Arial" pitchFamily="34" charset="-122"/>
                <a:cs typeface="Arial" pitchFamily="34" charset="-120"/>
              </a:rPr>
              <a:t>Este trabajo: sumador inversor</a:t>
            </a:r>
            <a:endParaRPr lang="en-US" sz="1400" dirty="0"/>
          </a:p>
        </p:txBody>
      </p:sp>
      <p:sp>
        <p:nvSpPr>
          <p:cNvPr id="7" name="Text 3"/>
          <p:cNvSpPr txBox="1"/>
          <p:nvPr/>
        </p:nvSpPr>
        <p:spPr>
          <a:xfrm>
            <a:off x="457200" y="3703320"/>
            <a:ext cx="3108960" cy="45720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Exige resistencias pareadas</a:t>
            </a:r>
            <a:endParaRPr lang="en-US" sz="1300" dirty="0"/>
          </a:p>
        </p:txBody>
      </p:sp>
      <p:sp>
        <p:nvSpPr>
          <p:cNvPr id="8" name="Cuerpo"/>
          <p:cNvSpPr txBox="1"/>
          <p:nvPr/>
        </p:nvSpPr>
        <p:spPr>
          <a:xfrm>
            <a:off x="4297680" y="3657600"/>
            <a:ext cx="438912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Menos componentes y menos dependencia de tolerancias</a:t>
            </a:r>
            <a:endParaRPr lang="en-US" sz="1300" dirty="0"/>
          </a:p>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Cf en paralelo con Rf agrega un polo pasa-bajos (≈ 393 Hz)</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polo del sumador y un MFB forman un antialias Bessel de tercer orden con un componente extra</a:t>
            </a:r>
            <a:endParaRPr lang="en-US" sz="2400" dirty="0"/>
          </a:p>
        </p:txBody>
      </p:sp>
      <p:pic>
        <p:nvPicPr>
          <p:cNvPr id="3" name="MFB" descr="Filtro pasabajos de realimentación múltiple (MFB) con R1, R3, R4, C2 y C5">    </p:cNvPr>
          <p:cNvPicPr>
            <a:picLocks noChangeAspect="1"/>
          </p:cNvPicPr>
          <p:nvPr/>
        </p:nvPicPr>
        <p:blipFill>
          <a:blip r:embed="rId1"/>
          <a:stretch>
            <a:fillRect/>
          </a:stretch>
        </p:blipFill>
        <p:spPr>
          <a:xfrm>
            <a:off x="365760" y="1234440"/>
            <a:ext cx="4114800" cy="3086100"/>
          </a:xfrm>
          <a:prstGeom prst="rect">
            <a:avLst/>
          </a:prstGeom>
        </p:spPr>
      </p:pic>
      <p:sp>
        <p:nvSpPr>
          <p:cNvPr id="4" name="Cuerpo"/>
          <p:cNvSpPr txBox="1"/>
          <p:nvPr/>
        </p:nvSpPr>
        <p:spPr>
          <a:xfrm>
            <a:off x="4663440" y="1280160"/>
            <a:ext cx="402336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Polo real del sumador (Cf) más par conjugado del MFB (fa = 300 Hz, ζa = 0,691)</a:t>
            </a:r>
            <a:endParaRPr lang="en-US" sz="1300" dirty="0"/>
          </a:p>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Bessel: fase aproximadamente lineal</a:t>
            </a:r>
            <a:endParaRPr lang="en-US" sz="1300" dirty="0"/>
          </a:p>
          <a:p>
            <a:pPr marL="342900" indent="-342900">
              <a:spcAft>
                <a:spcPts val="600"/>
              </a:spcAft>
              <a:buSzPct val="100000"/>
              <a:buChar char="•"/>
            </a:pPr>
            <a:r>
              <a:rPr lang="en-US" sz="1300" dirty="0">
                <a:solidFill>
                  <a:srgbClr val="2D2D2D"/>
                </a:solidFill>
                <a:latin typeface="Arial" pitchFamily="34" charset="0"/>
                <a:ea typeface="Arial" pitchFamily="34" charset="-122"/>
                <a:cs typeface="Arial" pitchFamily="34" charset="-120"/>
              </a:rPr>
              <a:t>MFB: atenúa mejor en alta frecuencia; un Sallen-Key puede repuntar cuando el operacional del PSoC pierde ganancia de lazo</a:t>
            </a:r>
            <a:endParaRPr lang="en-US" sz="1300" dirty="0"/>
          </a:p>
        </p:txBody>
      </p:sp>
      <p:sp>
        <p:nvSpPr>
          <p:cNvPr id="5" name="Fondo E_pa"/>
          <p:cNvSpPr/>
          <p:nvPr/>
        </p:nvSpPr>
        <p:spPr>
          <a:xfrm>
            <a:off x="4663440" y="3794760"/>
            <a:ext cx="402336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pa"/>
              <p:cNvSpPr txBox="1"/>
              <p:nvPr/>
            </p:nvSpPr>
            <p:spPr>
              <a:xfrm>
                <a:off x="4663440" y="3794760"/>
                <a:ext cx="402336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p=−</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ζ</m:t>
                          </m:r>
                        </m:e>
                        <m:sub>
                          <m:r>
                            <a:rPr lang="es-ES" sz="2000" i="1">
                              <a:solidFill>
                                <a:srgbClr val="1F4E79"/>
                              </a:solidFill>
                              <a:latin typeface="Cambria Math" panose="02040503050406030204" pitchFamily="18" charset="0"/>
                            </a:rPr>
                            <m:t xml:space="preserve">a</m:t>
                          </m:r>
                        </m:sub>
                      </m:sSub>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a</m:t>
                          </m:r>
                        </m:sub>
                      </m:sSub>
                      <m:r>
                        <a:rPr lang="es-ES" sz="2000" i="1">
                          <a:solidFill>
                            <a:srgbClr val="1F4E79"/>
                          </a:solidFill>
                          <a:latin typeface="Cambria Math" panose="02040503050406030204" pitchFamily="18" charset="0"/>
                        </a:rPr>
                        <m:t xml:space="preserve">±j</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a</m:t>
                          </m:r>
                        </m:sub>
                      </m:sSub>
                      <m:rad>
                        <m:radPr>
                          <m:degHide m:val="1"/>
                          <m:ctrlPr>
                            <a:rPr lang="es-ES" sz="2000" i="1">
                              <a:latin typeface="Cambria Math" panose="02040503050406030204" pitchFamily="18" charset="0"/>
                            </a:rPr>
                          </m:ctrlPr>
                        </m:radPr>
                        <m:deg/>
                        <m:e>
                          <m:r>
                            <a:rPr lang="es-ES" sz="2000" i="1">
                              <a:solidFill>
                                <a:srgbClr val="1F4E79"/>
                              </a:solidFill>
                              <a:latin typeface="Cambria Math" panose="02040503050406030204" pitchFamily="18" charset="0"/>
                            </a:rPr>
                            <m:t xml:space="preserve">1−</m:t>
                          </m:r>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ζ</m:t>
                                  </m:r>
                                </m:e>
                                <m:sub>
                                  <m:r>
                                    <a:rPr lang="es-ES" sz="2000" i="1">
                                      <a:solidFill>
                                        <a:srgbClr val="1F4E79"/>
                                      </a:solidFill>
                                      <a:latin typeface="Cambria Math" panose="02040503050406030204" pitchFamily="18" charset="0"/>
                                    </a:rPr>
                                    <m:t xml:space="preserve">a</m:t>
                                  </m:r>
                                </m:sub>
                              </m:sSub>
                            </m:e>
                            <m:sup>
                              <m:r>
                                <a:rPr lang="es-ES" sz="2000" i="1">
                                  <a:solidFill>
                                    <a:srgbClr val="1F4E79"/>
                                  </a:solidFill>
                                  <a:latin typeface="Cambria Math" panose="02040503050406030204" pitchFamily="18" charset="0"/>
                                </a:rPr>
                                <m:t xml:space="preserve">2</m:t>
                              </m:r>
                            </m:sup>
                          </m:sSup>
                        </m:e>
                      </m:rad>
                    </m:oMath>
                  </m:oMathPara>
                </a14:m>
                <a:endParaRPr lang="es-ES"/>
              </a:p>
            </p:txBody>
          </p:sp>
        </mc:Choice>
        <mc:Fallback>
          <p:sp>
            <p:nvSpPr>
              <p:cNvPr id="6" name="Ecuación E_pa"/>
              <p:cNvSpPr txBox="1"/>
              <p:nvPr/>
            </p:nvSpPr>
            <p:spPr>
              <a:xfrm>
                <a:off x="4663440" y="3794760"/>
                <a:ext cx="402336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p = −ζaωa ± jωa√(1 − ζa²)</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y latex/03b_topologias.tex (criterio MFB). Imagen aportada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Así quedó el frente analógico implementado en el PSoC 5LP</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1097280" y="1234440"/>
            <a:ext cx="6949440" cy="3133039"/>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offset se acumula en la cadena y recorta la señal; no se puede filtrar en continua</a:t>
            </a:r>
            <a:endParaRPr lang="en-US" sz="2400" dirty="0"/>
          </a:p>
        </p:txBody>
      </p:sp>
      <p:pic>
        <p:nvPicPr>
          <p:cNvPr id="3" name="Ilustración de recorte" descr="Ilustración: salida de una etapa con offset, recortada en el límite de alimentación, y la misma salida con ajuste previo">    </p:cNvPr>
          <p:cNvPicPr>
            <a:picLocks noChangeAspect="1"/>
          </p:cNvPicPr>
          <p:nvPr/>
        </p:nvPicPr>
        <p:blipFill>
          <a:blip r:embed="rId1"/>
          <a:stretch>
            <a:fillRect/>
          </a:stretch>
        </p:blipFill>
        <p:spPr>
          <a:xfrm>
            <a:off x="1097280" y="1143000"/>
            <a:ext cx="6583680" cy="2194560"/>
          </a:xfrm>
          <a:prstGeom prst="rect">
            <a:avLst/>
          </a:prstGeom>
        </p:spPr>
      </p:pic>
      <p:sp>
        <p:nvSpPr>
          <p:cNvPr id="4" name="Cuerpo"/>
          <p:cNvSpPr txBox="1"/>
          <p:nvPr/>
        </p:nvSpPr>
        <p:spPr>
          <a:xfrm>
            <a:off x="457200" y="3383280"/>
            <a:ext cx="822960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2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Ilustración propia (esquemática); 21,8 %: Álvarez, González y Vargas, DA-AFE (URUCON);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continua de cada etapa depende de las anteriores, por eso el ajuste se hace en orden</a:t>
            </a:r>
            <a:endParaRPr lang="en-US" sz="2400" dirty="0"/>
          </a:p>
        </p:txBody>
      </p:sp>
      <p:sp>
        <p:nvSpPr>
          <p:cNvPr id="3" name="Fondo E_off"/>
          <p:cNvSpPr/>
          <p:nvPr/>
        </p:nvSpPr>
        <p:spPr>
          <a:xfrm>
            <a:off x="457200" y="1325880"/>
            <a:ext cx="8229600" cy="10058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i</m:t>
                          </m:r>
                        </m:sub>
                        <m:sup>
                          <m:r>
                            <m:rPr>
                              <m:sty m:val="p"/>
                            </m:rPr>
                            <a:rPr lang="es-ES" sz="2400">
                              <a:solidFill>
                                <a:srgbClr val="1F4E79"/>
                              </a:solidFill>
                              <a:latin typeface="Cambria Math" panose="02040503050406030204" pitchFamily="18" charset="0"/>
                            </a:rPr>
                            <m:t xml:space="preserve">DC</m:t>
                          </m:r>
                        </m:sup>
                      </m:sSubSup>
                      <m:r>
                        <a:rPr lang="es-ES" sz="2400" i="1">
                          <a:solidFill>
                            <a:srgbClr val="1F4E79"/>
                          </a:solidFill>
                          <a:latin typeface="Cambria Math" panose="02040503050406030204" pitchFamily="18" charset="0"/>
                        </a:rPr>
                        <m:t xml:space="preserve">=</m:t>
                      </m:r>
                      <m:nary>
                        <m:naryPr>
                          <m:chr m:val="∑"/>
                          <m:limLoc m:val="undOvr"/>
                          <m:supHide m:val="1"/>
                          <m:ctrlPr>
                            <a:rPr lang="es-ES" sz="2400" i="1">
                              <a:latin typeface="Cambria Math" panose="02040503050406030204" pitchFamily="18" charset="0"/>
                            </a:rPr>
                          </m:ctrlPr>
                        </m:naryPr>
                        <m:sub>
                          <m:r>
                            <a:rPr lang="es-ES" sz="2400" i="1">
                              <a:solidFill>
                                <a:srgbClr val="1F4E79"/>
                              </a:solidFill>
                              <a:latin typeface="Cambria Math" panose="02040503050406030204" pitchFamily="18" charset="0"/>
                            </a:rPr>
                            <m:t xml:space="preserve">j&lt;i</m:t>
                          </m:r>
                        </m:sub>
                        <m:sup/>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j</m:t>
                              </m:r>
                            </m:sub>
                            <m:sup>
                              <m:r>
                                <m:rPr>
                                  <m:sty m:val="p"/>
                                </m:rPr>
                                <a:rPr lang="es-ES" sz="2400">
                                  <a:solidFill>
                                    <a:srgbClr val="1F4E79"/>
                                  </a:solidFill>
                                  <a:latin typeface="Cambria Math" panose="02040503050406030204" pitchFamily="18" charset="0"/>
                                </a:rPr>
                                <m:t xml:space="preserve">DC</m:t>
                              </m:r>
                            </m:sup>
                          </m:sSubSup>
                        </m:e>
                      </m:nary>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yi(DC) = Σ(j&lt;i) Aij · yj(DC) + bi + Ki · ui</a:t>
                </a:r>
                <a:endParaRPr lang="en-US" sz="2400" dirty="0"/>
              </a:p>
            </p:txBody>
          </p:sp>
        </mc:Fallback>
      </mc:AlternateContent>
      <p:sp>
        <p:nvSpPr>
          <p:cNvPr id="5" name="Cuerpo"/>
          <p:cNvSpPr txBox="1"/>
          <p:nvPr/>
        </p:nvSpPr>
        <p:spPr>
          <a:xfrm>
            <a:off x="457200" y="256032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A_ij: transferencia de continua de la etapa j a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b_i: offset propio de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K_i·u_i: corrección aplicada con el VDAC de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sec. 3. Notación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2400" dirty="0"/>
          </a:p>
        </p:txBody>
      </p:sp>
      <p:pic>
        <p:nvPicPr>
          <p:cNvPr id="3" name="Flujo de calibración" descr="Diagrama de flujo de la calibración en primer plano: verificación de códigos guardados, ajuste secuencial y adquisición">    </p:cNvPr>
          <p:cNvPicPr>
            <a:picLocks noChangeAspect="1"/>
          </p:cNvPicPr>
          <p:nvPr/>
        </p:nvPicPr>
        <p:blipFill>
          <a:blip r:embed="rId1"/>
          <a:stretch>
            <a:fillRect/>
          </a:stretch>
        </p:blipFill>
        <p:spPr>
          <a:xfrm>
            <a:off x="2011680" y="1188720"/>
            <a:ext cx="5120640" cy="3276199"/>
          </a:xfrm>
          <a:prstGeom prst="rect">
            <a:avLst/>
          </a:prstGeom>
        </p:spPr>
      </p:pic>
      <p:sp>
        <p:nvSpPr>
          <p:cNvPr id="4" name="Text 1"/>
          <p:cNvSpPr txBox="1"/>
          <p:nvPr/>
        </p:nvSpPr>
        <p:spPr>
          <a:xfrm>
            <a:off x="3474720" y="4480560"/>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EN INGLÉS: traducir desde el repo</a:t>
            </a:r>
            <a:endParaRPr lang="en-US" sz="1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2;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Ejemplo de calibración: cada etapa converge hacia el punto de operación</a:t>
            </a:r>
            <a:endParaRPr lang="en-US" sz="2400" dirty="0"/>
          </a:p>
        </p:txBody>
      </p:sp>
      <p:pic>
        <p:nvPicPr>
          <p:cNvPr id="3" name="Ejemplo de calibración" descr="Trayectorias de calibración de las etapas PGA, BP, SUM y LP en función del tiempo">    </p:cNvPr>
          <p:cNvPicPr>
            <a:picLocks noChangeAspect="1"/>
          </p:cNvPicPr>
          <p:nvPr/>
        </p:nvPicPr>
        <p:blipFill>
          <a:blip r:embed="rId1"/>
          <a:stretch>
            <a:fillRect/>
          </a:stretch>
        </p:blipFill>
        <p:spPr>
          <a:xfrm>
            <a:off x="457200" y="1188720"/>
            <a:ext cx="2788920" cy="3291840"/>
          </a:xfrm>
          <a:prstGeom prst="rect">
            <a:avLst/>
          </a:prstGeom>
        </p:spPr>
      </p:pic>
      <p:sp>
        <p:nvSpPr>
          <p:cNvPr id="4" name="Cuerpo"/>
          <p:cNvSpPr txBox="1"/>
          <p:nvPr/>
        </p:nvSpPr>
        <p:spPr>
          <a:xfrm>
            <a:off x="3566160" y="1280160"/>
            <a:ext cx="512064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Ganancia ×16 (×32 diferencial total)</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Gris: mediciones con osciloscopio; color: reconstrucción con el FIR de 128 coeficientes, no registros internos</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residuo de 0,24 V en el PGA responde a la banda muerta elegida (ΔPGA = 18, unos ±288 mV), no a inestabilidad del controlador</a:t>
            </a:r>
            <a:endParaRPr lang="en-US" sz="1500" dirty="0"/>
          </a:p>
        </p:txBody>
      </p:sp>
      <p:sp>
        <p:nvSpPr>
          <p:cNvPr id="5" name="Text 2"/>
          <p:cNvSpPr txBox="1"/>
          <p:nvPr/>
        </p:nvSpPr>
        <p:spPr>
          <a:xfrm>
            <a:off x="457200" y="4480560"/>
            <a:ext cx="278892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EJE EN INGLÉS: traducir desde el repo</a:t>
            </a:r>
            <a:endParaRPr lang="en-US" sz="10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4 y sec. V.</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bajó el offset residual en el ADC de 2,9–45,8 % a 0,4–3,9 % del fondo de escala</a:t>
            </a:r>
            <a:endParaRPr lang="en-US" sz="2400" dirty="0"/>
          </a:p>
        </p:txBody>
      </p:sp>
      <p:graphicFrame>
        <p:nvGraphicFramePr>
          <p:cNvPr id="3" name="Chart 0" descr=""/>
          <p:cNvGraphicFramePr/>
          <p:nvPr/>
        </p:nvGraphicFramePr>
        <p:xfrm>
          <a:off x="457200" y="1234440"/>
          <a:ext cx="822960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206240"/>
            <a:ext cx="8229600" cy="274320"/>
          </a:xfrm>
          <a:prstGeom prst="rect">
            <a:avLst/>
          </a:prstGeom>
          <a:noFill/>
          <a:ln/>
        </p:spPr>
        <p:txBody>
          <a:bodyPr wrap="square" lIns="0" tIns="0" rIns="0" bIns="0" rtlCol="0" anchor="t"/>
          <a:lstStyle/>
          <a:p>
            <a:pPr algn="ctr" indent="0" marL="0">
              <a:buNone/>
            </a:pPr>
            <a:r>
              <a:rPr lang="en-US" sz="1400" dirty="0">
                <a:solidFill>
                  <a:srgbClr val="6B6B6B"/>
                </a:solidFill>
                <a:latin typeface="Arial" pitchFamily="34" charset="0"/>
                <a:ea typeface="Arial" pitchFamily="34" charset="-122"/>
                <a:cs typeface="Arial" pitchFamily="34" charset="-120"/>
              </a:rPr>
              <a:t>2 placas, 8 configuraciones placa–ganancia</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(00_resumen.tex). No figura en el resumen firmado.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ruta PGA–ADC se midió con barridos y el geófono se tomó con su modelo nominal</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023360" cy="3156310"/>
          </a:xfrm>
          <a:prstGeom prst="rect">
            <a:avLst/>
          </a:prstGeom>
        </p:spPr>
      </p:pic>
      <p:sp>
        <p:nvSpPr>
          <p:cNvPr id="4" name="Cuerpo"/>
          <p:cNvSpPr txBox="1"/>
          <p:nvPr/>
        </p:nvSpPr>
        <p:spPr>
          <a:xfrm>
            <a:off x="4572000" y="1280160"/>
            <a:ext cx="411480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 figura propia; Sensor Nederland B.V. (2006).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2026-10-13T05:38:15Z</dcterms:created>
  <dcterms:modified xsi:type="dcterms:W3CDTF">2026-10-13T05:38:15Z</dcterms:modified>
</cp:coreProperties>
</file>