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es medir qué tanto resiste a ser penetrado. El otro es medir cómo se propagan las ondas por él. Además, cada camino puede hacerse desde dentro del terreno, con perforaciones, o desde la superficie. Lo que buscamos es medir sin perforar, y esa celda, la naranja, es donde vamos a terminar. Pero primero conviene ver qué hay en las otras.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ensayos más usados son el SPT y el CPT. En el SPT se golpea una cuchara partida con un martillo de 63,5 kilos que cae 76 centímetros, y se cuentan los golpes para penetrar 30 centímetros. En el CPT se hinca un cono a velocidad constante y se registra la resistencia de punta y la fricción; si además mide presión de poro, se llama CPTu. Los dos miden resistencia de forma directa, pero hay que perforar o hincar, y el dato es puntual: sirve para ese lugar, no para la franja entre dos sondeos.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ondas de cuerpo son las que viajan por dentro del terreno. La P comprime y dilata en la misma dirección en que avanza. La S corta el material, y oscila perpendicular al avance. La velocidad de cada una depende de las propiedades del material. En la S depende solo de la rigidez al corte, mu, y de la densidad. Ahí está el vínculo con la rigidez. Como los fluidos no resisten corte, la S no viaja por el agua, y por eso la P es más rápida. Lambda es la otra constante elástica del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 ecuación anterior sale una relación directa: el módulo de corte máximo es la densidad por Vs al cuadrado. Con densidad de 1800 y Vs de 200 metros por segundo da 72 megapascales; es un ejemplo, no un dato medido. Gmax es la rigidez a deformaciones muy pequeñas, que es la que producen las ondas sísmicas. Y como Vs no depende del agua de los poros, es un parámetro estable para caracterizar el suelo. Por eso nos interesa Vs.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queremos Vs de forma directa, está el crosshole y el downhole. En el crosshole se hacen dos pozos, se pone la fuente en uno y el receptor en el otro a la misma profundidad, y Vs es la distancia entre pozos dividida por el tiempo de viaje de la onda S. En el downhole la fuente queda en superficie y el receptor baja por un solo pozo. Dan muy buenos datos de Vs, pero cuestan: hay que perforar, y eso lleva tiempo y deja el sitio alterado.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Desde la superficie también se puede usar refracción y reflexión. En refracción, el rayo llega a la interfaz con el ángulo crítico y viaja por la capa rápida antes de volver a los geófonos. El método supone que la velocidad aumenta con la profundidad: si hay una capa blanda debajo de otra rápida, no se ve. La reflexión, por su parte, tiene poca resolución en los primeros metros. Las dos trabajan con ondas de cuerpo. Falta entonces un método que parta de la superficie y sí resuelva esas capas blandas. Ahí entran las ondas superficiales. Nota para mí: confirmar estas dos limitaciones en el capítulo 1 de Foti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Resistencia: cuánto cuesta penetrar el terreno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Ondas: con qué velocidad viaja la energía por él</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Interesa medir sin perforar ni alterar lo construido</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y CPT miden la resistencia al penetrar: son directos, pero invasivos y puntuales</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188720"/>
            <a:ext cx="3840480" cy="2880360"/>
          </a:xfrm>
          <a:prstGeom prst="rect">
            <a:avLst/>
          </a:prstGeom>
        </p:spPr>
      </p:pic>
      <p:sp>
        <p:nvSpPr>
          <p:cNvPr id="4" name="Imagen pendiente"/>
          <p:cNvSpPr/>
          <p:nvPr/>
        </p:nvSpPr>
        <p:spPr>
          <a:xfrm>
            <a:off x="4846320" y="1188720"/>
            <a:ext cx="3840480" cy="2880360"/>
          </a:xfrm>
          <a:prstGeom prst="rect">
            <a:avLst/>
          </a:prstGeom>
          <a:solidFill>
            <a:srgbClr val="F5F5F5"/>
          </a:solidFill>
          <a:ln w="12700">
            <a:solidFill>
              <a:srgbClr val="6B6B6B"/>
            </a:solidFill>
            <a:prstDash val="dash"/>
          </a:ln>
        </p:spPr>
      </p:sp>
      <p:sp>
        <p:nvSpPr>
          <p:cNvPr id="5" name="Text 2"/>
          <p:cNvSpPr txBox="1"/>
          <p:nvPr/>
        </p:nvSpPr>
        <p:spPr>
          <a:xfrm>
            <a:off x="4846320" y="1188720"/>
            <a:ext cx="3840480" cy="2880360"/>
          </a:xfrm>
          <a:prstGeom prst="rect">
            <a:avLst/>
          </a:prstGeom>
          <a:noFill/>
          <a:ln/>
        </p:spPr>
        <p:txBody>
          <a:bodyPr wrap="square" lIns="76200" tIns="76200" rIns="76200" bIns="762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Imagen pendiente: ensayo CPT/CPTu</a:t>
            </a:r>
            <a:endParaRPr lang="en-US" sz="1600" dirty="0"/>
          </a:p>
        </p:txBody>
      </p:sp>
      <p:sp>
        <p:nvSpPr>
          <p:cNvPr id="6" name="Text 3"/>
          <p:cNvSpPr txBox="1"/>
          <p:nvPr/>
        </p:nvSpPr>
        <p:spPr>
          <a:xfrm>
            <a:off x="457200" y="4114800"/>
            <a:ext cx="384048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SPT: golpes N por cada 0,304 m</a:t>
            </a:r>
            <a:endParaRPr lang="en-US" sz="1600" dirty="0"/>
          </a:p>
        </p:txBody>
      </p:sp>
      <p:sp>
        <p:nvSpPr>
          <p:cNvPr id="7" name="Text 4"/>
          <p:cNvSpPr txBox="1"/>
          <p:nvPr/>
        </p:nvSpPr>
        <p:spPr>
          <a:xfrm>
            <a:off x="4846320" y="4114800"/>
            <a:ext cx="384048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CPT/CPTu: punta, fricción y presión de poro</a:t>
            </a:r>
            <a:endParaRPr lang="en-US" sz="16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según norma ASTM. CPT: imagen pendiente.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P y S viajan por el interior y su velocidad depende de la rigidez</a:t>
            </a:r>
            <a:endParaRPr lang="en-US" sz="2400" dirty="0"/>
          </a:p>
        </p:txBody>
      </p:sp>
      <p:pic>
        <p:nvPicPr>
          <p:cNvPr id="3" name="Ondas P y S" descr="Onda P: oscilación paralela al avance. Onda S: oscilación transversal al avance">    </p:cNvPr>
          <p:cNvPicPr>
            <a:picLocks noChangeAspect="1"/>
          </p:cNvPicPr>
          <p:nvPr/>
        </p:nvPicPr>
        <p:blipFill>
          <a:blip r:embed="rId1"/>
          <a:stretch>
            <a:fillRect/>
          </a:stretch>
        </p:blipFill>
        <p:spPr>
          <a:xfrm>
            <a:off x="457200" y="1234440"/>
            <a:ext cx="4270248" cy="3200400"/>
          </a:xfrm>
          <a:prstGeom prst="rect">
            <a:avLst/>
          </a:prstGeom>
        </p:spPr>
      </p:pic>
      <p:sp>
        <p:nvSpPr>
          <p:cNvPr id="4" name="Recuadro fórmulas"/>
          <p:cNvSpPr/>
          <p:nvPr/>
        </p:nvSpPr>
        <p:spPr>
          <a:xfrm>
            <a:off x="4937760" y="1280160"/>
            <a:ext cx="3749040" cy="1188720"/>
          </a:xfrm>
          <a:prstGeom prst="rect">
            <a:avLst/>
          </a:prstGeom>
          <a:solidFill>
            <a:srgbClr val="EAF1F8"/>
          </a:solidFill>
          <a:ln w="12700">
            <a:solidFill>
              <a:srgbClr val="EAF1F8"/>
            </a:solidFill>
            <a:prstDash val="solid"/>
          </a:ln>
        </p:spPr>
      </p:sp>
      <p:sp>
        <p:nvSpPr>
          <p:cNvPr id="5" name="Text 2"/>
          <p:cNvSpPr txBox="1"/>
          <p:nvPr/>
        </p:nvSpPr>
        <p:spPr>
          <a:xfrm>
            <a:off x="5029200" y="1280160"/>
            <a:ext cx="3566160" cy="1188720"/>
          </a:xfrm>
          <a:prstGeom prst="rect">
            <a:avLst/>
          </a:prstGeom>
          <a:noFill/>
          <a:ln/>
        </p:spPr>
        <p:txBody>
          <a:bodyPr wrap="square" lIns="0" tIns="0" rIns="0" bIns="0" rtlCol="0" anchor="ctr"/>
          <a:lstStyle/>
          <a:p>
            <a:pPr indent="0" marL="0">
              <a:spcAft>
                <a:spcPts val="600"/>
              </a:spcAft>
              <a:buNone/>
            </a:pPr>
            <a:r>
              <a:rPr lang="en-US" sz="2400" b="1" dirty="0">
                <a:solidFill>
                  <a:srgbClr val="1F4E79"/>
                </a:solidFill>
                <a:latin typeface="Arial" pitchFamily="34" charset="0"/>
                <a:ea typeface="Arial" pitchFamily="34" charset="-122"/>
                <a:cs typeface="Arial" pitchFamily="34" charset="-120"/>
              </a:rPr>
              <a:t>Vp = √((λ + 2μ) / ρ)</a:t>
            </a:r>
            <a:endParaRPr lang="en-US" sz="2400" dirty="0"/>
          </a:p>
          <a:p>
            <a:pPr indent="0" marL="0">
              <a:spcAft>
                <a:spcPts val="600"/>
              </a:spcAft>
              <a:buNone/>
            </a:pPr>
            <a:r>
              <a:rPr lang="en-US" sz="2400" b="1" dirty="0">
                <a:solidFill>
                  <a:srgbClr val="1F4E79"/>
                </a:solidFill>
                <a:latin typeface="Arial" pitchFamily="34" charset="0"/>
                <a:ea typeface="Arial" pitchFamily="34" charset="-122"/>
                <a:cs typeface="Arial" pitchFamily="34" charset="-120"/>
              </a:rPr>
              <a:t>Vs = √(μ / ρ)</a:t>
            </a:r>
            <a:endParaRPr lang="en-US" sz="2400" dirty="0"/>
          </a:p>
        </p:txBody>
      </p:sp>
      <p:sp>
        <p:nvSpPr>
          <p:cNvPr id="6" name="Cuerpo"/>
          <p:cNvSpPr txBox="1"/>
          <p:nvPr/>
        </p:nvSpPr>
        <p:spPr>
          <a:xfrm>
            <a:off x="4937760" y="2651760"/>
            <a:ext cx="3749040" cy="18288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2D2D2D"/>
                </a:solidFill>
                <a:latin typeface="Arial" pitchFamily="34" charset="0"/>
                <a:ea typeface="Arial" pitchFamily="34" charset="-122"/>
                <a:cs typeface="Arial" pitchFamily="34" charset="-120"/>
              </a:rPr>
              <a:t>μ: módulo de corte, la rigidez del terreno</a:t>
            </a:r>
            <a:endParaRPr lang="en-US" sz="1800" dirty="0"/>
          </a:p>
          <a:p>
            <a:pPr marL="342900" indent="-342900">
              <a:spcAft>
                <a:spcPts val="600"/>
              </a:spcAft>
              <a:buSzPct val="100000"/>
              <a:buChar char="•"/>
            </a:pPr>
            <a:r>
              <a:rPr lang="en-US" sz="1800" dirty="0">
                <a:solidFill>
                  <a:srgbClr val="2D2D2D"/>
                </a:solidFill>
                <a:latin typeface="Arial" pitchFamily="34" charset="0"/>
                <a:ea typeface="Arial" pitchFamily="34" charset="-122"/>
                <a:cs typeface="Arial" pitchFamily="34" charset="-120"/>
              </a:rPr>
              <a:t>ρ: densidad</a:t>
            </a:r>
            <a:endParaRPr lang="en-US" sz="1800" dirty="0"/>
          </a:p>
          <a:p>
            <a:pPr marL="342900" indent="-342900">
              <a:spcAft>
                <a:spcPts val="600"/>
              </a:spcAft>
              <a:buSzPct val="100000"/>
              <a:buChar char="•"/>
            </a:pPr>
            <a:r>
              <a:rPr lang="en-US" sz="1800" dirty="0">
                <a:solidFill>
                  <a:srgbClr val="2D2D2D"/>
                </a:solidFill>
                <a:latin typeface="Arial" pitchFamily="34" charset="0"/>
                <a:ea typeface="Arial" pitchFamily="34" charset="-122"/>
                <a:cs typeface="Arial" pitchFamily="34" charset="-120"/>
              </a:rPr>
              <a:t>Vp &gt; Vs; la onda S no viaja por fluidos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Medir Vs equivale a medir la rigidez al corte del suelo</a:t>
            </a:r>
            <a:endParaRPr lang="en-US" sz="2400" dirty="0"/>
          </a:p>
        </p:txBody>
      </p:sp>
      <p:sp>
        <p:nvSpPr>
          <p:cNvPr id="3" name="Recuadro Gmax"/>
          <p:cNvSpPr/>
          <p:nvPr/>
        </p:nvSpPr>
        <p:spPr>
          <a:xfrm>
            <a:off x="457200" y="1325880"/>
            <a:ext cx="4023360" cy="1463040"/>
          </a:xfrm>
          <a:prstGeom prst="rect">
            <a:avLst/>
          </a:prstGeom>
          <a:solidFill>
            <a:srgbClr val="EAF1F8"/>
          </a:solidFill>
          <a:ln w="12700">
            <a:solidFill>
              <a:srgbClr val="EAF1F8"/>
            </a:solidFill>
            <a:prstDash val="solid"/>
          </a:ln>
        </p:spPr>
      </p:sp>
      <p:sp>
        <p:nvSpPr>
          <p:cNvPr id="4" name="Text 2"/>
          <p:cNvSpPr txBox="1"/>
          <p:nvPr/>
        </p:nvSpPr>
        <p:spPr>
          <a:xfrm>
            <a:off x="457200" y="1325880"/>
            <a:ext cx="4023360" cy="1463040"/>
          </a:xfrm>
          <a:prstGeom prst="rect">
            <a:avLst/>
          </a:prstGeom>
          <a:noFill/>
          <a:ln/>
        </p:spPr>
        <p:txBody>
          <a:bodyPr wrap="square" lIns="0" tIns="0" rIns="0" bIns="0" rtlCol="0" anchor="ctr"/>
          <a:lstStyle/>
          <a:p>
            <a:pPr algn="ctr" indent="0" marL="0">
              <a:buNone/>
            </a:pPr>
            <a:r>
              <a:rPr lang="en-US" sz="3600" b="1" dirty="0">
                <a:solidFill>
                  <a:srgbClr val="1F4E79"/>
                </a:solidFill>
                <a:latin typeface="Arial" pitchFamily="34" charset="0"/>
                <a:ea typeface="Arial" pitchFamily="34" charset="-122"/>
                <a:cs typeface="Arial" pitchFamily="34" charset="-120"/>
              </a:rPr>
              <a:t>Gmax = ρ · Vs²</a:t>
            </a:r>
            <a:endParaRPr lang="en-US" sz="3600" dirty="0"/>
          </a:p>
        </p:txBody>
      </p:sp>
      <p:sp>
        <p:nvSpPr>
          <p:cNvPr id="5" name="Text 3"/>
          <p:cNvSpPr txBox="1"/>
          <p:nvPr/>
        </p:nvSpPr>
        <p:spPr>
          <a:xfrm>
            <a:off x="4846320" y="1280160"/>
            <a:ext cx="3840480" cy="914400"/>
          </a:xfrm>
          <a:prstGeom prst="rect">
            <a:avLst/>
          </a:prstGeom>
          <a:noFill/>
          <a:ln/>
        </p:spPr>
        <p:txBody>
          <a:bodyPr wrap="square" lIns="0" tIns="0" rIns="0" bIns="0" rtlCol="0" anchor="ctr"/>
          <a:lstStyle/>
          <a:p>
            <a:pPr indent="0" marL="0">
              <a:buNone/>
            </a:pPr>
            <a:r>
              <a:rPr lang="en-US" sz="5400" b="1" dirty="0">
                <a:solidFill>
                  <a:srgbClr val="C55A11"/>
                </a:solidFill>
                <a:latin typeface="Arial" pitchFamily="34" charset="0"/>
                <a:ea typeface="Arial" pitchFamily="34" charset="-122"/>
                <a:cs typeface="Arial" pitchFamily="34" charset="-120"/>
              </a:rPr>
              <a:t>72 MPa</a:t>
            </a:r>
            <a:endParaRPr lang="en-US" sz="5400" dirty="0"/>
          </a:p>
        </p:txBody>
      </p:sp>
      <p:sp>
        <p:nvSpPr>
          <p:cNvPr id="6" name="Text 4"/>
          <p:cNvSpPr txBox="1"/>
          <p:nvPr/>
        </p:nvSpPr>
        <p:spPr>
          <a:xfrm>
            <a:off x="4846320" y="2240280"/>
            <a:ext cx="3840480" cy="59436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con ρ = 1800 kg/m³ y Vs = 200 m/s (ejemplo ilustrativo)</a:t>
            </a:r>
            <a:endParaRPr lang="en-US" sz="1600" dirty="0"/>
          </a:p>
        </p:txBody>
      </p:sp>
      <p:sp>
        <p:nvSpPr>
          <p:cNvPr id="7" name="Cuerpo"/>
          <p:cNvSpPr txBox="1"/>
          <p:nvPr/>
        </p:nvSpPr>
        <p:spPr>
          <a:xfrm>
            <a:off x="457200" y="3200400"/>
            <a:ext cx="8229600" cy="12801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Gmax es el módulo de corte para deformaciones muy pequeñas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Vs no cambia con el agua de los poros: el agua no resiste corte</a:t>
            </a:r>
            <a:endParaRPr lang="en-US" sz="20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y crosshole miden Vs dentro del terreno, pero necesitan perforaciones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188720"/>
            <a:ext cx="4782312" cy="2944368"/>
          </a:xfrm>
          <a:prstGeom prst="rect">
            <a:avLst/>
          </a:prstGeom>
        </p:spPr>
      </p:pic>
      <p:sp>
        <p:nvSpPr>
          <p:cNvPr id="4" name="Imagen pendiente"/>
          <p:cNvSpPr/>
          <p:nvPr/>
        </p:nvSpPr>
        <p:spPr>
          <a:xfrm>
            <a:off x="5486400" y="1188720"/>
            <a:ext cx="3200400" cy="1737360"/>
          </a:xfrm>
          <a:prstGeom prst="rect">
            <a:avLst/>
          </a:prstGeom>
          <a:solidFill>
            <a:srgbClr val="F5F5F5"/>
          </a:solidFill>
          <a:ln w="12700">
            <a:solidFill>
              <a:srgbClr val="6B6B6B"/>
            </a:solidFill>
            <a:prstDash val="dash"/>
          </a:ln>
        </p:spPr>
      </p:sp>
      <p:sp>
        <p:nvSpPr>
          <p:cNvPr id="5" name="Text 2"/>
          <p:cNvSpPr txBox="1"/>
          <p:nvPr/>
        </p:nvSpPr>
        <p:spPr>
          <a:xfrm>
            <a:off x="5486400" y="1188720"/>
            <a:ext cx="3200400" cy="1737360"/>
          </a:xfrm>
          <a:prstGeom prst="rect">
            <a:avLst/>
          </a:prstGeom>
          <a:noFill/>
          <a:ln/>
        </p:spPr>
        <p:txBody>
          <a:bodyPr wrap="square" lIns="76200" tIns="76200" rIns="76200" bIns="762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Imagen pendiente: ensayo downhole</a:t>
            </a:r>
            <a:endParaRPr lang="en-US" sz="1600" dirty="0"/>
          </a:p>
        </p:txBody>
      </p:sp>
      <p:sp>
        <p:nvSpPr>
          <p:cNvPr id="6" name="Text 3"/>
          <p:cNvSpPr txBox="1"/>
          <p:nvPr/>
        </p:nvSpPr>
        <p:spPr>
          <a:xfrm>
            <a:off x="5486400" y="3063240"/>
            <a:ext cx="3200400" cy="1097280"/>
          </a:xfrm>
          <a:prstGeom prst="rect">
            <a:avLst/>
          </a:prstGeom>
          <a:noFill/>
          <a:ln/>
        </p:spPr>
        <p:txBody>
          <a:bodyPr wrap="square" lIns="0" tIns="0" rIns="0" bIns="0" rtlCol="0" anchor="t"/>
          <a:lstStyle/>
          <a:p>
            <a:pPr indent="0" marL="0">
              <a:spcAft>
                <a:spcPts val="600"/>
              </a:spcAft>
              <a:buNone/>
            </a:pPr>
            <a:r>
              <a:rPr lang="en-US" sz="1600" b="1" dirty="0">
                <a:solidFill>
                  <a:srgbClr val="1F4E79"/>
                </a:solidFill>
                <a:latin typeface="Arial" pitchFamily="34" charset="0"/>
                <a:ea typeface="Arial" pitchFamily="34" charset="-122"/>
                <a:cs typeface="Arial" pitchFamily="34" charset="-120"/>
              </a:rPr>
              <a:t>Crosshole: Vs = Δx / Δt entre dos pozos</a:t>
            </a:r>
            <a:endParaRPr lang="en-US" sz="1600" dirty="0"/>
          </a:p>
          <a:p>
            <a:pPr indent="0" marL="0">
              <a:spcAft>
                <a:spcPts val="600"/>
              </a:spcAft>
              <a:buNone/>
            </a:pPr>
            <a:r>
              <a:rPr lang="en-US" sz="1600" b="1" dirty="0">
                <a:solidFill>
                  <a:srgbClr val="1F4E79"/>
                </a:solidFill>
                <a:latin typeface="Arial" pitchFamily="34" charset="0"/>
                <a:ea typeface="Arial" pitchFamily="34" charset="-122"/>
                <a:cs typeface="Arial" pitchFamily="34" charset="-120"/>
              </a:rPr>
              <a:t>Downhole: fuente en superficie, receptor dentro del pozo</a:t>
            </a:r>
            <a:endParaRPr lang="en-US" sz="1600" dirty="0"/>
          </a:p>
        </p:txBody>
      </p:sp>
      <p:sp>
        <p:nvSpPr>
          <p:cNvPr id="7" name="Text 4"/>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Exigen perforar: más costo, más tiempo, y el sitio queda alterado</a:t>
            </a:r>
            <a:endParaRPr lang="en-US" sz="18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Crosshole: adaptada de Foti et al. (2014), cap. 1 (a confirmar). Downhole: imagen pendiente.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y reflexión no perforan, pero no siempre resuelven el perfil de Vs</a:t>
            </a:r>
            <a:endParaRPr lang="en-US" sz="2400" dirty="0"/>
          </a:p>
        </p:txBody>
      </p:sp>
      <p:pic>
        <p:nvPicPr>
          <p:cNvPr id="3" name="Figura refracción" descr="Refracción sísmica: rayo directo y rayo refractado entre capa lenta y capa rápida">    </p:cNvPr>
          <p:cNvPicPr>
            <a:picLocks noChangeAspect="1"/>
          </p:cNvPicPr>
          <p:nvPr/>
        </p:nvPicPr>
        <p:blipFill>
          <a:blip r:embed="rId1"/>
          <a:stretch>
            <a:fillRect/>
          </a:stretch>
        </p:blipFill>
        <p:spPr>
          <a:xfrm>
            <a:off x="457200" y="1234440"/>
            <a:ext cx="4937760" cy="2648018"/>
          </a:xfrm>
          <a:prstGeom prst="rect">
            <a:avLst/>
          </a:prstGeom>
        </p:spPr>
      </p:pic>
      <p:sp>
        <p:nvSpPr>
          <p:cNvPr id="4" name="Cuerpo"/>
          <p:cNvSpPr txBox="1"/>
          <p:nvPr/>
        </p:nvSpPr>
        <p:spPr>
          <a:xfrm>
            <a:off x="5669280" y="1280160"/>
            <a:ext cx="301752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Refracción: no ve capas blandas bajo capas rápidas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Reflexión: poca resolución en los primeros metros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Ambas usan ondas de cuerpo</a:t>
            </a:r>
            <a:endParaRPr lang="en-US" sz="1600" dirty="0"/>
          </a:p>
        </p:txBody>
      </p:sp>
      <p:sp>
        <p:nvSpPr>
          <p:cNvPr id="5" name="Text 2"/>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Falta un método que parta de la superficie y resuelva las capas blandas</a:t>
            </a:r>
            <a:endParaRPr lang="en-US" sz="20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principio de refracción (ley de Snell).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2026-10-13T02:16:51Z</dcterms:created>
  <dcterms:modified xsi:type="dcterms:W3CDTF">2026-10-13T02:16:51Z</dcterms:modified>
</cp:coreProperties>
</file>