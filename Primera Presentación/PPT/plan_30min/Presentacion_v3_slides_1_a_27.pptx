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(fs)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931920" cy="23774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Onda P" descr="Onda P">    </p:cNvPr>
          <p:cNvPicPr>
            <a:picLocks noChangeAspect="1"/>
          </p:cNvPicPr>
          <p:nvPr/>
        </p:nvPicPr>
        <p:blipFill>
          <a:blip r:embed="rId1"/>
          <a:stretch>
            <a:fillRect/>
          </a:stretch>
        </p:blipFill>
        <p:spPr>
          <a:xfrm>
            <a:off x="4663440" y="1280160"/>
            <a:ext cx="1920240" cy="960120"/>
          </a:xfrm>
          <a:prstGeom prst="rect">
            <a:avLst/>
          </a:prstGeom>
        </p:spPr>
      </p:pic>
      <p:pic>
        <p:nvPicPr>
          <p:cNvPr id="5" name="Onda S" descr="Onda S">    </p:cNvPr>
          <p:cNvPicPr>
            <a:picLocks noChangeAspect="1"/>
          </p:cNvPicPr>
          <p:nvPr/>
        </p:nvPicPr>
        <p:blipFill>
          <a:blip r:embed="rId2"/>
          <a:stretch>
            <a:fillRect/>
          </a:stretch>
        </p:blipFill>
        <p:spPr>
          <a:xfrm>
            <a:off x="6720840" y="1280160"/>
            <a:ext cx="1920240" cy="960120"/>
          </a:xfrm>
          <a:prstGeom prst="rect">
            <a:avLst/>
          </a:prstGeom>
        </p:spPr>
      </p:pic>
      <p:pic>
        <p:nvPicPr>
          <p:cNvPr id="6" name="Onda Love" descr="Onda Love">    </p:cNvPr>
          <p:cNvPicPr>
            <a:picLocks noChangeAspect="1"/>
          </p:cNvPicPr>
          <p:nvPr/>
        </p:nvPicPr>
        <p:blipFill>
          <a:blip r:embed="rId3"/>
          <a:stretch>
            <a:fillRect/>
          </a:stretch>
        </p:blipFill>
        <p:spPr>
          <a:xfrm>
            <a:off x="4663440" y="2377440"/>
            <a:ext cx="1920240" cy="960120"/>
          </a:xfrm>
          <a:prstGeom prst="rect">
            <a:avLst/>
          </a:prstGeom>
        </p:spPr>
      </p:pic>
      <p:pic>
        <p:nvPicPr>
          <p:cNvPr id="7" name="Onda Rayleigh" descr="Onda Rayleigh">    </p:cNvPr>
          <p:cNvPicPr>
            <a:picLocks noChangeAspect="1"/>
          </p:cNvPicPr>
          <p:nvPr/>
        </p:nvPicPr>
        <p:blipFill>
          <a:blip r:embed="rId4"/>
          <a:stretch>
            <a:fillRect/>
          </a:stretch>
        </p:blipFill>
        <p:spPr>
          <a:xfrm>
            <a:off x="6720840" y="2377440"/>
            <a:ext cx="1920240" cy="960120"/>
          </a:xfrm>
          <a:prstGeom prst="rect">
            <a:avLst/>
          </a:prstGeom>
        </p:spPr>
      </p:pic>
      <p:sp>
        <p:nvSpPr>
          <p:cNvPr id="8" name="Text 2"/>
          <p:cNvSpPr txBox="1"/>
          <p:nvPr/>
        </p:nvSpPr>
        <p:spPr>
          <a:xfrm>
            <a:off x="4663440" y="3520440"/>
            <a:ext cx="4023360" cy="73152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Dos ondas de cuerpo (P, S) y dos superficiales (Love, Rayleigh)</a:t>
            </a:r>
            <a:endParaRPr lang="en-US" sz="16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φ y uno vectorial ψ</a:t>
            </a:r>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φ: compresión, viaja a Vp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ψ: corte, viaja a Vs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μ: módulo de corte (también G), la rigidez al corte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λ: constante de Lamé</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ρ: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Vp &gt; Vs</a:t>
            </a:r>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γ del orden de 10⁻⁵ o menos, G es casi constante: Gmax</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Gmax</a:t>
            </a:r>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Vs, podemos estimar Gmax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Vs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Vs pesa el doble que uno en ρ</a:t>
            </a:r>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Δx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Vs = Δx / Δt</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Vs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Vs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Vs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Vs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rayo directo y rayo refractado entre capa lenta y capa rápida">    </p:cNvPr>
          <p:cNvPicPr>
            <a:picLocks noChangeAspect="1"/>
          </p:cNvPicPr>
          <p:nvPr/>
        </p:nvPicPr>
        <p:blipFill>
          <a:blip r:embed="rId1"/>
          <a:stretch>
            <a:fillRect/>
          </a:stretch>
        </p:blipFill>
        <p:spPr>
          <a:xfrm>
            <a:off x="457200" y="1234440"/>
            <a:ext cx="4937760" cy="2648018"/>
          </a:xfrm>
          <a:prstGeom prst="rect">
            <a:avLst/>
          </a:prstGeom>
        </p:spPr>
      </p:pic>
      <p:sp>
        <p:nvSpPr>
          <p:cNvPr id="4" name="Cuerpo"/>
          <p:cNvSpPr txBox="1"/>
          <p:nvPr/>
        </p:nvSpPr>
        <p:spPr>
          <a:xfrm>
            <a:off x="5669280" y="1280160"/>
            <a:ext cx="301752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Incide en la interfaz con el ángulo crítico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Viaja por la capa rápida (onda de cabeza)</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Sale hacia los geófonos y llega antes que la directa, desde xc</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principio de refracción (ley de Snell).</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Gráfico tiempo-distancia" descr="Gráfico tiempo-distancia: recta directa y recta refractada con intercepto ti">    </p:cNvPr>
          <p:cNvPicPr>
            <a:picLocks noChangeAspect="1"/>
          </p:cNvPicPr>
          <p:nvPr/>
        </p:nvPicPr>
        <p:blipFill>
          <a:blip r:embed="rId1"/>
          <a:stretch>
            <a:fillRect/>
          </a:stretch>
        </p:blipFill>
        <p:spPr>
          <a:xfrm>
            <a:off x="457200" y="1280160"/>
            <a:ext cx="4023360" cy="301752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 pendiente de cada recta da 1/V</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El intercepto tᵢ da el espesor de la capa superior</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Resultado: velocidades y espesores por capa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2026-10-13T02:54:23Z</dcterms:created>
  <dcterms:modified xsi:type="dcterms:W3CDTF">2026-10-13T02:54:23Z</dcterms:modified>
</cp:coreProperties>
</file>