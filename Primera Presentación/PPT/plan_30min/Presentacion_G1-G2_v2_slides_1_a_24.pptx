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las ondas de cuerpo, que viajan por dentro del terreno. Una perturbación en un medio elástico se propaga porque cada partícula empuja a la vecina, y luego vuelve a su lugar: no se transporta material, se transporta la perturbación. En la onda P, esa oscilación es en la misma dirección en que avanza la onda, así que el material se comprime y se dilata.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onda S, la oscilación es perpendicular al avance. El material no se comprime: se corta, como si se deslizaran capas unas sobre otras. Por eso la S necesita que el medio resista al corte, es decir, que tenga rigidez al corte. Un fluido no la tiene,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velocidades salen de la elasticidad. La P depende de la constante lambda y del módulo de corte mu; la S depende solo de mu y de la densidad. Mu es lo que en geotecnia se llama G, el módulo de corte. En el mismo medio la P siempre es más rápida que la S. Lo importante: si medimos velocidades de onda, obtenemos acceso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relacionar velocidad con rigidez, hay que decir con qué modelo trabajamos. Si el suelo se deforma muy poco, responde como un material elástico: el esfuerzo de corte tau es proporcional a la deformación gamma, y la constante es el módulo de corte G. En ese rango pequeño, G es casi constante y se llama Gmax. El umbral exacto, del orden de 10 a la menos 5, depende del tipo de suelo. Las ondas que usamos en prospección producen deformaciones de ese orden o menores.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siguiente es directo. Para una onda S que viaja en la dirección z, la ecuación de movimiento iguala la inercia, rho por la aceleración, con la fuerza elástica, G por la segunda derivada del desplazamiento. La solución es una onda que viaja con velocidad raíz de G sobre rho. En el rango de pequeñas deformaciones, G es Gmax. Despejando, Gmax es densidad por Vs al cuadrado.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Si derivamos, el error relativo en Gmax es, como cota, el error en la densidad más el doble del error en Vs. La densidad varía poco entre suelos y se estima razonablemente; Vs varía mucho y es lo que medimos. Por eso, conocer Vs permite estimar Gmax razonablemente. Con una advertencia: es válido a pequeñas deformaciones, no cerca de la falla del suelo.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ones y dilataciones, oscilación paralela al avance">    </p:cNvPr>
          <p:cNvPicPr>
            <a:picLocks noChangeAspect="1"/>
          </p:cNvPicPr>
          <p:nvPr/>
        </p:nvPicPr>
        <p:blipFill>
          <a:blip r:embed="rId1"/>
          <a:stretch>
            <a:fillRect/>
          </a:stretch>
        </p:blipFill>
        <p:spPr>
          <a:xfrm>
            <a:off x="1371600" y="1234440"/>
            <a:ext cx="6400800" cy="2438400"/>
          </a:xfrm>
          <a:prstGeom prst="rect">
            <a:avLst/>
          </a:prstGeom>
        </p:spPr>
      </p:pic>
      <p:sp>
        <p:nvSpPr>
          <p:cNvPr id="4" name="Cuerpo"/>
          <p:cNvSpPr txBox="1"/>
          <p:nvPr/>
        </p:nvSpPr>
        <p:spPr>
          <a:xfrm>
            <a:off x="457200" y="3840480"/>
            <a:ext cx="8229600" cy="73152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2D2D2D"/>
                </a:solidFill>
                <a:latin typeface="Arial" pitchFamily="34" charset="0"/>
                <a:ea typeface="Arial" pitchFamily="34" charset="-122"/>
                <a:cs typeface="Arial" pitchFamily="34" charset="-120"/>
              </a:rPr>
              <a:t>Las partículas oscilan en la dirección de propagación</a:t>
            </a:r>
            <a:endParaRPr lang="en-US" sz="2000" dirty="0"/>
          </a:p>
          <a:p>
            <a:pPr marL="342900" indent="-342900">
              <a:spcAft>
                <a:spcPts val="600"/>
              </a:spcAft>
              <a:buSzPct val="100000"/>
              <a:buChar char="•"/>
            </a:pPr>
            <a:r>
              <a:rPr lang="en-US" sz="2000" dirty="0">
                <a:solidFill>
                  <a:srgbClr val="2D2D2D"/>
                </a:solidFill>
                <a:latin typeface="Arial" pitchFamily="34" charset="0"/>
                <a:ea typeface="Arial" pitchFamily="34" charset="-122"/>
                <a:cs typeface="Arial" pitchFamily="34" charset="-120"/>
              </a:rPr>
              <a:t>Viaja en sólidos y en fluidos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transversal al avance">    </p:cNvPr>
          <p:cNvPicPr>
            <a:picLocks noChangeAspect="1"/>
          </p:cNvPicPr>
          <p:nvPr/>
        </p:nvPicPr>
        <p:blipFill>
          <a:blip r:embed="rId1"/>
          <a:stretch>
            <a:fillRect/>
          </a:stretch>
        </p:blipFill>
        <p:spPr>
          <a:xfrm>
            <a:off x="1371600" y="1234440"/>
            <a:ext cx="6400800" cy="2324183"/>
          </a:xfrm>
          <a:prstGeom prst="rect">
            <a:avLst/>
          </a:prstGeom>
        </p:spPr>
      </p:pic>
      <p:sp>
        <p:nvSpPr>
          <p:cNvPr id="4" name="Cuerpo"/>
          <p:cNvSpPr txBox="1"/>
          <p:nvPr/>
        </p:nvSpPr>
        <p:spPr>
          <a:xfrm>
            <a:off x="457200" y="3840480"/>
            <a:ext cx="8229600" cy="73152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2D2D2D"/>
                </a:solidFill>
                <a:latin typeface="Arial" pitchFamily="34" charset="0"/>
                <a:ea typeface="Arial" pitchFamily="34" charset="-122"/>
                <a:cs typeface="Arial" pitchFamily="34" charset="-120"/>
              </a:rPr>
              <a:t>Las partículas oscilan perpendicular a la propagación</a:t>
            </a:r>
            <a:endParaRPr lang="en-US" sz="2000" dirty="0"/>
          </a:p>
          <a:p>
            <a:pPr marL="342900" indent="-342900">
              <a:spcAft>
                <a:spcPts val="600"/>
              </a:spcAft>
              <a:buSzPct val="100000"/>
              <a:buChar char="•"/>
            </a:pPr>
            <a:r>
              <a:rPr lang="en-US" sz="2000" dirty="0">
                <a:solidFill>
                  <a:srgbClr val="2D2D2D"/>
                </a:solidFill>
                <a:latin typeface="Arial" pitchFamily="34" charset="0"/>
                <a:ea typeface="Arial" pitchFamily="34" charset="-122"/>
                <a:cs typeface="Arial" pitchFamily="34" charset="-120"/>
              </a:rPr>
              <a:t>No viaja por fluidos: necesita rigidez al corte</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Ambas velocidades dependen de la rigidez y la densidad del medio</a:t>
            </a:r>
            <a:endParaRPr lang="en-US" sz="2400" dirty="0"/>
          </a:p>
        </p:txBody>
      </p:sp>
      <p:sp>
        <p:nvSpPr>
          <p:cNvPr id="3" name="Recuadro fórmulas"/>
          <p:cNvSpPr/>
          <p:nvPr/>
        </p:nvSpPr>
        <p:spPr>
          <a:xfrm>
            <a:off x="457200" y="1325880"/>
            <a:ext cx="4206240" cy="1554480"/>
          </a:xfrm>
          <a:prstGeom prst="rect">
            <a:avLst/>
          </a:prstGeom>
          <a:solidFill>
            <a:srgbClr val="EAF1F8"/>
          </a:solidFill>
          <a:ln w="12700">
            <a:solidFill>
              <a:srgbClr val="EAF1F8"/>
            </a:solidFill>
            <a:prstDash val="solid"/>
          </a:ln>
        </p:spPr>
      </p:sp>
      <p:sp>
        <p:nvSpPr>
          <p:cNvPr id="4" name="Text 2"/>
          <p:cNvSpPr txBox="1"/>
          <p:nvPr/>
        </p:nvSpPr>
        <p:spPr>
          <a:xfrm>
            <a:off x="548640" y="1325880"/>
            <a:ext cx="4023360" cy="1554480"/>
          </a:xfrm>
          <a:prstGeom prst="rect">
            <a:avLst/>
          </a:prstGeom>
          <a:noFill/>
          <a:ln/>
        </p:spPr>
        <p:txBody>
          <a:bodyPr wrap="square" lIns="0" tIns="0" rIns="0" bIns="0" rtlCol="0" anchor="ctr"/>
          <a:lstStyle/>
          <a:p>
            <a:pPr algn="ctr" indent="0" marL="0">
              <a:spcAft>
                <a:spcPts val="800"/>
              </a:spcAft>
              <a:buNone/>
            </a:pPr>
            <a:r>
              <a:rPr lang="en-US" sz="2600" b="1" dirty="0">
                <a:solidFill>
                  <a:srgbClr val="1F4E79"/>
                </a:solidFill>
                <a:latin typeface="Arial" pitchFamily="34" charset="0"/>
                <a:ea typeface="Arial" pitchFamily="34" charset="-122"/>
                <a:cs typeface="Arial" pitchFamily="34" charset="-120"/>
              </a:rPr>
              <a:t>Vp = √((λ + 2μ) / ρ)</a:t>
            </a:r>
            <a:endParaRPr lang="en-US" sz="2600" dirty="0"/>
          </a:p>
          <a:p>
            <a:pPr algn="ctr" indent="0" marL="0">
              <a:spcAft>
                <a:spcPts val="800"/>
              </a:spcAft>
              <a:buNone/>
            </a:pPr>
            <a:r>
              <a:rPr lang="en-US" sz="2600" b="1" dirty="0">
                <a:solidFill>
                  <a:srgbClr val="1F4E79"/>
                </a:solidFill>
                <a:latin typeface="Arial" pitchFamily="34" charset="0"/>
                <a:ea typeface="Arial" pitchFamily="34" charset="-122"/>
                <a:cs typeface="Arial" pitchFamily="34" charset="-120"/>
              </a:rPr>
              <a:t>Vs = √(μ / ρ)</a:t>
            </a:r>
            <a:endParaRPr lang="en-US" sz="2600" dirty="0"/>
          </a:p>
        </p:txBody>
      </p:sp>
      <p:sp>
        <p:nvSpPr>
          <p:cNvPr id="5" name="Cuerpo"/>
          <p:cNvSpPr txBox="1"/>
          <p:nvPr/>
        </p:nvSpPr>
        <p:spPr>
          <a:xfrm>
            <a:off x="5029200" y="1325880"/>
            <a:ext cx="3657600" cy="23774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6" name="Text 4"/>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deformaciones pequeñas, el suelo se comporta como un medio elástico</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Recuadro τ = Gγ"/>
          <p:cNvSpPr/>
          <p:nvPr/>
        </p:nvSpPr>
        <p:spPr>
          <a:xfrm>
            <a:off x="4754880" y="1325880"/>
            <a:ext cx="3931920" cy="822960"/>
          </a:xfrm>
          <a:prstGeom prst="rect">
            <a:avLst/>
          </a:prstGeom>
          <a:solidFill>
            <a:srgbClr val="EAF1F8"/>
          </a:solidFill>
          <a:ln w="12700">
            <a:solidFill>
              <a:srgbClr val="EAF1F8"/>
            </a:solidFill>
            <a:prstDash val="solid"/>
          </a:ln>
        </p:spPr>
      </p:sp>
      <p:sp>
        <p:nvSpPr>
          <p:cNvPr id="5" name="Text 2"/>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800" b="1" dirty="0">
                <a:solidFill>
                  <a:srgbClr val="1F4E79"/>
                </a:solidFill>
                <a:latin typeface="Arial" pitchFamily="34" charset="0"/>
                <a:ea typeface="Arial" pitchFamily="34" charset="-122"/>
                <a:cs typeface="Arial" pitchFamily="34" charset="-120"/>
              </a:rPr>
              <a:t>τ = G · γ</a:t>
            </a:r>
            <a:endParaRPr lang="en-US" sz="2800" dirty="0"/>
          </a:p>
        </p:txBody>
      </p:sp>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De ese modelo sale la relación entre Vs y Gmax</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p:sp>
        <p:nvSpPr>
          <p:cNvPr id="4" name="Text 2"/>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b="1" dirty="0">
                <a:solidFill>
                  <a:srgbClr val="1F4E79"/>
                </a:solidFill>
                <a:latin typeface="Arial" pitchFamily="34" charset="0"/>
                <a:ea typeface="Arial" pitchFamily="34" charset="-122"/>
                <a:cs typeface="Arial" pitchFamily="34" charset="-120"/>
              </a:rPr>
              <a:t>ρ ∂²u/∂t² = G · ∂²u/∂z²</a:t>
            </a:r>
            <a:endParaRPr lang="en-US" sz="2400" dirty="0"/>
          </a:p>
        </p:txBody>
      </p:sp>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Ecuación de movimiento de una onda S que viaja en z</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p:sp>
        <p:nvSpPr>
          <p:cNvPr id="8" name="Text 6"/>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b="1" dirty="0">
                <a:solidFill>
                  <a:srgbClr val="1F4E79"/>
                </a:solidFill>
                <a:latin typeface="Arial" pitchFamily="34" charset="0"/>
                <a:ea typeface="Arial" pitchFamily="34" charset="-122"/>
                <a:cs typeface="Arial" pitchFamily="34" charset="-120"/>
              </a:rPr>
              <a:t>Vs = √(Gmax / ρ)</a:t>
            </a:r>
            <a:endParaRPr lang="en-US" sz="2400" dirty="0"/>
          </a:p>
        </p:txBody>
      </p:sp>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Velocidad con que se propaga esa onda</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p:sp>
        <p:nvSpPr>
          <p:cNvPr id="12" name="Text 10"/>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Gmax = ρ · Vs²</a:t>
            </a:r>
            <a:endParaRPr lang="en-US" sz="2400" dirty="0"/>
          </a:p>
        </p:txBody>
      </p:sp>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Recuadro error"/>
          <p:cNvSpPr/>
          <p:nvPr/>
        </p:nvSpPr>
        <p:spPr>
          <a:xfrm>
            <a:off x="457200" y="1325880"/>
            <a:ext cx="4389120" cy="914400"/>
          </a:xfrm>
          <a:prstGeom prst="rect">
            <a:avLst/>
          </a:prstGeom>
          <a:solidFill>
            <a:srgbClr val="EAF1F8"/>
          </a:solidFill>
          <a:ln w="12700">
            <a:solidFill>
              <a:srgbClr val="EAF1F8"/>
            </a:solidFill>
            <a:prstDash val="solid"/>
          </a:ln>
        </p:spPr>
      </p:sp>
      <p:sp>
        <p:nvSpPr>
          <p:cNvPr id="4" name="Text 2"/>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200" b="1" dirty="0">
                <a:solidFill>
                  <a:srgbClr val="1F4E79"/>
                </a:solidFill>
                <a:latin typeface="Arial" pitchFamily="34" charset="0"/>
                <a:ea typeface="Arial" pitchFamily="34" charset="-122"/>
                <a:cs typeface="Arial" pitchFamily="34" charset="-120"/>
              </a:rPr>
              <a:t>ΔG/G ≈ Δρ/ρ + 2·ΔVs/Vs</a:t>
            </a:r>
            <a:endParaRPr lang="en-US" sz="2200" dirty="0"/>
          </a:p>
        </p:txBody>
      </p:sp>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29260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Vs = Δx / Δt</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rayo directo y rayo refractado entre capa lenta y capa rápida">    </p:cNvPr>
          <p:cNvPicPr>
            <a:picLocks noChangeAspect="1"/>
          </p:cNvPicPr>
          <p:nvPr/>
        </p:nvPicPr>
        <p:blipFill>
          <a:blip r:embed="rId1"/>
          <a:stretch>
            <a:fillRect/>
          </a:stretch>
        </p:blipFill>
        <p:spPr>
          <a:xfrm>
            <a:off x="457200" y="1234440"/>
            <a:ext cx="4937760" cy="2648018"/>
          </a:xfrm>
          <a:prstGeom prst="rect">
            <a:avLst/>
          </a:prstGeom>
        </p:spPr>
      </p:pic>
      <p:sp>
        <p:nvSpPr>
          <p:cNvPr id="4" name="Cuerpo"/>
          <p:cNvSpPr txBox="1"/>
          <p:nvPr/>
        </p:nvSpPr>
        <p:spPr>
          <a:xfrm>
            <a:off x="5669280" y="1280160"/>
            <a:ext cx="301752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Incide en la interfaz con el ángulo crítico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Viaja por la capa rápida (onda de cabeza)</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Sale hacia los geófonos y llega antes que la directa, desde xc</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principio de refracción (ley de Snell).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Gráfico tiempo-distancia" descr="Gráfico tiempo-distancia: recta directa y recta refractada con intercepto ti">    </p:cNvPr>
          <p:cNvPicPr>
            <a:picLocks noChangeAspect="1"/>
          </p:cNvPicPr>
          <p:nvPr/>
        </p:nvPicPr>
        <p:blipFill>
          <a:blip r:embed="rId1"/>
          <a:stretch>
            <a:fillRect/>
          </a:stretch>
        </p:blipFill>
        <p:spPr>
          <a:xfrm>
            <a:off x="457200" y="1280160"/>
            <a:ext cx="4023360" cy="301752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 pendiente de cada recta da 1/V</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El intercepto tᵢ da el espesor de la capa superior</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Resultado: velocidades y espesores por capa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2026-10-13T02:36:55Z</dcterms:created>
  <dcterms:modified xsi:type="dcterms:W3CDTF">2026-10-13T02:36:55Z</dcterms:modified>
</cp:coreProperties>
</file>